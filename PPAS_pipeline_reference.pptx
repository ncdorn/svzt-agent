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68"/>
  </p:notesMasterIdLst>
  <p:sldIdLst>
    <p:sldId id="256" r:id="rId2"/>
    <p:sldId id="257" r:id="rId3"/>
    <p:sldId id="258" r:id="rId4"/>
    <p:sldId id="259" r:id="rId5"/>
    <p:sldId id="260" r:id="rId6"/>
    <p:sldId id="306" r:id="rId8"/>
    <p:sldId id="262" r:id="rId9"/>
    <p:sldId id="263" r:id="rId10"/>
    <p:sldId id="264" r:id="rId11"/>
    <p:sldId id="331" r:id="rId79"/>
    <p:sldId id="265" r:id="rId12"/>
    <p:sldId id="266" r:id="rId13"/>
    <p:sldId id="267" r:id="rId14"/>
    <p:sldId id="268" r:id="rId15"/>
    <p:sldId id="332" r:id="rId80"/>
    <p:sldId id="269" r:id="rId16"/>
    <p:sldId id="319" r:id="rId37"/>
    <p:sldId id="326" r:id="rId74"/>
    <p:sldId id="281" r:id="rId32"/>
    <p:sldId id="272" r:id="rId19"/>
    <p:sldId id="275" r:id="rId22"/>
    <p:sldId id="315" r:id="rId35"/>
    <p:sldId id="325" r:id="rId73"/>
    <p:sldId id="349" r:id="rId97"/>
    <p:sldId id="350" r:id="rId98"/>
    <p:sldId id="333" r:id="rId81"/>
    <p:sldId id="351" r:id="rId99"/>
    <p:sldId id="335" r:id="rId83"/>
    <p:sldId id="282" r:id="rId44"/>
    <p:sldId id="336" r:id="rId84"/>
    <p:sldId id="328" r:id="rId76"/>
    <p:sldId id="283" r:id="rId45"/>
    <p:sldId id="337" r:id="rId85"/>
    <p:sldId id="284" r:id="rId46"/>
    <p:sldId id="338" r:id="rId86"/>
    <p:sldId id="286" r:id="rId48"/>
    <p:sldId id="339" r:id="rId87"/>
    <p:sldId id="340" r:id="rId88"/>
    <p:sldId id="287" r:id="rId49"/>
    <p:sldId id="288" r:id="rId50"/>
    <p:sldId id="289" r:id="rId51"/>
    <p:sldId id="341" r:id="rId89"/>
    <p:sldId id="290" r:id="rId52"/>
    <p:sldId id="291" r:id="rId53"/>
    <p:sldId id="342" r:id="rId90"/>
    <p:sldId id="343" r:id="rId91"/>
    <p:sldId id="344" r:id="rId92"/>
    <p:sldId id="299" r:id="rId61"/>
    <p:sldId id="300" r:id="rId62"/>
    <p:sldId id="301" r:id="rId63"/>
    <p:sldId id="302" r:id="rId64"/>
    <p:sldId id="303" r:id="rId65"/>
    <p:sldId id="304" r:id="rId66"/>
    <p:sldId id="305" r:id="rId67"/>
    <p:sldId id="345" r:id="rId93"/>
    <p:sldId id="347" r:id="rId95"/>
    <p:sldId id="346" r:id="rId94"/>
    <p:sldId id="334" r:id="rId82"/>
    <p:sldId id="327" r:id="rId75"/>
    <p:sldId id="324" r:id="rId42"/>
    <p:sldId id="314" r:id="rId43"/>
    <p:sldId id="323" r:id="rId41"/>
    <p:sldId id="322" r:id="rId40"/>
    <p:sldId id="321" r:id="rId39"/>
    <p:sldId id="320" r:id="rId38"/>
    <p:sldId id="318" r:id="rId36"/>
    <p:sldId id="316" r:id="rId34"/>
    <p:sldId id="317" r:id="rId33"/>
    <p:sldId id="311" r:id="rId31"/>
    <p:sldId id="310" r:id="rId30"/>
    <p:sldId id="309" r:id="rId29"/>
    <p:sldId id="308" r:id="rId28"/>
    <p:sldId id="280" r:id="rId27"/>
    <p:sldId id="279" r:id="rId26"/>
    <p:sldId id="278" r:id="rId25"/>
    <p:sldId id="277" r:id="rId24"/>
    <p:sldId id="276" r:id="rId23"/>
    <p:sldId id="274" r:id="rId21"/>
    <p:sldId id="273" r:id="rId20"/>
    <p:sldId id="271" r:id="rId18"/>
    <p:sldId id="270" r:id="rId17"/>
    <p:sldId id="285" r:id="rId47"/>
    <p:sldId id="330" r:id="rId78"/>
    <p:sldId id="329" r:id="rId77"/>
    <p:sldId id="298" r:id="rId60"/>
    <p:sldId id="297" r:id="rId59"/>
    <p:sldId id="296" r:id="rId58"/>
    <p:sldId id="295" r:id="rId57"/>
    <p:sldId id="294" r:id="rId56"/>
    <p:sldId id="293" r:id="rId55"/>
    <p:sldId id="292" r:id="rId54"/>
    <p:sldId id="261" r:id="rId7"/>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565A"/>
    <a:srgbClr val="4298B5"/>
    <a:srgbClr val="FEC51D"/>
    <a:srgbClr val="007C92"/>
    <a:srgbClr val="204C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76"/>
    <p:restoredTop sz="92588"/>
  </p:normalViewPr>
  <p:slideViewPr>
    <p:cSldViewPr snapToGrid="0">
      <p:cViewPr>
        <p:scale>
          <a:sx n="301" d="100"/>
          <a:sy n="301" d="100"/>
        </p:scale>
        <p:origin x="-512" y="-1776"/>
      </p:cViewPr>
      <p:guideLst/>
    </p:cSldViewPr>
  </p:slideViewPr>
  <p:notesTextViewPr>
    <p:cViewPr>
      <p:scale>
        <a:sx n="1" d="1"/>
        <a:sy n="1" d="1"/>
      </p:scale>
      <p:origin x="0" y="-656"/>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92.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6.xml"/><Relationship Id="rId17" Type="http://schemas.openxmlformats.org/officeDocument/2006/relationships/slide" Target="slides/slide81.xml"/><Relationship Id="rId18" Type="http://schemas.openxmlformats.org/officeDocument/2006/relationships/slide" Target="slides/slide80.xml"/><Relationship Id="rId19" Type="http://schemas.openxmlformats.org/officeDocument/2006/relationships/slide" Target="slides/slide20.xml"/><Relationship Id="rId20" Type="http://schemas.openxmlformats.org/officeDocument/2006/relationships/slide" Target="slides/slide79.xml"/><Relationship Id="rId21" Type="http://schemas.openxmlformats.org/officeDocument/2006/relationships/slide" Target="slides/slide78.xml"/><Relationship Id="rId22" Type="http://schemas.openxmlformats.org/officeDocument/2006/relationships/slide" Target="slides/slide21.xml"/><Relationship Id="rId23" Type="http://schemas.openxmlformats.org/officeDocument/2006/relationships/slide" Target="slides/slide77.xml"/><Relationship Id="rId24" Type="http://schemas.openxmlformats.org/officeDocument/2006/relationships/slide" Target="slides/slide76.xml"/><Relationship Id="rId25" Type="http://schemas.openxmlformats.org/officeDocument/2006/relationships/slide" Target="slides/slide75.xml"/><Relationship Id="rId26" Type="http://schemas.openxmlformats.org/officeDocument/2006/relationships/slide" Target="slides/slide74.xml"/><Relationship Id="rId27" Type="http://schemas.openxmlformats.org/officeDocument/2006/relationships/slide" Target="slides/slide73.xml"/><Relationship Id="rId28" Type="http://schemas.openxmlformats.org/officeDocument/2006/relationships/slide" Target="slides/slide72.xml"/><Relationship Id="rId29" Type="http://schemas.openxmlformats.org/officeDocument/2006/relationships/slide" Target="slides/slide71.xml"/><Relationship Id="rId30" Type="http://schemas.openxmlformats.org/officeDocument/2006/relationships/slide" Target="slides/slide70.xml"/><Relationship Id="rId31" Type="http://schemas.openxmlformats.org/officeDocument/2006/relationships/slide" Target="slides/slide69.xml"/><Relationship Id="rId32" Type="http://schemas.openxmlformats.org/officeDocument/2006/relationships/slide" Target="slides/slide19.xml"/><Relationship Id="rId33" Type="http://schemas.openxmlformats.org/officeDocument/2006/relationships/slide" Target="slides/slide68.xml"/><Relationship Id="rId34" Type="http://schemas.openxmlformats.org/officeDocument/2006/relationships/slide" Target="slides/slide67.xml"/><Relationship Id="rId35" Type="http://schemas.openxmlformats.org/officeDocument/2006/relationships/slide" Target="slides/slide22.xml"/><Relationship Id="rId36" Type="http://schemas.openxmlformats.org/officeDocument/2006/relationships/slide" Target="slides/slide66.xml"/><Relationship Id="rId37" Type="http://schemas.openxmlformats.org/officeDocument/2006/relationships/slide" Target="slides/slide17.xml"/><Relationship Id="rId38" Type="http://schemas.openxmlformats.org/officeDocument/2006/relationships/slide" Target="slides/slide65.xml"/><Relationship Id="rId39" Type="http://schemas.openxmlformats.org/officeDocument/2006/relationships/slide" Target="slides/slide64.xml"/><Relationship Id="rId40" Type="http://schemas.openxmlformats.org/officeDocument/2006/relationships/slide" Target="slides/slide63.xml"/><Relationship Id="rId41" Type="http://schemas.openxmlformats.org/officeDocument/2006/relationships/slide" Target="slides/slide62.xml"/><Relationship Id="rId42" Type="http://schemas.openxmlformats.org/officeDocument/2006/relationships/slide" Target="slides/slide60.xml"/><Relationship Id="rId43" Type="http://schemas.openxmlformats.org/officeDocument/2006/relationships/slide" Target="slides/slide61.xml"/><Relationship Id="rId44" Type="http://schemas.openxmlformats.org/officeDocument/2006/relationships/slide" Target="slides/slide29.xml"/><Relationship Id="rId45" Type="http://schemas.openxmlformats.org/officeDocument/2006/relationships/slide" Target="slides/slide32.xml"/><Relationship Id="rId46" Type="http://schemas.openxmlformats.org/officeDocument/2006/relationships/slide" Target="slides/slide34.xml"/><Relationship Id="rId47" Type="http://schemas.openxmlformats.org/officeDocument/2006/relationships/slide" Target="slides/slide82.xml"/><Relationship Id="rId48" Type="http://schemas.openxmlformats.org/officeDocument/2006/relationships/slide" Target="slides/slide36.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91.xml"/><Relationship Id="rId55" Type="http://schemas.openxmlformats.org/officeDocument/2006/relationships/slide" Target="slides/slide90.xml"/><Relationship Id="rId56" Type="http://schemas.openxmlformats.org/officeDocument/2006/relationships/slide" Target="slides/slide89.xml"/><Relationship Id="rId57" Type="http://schemas.openxmlformats.org/officeDocument/2006/relationships/slide" Target="slides/slide88.xml"/><Relationship Id="rId58" Type="http://schemas.openxmlformats.org/officeDocument/2006/relationships/slide" Target="slides/slide87.xml"/><Relationship Id="rId59" Type="http://schemas.openxmlformats.org/officeDocument/2006/relationships/slide" Target="slides/slide86.xml"/><Relationship Id="rId60" Type="http://schemas.openxmlformats.org/officeDocument/2006/relationships/slide" Target="slides/slide85.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23.xml"/><Relationship Id="rId74" Type="http://schemas.openxmlformats.org/officeDocument/2006/relationships/slide" Target="slides/slide18.xml"/><Relationship Id="rId75" Type="http://schemas.openxmlformats.org/officeDocument/2006/relationships/slide" Target="slides/slide59.xml"/><Relationship Id="rId76" Type="http://schemas.openxmlformats.org/officeDocument/2006/relationships/slide" Target="slides/slide31.xml"/><Relationship Id="rId77" Type="http://schemas.openxmlformats.org/officeDocument/2006/relationships/slide" Target="slides/slide84.xml"/><Relationship Id="rId78" Type="http://schemas.openxmlformats.org/officeDocument/2006/relationships/slide" Target="slides/slide83.xml"/><Relationship Id="rId79" Type="http://schemas.openxmlformats.org/officeDocument/2006/relationships/slide" Target="slides/slide10.xml"/><Relationship Id="rId80" Type="http://schemas.openxmlformats.org/officeDocument/2006/relationships/slide" Target="slides/slide15.xml"/><Relationship Id="rId81" Type="http://schemas.openxmlformats.org/officeDocument/2006/relationships/slide" Target="slides/slide26.xml"/><Relationship Id="rId82" Type="http://schemas.openxmlformats.org/officeDocument/2006/relationships/slide" Target="slides/slide58.xml"/><Relationship Id="rId83" Type="http://schemas.openxmlformats.org/officeDocument/2006/relationships/slide" Target="slides/slide28.xml"/><Relationship Id="rId84" Type="http://schemas.openxmlformats.org/officeDocument/2006/relationships/slide" Target="slides/slide30.xml"/><Relationship Id="rId85" Type="http://schemas.openxmlformats.org/officeDocument/2006/relationships/slide" Target="slides/slide33.xml"/><Relationship Id="rId86" Type="http://schemas.openxmlformats.org/officeDocument/2006/relationships/slide" Target="slides/slide35.xml"/><Relationship Id="rId87" Type="http://schemas.openxmlformats.org/officeDocument/2006/relationships/slide" Target="slides/slide37.xml"/><Relationship Id="rId88" Type="http://schemas.openxmlformats.org/officeDocument/2006/relationships/slide" Target="slides/slide38.xml"/><Relationship Id="rId89" Type="http://schemas.openxmlformats.org/officeDocument/2006/relationships/slide" Target="slides/slide42.xml"/><Relationship Id="rId90" Type="http://schemas.openxmlformats.org/officeDocument/2006/relationships/slide" Target="slides/slide45.xml"/><Relationship Id="rId91" Type="http://schemas.openxmlformats.org/officeDocument/2006/relationships/slide" Target="slides/slide46.xml"/><Relationship Id="rId92" Type="http://schemas.openxmlformats.org/officeDocument/2006/relationships/slide" Target="slides/slide47.xml"/><Relationship Id="rId93" Type="http://schemas.openxmlformats.org/officeDocument/2006/relationships/slide" Target="slides/slide55.xml"/><Relationship Id="rId94" Type="http://schemas.openxmlformats.org/officeDocument/2006/relationships/slide" Target="slides/slide57.xml"/><Relationship Id="rId95" Type="http://schemas.openxmlformats.org/officeDocument/2006/relationships/slide" Target="slides/slide56.xml"/><Relationship Id="rId97" Type="http://schemas.openxmlformats.org/officeDocument/2006/relationships/slide" Target="slides/slide24.xml"/><Relationship Id="rId98" Type="http://schemas.openxmlformats.org/officeDocument/2006/relationships/slide" Target="slides/slide25.xml"/><Relationship Id="rId99"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RPA split (%)</c:v>
                </c:pt>
              </c:strCache>
            </c:strRef>
          </c:tx>
          <c:invertIfNegative val="1"/>
          <c:dPt>
            <c:idx val="0"/>
            <c:invertIfNegative val="1"/>
            <c:bubble3D val="0"/>
            <c:spPr>
              <a:solidFill>
                <a:srgbClr val="D9D7D4"/>
              </a:solidFill>
              <a:ln>
                <a:noFill/>
              </a:ln>
            </c:spPr>
            <c:extLst>
              <c:ext xmlns:c16="http://schemas.microsoft.com/office/drawing/2014/chart" uri="{C3380CC4-5D6E-409C-BE32-E72D297353CC}">
                <c16:uniqueId val="{00000001-2145-BF4B-A3E5-509DEA2F2515}"/>
              </c:ext>
            </c:extLst>
          </c:dPt>
          <c:dPt>
            <c:idx val="1"/>
            <c:invertIfNegative val="1"/>
            <c:bubble3D val="0"/>
            <c:spPr>
              <a:solidFill>
                <a:srgbClr val="8C1515"/>
              </a:solidFill>
              <a:ln>
                <a:noFill/>
              </a:ln>
            </c:spPr>
            <c:extLst>
              <c:ext xmlns:c16="http://schemas.microsoft.com/office/drawing/2014/chart" uri="{C3380CC4-5D6E-409C-BE32-E72D297353CC}">
                <c16:uniqueId val="{00000003-2145-BF4B-A3E5-509DEA2F2515}"/>
              </c:ext>
            </c:extLst>
          </c:dPt>
          <c:dPt>
            <c:idx val="2"/>
            <c:invertIfNegative val="1"/>
            <c:bubble3D val="0"/>
            <c:spPr>
              <a:solidFill>
                <a:srgbClr val="2E2D29"/>
              </a:solidFill>
              <a:ln>
                <a:noFill/>
              </a:ln>
            </c:spPr>
            <c:extLst>
              <c:ext xmlns:c16="http://schemas.microsoft.com/office/drawing/2014/chart" uri="{C3380CC4-5D6E-409C-BE32-E72D297353CC}">
                <c16:uniqueId val="{00000005-2145-BF4B-A3E5-509DEA2F2515}"/>
              </c:ext>
            </c:extLst>
          </c:dPt>
          <c:dLbls>
            <c:numFmt formatCode="0.0&quot;%&quot;" sourceLinked="0"/>
            <c:spPr>
              <a:noFill/>
              <a:ln>
                <a:noFill/>
              </a:ln>
              <a:effectLst/>
            </c:spPr>
            <c:txPr>
              <a:bodyPr/>
              <a:lstStyle/>
              <a:p>
                <a:pPr>
                  <a:defRPr sz="8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Branched baseline</c:v>
                </c:pt>
                <c:pt idx="1">
                  <c:v>learnedZeroD</c:v>
                </c:pt>
                <c:pt idx="2">
                  <c:v>3D reference</c:v>
                </c:pt>
              </c:strCache>
            </c:strRef>
          </c:cat>
          <c:val>
            <c:numRef>
              <c:f>Sheet1!$B$2:$B$4</c:f>
              <c:numCache>
                <c:formatCode>General</c:formatCode>
                <c:ptCount val="3"/>
                <c:pt idx="0">
                  <c:v>63.96</c:v>
                </c:pt>
                <c:pt idx="1">
                  <c:v>78.489999999999995</c:v>
                </c:pt>
                <c:pt idx="2">
                  <c:v>87.69</c:v>
                </c:pt>
              </c:numCache>
            </c:numRef>
          </c:val>
          <c:extLst>
            <c:ext xmlns:c16="http://schemas.microsoft.com/office/drawing/2014/chart" uri="{C3380CC4-5D6E-409C-BE32-E72D297353CC}">
              <c16:uniqueId val="{00000006-2145-BF4B-A3E5-509DEA2F2515}"/>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D9D7D4"/>
            </a:solidFill>
          </a:ln>
        </c:spPr>
        <c:txPr>
          <a:bodyPr/>
          <a:lstStyle/>
          <a:p>
            <a:pPr>
              <a:defRPr sz="800"/>
            </a:pPr>
            <a:endParaRPr lang="en-US"/>
          </a:p>
        </c:txPr>
        <c:crossAx val="-2113994440"/>
        <c:crosses val="autoZero"/>
        <c:auto val="1"/>
        <c:lblAlgn val="ctr"/>
        <c:lblOffset val="100"/>
        <c:noMultiLvlLbl val="0"/>
      </c:catAx>
      <c:valAx>
        <c:axId val="-2113994440"/>
        <c:scaling>
          <c:orientation val="minMax"/>
          <c:max val="100"/>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800">
          <a:solidFill>
            <a:srgbClr val="2E2D2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RMSE</c:v>
                </c:pt>
              </c:strCache>
            </c:strRef>
          </c:tx>
          <c:invertIfNegative val="1"/>
          <c:dPt>
            <c:idx val="0"/>
            <c:invertIfNegative val="1"/>
            <c:bubble3D val="0"/>
            <c:spPr>
              <a:solidFill>
                <a:srgbClr val="D9D7D4"/>
              </a:solidFill>
              <a:ln>
                <a:noFill/>
              </a:ln>
            </c:spPr>
            <c:extLst>
              <c:ext xmlns:c16="http://schemas.microsoft.com/office/drawing/2014/chart" uri="{C3380CC4-5D6E-409C-BE32-E72D297353CC}">
                <c16:uniqueId val="{00000001-F3AE-0E4B-9EEB-0EED6BEB781F}"/>
              </c:ext>
            </c:extLst>
          </c:dPt>
          <c:dPt>
            <c:idx val="1"/>
            <c:invertIfNegative val="1"/>
            <c:bubble3D val="0"/>
            <c:spPr>
              <a:solidFill>
                <a:srgbClr val="C9A3A3"/>
              </a:solidFill>
              <a:ln>
                <a:noFill/>
              </a:ln>
            </c:spPr>
            <c:extLst>
              <c:ext xmlns:c16="http://schemas.microsoft.com/office/drawing/2014/chart" uri="{C3380CC4-5D6E-409C-BE32-E72D297353CC}">
                <c16:uniqueId val="{00000003-F3AE-0E4B-9EEB-0EED6BEB781F}"/>
              </c:ext>
            </c:extLst>
          </c:dPt>
          <c:dPt>
            <c:idx val="2"/>
            <c:invertIfNegative val="1"/>
            <c:bubble3D val="0"/>
            <c:spPr>
              <a:solidFill>
                <a:srgbClr val="6B6965"/>
              </a:solidFill>
              <a:ln>
                <a:noFill/>
              </a:ln>
            </c:spPr>
            <c:extLst>
              <c:ext xmlns:c16="http://schemas.microsoft.com/office/drawing/2014/chart" uri="{C3380CC4-5D6E-409C-BE32-E72D297353CC}">
                <c16:uniqueId val="{00000005-F3AE-0E4B-9EEB-0EED6BEB781F}"/>
              </c:ext>
            </c:extLst>
          </c:dPt>
          <c:dPt>
            <c:idx val="3"/>
            <c:invertIfNegative val="1"/>
            <c:bubble3D val="0"/>
            <c:spPr>
              <a:solidFill>
                <a:srgbClr val="8C1515"/>
              </a:solidFill>
              <a:ln>
                <a:noFill/>
              </a:ln>
            </c:spPr>
            <c:extLst>
              <c:ext xmlns:c16="http://schemas.microsoft.com/office/drawing/2014/chart" uri="{C3380CC4-5D6E-409C-BE32-E72D297353CC}">
                <c16:uniqueId val="{00000007-F3AE-0E4B-9EEB-0EED6BEB781F}"/>
              </c:ext>
            </c:extLst>
          </c:dPt>
          <c:dPt>
            <c:idx val="4"/>
            <c:invertIfNegative val="1"/>
            <c:bubble3D val="0"/>
            <c:spPr>
              <a:solidFill>
                <a:srgbClr val="8C1515"/>
              </a:solidFill>
              <a:ln>
                <a:noFill/>
              </a:ln>
            </c:spPr>
            <c:extLst>
              <c:ext xmlns:c16="http://schemas.microsoft.com/office/drawing/2014/chart" uri="{C3380CC4-5D6E-409C-BE32-E72D297353CC}">
                <c16:uniqueId val="{00000009-F3AE-0E4B-9EEB-0EED6BEB781F}"/>
              </c:ext>
            </c:extLst>
          </c:dPt>
          <c:dLbls>
            <c:numFmt formatCode="0.00" sourceLinked="0"/>
            <c:spPr>
              <a:noFill/>
              <a:ln>
                <a:noFill/>
              </a:ln>
              <a:effectLst/>
            </c:spPr>
            <c:txPr>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Branched baseline</c:v>
                </c:pt>
                <c:pt idx="1">
                  <c:v>learnedZeroD</c:v>
                </c:pt>
                <c:pt idx="2">
                  <c:v>Baseline + calibrator</c:v>
                </c:pt>
                <c:pt idx="3">
                  <c:v>Learned + calibrator</c:v>
                </c:pt>
                <c:pt idx="4">
                  <c:v>Learned + calibrated junctions</c:v>
                </c:pt>
              </c:strCache>
            </c:strRef>
          </c:cat>
          <c:val>
            <c:numRef>
              <c:f>Sheet1!$B$2:$B$6</c:f>
              <c:numCache>
                <c:formatCode>General</c:formatCode>
                <c:ptCount val="5"/>
                <c:pt idx="0">
                  <c:v>6.81</c:v>
                </c:pt>
                <c:pt idx="1">
                  <c:v>6.08</c:v>
                </c:pt>
                <c:pt idx="2">
                  <c:v>3.7</c:v>
                </c:pt>
                <c:pt idx="3">
                  <c:v>2.36</c:v>
                </c:pt>
                <c:pt idx="4">
                  <c:v>1.58</c:v>
                </c:pt>
              </c:numCache>
            </c:numRef>
          </c:val>
          <c:extLst>
            <c:ext xmlns:c16="http://schemas.microsoft.com/office/drawing/2014/chart" uri="{C3380CC4-5D6E-409C-BE32-E72D297353CC}">
              <c16:uniqueId val="{0000000A-F3AE-0E4B-9EEB-0EED6BEB781F}"/>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D9D7D4"/>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max val="8.1999999999999993"/>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solidFill>
            <a:srgbClr val="2E2D29"/>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Earlier fit  (k₁ 2×10⁷, k₂ −69.5, k₃ 0)</c:v>
                </c:pt>
              </c:strCache>
            </c:strRef>
          </c:tx>
          <c:spPr>
            <a:ln w="28575">
              <a:solidFill>
                <a:srgbClr val="8C1515"/>
              </a:solidFill>
            </a:ln>
          </c:spPr>
          <c:marker>
            <c:symbol val="none"/>
          </c:marker>
          <c:xVal>
            <c:numRef>
              <c:f>Sheet1!$A$2:$A$100</c:f>
              <c:numCache>
                <c:formatCode>General</c:formatCode>
                <c:ptCount val="99"/>
                <c:pt idx="0">
                  <c:v>5.0000000000000001E-3</c:v>
                </c:pt>
                <c:pt idx="1">
                  <c:v>7.4999999999999997E-3</c:v>
                </c:pt>
                <c:pt idx="2">
                  <c:v>0.01</c:v>
                </c:pt>
                <c:pt idx="3">
                  <c:v>1.2500000000000001E-2</c:v>
                </c:pt>
                <c:pt idx="4">
                  <c:v>1.4999999999999999E-2</c:v>
                </c:pt>
                <c:pt idx="5">
                  <c:v>1.7500000000000002E-2</c:v>
                </c:pt>
                <c:pt idx="6">
                  <c:v>0.02</c:v>
                </c:pt>
                <c:pt idx="7">
                  <c:v>2.2500000000000003E-2</c:v>
                </c:pt>
                <c:pt idx="8">
                  <c:v>2.5000000000000001E-2</c:v>
                </c:pt>
                <c:pt idx="9">
                  <c:v>2.75E-2</c:v>
                </c:pt>
                <c:pt idx="10">
                  <c:v>3.0000000000000002E-2</c:v>
                </c:pt>
                <c:pt idx="11">
                  <c:v>3.2500000000000001E-2</c:v>
                </c:pt>
                <c:pt idx="12">
                  <c:v>3.4999999999999996E-2</c:v>
                </c:pt>
                <c:pt idx="13">
                  <c:v>3.7499999999999999E-2</c:v>
                </c:pt>
                <c:pt idx="14">
                  <c:v>0.04</c:v>
                </c:pt>
                <c:pt idx="15">
                  <c:v>4.2499999999999996E-2</c:v>
                </c:pt>
                <c:pt idx="16">
                  <c:v>4.4999999999999998E-2</c:v>
                </c:pt>
                <c:pt idx="17">
                  <c:v>4.7500000000000001E-2</c:v>
                </c:pt>
                <c:pt idx="18">
                  <c:v>4.9999999999999996E-2</c:v>
                </c:pt>
                <c:pt idx="19">
                  <c:v>5.2499999999999998E-2</c:v>
                </c:pt>
                <c:pt idx="20">
                  <c:v>5.5E-2</c:v>
                </c:pt>
                <c:pt idx="21">
                  <c:v>5.7499999999999996E-2</c:v>
                </c:pt>
                <c:pt idx="22">
                  <c:v>0.06</c:v>
                </c:pt>
                <c:pt idx="23">
                  <c:v>6.25E-2</c:v>
                </c:pt>
                <c:pt idx="24">
                  <c:v>6.5000000000000002E-2</c:v>
                </c:pt>
                <c:pt idx="25">
                  <c:v>6.7500000000000004E-2</c:v>
                </c:pt>
                <c:pt idx="26">
                  <c:v>7.0000000000000007E-2</c:v>
                </c:pt>
                <c:pt idx="27">
                  <c:v>7.2500000000000009E-2</c:v>
                </c:pt>
                <c:pt idx="28">
                  <c:v>7.5000000000000011E-2</c:v>
                </c:pt>
                <c:pt idx="29">
                  <c:v>7.7499999999999999E-2</c:v>
                </c:pt>
                <c:pt idx="30">
                  <c:v>0.08</c:v>
                </c:pt>
                <c:pt idx="31">
                  <c:v>8.2500000000000004E-2</c:v>
                </c:pt>
                <c:pt idx="32">
                  <c:v>8.5000000000000006E-2</c:v>
                </c:pt>
                <c:pt idx="33">
                  <c:v>8.7500000000000008E-2</c:v>
                </c:pt>
                <c:pt idx="34">
                  <c:v>9.0000000000000011E-2</c:v>
                </c:pt>
                <c:pt idx="35">
                  <c:v>9.2500000000000013E-2</c:v>
                </c:pt>
                <c:pt idx="36">
                  <c:v>9.5000000000000001E-2</c:v>
                </c:pt>
                <c:pt idx="37">
                  <c:v>9.7500000000000003E-2</c:v>
                </c:pt>
                <c:pt idx="38">
                  <c:v>0.1</c:v>
                </c:pt>
                <c:pt idx="39">
                  <c:v>0.10250000000000001</c:v>
                </c:pt>
                <c:pt idx="40">
                  <c:v>0.10500000000000001</c:v>
                </c:pt>
                <c:pt idx="41">
                  <c:v>0.10750000000000001</c:v>
                </c:pt>
                <c:pt idx="42">
                  <c:v>0.11</c:v>
                </c:pt>
                <c:pt idx="43">
                  <c:v>0.1125</c:v>
                </c:pt>
                <c:pt idx="44">
                  <c:v>0.115</c:v>
                </c:pt>
                <c:pt idx="45">
                  <c:v>0.11750000000000001</c:v>
                </c:pt>
                <c:pt idx="46">
                  <c:v>0.12000000000000001</c:v>
                </c:pt>
                <c:pt idx="47">
                  <c:v>0.12250000000000001</c:v>
                </c:pt>
                <c:pt idx="48">
                  <c:v>0.125</c:v>
                </c:pt>
                <c:pt idx="49">
                  <c:v>0.1275</c:v>
                </c:pt>
                <c:pt idx="50">
                  <c:v>0.13</c:v>
                </c:pt>
                <c:pt idx="51">
                  <c:v>0.13250000000000001</c:v>
                </c:pt>
                <c:pt idx="52">
                  <c:v>0.13500000000000001</c:v>
                </c:pt>
                <c:pt idx="53">
                  <c:v>0.13750000000000001</c:v>
                </c:pt>
                <c:pt idx="54">
                  <c:v>0.14000000000000001</c:v>
                </c:pt>
                <c:pt idx="55">
                  <c:v>0.14250000000000002</c:v>
                </c:pt>
                <c:pt idx="56">
                  <c:v>0.14500000000000002</c:v>
                </c:pt>
                <c:pt idx="57">
                  <c:v>0.14750000000000002</c:v>
                </c:pt>
                <c:pt idx="58">
                  <c:v>0.15</c:v>
                </c:pt>
                <c:pt idx="59">
                  <c:v>0.1525</c:v>
                </c:pt>
                <c:pt idx="60">
                  <c:v>0.155</c:v>
                </c:pt>
                <c:pt idx="61">
                  <c:v>0.1575</c:v>
                </c:pt>
                <c:pt idx="62">
                  <c:v>0.16</c:v>
                </c:pt>
                <c:pt idx="63">
                  <c:v>0.16250000000000001</c:v>
                </c:pt>
                <c:pt idx="64">
                  <c:v>0.16500000000000001</c:v>
                </c:pt>
                <c:pt idx="65">
                  <c:v>0.16750000000000001</c:v>
                </c:pt>
                <c:pt idx="66">
                  <c:v>0.17</c:v>
                </c:pt>
                <c:pt idx="67">
                  <c:v>0.17250000000000001</c:v>
                </c:pt>
                <c:pt idx="68">
                  <c:v>0.17500000000000002</c:v>
                </c:pt>
                <c:pt idx="69">
                  <c:v>0.17750000000000002</c:v>
                </c:pt>
                <c:pt idx="70">
                  <c:v>0.18000000000000002</c:v>
                </c:pt>
                <c:pt idx="71">
                  <c:v>0.1825</c:v>
                </c:pt>
                <c:pt idx="72">
                  <c:v>0.185</c:v>
                </c:pt>
                <c:pt idx="73">
                  <c:v>0.1875</c:v>
                </c:pt>
                <c:pt idx="74">
                  <c:v>0.19</c:v>
                </c:pt>
                <c:pt idx="75">
                  <c:v>0.1925</c:v>
                </c:pt>
                <c:pt idx="76">
                  <c:v>0.19500000000000001</c:v>
                </c:pt>
                <c:pt idx="77">
                  <c:v>0.19750000000000001</c:v>
                </c:pt>
                <c:pt idx="78">
                  <c:v>0.2</c:v>
                </c:pt>
                <c:pt idx="79">
                  <c:v>0.20250000000000001</c:v>
                </c:pt>
                <c:pt idx="80">
                  <c:v>0.20500000000000002</c:v>
                </c:pt>
                <c:pt idx="81">
                  <c:v>0.20750000000000002</c:v>
                </c:pt>
                <c:pt idx="82">
                  <c:v>0.21000000000000002</c:v>
                </c:pt>
                <c:pt idx="83">
                  <c:v>0.21250000000000002</c:v>
                </c:pt>
                <c:pt idx="84">
                  <c:v>0.215</c:v>
                </c:pt>
                <c:pt idx="85">
                  <c:v>0.2175</c:v>
                </c:pt>
                <c:pt idx="86">
                  <c:v>0.22</c:v>
                </c:pt>
                <c:pt idx="87">
                  <c:v>0.2225</c:v>
                </c:pt>
                <c:pt idx="88">
                  <c:v>0.22500000000000001</c:v>
                </c:pt>
                <c:pt idx="89">
                  <c:v>0.22750000000000001</c:v>
                </c:pt>
                <c:pt idx="90">
                  <c:v>0.23</c:v>
                </c:pt>
                <c:pt idx="91">
                  <c:v>0.23250000000000001</c:v>
                </c:pt>
                <c:pt idx="92">
                  <c:v>0.23500000000000001</c:v>
                </c:pt>
                <c:pt idx="93">
                  <c:v>0.23750000000000002</c:v>
                </c:pt>
                <c:pt idx="94">
                  <c:v>0.24000000000000002</c:v>
                </c:pt>
                <c:pt idx="95">
                  <c:v>0.24250000000000002</c:v>
                </c:pt>
                <c:pt idx="96">
                  <c:v>0.245</c:v>
                </c:pt>
                <c:pt idx="97">
                  <c:v>0.2475</c:v>
                </c:pt>
                <c:pt idx="98">
                  <c:v>0.25</c:v>
                </c:pt>
              </c:numCache>
            </c:numRef>
          </c:xVal>
          <c:yVal>
            <c:numRef>
              <c:f>Sheet1!$B$2:$B$100</c:f>
              <c:numCache>
                <c:formatCode>General</c:formatCode>
                <c:ptCount val="99"/>
                <c:pt idx="0">
                  <c:v>14129040.278591268</c:v>
                </c:pt>
                <c:pt idx="1">
                  <c:v>11875557.231218828</c:v>
                </c:pt>
                <c:pt idx="2">
                  <c:v>9981488.959702719</c:v>
                </c:pt>
                <c:pt idx="3">
                  <c:v>8389511.3225303292</c:v>
                </c:pt>
                <c:pt idx="4">
                  <c:v>7051442.9775976883</c:v>
                </c:pt>
                <c:pt idx="5">
                  <c:v>5926787.1696864245</c:v>
                </c:pt>
                <c:pt idx="6">
                  <c:v>4981506.0926333629</c:v>
                </c:pt>
                <c:pt idx="7">
                  <c:v>4186990.7321568714</c:v>
                </c:pt>
                <c:pt idx="8">
                  <c:v>3519195.0115432297</c:v>
                </c:pt>
                <c:pt idx="9">
                  <c:v>2957908.0350366388</c:v>
                </c:pt>
                <c:pt idx="10">
                  <c:v>2486142.4033155879</c:v>
                </c:pt>
                <c:pt idx="11">
                  <c:v>2089620.088370071</c:v>
                </c:pt>
                <c:pt idx="12">
                  <c:v>1756340.3077379821</c:v>
                </c:pt>
                <c:pt idx="13">
                  <c:v>1476216.3197767094</c:v>
                </c:pt>
                <c:pt idx="14">
                  <c:v>1240770.1475471659</c:v>
                </c:pt>
                <c:pt idx="15">
                  <c:v>1042875.9921019445</c:v>
                </c:pt>
                <c:pt idx="16">
                  <c:v>876544.56955837703</c:v>
                </c:pt>
                <c:pt idx="17">
                  <c:v>736741.84489920991</c:v>
                </c:pt>
                <c:pt idx="18">
                  <c:v>619236.67646353785</c:v>
                </c:pt>
                <c:pt idx="19">
                  <c:v>520472.76007522905</c:v>
                </c:pt>
                <c:pt idx="20">
                  <c:v>437460.99718671548</c:v>
                </c:pt>
                <c:pt idx="21">
                  <c:v>367689.02955062396</c:v>
                </c:pt>
                <c:pt idx="22">
                  <c:v>309045.2024781903</c:v>
                </c:pt>
                <c:pt idx="23">
                  <c:v>259754.65542584498</c:v>
                </c:pt>
                <c:pt idx="24">
                  <c:v>218325.60568598722</c:v>
                </c:pt>
                <c:pt idx="25">
                  <c:v>183504.19945316794</c:v>
                </c:pt>
                <c:pt idx="26">
                  <c:v>154236.56382925736</c:v>
                </c:pt>
                <c:pt idx="27">
                  <c:v>129636.91126822274</c:v>
                </c:pt>
                <c:pt idx="28">
                  <c:v>108960.73113875451</c:v>
                </c:pt>
                <c:pt idx="29">
                  <c:v>91582.257045044142</c:v>
                </c:pt>
                <c:pt idx="30">
                  <c:v>76975.527952210788</c:v>
                </c:pt>
                <c:pt idx="31">
                  <c:v>64698.469929686304</c:v>
                </c:pt>
                <c:pt idx="32">
                  <c:v>54379.516745130706</c:v>
                </c:pt>
                <c:pt idx="33">
                  <c:v>45706.364379988183</c:v>
                </c:pt>
                <c:pt idx="34">
                  <c:v>38416.51912111399</c:v>
                </c:pt>
                <c:pt idx="35">
                  <c:v>32289.3531656411</c:v>
                </c:pt>
                <c:pt idx="36">
                  <c:v>27139.427301274576</c:v>
                </c:pt>
                <c:pt idx="37">
                  <c:v>22810.878572350095</c:v>
                </c:pt>
                <c:pt idx="38">
                  <c:v>19172.703073880399</c:v>
                </c:pt>
                <c:pt idx="39">
                  <c:v>16114.791106939445</c:v>
                </c:pt>
                <c:pt idx="40">
                  <c:v>13544.594699016334</c:v>
                </c:pt>
                <c:pt idx="41">
                  <c:v>11384.326631551578</c:v>
                </c:pt>
                <c:pt idx="42">
                  <c:v>9568.6062029797758</c:v>
                </c:pt>
                <c:pt idx="43">
                  <c:v>8042.4804760915795</c:v>
                </c:pt>
                <c:pt idx="44">
                  <c:v>6759.7611225939745</c:v>
                </c:pt>
                <c:pt idx="45">
                  <c:v>5681.626529324094</c:v>
                </c:pt>
                <c:pt idx="46">
                  <c:v>4775.446858739283</c:v>
                </c:pt>
                <c:pt idx="47">
                  <c:v>4013.7965040366407</c:v>
                </c:pt>
                <c:pt idx="48">
                  <c:v>3373.6240507699731</c:v>
                </c:pt>
                <c:pt idx="49">
                  <c:v>2835.554623780125</c:v>
                </c:pt>
                <c:pt idx="50">
                  <c:v>2383.3035049076584</c:v>
                </c:pt>
                <c:pt idx="51">
                  <c:v>2003.1832745767545</c:v>
                </c:pt>
                <c:pt idx="52">
                  <c:v>1683.6895608474019</c:v>
                </c:pt>
                <c:pt idx="53">
                  <c:v>1415.1528585947653</c:v>
                </c:pt>
                <c:pt idx="54">
                  <c:v>1189.445881092829</c:v>
                </c:pt>
                <c:pt idx="55">
                  <c:v>999.73758697245057</c:v>
                </c:pt>
                <c:pt idx="56">
                  <c:v>840.28643815825296</c:v>
                </c:pt>
                <c:pt idx="57">
                  <c:v>706.26663171776954</c:v>
                </c:pt>
                <c:pt idx="58">
                  <c:v>593.6220465145982</c:v>
                </c:pt>
                <c:pt idx="59">
                  <c:v>498.94348434826838</c:v>
                </c:pt>
                <c:pt idx="60">
                  <c:v>419.36549027322678</c:v>
                </c:pt>
                <c:pt idx="61">
                  <c:v>352.47962935486709</c:v>
                </c:pt>
                <c:pt idx="62">
                  <c:v>296.2615951760792</c:v>
                </c:pt>
                <c:pt idx="63">
                  <c:v>249.00994402689184</c:v>
                </c:pt>
                <c:pt idx="64">
                  <c:v>209.29460056212613</c:v>
                </c:pt>
                <c:pt idx="65">
                  <c:v>175.91357644628559</c:v>
                </c:pt>
                <c:pt idx="66">
                  <c:v>147.85659207169749</c:v>
                </c:pt>
                <c:pt idx="67">
                  <c:v>124.27450035803062</c:v>
                </c:pt>
                <c:pt idx="68">
                  <c:v>104.4535872418126</c:v>
                </c:pt>
                <c:pt idx="69">
                  <c:v>87.793971058020958</c:v>
                </c:pt>
                <c:pt idx="70">
                  <c:v>73.791447069145846</c:v>
                </c:pt>
                <c:pt idx="71">
                  <c:v>62.02222766481281</c:v>
                </c:pt>
                <c:pt idx="72">
                  <c:v>52.130116392774944</c:v>
                </c:pt>
                <c:pt idx="73">
                  <c:v>43.815727642204884</c:v>
                </c:pt>
                <c:pt idx="74">
                  <c:v>36.8274257120584</c:v>
                </c:pt>
                <c:pt idx="75">
                  <c:v>30.953709034624872</c:v>
                </c:pt>
                <c:pt idx="76">
                  <c:v>26.016809062125038</c:v>
                </c:pt>
                <c:pt idx="77">
                  <c:v>21.86731008610046</c:v>
                </c:pt>
                <c:pt idx="78">
                  <c:v>18.379627157959142</c:v>
                </c:pt>
                <c:pt idx="79">
                  <c:v>15.44820524954792</c:v>
                </c:pt>
                <c:pt idx="80">
                  <c:v>12.98432462101473</c:v>
                </c:pt>
                <c:pt idx="81">
                  <c:v>10.913415710140379</c:v>
                </c:pt>
                <c:pt idx="82">
                  <c:v>9.1728022780310692</c:v>
                </c:pt>
                <c:pt idx="83">
                  <c:v>7.7098045072792054</c:v>
                </c:pt>
                <c:pt idx="84">
                  <c:v>6.4801446426927463</c:v>
                </c:pt>
                <c:pt idx="85">
                  <c:v>5.4466069211706278</c:v>
                </c:pt>
                <c:pt idx="86">
                  <c:v>4.5779112333851524</c:v>
                </c:pt>
                <c:pt idx="87">
                  <c:v>3.8477664285436814</c:v>
                </c:pt>
                <c:pt idx="88">
                  <c:v>3.2340746104157119</c:v>
                </c:pt>
                <c:pt idx="89">
                  <c:v>2.7182623425752466</c:v>
                </c:pt>
                <c:pt idx="90">
                  <c:v>2.2847185217266475</c:v>
                </c:pt>
                <c:pt idx="91">
                  <c:v>1.9203219063011754</c:v>
                </c:pt>
                <c:pt idx="92">
                  <c:v>1.6140440009359676</c:v>
                </c:pt>
                <c:pt idx="93">
                  <c:v>1.3566152780995235</c:v>
                </c:pt>
                <c:pt idx="94">
                  <c:v>1.1402446350321442</c:v>
                </c:pt>
                <c:pt idx="95">
                  <c:v>0.9583835953410228</c:v>
                </c:pt>
                <c:pt idx="96">
                  <c:v>0.80552811879083797</c:v>
                </c:pt>
                <c:pt idx="97">
                  <c:v>0.6770520210457236</c:v>
                </c:pt>
                <c:pt idx="98">
                  <c:v>0.56906696179668004</c:v>
                </c:pt>
              </c:numCache>
            </c:numRef>
          </c:yVal>
          <c:smooth val="0"/>
          <c:extLst>
            <c:ext xmlns:c16="http://schemas.microsoft.com/office/drawing/2014/chart" uri="{C3380CC4-5D6E-409C-BE32-E72D297353CC}">
              <c16:uniqueId val="{00000000-B619-AC47-ADBD-696623CC9F31}"/>
            </c:ext>
          </c:extLst>
        </c:ser>
        <c:ser>
          <c:idx val="1"/>
          <c:order val="1"/>
          <c:tx>
            <c:strRef>
              <c:f>Sheet1!$B$102</c:f>
              <c:strCache>
                <c:ptCount val="1"/>
                <c:pt idx="0">
                  <c:v>Literature  (k₁ 2.6×10⁵, k₂ −14, k₃ 10⁵)</c:v>
                </c:pt>
              </c:strCache>
            </c:strRef>
          </c:tx>
          <c:spPr>
            <a:ln w="25400">
              <a:solidFill>
                <a:srgbClr val="2E2D29"/>
              </a:solidFill>
            </a:ln>
          </c:spPr>
          <c:marker>
            <c:symbol val="none"/>
          </c:marker>
          <c:xVal>
            <c:numRef>
              <c:f>Sheet1!$A$103:$A$201</c:f>
              <c:numCache>
                <c:formatCode>General</c:formatCode>
                <c:ptCount val="99"/>
                <c:pt idx="0">
                  <c:v>5.0000000000000001E-3</c:v>
                </c:pt>
                <c:pt idx="1">
                  <c:v>7.4999999999999997E-3</c:v>
                </c:pt>
                <c:pt idx="2">
                  <c:v>0.01</c:v>
                </c:pt>
                <c:pt idx="3">
                  <c:v>1.2500000000000001E-2</c:v>
                </c:pt>
                <c:pt idx="4">
                  <c:v>1.4999999999999999E-2</c:v>
                </c:pt>
                <c:pt idx="5">
                  <c:v>1.7500000000000002E-2</c:v>
                </c:pt>
                <c:pt idx="6">
                  <c:v>0.02</c:v>
                </c:pt>
                <c:pt idx="7">
                  <c:v>2.2500000000000003E-2</c:v>
                </c:pt>
                <c:pt idx="8">
                  <c:v>2.5000000000000001E-2</c:v>
                </c:pt>
                <c:pt idx="9">
                  <c:v>2.75E-2</c:v>
                </c:pt>
                <c:pt idx="10">
                  <c:v>3.0000000000000002E-2</c:v>
                </c:pt>
                <c:pt idx="11">
                  <c:v>3.2500000000000001E-2</c:v>
                </c:pt>
                <c:pt idx="12">
                  <c:v>3.4999999999999996E-2</c:v>
                </c:pt>
                <c:pt idx="13">
                  <c:v>3.7499999999999999E-2</c:v>
                </c:pt>
                <c:pt idx="14">
                  <c:v>0.04</c:v>
                </c:pt>
                <c:pt idx="15">
                  <c:v>4.2499999999999996E-2</c:v>
                </c:pt>
                <c:pt idx="16">
                  <c:v>4.4999999999999998E-2</c:v>
                </c:pt>
                <c:pt idx="17">
                  <c:v>4.7500000000000001E-2</c:v>
                </c:pt>
                <c:pt idx="18">
                  <c:v>4.9999999999999996E-2</c:v>
                </c:pt>
                <c:pt idx="19">
                  <c:v>5.2499999999999998E-2</c:v>
                </c:pt>
                <c:pt idx="20">
                  <c:v>5.5E-2</c:v>
                </c:pt>
                <c:pt idx="21">
                  <c:v>5.7499999999999996E-2</c:v>
                </c:pt>
                <c:pt idx="22">
                  <c:v>0.06</c:v>
                </c:pt>
                <c:pt idx="23">
                  <c:v>6.25E-2</c:v>
                </c:pt>
                <c:pt idx="24">
                  <c:v>6.5000000000000002E-2</c:v>
                </c:pt>
                <c:pt idx="25">
                  <c:v>6.7500000000000004E-2</c:v>
                </c:pt>
                <c:pt idx="26">
                  <c:v>7.0000000000000007E-2</c:v>
                </c:pt>
                <c:pt idx="27">
                  <c:v>7.2500000000000009E-2</c:v>
                </c:pt>
                <c:pt idx="28">
                  <c:v>7.5000000000000011E-2</c:v>
                </c:pt>
                <c:pt idx="29">
                  <c:v>7.7499999999999999E-2</c:v>
                </c:pt>
                <c:pt idx="30">
                  <c:v>0.08</c:v>
                </c:pt>
                <c:pt idx="31">
                  <c:v>8.2500000000000004E-2</c:v>
                </c:pt>
                <c:pt idx="32">
                  <c:v>8.5000000000000006E-2</c:v>
                </c:pt>
                <c:pt idx="33">
                  <c:v>8.7500000000000008E-2</c:v>
                </c:pt>
                <c:pt idx="34">
                  <c:v>9.0000000000000011E-2</c:v>
                </c:pt>
                <c:pt idx="35">
                  <c:v>9.2500000000000013E-2</c:v>
                </c:pt>
                <c:pt idx="36">
                  <c:v>9.5000000000000001E-2</c:v>
                </c:pt>
                <c:pt idx="37">
                  <c:v>9.7500000000000003E-2</c:v>
                </c:pt>
                <c:pt idx="38">
                  <c:v>0.1</c:v>
                </c:pt>
                <c:pt idx="39">
                  <c:v>0.10250000000000001</c:v>
                </c:pt>
                <c:pt idx="40">
                  <c:v>0.10500000000000001</c:v>
                </c:pt>
                <c:pt idx="41">
                  <c:v>0.10750000000000001</c:v>
                </c:pt>
                <c:pt idx="42">
                  <c:v>0.11</c:v>
                </c:pt>
                <c:pt idx="43">
                  <c:v>0.1125</c:v>
                </c:pt>
                <c:pt idx="44">
                  <c:v>0.115</c:v>
                </c:pt>
                <c:pt idx="45">
                  <c:v>0.11750000000000001</c:v>
                </c:pt>
                <c:pt idx="46">
                  <c:v>0.12000000000000001</c:v>
                </c:pt>
                <c:pt idx="47">
                  <c:v>0.12250000000000001</c:v>
                </c:pt>
                <c:pt idx="48">
                  <c:v>0.125</c:v>
                </c:pt>
                <c:pt idx="49">
                  <c:v>0.1275</c:v>
                </c:pt>
                <c:pt idx="50">
                  <c:v>0.13</c:v>
                </c:pt>
                <c:pt idx="51">
                  <c:v>0.13250000000000001</c:v>
                </c:pt>
                <c:pt idx="52">
                  <c:v>0.13500000000000001</c:v>
                </c:pt>
                <c:pt idx="53">
                  <c:v>0.13750000000000001</c:v>
                </c:pt>
                <c:pt idx="54">
                  <c:v>0.14000000000000001</c:v>
                </c:pt>
                <c:pt idx="55">
                  <c:v>0.14250000000000002</c:v>
                </c:pt>
                <c:pt idx="56">
                  <c:v>0.14500000000000002</c:v>
                </c:pt>
                <c:pt idx="57">
                  <c:v>0.14750000000000002</c:v>
                </c:pt>
                <c:pt idx="58">
                  <c:v>0.15</c:v>
                </c:pt>
                <c:pt idx="59">
                  <c:v>0.1525</c:v>
                </c:pt>
                <c:pt idx="60">
                  <c:v>0.155</c:v>
                </c:pt>
                <c:pt idx="61">
                  <c:v>0.1575</c:v>
                </c:pt>
                <c:pt idx="62">
                  <c:v>0.16</c:v>
                </c:pt>
                <c:pt idx="63">
                  <c:v>0.16250000000000001</c:v>
                </c:pt>
                <c:pt idx="64">
                  <c:v>0.16500000000000001</c:v>
                </c:pt>
                <c:pt idx="65">
                  <c:v>0.16750000000000001</c:v>
                </c:pt>
                <c:pt idx="66">
                  <c:v>0.17</c:v>
                </c:pt>
                <c:pt idx="67">
                  <c:v>0.17250000000000001</c:v>
                </c:pt>
                <c:pt idx="68">
                  <c:v>0.17500000000000002</c:v>
                </c:pt>
                <c:pt idx="69">
                  <c:v>0.17750000000000002</c:v>
                </c:pt>
                <c:pt idx="70">
                  <c:v>0.18000000000000002</c:v>
                </c:pt>
                <c:pt idx="71">
                  <c:v>0.1825</c:v>
                </c:pt>
                <c:pt idx="72">
                  <c:v>0.185</c:v>
                </c:pt>
                <c:pt idx="73">
                  <c:v>0.1875</c:v>
                </c:pt>
                <c:pt idx="74">
                  <c:v>0.19</c:v>
                </c:pt>
                <c:pt idx="75">
                  <c:v>0.1925</c:v>
                </c:pt>
                <c:pt idx="76">
                  <c:v>0.19500000000000001</c:v>
                </c:pt>
                <c:pt idx="77">
                  <c:v>0.19750000000000001</c:v>
                </c:pt>
                <c:pt idx="78">
                  <c:v>0.2</c:v>
                </c:pt>
                <c:pt idx="79">
                  <c:v>0.20250000000000001</c:v>
                </c:pt>
                <c:pt idx="80">
                  <c:v>0.20500000000000002</c:v>
                </c:pt>
                <c:pt idx="81">
                  <c:v>0.20750000000000002</c:v>
                </c:pt>
                <c:pt idx="82">
                  <c:v>0.21000000000000002</c:v>
                </c:pt>
                <c:pt idx="83">
                  <c:v>0.21250000000000002</c:v>
                </c:pt>
                <c:pt idx="84">
                  <c:v>0.215</c:v>
                </c:pt>
                <c:pt idx="85">
                  <c:v>0.2175</c:v>
                </c:pt>
                <c:pt idx="86">
                  <c:v>0.22</c:v>
                </c:pt>
                <c:pt idx="87">
                  <c:v>0.2225</c:v>
                </c:pt>
                <c:pt idx="88">
                  <c:v>0.22500000000000001</c:v>
                </c:pt>
                <c:pt idx="89">
                  <c:v>0.22750000000000001</c:v>
                </c:pt>
                <c:pt idx="90">
                  <c:v>0.23</c:v>
                </c:pt>
                <c:pt idx="91">
                  <c:v>0.23250000000000001</c:v>
                </c:pt>
                <c:pt idx="92">
                  <c:v>0.23500000000000001</c:v>
                </c:pt>
                <c:pt idx="93">
                  <c:v>0.23750000000000002</c:v>
                </c:pt>
                <c:pt idx="94">
                  <c:v>0.24000000000000002</c:v>
                </c:pt>
                <c:pt idx="95">
                  <c:v>0.24250000000000002</c:v>
                </c:pt>
                <c:pt idx="96">
                  <c:v>0.245</c:v>
                </c:pt>
                <c:pt idx="97">
                  <c:v>0.2475</c:v>
                </c:pt>
                <c:pt idx="98">
                  <c:v>0.25</c:v>
                </c:pt>
              </c:numCache>
            </c:numRef>
          </c:xVal>
          <c:yVal>
            <c:numRef>
              <c:f>Sheet1!$B$103:$B$201</c:f>
              <c:numCache>
                <c:formatCode>General</c:formatCode>
                <c:ptCount val="99"/>
                <c:pt idx="0">
                  <c:v>342422.39317554655</c:v>
                </c:pt>
                <c:pt idx="1">
                  <c:v>334084.37587242905</c:v>
                </c:pt>
                <c:pt idx="2">
                  <c:v>326033.14120368951</c:v>
                </c:pt>
                <c:pt idx="3">
                  <c:v>318258.82539999392</c:v>
                </c:pt>
                <c:pt idx="4">
                  <c:v>310751.90395224863</c:v>
                </c:pt>
                <c:pt idx="5">
                  <c:v>303503.1799428857</c:v>
                </c:pt>
                <c:pt idx="6">
                  <c:v>296503.77277848858</c:v>
                </c:pt>
                <c:pt idx="7">
                  <c:v>289745.10730995476</c:v>
                </c:pt>
                <c:pt idx="8">
                  <c:v>283218.90332686552</c:v>
                </c:pt>
                <c:pt idx="9">
                  <c:v>276917.16541319282</c:v>
                </c:pt>
                <c:pt idx="10">
                  <c:v>270832.17315191473</c:v>
                </c:pt>
                <c:pt idx="11">
                  <c:v>264956.47166653932</c:v>
                </c:pt>
                <c:pt idx="12">
                  <c:v>259282.86248794818</c:v>
                </c:pt>
                <c:pt idx="13">
                  <c:v>253804.39473537193</c:v>
                </c:pt>
                <c:pt idx="14">
                  <c:v>248514.35660069186</c:v>
                </c:pt>
                <c:pt idx="15">
                  <c:v>243406.26712563576</c:v>
                </c:pt>
                <c:pt idx="16">
                  <c:v>238473.86826179328</c:v>
                </c:pt>
                <c:pt idx="17">
                  <c:v>233711.11720372431</c:v>
                </c:pt>
                <c:pt idx="18">
                  <c:v>229112.17898576648</c:v>
                </c:pt>
                <c:pt idx="19">
                  <c:v>224671.41933347247</c:v>
                </c:pt>
                <c:pt idx="20">
                  <c:v>220383.3977609193</c:v>
                </c:pt>
                <c:pt idx="21">
                  <c:v>216242.86090543267</c:v>
                </c:pt>
                <c:pt idx="22">
                  <c:v>212244.73609156074</c:v>
                </c:pt>
                <c:pt idx="23">
                  <c:v>208384.12511641218</c:v>
                </c:pt>
                <c:pt idx="24">
                  <c:v>204656.29824874536</c:v>
                </c:pt>
                <c:pt idx="25">
                  <c:v>201056.68843445578</c:v>
                </c:pt>
                <c:pt idx="26">
                  <c:v>197580.88570136388</c:v>
                </c:pt>
                <c:pt idx="27">
                  <c:v>194224.63175644749</c:v>
                </c:pt>
                <c:pt idx="28">
                  <c:v>190983.81476890037</c:v>
                </c:pt>
                <c:pt idx="29">
                  <c:v>187854.46433262539</c:v>
                </c:pt>
                <c:pt idx="30">
                  <c:v>184832.74660199025</c:v>
                </c:pt>
                <c:pt idx="31">
                  <c:v>181914.95959488745</c:v>
                </c:pt>
                <c:pt idx="32">
                  <c:v>179097.52865734306</c:v>
                </c:pt>
                <c:pt idx="33">
                  <c:v>176377.00208411852</c:v>
                </c:pt>
                <c:pt idx="34">
                  <c:v>173750.04688994028</c:v>
                </c:pt>
                <c:pt idx="35">
                  <c:v>171213.44472617583</c:v>
                </c:pt>
                <c:pt idx="36">
                  <c:v>168764.08793795423</c:v>
                </c:pt>
                <c:pt idx="37">
                  <c:v>166398.97575690021</c:v>
                </c:pt>
                <c:pt idx="38">
                  <c:v>164115.21062481767</c:v>
                </c:pt>
                <c:pt idx="39">
                  <c:v>161909.99464381862</c:v>
                </c:pt>
                <c:pt idx="40">
                  <c:v>159780.62614854818</c:v>
                </c:pt>
                <c:pt idx="41">
                  <c:v>157724.49639630684</c:v>
                </c:pt>
                <c:pt idx="42">
                  <c:v>155739.08637101427</c:v>
                </c:pt>
                <c:pt idx="43">
                  <c:v>153821.96369709968</c:v>
                </c:pt>
                <c:pt idx="44">
                  <c:v>151970.77965953757</c:v>
                </c:pt>
                <c:pt idx="45">
                  <c:v>150183.26632637804</c:v>
                </c:pt>
                <c:pt idx="46">
                  <c:v>148457.23377024659</c:v>
                </c:pt>
                <c:pt idx="47">
                  <c:v>146790.56738540917</c:v>
                </c:pt>
                <c:pt idx="48">
                  <c:v>145181.22529711574</c:v>
                </c:pt>
                <c:pt idx="49">
                  <c:v>143627.23586004833</c:v>
                </c:pt>
                <c:pt idx="50">
                  <c:v>142126.69524280899</c:v>
                </c:pt>
                <c:pt idx="51">
                  <c:v>140677.76509548823</c:v>
                </c:pt>
                <c:pt idx="52">
                  <c:v>139278.67029745641</c:v>
                </c:pt>
                <c:pt idx="53">
                  <c:v>137927.69678261911</c:v>
                </c:pt>
                <c:pt idx="54">
                  <c:v>136623.18943947169</c:v>
                </c:pt>
                <c:pt idx="55">
                  <c:v>135363.55008338077</c:v>
                </c:pt>
                <c:pt idx="56">
                  <c:v>134147.23549860821</c:v>
                </c:pt>
                <c:pt idx="57">
                  <c:v>132972.75554767871</c:v>
                </c:pt>
                <c:pt idx="58">
                  <c:v>131838.67134577531</c:v>
                </c:pt>
                <c:pt idx="59">
                  <c:v>130743.59349792522</c:v>
                </c:pt>
                <c:pt idx="60">
                  <c:v>129686.18039681749</c:v>
                </c:pt>
                <c:pt idx="61">
                  <c:v>128665.13657916615</c:v>
                </c:pt>
                <c:pt idx="62">
                  <c:v>127679.21113860572</c:v>
                </c:pt>
                <c:pt idx="63">
                  <c:v>126727.19619317446</c:v>
                </c:pt>
                <c:pt idx="64">
                  <c:v>125807.92540550788</c:v>
                </c:pt>
                <c:pt idx="65">
                  <c:v>124920.27255392965</c:v>
                </c:pt>
                <c:pt idx="66">
                  <c:v>124063.15015268925</c:v>
                </c:pt>
                <c:pt idx="67">
                  <c:v>123235.50811965583</c:v>
                </c:pt>
                <c:pt idx="68">
                  <c:v>122436.33248983632</c:v>
                </c:pt>
                <c:pt idx="69">
                  <c:v>121664.64417314157</c:v>
                </c:pt>
                <c:pt idx="70">
                  <c:v>120919.49775487842</c:v>
                </c:pt>
                <c:pt idx="71">
                  <c:v>120199.98033749862</c:v>
                </c:pt>
                <c:pt idx="72">
                  <c:v>119505.21042218502</c:v>
                </c:pt>
                <c:pt idx="73">
                  <c:v>118834.33682890538</c:v>
                </c:pt>
                <c:pt idx="74">
                  <c:v>118186.5376536104</c:v>
                </c:pt>
                <c:pt idx="75">
                  <c:v>117561.01926129837</c:v>
                </c:pt>
                <c:pt idx="76">
                  <c:v>116957.01531371316</c:v>
                </c:pt>
                <c:pt idx="77">
                  <c:v>116373.78583048392</c:v>
                </c:pt>
                <c:pt idx="78">
                  <c:v>115810.61628255667</c:v>
                </c:pt>
                <c:pt idx="79">
                  <c:v>115266.81671680679</c:v>
                </c:pt>
                <c:pt idx="80">
                  <c:v>114741.7209107602</c:v>
                </c:pt>
                <c:pt idx="81">
                  <c:v>114234.68555638747</c:v>
                </c:pt>
                <c:pt idx="82">
                  <c:v>113745.08947197109</c:v>
                </c:pt>
                <c:pt idx="83">
                  <c:v>113272.33284108013</c:v>
                </c:pt>
                <c:pt idx="84">
                  <c:v>112815.83647772016</c:v>
                </c:pt>
                <c:pt idx="85">
                  <c:v>112375.04111675789</c:v>
                </c:pt>
                <c:pt idx="86">
                  <c:v>111949.40672875149</c:v>
                </c:pt>
                <c:pt idx="87">
                  <c:v>111538.41185834706</c:v>
                </c:pt>
                <c:pt idx="88">
                  <c:v>111141.55298543045</c:v>
                </c:pt>
                <c:pt idx="89">
                  <c:v>110758.3439082523</c:v>
                </c:pt>
                <c:pt idx="90">
                  <c:v>110388.31514777002</c:v>
                </c:pt>
                <c:pt idx="91">
                  <c:v>110031.01337247725</c:v>
                </c:pt>
                <c:pt idx="92">
                  <c:v>109686.00084301611</c:v>
                </c:pt>
                <c:pt idx="93">
                  <c:v>109352.8548758917</c:v>
                </c:pt>
                <c:pt idx="94">
                  <c:v>109031.16732563202</c:v>
                </c:pt>
                <c:pt idx="95">
                  <c:v>108720.54408475864</c:v>
                </c:pt>
                <c:pt idx="96">
                  <c:v>108420.60460095583</c:v>
                </c:pt>
                <c:pt idx="97">
                  <c:v>108130.98141084633</c:v>
                </c:pt>
                <c:pt idx="98">
                  <c:v>107851.31968980281</c:v>
                </c:pt>
              </c:numCache>
            </c:numRef>
          </c:yVal>
          <c:smooth val="0"/>
          <c:extLst>
            <c:ext xmlns:c16="http://schemas.microsoft.com/office/drawing/2014/chart" uri="{C3380CC4-5D6E-409C-BE32-E72D297353CC}">
              <c16:uniqueId val="{00000001-B619-AC47-ADBD-696623CC9F31}"/>
            </c:ext>
          </c:extLst>
        </c:ser>
        <c:ser>
          <c:idx val="2"/>
          <c:order val="2"/>
          <c:tx>
            <c:strRef>
              <c:f>Sheet1!$B$203</c:f>
              <c:strCache>
                <c:ptCount val="1"/>
                <c:pt idx="0">
                  <c:v>Control range  5×10⁴ – 4×10⁵</c:v>
                </c:pt>
              </c:strCache>
            </c:strRef>
          </c:tx>
          <c:spPr>
            <a:ln w="15875">
              <a:solidFill>
                <a:srgbClr val="279989"/>
              </a:solidFill>
              <a:prstDash val="dash"/>
            </a:ln>
          </c:spPr>
          <c:marker>
            <c:symbol val="none"/>
          </c:marker>
          <c:xVal>
            <c:numRef>
              <c:f>Sheet1!$A$204:$A$205</c:f>
              <c:numCache>
                <c:formatCode>General</c:formatCode>
                <c:ptCount val="2"/>
                <c:pt idx="0">
                  <c:v>0</c:v>
                </c:pt>
                <c:pt idx="1">
                  <c:v>0.25</c:v>
                </c:pt>
              </c:numCache>
            </c:numRef>
          </c:xVal>
          <c:yVal>
            <c:numRef>
              <c:f>Sheet1!$B$204:$B$205</c:f>
              <c:numCache>
                <c:formatCode>General</c:formatCode>
                <c:ptCount val="2"/>
                <c:pt idx="0">
                  <c:v>400000</c:v>
                </c:pt>
                <c:pt idx="1">
                  <c:v>400000</c:v>
                </c:pt>
              </c:numCache>
            </c:numRef>
          </c:yVal>
          <c:smooth val="0"/>
          <c:extLst>
            <c:ext xmlns:c16="http://schemas.microsoft.com/office/drawing/2014/chart" uri="{C3380CC4-5D6E-409C-BE32-E72D297353CC}">
              <c16:uniqueId val="{00000002-B619-AC47-ADBD-696623CC9F31}"/>
            </c:ext>
          </c:extLst>
        </c:ser>
        <c:ser>
          <c:idx val="3"/>
          <c:order val="3"/>
          <c:tx>
            <c:strRef>
              <c:f>Sheet1!$B$207</c:f>
              <c:strCache>
                <c:ptCount val="1"/>
                <c:pt idx="0">
                  <c:v>control lo</c:v>
                </c:pt>
              </c:strCache>
            </c:strRef>
          </c:tx>
          <c:spPr>
            <a:ln w="15875">
              <a:solidFill>
                <a:srgbClr val="279989"/>
              </a:solidFill>
              <a:prstDash val="dash"/>
            </a:ln>
          </c:spPr>
          <c:marker>
            <c:symbol val="none"/>
          </c:marker>
          <c:xVal>
            <c:numRef>
              <c:f>Sheet1!$A$208:$A$209</c:f>
              <c:numCache>
                <c:formatCode>General</c:formatCode>
                <c:ptCount val="2"/>
                <c:pt idx="0">
                  <c:v>0</c:v>
                </c:pt>
                <c:pt idx="1">
                  <c:v>0.25</c:v>
                </c:pt>
              </c:numCache>
            </c:numRef>
          </c:xVal>
          <c:yVal>
            <c:numRef>
              <c:f>Sheet1!$B$208:$B$209</c:f>
              <c:numCache>
                <c:formatCode>General</c:formatCode>
                <c:ptCount val="2"/>
                <c:pt idx="0">
                  <c:v>50000</c:v>
                </c:pt>
                <c:pt idx="1">
                  <c:v>50000</c:v>
                </c:pt>
              </c:numCache>
            </c:numRef>
          </c:yVal>
          <c:smooth val="0"/>
          <c:extLst>
            <c:ext xmlns:c16="http://schemas.microsoft.com/office/drawing/2014/chart" uri="{C3380CC4-5D6E-409C-BE32-E72D297353CC}">
              <c16:uniqueId val="{00000003-B619-AC47-ADBD-696623CC9F31}"/>
            </c:ext>
          </c:extLst>
        </c:ser>
        <c:ser>
          <c:idx val="4"/>
          <c:order val="4"/>
          <c:tx>
            <c:strRef>
              <c:f>Sheet1!$B$211</c:f>
              <c:strCache>
                <c:ptCount val="1"/>
                <c:pt idx="0">
                  <c:v>Tree-root radii, earlier fit (0.12–0.19 cm)</c:v>
                </c:pt>
              </c:strCache>
            </c:strRef>
          </c:tx>
          <c:spPr>
            <a:ln w="76200">
              <a:solidFill>
                <a:srgbClr val="6B6965"/>
              </a:solidFill>
            </a:ln>
          </c:spPr>
          <c:marker>
            <c:symbol val="none"/>
          </c:marker>
          <c:xVal>
            <c:numRef>
              <c:f>Sheet1!$A$212:$A$213</c:f>
              <c:numCache>
                <c:formatCode>General</c:formatCode>
                <c:ptCount val="2"/>
                <c:pt idx="0">
                  <c:v>0.123</c:v>
                </c:pt>
                <c:pt idx="1">
                  <c:v>0.19</c:v>
                </c:pt>
              </c:numCache>
            </c:numRef>
          </c:xVal>
          <c:yVal>
            <c:numRef>
              <c:f>Sheet1!$B$212:$B$213</c:f>
              <c:numCache>
                <c:formatCode>General</c:formatCode>
                <c:ptCount val="2"/>
                <c:pt idx="0">
                  <c:v>0.4</c:v>
                </c:pt>
                <c:pt idx="1">
                  <c:v>0.4</c:v>
                </c:pt>
              </c:numCache>
            </c:numRef>
          </c:yVal>
          <c:smooth val="0"/>
          <c:extLst>
            <c:ext xmlns:c16="http://schemas.microsoft.com/office/drawing/2014/chart" uri="{C3380CC4-5D6E-409C-BE32-E72D297353CC}">
              <c16:uniqueId val="{00000004-B619-AC47-ADBD-696623CC9F31}"/>
            </c:ext>
          </c:extLst>
        </c:ser>
        <c:dLbls>
          <c:showLegendKey val="0"/>
          <c:showVal val="0"/>
          <c:showCatName val="0"/>
          <c:showSerName val="0"/>
          <c:showPercent val="0"/>
          <c:showBubbleSize val="0"/>
        </c:dLbls>
        <c:axId val="-2128940872"/>
        <c:axId val="-2129643912"/>
      </c:scatterChart>
      <c:valAx>
        <c:axId val="-2128940872"/>
        <c:scaling>
          <c:orientation val="minMax"/>
          <c:max val="0.25"/>
          <c:min val="0"/>
        </c:scaling>
        <c:delete val="0"/>
        <c:axPos val="b"/>
        <c:title>
          <c:tx>
            <c:rich>
              <a:bodyPr/>
              <a:lstStyle/>
              <a:p>
                <a:r>
                  <a:rPr lang="en-US" sz="800" b="0">
                    <a:solidFill>
                      <a:srgbClr val="6B6965"/>
                    </a:solidFill>
                    <a:latin typeface="Calibri"/>
                  </a:rPr>
                  <a:t>vessel radius r₀ (cm)</a:t>
                </a:r>
              </a:p>
            </c:rich>
          </c:tx>
          <c:overlay val="0"/>
        </c:title>
        <c:numFmt formatCode="0.00" sourceLinked="0"/>
        <c:majorTickMark val="out"/>
        <c:minorTickMark val="none"/>
        <c:tickLblPos val="nextTo"/>
        <c:spPr>
          <a:ln>
            <a:solidFill>
              <a:srgbClr val="D9D7D4"/>
            </a:solidFill>
          </a:ln>
        </c:spPr>
        <c:txPr>
          <a:bodyPr/>
          <a:lstStyle/>
          <a:p>
            <a:pPr>
              <a:defRPr sz="800">
                <a:solidFill>
                  <a:srgbClr val="6B6965"/>
                </a:solidFill>
                <a:latin typeface="Calibri"/>
              </a:defRPr>
            </a:pPr>
            <a:endParaRPr lang="en-US"/>
          </a:p>
        </c:txPr>
        <c:crossAx val="-2129643912"/>
        <c:crosses val="autoZero"/>
        <c:crossBetween val="midCat"/>
        <c:majorUnit val="0.05"/>
      </c:valAx>
      <c:valAx>
        <c:axId val="-2129643912"/>
        <c:scaling>
          <c:logBase val="10"/>
          <c:orientation val="minMax"/>
          <c:max val="100000000"/>
          <c:min val="0.1"/>
        </c:scaling>
        <c:delete val="0"/>
        <c:axPos val="l"/>
        <c:majorGridlines>
          <c:spPr>
            <a:ln w="6350">
              <a:solidFill>
                <a:srgbClr val="E9E7E4"/>
              </a:solidFill>
            </a:ln>
          </c:spPr>
        </c:majorGridlines>
        <c:title>
          <c:tx>
            <c:rich>
              <a:bodyPr/>
              <a:lstStyle/>
              <a:p>
                <a:r>
                  <a:rPr lang="en-US" sz="800" b="0">
                    <a:solidFill>
                      <a:srgbClr val="6B6965"/>
                    </a:solidFill>
                    <a:latin typeface="Calibri"/>
                  </a:rPr>
                  <a:t>Eh/r₀ (dyn/cm²)</a:t>
                </a:r>
              </a:p>
            </c:rich>
          </c:tx>
          <c:overlay val="0"/>
        </c:title>
        <c:numFmt formatCode="0E+0" sourceLinked="0"/>
        <c:majorTickMark val="out"/>
        <c:minorTickMark val="none"/>
        <c:tickLblPos val="nextTo"/>
        <c:spPr>
          <a:ln>
            <a:solidFill>
              <a:srgbClr val="D9D7D4"/>
            </a:solidFill>
          </a:ln>
        </c:spPr>
        <c:txPr>
          <a:bodyPr/>
          <a:lstStyle/>
          <a:p>
            <a:pPr>
              <a:defRPr sz="800">
                <a:solidFill>
                  <a:srgbClr val="6B6965"/>
                </a:solidFill>
                <a:latin typeface="Calibri"/>
              </a:defRPr>
            </a:pPr>
            <a:endParaRPr lang="en-US"/>
          </a:p>
        </c:txPr>
        <c:crossAx val="-2128940872"/>
        <c:crosses val="autoZero"/>
        <c:crossBetween val="midCat"/>
      </c:valAx>
    </c:plotArea>
    <c:legend>
      <c:legendPos val="b"/>
      <c:legendEntry>
        <c:idx val="3"/>
        <c:delete val="1"/>
      </c:legendEntry>
      <c:overlay val="0"/>
      <c:txPr>
        <a:bodyPr/>
        <a:lstStyle/>
        <a:p>
          <a:pPr>
            <a:defRPr sz="750">
              <a:solidFill>
                <a:srgbClr val="2E2D29"/>
              </a:solidFill>
            </a:defRPr>
          </a:pPr>
          <a:endParaRPr lang="en-US"/>
        </a:p>
      </c:txPr>
    </c:legend>
    <c:plotVisOnly val="1"/>
    <c:dispBlanksAs val="gap"/>
    <c:showDLblsOverMax val="0"/>
  </c:chart>
  <c:txPr>
    <a:bodyPr/>
    <a:lstStyle/>
    <a:p>
      <a:pPr>
        <a:defRPr sz="800">
          <a:solidFill>
            <a:srgbClr val="6B696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RMS error over sys / dia / mean</c:v>
                </c:pt>
              </c:strCache>
            </c:strRef>
          </c:tx>
          <c:spPr>
            <a:ln w="25400">
              <a:solidFill>
                <a:srgbClr val="8C1515"/>
              </a:solidFill>
            </a:ln>
          </c:spPr>
          <c:marker>
            <c:symbol val="circle"/>
            <c:size val="6"/>
            <c:spPr>
              <a:solidFill>
                <a:srgbClr val="8C1515"/>
              </a:solidFill>
              <a:ln>
                <a:solidFill>
                  <a:srgbClr val="8C1515"/>
                </a:solidFill>
              </a:ln>
            </c:spPr>
          </c:marker>
          <c:xVal>
            <c:numRef>
              <c:f>Sheet1!$A$2:$A$11</c:f>
              <c:numCache>
                <c:formatCode>General</c:formatCode>
                <c:ptCount val="10"/>
                <c:pt idx="0">
                  <c:v>0.6</c:v>
                </c:pt>
                <c:pt idx="1">
                  <c:v>0.8</c:v>
                </c:pt>
                <c:pt idx="2">
                  <c:v>1</c:v>
                </c:pt>
                <c:pt idx="3">
                  <c:v>1.2</c:v>
                </c:pt>
                <c:pt idx="4">
                  <c:v>1.4</c:v>
                </c:pt>
                <c:pt idx="5">
                  <c:v>1.6</c:v>
                </c:pt>
                <c:pt idx="6">
                  <c:v>1.85</c:v>
                </c:pt>
                <c:pt idx="7">
                  <c:v>2.2000000000000002</c:v>
                </c:pt>
                <c:pt idx="8">
                  <c:v>2.6</c:v>
                </c:pt>
                <c:pt idx="9">
                  <c:v>3</c:v>
                </c:pt>
              </c:numCache>
            </c:numRef>
          </c:xVal>
          <c:yVal>
            <c:numRef>
              <c:f>Sheet1!$B$2:$B$11</c:f>
              <c:numCache>
                <c:formatCode>General</c:formatCode>
                <c:ptCount val="10"/>
                <c:pt idx="0">
                  <c:v>5.1768716422179137</c:v>
                </c:pt>
                <c:pt idx="1">
                  <c:v>2.6051231576773231</c:v>
                </c:pt>
                <c:pt idx="2">
                  <c:v>0.11442610424782158</c:v>
                </c:pt>
                <c:pt idx="3">
                  <c:v>2.1999999999999999E-2</c:v>
                </c:pt>
                <c:pt idx="4">
                  <c:v>1.1832159566199233E-2</c:v>
                </c:pt>
                <c:pt idx="5">
                  <c:v>2.7640549922170507E-2</c:v>
                </c:pt>
                <c:pt idx="6">
                  <c:v>1.0405126941400891E-3</c:v>
                </c:pt>
                <c:pt idx="7">
                  <c:v>3.5665109000254012E-2</c:v>
                </c:pt>
                <c:pt idx="8">
                  <c:v>6.6432923564549926E-2</c:v>
                </c:pt>
                <c:pt idx="9">
                  <c:v>0.12543258481484518</c:v>
                </c:pt>
              </c:numCache>
            </c:numRef>
          </c:yVal>
          <c:smooth val="0"/>
          <c:extLst>
            <c:ext xmlns:c16="http://schemas.microsoft.com/office/drawing/2014/chart" uri="{C3380CC4-5D6E-409C-BE32-E72D297353CC}">
              <c16:uniqueId val="{00000000-0FC0-6F48-A20F-8A1F2890F3CB}"/>
            </c:ext>
          </c:extLst>
        </c:ser>
        <c:ser>
          <c:idx val="1"/>
          <c:order val="1"/>
          <c:tx>
            <c:strRef>
              <c:f>Sheet1!$B$13</c:f>
              <c:strCache>
                <c:ptCount val="1"/>
                <c:pt idx="0">
                  <c:v>Catheter accuracy (2 mmHg)</c:v>
                </c:pt>
              </c:strCache>
            </c:strRef>
          </c:tx>
          <c:spPr>
            <a:ln w="15875">
              <a:solidFill>
                <a:srgbClr val="6B6965"/>
              </a:solidFill>
              <a:prstDash val="dash"/>
            </a:ln>
          </c:spPr>
          <c:marker>
            <c:symbol val="none"/>
          </c:marker>
          <c:xVal>
            <c:numRef>
              <c:f>Sheet1!$A$14:$A$15</c:f>
              <c:numCache>
                <c:formatCode>General</c:formatCode>
                <c:ptCount val="2"/>
                <c:pt idx="0">
                  <c:v>0.5</c:v>
                </c:pt>
                <c:pt idx="1">
                  <c:v>3.1</c:v>
                </c:pt>
              </c:numCache>
            </c:numRef>
          </c:xVal>
          <c:yVal>
            <c:numRef>
              <c:f>Sheet1!$B$14:$B$15</c:f>
              <c:numCache>
                <c:formatCode>General</c:formatCode>
                <c:ptCount val="2"/>
                <c:pt idx="0">
                  <c:v>2</c:v>
                </c:pt>
                <c:pt idx="1">
                  <c:v>2</c:v>
                </c:pt>
              </c:numCache>
            </c:numRef>
          </c:yVal>
          <c:smooth val="0"/>
          <c:extLst>
            <c:ext xmlns:c16="http://schemas.microsoft.com/office/drawing/2014/chart" uri="{C3380CC4-5D6E-409C-BE32-E72D297353CC}">
              <c16:uniqueId val="{00000001-0FC0-6F48-A20F-8A1F2890F3CB}"/>
            </c:ext>
          </c:extLst>
        </c:ser>
        <c:dLbls>
          <c:showLegendKey val="0"/>
          <c:showVal val="0"/>
          <c:showCatName val="0"/>
          <c:showSerName val="0"/>
          <c:showPercent val="0"/>
          <c:showBubbleSize val="0"/>
        </c:dLbls>
        <c:axId val="-2128940872"/>
        <c:axId val="-2129643912"/>
      </c:scatterChart>
      <c:valAx>
        <c:axId val="-2128940872"/>
        <c:scaling>
          <c:orientation val="minMax"/>
          <c:max val="3.1"/>
          <c:min val="0.5"/>
        </c:scaling>
        <c:delete val="0"/>
        <c:axPos val="b"/>
        <c:title>
          <c:tx>
            <c:rich>
              <a:bodyPr/>
              <a:lstStyle/>
              <a:p>
                <a:r>
                  <a:rPr sz="1000" b="0">
                    <a:solidFill>
                      <a:srgbClr val="6B6965"/>
                    </a:solidFill>
                    <a:latin typeface="Calibri"/>
                  </a:rPr>
                  <a:t>lumped compliance C (mL/mmHg)</a:t>
                </a:r>
              </a:p>
            </c:rich>
          </c:tx>
          <c:overlay val="0"/>
        </c:title>
        <c:numFmt formatCode="0.0" sourceLinked="0"/>
        <c:majorTickMark val="out"/>
        <c:minorTickMark val="none"/>
        <c:tickLblPos val="nextTo"/>
        <c:spPr>
          <a:ln>
            <a:solidFill>
              <a:srgbClr val="D9D7D4"/>
            </a:solidFill>
          </a:ln>
        </c:spPr>
        <c:txPr>
          <a:bodyPr/>
          <a:lstStyle/>
          <a:p>
            <a:pPr>
              <a:defRPr sz="1000">
                <a:solidFill>
                  <a:srgbClr val="6B6965"/>
                </a:solidFill>
                <a:latin typeface="Calibri"/>
              </a:defRPr>
            </a:pPr>
            <a:endParaRPr lang="en-US"/>
          </a:p>
        </c:txPr>
        <c:crossAx val="-2129643912"/>
        <c:crosses val="autoZero"/>
        <c:crossBetween val="midCat"/>
        <c:majorUnit val="0.5"/>
      </c:valAx>
      <c:valAx>
        <c:axId val="-2129643912"/>
        <c:scaling>
          <c:orientation val="minMax"/>
          <c:max val="6"/>
          <c:min val="0"/>
        </c:scaling>
        <c:delete val="0"/>
        <c:axPos val="l"/>
        <c:majorGridlines>
          <c:spPr>
            <a:ln w="6350">
              <a:solidFill>
                <a:srgbClr val="E9E7E4"/>
              </a:solidFill>
            </a:ln>
          </c:spPr>
        </c:majorGridlines>
        <c:title>
          <c:tx>
            <c:rich>
              <a:bodyPr/>
              <a:lstStyle/>
              <a:p>
                <a:r>
                  <a:rPr sz="1000" b="0">
                    <a:solidFill>
                      <a:srgbClr val="6B6965"/>
                    </a:solidFill>
                    <a:latin typeface="Calibri"/>
                  </a:rPr>
                  <a:t>RMS pressure error (mmHg)</a:t>
                </a:r>
              </a:p>
            </c:rich>
          </c:tx>
          <c:overlay val="0"/>
        </c:title>
        <c:numFmt formatCode="0" sourceLinked="0"/>
        <c:majorTickMark val="out"/>
        <c:minorTickMark val="none"/>
        <c:tickLblPos val="nextTo"/>
        <c:spPr>
          <a:ln>
            <a:solidFill>
              <a:srgbClr val="D9D7D4"/>
            </a:solidFill>
          </a:ln>
        </c:spPr>
        <c:txPr>
          <a:bodyPr/>
          <a:lstStyle/>
          <a:p>
            <a:pPr>
              <a:defRPr sz="1000">
                <a:solidFill>
                  <a:srgbClr val="6B6965"/>
                </a:solidFill>
                <a:latin typeface="Calibri"/>
              </a:defRPr>
            </a:pPr>
            <a:endParaRPr lang="en-US"/>
          </a:p>
        </c:txPr>
        <c:crossAx val="-2128940872"/>
        <c:crosses val="autoZero"/>
        <c:crossBetween val="midCat"/>
        <c:majorUnit val="1"/>
      </c:valAx>
    </c:plotArea>
    <c:legend>
      <c:legendPos val="t"/>
      <c:overlay val="0"/>
      <c:txPr>
        <a:bodyPr/>
        <a:lstStyle/>
        <a:p>
          <a:pPr>
            <a:defRPr sz="1000">
              <a:solidFill>
                <a:srgbClr val="2E2D29"/>
              </a:solidFill>
            </a:defRPr>
          </a:pPr>
          <a:endParaRPr lang="en-US"/>
        </a:p>
      </c:txPr>
    </c:legend>
    <c:plotVisOnly val="1"/>
    <c:dispBlanksAs val="gap"/>
    <c:showDLblsOverMax val="0"/>
  </c:chart>
  <c:txPr>
    <a:bodyPr/>
    <a:lstStyle/>
    <a:p>
      <a:pPr>
        <a:defRPr sz="1000">
          <a:solidFill>
            <a:srgbClr val="6B696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Systolic</c:v>
                </c:pt>
              </c:strCache>
            </c:strRef>
          </c:tx>
          <c:spPr>
            <a:solidFill>
              <a:srgbClr val="8C1515"/>
            </a:solidFill>
          </c:spPr>
          <c:invertIfNegative val="0"/>
          <c:dPt>
            <c:idx val="0"/>
            <c:invertIfNegative val="1"/>
            <c:bubble3D val="0"/>
            <c:spPr>
              <a:solidFill>
                <a:srgbClr val="DDB3B3"/>
              </a:solidFill>
            </c:spPr>
            <c:extLst>
              <c:ext xmlns:c16="http://schemas.microsoft.com/office/drawing/2014/chart" uri="{C3380CC4-5D6E-409C-BE32-E72D297353CC}">
                <c16:uniqueId val="{00000001-0AF2-6F4E-A341-2A2C206306BA}"/>
              </c:ext>
            </c:extLst>
          </c:dPt>
          <c:dLbls>
            <c:numFmt formatCode="0" sourceLinked="0"/>
            <c:spPr>
              <a:noFill/>
              <a:ln>
                <a:noFill/>
              </a:ln>
              <a:effectLst/>
            </c:spPr>
            <c:txPr>
              <a:bodyPr/>
              <a:lstStyle/>
              <a:p>
                <a:pPr>
                  <a:defRPr sz="650">
                    <a:solidFill>
                      <a:srgbClr val="2E2D29"/>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Target</c:v>
                </c:pt>
                <c:pt idx="1">
                  <c:v>Earlier, Pd 3
(B0) χ² 26</c:v>
                </c:pt>
                <c:pt idx="2">
                  <c:v>Earlier, Pd 7
(B0-w7) χ² 9.9</c:v>
                </c:pt>
                <c:pt idx="3">
                  <c:v>Lit., ξ = 2.76
(B4) χ² 567</c:v>
                </c:pt>
                <c:pt idx="4">
                  <c:v>Lit., ξ ∈ [2.33, 3]
(B6) χ² 299</c:v>
                </c:pt>
                <c:pt idx="5">
                  <c:v>Lit., ξ free
(fix-10) χ² 50</c:v>
                </c:pt>
              </c:strCache>
            </c:strRef>
          </c:cat>
          <c:val>
            <c:numRef>
              <c:f>Sheet1!$B$2:$B$7</c:f>
              <c:numCache>
                <c:formatCode>General</c:formatCode>
                <c:ptCount val="6"/>
                <c:pt idx="0">
                  <c:v>34</c:v>
                </c:pt>
                <c:pt idx="1">
                  <c:v>30.9</c:v>
                </c:pt>
                <c:pt idx="2">
                  <c:v>29.7</c:v>
                </c:pt>
                <c:pt idx="3">
                  <c:v>64.900000000000006</c:v>
                </c:pt>
                <c:pt idx="4">
                  <c:v>53.6</c:v>
                </c:pt>
                <c:pt idx="5">
                  <c:v>29.2</c:v>
                </c:pt>
              </c:numCache>
            </c:numRef>
          </c:val>
          <c:extLst>
            <c:ext xmlns:c16="http://schemas.microsoft.com/office/drawing/2014/chart" uri="{C3380CC4-5D6E-409C-BE32-E72D297353CC}">
              <c16:uniqueId val="{00000002-0AF2-6F4E-A341-2A2C206306BA}"/>
            </c:ext>
          </c:extLst>
        </c:ser>
        <c:ser>
          <c:idx val="1"/>
          <c:order val="1"/>
          <c:tx>
            <c:strRef>
              <c:f>Sheet1!$C$1</c:f>
              <c:strCache>
                <c:ptCount val="1"/>
                <c:pt idx="0">
                  <c:v>Diastolic</c:v>
                </c:pt>
              </c:strCache>
            </c:strRef>
          </c:tx>
          <c:spPr>
            <a:solidFill>
              <a:srgbClr val="007C92"/>
            </a:solidFill>
          </c:spPr>
          <c:invertIfNegative val="0"/>
          <c:dPt>
            <c:idx val="0"/>
            <c:invertIfNegative val="1"/>
            <c:bubble3D val="0"/>
            <c:spPr>
              <a:solidFill>
                <a:srgbClr val="9FCDD6"/>
              </a:solidFill>
            </c:spPr>
            <c:extLst>
              <c:ext xmlns:c16="http://schemas.microsoft.com/office/drawing/2014/chart" uri="{C3380CC4-5D6E-409C-BE32-E72D297353CC}">
                <c16:uniqueId val="{00000004-0AF2-6F4E-A341-2A2C206306BA}"/>
              </c:ext>
            </c:extLst>
          </c:dPt>
          <c:dLbls>
            <c:numFmt formatCode="0" sourceLinked="0"/>
            <c:spPr>
              <a:noFill/>
              <a:ln>
                <a:noFill/>
              </a:ln>
              <a:effectLst/>
            </c:spPr>
            <c:txPr>
              <a:bodyPr/>
              <a:lstStyle/>
              <a:p>
                <a:pPr>
                  <a:defRPr sz="650">
                    <a:solidFill>
                      <a:srgbClr val="2E2D29"/>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Target</c:v>
                </c:pt>
                <c:pt idx="1">
                  <c:v>Earlier, Pd 3
(B0) χ² 26</c:v>
                </c:pt>
                <c:pt idx="2">
                  <c:v>Earlier, Pd 7
(B0-w7) χ² 9.9</c:v>
                </c:pt>
                <c:pt idx="3">
                  <c:v>Lit., ξ = 2.76
(B4) χ² 567</c:v>
                </c:pt>
                <c:pt idx="4">
                  <c:v>Lit., ξ ∈ [2.33, 3]
(B6) χ² 299</c:v>
                </c:pt>
                <c:pt idx="5">
                  <c:v>Lit., ξ free
(fix-10) χ² 50</c:v>
                </c:pt>
              </c:strCache>
            </c:strRef>
          </c:cat>
          <c:val>
            <c:numRef>
              <c:f>Sheet1!$C$2:$C$7</c:f>
              <c:numCache>
                <c:formatCode>General</c:formatCode>
                <c:ptCount val="6"/>
                <c:pt idx="0">
                  <c:v>3</c:v>
                </c:pt>
                <c:pt idx="1">
                  <c:v>4.3899999999999997</c:v>
                </c:pt>
                <c:pt idx="2">
                  <c:v>4.28</c:v>
                </c:pt>
                <c:pt idx="3">
                  <c:v>-32.700000000000003</c:v>
                </c:pt>
                <c:pt idx="4">
                  <c:v>-25.4</c:v>
                </c:pt>
                <c:pt idx="5">
                  <c:v>-8.91</c:v>
                </c:pt>
              </c:numCache>
            </c:numRef>
          </c:val>
          <c:extLst>
            <c:ext xmlns:c16="http://schemas.microsoft.com/office/drawing/2014/chart" uri="{C3380CC4-5D6E-409C-BE32-E72D297353CC}">
              <c16:uniqueId val="{00000005-0AF2-6F4E-A341-2A2C206306BA}"/>
            </c:ext>
          </c:extLst>
        </c:ser>
        <c:ser>
          <c:idx val="2"/>
          <c:order val="2"/>
          <c:tx>
            <c:strRef>
              <c:f>Sheet1!$D$1</c:f>
              <c:strCache>
                <c:ptCount val="1"/>
                <c:pt idx="0">
                  <c:v>Mean</c:v>
                </c:pt>
              </c:strCache>
            </c:strRef>
          </c:tx>
          <c:spPr>
            <a:solidFill>
              <a:srgbClr val="2E2D29"/>
            </a:solidFill>
          </c:spPr>
          <c:invertIfNegative val="0"/>
          <c:dPt>
            <c:idx val="0"/>
            <c:invertIfNegative val="1"/>
            <c:bubble3D val="0"/>
            <c:spPr>
              <a:solidFill>
                <a:srgbClr val="B5B3AF"/>
              </a:solidFill>
            </c:spPr>
            <c:extLst>
              <c:ext xmlns:c16="http://schemas.microsoft.com/office/drawing/2014/chart" uri="{C3380CC4-5D6E-409C-BE32-E72D297353CC}">
                <c16:uniqueId val="{00000007-0AF2-6F4E-A341-2A2C206306BA}"/>
              </c:ext>
            </c:extLst>
          </c:dPt>
          <c:dLbls>
            <c:numFmt formatCode="0" sourceLinked="0"/>
            <c:spPr>
              <a:noFill/>
              <a:ln>
                <a:noFill/>
              </a:ln>
              <a:effectLst/>
            </c:spPr>
            <c:txPr>
              <a:bodyPr/>
              <a:lstStyle/>
              <a:p>
                <a:pPr>
                  <a:defRPr sz="650">
                    <a:solidFill>
                      <a:srgbClr val="2E2D29"/>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Target</c:v>
                </c:pt>
                <c:pt idx="1">
                  <c:v>Earlier, Pd 3
(B0) χ² 26</c:v>
                </c:pt>
                <c:pt idx="2">
                  <c:v>Earlier, Pd 7
(B0-w7) χ² 9.9</c:v>
                </c:pt>
                <c:pt idx="3">
                  <c:v>Lit., ξ = 2.76
(B4) χ² 567</c:v>
                </c:pt>
                <c:pt idx="4">
                  <c:v>Lit., ξ ∈ [2.33, 3]
(B6) χ² 299</c:v>
                </c:pt>
                <c:pt idx="5">
                  <c:v>Lit., ξ free
(fix-10) χ² 50</c:v>
                </c:pt>
              </c:strCache>
            </c:strRef>
          </c:cat>
          <c:val>
            <c:numRef>
              <c:f>Sheet1!$D$2:$D$7</c:f>
              <c:numCache>
                <c:formatCode>General</c:formatCode>
                <c:ptCount val="6"/>
                <c:pt idx="0">
                  <c:v>16</c:v>
                </c:pt>
                <c:pt idx="1">
                  <c:v>15.8</c:v>
                </c:pt>
                <c:pt idx="2">
                  <c:v>15.5</c:v>
                </c:pt>
                <c:pt idx="3">
                  <c:v>15.5</c:v>
                </c:pt>
                <c:pt idx="4">
                  <c:v>13.9</c:v>
                </c:pt>
                <c:pt idx="5">
                  <c:v>10.1</c:v>
                </c:pt>
              </c:numCache>
            </c:numRef>
          </c:val>
          <c:extLst>
            <c:ext xmlns:c16="http://schemas.microsoft.com/office/drawing/2014/chart" uri="{C3380CC4-5D6E-409C-BE32-E72D297353CC}">
              <c16:uniqueId val="{00000008-0AF2-6F4E-A341-2A2C206306BA}"/>
            </c:ext>
          </c:extLst>
        </c:ser>
        <c:dLbls>
          <c:dLblPos val="outEnd"/>
          <c:showLegendKey val="0"/>
          <c:showVal val="1"/>
          <c:showCatName val="0"/>
          <c:showSerName val="0"/>
          <c:showPercent val="0"/>
          <c:showBubbleSize val="0"/>
        </c:dLbls>
        <c:gapWidth val="55"/>
        <c:overlap val="-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9D7D4"/>
            </a:solidFill>
          </a:ln>
        </c:spPr>
        <c:txPr>
          <a:bodyPr/>
          <a:lstStyle/>
          <a:p>
            <a:pPr>
              <a:defRPr sz="700">
                <a:solidFill>
                  <a:srgbClr val="2E2D29"/>
                </a:solidFill>
                <a:latin typeface="Calibri"/>
              </a:defRPr>
            </a:pPr>
            <a:endParaRPr lang="en-US"/>
          </a:p>
        </c:txPr>
        <c:crossAx val="-2113994440"/>
        <c:crosses val="autoZero"/>
        <c:auto val="1"/>
        <c:lblAlgn val="ctr"/>
        <c:lblOffset val="100"/>
        <c:noMultiLvlLbl val="0"/>
      </c:catAx>
      <c:valAx>
        <c:axId val="-2113994440"/>
        <c:scaling>
          <c:orientation val="minMax"/>
          <c:max val="70"/>
          <c:min val="-40"/>
        </c:scaling>
        <c:delete val="0"/>
        <c:axPos val="l"/>
        <c:majorGridlines>
          <c:spPr>
            <a:ln w="6350">
              <a:solidFill>
                <a:srgbClr val="D9D7D4"/>
              </a:solidFill>
            </a:ln>
          </c:spPr>
        </c:majorGridlines>
        <c:numFmt formatCode="0" sourceLinked="0"/>
        <c:majorTickMark val="out"/>
        <c:minorTickMark val="none"/>
        <c:tickLblPos val="nextTo"/>
        <c:spPr>
          <a:ln>
            <a:solidFill>
              <a:srgbClr val="D9D7D4"/>
            </a:solidFill>
          </a:ln>
        </c:spPr>
        <c:txPr>
          <a:bodyPr/>
          <a:lstStyle/>
          <a:p>
            <a:pPr>
              <a:defRPr sz="800">
                <a:solidFill>
                  <a:srgbClr val="6B6965"/>
                </a:solidFill>
                <a:latin typeface="Calibri"/>
              </a:defRPr>
            </a:pPr>
            <a:endParaRPr lang="en-US"/>
          </a:p>
        </c:txPr>
        <c:crossAx val="-2068027336"/>
        <c:crosses val="autoZero"/>
        <c:crossBetween val="between"/>
        <c:majorUnit val="20"/>
      </c:valAx>
    </c:plotArea>
    <c:legend>
      <c:legendPos val="t"/>
      <c:overlay val="0"/>
      <c:txPr>
        <a:bodyPr/>
        <a:lstStyle/>
        <a:p>
          <a:pPr>
            <a:defRPr sz="750">
              <a:solidFill>
                <a:srgbClr val="2E2D29"/>
              </a:solidFill>
            </a:defRPr>
          </a:pPr>
          <a:endParaRPr lang="en-US"/>
        </a:p>
      </c:txPr>
    </c:legend>
    <c:plotVisOnly val="1"/>
    <c:dispBlanksAs val="gap"/>
    <c:showDLblsOverMax val="1"/>
  </c:chart>
  <c:txPr>
    <a:bodyPr/>
    <a:lstStyle/>
    <a:p>
      <a:pPr>
        <a:defRPr sz="800">
          <a:solidFill>
            <a:srgbClr val="6B6965"/>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χ²</c:v>
                </c:pt>
              </c:strCache>
            </c:strRef>
          </c:tx>
          <c:spPr>
            <a:solidFill>
              <a:srgbClr val="8C1515"/>
            </a:solidFill>
          </c:spPr>
          <c:invertIfNegative val="1"/>
          <c:dPt>
            <c:idx val="0"/>
            <c:invertIfNegative val="1"/>
            <c:bubble3D val="0"/>
            <c:spPr>
              <a:solidFill>
                <a:srgbClr val="6B6965"/>
              </a:solidFill>
            </c:spPr>
            <c:extLst>
              <c:ext xmlns:c16="http://schemas.microsoft.com/office/drawing/2014/chart" uri="{C3380CC4-5D6E-409C-BE32-E72D297353CC}">
                <c16:uniqueId val="{00000001-6C71-F54F-8DE5-C10400A7F911}"/>
              </c:ext>
            </c:extLst>
          </c:dPt>
          <c:dPt>
            <c:idx val="1"/>
            <c:invertIfNegative val="1"/>
            <c:bubble3D val="0"/>
            <c:extLst>
              <c:ext xmlns:c16="http://schemas.microsoft.com/office/drawing/2014/chart" uri="{C3380CC4-5D6E-409C-BE32-E72D297353CC}">
                <c16:uniqueId val="{00000003-6C71-F54F-8DE5-C10400A7F911}"/>
              </c:ext>
            </c:extLst>
          </c:dPt>
          <c:dPt>
            <c:idx val="2"/>
            <c:invertIfNegative val="1"/>
            <c:bubble3D val="0"/>
            <c:extLst>
              <c:ext xmlns:c16="http://schemas.microsoft.com/office/drawing/2014/chart" uri="{C3380CC4-5D6E-409C-BE32-E72D297353CC}">
                <c16:uniqueId val="{00000005-6C71-F54F-8DE5-C10400A7F911}"/>
              </c:ext>
            </c:extLst>
          </c:dPt>
          <c:dPt>
            <c:idx val="3"/>
            <c:invertIfNegative val="1"/>
            <c:bubble3D val="0"/>
            <c:spPr>
              <a:solidFill>
                <a:srgbClr val="279989"/>
              </a:solidFill>
            </c:spPr>
            <c:extLst>
              <c:ext xmlns:c16="http://schemas.microsoft.com/office/drawing/2014/chart" uri="{C3380CC4-5D6E-409C-BE32-E72D297353CC}">
                <c16:uniqueId val="{00000007-6C71-F54F-8DE5-C10400A7F911}"/>
              </c:ext>
            </c:extLst>
          </c:dPt>
          <c:dLbls>
            <c:numFmt formatCode="[&lt;0.01]&quot;&lt;0.01&quot;;0.0" sourceLinked="0"/>
            <c:spPr>
              <a:noFill/>
              <a:ln>
                <a:noFill/>
              </a:ln>
              <a:effectLst/>
            </c:spPr>
            <c:txPr>
              <a:bodyPr/>
              <a:lstStyle/>
              <a:p>
                <a:pPr>
                  <a:defRPr sz="800" b="1">
                    <a:solidFill>
                      <a:srgbClr val="2E2D29"/>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C₁ = 0
48 / −11 / 17</c:v>
                </c:pt>
                <c:pt idx="1">
                  <c:v>0.3
43 / −5 / 17</c:v>
                </c:pt>
                <c:pt idx="2">
                  <c:v>0.6
37 / 0.5 / 16</c:v>
                </c:pt>
                <c:pt idx="3">
                  <c:v>1.0 mL/mmHg
34 / 3 / 16</c:v>
                </c:pt>
              </c:strCache>
            </c:strRef>
          </c:cat>
          <c:val>
            <c:numRef>
              <c:f>Sheet1!$B$2:$B$5</c:f>
              <c:numCache>
                <c:formatCode>General</c:formatCode>
                <c:ptCount val="4"/>
                <c:pt idx="0">
                  <c:v>96.99</c:v>
                </c:pt>
                <c:pt idx="1">
                  <c:v>34.86</c:v>
                </c:pt>
                <c:pt idx="2">
                  <c:v>3.8</c:v>
                </c:pt>
                <c:pt idx="3">
                  <c:v>3.2399999999999998E-3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6C71-F54F-8DE5-C10400A7F911}"/>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7D4"/>
            </a:solidFill>
          </a:ln>
        </c:spPr>
        <c:txPr>
          <a:bodyPr/>
          <a:lstStyle/>
          <a:p>
            <a:pPr>
              <a:defRPr sz="750">
                <a:solidFill>
                  <a:srgbClr val="2E2D29"/>
                </a:solidFill>
                <a:latin typeface="Calibri"/>
              </a:defRPr>
            </a:pPr>
            <a:endParaRPr lang="en-US"/>
          </a:p>
        </c:txPr>
        <c:crossAx val="-2113994440"/>
        <c:crosses val="autoZero"/>
        <c:auto val="1"/>
        <c:lblAlgn val="ctr"/>
        <c:lblOffset val="100"/>
        <c:noMultiLvlLbl val="0"/>
      </c:catAx>
      <c:valAx>
        <c:axId val="-2113994440"/>
        <c:scaling>
          <c:orientation val="minMax"/>
          <c:max val="110"/>
          <c:min val="0"/>
        </c:scaling>
        <c:delete val="0"/>
        <c:axPos val="l"/>
        <c:majorGridlines>
          <c:spPr>
            <a:ln w="6350">
              <a:solidFill>
                <a:srgbClr val="E9E7E4"/>
              </a:solidFill>
            </a:ln>
          </c:spPr>
        </c:majorGridlines>
        <c:title>
          <c:tx>
            <c:rich>
              <a:bodyPr/>
              <a:lstStyle/>
              <a:p>
                <a:r>
                  <a:rPr sz="800" b="0">
                    <a:solidFill>
                      <a:srgbClr val="6B6965"/>
                    </a:solidFill>
                    <a:latin typeface="Calibri"/>
                  </a:rPr>
                  <a:t>χ² (3 pressures)</a:t>
                </a:r>
              </a:p>
            </c:rich>
          </c:tx>
          <c:overlay val="0"/>
        </c:title>
        <c:numFmt formatCode="0" sourceLinked="0"/>
        <c:majorTickMark val="out"/>
        <c:minorTickMark val="none"/>
        <c:tickLblPos val="nextTo"/>
        <c:spPr>
          <a:ln>
            <a:solidFill>
              <a:srgbClr val="D9D7D4"/>
            </a:solidFill>
          </a:ln>
        </c:spPr>
        <c:txPr>
          <a:bodyPr/>
          <a:lstStyle/>
          <a:p>
            <a:pPr>
              <a:defRPr sz="800">
                <a:solidFill>
                  <a:srgbClr val="6B6965"/>
                </a:solidFill>
                <a:latin typeface="Calibri"/>
              </a:defRPr>
            </a:pPr>
            <a:endParaRPr lang="en-US"/>
          </a:p>
        </c:txPr>
        <c:crossAx val="-2068027336"/>
        <c:crosses val="autoZero"/>
        <c:crossBetween val="between"/>
      </c:valAx>
    </c:plotArea>
    <c:plotVisOnly val="1"/>
    <c:dispBlanksAs val="gap"/>
    <c:showDLblsOverMax val="1"/>
  </c:chart>
  <c:txPr>
    <a:bodyPr/>
    <a:lstStyle/>
    <a:p>
      <a:pPr>
        <a:defRPr sz="800">
          <a:solidFill>
            <a:srgbClr val="6B6965"/>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χ²</c:v>
                </c:pt>
              </c:strCache>
            </c:strRef>
          </c:tx>
          <c:dPt>
            <c:idx val="0"/>
            <c:spPr>
              <a:solidFill>
                <a:srgbClr val="B5B3AF"/>
              </a:solidFill>
            </c:spPr>
          </c:dPt>
          <c:dPt>
            <c:idx val="1"/>
            <c:spPr>
              <a:solidFill>
                <a:srgbClr val="8C1515"/>
              </a:solidFill>
            </c:spPr>
          </c:dPt>
          <c:dPt>
            <c:idx val="2"/>
            <c:spPr>
              <a:solidFill>
                <a:srgbClr val="8C1515"/>
              </a:solidFill>
            </c:spPr>
          </c:dPt>
          <c:dPt>
            <c:idx val="3"/>
            <c:spPr>
              <a:solidFill>
                <a:srgbClr val="8C1515"/>
              </a:solidFill>
            </c:spPr>
          </c:dPt>
          <c:dPt>
            <c:idx val="4"/>
            <c:spPr>
              <a:solidFill>
                <a:srgbClr val="8C1515"/>
              </a:solidFill>
            </c:spPr>
          </c:dPt>
          <c:dPt>
            <c:idx val="5"/>
            <c:spPr>
              <a:solidFill>
                <a:srgbClr val="E98300"/>
              </a:solidFill>
            </c:spPr>
          </c:dPt>
          <c:cat>
            <c:strRef>
              <c:f>Sheet1!$A$2:$A$7</c:f>
              <c:strCache>
                <c:ptCount val="6"/>
                <c:pt idx="0">
                  <c:v>Rigid seed, literature trees</c:v>
                </c:pt>
                <c:pt idx="1">
                  <c:v>+ proximal C, Eh/r 10⁵</c:v>
                </c:pt>
                <c:pt idx="2">
                  <c:v>+ proximal C, Eh/r 5×10⁴</c:v>
                </c:pt>
                <c:pt idx="3">
                  <c:v>+ k₃ free in control range</c:v>
                </c:pt>
                <c:pt idx="4">
                  <c:v>+ pre-capillary outlet 9.99</c:v>
                </c:pt>
                <c:pt idx="5">
                  <c:v>+ per-cap polish (final)</c:v>
                </c:pt>
              </c:strCache>
            </c:strRef>
          </c:cat>
          <c:val>
            <c:numRef>
              <c:f>Sheet1!$B$2:$B$7</c:f>
              <c:numCache>
                <c:formatCode>General</c:formatCode>
                <c:ptCount val="6"/>
                <c:pt idx="0">
                  <c:v>267</c:v>
                </c:pt>
                <c:pt idx="1">
                  <c:v>61</c:v>
                </c:pt>
                <c:pt idx="2">
                  <c:v>35</c:v>
                </c:pt>
                <c:pt idx="3">
                  <c:v>33.5</c:v>
                </c:pt>
                <c:pt idx="4">
                  <c:v>17.3</c:v>
                </c:pt>
                <c:pt idx="5">
                  <c:v>17.2</c:v>
                </c:pt>
              </c:numCache>
            </c:numRef>
          </c:val>
        </c:ser>
        <c:dLbls>
          <c:numFmt formatCode="0.#" sourceLinked="0"/>
          <c:txPr>
            <a:bodyPr/>
            <a:lstStyle/>
            <a:p>
              <a:pPr>
                <a:defRPr sz="900" b="1">
                  <a:solidFill>
                    <a:srgbClr val="2E2D29"/>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B5B3AF"/>
            </a:solidFill>
          </a:ln>
        </c:spPr>
        <c:txPr>
          <a:bodyPr/>
          <a:lstStyle/>
          <a:p>
            <a:pPr>
              <a:defRPr sz="800">
                <a:solidFill>
                  <a:srgbClr val="2E2D29"/>
                </a:solidFill>
              </a:defRPr>
            </a:pPr>
          </a:p>
        </c:txPr>
        <c:crossAx val="-2113994440"/>
        <c:crosses val="autoZero"/>
        <c:auto val="1"/>
        <c:lblAlgn val="ctr"/>
        <c:lblOffset val="100"/>
        <c:noMultiLvlLbl val="0"/>
      </c:catAx>
      <c:valAx>
        <c:axId val="-2113994440"/>
        <c:scaling>
          <c:max val="300.0"/>
          <c:min val="0.0"/>
        </c:scaling>
        <c:delete val="0"/>
        <c:axPos val="b"/>
        <c:majorGridlines>
          <c:spPr>
            <a:ln w="6350">
              <a:solidFill>
                <a:srgbClr val="D9D7D4"/>
              </a:solidFill>
            </a:ln>
          </c:spPr>
        </c:majorGridlines>
        <c:majorTickMark val="out"/>
        <c:minorTickMark val="none"/>
        <c:tickLblPos val="nextTo"/>
        <c:spPr>
          <a:ln>
            <a:noFill/>
          </a:ln>
        </c:spPr>
        <c:txPr>
          <a:bodyPr/>
          <a:lstStyle/>
          <a:p>
            <a:pPr>
              <a:defRPr sz="800">
                <a:solidFill>
                  <a:srgbClr val="6B6965"/>
                </a:solidFill>
              </a:defRPr>
            </a:pPr>
          </a:p>
        </c:txPr>
        <c:crossAx val="-2068027336"/>
        <c:crosses val="autoZero"/>
        <c:majorUnit val="100.0"/>
      </c:valAx>
    </c:plotArea>
    <c:dispBlanksAs val="gap"/>
  </c:chart>
  <c:txPr>
    <a:bodyPr/>
    <a:lstStyle/>
    <a:p>
      <a:pPr>
        <a:defRPr sz="800">
          <a:solidFill>
            <a:srgbClr val="6B6965"/>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Catheter target</c:v>
                </c:pt>
              </c:strCache>
            </c:strRef>
          </c:tx>
          <c:spPr>
            <a:solidFill>
              <a:srgbClr val="B5B3AF"/>
            </a:solidFill>
          </c:spPr>
          <c:invertIfNegative val="0"/>
          <c:cat>
            <c:strRef>
              <c:f>Sheet1!$A$2:$A$4</c:f>
              <c:strCache>
                <c:ptCount val="3"/>
                <c:pt idx="0">
                  <c:v>Systolic</c:v>
                </c:pt>
                <c:pt idx="1">
                  <c:v>Diastolic</c:v>
                </c:pt>
                <c:pt idx="2">
                  <c:v>Mean</c:v>
                </c:pt>
              </c:strCache>
            </c:strRef>
          </c:cat>
          <c:val>
            <c:numRef>
              <c:f>Sheet1!$B$2:$B$4</c:f>
              <c:numCache>
                <c:formatCode>General</c:formatCode>
                <c:ptCount val="3"/>
                <c:pt idx="0">
                  <c:v>34.0</c:v>
                </c:pt>
                <c:pt idx="1">
                  <c:v>3.0</c:v>
                </c:pt>
                <c:pt idx="2">
                  <c:v>16.0</c:v>
                </c:pt>
              </c:numCache>
            </c:numRef>
          </c:val>
        </c:ser>
        <c:ser>
          <c:idx val="1"/>
          <c:order val="1"/>
          <c:tx>
            <c:strRef>
              <c:f>Sheet1!$C$1</c:f>
              <c:strCache>
                <c:ptCount val="1"/>
                <c:pt idx="0">
                  <c:v>Final model (per-cap polish)</c:v>
                </c:pt>
              </c:strCache>
            </c:strRef>
          </c:tx>
          <c:spPr>
            <a:solidFill>
              <a:srgbClr val="8C1515"/>
            </a:solidFill>
          </c:spPr>
          <c:invertIfNegative val="0"/>
          <c:cat>
            <c:strRef>
              <c:f>Sheet1!$A$2:$A$4</c:f>
              <c:strCache>
                <c:ptCount val="3"/>
                <c:pt idx="0">
                  <c:v>Systolic</c:v>
                </c:pt>
                <c:pt idx="1">
                  <c:v>Diastolic</c:v>
                </c:pt>
                <c:pt idx="2">
                  <c:v>Mean</c:v>
                </c:pt>
              </c:strCache>
            </c:strRef>
          </c:cat>
          <c:val>
            <c:numRef>
              <c:f>Sheet1!$C$2:$C$4</c:f>
              <c:numCache>
                <c:formatCode>General</c:formatCode>
                <c:ptCount val="3"/>
                <c:pt idx="0">
                  <c:v>36.8</c:v>
                </c:pt>
                <c:pt idx="1">
                  <c:v>-4.7</c:v>
                </c:pt>
                <c:pt idx="2">
                  <c:v>14.6</c:v>
                </c:pt>
              </c:numCache>
            </c:numRef>
          </c:val>
        </c:ser>
        <c:dLbls>
          <c:numFmt formatCode="0.0" sourceLinked="0"/>
          <c:txPr>
            <a:bodyPr/>
            <a:lstStyle/>
            <a:p>
              <a:pPr>
                <a:defRPr sz="900" b="1">
                  <a:solidFill>
                    <a:srgbClr val="2E2D29"/>
                  </a:solidFill>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low"/>
        <c:spPr>
          <a:ln>
            <a:solidFill>
              <a:srgbClr val="B5B3AF"/>
            </a:solidFill>
          </a:ln>
        </c:spPr>
        <c:txPr>
          <a:bodyPr/>
          <a:lstStyle/>
          <a:p>
            <a:pPr>
              <a:defRPr sz="800">
                <a:solidFill>
                  <a:srgbClr val="2E2D29"/>
                </a:solidFill>
              </a:defRPr>
            </a:pPr>
          </a:p>
        </c:txPr>
        <c:crossAx val="-2113994440"/>
        <c:crosses val="autoZero"/>
        <c:auto val="1"/>
        <c:lblAlgn val="ctr"/>
        <c:lblOffset val="100"/>
        <c:noMultiLvlLbl val="0"/>
      </c:catAx>
      <c:valAx>
        <c:axId val="-2113994440"/>
        <c:scaling>
          <c:max val="40.0"/>
          <c:min val="-10.0"/>
        </c:scaling>
        <c:delete val="0"/>
        <c:axPos val="l"/>
        <c:majorGridlines>
          <c:spPr>
            <a:ln w="6350">
              <a:solidFill>
                <a:srgbClr val="D9D7D4"/>
              </a:solidFill>
            </a:ln>
          </c:spPr>
        </c:majorGridlines>
        <c:majorTickMark val="out"/>
        <c:minorTickMark val="none"/>
        <c:tickLblPos val="nextTo"/>
        <c:spPr>
          <a:ln>
            <a:noFill/>
          </a:ln>
        </c:spPr>
        <c:txPr>
          <a:bodyPr/>
          <a:lstStyle/>
          <a:p>
            <a:pPr>
              <a:defRPr sz="800">
                <a:solidFill>
                  <a:srgbClr val="6B6965"/>
                </a:solidFill>
              </a:defRPr>
            </a:pPr>
          </a:p>
        </c:txPr>
        <c:crossAx val="-2068027336"/>
        <c:crosses val="autoZero"/>
        <c:majorUnit val="10.0"/>
      </c:valAx>
    </c:plotArea>
    <c:legend>
      <c:legendPos val="t"/>
      <c:overlay val="0"/>
      <c:txPr>
        <a:bodyPr/>
        <a:lstStyle/>
        <a:p>
          <a:pPr>
            <a:defRPr sz="800">
              <a:solidFill>
                <a:srgbClr val="2E2D29"/>
              </a:solidFill>
            </a:defRPr>
          </a:pPr>
        </a:p>
      </c:txPr>
    </c:legend>
    <c:dispBlanksAs val="gap"/>
  </c:chart>
  <c:txPr>
    <a:bodyPr/>
    <a:lstStyle/>
    <a:p>
      <a:pPr>
        <a:defRPr sz="800">
          <a:solidFill>
            <a:srgbClr val="6B6965"/>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 = 0.1</c:v>
                </c:pt>
              </c:strCache>
            </c:strRef>
          </c:tx>
          <c:spPr>
            <a:solidFill>
              <a:srgbClr val="B5B3AF"/>
            </a:solidFill>
          </c:spPr>
          <c:cat>
            <c:strRef>
              <c:f>Sheet1!$A$2:$A$3</c:f>
              <c:strCache>
                <c:ptCount val="2"/>
                <c:pt idx="0">
                  <c:v>Literature trees, prox. 5×10⁴ (v2b)</c:v>
                </c:pt>
                <c:pt idx="1">
                  <c:v>k₂ free, Pd 9.99 (28 Sep)</c:v>
                </c:pt>
              </c:strCache>
            </c:strRef>
          </c:cat>
          <c:val>
            <c:numRef>
              <c:f>Sheet1!$B$2:$B$3</c:f>
              <c:numCache>
                <c:formatCode>General</c:formatCode>
                <c:ptCount val="2"/>
                <c:pt idx="0">
                  <c:v>56</c:v>
                </c:pt>
                <c:pt idx="1">
                  <c:v>49.3</c:v>
                </c:pt>
              </c:numCache>
            </c:numRef>
          </c:val>
        </c:ser>
        <c:ser>
          <c:idx val="1"/>
          <c:order val="1"/>
          <c:tx>
            <c:strRef>
              <c:f>Sheet1!$C$1</c:f>
              <c:strCache>
                <c:ptCount val="1"/>
                <c:pt idx="0">
                  <c:v>s = 1.0</c:v>
                </c:pt>
              </c:strCache>
            </c:strRef>
          </c:tx>
          <c:spPr>
            <a:solidFill>
              <a:srgbClr val="8C1515"/>
            </a:solidFill>
          </c:spPr>
          <c:cat>
            <c:strRef>
              <c:f>Sheet1!$A$2:$A$3</c:f>
              <c:strCache>
                <c:ptCount val="2"/>
                <c:pt idx="0">
                  <c:v>Literature trees, prox. 5×10⁴ (v2b)</c:v>
                </c:pt>
                <c:pt idx="1">
                  <c:v>k₂ free, Pd 9.99 (28 Sep)</c:v>
                </c:pt>
              </c:strCache>
            </c:strRef>
          </c:cat>
          <c:val>
            <c:numRef>
              <c:f>Sheet1!$C$2:$C$3</c:f>
              <c:numCache>
                <c:formatCode>General</c:formatCode>
                <c:ptCount val="2"/>
                <c:pt idx="0">
                  <c:v>35</c:v>
                </c:pt>
                <c:pt idx="1">
                  <c:v>16.1</c:v>
                </c:pt>
              </c:numCache>
            </c:numRef>
          </c:val>
        </c:ser>
        <c:dLbls>
          <c:numFmt formatCode="0.#" sourceLinked="0"/>
          <c:txPr>
            <a:bodyPr/>
            <a:lstStyle/>
            <a:p>
              <a:pPr>
                <a:defRPr sz="800" b="1">
                  <a:solidFill>
                    <a:srgbClr val="2E2D29"/>
                  </a:solidFill>
                </a:defRPr>
              </a:pPr>
            </a:p>
          </c:txPr>
          <c:dLblPos val="outEnd"/>
          <c:showLegendKey val="0"/>
          <c:showVal val="1"/>
          <c:showCatName val="0"/>
          <c:showSerName val="0"/>
          <c:showPercent val="0"/>
          <c:showBubbleSize val="0"/>
          <c:showLeaderLines val="1"/>
        </c:dLbls>
        <c:gapWidth val="40"/>
        <c:overlap val="-5"/>
        <c:axId val="-2068027336"/>
        <c:axId val="-2113994440"/>
      </c:barChart>
      <c:catAx>
        <c:axId val="-2068027336"/>
        <c:scaling>
          <c:orientation val="maxMin"/>
        </c:scaling>
        <c:delete val="0"/>
        <c:axPos val="l"/>
        <c:majorTickMark val="out"/>
        <c:minorTickMark val="none"/>
        <c:tickLblPos val="nextTo"/>
        <c:spPr>
          <a:ln>
            <a:solidFill>
              <a:srgbClr val="B5B3AF"/>
            </a:solidFill>
          </a:ln>
        </c:spPr>
        <c:txPr>
          <a:bodyPr/>
          <a:lstStyle/>
          <a:p>
            <a:pPr>
              <a:defRPr sz="750">
                <a:solidFill>
                  <a:srgbClr val="2E2D29"/>
                </a:solidFill>
              </a:defRPr>
            </a:pPr>
          </a:p>
        </c:txPr>
        <c:crossAx val="-2113994440"/>
        <c:crosses val="autoZero"/>
        <c:auto val="1"/>
        <c:lblAlgn val="ctr"/>
        <c:lblOffset val="100"/>
        <c:noMultiLvlLbl val="0"/>
      </c:catAx>
      <c:valAx>
        <c:axId val="-2113994440"/>
        <c:scaling>
          <c:max val="60.0"/>
          <c:min val="0.0"/>
        </c:scaling>
        <c:delete/>
        <c:axPos val="b"/>
        <c:majorTickMark val="out"/>
        <c:minorTickMark val="none"/>
        <c:tickLblPos val="nextTo"/>
        <c:spPr>
          <a:ln>
            <a:noFill/>
          </a:ln>
        </c:spPr>
        <c:txPr>
          <a:bodyPr/>
          <a:lstStyle/>
          <a:p>
            <a:pPr>
              <a:defRPr sz="750">
                <a:solidFill>
                  <a:srgbClr val="6B6965"/>
                </a:solidFill>
              </a:defRPr>
            </a:pPr>
          </a:p>
        </c:txPr>
        <c:crossAx val="-2068027336"/>
        <c:crosses val="autoZero"/>
        <c:majorUnit val="20.0"/>
      </c:valAx>
    </c:plotArea>
    <c:legend>
      <c:legendPos/>
      <c:overlay val="0"/>
      <c:txPr>
        <a:bodyPr/>
        <a:lstStyle/>
        <a:p>
          <a:pPr>
            <a:defRPr sz="750"/>
          </a:pPr>
        </a:p>
      </c:txPr>
    </c:legend>
    <c:dispBlanksAs val="gap"/>
  </c:chart>
  <c:txPr>
    <a:bodyPr/>
    <a:lstStyle/>
    <a:p>
      <a:pPr>
        <a:defRPr sz="750">
          <a:solidFill>
            <a:srgbClr val="6B6965"/>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error (old)</c:v>
                </c:pt>
              </c:strCache>
            </c:strRef>
          </c:tx>
          <c:spPr>
            <a:solidFill>
              <a:srgbClr val="B5B3AF"/>
            </a:solidFill>
          </c:spPr>
          <c:cat>
            <c:strRef>
              <c:f>Sheet1!$A$2:$A$4</c:f>
              <c:strCache>
                <c:ptCount val="3"/>
                <c:pt idx="0">
                  <c:v>Systolic</c:v>
                </c:pt>
                <c:pt idx="1">
                  <c:v>Mean</c:v>
                </c:pt>
                <c:pt idx="2">
                  <c:v>Diastolic</c:v>
                </c:pt>
              </c:strCache>
            </c:strRef>
          </c:cat>
          <c:val>
            <c:numRef>
              <c:f>Sheet1!$B$2:$B$4</c:f>
              <c:numCache>
                <c:formatCode>General</c:formatCode>
                <c:ptCount val="3"/>
                <c:pt idx="0">
                  <c:v>1.0</c:v>
                </c:pt>
                <c:pt idx="1">
                  <c:v>4.5</c:v>
                </c:pt>
                <c:pt idx="2">
                  <c:v>128.4</c:v>
                </c:pt>
              </c:numCache>
            </c:numRef>
          </c:val>
        </c:ser>
        <c:ser>
          <c:idx val="1"/>
          <c:order val="1"/>
          <c:tx>
            <c:strRef>
              <c:f>Sheet1!$C$1</c:f>
              <c:strCache>
                <c:ptCount val="1"/>
                <c:pt idx="0">
                  <c:v>Likelihood (now)</c:v>
                </c:pt>
              </c:strCache>
            </c:strRef>
          </c:tx>
          <c:spPr>
            <a:solidFill>
              <a:srgbClr val="8C1515"/>
            </a:solidFill>
          </c:spPr>
          <c:cat>
            <c:strRef>
              <c:f>Sheet1!$A$2:$A$4</c:f>
              <c:strCache>
                <c:ptCount val="3"/>
                <c:pt idx="0">
                  <c:v>Systolic</c:v>
                </c:pt>
                <c:pt idx="1">
                  <c:v>Mean</c:v>
                </c:pt>
                <c:pt idx="2">
                  <c:v>Diastolic</c:v>
                </c:pt>
              </c:strCache>
            </c:strRef>
          </c:cat>
          <c:val>
            <c:numRef>
              <c:f>Sheet1!$C$2:$C$4</c:f>
              <c:numCache>
                <c:formatCode>General</c:formatCode>
                <c:ptCount val="3"/>
                <c:pt idx="0">
                  <c:v>1.0</c:v>
                </c:pt>
                <c:pt idx="1">
                  <c:v>1.0</c:v>
                </c:pt>
                <c:pt idx="2">
                  <c:v>1.0</c:v>
                </c:pt>
              </c:numCache>
            </c:numRef>
          </c:val>
        </c:ser>
        <c:dLbls>
          <c:numFmt formatCode="0.#" sourceLinked="0"/>
          <c:txPr>
            <a:bodyPr/>
            <a:lstStyle/>
            <a:p>
              <a:pPr>
                <a:defRPr sz="900" b="1">
                  <a:solidFill>
                    <a:srgbClr val="2E2D29"/>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B5B3AF"/>
            </a:solidFill>
          </a:ln>
        </c:spPr>
        <c:txPr>
          <a:bodyPr/>
          <a:lstStyle/>
          <a:p>
            <a:pPr>
              <a:defRPr sz="800">
                <a:solidFill>
                  <a:srgbClr val="2E2D29"/>
                </a:solidFill>
              </a:defRPr>
            </a:pPr>
          </a:p>
        </c:txPr>
        <c:crossAx val="-2113994440"/>
        <c:crosses val="autoZero"/>
        <c:auto val="1"/>
        <c:lblAlgn val="ctr"/>
        <c:lblOffset val="100"/>
        <c:noMultiLvlLbl val="0"/>
      </c:catAx>
      <c:valAx>
        <c:axId val="-2113994440"/>
        <c:scaling>
          <c:max val="140.0"/>
          <c:min val="0.0"/>
        </c:scaling>
        <c:delete val="0"/>
        <c:axPos val="l"/>
        <c:majorGridlines>
          <c:spPr>
            <a:ln w="6350">
              <a:solidFill>
                <a:srgbClr val="D9D7D4"/>
              </a:solidFill>
            </a:ln>
          </c:spPr>
        </c:majorGridlines>
        <c:majorTickMark val="out"/>
        <c:minorTickMark val="none"/>
        <c:tickLblPos val="nextTo"/>
        <c:spPr>
          <a:ln>
            <a:noFill/>
          </a:ln>
        </c:spPr>
        <c:txPr>
          <a:bodyPr/>
          <a:lstStyle/>
          <a:p>
            <a:pPr>
              <a:defRPr sz="800">
                <a:solidFill>
                  <a:srgbClr val="6B6965"/>
                </a:solidFill>
              </a:defRPr>
            </a:pPr>
          </a:p>
        </c:txPr>
        <c:crossAx val="-2068027336"/>
        <c:crosses val="autoZero"/>
        <c:majorUnit val="35.0"/>
      </c:valAx>
    </c:plotArea>
    <c:legend>
      <c:legendPos val="t"/>
      <c:overlay val="0"/>
      <c:txPr>
        <a:bodyPr/>
        <a:lstStyle/>
        <a:p>
          <a:pPr>
            <a:defRPr sz="800">
              <a:solidFill>
                <a:srgbClr val="2E2D29"/>
              </a:solidFill>
            </a:defRPr>
          </a:pPr>
        </a:p>
      </c:txPr>
    </c:legend>
    <c:dispBlanksAs val="gap"/>
  </c:chart>
  <c:txPr>
    <a:bodyPr/>
    <a:lstStyle/>
    <a:p>
      <a:pPr>
        <a:defRPr sz="800">
          <a:solidFill>
            <a:srgbClr val="6B6965"/>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Diastolic target</c:v>
                </c:pt>
              </c:strCache>
            </c:strRef>
          </c:tx>
          <c:spPr>
            <a:solidFill>
              <a:srgbClr val="B5B3AF"/>
            </a:solidFill>
          </c:spPr>
          <c:cat>
            <c:strRef>
              <c:f>Sheet1!$A$2:$A$6</c:f>
              <c:strCache>
                <c:ptCount val="5"/>
                <c:pt idx="0">
                  <c:v>TST-STAN-1 · PR</c:v>
                </c:pt>
                <c:pt idx="1">
                  <c:v>TST-STAN-2</c:v>
                </c:pt>
                <c:pt idx="2">
                  <c:v>TST-STAN-3</c:v>
                </c:pt>
                <c:pt idx="3">
                  <c:v>TST-STAN-5 · PR</c:v>
                </c:pt>
                <c:pt idx="4">
                  <c:v>TST-STAN-9</c:v>
                </c:pt>
              </c:strCache>
            </c:strRef>
          </c:cat>
          <c:val>
            <c:numRef>
              <c:f>Sheet1!$B$2:$B$6</c:f>
              <c:numCache>
                <c:formatCode>General</c:formatCode>
                <c:ptCount val="5"/>
                <c:pt idx="0">
                  <c:v>10</c:v>
                </c:pt>
                <c:pt idx="1">
                  <c:v>14</c:v>
                </c:pt>
                <c:pt idx="2">
                  <c:v>9</c:v>
                </c:pt>
                <c:pt idx="3">
                  <c:v>3</c:v>
                </c:pt>
                <c:pt idx="4">
                  <c:v>5</c:v>
                </c:pt>
              </c:numCache>
            </c:numRef>
          </c:val>
        </c:ser>
        <c:ser>
          <c:idx val="1"/>
          <c:order val="1"/>
          <c:tx>
            <c:strRef>
              <c:f>Sheet1!$C$1</c:f>
              <c:strCache>
                <c:ptCount val="1"/>
                <c:pt idx="0">
                  <c:v>Outlet Pd</c:v>
                </c:pt>
              </c:strCache>
            </c:strRef>
          </c:tx>
          <c:spPr>
            <a:solidFill>
              <a:srgbClr val="8C1515"/>
            </a:solidFill>
          </c:spPr>
          <c:cat>
            <c:strRef>
              <c:f>Sheet1!$A$2:$A$6</c:f>
              <c:strCache>
                <c:ptCount val="5"/>
                <c:pt idx="0">
                  <c:v>TST-STAN-1 · PR</c:v>
                </c:pt>
                <c:pt idx="1">
                  <c:v>TST-STAN-2</c:v>
                </c:pt>
                <c:pt idx="2">
                  <c:v>TST-STAN-3</c:v>
                </c:pt>
                <c:pt idx="3">
                  <c:v>TST-STAN-5 · PR</c:v>
                </c:pt>
                <c:pt idx="4">
                  <c:v>TST-STAN-9</c:v>
                </c:pt>
              </c:strCache>
            </c:strRef>
          </c:cat>
          <c:val>
            <c:numRef>
              <c:f>Sheet1!$C$2:$C$6</c:f>
              <c:numCache>
                <c:formatCode>General</c:formatCode>
                <c:ptCount val="5"/>
                <c:pt idx="0">
                  <c:v>12.98</c:v>
                </c:pt>
                <c:pt idx="1">
                  <c:v>12.0</c:v>
                </c:pt>
                <c:pt idx="2">
                  <c:v>7.0</c:v>
                </c:pt>
                <c:pt idx="3">
                  <c:v>9.99</c:v>
                </c:pt>
                <c:pt idx="4">
                  <c:v>3.0</c:v>
                </c:pt>
              </c:numCache>
            </c:numRef>
          </c:val>
        </c:ser>
        <c:ser>
          <c:idx val="2"/>
          <c:order val="2"/>
          <c:tx>
            <c:strRef>
              <c:f>Sheet1!$D$1</c:f>
              <c:strCache>
                <c:ptCount val="1"/>
                <c:pt idx="0">
                  <c:v>Mean target</c:v>
                </c:pt>
              </c:strCache>
            </c:strRef>
          </c:tx>
          <c:spPr>
            <a:solidFill>
              <a:srgbClr val="2E2D29"/>
            </a:solidFill>
          </c:spPr>
          <c:cat>
            <c:strRef>
              <c:f>Sheet1!$A$2:$A$6</c:f>
              <c:strCache>
                <c:ptCount val="5"/>
                <c:pt idx="0">
                  <c:v>TST-STAN-1 · PR</c:v>
                </c:pt>
                <c:pt idx="1">
                  <c:v>TST-STAN-2</c:v>
                </c:pt>
                <c:pt idx="2">
                  <c:v>TST-STAN-3</c:v>
                </c:pt>
                <c:pt idx="3">
                  <c:v>TST-STAN-5 · PR</c:v>
                </c:pt>
                <c:pt idx="4">
                  <c:v>TST-STAN-9</c:v>
                </c:pt>
              </c:strCache>
            </c:strRef>
          </c:cat>
          <c:val>
            <c:numRef>
              <c:f>Sheet1!$D$2:$D$6</c:f>
              <c:numCache>
                <c:formatCode>General</c:formatCode>
                <c:ptCount val="5"/>
                <c:pt idx="0">
                  <c:v>23</c:v>
                </c:pt>
                <c:pt idx="1">
                  <c:v>26</c:v>
                </c:pt>
                <c:pt idx="2">
                  <c:v>32</c:v>
                </c:pt>
                <c:pt idx="3">
                  <c:v>16</c:v>
                </c:pt>
                <c:pt idx="4">
                  <c:v>15</c:v>
                </c:pt>
              </c:numCache>
            </c:numRef>
          </c:val>
        </c:ser>
        <c:dLbls>
          <c:numFmt formatCode="General" sourceLinked="0"/>
          <c:txPr>
            <a:bodyPr/>
            <a:lstStyle/>
            <a:p>
              <a:pPr>
                <a:defRPr sz="1000">
                  <a:solidFill>
                    <a:srgbClr val="2E2D29"/>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5B3AF"/>
            </a:solidFill>
          </a:ln>
        </c:spPr>
        <c:txPr>
          <a:bodyPr/>
          <a:lstStyle/>
          <a:p>
            <a:pPr>
              <a:defRPr sz="1000">
                <a:solidFill>
                  <a:srgbClr val="2E2D29"/>
                </a:solidFill>
              </a:defRPr>
            </a:pPr>
          </a:p>
        </c:txPr>
        <c:crossAx val="-2113994440"/>
        <c:crosses val="autoZero"/>
        <c:auto val="1"/>
        <c:lblAlgn val="ctr"/>
        <c:lblOffset val="100"/>
        <c:noMultiLvlLbl val="0"/>
      </c:catAx>
      <c:valAx>
        <c:axId val="-2113994440"/>
        <c:scaling>
          <c:max val="40.0"/>
          <c:min val="0.0"/>
        </c:scaling>
        <c:delete val="0"/>
        <c:axPos val="l"/>
        <c:majorGridlines>
          <c:spPr>
            <a:ln w="6350">
              <a:solidFill>
                <a:srgbClr val="D9D7D4"/>
              </a:solidFill>
            </a:ln>
          </c:spPr>
        </c:majorGridlines>
        <c:majorTickMark val="out"/>
        <c:minorTickMark val="none"/>
        <c:tickLblPos val="nextTo"/>
        <c:spPr>
          <a:ln>
            <a:noFill/>
          </a:ln>
        </c:spPr>
        <c:txPr>
          <a:bodyPr/>
          <a:lstStyle/>
          <a:p>
            <a:pPr>
              <a:defRPr sz="1000">
                <a:solidFill>
                  <a:srgbClr val="6B6965"/>
                </a:solidFill>
              </a:defRPr>
            </a:pPr>
          </a:p>
        </c:txPr>
        <c:crossAx val="-2068027336"/>
        <c:crosses val="autoZero"/>
        <c:majorUnit val="10.0"/>
      </c:valAx>
    </c:plotArea>
    <c:legend>
      <c:legendPos val="t"/>
      <c:overlay val="0"/>
      <c:txPr>
        <a:bodyPr/>
        <a:lstStyle/>
        <a:p>
          <a:pPr>
            <a:defRPr sz="1000">
              <a:solidFill>
                <a:srgbClr val="2E2D29"/>
              </a:solidFill>
            </a:defRPr>
          </a:pPr>
        </a:p>
      </c:txPr>
    </c:legend>
    <c:dispBlanksAs val="gap"/>
  </c:chart>
  <c:txPr>
    <a:bodyPr/>
    <a:lstStyle/>
    <a:p>
      <a:pPr>
        <a:defRPr sz="1000">
          <a:solidFill>
            <a:srgbClr val="6B6965"/>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χ²</c:v>
                </c:pt>
              </c:strCache>
            </c:strRef>
          </c:tx>
          <c:dPt>
            <c:idx val="0"/>
            <c:spPr>
              <a:solidFill>
                <a:srgbClr val="B5B3AF"/>
              </a:solidFill>
            </c:spPr>
          </c:dPt>
          <c:dPt>
            <c:idx val="1"/>
            <c:spPr>
              <a:solidFill>
                <a:srgbClr val="B5B3AF"/>
              </a:solidFill>
            </c:spPr>
          </c:dPt>
          <c:dPt>
            <c:idx val="2"/>
            <c:spPr>
              <a:solidFill>
                <a:srgbClr val="B5B3AF"/>
              </a:solidFill>
            </c:spPr>
          </c:dPt>
          <c:dPt>
            <c:idx val="3"/>
            <c:spPr>
              <a:solidFill>
                <a:srgbClr val="B5B3AF"/>
              </a:solidFill>
            </c:spPr>
          </c:dPt>
          <c:dPt>
            <c:idx val="4"/>
            <c:spPr>
              <a:solidFill>
                <a:srgbClr val="8C1515"/>
              </a:solidFill>
            </c:spPr>
          </c:dPt>
          <c:dPt>
            <c:idx val="5"/>
            <c:spPr>
              <a:solidFill>
                <a:srgbClr val="8C1515"/>
              </a:solidFill>
            </c:spPr>
          </c:dPt>
          <c:cat>
            <c:strRef>
              <c:f>Sheet1!$A$2:$A$7</c:f>
              <c:strCache>
                <c:ptCount val="6"/>
                <c:pt idx="0">
                  <c:v>5×10⁴</c:v>
                </c:pt>
                <c:pt idx="1">
                  <c:v>1×10⁵</c:v>
                </c:pt>
                <c:pt idx="2">
                  <c:v>2×10⁵</c:v>
                </c:pt>
                <c:pt idx="3">
                  <c:v>4×10⁵</c:v>
                </c:pt>
                <c:pt idx="4">
                  <c:v>8×10⁵</c:v>
                </c:pt>
                <c:pt idx="5">
                  <c:v>1.6×10⁶</c:v>
                </c:pt>
              </c:strCache>
            </c:strRef>
          </c:cat>
          <c:val>
            <c:numRef>
              <c:f>Sheet1!$B$2:$B$7</c:f>
              <c:numCache>
                <c:formatCode>General</c:formatCode>
                <c:ptCount val="6"/>
                <c:pt idx="0">
                  <c:v>59.44</c:v>
                </c:pt>
                <c:pt idx="1">
                  <c:v>39.1</c:v>
                </c:pt>
                <c:pt idx="2">
                  <c:v>27.73</c:v>
                </c:pt>
                <c:pt idx="3">
                  <c:v>13.63</c:v>
                </c:pt>
                <c:pt idx="4">
                  <c:v>7.91</c:v>
                </c:pt>
                <c:pt idx="5">
                  <c:v>8.58</c:v>
                </c:pt>
              </c:numCache>
            </c:numRef>
          </c:val>
        </c:ser>
        <c:dLbls>
          <c:numFmt formatCode="0.#" sourceLinked="0"/>
          <c:txPr>
            <a:bodyPr/>
            <a:lstStyle/>
            <a:p>
              <a:pPr>
                <a:defRPr sz="1000" b="1">
                  <a:solidFill>
                    <a:srgbClr val="2E2D29"/>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B5B3AF"/>
            </a:solidFill>
          </a:ln>
        </c:spPr>
        <c:txPr>
          <a:bodyPr/>
          <a:lstStyle/>
          <a:p>
            <a:pPr>
              <a:defRPr sz="1000">
                <a:solidFill>
                  <a:srgbClr val="2E2D29"/>
                </a:solidFill>
              </a:defRPr>
            </a:pPr>
          </a:p>
        </c:txPr>
        <c:crossAx val="-2113994440"/>
        <c:crosses val="autoZero"/>
        <c:auto val="1"/>
        <c:lblAlgn val="ctr"/>
        <c:lblOffset val="100"/>
        <c:noMultiLvlLbl val="0"/>
      </c:catAx>
      <c:valAx>
        <c:axId val="-2113994440"/>
        <c:scaling>
          <c:max val="70.0"/>
          <c:min val="0.0"/>
        </c:scaling>
        <c:delete val="0"/>
        <c:axPos val="l"/>
        <c:majorGridlines>
          <c:spPr>
            <a:ln w="6350">
              <a:solidFill>
                <a:srgbClr val="D9D7D4"/>
              </a:solidFill>
            </a:ln>
          </c:spPr>
        </c:majorGridlines>
        <c:majorTickMark val="out"/>
        <c:minorTickMark val="none"/>
        <c:tickLblPos val="nextTo"/>
        <c:spPr>
          <a:ln>
            <a:noFill/>
          </a:ln>
        </c:spPr>
        <c:txPr>
          <a:bodyPr/>
          <a:lstStyle/>
          <a:p>
            <a:pPr>
              <a:defRPr sz="1000">
                <a:solidFill>
                  <a:srgbClr val="6B6965"/>
                </a:solidFill>
              </a:defRPr>
            </a:pPr>
          </a:p>
        </c:txPr>
        <c:crossAx val="-2068027336"/>
        <c:crosses val="autoZero"/>
        <c:majorUnit val="20.0"/>
      </c:valAx>
    </c:plotArea>
    <c:dispBlanksAs val="gap"/>
  </c:chart>
  <c:txPr>
    <a:bodyPr/>
    <a:lstStyle/>
    <a:p>
      <a:pPr>
        <a:defRPr sz="1000">
          <a:solidFill>
            <a:srgbClr val="6B6965"/>
          </a:solidFill>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χ²</c:v>
                </c:pt>
              </c:strCache>
            </c:strRef>
          </c:tx>
          <c:dPt>
            <c:idx val="0"/>
            <c:spPr>
              <a:solidFill>
                <a:srgbClr val="B5B3AF"/>
              </a:solidFill>
            </c:spPr>
          </c:dPt>
          <c:dPt>
            <c:idx val="1"/>
            <c:spPr>
              <a:solidFill>
                <a:srgbClr val="B5B3AF"/>
              </a:solidFill>
            </c:spPr>
          </c:dPt>
          <c:dPt>
            <c:idx val="2"/>
            <c:spPr>
              <a:solidFill>
                <a:srgbClr val="B5B3AF"/>
              </a:solidFill>
            </c:spPr>
          </c:dPt>
          <c:dPt>
            <c:idx val="3"/>
            <c:spPr>
              <a:solidFill>
                <a:srgbClr val="F6E8E8"/>
              </a:solidFill>
            </c:spPr>
          </c:dPt>
          <c:dPt>
            <c:idx val="4"/>
            <c:spPr>
              <a:solidFill>
                <a:srgbClr val="E98300"/>
              </a:solidFill>
            </c:spPr>
          </c:dPt>
          <c:cat>
            <c:strRef>
              <c:f>Sheet1!$A$2:$A$6</c:f>
              <c:strCache>
                <c:ptCount val="5"/>
                <c:pt idx="0">
                  <c:v>ξ ≥ 2.33, l_rr 10 (before)</c:v>
                </c:pt>
                <c:pt idx="1">
                  <c:v>l_rr 13 (edge of 7–13)</c:v>
                </c:pt>
                <c:pt idx="2">
                  <c:v>l_rr free in [7, 13]</c:v>
                </c:pt>
                <c:pt idx="3">
                  <c:v>l_rr 20 (above range)</c:v>
                </c:pt>
                <c:pt idx="4">
                  <c:v>ξ ≥ 2.1, l_rr 10 (adopted)</c:v>
                </c:pt>
              </c:strCache>
            </c:strRef>
          </c:cat>
          <c:val>
            <c:numRef>
              <c:f>Sheet1!$B$2:$B$6</c:f>
              <c:numCache>
                <c:formatCode>General</c:formatCode>
                <c:ptCount val="5"/>
                <c:pt idx="0">
                  <c:v>8.18</c:v>
                </c:pt>
                <c:pt idx="1">
                  <c:v>1.48</c:v>
                </c:pt>
                <c:pt idx="2">
                  <c:v>1.42</c:v>
                </c:pt>
                <c:pt idx="3">
                  <c:v>0.02</c:v>
                </c:pt>
                <c:pt idx="4">
                  <c:v>0.29</c:v>
                </c:pt>
              </c:numCache>
            </c:numRef>
          </c:val>
        </c:ser>
        <c:dLbls>
          <c:numFmt formatCode="0.0#" sourceLinked="0"/>
          <c:txPr>
            <a:bodyPr/>
            <a:lstStyle/>
            <a:p>
              <a:pPr>
                <a:defRPr sz="850" b="1">
                  <a:solidFill>
                    <a:srgbClr val="2E2D29"/>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B5B3AF"/>
            </a:solidFill>
          </a:ln>
        </c:spPr>
        <c:txPr>
          <a:bodyPr/>
          <a:lstStyle/>
          <a:p>
            <a:pPr>
              <a:defRPr sz="750">
                <a:solidFill>
                  <a:srgbClr val="2E2D29"/>
                </a:solidFill>
              </a:defRPr>
            </a:pPr>
          </a:p>
        </c:txPr>
        <c:crossAx val="-2113994440"/>
        <c:crosses val="autoZero"/>
        <c:auto val="1"/>
        <c:lblAlgn val="ctr"/>
        <c:lblOffset val="100"/>
        <c:noMultiLvlLbl val="0"/>
      </c:catAx>
      <c:valAx>
        <c:axId val="-2113994440"/>
        <c:scaling>
          <c:max val="10.0"/>
          <c:min val="0.0"/>
        </c:scaling>
        <c:delete val="0"/>
        <c:axPos val="b"/>
        <c:majorGridlines>
          <c:spPr>
            <a:ln w="6350">
              <a:solidFill>
                <a:srgbClr val="D9D7D4"/>
              </a:solidFill>
            </a:ln>
          </c:spPr>
        </c:majorGridlines>
        <c:majorTickMark val="out"/>
        <c:minorTickMark val="none"/>
        <c:tickLblPos val="nextTo"/>
        <c:spPr>
          <a:ln>
            <a:noFill/>
          </a:ln>
        </c:spPr>
        <c:txPr>
          <a:bodyPr/>
          <a:lstStyle/>
          <a:p>
            <a:pPr>
              <a:defRPr sz="750">
                <a:solidFill>
                  <a:srgbClr val="6B6965"/>
                </a:solidFill>
              </a:defRPr>
            </a:pPr>
          </a:p>
        </c:txPr>
        <c:crossAx val="-2068027336"/>
        <c:crosses val="autoZero"/>
        <c:majorUnit val="2.0"/>
      </c:valAx>
    </c:plotArea>
    <c:dispBlanksAs val="gap"/>
  </c:chart>
  <c:txPr>
    <a:bodyPr/>
    <a:lstStyle/>
    <a:p>
      <a:pPr>
        <a:defRPr sz="750">
          <a:solidFill>
            <a:srgbClr val="6B6965"/>
          </a:solidFill>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τ</c:v>
                </c:pt>
              </c:strCache>
            </c:strRef>
          </c:tx>
          <c:dPt>
            <c:idx val="0"/>
            <c:spPr>
              <a:solidFill>
                <a:srgbClr val="B5B3AF"/>
              </a:solidFill>
            </c:spPr>
          </c:dPt>
          <c:dPt>
            <c:idx val="1"/>
            <c:spPr>
              <a:solidFill>
                <a:srgbClr val="279989"/>
              </a:solidFill>
            </c:spPr>
          </c:dPt>
          <c:dPt>
            <c:idx val="2"/>
            <c:spPr>
              <a:solidFill>
                <a:srgbClr val="8C1515"/>
              </a:solidFill>
            </c:spPr>
          </c:dPt>
          <c:dPt>
            <c:idx val="3"/>
            <c:spPr>
              <a:solidFill>
                <a:srgbClr val="8C1515"/>
              </a:solidFill>
            </c:spPr>
          </c:dPt>
          <c:cat>
            <c:strRef>
              <c:f>Sheet1!$A$2:$A$5</c:f>
              <c:strCache>
                <c:ptCount val="4"/>
                <c:pt idx="0">
                  <c:v>Aortic walls</c:v>
                </c:pt>
                <c:pt idx="1">
                  <c:v>TST-STAN-3</c:v>
                </c:pt>
                <c:pt idx="2">
                  <c:v>TST-STAN-1</c:v>
                </c:pt>
                <c:pt idx="3">
                  <c:v>TST-STAN-5</c:v>
                </c:pt>
              </c:strCache>
            </c:strRef>
          </c:cat>
          <c:val>
            <c:numRef>
              <c:f>Sheet1!$B$2:$B$5</c:f>
              <c:numCache>
                <c:formatCode>General</c:formatCode>
                <c:ptCount val="4"/>
                <c:pt idx="0">
                  <c:v>14</c:v>
                </c:pt>
                <c:pt idx="1">
                  <c:v>16</c:v>
                </c:pt>
                <c:pt idx="2">
                  <c:v>89</c:v>
                </c:pt>
                <c:pt idx="3">
                  <c:v>123</c:v>
                </c:pt>
              </c:numCache>
            </c:numRef>
          </c:val>
        </c:ser>
        <c:dLbls>
          <c:numFmt formatCode="0" sourceLinked="0"/>
          <c:txPr>
            <a:bodyPr/>
            <a:lstStyle/>
            <a:p>
              <a:pPr>
                <a:defRPr sz="1000" b="1">
                  <a:solidFill>
                    <a:srgbClr val="2E2D29"/>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5B3AF"/>
            </a:solidFill>
          </a:ln>
        </c:spPr>
        <c:txPr>
          <a:bodyPr/>
          <a:lstStyle/>
          <a:p>
            <a:pPr>
              <a:defRPr sz="1000">
                <a:solidFill>
                  <a:srgbClr val="2E2D29"/>
                </a:solidFill>
              </a:defRPr>
            </a:pPr>
          </a:p>
        </c:txPr>
        <c:crossAx val="-2113994440"/>
        <c:crosses val="autoZero"/>
        <c:auto val="1"/>
        <c:lblAlgn val="ctr"/>
        <c:lblOffset val="100"/>
        <c:noMultiLvlLbl val="0"/>
      </c:catAx>
      <c:valAx>
        <c:axId val="-2113994440"/>
        <c:scaling>
          <c:max val="140.0"/>
          <c:min val="0.0"/>
        </c:scaling>
        <c:delete val="0"/>
        <c:axPos val="l"/>
        <c:majorGridlines>
          <c:spPr>
            <a:ln w="6350">
              <a:solidFill>
                <a:srgbClr val="D9D7D4"/>
              </a:solidFill>
            </a:ln>
          </c:spPr>
        </c:majorGridlines>
        <c:majorTickMark val="out"/>
        <c:minorTickMark val="none"/>
        <c:tickLblPos val="nextTo"/>
        <c:spPr>
          <a:ln>
            <a:noFill/>
          </a:ln>
        </c:spPr>
        <c:txPr>
          <a:bodyPr/>
          <a:lstStyle/>
          <a:p>
            <a:pPr>
              <a:defRPr sz="1000">
                <a:solidFill>
                  <a:srgbClr val="6B6965"/>
                </a:solidFill>
              </a:defRPr>
            </a:pPr>
          </a:p>
        </c:txPr>
        <c:crossAx val="-2068027336"/>
        <c:crosses val="autoZero"/>
        <c:majorUnit val="40.0"/>
      </c:valAx>
    </c:plotArea>
    <c:dispBlanksAs val="gap"/>
  </c:chart>
  <c:txPr>
    <a:bodyPr/>
    <a:lstStyle/>
    <a:p>
      <a:pPr>
        <a:defRPr sz="1000">
          <a:solidFill>
            <a:srgbClr val="6B6965"/>
          </a:solidFill>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Catheter target</c:v>
                </c:pt>
              </c:strCache>
            </c:strRef>
          </c:tx>
          <c:spPr>
            <a:solidFill>
              <a:srgbClr val="B5B3AF"/>
            </a:solidFill>
          </c:spPr>
          <c:invertIfNegative val="0"/>
          <c:cat>
            <c:strRef>
              <c:f>Sheet1!$A$2:$A$4</c:f>
              <c:strCache>
                <c:ptCount val="3"/>
                <c:pt idx="0">
                  <c:v>Systolic</c:v>
                </c:pt>
                <c:pt idx="1">
                  <c:v>Diastolic</c:v>
                </c:pt>
                <c:pt idx="2">
                  <c:v>Mean</c:v>
                </c:pt>
              </c:strCache>
            </c:strRef>
          </c:cat>
          <c:val>
            <c:numRef>
              <c:f>Sheet1!$B$2:$B$4</c:f>
              <c:numCache>
                <c:formatCode>General</c:formatCode>
                <c:ptCount val="3"/>
                <c:pt idx="0">
                  <c:v>34</c:v>
                </c:pt>
                <c:pt idx="1">
                  <c:v>3</c:v>
                </c:pt>
                <c:pt idx="2">
                  <c:v>16</c:v>
                </c:pt>
              </c:numCache>
            </c:numRef>
          </c:val>
        </c:ser>
        <c:ser>
          <c:idx val="1"/>
          <c:order val="1"/>
          <c:tx>
            <c:strRef>
              <c:f>Sheet1!$C$1</c:f>
              <c:strCache>
                <c:ptCount val="1"/>
                <c:pt idx="0">
                  <c:v>c = 10⁴</c:v>
                </c:pt>
              </c:strCache>
            </c:strRef>
          </c:tx>
          <c:spPr>
            <a:solidFill>
              <a:srgbClr val="8C1515"/>
            </a:solidFill>
          </c:spPr>
          <c:invertIfNegative val="0"/>
          <c:cat>
            <c:strRef>
              <c:f>Sheet1!$A$2:$A$4</c:f>
              <c:strCache>
                <c:ptCount val="3"/>
                <c:pt idx="0">
                  <c:v>Systolic</c:v>
                </c:pt>
                <c:pt idx="1">
                  <c:v>Diastolic</c:v>
                </c:pt>
                <c:pt idx="2">
                  <c:v>Mean</c:v>
                </c:pt>
              </c:strCache>
            </c:strRef>
          </c:cat>
          <c:val>
            <c:numRef>
              <c:f>Sheet1!$C$2:$C$4</c:f>
              <c:numCache>
                <c:formatCode>General</c:formatCode>
                <c:ptCount val="3"/>
                <c:pt idx="0">
                  <c:v>38.2</c:v>
                </c:pt>
                <c:pt idx="1">
                  <c:v>-1.9</c:v>
                </c:pt>
                <c:pt idx="2">
                  <c:v>15.9</c:v>
                </c:pt>
              </c:numCache>
            </c:numRef>
          </c:val>
        </c:ser>
        <c:ser>
          <c:idx val="2"/>
          <c:order val="2"/>
          <c:tx>
            <c:strRef>
              <c:f>Sheet1!$D$1</c:f>
              <c:strCache>
                <c:ptCount val="1"/>
                <c:pt idx="0">
                  <c:v>scaled, c = 3,650</c:v>
                </c:pt>
              </c:strCache>
            </c:strRef>
          </c:tx>
          <c:spPr>
            <a:solidFill>
              <a:srgbClr val="E98300"/>
            </a:solidFill>
          </c:spPr>
          <c:invertIfNegative val="0"/>
          <c:cat>
            <c:strRef>
              <c:f>Sheet1!$A$2:$A$4</c:f>
              <c:strCache>
                <c:ptCount val="3"/>
                <c:pt idx="0">
                  <c:v>Systolic</c:v>
                </c:pt>
                <c:pt idx="1">
                  <c:v>Diastolic</c:v>
                </c:pt>
                <c:pt idx="2">
                  <c:v>Mean</c:v>
                </c:pt>
              </c:strCache>
            </c:strRef>
          </c:cat>
          <c:val>
            <c:numRef>
              <c:f>Sheet1!$D$2:$D$4</c:f>
              <c:numCache>
                <c:formatCode>General</c:formatCode>
                <c:ptCount val="3"/>
                <c:pt idx="0">
                  <c:v>34.8</c:v>
                </c:pt>
                <c:pt idx="1">
                  <c:v>2.8</c:v>
                </c:pt>
                <c:pt idx="2">
                  <c:v>15.8</c:v>
                </c:pt>
              </c:numCache>
            </c:numRef>
          </c:val>
        </c:ser>
        <c:dLbls>
          <c:numFmt formatCode="0.0" sourceLinked="0"/>
          <c:txPr>
            <a:bodyPr/>
            <a:lstStyle/>
            <a:p>
              <a:pPr>
                <a:defRPr sz="1000" b="1">
                  <a:solidFill>
                    <a:srgbClr val="2E2D29"/>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low"/>
        <c:spPr>
          <a:ln>
            <a:solidFill>
              <a:srgbClr val="B5B3AF"/>
            </a:solidFill>
          </a:ln>
        </c:spPr>
        <c:txPr>
          <a:bodyPr/>
          <a:lstStyle/>
          <a:p>
            <a:pPr>
              <a:defRPr sz="1000">
                <a:solidFill>
                  <a:srgbClr val="2E2D29"/>
                </a:solidFill>
              </a:defRPr>
            </a:pPr>
          </a:p>
        </c:txPr>
        <c:crossAx val="-2113994440"/>
        <c:crosses val="autoZero"/>
        <c:auto val="1"/>
        <c:lblAlgn val="ctr"/>
        <c:lblOffset val="100"/>
        <c:noMultiLvlLbl val="0"/>
      </c:catAx>
      <c:valAx>
        <c:axId val="-2113994440"/>
        <c:scaling>
          <c:max val="45.0"/>
          <c:min val="-5.0"/>
        </c:scaling>
        <c:delete val="0"/>
        <c:axPos val="l"/>
        <c:majorGridlines>
          <c:spPr>
            <a:ln w="6350">
              <a:solidFill>
                <a:srgbClr val="D9D7D4"/>
              </a:solidFill>
            </a:ln>
          </c:spPr>
        </c:majorGridlines>
        <c:majorTickMark val="out"/>
        <c:minorTickMark val="none"/>
        <c:tickLblPos val="nextTo"/>
        <c:spPr>
          <a:ln>
            <a:noFill/>
          </a:ln>
        </c:spPr>
        <c:txPr>
          <a:bodyPr/>
          <a:lstStyle/>
          <a:p>
            <a:pPr>
              <a:defRPr sz="1000">
                <a:solidFill>
                  <a:srgbClr val="6B6965"/>
                </a:solidFill>
              </a:defRPr>
            </a:pPr>
          </a:p>
        </c:txPr>
        <c:crossAx val="-2068027336"/>
        <c:crosses val="autoZero"/>
        <c:majorUnit val="10.0"/>
      </c:valAx>
    </c:plotArea>
    <c:legend>
      <c:legendPos val="t"/>
      <c:overlay val="0"/>
      <c:txPr>
        <a:bodyPr/>
        <a:lstStyle/>
        <a:p>
          <a:pPr>
            <a:defRPr sz="1000"/>
          </a:pPr>
        </a:p>
      </c:txPr>
    </c:legend>
    <c:dispBlanksAs val="gap"/>
  </c:chart>
  <c:txPr>
    <a:bodyPr/>
    <a:lstStyle/>
    <a:p>
      <a:pPr>
        <a:defRPr sz="1000">
          <a:solidFill>
            <a:srgbClr val="6B6965"/>
          </a:solidFill>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Systolic</c:v>
                </c:pt>
              </c:strCache>
            </c:strRef>
          </c:tx>
          <c:spPr>
            <a:solidFill>
              <a:srgbClr val="8C1515"/>
            </a:solidFill>
          </c:spPr>
          <c:invertIfNegative val="0"/>
          <c:cat>
            <c:strRef>
              <c:f>Sheet1!$A$2:$A$6</c:f>
              <c:strCache>
                <c:ptCount val="5"/>
                <c:pt idx="0">
                  <c:v>TST-STAN-1</c:v>
                </c:pt>
                <c:pt idx="1">
                  <c:v>TST-STAN-2</c:v>
                </c:pt>
                <c:pt idx="2">
                  <c:v>TST-STAN-3</c:v>
                </c:pt>
                <c:pt idx="3">
                  <c:v>TST-STAN-5</c:v>
                </c:pt>
                <c:pt idx="4">
                  <c:v>TST-STAN-9</c:v>
                </c:pt>
              </c:strCache>
            </c:strRef>
          </c:cat>
          <c:val>
            <c:numRef>
              <c:f>Sheet1!$B$2:$B$6</c:f>
              <c:numCache>
                <c:formatCode>General</c:formatCode>
                <c:ptCount val="5"/>
                <c:pt idx="0">
                  <c:v>5.7</c:v>
                </c:pt>
                <c:pt idx="1">
                  <c:v>18.8</c:v>
                </c:pt>
                <c:pt idx="2">
                  <c:v>10.8</c:v>
                </c:pt>
                <c:pt idx="3">
                  <c:v>4.6</c:v>
                </c:pt>
                <c:pt idx="4">
                  <c:v>2.6</c:v>
                </c:pt>
              </c:numCache>
            </c:numRef>
          </c:val>
        </c:ser>
        <c:ser>
          <c:idx val="1"/>
          <c:order val="1"/>
          <c:tx>
            <c:strRef>
              <c:f>Sheet1!$C$1</c:f>
              <c:strCache>
                <c:ptCount val="1"/>
                <c:pt idx="0">
                  <c:v>Diastolic</c:v>
                </c:pt>
              </c:strCache>
            </c:strRef>
          </c:tx>
          <c:spPr>
            <a:solidFill>
              <a:srgbClr val="279989"/>
            </a:solidFill>
          </c:spPr>
          <c:invertIfNegative val="0"/>
          <c:cat>
            <c:strRef>
              <c:f>Sheet1!$A$2:$A$6</c:f>
              <c:strCache>
                <c:ptCount val="5"/>
                <c:pt idx="0">
                  <c:v>TST-STAN-1</c:v>
                </c:pt>
                <c:pt idx="1">
                  <c:v>TST-STAN-2</c:v>
                </c:pt>
                <c:pt idx="2">
                  <c:v>TST-STAN-3</c:v>
                </c:pt>
                <c:pt idx="3">
                  <c:v>TST-STAN-5</c:v>
                </c:pt>
                <c:pt idx="4">
                  <c:v>TST-STAN-9</c:v>
                </c:pt>
              </c:strCache>
            </c:strRef>
          </c:cat>
          <c:val>
            <c:numRef>
              <c:f>Sheet1!$C$2:$C$6</c:f>
              <c:numCache>
                <c:formatCode>General</c:formatCode>
                <c:ptCount val="5"/>
                <c:pt idx="0">
                  <c:v>-5.2</c:v>
                </c:pt>
                <c:pt idx="1">
                  <c:v>-2.2</c:v>
                </c:pt>
                <c:pt idx="2">
                  <c:v>-1.4</c:v>
                </c:pt>
                <c:pt idx="3">
                  <c:v>-4.6</c:v>
                </c:pt>
                <c:pt idx="4">
                  <c:v>-0.2</c:v>
                </c:pt>
              </c:numCache>
            </c:numRef>
          </c:val>
        </c:ser>
        <c:ser>
          <c:idx val="2"/>
          <c:order val="2"/>
          <c:tx>
            <c:strRef>
              <c:f>Sheet1!$D$1</c:f>
              <c:strCache>
                <c:ptCount val="1"/>
                <c:pt idx="0">
                  <c:v>Mean</c:v>
                </c:pt>
              </c:strCache>
            </c:strRef>
          </c:tx>
          <c:spPr>
            <a:solidFill>
              <a:srgbClr val="2E2D29"/>
            </a:solidFill>
          </c:spPr>
          <c:invertIfNegative val="0"/>
          <c:cat>
            <c:strRef>
              <c:f>Sheet1!$A$2:$A$6</c:f>
              <c:strCache>
                <c:ptCount val="5"/>
                <c:pt idx="0">
                  <c:v>TST-STAN-1</c:v>
                </c:pt>
                <c:pt idx="1">
                  <c:v>TST-STAN-2</c:v>
                </c:pt>
                <c:pt idx="2">
                  <c:v>TST-STAN-3</c:v>
                </c:pt>
                <c:pt idx="3">
                  <c:v>TST-STAN-5</c:v>
                </c:pt>
                <c:pt idx="4">
                  <c:v>TST-STAN-9</c:v>
                </c:pt>
              </c:strCache>
            </c:strRef>
          </c:cat>
          <c:val>
            <c:numRef>
              <c:f>Sheet1!$D$2:$D$6</c:f>
              <c:numCache>
                <c:formatCode>General</c:formatCode>
                <c:ptCount val="5"/>
                <c:pt idx="0">
                  <c:v>-1.8</c:v>
                </c:pt>
                <c:pt idx="1">
                  <c:v>1.5</c:v>
                </c:pt>
                <c:pt idx="2">
                  <c:v>-1.0</c:v>
                </c:pt>
                <c:pt idx="3">
                  <c:v>0.1</c:v>
                </c:pt>
                <c:pt idx="4">
                  <c:v>0.2</c:v>
                </c:pt>
              </c:numCache>
            </c:numRef>
          </c:val>
        </c:ser>
        <c:dLbls>
          <c:numFmt formatCode="+0.0;−0.0;0" sourceLinked="0"/>
          <c:txPr>
            <a:bodyPr/>
            <a:lstStyle/>
            <a:p>
              <a:pPr>
                <a:defRPr sz="700" b="1">
                  <a:solidFill>
                    <a:srgbClr val="2E2D29"/>
                  </a:solidFill>
                </a:defRPr>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inMax"/>
        </c:scaling>
        <c:delete val="0"/>
        <c:axPos val="b"/>
        <c:majorTickMark val="out"/>
        <c:minorTickMark val="none"/>
        <c:tickLblPos val="low"/>
        <c:spPr>
          <a:ln>
            <a:solidFill>
              <a:srgbClr val="B5B3AF"/>
            </a:solidFill>
          </a:ln>
        </c:spPr>
        <c:txPr>
          <a:bodyPr/>
          <a:lstStyle/>
          <a:p>
            <a:pPr>
              <a:defRPr sz="750">
                <a:solidFill>
                  <a:srgbClr val="2E2D29"/>
                </a:solidFill>
              </a:defRPr>
            </a:pPr>
          </a:p>
        </c:txPr>
        <c:crossAx val="-2113994440"/>
        <c:crosses val="autoZero"/>
        <c:auto val="1"/>
        <c:lblAlgn val="ctr"/>
        <c:lblOffset val="100"/>
        <c:noMultiLvlLbl val="0"/>
      </c:catAx>
      <c:valAx>
        <c:axId val="-2113994440"/>
        <c:scaling>
          <c:max val="20.0"/>
          <c:min val="-10.0"/>
        </c:scaling>
        <c:delete val="0"/>
        <c:axPos val="l"/>
        <c:majorGridlines>
          <c:spPr>
            <a:ln w="6350">
              <a:solidFill>
                <a:srgbClr val="D9D7D4"/>
              </a:solidFill>
            </a:ln>
          </c:spPr>
        </c:majorGridlines>
        <c:majorTickMark val="out"/>
        <c:minorTickMark val="none"/>
        <c:tickLblPos val="nextTo"/>
        <c:spPr>
          <a:ln>
            <a:noFill/>
          </a:ln>
        </c:spPr>
        <c:txPr>
          <a:bodyPr/>
          <a:lstStyle/>
          <a:p>
            <a:pPr>
              <a:defRPr sz="750">
                <a:solidFill>
                  <a:srgbClr val="6B6965"/>
                </a:solidFill>
              </a:defRPr>
            </a:pPr>
          </a:p>
        </c:txPr>
        <c:crossAx val="-2068027336"/>
        <c:crosses val="autoZero"/>
        <c:majorUnit val="5.0"/>
      </c:valAx>
    </c:plotArea>
    <c:legend>
      <c:legendPos val="t"/>
      <c:overlay val="0"/>
      <c:txPr>
        <a:bodyPr/>
        <a:lstStyle/>
        <a:p>
          <a:pPr>
            <a:defRPr sz="750"/>
          </a:pPr>
        </a:p>
      </c:txPr>
    </c:legend>
    <c:dispBlanksAs val="gap"/>
  </c:chart>
  <c:txPr>
    <a:bodyPr/>
    <a:lstStyle/>
    <a:p>
      <a:pPr>
        <a:defRPr sz="750">
          <a:solidFill>
            <a:srgbClr val="6B6965"/>
          </a:solidFill>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3D now</c:v>
                </c:pt>
              </c:strCache>
            </c:strRef>
          </c:tx>
          <c:spPr>
            <a:solidFill>
              <a:srgbClr val="2E2D29"/>
            </a:solidFill>
          </c:spPr>
          <c:cat>
            <c:strRef>
              <c:f>Sheet1!$A$2:$A$6</c:f>
              <c:strCache>
                <c:ptCount val="5"/>
                <c:pt idx="0">
                  <c:v>TST-STAN-1 · it 1</c:v>
                </c:pt>
                <c:pt idx="1">
                  <c:v>TST-STAN-2 · it 1</c:v>
                </c:pt>
                <c:pt idx="2">
                  <c:v>TST-STAN-3 · it 2</c:v>
                </c:pt>
                <c:pt idx="3">
                  <c:v>TST-STAN-5 · it 1*</c:v>
                </c:pt>
                <c:pt idx="4">
                  <c:v>TST-STAN-9 · it 1</c:v>
                </c:pt>
              </c:strCache>
            </c:strRef>
          </c:cat>
          <c:val>
            <c:numRef>
              <c:f>Sheet1!$B$2:$B$6</c:f>
              <c:numCache>
                <c:formatCode>General</c:formatCode>
                <c:ptCount val="5"/>
                <c:pt idx="0">
                  <c:v>39.0</c:v>
                </c:pt>
                <c:pt idx="1">
                  <c:v>51.0</c:v>
                </c:pt>
                <c:pt idx="2">
                  <c:v>70.2</c:v>
                </c:pt>
                <c:pt idx="3">
                  <c:v>32.0</c:v>
                </c:pt>
                <c:pt idx="4">
                  <c:v>26.8</c:v>
                </c:pt>
              </c:numCache>
            </c:numRef>
          </c:val>
        </c:ser>
        <c:ser>
          <c:idx val="1"/>
          <c:order val="1"/>
          <c:tx>
            <c:strRef>
              <c:f>Sheet1!$C$1</c:f>
              <c:strCache>
                <c:ptCount val="1"/>
                <c:pt idx="0">
                  <c:v>Predicted: volume</c:v>
                </c:pt>
              </c:strCache>
            </c:strRef>
          </c:tx>
          <c:spPr>
            <a:solidFill>
              <a:srgbClr val="B5B3AF"/>
            </a:solidFill>
          </c:spPr>
          <c:cat>
            <c:strRef>
              <c:f>Sheet1!$A$2:$A$6</c:f>
              <c:strCache>
                <c:ptCount val="5"/>
                <c:pt idx="0">
                  <c:v>TST-STAN-1 · it 1</c:v>
                </c:pt>
                <c:pt idx="1">
                  <c:v>TST-STAN-2 · it 1</c:v>
                </c:pt>
                <c:pt idx="2">
                  <c:v>TST-STAN-3 · it 2</c:v>
                </c:pt>
                <c:pt idx="3">
                  <c:v>TST-STAN-5 · it 1*</c:v>
                </c:pt>
                <c:pt idx="4">
                  <c:v>TST-STAN-9 · it 1</c:v>
                </c:pt>
              </c:strCache>
            </c:strRef>
          </c:cat>
          <c:val>
            <c:numRef>
              <c:f>Sheet1!$C$2:$C$6</c:f>
              <c:numCache>
                <c:formatCode>General</c:formatCode>
                <c:ptCount val="5"/>
                <c:pt idx="0">
                  <c:v>37.5</c:v>
                </c:pt>
                <c:pt idx="1">
                  <c:v>45.4</c:v>
                </c:pt>
                <c:pt idx="2">
                  <c:v>63.7</c:v>
                </c:pt>
                <c:pt idx="3">
                  <c:v>35.3</c:v>
                </c:pt>
                <c:pt idx="4">
                  <c:v>16.5</c:v>
                </c:pt>
              </c:numCache>
            </c:numRef>
          </c:val>
        </c:ser>
        <c:ser>
          <c:idx val="2"/>
          <c:order val="2"/>
          <c:tx>
            <c:strRef>
              <c:f>Sheet1!$D$1</c:f>
              <c:strCache>
                <c:ptCount val="1"/>
                <c:pt idx="0">
                  <c:v>Predicted: volume × r</c:v>
                </c:pt>
              </c:strCache>
            </c:strRef>
          </c:tx>
          <c:spPr>
            <a:solidFill>
              <a:srgbClr val="8C1515"/>
            </a:solidFill>
          </c:spPr>
          <c:cat>
            <c:strRef>
              <c:f>Sheet1!$A$2:$A$6</c:f>
              <c:strCache>
                <c:ptCount val="5"/>
                <c:pt idx="0">
                  <c:v>TST-STAN-1 · it 1</c:v>
                </c:pt>
                <c:pt idx="1">
                  <c:v>TST-STAN-2 · it 1</c:v>
                </c:pt>
                <c:pt idx="2">
                  <c:v>TST-STAN-3 · it 2</c:v>
                </c:pt>
                <c:pt idx="3">
                  <c:v>TST-STAN-5 · it 1*</c:v>
                </c:pt>
                <c:pt idx="4">
                  <c:v>TST-STAN-9 · it 1</c:v>
                </c:pt>
              </c:strCache>
            </c:strRef>
          </c:cat>
          <c:val>
            <c:numRef>
              <c:f>Sheet1!$D$2:$D$6</c:f>
              <c:numCache>
                <c:formatCode>General</c:formatCode>
                <c:ptCount val="5"/>
                <c:pt idx="0">
                  <c:v>34.0</c:v>
                </c:pt>
                <c:pt idx="1">
                  <c:v>40.4</c:v>
                </c:pt>
                <c:pt idx="2">
                  <c:v>62.4</c:v>
                </c:pt>
                <c:pt idx="3">
                  <c:v>30.8</c:v>
                </c:pt>
                <c:pt idx="4">
                  <c:v>12.0</c:v>
                </c:pt>
              </c:numCache>
            </c:numRef>
          </c:val>
        </c:ser>
        <c:ser>
          <c:idx val="3"/>
          <c:order val="3"/>
          <c:tx>
            <c:strRef>
              <c:f>Sheet1!$E$1</c:f>
              <c:strCache>
                <c:ptCount val="1"/>
                <c:pt idx="0">
                  <c:v>0D fit</c:v>
                </c:pt>
              </c:strCache>
            </c:strRef>
          </c:tx>
          <c:spPr>
            <a:solidFill>
              <a:srgbClr val="279989"/>
            </a:solidFill>
          </c:spPr>
          <c:cat>
            <c:strRef>
              <c:f>Sheet1!$A$2:$A$6</c:f>
              <c:strCache>
                <c:ptCount val="5"/>
                <c:pt idx="0">
                  <c:v>TST-STAN-1 · it 1</c:v>
                </c:pt>
                <c:pt idx="1">
                  <c:v>TST-STAN-2 · it 1</c:v>
                </c:pt>
                <c:pt idx="2">
                  <c:v>TST-STAN-3 · it 2</c:v>
                </c:pt>
                <c:pt idx="3">
                  <c:v>TST-STAN-5 · it 1*</c:v>
                </c:pt>
                <c:pt idx="4">
                  <c:v>TST-STAN-9 · it 1</c:v>
                </c:pt>
              </c:strCache>
            </c:strRef>
          </c:cat>
          <c:val>
            <c:numRef>
              <c:f>Sheet1!$E$2:$E$6</c:f>
              <c:numCache>
                <c:formatCode>General</c:formatCode>
                <c:ptCount val="5"/>
                <c:pt idx="0">
                  <c:v>29.3</c:v>
                </c:pt>
                <c:pt idx="1">
                  <c:v>30.9</c:v>
                </c:pt>
                <c:pt idx="2">
                  <c:v>58.7</c:v>
                </c:pt>
                <c:pt idx="3">
                  <c:v>30.8</c:v>
                </c:pt>
                <c:pt idx="4">
                  <c:v>23.2</c:v>
                </c:pt>
              </c:numCache>
            </c:numRef>
          </c:val>
        </c:ser>
        <c:ser>
          <c:idx val="4"/>
          <c:order val="4"/>
          <c:tx>
            <c:strRef>
              <c:f>Sheet1!$F$1</c:f>
              <c:strCache>
                <c:ptCount val="1"/>
                <c:pt idx="0">
                  <c:v>Target</c:v>
                </c:pt>
              </c:strCache>
            </c:strRef>
          </c:tx>
          <c:spPr>
            <a:solidFill>
              <a:srgbClr val="E98300"/>
            </a:solidFill>
          </c:spPr>
          <c:cat>
            <c:strRef>
              <c:f>Sheet1!$A$2:$A$6</c:f>
              <c:strCache>
                <c:ptCount val="5"/>
                <c:pt idx="0">
                  <c:v>TST-STAN-1 · it 1</c:v>
                </c:pt>
                <c:pt idx="1">
                  <c:v>TST-STAN-2 · it 1</c:v>
                </c:pt>
                <c:pt idx="2">
                  <c:v>TST-STAN-3 · it 2</c:v>
                </c:pt>
                <c:pt idx="3">
                  <c:v>TST-STAN-5 · it 1*</c:v>
                </c:pt>
                <c:pt idx="4">
                  <c:v>TST-STAN-9 · it 1</c:v>
                </c:pt>
              </c:strCache>
            </c:strRef>
          </c:cat>
          <c:val>
            <c:numRef>
              <c:f>Sheet1!$F$2:$F$6</c:f>
              <c:numCache>
                <c:formatCode>General</c:formatCode>
                <c:ptCount val="5"/>
                <c:pt idx="0">
                  <c:v>28</c:v>
                </c:pt>
                <c:pt idx="1">
                  <c:v>30</c:v>
                </c:pt>
                <c:pt idx="2">
                  <c:v>58</c:v>
                </c:pt>
                <c:pt idx="3">
                  <c:v>31</c:v>
                </c:pt>
                <c:pt idx="4">
                  <c:v>24</c:v>
                </c:pt>
              </c:numCache>
            </c:numRef>
          </c:val>
        </c:ser>
        <c:dLbls>
          <c:numFmt formatCode="0" sourceLinked="0"/>
          <c:txPr>
            <a:bodyPr/>
            <a:lstStyle/>
            <a:p>
              <a:pPr>
                <a:defRPr sz="600" b="1">
                  <a:solidFill>
                    <a:srgbClr val="2E2D29"/>
                  </a:solidFill>
                </a:defRPr>
              </a:pPr>
            </a:p>
          </c:txPr>
          <c:dLblPos val="outEnd"/>
          <c:showLegendKey val="0"/>
          <c:showVal val="1"/>
          <c:showCatName val="0"/>
          <c:showSerName val="0"/>
          <c:showPercent val="0"/>
          <c:showBubbleSize val="0"/>
          <c:showLeaderLines val="1"/>
        </c:dLbls>
        <c:gapWidth val="45"/>
        <c:overlap val="-5"/>
        <c:axId val="-2068027336"/>
        <c:axId val="-2113994440"/>
      </c:barChart>
      <c:catAx>
        <c:axId val="-2068027336"/>
        <c:scaling>
          <c:orientation val="minMax"/>
        </c:scaling>
        <c:delete val="0"/>
        <c:axPos val="b"/>
        <c:majorTickMark val="out"/>
        <c:minorTickMark val="none"/>
        <c:tickLblPos val="nextTo"/>
        <c:spPr>
          <a:ln>
            <a:solidFill>
              <a:srgbClr val="B5B3AF"/>
            </a:solidFill>
          </a:ln>
        </c:spPr>
        <c:txPr>
          <a:bodyPr/>
          <a:lstStyle/>
          <a:p>
            <a:pPr>
              <a:defRPr sz="700">
                <a:solidFill>
                  <a:srgbClr val="2E2D29"/>
                </a:solidFill>
              </a:defRPr>
            </a:pPr>
          </a:p>
        </c:txPr>
        <c:crossAx val="-2113994440"/>
        <c:crosses val="autoZero"/>
        <c:auto val="1"/>
        <c:lblAlgn val="ctr"/>
        <c:lblOffset val="100"/>
        <c:noMultiLvlLbl val="0"/>
      </c:catAx>
      <c:valAx>
        <c:axId val="-2113994440"/>
        <c:scaling>
          <c:max val="80.0"/>
          <c:min val="0.0"/>
        </c:scaling>
        <c:delete val="0"/>
        <c:axPos val="l"/>
        <c:majorGridlines>
          <c:spPr>
            <a:ln w="6350">
              <a:solidFill>
                <a:srgbClr val="D9D7D4"/>
              </a:solidFill>
            </a:ln>
          </c:spPr>
        </c:majorGridlines>
        <c:majorTickMark val="out"/>
        <c:minorTickMark val="none"/>
        <c:tickLblPos val="nextTo"/>
        <c:spPr>
          <a:ln>
            <a:noFill/>
          </a:ln>
        </c:spPr>
        <c:txPr>
          <a:bodyPr/>
          <a:lstStyle/>
          <a:p>
            <a:pPr>
              <a:defRPr sz="700">
                <a:solidFill>
                  <a:srgbClr val="6B6965"/>
                </a:solidFill>
              </a:defRPr>
            </a:pPr>
          </a:p>
        </c:txPr>
        <c:crossAx val="-2068027336"/>
        <c:crosses val="autoZero"/>
        <c:majorUnit val="20.0"/>
      </c:valAx>
    </c:plotArea>
    <c:legend>
      <c:legendPos val="t"/>
      <c:overlay val="0"/>
      <c:txPr>
        <a:bodyPr/>
        <a:lstStyle/>
        <a:p>
          <a:pPr>
            <a:defRPr sz="700"/>
          </a:pPr>
        </a:p>
      </c:txPr>
    </c:legend>
    <c:dispBlanksAs val="gap"/>
  </c:chart>
  <c:txPr>
    <a:bodyPr/>
    <a:lstStyle/>
    <a:p>
      <a:pPr>
        <a:defRPr sz="700">
          <a:solidFill>
            <a:srgbClr val="6B6965"/>
          </a:solidFill>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Tuned 0D, iteration 2</c:v>
                </c:pt>
              </c:strCache>
            </c:strRef>
          </c:tx>
          <c:spPr>
            <a:solidFill>
              <a:srgbClr val="B6B1A9"/>
            </a:solidFill>
            <a:ln>
              <a:noFill/>
            </a:ln>
          </c:spPr>
          <c:invertIfNegative val="0"/>
          <c:cat>
            <c:strRef>
              <c:f>Sheet1!$A$2:$A$6</c:f>
              <c:strCache>
                <c:ptCount val="5"/>
                <c:pt idx="0">
                  <c:v>TST-STAN-1</c:v>
                </c:pt>
                <c:pt idx="1">
                  <c:v>TST-STAN-2</c:v>
                </c:pt>
                <c:pt idx="2">
                  <c:v>TST-STAN-3</c:v>
                </c:pt>
                <c:pt idx="3">
                  <c:v>TST-STAN-5</c:v>
                </c:pt>
                <c:pt idx="4">
                  <c:v>TST-STAN-9</c:v>
                </c:pt>
              </c:strCache>
            </c:strRef>
          </c:cat>
          <c:val>
            <c:numRef>
              <c:f>Sheet1!$B$2:$B$6</c:f>
              <c:numCache>
                <c:formatCode>General</c:formatCode>
                <c:ptCount val="5"/>
                <c:pt idx="0">
                  <c:v>5.197</c:v>
                </c:pt>
                <c:pt idx="1">
                  <c:v>2.008</c:v>
                </c:pt>
                <c:pt idx="2">
                  <c:v>1.479</c:v>
                </c:pt>
                <c:pt idx="3">
                  <c:v>8.386</c:v>
                </c:pt>
                <c:pt idx="4">
                  <c:v>0.919</c:v>
                </c:pt>
              </c:numCache>
            </c:numRef>
          </c:val>
        </c:ser>
        <c:ser>
          <c:idx val="1"/>
          <c:order val="1"/>
          <c:tx>
            <c:strRef>
              <c:f>Sheet1!$C$1</c:f>
              <c:strCache>
                <c:ptCount val="1"/>
                <c:pt idx="0">
                  <c:v>Matched 0D (R, then C)</c:v>
                </c:pt>
              </c:strCache>
            </c:strRef>
          </c:tx>
          <c:spPr>
            <a:solidFill>
              <a:srgbClr val="8C1515"/>
            </a:solidFill>
            <a:ln>
              <a:noFill/>
            </a:ln>
          </c:spPr>
          <c:invertIfNegative val="0"/>
          <c:cat>
            <c:strRef>
              <c:f>Sheet1!$A$2:$A$6</c:f>
              <c:strCache>
                <c:ptCount val="5"/>
                <c:pt idx="0">
                  <c:v>TST-STAN-1</c:v>
                </c:pt>
                <c:pt idx="1">
                  <c:v>TST-STAN-2</c:v>
                </c:pt>
                <c:pt idx="2">
                  <c:v>TST-STAN-3</c:v>
                </c:pt>
                <c:pt idx="3">
                  <c:v>TST-STAN-5</c:v>
                </c:pt>
                <c:pt idx="4">
                  <c:v>TST-STAN-9</c:v>
                </c:pt>
              </c:strCache>
            </c:strRef>
          </c:cat>
          <c:val>
            <c:numRef>
              <c:f>Sheet1!$C$2:$C$6</c:f>
              <c:numCache>
                <c:formatCode>General</c:formatCode>
                <c:ptCount val="5"/>
                <c:pt idx="0">
                  <c:v>5.532</c:v>
                </c:pt>
                <c:pt idx="1">
                  <c:v>0.369</c:v>
                </c:pt>
                <c:pt idx="2">
                  <c:v>2.226</c:v>
                </c:pt>
                <c:pt idx="3">
                  <c:v>8.589</c:v>
                </c:pt>
                <c:pt idx="4">
                  <c:v>1.188</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9D7D4"/>
            </a:solidFill>
          </a:ln>
        </c:spPr>
        <c:txPr>
          <a:bodyPr/>
          <a:lstStyle/>
          <a:p>
            <a:pPr>
              <a:defRPr sz="1100"/>
            </a:pPr>
          </a:p>
        </c:txPr>
        <c:crossAx val="-2113994440"/>
        <c:crosses val="autoZero"/>
        <c:auto val="1"/>
        <c:lblAlgn val="ctr"/>
        <c:lblOffset val="100"/>
        <c:noMultiLvlLbl val="0"/>
      </c:catAx>
      <c:valAx>
        <c:axId val="-2113994440"/>
        <c:scaling>
          <c:max val="10.0"/>
          <c:min val="0.0"/>
        </c:scaling>
        <c:delete val="0"/>
        <c:axPos val="l"/>
        <c:majorGridlines>
          <c:spPr>
            <a:ln>
              <a:solidFill>
                <a:srgbClr val="D9D7D4"/>
              </a:solidFill>
            </a:ln>
          </c:spPr>
        </c:majorGridlines>
        <c:majorTickMark val="out"/>
        <c:minorTickMark val="none"/>
        <c:tickLblPos val="nextTo"/>
        <c:spPr>
          <a:ln>
            <a:noFill/>
          </a:ln>
        </c:spPr>
        <c:txPr>
          <a:bodyPr/>
          <a:lstStyle/>
          <a:p>
            <a:pPr>
              <a:defRPr sz="1100"/>
            </a:pPr>
          </a:p>
        </c:txPr>
        <c:crossAx val="-2068027336"/>
        <c:crosses val="autoZero"/>
        <c:majorUnit val="2.0"/>
      </c:valAx>
    </c:plotArea>
    <c:legend>
      <c:legendPos val="t"/>
      <c:overlay val="0"/>
      <c:txPr>
        <a:bodyPr/>
        <a:lstStyle/>
        <a:p>
          <a:pPr>
            <a:defRPr sz="1100"/>
          </a:pPr>
        </a:p>
      </c:txPr>
    </c:legend>
    <c:dispBlanksAs val="gap"/>
  </c:chart>
  <c:txPr>
    <a:bodyPr/>
    <a:lstStyle/>
    <a:p>
      <a:pPr>
        <a:defRPr sz="1100">
          <a:solidFill>
            <a:srgbClr val="2E2D29"/>
          </a:solidFill>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Iter. 1</c:v>
                </c:pt>
              </c:strCache>
            </c:strRef>
          </c:tx>
          <c:spPr>
            <a:solidFill>
              <a:srgbClr val="D9D7D4"/>
            </a:solidFill>
            <a:ln>
              <a:noFill/>
            </a:ln>
          </c:spPr>
          <c:invertIfNegative val="0"/>
          <c:cat>
            <c:strRef>
              <c:f>Sheet1!$A$2:$A$6</c:f>
              <c:strCache>
                <c:ptCount val="5"/>
                <c:pt idx="0">
                  <c:v>TST-STAN-1</c:v>
                </c:pt>
                <c:pt idx="1">
                  <c:v>TST-STAN-2</c:v>
                </c:pt>
                <c:pt idx="2">
                  <c:v>TST-STAN-3</c:v>
                </c:pt>
                <c:pt idx="3">
                  <c:v>TST-STAN-5</c:v>
                </c:pt>
                <c:pt idx="4">
                  <c:v>TST-STAN-9</c:v>
                </c:pt>
              </c:strCache>
            </c:strRef>
          </c:cat>
          <c:val>
            <c:numRef>
              <c:f>Sheet1!$B$2:$B$6</c:f>
              <c:numCache>
                <c:formatCode>General</c:formatCode>
                <c:ptCount val="5"/>
                <c:pt idx="0">
                  <c:v>7.9</c:v>
                </c:pt>
                <c:pt idx="1">
                  <c:v>20.7</c:v>
                </c:pt>
                <c:pt idx="2">
                  <c:v>22.4</c:v>
                </c:pt>
                <c:pt idx="3">
                  <c:v>0.9</c:v>
                </c:pt>
                <c:pt idx="4">
                  <c:v>2.0</c:v>
                </c:pt>
              </c:numCache>
            </c:numRef>
          </c:val>
        </c:ser>
        <c:ser>
          <c:idx val="1"/>
          <c:order val="1"/>
          <c:tx>
            <c:strRef>
              <c:f>Sheet1!$C$1</c:f>
              <c:strCache>
                <c:ptCount val="1"/>
                <c:pt idx="0">
                  <c:v>Iter. 2</c:v>
                </c:pt>
              </c:strCache>
            </c:strRef>
          </c:tx>
          <c:spPr>
            <a:solidFill>
              <a:srgbClr val="B6B1A9"/>
            </a:solidFill>
            <a:ln>
              <a:noFill/>
            </a:ln>
          </c:spPr>
          <c:invertIfNegative val="0"/>
          <c:cat>
            <c:strRef>
              <c:f>Sheet1!$A$2:$A$6</c:f>
              <c:strCache>
                <c:ptCount val="5"/>
                <c:pt idx="0">
                  <c:v>TST-STAN-1</c:v>
                </c:pt>
                <c:pt idx="1">
                  <c:v>TST-STAN-2</c:v>
                </c:pt>
                <c:pt idx="2">
                  <c:v>TST-STAN-3</c:v>
                </c:pt>
                <c:pt idx="3">
                  <c:v>TST-STAN-5</c:v>
                </c:pt>
                <c:pt idx="4">
                  <c:v>TST-STAN-9</c:v>
                </c:pt>
              </c:strCache>
            </c:strRef>
          </c:cat>
          <c:val>
            <c:numRef>
              <c:f>Sheet1!$C$2:$C$6</c:f>
              <c:numCache>
                <c:formatCode>General</c:formatCode>
                <c:ptCount val="5"/>
                <c:pt idx="0">
                  <c:v>6.7</c:v>
                </c:pt>
                <c:pt idx="1">
                  <c:v>8.1</c:v>
                </c:pt>
                <c:pt idx="2">
                  <c:v>7.8</c:v>
                </c:pt>
                <c:pt idx="3">
                  <c:v>0.9</c:v>
                </c:pt>
                <c:pt idx="4">
                  <c:v>3.7</c:v>
                </c:pt>
              </c:numCache>
            </c:numRef>
          </c:val>
        </c:ser>
        <c:ser>
          <c:idx val="2"/>
          <c:order val="2"/>
          <c:tx>
            <c:strRef>
              <c:f>Sheet1!$D$1</c:f>
              <c:strCache>
                <c:ptCount val="1"/>
                <c:pt idx="0">
                  <c:v>Iter. 3, wall corrected</c:v>
                </c:pt>
              </c:strCache>
            </c:strRef>
          </c:tx>
          <c:spPr>
            <a:solidFill>
              <a:srgbClr val="8C1515"/>
            </a:solidFill>
            <a:ln>
              <a:noFill/>
            </a:ln>
          </c:spPr>
          <c:invertIfNegative val="0"/>
          <c:cat>
            <c:strRef>
              <c:f>Sheet1!$A$2:$A$6</c:f>
              <c:strCache>
                <c:ptCount val="5"/>
                <c:pt idx="0">
                  <c:v>TST-STAN-1</c:v>
                </c:pt>
                <c:pt idx="1">
                  <c:v>TST-STAN-2</c:v>
                </c:pt>
                <c:pt idx="2">
                  <c:v>TST-STAN-3</c:v>
                </c:pt>
                <c:pt idx="3">
                  <c:v>TST-STAN-5</c:v>
                </c:pt>
                <c:pt idx="4">
                  <c:v>TST-STAN-9</c:v>
                </c:pt>
              </c:strCache>
            </c:strRef>
          </c:cat>
          <c:val>
            <c:numRef>
              <c:f>Sheet1!$D$2:$D$6</c:f>
              <c:numCache>
                <c:formatCode>General</c:formatCode>
                <c:ptCount val="5"/>
                <c:pt idx="0">
                  <c:v>-2.6</c:v>
                </c:pt>
                <c:pt idx="1">
                  <c:v>-1.6</c:v>
                </c:pt>
                <c:pt idx="2">
                  <c:v>0.6</c:v>
                </c:pt>
                <c:pt idx="3">
                  <c:v>-0.6</c:v>
                </c:pt>
                <c:pt idx="4">
                  <c:v>-0.5</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low"/>
        <c:spPr>
          <a:ln>
            <a:solidFill>
              <a:srgbClr val="D9D7D4"/>
            </a:solidFill>
          </a:ln>
        </c:spPr>
        <c:txPr>
          <a:bodyPr/>
          <a:lstStyle/>
          <a:p>
            <a:pPr>
              <a:defRPr sz="1100"/>
            </a:pPr>
          </a:p>
        </c:txPr>
        <c:crossAx val="-2113994440"/>
        <c:crosses val="autoZero"/>
        <c:auto val="1"/>
        <c:lblAlgn val="ctr"/>
        <c:lblOffset val="100"/>
        <c:noMultiLvlLbl val="0"/>
      </c:catAx>
      <c:valAx>
        <c:axId val="-2113994440"/>
        <c:scaling>
          <c:max val="25.0"/>
          <c:min val="-5.0"/>
        </c:scaling>
        <c:delete val="0"/>
        <c:axPos val="l"/>
        <c:majorGridlines>
          <c:spPr>
            <a:ln>
              <a:solidFill>
                <a:srgbClr val="D9D7D4"/>
              </a:solidFill>
            </a:ln>
          </c:spPr>
        </c:majorGridlines>
        <c:majorTickMark val="out"/>
        <c:minorTickMark val="none"/>
        <c:tickLblPos val="nextTo"/>
        <c:spPr>
          <a:ln>
            <a:noFill/>
          </a:ln>
        </c:spPr>
        <c:txPr>
          <a:bodyPr/>
          <a:lstStyle/>
          <a:p>
            <a:pPr>
              <a:defRPr sz="1100"/>
            </a:pPr>
          </a:p>
        </c:txPr>
        <c:crossAx val="-2068027336"/>
        <c:crosses val="autoZero"/>
        <c:majorUnit val="5.0"/>
      </c:valAx>
    </c:plotArea>
    <c:legend>
      <c:legendPos val="t"/>
      <c:overlay val="0"/>
      <c:txPr>
        <a:bodyPr/>
        <a:lstStyle/>
        <a:p>
          <a:pPr>
            <a:defRPr sz="1100"/>
          </a:pPr>
        </a:p>
      </c:txPr>
    </c:legend>
    <c:dispBlanksAs val="gap"/>
  </c:chart>
  <c:txPr>
    <a:bodyPr/>
    <a:lstStyle/>
    <a:p>
      <a:pPr>
        <a:defRPr sz="1100">
          <a:solidFill>
            <a:srgbClr val="2E2D29"/>
          </a:solidFill>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resistance</c:v>
                </c:pt>
              </c:strCache>
            </c:strRef>
          </c:tx>
          <c:spPr>
            <a:solidFill>
              <a:srgbClr val="8C1515"/>
            </a:solidFill>
            <a:ln>
              <a:noFill/>
            </a:ln>
          </c:spPr>
          <c:invertIfNegative val="0"/>
          <c:cat>
            <c:strRef>
              <c:f>Sheet1!$A$2:$A$4</c:f>
              <c:strCache>
                <c:ptCount val="3"/>
                <c:pt idx="0">
                  <c:v>1.0 × nominal</c:v>
                </c:pt>
                <c:pt idx="1">
                  <c:v>0.9 × nominal</c:v>
                </c:pt>
                <c:pt idx="2">
                  <c:v>0.8 × nominal</c:v>
                </c:pt>
              </c:strCache>
            </c:strRef>
          </c:cat>
          <c:val>
            <c:numRef>
              <c:f>Sheet1!$B$2:$B$4</c:f>
              <c:numCache>
                <c:formatCode>General</c:formatCode>
                <c:ptCount val="3"/>
                <c:pt idx="0">
                  <c:v>1.0</c:v>
                </c:pt>
                <c:pt idx="1">
                  <c:v>1.52</c:v>
                </c:pt>
                <c:pt idx="2">
                  <c:v>2.44</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D9D7D4"/>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D9D7D4"/>
              </a:solidFill>
            </a:ln>
          </c:spPr>
        </c:majorGridlines>
        <c:title>
          <c:tx>
            <c:rich>
              <a:bodyPr/>
              <a:lstStyle/>
              <a:p>
                <a:r>
                  <a:rPr sz="1100" b="0"/>
                  <a:t>R / R nominal</a:t>
                </a:r>
              </a:p>
            </c:rich>
          </c:tx>
          <c:layout/>
          <c:overlay val="0"/>
        </c:title>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2E2D29"/>
          </a:solidFill>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0D fit</c:v>
                </c:pt>
              </c:strCache>
            </c:strRef>
          </c:tx>
          <c:spPr>
            <a:solidFill>
              <a:srgbClr val="8C1515"/>
            </a:solidFill>
            <a:ln>
              <a:noFill/>
            </a:ln>
          </c:spPr>
          <c:invertIfNegative val="0"/>
          <c:cat>
            <c:strRef>
              <c:f>Sheet1!$A$2:$A$6</c:f>
              <c:strCache>
                <c:ptCount val="5"/>
                <c:pt idx="0">
                  <c:v>TST-STAN-5</c:v>
                </c:pt>
                <c:pt idx="1">
                  <c:v>TST-STAN-9</c:v>
                </c:pt>
                <c:pt idx="2">
                  <c:v>TST-STAN-1</c:v>
                </c:pt>
                <c:pt idx="3">
                  <c:v>TST-STAN-3</c:v>
                </c:pt>
                <c:pt idx="4">
                  <c:v>TST-STAN-2</c:v>
                </c:pt>
              </c:strCache>
            </c:strRef>
          </c:cat>
          <c:val>
            <c:numRef>
              <c:f>Sheet1!$B$2:$B$6</c:f>
              <c:numCache>
                <c:formatCode>General</c:formatCode>
                <c:ptCount val="5"/>
                <c:pt idx="0">
                  <c:v>0.85</c:v>
                </c:pt>
                <c:pt idx="1">
                  <c:v>0.9</c:v>
                </c:pt>
                <c:pt idx="2">
                  <c:v>1.0</c:v>
                </c:pt>
                <c:pt idx="3">
                  <c:v>0.5</c:v>
                </c:pt>
                <c:pt idx="4">
                  <c:v>0.85</c:v>
                </c:pt>
              </c:numCache>
            </c:numRef>
          </c:val>
        </c:ser>
        <c:ser>
          <c:idx val="1"/>
          <c:order val="1"/>
          <c:tx>
            <c:strRef>
              <c:f>Sheet1!$C$1</c:f>
              <c:strCache>
                <c:ptCount val="1"/>
                <c:pt idx="0">
                  <c:v>3D run</c:v>
                </c:pt>
              </c:strCache>
            </c:strRef>
          </c:tx>
          <c:spPr>
            <a:solidFill>
              <a:srgbClr val="6B6965"/>
            </a:solidFill>
            <a:ln>
              <a:noFill/>
            </a:ln>
          </c:spPr>
          <c:invertIfNegative val="0"/>
          <c:cat>
            <c:strRef>
              <c:f>Sheet1!$A$2:$A$6</c:f>
              <c:strCache>
                <c:ptCount val="5"/>
                <c:pt idx="0">
                  <c:v>TST-STAN-5</c:v>
                </c:pt>
                <c:pt idx="1">
                  <c:v>TST-STAN-9</c:v>
                </c:pt>
                <c:pt idx="2">
                  <c:v>TST-STAN-1</c:v>
                </c:pt>
                <c:pt idx="3">
                  <c:v>TST-STAN-3</c:v>
                </c:pt>
                <c:pt idx="4">
                  <c:v>TST-STAN-2</c:v>
                </c:pt>
              </c:strCache>
            </c:strRef>
          </c:cat>
          <c:val>
            <c:numRef>
              <c:f>Sheet1!$C$2:$C$6</c:f>
              <c:numCache>
                <c:formatCode>General</c:formatCode>
                <c:ptCount val="5"/>
                <c:pt idx="0">
                  <c:v>1.0</c:v>
                </c:pt>
                <c:pt idx="1">
                  <c:v>1.5</c:v>
                </c:pt>
                <c:pt idx="2">
                  <c:v>2.2</c:v>
                </c:pt>
                <c:pt idx="3">
                  <c:v>3.25</c:v>
                </c:pt>
                <c:pt idx="4">
                  <c:v>3.25</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9D7D4"/>
            </a:solidFill>
          </a:ln>
        </c:spPr>
        <c:txPr>
          <a:bodyPr/>
          <a:lstStyle/>
          <a:p>
            <a:pPr>
              <a:defRPr sz="1000"/>
            </a:pPr>
          </a:p>
        </c:txPr>
        <c:crossAx val="-2113994440"/>
        <c:crosses val="autoZero"/>
        <c:auto val="1"/>
        <c:lblAlgn val="ctr"/>
        <c:lblOffset val="100"/>
        <c:noMultiLvlLbl val="0"/>
      </c:catAx>
      <c:valAx>
        <c:axId val="-2113994440"/>
        <c:scaling>
          <c:max val="4.0"/>
          <c:min val="0.0"/>
        </c:scaling>
        <c:delete val="0"/>
        <c:axPos val="l"/>
        <c:majorGridlines>
          <c:spPr>
            <a:ln>
              <a:solidFill>
                <a:srgbClr val="D9D7D4"/>
              </a:solidFill>
            </a:ln>
          </c:spPr>
        </c:majorGridlines>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solidFill>
            <a:srgbClr val="2E2D29"/>
          </a:solidFill>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Pulse minus target</c:v>
                </c:pt>
              </c:strCache>
            </c:strRef>
          </c:tx>
          <c:spPr>
            <a:solidFill>
              <a:srgbClr val="6B6965"/>
            </a:solidFill>
            <a:ln>
              <a:noFill/>
            </a:ln>
          </c:spPr>
          <c:invertIfNegative val="0"/>
          <c:dPt>
            <c:idx val="0"/>
            <c:invertIfNegative val="0"/>
            <c:spPr>
              <a:solidFill>
                <a:srgbClr val="8C1515"/>
              </a:solidFill>
            </c:spPr>
          </c:dPt>
          <c:dPt>
            <c:idx val="1"/>
            <c:invertIfNegative val="0"/>
            <c:spPr>
              <a:solidFill>
                <a:srgbClr val="6B6965"/>
              </a:solidFill>
            </c:spPr>
          </c:dPt>
          <c:dPt>
            <c:idx val="2"/>
            <c:invertIfNegative val="0"/>
            <c:spPr>
              <a:solidFill>
                <a:srgbClr val="E98300"/>
              </a:solidFill>
            </c:spPr>
          </c:dPt>
          <c:dPt>
            <c:idx val="3"/>
            <c:invertIfNegative val="0"/>
            <c:spPr>
              <a:solidFill>
                <a:srgbClr val="E98300"/>
              </a:solidFill>
            </c:spPr>
          </c:dPt>
          <c:cat>
            <c:strRef>
              <c:f>Sheet1!$A$2:$A$5</c:f>
              <c:strCache>
                <c:ptCount val="4"/>
                <c:pt idx="0">
                  <c:v>0D fit, iter. 2</c:v>
                </c:pt>
                <c:pt idx="1">
                  <c:v>3D, no correction</c:v>
                </c:pt>
                <c:pt idx="2">
                  <c:v>A: E × 0.605</c:v>
                </c:pt>
                <c:pt idx="3">
                  <c:v>B: E × 0.633</c:v>
                </c:pt>
              </c:strCache>
            </c:strRef>
          </c:cat>
          <c:val>
            <c:numRef>
              <c:f>Sheet1!$B$2:$B$5</c:f>
              <c:numCache>
                <c:formatCode>General</c:formatCode>
                <c:ptCount val="4"/>
                <c:pt idx="0">
                  <c:v>-0.3</c:v>
                </c:pt>
                <c:pt idx="1">
                  <c:v>7.8</c:v>
                </c:pt>
                <c:pt idx="2">
                  <c:v>-6.7</c:v>
                </c:pt>
                <c:pt idx="3">
                  <c:v>-5.4</c:v>
                </c:pt>
              </c:numCache>
            </c:numRef>
          </c:val>
        </c:ser>
        <c:dLbls>
          <c:numFmt formatCode="+0.0;-0.0;0.0"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low"/>
        <c:spPr>
          <a:ln>
            <a:solidFill>
              <a:srgbClr val="D9D7D4"/>
            </a:solidFill>
          </a:ln>
        </c:spPr>
        <c:txPr>
          <a:bodyPr/>
          <a:lstStyle/>
          <a:p>
            <a:pPr>
              <a:defRPr sz="1100"/>
            </a:pPr>
          </a:p>
        </c:txPr>
        <c:crossAx val="-2113994440"/>
        <c:crosses val="autoZero"/>
        <c:auto val="1"/>
        <c:lblAlgn val="ctr"/>
        <c:lblOffset val="100"/>
        <c:noMultiLvlLbl val="0"/>
      </c:catAx>
      <c:valAx>
        <c:axId val="-2113994440"/>
        <c:scaling>
          <c:max val="10.0"/>
          <c:min val="-10.0"/>
        </c:scaling>
        <c:delete val="0"/>
        <c:axPos val="b"/>
        <c:majorGridlines>
          <c:spPr>
            <a:ln>
              <a:solidFill>
                <a:srgbClr val="D9D7D4"/>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2E2D29"/>
          </a:solidFill>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Split error</c:v>
                </c:pt>
              </c:strCache>
            </c:strRef>
          </c:tx>
          <c:spPr>
            <a:solidFill>
              <a:srgbClr val="8C1515"/>
            </a:solidFill>
          </c:spPr>
          <c:invertIfNegative val="0"/>
          <c:cat>
            <c:strRef>
              <c:f>Sheet1!$A$2:$A$6</c:f>
              <c:strCache>
                <c:ptCount val="5"/>
                <c:pt idx="0">
                  <c:v>1</c:v>
                </c:pt>
                <c:pt idx="1">
                  <c:v>2</c:v>
                </c:pt>
                <c:pt idx="2">
                  <c:v>3</c:v>
                </c:pt>
                <c:pt idx="3">
                  <c:v>5</c:v>
                </c:pt>
                <c:pt idx="4">
                  <c:v>9</c:v>
                </c:pt>
              </c:strCache>
            </c:strRef>
          </c:cat>
          <c:val>
            <c:numRef>
              <c:f>Sheet1!$B$2:$B$6</c:f>
              <c:numCache>
                <c:formatCode>General</c:formatCode>
                <c:ptCount val="5"/>
                <c:pt idx="0">
                  <c:v>-0.021</c:v>
                </c:pt>
                <c:pt idx="1">
                  <c:v>0.037</c:v>
                </c:pt>
                <c:pt idx="2">
                  <c:v>0.002</c:v>
                </c:pt>
                <c:pt idx="3">
                  <c:v>0.02</c:v>
                </c:pt>
                <c:pt idx="4">
                  <c:v>-0.02</c:v>
                </c:pt>
              </c:numCache>
            </c:numRef>
          </c:val>
        </c:ser>
        <c:dLbls>
          <c:numFmt formatCode="+0.000;-0.000" sourceLinked="0"/>
          <c:txPr>
            <a:bodyPr/>
            <a:lstStyle/>
            <a:p>
              <a:pPr>
                <a:defRPr sz="1000"/>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title>
          <c:tx>
            <c:rich>
              <a:bodyPr/>
              <a:lstStyle/>
              <a:p>
                <a:r>
                  <a:rPr sz="1000" b="0"/>
                  <a:t>TST-STAN-</a:t>
                </a:r>
              </a:p>
            </c:rich>
          </c:tx>
          <c:layout/>
          <c:overlay val="0"/>
        </c:title>
        <c:majorTickMark val="out"/>
        <c:minorTickMark val="none"/>
        <c:tickLblPos val="low"/>
        <c:spPr>
          <a:ln>
            <a:solidFill>
              <a:srgbClr val="6B6965"/>
            </a:solidFill>
          </a:ln>
        </c:spPr>
        <c:txPr>
          <a:bodyPr/>
          <a:lstStyle/>
          <a:p>
            <a:pPr>
              <a:defRPr sz="1100">
                <a:solidFill>
                  <a:srgbClr val="2E2D29"/>
                </a:solidFill>
                <a:latin typeface="Calibri"/>
              </a:defRPr>
            </a:pPr>
          </a:p>
        </c:txPr>
        <c:crossAx val="-2113994440"/>
        <c:crosses val="autoZero"/>
        <c:auto val="1"/>
        <c:lblAlgn val="ctr"/>
        <c:lblOffset val="100"/>
        <c:noMultiLvlLbl val="0"/>
      </c:catAx>
      <c:valAx>
        <c:axId val="-2113994440"/>
        <c:scaling>
          <c:max val="0.06"/>
          <c:min val="-0.04"/>
        </c:scaling>
        <c:delete val="0"/>
        <c:axPos val="l"/>
        <c:majorGridlines>
          <c:spPr>
            <a:ln>
              <a:solidFill>
                <a:srgbClr val="D9D7D4"/>
              </a:solidFill>
            </a:ln>
          </c:spPr>
        </c:majorGridlines>
        <c:numFmt formatCode="+0.00;-0.00;0" sourceLinked="0"/>
        <c:majorTickMark val="out"/>
        <c:minorTickMark val="none"/>
        <c:tickLblPos val="nextTo"/>
        <c:spPr>
          <a:ln>
            <a:noFill/>
          </a:ln>
        </c:spPr>
        <c:txPr>
          <a:bodyPr/>
          <a:lstStyle/>
          <a:p>
            <a:pPr>
              <a:defRPr sz="1000">
                <a:solidFill>
                  <a:srgbClr val="6B6965"/>
                </a:solidFill>
                <a:latin typeface="Calibri"/>
              </a:defRPr>
            </a:pPr>
          </a:p>
        </c:txPr>
        <c:crossAx val="-2068027336"/>
        <c:crosses val="autoZero"/>
        <c:majorUnit val="0.02"/>
      </c:valAx>
    </c:plotArea>
    <c:dispBlanksAs val="gap"/>
  </c:chart>
  <c:txPr>
    <a:bodyPr/>
    <a:lstStyle/>
    <a:p>
      <a:pPr>
        <a:defRPr sz="11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Systolic</c:v>
                </c:pt>
              </c:strCache>
            </c:strRef>
          </c:tx>
          <c:spPr>
            <a:solidFill>
              <a:srgbClr val="8C1515"/>
            </a:solidFill>
          </c:spPr>
          <c:invertIfNegative val="0"/>
          <c:cat>
            <c:strRef>
              <c:f>Sheet1!$A$2:$A$6</c:f>
              <c:strCache>
                <c:ptCount val="5"/>
                <c:pt idx="0">
                  <c:v>TST-STAN-1</c:v>
                </c:pt>
                <c:pt idx="1">
                  <c:v>TST-STAN-2</c:v>
                </c:pt>
                <c:pt idx="2">
                  <c:v>TST-STAN-3</c:v>
                </c:pt>
                <c:pt idx="3">
                  <c:v>TST-STAN-5</c:v>
                </c:pt>
                <c:pt idx="4">
                  <c:v>TST-STAN-9</c:v>
                </c:pt>
              </c:strCache>
            </c:strRef>
          </c:cat>
          <c:val>
            <c:numRef>
              <c:f>Sheet1!$B$2:$B$6</c:f>
              <c:numCache>
                <c:formatCode>General</c:formatCode>
                <c:ptCount val="5"/>
                <c:pt idx="0">
                  <c:v>-1.99</c:v>
                </c:pt>
                <c:pt idx="1">
                  <c:v>-1.79</c:v>
                </c:pt>
                <c:pt idx="2">
                  <c:v>0.19</c:v>
                </c:pt>
                <c:pt idx="3">
                  <c:v>-0.07</c:v>
                </c:pt>
                <c:pt idx="4">
                  <c:v>-0.42</c:v>
                </c:pt>
              </c:numCache>
            </c:numRef>
          </c:val>
        </c:ser>
        <c:ser>
          <c:idx val="1"/>
          <c:order val="1"/>
          <c:tx>
            <c:strRef>
              <c:f>Sheet1!$C$1</c:f>
              <c:strCache>
                <c:ptCount val="1"/>
                <c:pt idx="0">
                  <c:v>Diastolic</c:v>
                </c:pt>
              </c:strCache>
            </c:strRef>
          </c:tx>
          <c:spPr>
            <a:solidFill>
              <a:srgbClr val="620059"/>
            </a:solidFill>
          </c:spPr>
          <c:invertIfNegative val="0"/>
          <c:cat>
            <c:strRef>
              <c:f>Sheet1!$A$2:$A$6</c:f>
              <c:strCache>
                <c:ptCount val="5"/>
                <c:pt idx="0">
                  <c:v>TST-STAN-1</c:v>
                </c:pt>
                <c:pt idx="1">
                  <c:v>TST-STAN-2</c:v>
                </c:pt>
                <c:pt idx="2">
                  <c:v>TST-STAN-3</c:v>
                </c:pt>
                <c:pt idx="3">
                  <c:v>TST-STAN-5</c:v>
                </c:pt>
                <c:pt idx="4">
                  <c:v>TST-STAN-9</c:v>
                </c:pt>
              </c:strCache>
            </c:strRef>
          </c:cat>
          <c:val>
            <c:numRef>
              <c:f>Sheet1!$C$2:$C$6</c:f>
              <c:numCache>
                <c:formatCode>General</c:formatCode>
                <c:ptCount val="5"/>
                <c:pt idx="0">
                  <c:v>0.61</c:v>
                </c:pt>
                <c:pt idx="1">
                  <c:v>-0.15</c:v>
                </c:pt>
                <c:pt idx="2">
                  <c:v>-0.4</c:v>
                </c:pt>
                <c:pt idx="3">
                  <c:v>0.5</c:v>
                </c:pt>
                <c:pt idx="4">
                  <c:v>0.07</c:v>
                </c:pt>
              </c:numCache>
            </c:numRef>
          </c:val>
        </c:ser>
        <c:ser>
          <c:idx val="2"/>
          <c:order val="2"/>
          <c:tx>
            <c:strRef>
              <c:f>Sheet1!$D$1</c:f>
              <c:strCache>
                <c:ptCount val="1"/>
                <c:pt idx="0">
                  <c:v>Mean</c:v>
                </c:pt>
              </c:strCache>
            </c:strRef>
          </c:tx>
          <c:spPr>
            <a:solidFill>
              <a:srgbClr val="6B6965"/>
            </a:solidFill>
          </c:spPr>
          <c:invertIfNegative val="0"/>
          <c:cat>
            <c:strRef>
              <c:f>Sheet1!$A$2:$A$6</c:f>
              <c:strCache>
                <c:ptCount val="5"/>
                <c:pt idx="0">
                  <c:v>TST-STAN-1</c:v>
                </c:pt>
                <c:pt idx="1">
                  <c:v>TST-STAN-2</c:v>
                </c:pt>
                <c:pt idx="2">
                  <c:v>TST-STAN-3</c:v>
                </c:pt>
                <c:pt idx="3">
                  <c:v>TST-STAN-5</c:v>
                </c:pt>
                <c:pt idx="4">
                  <c:v>TST-STAN-9</c:v>
                </c:pt>
              </c:strCache>
            </c:strRef>
          </c:cat>
          <c:val>
            <c:numRef>
              <c:f>Sheet1!$D$2:$D$6</c:f>
              <c:numCache>
                <c:formatCode>General</c:formatCode>
                <c:ptCount val="5"/>
                <c:pt idx="0">
                  <c:v>-2.08</c:v>
                </c:pt>
                <c:pt idx="1">
                  <c:v>-1.03</c:v>
                </c:pt>
                <c:pt idx="2">
                  <c:v>-2.34</c:v>
                </c:pt>
                <c:pt idx="3">
                  <c:v>-0.17</c:v>
                </c:pt>
                <c:pt idx="4">
                  <c:v>-0.48</c:v>
                </c:pt>
              </c:numCache>
            </c:numRef>
          </c:val>
        </c:ser>
        <c:gapWidth val="60"/>
        <c:overlap val="-10"/>
        <c:axId val="-2068027336"/>
        <c:axId val="-2113994440"/>
      </c:barChart>
      <c:catAx>
        <c:axId val="-2068027336"/>
        <c:scaling>
          <c:orientation val="minMax"/>
        </c:scaling>
        <c:delete val="0"/>
        <c:axPos val="b"/>
        <c:majorTickMark val="out"/>
        <c:minorTickMark val="none"/>
        <c:tickLblPos val="low"/>
        <c:spPr>
          <a:ln>
            <a:solidFill>
              <a:srgbClr val="6B6965"/>
            </a:solidFill>
          </a:ln>
        </c:spPr>
        <c:txPr>
          <a:bodyPr/>
          <a:lstStyle/>
          <a:p>
            <a:pPr>
              <a:defRPr sz="1100">
                <a:solidFill>
                  <a:srgbClr val="2E2D29"/>
                </a:solidFill>
                <a:latin typeface="Calibri"/>
              </a:defRPr>
            </a:pPr>
          </a:p>
        </c:txPr>
        <c:crossAx val="-2113994440"/>
        <c:crosses val="autoZero"/>
        <c:auto val="1"/>
        <c:lblAlgn val="ctr"/>
        <c:lblOffset val="100"/>
        <c:noMultiLvlLbl val="0"/>
      </c:catAx>
      <c:valAx>
        <c:axId val="-2113994440"/>
        <c:scaling>
          <c:max val="4.0"/>
          <c:min val="-4.0"/>
        </c:scaling>
        <c:delete val="0"/>
        <c:axPos val="l"/>
        <c:majorGridlines>
          <c:spPr>
            <a:ln>
              <a:solidFill>
                <a:srgbClr val="D9D7D4"/>
              </a:solidFill>
            </a:ln>
          </c:spPr>
        </c:majorGridlines>
        <c:numFmt formatCode="+0;-0;0" sourceLinked="0"/>
        <c:majorTickMark val="out"/>
        <c:minorTickMark val="none"/>
        <c:tickLblPos val="nextTo"/>
        <c:spPr>
          <a:ln>
            <a:noFill/>
          </a:ln>
        </c:spPr>
        <c:txPr>
          <a:bodyPr/>
          <a:lstStyle/>
          <a:p>
            <a:pPr>
              <a:defRPr sz="1000">
                <a:solidFill>
                  <a:srgbClr val="6B6965"/>
                </a:solidFill>
                <a:latin typeface="Calibri"/>
              </a:defRPr>
            </a:pPr>
          </a:p>
        </c:txPr>
        <c:crossAx val="-2068027336"/>
        <c:crosses val="autoZero"/>
        <c:majorUnit val="2.0"/>
      </c:valAx>
    </c:plotArea>
    <c:legend>
      <c:legendPos val="t"/>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Power-law fit, α = 0.62</c:v>
                </c:pt>
              </c:strCache>
            </c:strRef>
          </c:tx>
          <c:spPr>
            <a:ln w="25400">
              <a:solidFill>
                <a:srgbClr val="8C1515"/>
              </a:solidFill>
            </a:ln>
          </c:spPr>
          <c:marker>
            <c:symbol val="none"/>
          </c:marker>
          <c:xVal>
            <c:numRef>
              <c:f>Sheet1!$A$2:$A$32</c:f>
              <c:numCache>
                <c:formatCode>General</c:formatCode>
                <c:ptCount val="31"/>
                <c:pt idx="0">
                  <c:v>55.0</c:v>
                </c:pt>
                <c:pt idx="1">
                  <c:v>58.0</c:v>
                </c:pt>
                <c:pt idx="2">
                  <c:v>61.0</c:v>
                </c:pt>
                <c:pt idx="3">
                  <c:v>64.0</c:v>
                </c:pt>
                <c:pt idx="4">
                  <c:v>67.0</c:v>
                </c:pt>
                <c:pt idx="5">
                  <c:v>70.0</c:v>
                </c:pt>
                <c:pt idx="6">
                  <c:v>73.0</c:v>
                </c:pt>
                <c:pt idx="7">
                  <c:v>76.0</c:v>
                </c:pt>
                <c:pt idx="8">
                  <c:v>79.0</c:v>
                </c:pt>
                <c:pt idx="9">
                  <c:v>82.0</c:v>
                </c:pt>
                <c:pt idx="10">
                  <c:v>85.0</c:v>
                </c:pt>
                <c:pt idx="11">
                  <c:v>88.0</c:v>
                </c:pt>
                <c:pt idx="12">
                  <c:v>91.0</c:v>
                </c:pt>
                <c:pt idx="13">
                  <c:v>94.0</c:v>
                </c:pt>
                <c:pt idx="14">
                  <c:v>97.0</c:v>
                </c:pt>
                <c:pt idx="15">
                  <c:v>100.0</c:v>
                </c:pt>
                <c:pt idx="16">
                  <c:v>103.0</c:v>
                </c:pt>
                <c:pt idx="17">
                  <c:v>106.0</c:v>
                </c:pt>
                <c:pt idx="18">
                  <c:v>109.0</c:v>
                </c:pt>
                <c:pt idx="19">
                  <c:v>112.0</c:v>
                </c:pt>
                <c:pt idx="20">
                  <c:v>115.0</c:v>
                </c:pt>
                <c:pt idx="21">
                  <c:v>118.0</c:v>
                </c:pt>
                <c:pt idx="22">
                  <c:v>121.0</c:v>
                </c:pt>
                <c:pt idx="23">
                  <c:v>124.0</c:v>
                </c:pt>
                <c:pt idx="24">
                  <c:v>127.0</c:v>
                </c:pt>
                <c:pt idx="25">
                  <c:v>130.0</c:v>
                </c:pt>
                <c:pt idx="26">
                  <c:v>133.0</c:v>
                </c:pt>
                <c:pt idx="27">
                  <c:v>136.0</c:v>
                </c:pt>
                <c:pt idx="28">
                  <c:v>139.0</c:v>
                </c:pt>
                <c:pt idx="29">
                  <c:v>142.0</c:v>
                </c:pt>
                <c:pt idx="30">
                  <c:v>145.0</c:v>
                </c:pt>
              </c:numCache>
            </c:numRef>
          </c:xVal>
          <c:yVal>
            <c:numRef>
              <c:f>Sheet1!$B$2:$B$32</c:f>
              <c:numCache>
                <c:formatCode>General</c:formatCode>
                <c:ptCount val="31"/>
                <c:pt idx="0">
                  <c:v>0.4517749708886503</c:v>
                </c:pt>
                <c:pt idx="1">
                  <c:v>0.43713123496032324</c:v>
                </c:pt>
                <c:pt idx="2">
                  <c:v>0.42366575004360907</c:v>
                </c:pt>
                <c:pt idx="3">
                  <c:v>0.4112324495763584</c:v>
                </c:pt>
                <c:pt idx="4">
                  <c:v>0.3997091563714935</c:v>
                </c:pt>
                <c:pt idx="5">
                  <c:v>0.3889928115246704</c:v>
                </c:pt>
                <c:pt idx="6">
                  <c:v>0.3789958144489533</c:v>
                </c:pt>
                <c:pt idx="7">
                  <c:v>0.3696431813414692</c:v>
                </c:pt>
                <c:pt idx="8">
                  <c:v>0.3608703147431814</c:v>
                </c:pt>
                <c:pt idx="9">
                  <c:v>0.35262123508765447</c:v>
                </c:pt>
                <c:pt idx="10">
                  <c:v>0.34484716552380656</c:v>
                </c:pt>
                <c:pt idx="11">
                  <c:v>0.33750538973492433</c:v>
                </c:pt>
                <c:pt idx="12">
                  <c:v>0.3305583227778115</c:v>
                </c:pt>
                <c:pt idx="13">
                  <c:v>0.3239727496460642</c:v>
                </c:pt>
                <c:pt idx="14">
                  <c:v>0.31771919700324713</c:v>
                </c:pt>
                <c:pt idx="15">
                  <c:v>0.3117714114787565</c:v>
                </c:pt>
                <c:pt idx="16">
                  <c:v>0.3061059238591372</c:v>
                </c:pt>
                <c:pt idx="17">
                  <c:v>0.30070168299016053</c:v>
                </c:pt>
                <c:pt idx="18">
                  <c:v>0.29553974661811405</c:v>
                </c:pt>
                <c:pt idx="19">
                  <c:v>0.2906030190195649</c:v>
                </c:pt>
                <c:pt idx="20">
                  <c:v>0.2858760272972267</c:v>
                </c:pt>
                <c:pt idx="21">
                  <c:v>0.2813447298011264</c:v>
                </c:pt>
                <c:pt idx="22">
                  <c:v>0.2769963513761386</c:v>
                </c:pt>
                <c:pt idx="23">
                  <c:v>0.2728192411185739</c:v>
                </c:pt>
                <c:pt idx="24">
                  <c:v>0.268802749105301</c:v>
                </c:pt>
                <c:pt idx="25">
                  <c:v>0.2649371191836345</c:v>
                </c:pt>
                <c:pt idx="26">
                  <c:v>0.2612133954129552</c:v>
                </c:pt>
                <c:pt idx="27">
                  <c:v>0.25762334015573995</c:v>
                </c:pt>
                <c:pt idx="28">
                  <c:v>0.2541593621464048</c:v>
                </c:pt>
                <c:pt idx="29">
                  <c:v>0.25081445313659856</c:v>
                </c:pt>
                <c:pt idx="30">
                  <c:v>0.24758213193743242</c:v>
                </c:pt>
              </c:numCache>
            </c:numRef>
          </c:yVal>
          <c:smooth val="0"/>
        </c:ser>
        <c:ser>
          <c:idx val="1"/>
          <c:order val="1"/>
          <c:tx>
            <c:strRef>
              <c:f>Sheet1!$B$34</c:f>
              <c:strCache>
                <c:ptCount val="1"/>
                <c:pt idx="0">
                  <c:v>1/E through iteration 2</c:v>
                </c:pt>
              </c:strCache>
            </c:strRef>
          </c:tx>
          <c:spPr>
            <a:ln w="15875">
              <a:solidFill>
                <a:srgbClr val="6B6965"/>
              </a:solidFill>
              <a:prstDash val="dash"/>
            </a:ln>
          </c:spPr>
          <c:marker>
            <c:symbol val="none"/>
          </c:marker>
          <c:xVal>
            <c:numRef>
              <c:f>Sheet1!$A$35:$A$65</c:f>
              <c:numCache>
                <c:formatCode>General</c:formatCode>
                <c:ptCount val="31"/>
                <c:pt idx="0">
                  <c:v>55.0</c:v>
                </c:pt>
                <c:pt idx="1">
                  <c:v>58.0</c:v>
                </c:pt>
                <c:pt idx="2">
                  <c:v>61.0</c:v>
                </c:pt>
                <c:pt idx="3">
                  <c:v>64.0</c:v>
                </c:pt>
                <c:pt idx="4">
                  <c:v>67.0</c:v>
                </c:pt>
                <c:pt idx="5">
                  <c:v>70.0</c:v>
                </c:pt>
                <c:pt idx="6">
                  <c:v>73.0</c:v>
                </c:pt>
                <c:pt idx="7">
                  <c:v>76.0</c:v>
                </c:pt>
                <c:pt idx="8">
                  <c:v>79.0</c:v>
                </c:pt>
                <c:pt idx="9">
                  <c:v>82.0</c:v>
                </c:pt>
                <c:pt idx="10">
                  <c:v>85.0</c:v>
                </c:pt>
                <c:pt idx="11">
                  <c:v>88.0</c:v>
                </c:pt>
                <c:pt idx="12">
                  <c:v>91.0</c:v>
                </c:pt>
                <c:pt idx="13">
                  <c:v>94.0</c:v>
                </c:pt>
                <c:pt idx="14">
                  <c:v>97.0</c:v>
                </c:pt>
                <c:pt idx="15">
                  <c:v>100.0</c:v>
                </c:pt>
                <c:pt idx="16">
                  <c:v>103.0</c:v>
                </c:pt>
                <c:pt idx="17">
                  <c:v>106.0</c:v>
                </c:pt>
                <c:pt idx="18">
                  <c:v>109.0</c:v>
                </c:pt>
                <c:pt idx="19">
                  <c:v>112.0</c:v>
                </c:pt>
                <c:pt idx="20">
                  <c:v>115.0</c:v>
                </c:pt>
                <c:pt idx="21">
                  <c:v>118.0</c:v>
                </c:pt>
                <c:pt idx="22">
                  <c:v>121.0</c:v>
                </c:pt>
                <c:pt idx="23">
                  <c:v>124.0</c:v>
                </c:pt>
                <c:pt idx="24">
                  <c:v>127.0</c:v>
                </c:pt>
                <c:pt idx="25">
                  <c:v>130.0</c:v>
                </c:pt>
                <c:pt idx="26">
                  <c:v>133.0</c:v>
                </c:pt>
                <c:pt idx="27">
                  <c:v>136.0</c:v>
                </c:pt>
                <c:pt idx="28">
                  <c:v>139.0</c:v>
                </c:pt>
                <c:pt idx="29">
                  <c:v>142.0</c:v>
                </c:pt>
                <c:pt idx="30">
                  <c:v>145.0</c:v>
                </c:pt>
              </c:numCache>
            </c:numRef>
          </c:xVal>
          <c:yVal>
            <c:numRef>
              <c:f>Sheet1!$B$35:$B$65</c:f>
              <c:numCache>
                <c:formatCode>General</c:formatCode>
                <c:ptCount val="31"/>
                <c:pt idx="0">
                  <c:v>0.5878909090909091</c:v>
                </c:pt>
                <c:pt idx="1">
                  <c:v>0.5574827586206897</c:v>
                </c:pt>
                <c:pt idx="2">
                  <c:v>0.5300655737704919</c:v>
                </c:pt>
                <c:pt idx="3">
                  <c:v>0.50521875</c:v>
                </c:pt>
                <c:pt idx="4">
                  <c:v>0.48259701492537316</c:v>
                </c:pt>
                <c:pt idx="5">
                  <c:v>0.4619142857142858</c:v>
                </c:pt>
                <c:pt idx="6">
                  <c:v>0.4429315068493151</c:v>
                </c:pt>
                <c:pt idx="7">
                  <c:v>0.4254473684210527</c:v>
                </c:pt>
                <c:pt idx="8">
                  <c:v>0.40929113924050636</c:v>
                </c:pt>
                <c:pt idx="9">
                  <c:v>0.3943170731707317</c:v>
                </c:pt>
                <c:pt idx="10">
                  <c:v>0.3804</c:v>
                </c:pt>
                <c:pt idx="11">
                  <c:v>0.3674318181818182</c:v>
                </c:pt>
                <c:pt idx="12">
                  <c:v>0.35531868131868133</c:v>
                </c:pt>
                <c:pt idx="13">
                  <c:v>0.34397872340425534</c:v>
                </c:pt>
                <c:pt idx="14">
                  <c:v>0.33334020618556703</c:v>
                </c:pt>
                <c:pt idx="15">
                  <c:v>0.32334</c:v>
                </c:pt>
                <c:pt idx="16">
                  <c:v>0.3139223300970874</c:v>
                </c:pt>
                <c:pt idx="17">
                  <c:v>0.30503773584905663</c:v>
                </c:pt>
                <c:pt idx="18">
                  <c:v>0.2966422018348624</c:v>
                </c:pt>
                <c:pt idx="19">
                  <c:v>0.2886964285714286</c:v>
                </c:pt>
                <c:pt idx="20">
                  <c:v>0.2811652173913044</c:v>
                </c:pt>
                <c:pt idx="21">
                  <c:v>0.2740169491525424</c:v>
                </c:pt>
                <c:pt idx="22">
                  <c:v>0.2672231404958678</c:v>
                </c:pt>
                <c:pt idx="23">
                  <c:v>0.26075806451612904</c:v>
                </c:pt>
                <c:pt idx="24">
                  <c:v>0.25459842519685044</c:v>
                </c:pt>
                <c:pt idx="25">
                  <c:v>0.24872307692307694</c:v>
                </c:pt>
                <c:pt idx="26">
                  <c:v>0.24311278195488725</c:v>
                </c:pt>
                <c:pt idx="27">
                  <c:v>0.23775000000000002</c:v>
                </c:pt>
                <c:pt idx="28">
                  <c:v>0.23261870503597123</c:v>
                </c:pt>
                <c:pt idx="29">
                  <c:v>0.2277042253521127</c:v>
                </c:pt>
                <c:pt idx="30">
                  <c:v>0.2229931034482759</c:v>
                </c:pt>
              </c:numCache>
            </c:numRef>
          </c:yVal>
          <c:smooth val="0"/>
        </c:ser>
        <c:ser>
          <c:idx val="2"/>
          <c:order val="2"/>
          <c:tx>
            <c:strRef>
              <c:f>Sheet1!$B$67</c:f>
              <c:strCache>
                <c:ptCount val="1"/>
                <c:pt idx="0">
                  <c:v>Pipeline iterations 1, 2</c:v>
                </c:pt>
              </c:strCache>
            </c:strRef>
          </c:tx>
          <c:spPr>
            <a:ln>
              <a:noFill/>
            </a:ln>
          </c:spPr>
          <c:marker>
            <c:symbol val="circle"/>
            <c:size val="9"/>
            <c:spPr>
              <a:solidFill>
                <a:srgbClr val="8C1515"/>
              </a:solidFill>
              <a:ln w="12700">
                <a:solidFill>
                  <a:srgbClr val="FFFFFF"/>
                </a:solidFill>
              </a:ln>
            </c:spPr>
          </c:marker>
          <c:dLbls>
            <c:dLbl>
              <c:idx val="0"/>
              <c:tx>
                <c:rich>
                  <a:bodyPr/>
                  <a:lstStyle/>
                  <a:p>
                    <a:r>
                      <a:rPr sz="1000">
                        <a:solidFill>
                          <a:srgbClr val="2E2D29"/>
                        </a:solidFill>
                      </a:rPr>
                      <a:t>iter. 1</a:t>
                    </a:r>
                  </a:p>
                </c:rich>
              </c:tx>
              <c:dLblPos val="b"/>
              <c:showLegendKey val="0"/>
              <c:showVal val="1"/>
              <c:showCatName val="0"/>
              <c:showSerName val="0"/>
              <c:showPercent val="0"/>
              <c:showBubbleSize val="0"/>
            </c:dLbl>
            <c:dLbl>
              <c:idx val="1"/>
              <c:tx>
                <c:rich>
                  <a:bodyPr/>
                  <a:lstStyle/>
                  <a:p>
                    <a:r>
                      <a:rPr sz="1000">
                        <a:solidFill>
                          <a:srgbClr val="2E2D29"/>
                        </a:solidFill>
                      </a:rPr>
                      <a:t>iter. 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Sheet1!$A$68:$A$69</c:f>
              <c:numCache>
                <c:formatCode>General</c:formatCode>
                <c:ptCount val="2"/>
                <c:pt idx="0">
                  <c:v>136.9</c:v>
                </c:pt>
                <c:pt idx="1">
                  <c:v>102.0</c:v>
                </c:pt>
              </c:numCache>
            </c:numRef>
          </c:xVal>
          <c:yVal>
            <c:numRef>
              <c:f>Sheet1!$B$68:$B$69</c:f>
              <c:numCache>
                <c:formatCode>General</c:formatCode>
                <c:ptCount val="2"/>
                <c:pt idx="0">
                  <c:v>0.252</c:v>
                </c:pt>
                <c:pt idx="1">
                  <c:v>0.317</c:v>
                </c:pt>
              </c:numCache>
            </c:numRef>
          </c:yVal>
          <c:smooth val="0"/>
        </c:ser>
        <c:ser>
          <c:idx val="3"/>
          <c:order val="3"/>
          <c:tx>
            <c:strRef>
              <c:f>Sheet1!$B$71</c:f>
              <c:strCache>
                <c:ptCount val="1"/>
                <c:pt idx="0">
                  <c:v>Iteration 3, measured</c:v>
                </c:pt>
              </c:strCache>
            </c:strRef>
          </c:tx>
          <c:spPr>
            <a:ln>
              <a:noFill/>
            </a:ln>
          </c:spPr>
          <c:marker>
            <c:symbol val="circle"/>
            <c:size val="10"/>
            <c:spPr>
              <a:solidFill>
                <a:srgbClr val="007C92"/>
              </a:solidFill>
              <a:ln w="12700">
                <a:solidFill>
                  <a:srgbClr val="FFFFFF"/>
                </a:solidFill>
              </a:ln>
            </c:spPr>
          </c:marker>
          <c:dLbls>
            <c:dLbl>
              <c:idx val="0"/>
              <c:tx>
                <c:rich>
                  <a:bodyPr/>
                  <a:lstStyle/>
                  <a:p>
                    <a:r>
                      <a:rPr sz="1000">
                        <a:solidFill>
                          <a:srgbClr val="2E2D29"/>
                        </a:solidFill>
                      </a:rPr>
                      <a:t>iter. 3</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Sheet1!$A$72:$A$72</c:f>
              <c:numCache>
                <c:formatCode>General</c:formatCode>
                <c:ptCount val="1"/>
                <c:pt idx="0">
                  <c:v>80.8</c:v>
                </c:pt>
              </c:numCache>
            </c:numRef>
          </c:xVal>
          <c:yVal>
            <c:numRef>
              <c:f>Sheet1!$B$72:$B$72</c:f>
              <c:numCache>
                <c:formatCode>General</c:formatCode>
                <c:ptCount val="1"/>
                <c:pt idx="0">
                  <c:v>0.357</c:v>
                </c:pt>
              </c:numCache>
            </c:numRef>
          </c:yVal>
          <c:smooth val="0"/>
        </c:ser>
        <c:ser>
          <c:idx val="4"/>
          <c:order val="4"/>
          <c:tx>
            <c:strRef>
              <c:f>Sheet1!$B$74</c:f>
              <c:strCache>
                <c:ptCount val="1"/>
                <c:pt idx="0">
                  <c:v>ρ tests A, B</c:v>
                </c:pt>
              </c:strCache>
            </c:strRef>
          </c:tx>
          <c:spPr>
            <a:ln>
              <a:noFill/>
            </a:ln>
          </c:spPr>
          <c:marker>
            <c:symbol val="square"/>
            <c:size val="8"/>
            <c:spPr>
              <a:solidFill>
                <a:srgbClr val="E98300"/>
              </a:solidFill>
              <a:ln w="12700">
                <a:solidFill>
                  <a:srgbClr val="FFFFFF"/>
                </a:solidFill>
              </a:ln>
            </c:spPr>
          </c:marker>
          <c:dLbls>
            <c:dLbl>
              <c:idx val="1"/>
              <c:tx>
                <c:rich>
                  <a:bodyPr/>
                  <a:lstStyle/>
                  <a:p>
                    <a:r>
                      <a:rPr sz="1000">
                        <a:solidFill>
                          <a:srgbClr val="2E2D29"/>
                        </a:solidFill>
                      </a:rPr>
                      <a:t>tests</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Sheet1!$A$75:$A$76</c:f>
              <c:numCache>
                <c:formatCode>General</c:formatCode>
                <c:ptCount val="2"/>
                <c:pt idx="0">
                  <c:v>64.6</c:v>
                </c:pt>
                <c:pt idx="1">
                  <c:v>61.7</c:v>
                </c:pt>
              </c:numCache>
            </c:numRef>
          </c:xVal>
          <c:yVal>
            <c:numRef>
              <c:f>Sheet1!$B$75:$B$76</c:f>
              <c:numCache>
                <c:formatCode>General</c:formatCode>
                <c:ptCount val="2"/>
                <c:pt idx="0">
                  <c:v>0.407</c:v>
                </c:pt>
                <c:pt idx="1">
                  <c:v>0.418</c:v>
                </c:pt>
              </c:numCache>
            </c:numRef>
          </c:yVal>
          <c:smooth val="0"/>
        </c:ser>
        <c:axId val="-2128940872"/>
        <c:axId val="-2129643912"/>
      </c:scatterChart>
      <c:valAx>
        <c:axId val="-2128940872"/>
        <c:scaling>
          <c:orientation val="minMax"/>
          <c:max val="145.0"/>
          <c:min val="55.0"/>
        </c:scaling>
        <c:delete val="0"/>
        <c:axPos val="b"/>
        <c:title>
          <c:tx>
            <c:rich>
              <a:bodyPr/>
              <a:lstStyle/>
              <a:p>
                <a:r>
                  <a:rPr sz="1000" b="0">
                    <a:solidFill>
                      <a:srgbClr val="6B6965"/>
                    </a:solidFill>
                  </a:rPr>
                  <a:t>3D wall modulus E (kPa)</a:t>
                </a:r>
              </a:p>
            </c:rich>
          </c:tx>
          <c:layout/>
          <c:overlay val="0"/>
        </c:title>
        <c:numFmt formatCode="0" sourceLinked="0"/>
        <c:majorTickMark val="out"/>
        <c:minorTickMark val="none"/>
        <c:tickLblPos val="nextTo"/>
        <c:spPr>
          <a:ln>
            <a:solidFill>
              <a:srgbClr val="D9D7D4"/>
            </a:solidFill>
          </a:ln>
        </c:spPr>
        <c:txPr>
          <a:bodyPr/>
          <a:lstStyle/>
          <a:p>
            <a:pPr>
              <a:defRPr sz="1000"/>
            </a:pPr>
          </a:p>
        </c:txPr>
        <c:crossAx val="-2129643912"/>
        <c:crosses val="autoZero"/>
        <c:crossBetween val="midCat"/>
        <c:majorUnit val="15.0"/>
      </c:valAx>
      <c:valAx>
        <c:axId val="-2129643912"/>
        <c:scaling>
          <c:orientation val="minMax"/>
          <c:max val="0.6"/>
          <c:min val="0.2"/>
        </c:scaling>
        <c:delete val="0"/>
        <c:axPos val="l"/>
        <c:title>
          <c:tx>
            <c:rich>
              <a:bodyPr/>
              <a:lstStyle/>
              <a:p>
                <a:r>
                  <a:rPr sz="1000" b="0">
                    <a:solidFill>
                      <a:srgbClr val="6B6965"/>
                    </a:solidFill>
                  </a:rPr>
                  <a:t>C₃D (mL/mmHg)</a:t>
                </a:r>
              </a:p>
            </c:rich>
          </c:tx>
          <c:layout/>
          <c:overlay val="0"/>
        </c:title>
        <c:numFmt formatCode="0.0" sourceLinked="0"/>
        <c:majorTickMark val="out"/>
        <c:minorTickMark val="none"/>
        <c:tickLblPos val="nextTo"/>
        <c:spPr>
          <a:ln>
            <a:solidFill>
              <a:srgbClr val="D9D7D4"/>
            </a:solidFill>
          </a:ln>
        </c:spPr>
        <c:txPr>
          <a:bodyPr/>
          <a:lstStyle/>
          <a:p>
            <a:pPr>
              <a:defRPr sz="1000"/>
            </a:pPr>
          </a:p>
        </c:txPr>
        <c:crossAx val="-2128940872"/>
        <c:crosses val="autoZero"/>
        <c:crossBetween val="midCat"/>
        <c:majorUnit val="0.1"/>
      </c:valAx>
    </c:plotArea>
    <c:legend>
      <c:legendPos val="b"/>
      <c:layout/>
      <c:overlay val="0"/>
      <c:txPr>
        <a:bodyPr/>
        <a:lstStyle/>
        <a:p>
          <a:pPr>
            <a:defRPr sz="1000"/>
          </a:pPr>
        </a:p>
      </c:txPr>
    </c:legend>
    <c:plotVisOnly val="1"/>
    <c:dispBlanksAs val="gap"/>
    <c:showDLblsOverMax val="0"/>
  </c:chart>
  <c:txPr>
    <a:bodyPr/>
    <a:lstStyle/>
    <a:p>
      <a:pPr>
        <a:defRPr sz="1000">
          <a:solidFill>
            <a:srgbClr val="2E2D29"/>
          </a:solidFill>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PP = K / C(E), K = 21 mL</c:v>
                </c:pt>
              </c:strCache>
            </c:strRef>
          </c:tx>
          <c:spPr>
            <a:ln w="25400">
              <a:solidFill>
                <a:srgbClr val="8C1515"/>
              </a:solidFill>
            </a:ln>
          </c:spPr>
          <c:marker>
            <c:symbol val="none"/>
          </c:marker>
          <c:xVal>
            <c:numRef>
              <c:f>Sheet1!$A$2:$A$32</c:f>
              <c:numCache>
                <c:formatCode>General</c:formatCode>
                <c:ptCount val="31"/>
                <c:pt idx="0">
                  <c:v>55.0</c:v>
                </c:pt>
                <c:pt idx="1">
                  <c:v>58.0</c:v>
                </c:pt>
                <c:pt idx="2">
                  <c:v>61.0</c:v>
                </c:pt>
                <c:pt idx="3">
                  <c:v>64.0</c:v>
                </c:pt>
                <c:pt idx="4">
                  <c:v>67.0</c:v>
                </c:pt>
                <c:pt idx="5">
                  <c:v>70.0</c:v>
                </c:pt>
                <c:pt idx="6">
                  <c:v>73.0</c:v>
                </c:pt>
                <c:pt idx="7">
                  <c:v>76.0</c:v>
                </c:pt>
                <c:pt idx="8">
                  <c:v>79.0</c:v>
                </c:pt>
                <c:pt idx="9">
                  <c:v>82.0</c:v>
                </c:pt>
                <c:pt idx="10">
                  <c:v>85.0</c:v>
                </c:pt>
                <c:pt idx="11">
                  <c:v>88.0</c:v>
                </c:pt>
                <c:pt idx="12">
                  <c:v>91.0</c:v>
                </c:pt>
                <c:pt idx="13">
                  <c:v>94.0</c:v>
                </c:pt>
                <c:pt idx="14">
                  <c:v>97.0</c:v>
                </c:pt>
                <c:pt idx="15">
                  <c:v>100.0</c:v>
                </c:pt>
                <c:pt idx="16">
                  <c:v>103.0</c:v>
                </c:pt>
                <c:pt idx="17">
                  <c:v>106.0</c:v>
                </c:pt>
                <c:pt idx="18">
                  <c:v>109.0</c:v>
                </c:pt>
                <c:pt idx="19">
                  <c:v>112.0</c:v>
                </c:pt>
                <c:pt idx="20">
                  <c:v>115.0</c:v>
                </c:pt>
                <c:pt idx="21">
                  <c:v>118.0</c:v>
                </c:pt>
                <c:pt idx="22">
                  <c:v>121.0</c:v>
                </c:pt>
                <c:pt idx="23">
                  <c:v>124.0</c:v>
                </c:pt>
                <c:pt idx="24">
                  <c:v>127.0</c:v>
                </c:pt>
                <c:pt idx="25">
                  <c:v>130.0</c:v>
                </c:pt>
                <c:pt idx="26">
                  <c:v>133.0</c:v>
                </c:pt>
                <c:pt idx="27">
                  <c:v>136.0</c:v>
                </c:pt>
                <c:pt idx="28">
                  <c:v>139.0</c:v>
                </c:pt>
                <c:pt idx="29">
                  <c:v>142.0</c:v>
                </c:pt>
                <c:pt idx="30">
                  <c:v>145.0</c:v>
                </c:pt>
              </c:numCache>
            </c:numRef>
          </c:xVal>
          <c:yVal>
            <c:numRef>
              <c:f>Sheet1!$B$2:$B$32</c:f>
              <c:numCache>
                <c:formatCode>General</c:formatCode>
                <c:ptCount val="31"/>
                <c:pt idx="0">
                  <c:v>46.467270992695425</c:v>
                </c:pt>
                <c:pt idx="1">
                  <c:v>48.02390751579542</c:v>
                </c:pt>
                <c:pt idx="2">
                  <c:v>49.550264560775</c:v>
                </c:pt>
                <c:pt idx="3">
                  <c:v>51.04837913843185</c:v>
                </c:pt>
                <c:pt idx="4">
                  <c:v>52.5200628140956</c:v>
                </c:pt>
                <c:pt idx="5">
                  <c:v>53.96693557836766</c:v>
                </c:pt>
                <c:pt idx="6">
                  <c:v>55.39045340255994</c:v>
                </c:pt>
                <c:pt idx="7">
                  <c:v>56.79193086645174</c:v>
                </c:pt>
                <c:pt idx="8">
                  <c:v>58.17255989853252</c:v>
                </c:pt>
                <c:pt idx="9">
                  <c:v>59.53342541830083</c:v>
                </c:pt>
                <c:pt idx="10">
                  <c:v>60.875518486901306</c:v>
                </c:pt>
                <c:pt idx="11">
                  <c:v>62.199747436589504</c:v>
                </c:pt>
                <c:pt idx="12">
                  <c:v>63.506947347716654</c:v>
                </c:pt>
                <c:pt idx="13">
                  <c:v>64.79788816477402</c:v>
                </c:pt>
                <c:pt idx="14">
                  <c:v>66.07328168396904</c:v>
                </c:pt>
                <c:pt idx="15">
                  <c:v>67.3337875991571</c:v>
                </c:pt>
                <c:pt idx="16">
                  <c:v>68.58001875736444</c:v>
                </c:pt>
                <c:pt idx="17">
                  <c:v>69.8125457471647</c:v>
                </c:pt>
                <c:pt idx="18">
                  <c:v>71.03190092101583</c:v>
                </c:pt>
                <c:pt idx="19">
                  <c:v>72.23858193498897</c:v>
                </c:pt>
                <c:pt idx="20">
                  <c:v>73.43305487512507</c:v>
                </c:pt>
                <c:pt idx="21">
                  <c:v>74.61575702818071</c:v>
                </c:pt>
                <c:pt idx="22">
                  <c:v>75.78709934519516</c:v>
                </c:pt>
                <c:pt idx="23">
                  <c:v>76.9474686386802</c:v>
                </c:pt>
                <c:pt idx="24">
                  <c:v>78.09722954796227</c:v>
                </c:pt>
                <c:pt idx="25">
                  <c:v>79.23672630202265</c:v>
                </c:pt>
                <c:pt idx="26">
                  <c:v>80.36628430487774</c:v>
                </c:pt>
                <c:pt idx="27">
                  <c:v>81.48621156495115</c:v>
                </c:pt>
                <c:pt idx="28">
                  <c:v>82.59679998688159</c:v>
                </c:pt>
                <c:pt idx="29">
                  <c:v>83.69832654168032</c:v>
                </c:pt>
                <c:pt idx="30">
                  <c:v>84.79105432901423</c:v>
                </c:pt>
              </c:numCache>
            </c:numRef>
          </c:yVal>
          <c:smooth val="0"/>
        </c:ser>
        <c:ser>
          <c:idx val="1"/>
          <c:order val="1"/>
          <c:tx>
            <c:strRef>
              <c:f>Sheet1!$B$34</c:f>
              <c:strCache>
                <c:ptCount val="1"/>
                <c:pt idx="0">
                  <c:v>Clinical target, 58</c:v>
                </c:pt>
              </c:strCache>
            </c:strRef>
          </c:tx>
          <c:spPr>
            <a:ln w="15875">
              <a:solidFill>
                <a:srgbClr val="007C92"/>
              </a:solidFill>
              <a:prstDash val="dash"/>
            </a:ln>
          </c:spPr>
          <c:marker>
            <c:symbol val="none"/>
          </c:marker>
          <c:xVal>
            <c:numRef>
              <c:f>Sheet1!$A$35:$A$36</c:f>
              <c:numCache>
                <c:formatCode>General</c:formatCode>
                <c:ptCount val="2"/>
                <c:pt idx="0">
                  <c:v>55</c:v>
                </c:pt>
                <c:pt idx="1">
                  <c:v>145</c:v>
                </c:pt>
              </c:numCache>
            </c:numRef>
          </c:xVal>
          <c:yVal>
            <c:numRef>
              <c:f>Sheet1!$B$35:$B$36</c:f>
              <c:numCache>
                <c:formatCode>General</c:formatCode>
                <c:ptCount val="2"/>
                <c:pt idx="0">
                  <c:v>58.0</c:v>
                </c:pt>
                <c:pt idx="1">
                  <c:v>58.0</c:v>
                </c:pt>
              </c:numCache>
            </c:numRef>
          </c:yVal>
          <c:smooth val="0"/>
        </c:ser>
        <c:ser>
          <c:idx val="2"/>
          <c:order val="2"/>
          <c:tx>
            <c:strRef>
              <c:f>Sheet1!$B$38</c:f>
              <c:strCache>
                <c:ptCount val="1"/>
                <c:pt idx="0">
                  <c:v>Pipeline iterations 1, 2</c:v>
                </c:pt>
              </c:strCache>
            </c:strRef>
          </c:tx>
          <c:spPr>
            <a:ln>
              <a:noFill/>
            </a:ln>
          </c:spPr>
          <c:marker>
            <c:symbol val="circle"/>
            <c:size val="9"/>
            <c:spPr>
              <a:solidFill>
                <a:srgbClr val="8C1515"/>
              </a:solidFill>
              <a:ln w="12700">
                <a:solidFill>
                  <a:srgbClr val="FFFFFF"/>
                </a:solidFill>
              </a:ln>
            </c:spPr>
          </c:marker>
          <c:dLbls>
            <c:dLbl>
              <c:idx val="0"/>
              <c:tx>
                <c:rich>
                  <a:bodyPr/>
                  <a:lstStyle/>
                  <a:p>
                    <a:r>
                      <a:rPr sz="1000">
                        <a:solidFill>
                          <a:srgbClr val="2E2D29"/>
                        </a:solidFill>
                      </a:rPr>
                      <a:t>80.4</a:t>
                    </a:r>
                  </a:p>
                </c:rich>
              </c:tx>
              <c:dLblPos val="t"/>
              <c:showLegendKey val="0"/>
              <c:showVal val="1"/>
              <c:showCatName val="0"/>
              <c:showSerName val="0"/>
              <c:showPercent val="0"/>
              <c:showBubbleSize val="0"/>
            </c:dLbl>
            <c:dLbl>
              <c:idx val="1"/>
              <c:tx>
                <c:rich>
                  <a:bodyPr/>
                  <a:lstStyle/>
                  <a:p>
                    <a:r>
                      <a:rPr sz="1000">
                        <a:solidFill>
                          <a:srgbClr val="2E2D29"/>
                        </a:solidFill>
                      </a:rPr>
                      <a:t>65.8</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Sheet1!$A$39:$A$40</c:f>
              <c:numCache>
                <c:formatCode>General</c:formatCode>
                <c:ptCount val="2"/>
                <c:pt idx="0">
                  <c:v>136.9</c:v>
                </c:pt>
                <c:pt idx="1">
                  <c:v>102.0</c:v>
                </c:pt>
              </c:numCache>
            </c:numRef>
          </c:xVal>
          <c:yVal>
            <c:numRef>
              <c:f>Sheet1!$B$39:$B$40</c:f>
              <c:numCache>
                <c:formatCode>General</c:formatCode>
                <c:ptCount val="2"/>
                <c:pt idx="0">
                  <c:v>80.4</c:v>
                </c:pt>
                <c:pt idx="1">
                  <c:v>65.8</c:v>
                </c:pt>
              </c:numCache>
            </c:numRef>
          </c:yVal>
          <c:smooth val="0"/>
        </c:ser>
        <c:ser>
          <c:idx val="3"/>
          <c:order val="3"/>
          <c:tx>
            <c:strRef>
              <c:f>Sheet1!$B$42</c:f>
              <c:strCache>
                <c:ptCount val="1"/>
                <c:pt idx="0">
                  <c:v>ρ tests A, B</c:v>
                </c:pt>
              </c:strCache>
            </c:strRef>
          </c:tx>
          <c:spPr>
            <a:ln>
              <a:noFill/>
            </a:ln>
          </c:spPr>
          <c:marker>
            <c:symbol val="square"/>
            <c:size val="8"/>
            <c:spPr>
              <a:solidFill>
                <a:srgbClr val="E98300"/>
              </a:solidFill>
              <a:ln w="12700">
                <a:solidFill>
                  <a:srgbClr val="FFFFFF"/>
                </a:solidFill>
              </a:ln>
            </c:spPr>
          </c:marker>
          <c:dLbls>
            <c:dLbl>
              <c:idx val="0"/>
              <c:tx>
                <c:rich>
                  <a:bodyPr/>
                  <a:lstStyle/>
                  <a:p>
                    <a:r>
                      <a:rPr sz="1000">
                        <a:solidFill>
                          <a:srgbClr val="2E2D29"/>
                        </a:solidFill>
                      </a:rPr>
                      <a:t>52.6</a:t>
                    </a:r>
                  </a:p>
                </c:rich>
              </c:tx>
              <c:dLblPos val="t"/>
              <c:showLegendKey val="0"/>
              <c:showVal val="1"/>
              <c:showCatName val="0"/>
              <c:showSerName val="0"/>
              <c:showPercent val="0"/>
              <c:showBubbleSize val="0"/>
            </c:dLbl>
            <c:dLbl>
              <c:idx val="1"/>
              <c:tx>
                <c:rich>
                  <a:bodyPr/>
                  <a:lstStyle/>
                  <a:p>
                    <a:r>
                      <a:rPr sz="1000">
                        <a:solidFill>
                          <a:srgbClr val="2E2D29"/>
                        </a:solidFill>
                      </a:rPr>
                      <a:t>51.3</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Sheet1!$A$43:$A$44</c:f>
              <c:numCache>
                <c:formatCode>General</c:formatCode>
                <c:ptCount val="2"/>
                <c:pt idx="0">
                  <c:v>64.6</c:v>
                </c:pt>
                <c:pt idx="1">
                  <c:v>61.7</c:v>
                </c:pt>
              </c:numCache>
            </c:numRef>
          </c:xVal>
          <c:yVal>
            <c:numRef>
              <c:f>Sheet1!$B$43:$B$44</c:f>
              <c:numCache>
                <c:formatCode>General</c:formatCode>
                <c:ptCount val="2"/>
                <c:pt idx="0">
                  <c:v>52.6</c:v>
                </c:pt>
                <c:pt idx="1">
                  <c:v>51.3</c:v>
                </c:pt>
              </c:numCache>
            </c:numRef>
          </c:yVal>
          <c:smooth val="0"/>
        </c:ser>
        <c:ser>
          <c:idx val="4"/>
          <c:order val="4"/>
          <c:tx>
            <c:strRef>
              <c:f>Sheet1!$B$46</c:f>
              <c:strCache>
                <c:ptCount val="1"/>
                <c:pt idx="0">
                  <c:v>Iteration 3, predicted</c:v>
                </c:pt>
              </c:strCache>
            </c:strRef>
          </c:tx>
          <c:spPr>
            <a:ln>
              <a:noFill/>
            </a:ln>
          </c:spPr>
          <c:marker>
            <c:symbol val="diamond"/>
            <c:size val="9"/>
            <c:spPr>
              <a:solidFill>
                <a:srgbClr val="6B6965"/>
              </a:solidFill>
              <a:ln w="12700">
                <a:solidFill>
                  <a:srgbClr val="FFFFFF"/>
                </a:solidFill>
              </a:ln>
            </c:spPr>
          </c:marker>
          <c:xVal>
            <c:numRef>
              <c:f>Sheet1!$A$47:$A$47</c:f>
              <c:numCache>
                <c:formatCode>General</c:formatCode>
                <c:ptCount val="1"/>
                <c:pt idx="0">
                  <c:v>80.8</c:v>
                </c:pt>
              </c:numCache>
            </c:numRef>
          </c:xVal>
          <c:yVal>
            <c:numRef>
              <c:f>Sheet1!$B$47:$B$47</c:f>
              <c:numCache>
                <c:formatCode>General</c:formatCode>
                <c:ptCount val="1"/>
                <c:pt idx="0">
                  <c:v>58.991385439611136</c:v>
                </c:pt>
              </c:numCache>
            </c:numRef>
          </c:yVal>
          <c:smooth val="0"/>
        </c:ser>
        <c:ser>
          <c:idx val="5"/>
          <c:order val="5"/>
          <c:tx>
            <c:strRef>
              <c:f>Sheet1!$B$49</c:f>
              <c:strCache>
                <c:ptCount val="1"/>
                <c:pt idx="0">
                  <c:v>Iteration 3, measured</c:v>
                </c:pt>
              </c:strCache>
            </c:strRef>
          </c:tx>
          <c:spPr>
            <a:ln>
              <a:noFill/>
            </a:ln>
          </c:spPr>
          <c:marker>
            <c:symbol val="circle"/>
            <c:size val="10"/>
            <c:spPr>
              <a:solidFill>
                <a:srgbClr val="007C92"/>
              </a:solidFill>
              <a:ln w="12700">
                <a:solidFill>
                  <a:srgbClr val="FFFFFF"/>
                </a:solidFill>
              </a:ln>
            </c:spPr>
          </c:marker>
          <c:dLbls>
            <c:dLbl>
              <c:idx val="0"/>
              <c:tx>
                <c:rich>
                  <a:bodyPr/>
                  <a:lstStyle/>
                  <a:p>
                    <a:r>
                      <a:rPr sz="1000">
                        <a:solidFill>
                          <a:srgbClr val="2E2D29"/>
                        </a:solidFill>
                      </a:rPr>
                      <a:t>iter. 3: 58.6</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Sheet1!$A$50:$A$50</c:f>
              <c:numCache>
                <c:formatCode>General</c:formatCode>
                <c:ptCount val="1"/>
                <c:pt idx="0">
                  <c:v>80.8</c:v>
                </c:pt>
              </c:numCache>
            </c:numRef>
          </c:xVal>
          <c:yVal>
            <c:numRef>
              <c:f>Sheet1!$B$50:$B$50</c:f>
              <c:numCache>
                <c:formatCode>General</c:formatCode>
                <c:ptCount val="1"/>
                <c:pt idx="0">
                  <c:v>58.6</c:v>
                </c:pt>
              </c:numCache>
            </c:numRef>
          </c:yVal>
          <c:smooth val="0"/>
        </c:ser>
        <c:axId val="-2128940872"/>
        <c:axId val="-2129643912"/>
      </c:scatterChart>
      <c:valAx>
        <c:axId val="-2128940872"/>
        <c:scaling>
          <c:orientation val="minMax"/>
          <c:max val="145.0"/>
          <c:min val="55.0"/>
        </c:scaling>
        <c:delete val="0"/>
        <c:axPos val="b"/>
        <c:title>
          <c:tx>
            <c:rich>
              <a:bodyPr/>
              <a:lstStyle/>
              <a:p>
                <a:r>
                  <a:rPr sz="1000" b="0">
                    <a:solidFill>
                      <a:srgbClr val="6B6965"/>
                    </a:solidFill>
                  </a:rPr>
                  <a:t>3D wall modulus E (kPa)</a:t>
                </a:r>
              </a:p>
            </c:rich>
          </c:tx>
          <c:layout/>
          <c:overlay val="0"/>
        </c:title>
        <c:numFmt formatCode="0" sourceLinked="0"/>
        <c:majorTickMark val="out"/>
        <c:minorTickMark val="none"/>
        <c:tickLblPos val="nextTo"/>
        <c:spPr>
          <a:ln>
            <a:solidFill>
              <a:srgbClr val="D9D7D4"/>
            </a:solidFill>
          </a:ln>
        </c:spPr>
        <c:txPr>
          <a:bodyPr/>
          <a:lstStyle/>
          <a:p>
            <a:pPr>
              <a:defRPr sz="1000"/>
            </a:pPr>
          </a:p>
        </c:txPr>
        <c:crossAx val="-2129643912"/>
        <c:crosses val="autoZero"/>
        <c:crossBetween val="midCat"/>
        <c:majorUnit val="15.0"/>
      </c:valAx>
      <c:valAx>
        <c:axId val="-2129643912"/>
        <c:scaling>
          <c:orientation val="minMax"/>
          <c:max val="90.0"/>
          <c:min val="40.0"/>
        </c:scaling>
        <c:delete val="0"/>
        <c:axPos val="l"/>
        <c:title>
          <c:tx>
            <c:rich>
              <a:bodyPr/>
              <a:lstStyle/>
              <a:p>
                <a:r>
                  <a:rPr sz="1000" b="0">
                    <a:solidFill>
                      <a:srgbClr val="6B6965"/>
                    </a:solidFill>
                  </a:rPr>
                  <a:t>3D pulse pressure (mmHg)</a:t>
                </a:r>
              </a:p>
            </c:rich>
          </c:tx>
          <c:layout/>
          <c:overlay val="0"/>
        </c:title>
        <c:numFmt formatCode="0" sourceLinked="0"/>
        <c:majorTickMark val="out"/>
        <c:minorTickMark val="none"/>
        <c:tickLblPos val="nextTo"/>
        <c:spPr>
          <a:ln>
            <a:solidFill>
              <a:srgbClr val="D9D7D4"/>
            </a:solidFill>
          </a:ln>
        </c:spPr>
        <c:txPr>
          <a:bodyPr/>
          <a:lstStyle/>
          <a:p>
            <a:pPr>
              <a:defRPr sz="1000"/>
            </a:pPr>
          </a:p>
        </c:txPr>
        <c:crossAx val="-2128940872"/>
        <c:crosses val="autoZero"/>
        <c:crossBetween val="midCat"/>
        <c:majorUnit val="10.0"/>
      </c:valAx>
    </c:plotArea>
    <c:legend>
      <c:legendPos val="b"/>
      <c:layout/>
      <c:overlay val="0"/>
      <c:txPr>
        <a:bodyPr/>
        <a:lstStyle/>
        <a:p>
          <a:pPr>
            <a:defRPr sz="1000"/>
          </a:pPr>
        </a:p>
      </c:txPr>
    </c:legend>
    <c:plotVisOnly val="1"/>
    <c:dispBlanksAs val="gap"/>
    <c:showDLblsOverMax val="0"/>
  </c:chart>
  <c:txPr>
    <a:bodyPr/>
    <a:lstStyle/>
    <a:p>
      <a:pPr>
        <a:defRPr sz="1000">
          <a:solidFill>
            <a:srgbClr val="2E2D29"/>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12655-39F8-F347-982F-58746B965C3A}" type="datetimeFigureOut">
              <a:rPr lang="en-US" smtClean="0"/>
              <a:t>9/25/26</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F6E32E-09CA-1D45-A9FC-AFD720388DA7}" type="slidenum">
              <a:rPr lang="en-US" smtClean="0"/>
              <a:t>‹#›</a:t>
            </a:fld>
            <a:endParaRPr lang="en-US"/>
          </a:p>
        </p:txBody>
      </p:sp>
    </p:spTree>
    <p:extLst>
      <p:ext uri="{BB962C8B-B14F-4D97-AF65-F5344CB8AC3E}">
        <p14:creationId xmlns:p14="http://schemas.microsoft.com/office/powerpoint/2010/main" val="2816541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Method slide, Stage 2: pre-op BC tuning protocol v1, frozen 25 Oct 2026. Steps from svz docs/preop_protocol_v1/README.md: (1) learnedZeroD seed, mesh, centerline and 0D seed scaled together for TST-STAN-1 (x1.147) and -9 (x1.425); (2) svZeroDTrees full_pa impedance tuning, likelihood objective sigma 2 mmHg / 0.02, maxfev 200, per-cap polish maxfev 100, periodic scoring (&gt;= 6 cycles, drift &lt; 0.1 mmHg); (3) svMultiPhysics CMM, E*h = s*wall_ehr*r_eff, h 0.2 cm, nu 0.5, 3 cycles (6000 steps, dt = period/2000), Dirichlet inflow, Robin stiffness 1000, Rule A damping; (4) svSlicer postprocess; (5) svZeroDCalibrator R only, target_focused, improvement-only gate; (6) iteration 2 from the calibrated seed, runs stop after iteration 2; (7) wall-correction step: iteration-2 3D rerun with iteration-2 BCs and the E-law wall, the reported pre-op result. Code used by the v1 runs (protocol README, Code and inputs): svzt-agent non-editable install of 16 Oct 2026 (HEAD 389c580 plus local edits, archived as code/svztagent_installed_20261016.tar.gz); svZeroDTrees 4f11755 on Sherlock (local clone HEAD 1b01fc9); svZeroDSolver 573da36; svMultiPhysics 626b002. 26 Oct 2026: the svzt-agent port of step 7 (svzt run wall-correction, uncommitted) adopted the v1 iteration-3 3D runs and published a matched 0D model (R, then one proximal C multiplier) for all five; the pre-op hand-off (converged_preop_iteration) now carries E3, damping and the matched 0D model to post-op and adaptation. svz runs/tst-stan-*/manifest.yaml wall_correction_runs (status completed 26 Oct 2026) and wall_correction/iter-02/calibration/results/calibration_summary.json.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learnedZeroD (Natalia Rubio) is called as an external executable with the SimVascular branched 0D JSON, the centerline VTP and svZeroDSolver. Its output is validated and published with provenance before it is staged as inputs/full_pa_zerod.json for iteration 1.</a:t>
            </a:r>
          </a:p>
          <a:p>
            <a:r>
              <a:t>Original footnote: TST-STAN-5, final cycle. Fixed resistance = 1000 dyn/cm⁵, zero distal pressure (slides 28 and 30).</a:t>
            </a:r>
          </a:p>
          <a:p>
            <a:r>
              <a:t>Archived 2026-10-22. Replaced by: The updated tuning loop runs on the full 0D model. Reason: Detail over the Stage 2 budget; the seed step is on the loop overview.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Centerline-generated 0D models name vessels branch&lt;N&gt;_seg&lt;K&gt; and number BCs in branch order, unrelated to cap filename order, so serialized-order mapping is wrong for these seeds. The geometric strategy pairs caps and outlets through the centerline instead. Optionally, the optimizer can use one shared tree per side at a conductance-matched diameter, N·G(d_ref) = ΣG(d_i), while the final BCs are built per cap.</a:t>
            </a:r>
          </a:p>
          <a:p>
            <a:r>
              <a:t>Original footnote: One mapping, resolved before tuning and saved as outlet_cap_mapping.json, drives every optimizer step, the final trees, the 3D coupler (fails closed on unmapped or shared caps, 6 Oct) and adaptation.</a:t>
            </a:r>
          </a:p>
          <a:p>
            <a:r>
              <a:t>Archived 2026-10-22. Replaced by: The updated tuning loop runs on the full 0D model. Reason: Detail over the Stage 2 budget; the mapping step is on the loop overview.</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Postprocess publishes a last-cycle centerline time series with a descriptor that records the SHA-256 of the tuned 0D model it came from, so calibration cannot use data from another iteration. The standard pysvzerod.calibrate API is the only optimizer; it is run twice to confirm a fixed point, then the normalized model is replayed for stability before target gates are evaluated. svzt-agent chains postprocess and calibration with afterok and does the compare-and-set promotion.</a:t>
            </a:r>
          </a:p>
          <a:p>
            <a:r>
              <a:t>Gate updated 22 Oct 2026: improvement-only promotion (svzt-agent c13a227, workflows/calibrate.py:355; svZeroDTrees 7d3cef9). Absolute tolerances are reported only.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Motivation. The first full-PA tuning runs on TST-STAN-5 used the earlier Stage 2 defaults (since replaced, slide 18): systemic k1 = 2e7, k3 = 0, k2 tuned. The optimizer drives k2 to about -70, so Eh/r collapses to 36-3,800 dyn/cm^2 at the tree roots (r = 0.12-0.19 cm). The fit is acceptable (chi2 25.7) but the roots are nearly stiffness-free: wave speed 5-49 cm/s and 32 mL/mmHg of tree compliance, 20-30x what a lumped model needs. A methods reviewer would reject these values, which motivates the study in examples/adaptation/tst5-physiological-tuning-study (PLAN.md).</a:t>
            </a:r>
          </a:p>
          <a:p>
            <a:r>
              <a:t>Original footnote: B0 = earlier smoke settings (k₁ 2×10⁷, k₃ 0, k₂ tuned; Pd clamped to 3 mmHg), published per-cap model. Eh/r₀ = k₁exp(k₂r₀) + k₃. Literature values: Colebank 2021, Bartolo 2022.</a:t>
            </a:r>
          </a:p>
          <a:p>
            <a:r>
              <a:t>Archived 2026-10-22. Replaced by: What the measurements require from the distal bed. Reason: TST-STAN-5 study history (24 Sep to 6 Oct); its outcome is the current model.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0 diagnostics before any tree tuning. A lumped Rp-C-Rd model driven by the measured TST-STAN-5 inflow fits 34/3/16 exactly once C is at least about 1 mL/mmHg; above that the three pressure targets cannot distinguish C values (profile flat to 3 mL/mmHg). The regurgitant inflow (54% backflow) makes the pulse pressure very sensitive to whatever impedance sits in front of the compliance: at most ~140 dyn s/cm^5. The calibrated seed already has ~122, and control-range tree roots add 115-185 of characteristic impedance, so literature stiffness overshoots the budget. k3 = 0 trees have root impedance of ~8, which is why they fit.</a:t>
            </a:r>
          </a:p>
          <a:p>
            <a:r>
              <a:t>Kept slide. Spot-checked 22 Oct 2026 against svzt-agent 389c580, svZeroDTrees 1b01fc9 and svz config; sources as in the footnote.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TST-STAN-5 physiological tuning study, 24 Sep to 6 Oct 2026. R1 (v1) showed literature stiffness with a rigid seed drives diastolic strongly negative and exposed the truncation loophole. R2 added seed-vessel compliance and switched to the likelihood objective. R3 moved the outlet to the pre-capillary pressure. R4 tried softer trees via k3 or k2 and was rejected. R5 is the Option 1 robustness package: 8 multi-starts, per-cap polish, 9 sensitivity cases and the Jacobian; on 6 Oct k3 was kept free (fallback k3 = 1e5). R6 raised the xi bound above Murray's 3: modest chi2 gain, compliance outside the SV/PP bracket. R7 tested the pulsatile Dong partition (Pd = PCWP plus a capillary/venous leaf resistance): chi2 50.6 and about 145, so the current policy stays.</a:t>
            </a:r>
          </a:p>
          <a:p>
            <a:r>
              <a:t>Original footnote: χ²: Gaussian likelihood on the published per-cap model (σ 2 mmHg / 0.02). R1 = case B6; R4 = k₃ 5×10³; R6 = ξ ≤ 3.25 with k₃ 1×10⁵; R7 = leaf share 0.668. FINDINGS.md, OPTION1.md, REPORT_ximax.md; pulmonary_tuning_model.md §2.3.</a:t>
            </a:r>
          </a:p>
          <a:p>
            <a:r>
              <a:t>Archived 2026-10-22. Replaced by: Fixed and tuned parameters. Reason: TST-STAN-5 study history; its outcome is the current model.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Informative Phase 1 comparisons, published per-cap model. The current settings (B0, B0-w7) fit best; switching the wedge from the diastolic clamp (3) to the measured 7 mmHg improves chi2 from 25.7 to 9.9. Every literature-stiffness case overshoots systolic and drives diastolic negative, consistent with the impedance budget on the previous slide. The automated Block A winner (fix-10-0.1) and every Phase 2/3 run sit at xi = 6, eta = 0.9 with all 23 trees truncated at 100k nodes, which collapses tree resistance. The selection rules did not check truncation, so Phases 2-3 are invalid; E8 (2e5 nodes) did not catch it because xi = 6 trees still truncate.</a:t>
            </a:r>
          </a:p>
          <a:p>
            <a:r>
              <a:t>Original footnote: Published per-cap model, σ = 2 mmHg / 0.02. Lit. = k₁ 2.6×10⁵, k₂ −14, k₃ 10⁵, l_rr 10, s 0.1. FINDINGS.md; REPORT.md Phase 1.</a:t>
            </a:r>
          </a:p>
          <a:p>
            <a:r>
              <a:t>Archived 2026-10-22. Replaced by: Fixed and tuned parameters. Reason: TST-STAN-5 study history (v1 settings).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calibrated seed carries 15.6 mL of lumen volume but essentially zero compliance. A physiological proximal wall would store part of the regurgitant stroke volume ahead of the proximal resistance. In a two-compliance lumped model with the full 270 dyn s/cm^5 proximal impedance, adding 0.6 mL/mmHg of proximal compliance improves the best fit from chi2 97 to 3.8 (37/0.5/16.3 mmHg) and 1.0 mL/mmHg fits exactly. This is an upper bound, since all proximal compliance is lumped ahead of all proximal resistance. The earlier ruling-out of proximal compliance (D2) used the learned seed's 1.2 mL volume.</a:t>
            </a:r>
          </a:p>
          <a:p>
            <a:r>
              <a:t>Original footnote: runs/phase0/two_compliance_check.json; C₂ and R_d refit at each C₁. Eh/r = 5×10⁴ follows Krenz &amp; Dawson. FINDINGS.md finding 3.</a:t>
            </a:r>
          </a:p>
          <a:p>
            <a:r>
              <a:t>Archived 2026-10-22. Replaced by: Fixed and tuned parameters. Reason: TST-STAN-5 study history; proximal compliance is now a fixed rule.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best physiological chi2 after each kept change, ending with the per-cap polish of the best multi-start (17.17). Right: three ways to a lower chi2 that were rejected - the old k3 = 0 / free k2 setting, lowering k3 toward 0 (works only through the oversized rpa_2 cap the shared surrogate never sees), and raising the xi bound above Murray's 3 (compliance leaves the SV/PP bracket and measured pulmonary xi is 2.1-2.8).</a:t>
            </a:r>
          </a:p>
          <a:p>
            <a:r>
              <a:t>Original footnote: Published per-cap model, σ 2 mmHg / 0.02, l_rr 10. Bar 1 at diameter_scale 0.1, others 1.0; bars 1–4 at Pd 7. FINDINGS.md (v2b, pd10, k3low); OPTION1.md §3b; REPORT_ximax.md.</a:t>
            </a:r>
          </a:p>
          <a:p>
            <a:r>
              <a:t>Archived 2026-10-22. Replaced by: Fixed and tuned parameters. Reason: TST-STAN-5 study history.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model on TST-STAN-5 after the per-cap polish: 36.8 / -4.7 / 14.6 mmHg, split 0.875, chi2 17.17 (sys 1.9, dia 14.7, mean 0.5, split 0.06). xi is at Murray's bound on both sides, eta at 1.00 / 0.97 and k3 at its 5e4 floor: the data want softer or larger trees than the literature ranges allow. Total compliance 1.81 mL/mmHg is above the SV/PP bracket. OPTION1.md recommended fixing k3 at 1e5 (chi2 18.3, compliance 1.43 inside the bracket); the 6 Oct decision keeps k3 free so stiffer patients can move it, with k3 = 1e5 as the fallback when k3 sits at a bound or compliance leaves the bracket.</a:t>
            </a:r>
          </a:p>
          <a:p>
            <a:r>
              <a:t>Original footnote: runs/phaseo1pkg-2/polish-percap: per-cap polish of the best of 8 starts (5 Oct 2026); optimizer gap 0.05 mmHg; 1 of 23 trees truncated (rpa_2). k₃ bar on a log scale. Fallback = S-k3fix1e5.</a:t>
            </a:r>
          </a:p>
          <a:p>
            <a:r>
              <a:t>Archived 2026-10-22. Replaced by: Calibrated seeds improved, none within tolerance. Reason: 5 Oct fit with free k3, superseded by the tied-model cohort runs of 21 Oct.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 1 as it now stands. The proximal wall and the tree large-vessel stiffness move together through one multiplier s (Eh/r = s x 5e4, k3 = s x 1e5, s in [0.5, 20]); xi per side in [2.1, 3], eta in [0.3, 1]. The 3D wall E is matched per patient to the tuned 0D compliance and the CMM damping is scaled to each wall's stiffness. Every fit is scored on a periodic cycle.</a:t>
            </a:r>
          </a:p>
          <a:p>
            <a:r>
              <a:t>Original footnote: svzt-agent docs/TUNING_MODEL.md §2, §8 items 1 and 9; svZeroDTrees docs/pulmonary_tuning_model.md §2.4–2.6. Krenz &amp; Dawson 2003; Colebank 2021; Olufsen 2012; Miles et al. 2025.</a:t>
            </a:r>
          </a:p>
          <a:p>
            <a:r>
              <a:t>Archived 2026-10-22. Replaced by: Fixed and tuned parameters. Reason: Duplicate of the parameters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as of the 16 Oct cohort default. Fixed: pulmonary k1, k2, lrr 10, d_min, measured cap diameters, outlet policy, 1M nodes, and the two stiffness reference values (proximal Eh/r 5e4, tree k3 1e5) that s multiplies. Tuned: xi and eta per side and the stiffness multiplier s in [0.5, 20], log-scaled, initialized at 1. The xi floor moved from Uylings' theoretical 2.33 to the lowest measured pulmonary value 2.1. Removed: the free k3 with a fixed proximal wall.</a:t>
            </a:r>
          </a:p>
          <a:p>
            <a:r>
              <a:t>Kept slide. Spot-checked 22 Oct 2026 against svzt-agent 389c580, svZeroDTrees 1b01fc9 and svz config; sources as in the footnote. Checked 25 Oct 2026 against svz docs/preop_protocol_v1/config/defaults.yaml (the config every v1 run used): free xi [2.1, 3.0], eta_sym [0.3, 1.0], stiffness_scale [0.5, 20] log; fixed lrr 10, d_min 0.01, k1 2.6e5, k2 -14; wall_ehr 5e4, tied_k3_ref 1e5. Code used by the v1 runs (protocol README, Code and inputs): svzt-agent non-editable install of 16 Oct 2026 (HEAD 389c580 plus local edits, archived as code/svztagent_installed_20261016.tar.gz); svZeroDTrees 4f11755 on Sherlock (local clone HEAD 1b01fc9); svZeroDSolver 573da36; svMultiPhysics 626b002.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 (diameter_scale) is now 1.0: every outlet cap gets its own tree at its measured diameter, and that per-cap model is what is exported to 3D. The side-mean (s = 0) tree is kept only as the optimizer's shared surrogate at a conductance-matched diameter. In matched TST-STAN-5 runs s = 1.0 fit much better than s = 0.1 (chi2 35 vs 56 and 16 vs 49). The oversized rpa_2 cap truncates at 1M nodes and is flagged; doubling the budget moves diastolic 0.25 mmHg.</a:t>
            </a:r>
          </a:p>
          <a:p>
            <a:r>
              <a:t>Original footnote: diameter_scale 1.0, use_mean false; objective_tree_policy {use_mean: true, reference_diameter: conductance_matched}. χ² from FINDINGS.md (v2b, k2free). docs/pulmonary_tuning_model.md §2.8–2.9.</a:t>
            </a:r>
          </a:p>
          <a:p>
            <a:r>
              <a:t>Archived 2026-10-22. Replaced by: Fixed and tuned parameters. Reason: One tree per cap at the measured diameter is now a fixed default.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Proximal compliance on the full-PA seed. C = 3AL/(2 Eh/r) on every seed vessel with Eh/r = s x 5e4; since 16 Oct s is tuned and C is recomputed each evaluation (calibrated C is overwritten). The 3D CMM wall now follows the tuned 0D model per patient and iteration through elasticity_modulus: match_proximal_compliance (E = matched_uniform_wall_eh / h); a single shared E left larger-PA patients' 3D walls up to 1.8x more compliant. For mesh-scaled (staged) patients 0D compliance scales with s^3 at constant Eh/r.</a:t>
            </a:r>
          </a:p>
          <a:p>
            <a:r>
              <a:t>Original footnote: svZeroDTrees ef62d2c, da89f60, eac9f53, fb88065, b7ae42a, 1b01fc9; svzt-agent 0dad632 (9 Oct). docs/pulmonary_tuning_model.md §2.4; TUNING_MODEL.md §8 item 1.</a:t>
            </a:r>
          </a:p>
          <a:p>
            <a:r>
              <a:t>Archived 2026-10-22. Replaced by: Fixed and tuned parameters. Reason: Proximal compliance is now a fixed rule under the tied multiplier.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Two-stage inner loop as before. New since 15 Oct: every full-PA objective evaluation, the per-cap polish and the published scoring run the 0D model until the MPA pressure is periodic (at least 6 cycles, doubling up to 24, until the mean changes by less than 0.1 mmHg). The learnedZeroD seed's 2 cycles were a cold-start transient: TST-STAN-3 iter-2 scored 42.8/7.6/25.3 against 46.3/15.4/28.7 periodic and 48/15.5/28 in 3D. tuning_diagnostics.json records periodicity.</a:t>
            </a:r>
          </a:p>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the adaptive-reweighting slide. The relative squared error divides each residual by its target, so on TST-STAN-5 one mmHg of diastolic error (target 3) weighs about 128x one mmHg of systolic error (target 34). With proximal compliance this made the optimizer accept 53-57 / 3 / 24-25 mmHg. The Gaussian likelihood weights each target by its measurement error (2 mmHg catheter, 0.02 MRI split), so chi2 is interpretable and each term above 1 is more than 1 sigma off. Under the likelihood the restart reweighting is disabled, the L2 penalty is gone, the diastolic term is kept when its target is below Pd, and the 3D iteration gate and the Nelder-Mead target stop work in sigma units.</a:t>
            </a:r>
          </a:p>
          <a:p>
            <a:r>
              <a:t>Original footnote: objective {type: likelihood, pressure_sigma_mmhg 2, split_sigma 0.02, target_sigma 1}; keep_diastolic_target true. svZeroDTrees 98aef60 (L2 removed); FINDINGS.md v2 vs v2b.</a:t>
            </a:r>
          </a:p>
          <a:p>
            <a:r>
              <a:t>Archived 2026-10-22. Replaced by: Inner loop: shared fit, then a per-cap polish. Reason: Relative-error loss is two steps back; the chi-squared objective is on the loop slides.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the RRI outer loop. Iteration 1 seeds from learnedZeroD with proximal compliance; every later iteration seeds from the svZeroDCalibrator output of the previous one (calibrated_full_pa), whatever the gate decision. The gate works in sigma units, but TST-STAN-5's best fit misses diastolic by 3.8 sigma, so all iterations are not_close and the driver runs to max_iterations. Decision 6 Oct: ignore the gate for now and select the preop iteration by hand with svzt preop select. Fixes from the first cohort runs: generated prestress now runs a mean steady solve when the seed has none, the 3D coupler pairs impedance BCs with caps through the outlet mapping, RCR BCs are named after their mapped cap, and a test shim that shadowed pyvista on Sherlock was removed. --reuse-preop-3d is in the working tree, not yet committed.</a:t>
            </a:r>
          </a:p>
          <a:p>
            <a:r>
              <a:t>Original footnote: svzt-agent TUNING_MODEL.md §4, §8.3–8.4; EXECUTION.md. Commits: svzt-agent 5f0fba9, d054dcb; svZeroDTrees c0f58de, b582e96, d621390.</a:t>
            </a:r>
          </a:p>
          <a:p>
            <a:r>
              <a:t>Archived 2026-10-22. Replaced by: The updated tuning loop runs on the full 0D model. Reason: Duplicate of the loop overview; it listed --reuse-preop-3d as uncommitted (committed in affa866).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redraw of the Stage 2 master schematic for the full-PA loop. Inputs: mesh and centerlines, MRI inflow, catheter pressures, the perfusion split, PCWP and the clinical regurgitation grade (which select the outlet-pressure policy), and the learnedZeroD seed for iteration 1. Inner loop: proximal compliance, centerline cap mapping, per-cap trees, shared Nelder-Mead on the likelihood, per-cap polish, published scoring. Outer loop: 3D CMM, centerline postprocess, svZeroDCalibrator, promotion of the calibrated seed, and hand selection of the preop iteration.</a:t>
            </a:r>
          </a:p>
          <a:p>
            <a:r>
              <a:t>Original footnote: Replaces the RRI-era schematic. svzt-agent renders tuning.impedance into the Slurm job; svZeroDTrees implements the model (run_impedance_tuning_for_iteration).</a:t>
            </a:r>
          </a:p>
          <a:p>
            <a:r>
              <a:t>Archived 2026-10-22. Replaced by: The updated tuning loop runs on the full 0D model. Reason: Duplicate schematic of the loop overview.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Per-patient outlet-pressure policy, selected by the clinical regurgitation grade. Regurgitant patients (TST-STAN-1, -5) use the precapillary_fraction rule, Pd = PCWP + 0.332 (mPAP - PCWP): 12.98 and 9.99 mmHg. It is an empirically fitted outlet pressure, not Dong et al. 2021's partition (corrected 6 Oct). Non-regurgitant patients (TST-STAN-2, -3, -9) use diastolic_offset, Pd = PA diastolic - 2 mmHg: 12.0, 7.0 and 3.0 mmHg. The pulsatile form of the partition (outlet at PCWP plus a leaf resistance) was tested on TST-STAN-5 and not adopted. Run status: tst-stan-5-20261006b, tst-stan-1-20261006 and tst-stan-9-20261006 were started on 6 Oct; no TST-STAN-2 or -3 run under the new model is recorded in the repos.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TST-STAN-3 study of whether the proximal wall Eh/r and the tree k3 can be tuned together. Within the old k3 range they are separable but k3 runs to its upper bound (chi2 falls 46 from 5e4 to 4e5). Above about 8e5, where the data want to be, the valley is flat: only total compliance (~0.45 mL/mmHg) is identified, and the two stiffnesses act on systolic and diastolic with correlation -0.99. Freeing both (a) adds an unresolvable direction; one cohort k3 (b) cannot fit both TST-STAN-3 and TST-STAN-5. The adopted option (c) tunes one multiplier s with Eh/r = s x 5e4 and k3 = s x 1e5; it fits within 0.3 chi2 of (a). s can go below 1 so softer patients such as TST-STAN-5 can fit.</a:t>
            </a:r>
          </a:p>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Constraint changes made with the tied multiplier on 16 Oct. With tied s the TST-STAN-3 fit was resistance-limited (chi2 8.18, rpa xi pinned at 2.33, mean 26.9 vs 32). Lowering the xi floor to the lowest measured pulmonary value, 2.1, gives chi2 0.29 with rpa xi 2.17 inside the bound; raising lrr also works but only outside the morphometric range, and a free lrr is not identifiable. The config now rejects tied_k3_ref without stiffness_scale (and the reverse), a comp.k3 entry next to s, non-positive s, s with the constant compliance model, and RRI iterations with s; it warns when a fixed numeric 3D E cannot follow s. In-flight runs keep working: their next iteration starts s at 1.</a:t>
            </a:r>
          </a:p>
          <a:p>
            <a:r>
              <a:t>Original footnote: TST-STAN-3 FINDINGS.md follow-up (results/resistance.json). Rules mirrored in svzt-agent config/models.py and svZeroDTrees validate_stiffness_scale, so a dry run fails before submission. TUNING_MODEL.md §2, §8 item 9.</a:t>
            </a:r>
          </a:p>
          <a:p>
            <a:r>
              <a:t>Archived 2026-10-22. Replaced by: Can proximal and tree stiffness be tuned apart?. Reason: Constraint changes folded into the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Stiffness-scaled damping for the CMM Robin tissue-support damping. c = 1e4 was tuned for aortic walls, where tau = c/K is about 14 ms. The softer PA walls gave tau of 89-123 ms for TST-STAN-1 and -5, which removed 20-55% of the wall's dynamic compliance at the first three harmonics and widened the 3D pulse pressure. TST-STAN-3 (tau about 16 ms) was stable, and some damping is still needed for stability. The rule sets c = 1e4 x sqrt(K / K_STAN-3), K = Eh / (0.75 r^2) from each patient's iteration-1 tuned wall, which keeps TST-STAN-3's damping ratio. Test: TST-STAN-5 at c = 3650 with its iteration-1 BCs was stable and gave 34.8/2.8/15.8, split 0.895 (targets 34/3/16, 0.87); at c = 1e4 it gave 38.2/-1.9/15.9. Effective compliance roughly doubled. Rollout: TST-STAN-1, -2 and -9 rerun on 21 Oct as tst-stan-{1,2,9}-20261021; TST-STAN-5 keeps the test run as its iteration-1 result.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3D tuning performance with the original CMM damping (c = 1e4) at each patient's last iteration. Systolic is above target in every patient (TST-STAN-2 by 18.8, TST-STAN-3 by 10.8 mmHg) and diastolic below target in all five, so the 3D pulse pressure is too wide even where the 0D fit was good. Splits are close except TST-STAN-2 (0.683 vs 0.762). Calibration: TST-STAN-2 passed (21.2 -&gt; 2.4); TST-STAN-3 and -5 failed the improvement-only gate; TST-STAN-1 and -9 calibrated models were unstable in replay. TST-STAN-2 and -9 were not advanced past iteration 1.</a:t>
            </a:r>
          </a:p>
          <a:p>
            <a:r>
              <a:t>Original footnote: 3D preop results at each patient's last completed iteration before 20 Oct 2026; targets from slide 12. Calibration = svZeroDCalibrator improvement-only target gate.</a:t>
            </a:r>
          </a:p>
          <a:p>
            <a:r>
              <a:t>Archived 2026-10-22. Replaced by: Iteration 1: 3D pulse pressure against the catheter. Reason: Before-damping-fix data moved into the before/after chart.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Predicted effect on the 3D result of correcting the mismatch between the 3D lumen volume and the 0D seed volume. Two variants: volume ratio only, and volume x r. Pulse pressure falls toward target for TST-STAN-1 (39.0 -&gt; 34.0 vs 28), TST-STAN-2 (51.0 -&gt; 40.4 vs 30, still well above) and TST-STAN-3 (70.2 -&gt; 62.4 vs 58, about half the gap). TST-STAN-5 (already on the scaled damping) moves between 2 mmHg worse and slightly better. TST-STAN-9 overshoots: pulse 12-16.5 vs 24. Baseline is iteration 1 at c = 1e4 except TST-STAN-3 (iteration 2) and TST-STAN-5 (c = 3650).</a:t>
            </a:r>
          </a:p>
          <a:p>
            <a:r>
              <a:t>Original footnote: Two correction variants: scale by the 3D/0D volume ratio alone, or by volume × r. Prediction relative to each patient's latest 3D run.</a:t>
            </a:r>
          </a:p>
          <a:p>
            <a:r>
              <a:t>Archived 2026-10-22. Replaced by: Roadmap: what is changing across the pipeline. Reason: Planned method, not in development; one line on the roadmap and the Stage 3 path.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The pipeline. Reason: Duplicate of the next slide; it showed Stage 4 as VALIDATED.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Fixed and tuned parameters. Reason: Background detail over the Stage 2 budget; xi and eta are defined on the parameters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footnote: Formulation after Olufsen, Ann Biomed Eng (1999, 2000); stiffness values Colebank 2021 / Bartolo 2022; sensitivity from the TST-STAN-5 study (slide 42).</a:t>
            </a:r>
          </a:p>
          <a:p>
            <a:r>
              <a:t>Archived 2026-10-22. Replaced by: Structured-tree boundary conditions. Reason: Background detail over the Stage 2 budget; the intro slide covers the impedance.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Iteration 1: 3D pulse pressure against the catheter. Reason: Two-branch RRI results, two steps back.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Iteration 1: 3D pulse pressure against the catheter. Reason: RRI-era waveforms, two steps back.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footnote: Baseline is the uncalibrated branched 0D model (option 2 in the table on slide 29).</a:t>
            </a:r>
          </a:p>
          <a:p>
            <a:r>
              <a:t>Archived 2026-10-22. Replaced by: svZeroDCalibrator refits the full 0D model to 3D. Reason: Exploratory calibration of the GUI branched model, superseded by the learnedZeroD seed.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footnote: Baseline is the branched 0D model from the SimVascular GUI, uncalibrated and without junction coefficients.</a:t>
            </a:r>
          </a:p>
          <a:p>
            <a:r>
              <a:t>Archived 2026-10-22. Replaced by: What changed: two-branch RRI to full branched 0D. Reason: Seed-selection study; its outcome is on the what-changed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footnote: Options 2 and 4 compared on TST-STAN-5 (slide 27); option 3 compared against option 2 under fixed-resistance outlet BCs (slide 28).</a:t>
            </a:r>
          </a:p>
          <a:p>
            <a:r>
              <a:t>Archived 2026-10-22. Replaced by: What changed: two-branch RRI to full branched 0D. Reason: 0D representation comparison condensed into the what-changed slide.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footnote: TST-STAN-5, final cycle. RMSE is taken over the three summary pressures against the 3D reference, not over the waveform. Fixed resistance = 1000 dyn/cm⁵, zero distal pressure.</a:t>
            </a:r>
          </a:p>
          <a:p>
            <a:r>
              <a:t>Archived 2026-10-22. Replaced by: What changed: two-branch RRI to full branched 0D. Reason: 0D representation comparison condensed into the what-changed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Iteration 1: 3D pulse pressure against the catheter. Reason: Renders from the earlier BCs; no pre-op iteration is selected under the current BCs.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What changed: one tree per side to per-cap trees. Reason: M1/M3 formulation (one tree per side) is refused for full-PA runs.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What changed: one tree per side to per-cap trees. Reason: Motivation for the M1/M3 formulation, which full-PA runs no longer use.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What changed: one tree per side to per-cap trees. Reason: RRI-driven homeostatic and perturbed states, replaced by the M2 territory update.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What changed: one tree per side to per-cap trees. Reason: Integrator notes for M1/M3.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What changed: one tree per side to per-cap trees. Reason: Two-branch toy study for the earlier formulation.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Path to publication: Stage 5. Reason: May to June M1 runs on the earlier BCs.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 2026-10-22. Replaced by: Do gains fitted on some patients predict the rest?. Reason: Replaced by the question slide; the gain-fitting design is not settled.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slide for the newest Stage 1 change (mesh scaling, 14 Oct 2026).</a:t>
            </a:r>
          </a:p>
          <a:p>
            <a:r>
              <a:t>Source: svzt-agent docs/PATIENT_DATA_CONTRACT.md, section Mesh Scale Factor: 'Before 2026-10-14 only the 3D solver applied s, which made svSlicer flows s^-2 too small and the 0D models smaller than the 3D domain (TST-STAN-1 s=1.147, TST-STAN-9 s=1.425).' Seed scaling: lengths x s, areas x s^2, R_poiseuille s^-3, L s^-1, C s^3 (constant Eh/r).</a:t>
            </a:r>
          </a:p>
          <a:p>
            <a:r>
              <a:t>Commits: svzt-agent 545ac09, a838e57, 505adfd (14 Oct), 96b65c2 (15 Oct); svZeroDTrees 7264ff9, 2b97be9 (14 Oct), b7ae42a (15 Oct). Checked 22 Oct 2026.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to publication, Stage 1. Sources: svzt-agent 389c580 docs/TUNING_MODEL.md section 8 item 6 (inflow provenance) and item 7 (TST-STAN-5 cath 2.79 vs MRI 1.55 L/min); docs/PATIENT_DATA_CONTRACT.md (mesh scaling, commits 545ac09, a838e57, 505adfd). Boundary-layer item: PIPELINE_BRIEF Discretization (Sep 2026 correction withdrawn 22 Oct). Missing-lobe item from the 21 Oct pipeline slide workstreams.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2 calibration slide, updated 26 Oct 2026 to lead with the wall-correction matched 0D refit (svzt run wall-correction, mode adopted, uncommitted svzt-agent src/svztagent/workflows/wall_correction.py on 389c580). Each refit takes the iteration-2 tuned 0D model and the wall-corrected 3D run (_checks/elaw_iter3_20261023/*), fits vessel R, then one multiplier on proximal C (calibration_compliance_fit.json). All five completed and published calibrated_full_pa_zerod.json; svzt then recorded converged_preop_iteration (selection_kind wall_correction, threed_overrides E3 and damping) at 05:26 to 05:27 UTC 26 Oct. TST-STAN-5 completed on its third attempt (calibration job 49585669); the two earlier attempts failed the proximal compliance fit before target evaluation. Per patient (1, 2, 3, 5, 9): C scale 1.133, 0.988, 0.821, 1.003, 0.931; 3D pulse 25.10, 28.44, 58.73, 32.03, 23.54 mmHg, fitted 0D pulse 25.06, 28.47, 58.73, 32.02, 23.54; composite score tuned -&gt; matched 5.197 -&gt; 5.532, 2.008 -&gt; 0.369, 1.479 -&gt; 2.226, 8.386 -&gt; 8.589, 0.919 -&gt; 1.188; pressure NRMSE 0.117, 0.030, 0.064, 0.133, 0.054 (0.05 tolerance reported only); split error 0.002, 0.002, 0.015, 0.025, 0.003. baseline_policy is advisory (required false), so a worse composite does not block publishing. Earlier content of this slide (iteration-1 seeds, score uncalibrated -&gt; calibrated): TST-STAN-1 6.911 -&gt; 6.072; -2 21.523 -&gt; 2.233; -3 9.261 -&gt; 2.373; -5 10.497 -&gt; 7.201; -9 24.931 -&gt; 2.237; all five promoted. Iteration 2: only TST-STAN-9 promoted (protocol README).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changed and why, Stage 2. Previous: two-branch RRI proximal model (linear R -&gt; nonlinear R -&gt; inductor per side, one tree per side), confirmed topology (PIPELINE_BRIEF verification log). It survives only as legacy_rri_after_first.</a:t>
            </a:r>
          </a:p>
          <a:p>
            <a:r>
              <a:t>Current: full branched 0D network following the 3D centerline, every outlet represented, one tree per cap; learnedZeroD seed (iteration 1), svZeroDCalibrator refit (later iterations); outlet_cap_mapping.json drives the optimizer, exported trees, 3D coupler and adaptation.</a:t>
            </a:r>
          </a:p>
          <a:p>
            <a:r>
              <a:t>Evidence: TST-STAN-5 final-cycle RMSE over MPA sys/dia/mean vs the 3D reference: reduced two-branch RRI with tuned impedance 1.42 mmHg; full learned model with calibrated junctions 1.58 mmHg (archived slide 'Where each 0D representation lands against 3D').</a:t>
            </a:r>
          </a:p>
          <a:p>
            <a:r>
              <a:t>Planned: chi-squared-based 3D iteration gate (TUNING_MODEL.md section 8 item 3).</a:t>
            </a:r>
          </a:p>
          <a:p>
            <a:r>
              <a:t>Sources: svZeroDTrees 1b01fc9 docs/full_pa_calibration.md; svzt-agent 389c580 docs/TUNING_MODEL.md; svzt-agent 3b97da7, 592b9fc.</a:t>
            </a:r>
          </a:p>
          <a:p>
            <a:r>
              <a:t>Original footnote: svZeroDTrees docs/full_pa_calibration.md; svzt-agent docs/TUNING_MODEL.md sections 1 and 8.3. RMSE from the archived 0D-representation comparison (TST-STAN-5).</a:t>
            </a:r>
          </a:p>
          <a:p>
            <a:r>
              <a:t>Archived 2026-10-25. Replaced by: What changed: hand-picked iteration to protocol v1. Reason: Two steps back: protocol v1 is now the newest Stage 2 change; RRI noted on the new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to publication, Stage 2, updated 25 Oct 2026 after protocol v1 froze. Done: protocol v1 (svz docs/preop_protocol_v1/README.md (frozen 25 Oct 2026)). Open: run directories live under /scratch/users/ndorn/svzt_runs (purged; README says archive before relying long term). In progress: svzt run wall-correction (uncommitted svzt-agent src/svztagent/workflows/wall_correction.py, core/wall_correction.py, docs/TUNING_MODEL.md section 10); README: the v1 step ran outside svzt-agent via scripts/elaw_iter3_setup.py and does not refit the 0D proximal compliance. Residual misses: TST-STAN-2 split +0.037, TST-STAN-1 mean -2.1, TST-STAN-3 mean -2.3 (README: resistance side, not the wall). Measured alpha 0.84, 0.66, 0.52, 0.66, 0.61. Parameters at bounds: not checked here, the final tuning_diagnostics.json files are on scratch, not synced locally. Removed rows: re-tune under tied multiplier (done), TST-STAN-2 infeasibility (now 0.037 split error, within 2 sigma), TST-STAN-5 diastolic 3.8 sigma (now +0.5 mmHg), calibrated seeds above tolerance (iteration-2 gates no longer affect the result), copy 0D scores (superseded by the 3D result). Code used by the v1 runs (protocol README, Code and inputs): svzt-agent non-editable install of 16 Oct 2026 (HEAD 389c580 plus local edits, archived as code/svztagent_installed_20261016.tar.gz); svZeroDTrees 4f11755 on Sherlock (local clone HEAD 1b01fc9); svZeroDSolver 573da36; svMultiPhysics 626b002. 26 Oct 2026: matched 0D refit completed for all five (svz runs/tst-stan-*/manifest.yaml wall_correction_runs (status completed 26 Oct 2026) and wall_correction/iter-02/calibration/results/calibration_summary.json); the workflow files are still untracked in svzt-agent (src/svztagent/workflows/wall_correction.py, core/wall_correction.py, tests/test_wall_correction.py), so a commit row replaces the chi-squared gate row (moot while v1 fixes 2 iterations). Matched composite scores beat the tuned model only for TST-STAN-2 (advisory check).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Stage 3. E and damping held fixed across a patient's pre-op, post-op and adapted runs; post-op and adaptation use the selected pre-op iteration's E (svzt-agent 389c580 docs/TUNING_MODEL.md section 8 item 1, commit 0dad632). Explicit workflows preop select / run postop / run adapt: docs/ARCHITECTURE.md (389c580).</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slide, Stage 3, updated 25 Oct 2026. 3D minus catheter pulse pressure (mmHg). Iteration 1 (Rule A damping, tied multiplier): svz runs/tst-stan-1-20261023 and tst-stan-{2,3,5,9}-20261021 iterations/iter-01/results/iteration_decision.json: 42.22/6.31 (+7.9), 62.50/11.82 (+20.7), 88.37/7.98 (+22.4), 34.76/2.82 (+0.9), 30.93/4.92 (+2.0). Iteration 2: wall_correction/iter-02/inputs/iter-02/iteration_decision.json and elaw_compare iter2: PP 34.74 (+6.7), 38.11 (+8.1), 65.82 (+7.8), 31.88 (+0.9), 27.66 (+3.7). Iteration 3 (E-law wall, iteration-2 BCs, no 0D retune): PP 25.4 (-2.6), 28.4 (-1.6), 58.6 (+0.6), 30.4 (-0.6), 23.5 (-0.5); targets PP 28, 30, 58, 31, 24. Table: iteration-3 E3 (kPa), Rule A damping, mean and RPA split vs catheter/perfusion. Runs on the tuning mesh (no boundary layer). Replaced the 'Before: c = 1e4' series (pre-20 Oct runs). Code: svzt-agent 389c580 + local edits (install 16 Oct), svZeroDTrees 4f11755 (Sherlock), svZeroDSolver 573da36, svMultiPhysics 626b002.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to publication, Stage 3, updated 25 Oct 2026. Done: Rule A damping 21 Oct; E-law wall-correction step 23 Oct (svz docs/preop_protocol_v1/README.md (frozen 25 Oct 2026)), pulses within -2.6 to +0.6 mmHg. Open: whether post-op runs take the iteration-3 E and damping is not stated in the repos (TUNING_MODEL.md section 8 item 1 says post-op uses the selected pre-op iteration's E; the wall-correction step is outside svzt-agent in v1). Boundary-layer transfer check: README Known limitations. Effective wall E: README Known limitations. Removed: 'pulse still 8 to 22 mmHg too wide' (closed), 'svzt preop select' (v1 reports iteration 3), '3D/0D volume correction' (superseded by the E law). Repo state: svzt-agent 389c580 (+ local edits), svZeroDTrees 4f11755 on Sherlock. 26 Oct 2026: svzt wall-correction-status recorded converged_preop_iteration (selection_kind wall_correction) for all five with threed_overrides {elasticity_modulus: E3, damping}; postop.py and adapt.py apply them via apply_preop_threed_overrides (uncommitted svzt-agent edits on 389c580). Resolves the earlier open item.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Stage 4. Post-op BCs are unchanged from the selected pre-op iteration: same calibrated full-PA 0D model, coupler surfaces, outlet mapping, E and damping (PIPELINE_BRIEF; svzt-agent 389c580 docs/TUNING_MODEL.md section 8 item 1). SDFStent is not in either repo; the post-op mesh is a patient input (svzt-agent docs/PATIENT_DATA_CONTRACT.md:19-46).</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slide, Stage 4. Open item (PIPELINE_BRIEF): simulated stent diameters may overshoot the post-op split; check against angiography (~0.8x nominal?). Evidence of overshoot: archived slide 'Patient-specific adaptation tests' and the roadmap (May to June runs, earlier BCs). Chart values are (1/x)^4 for x = 1.0, 0.9, 0.8: 1.00, 1.52, 2.44, Poiseuille only, not a simulation. Post-op runs: svz runs/tst-stan-*-20260507 etc. (postop submitted 15 to 26 May 2026). Repo state: svzt-agent 389c580, svZeroDTrees 1b01fc9.</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to publication, Stage 4. No postop_run in any Oct 2026 run manifest (svz runs/tst-stan-*-2026100x to -20261021). Coupler pairing check: svzt-agent 389c580 docs/TUNING_MODEL.md section 8 item 5; svZeroDTrees docs/interface.md says generate_threed_coupler follows the outlet mapping (b582e96, c0f58de), confirm on the first patient. Boundary-layer post-op meshes: prerequisite on the Stage 6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slide, Stage 5. Intent unchanged (PIPELINE_BRIEF): gains should generalize across patients (fit on some, validate on held-out). Patient letters are placeholders, not an assignment. Gain names from svZeroDTrees 1b01fc9 docs/interface.md (adaptation parameter_set: wss_gain, ims_gain, compliance_gain). Latest adaptation runs: May to June 2026 (M1, earlier BCs), svz runs/tst-stan-*-20260507 etc.</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changed and why, Stage 5. Previous: M1/M3 integrate CWSS / CWSS-IMS on one LPA and one RPA tree in the reduced-order PA (RRI) model built from optimized_params.csv; they raise ValueError for per-cap tuned models, and their adapted radii are not representable in tree metadata, so the adapted radii do not reach the 3D simulation (svZeroDTrees 1b01fc9 docs/interface.md).</a:t>
            </a:r>
          </a:p>
          <a:p>
            <a:r>
              <a:t>Current default M2: total_scale = ((Q_post/Q_pre)^(wss_gain/3) (R_post/R_pre)^(ims_gain/4))^iterations from the 3D LPA/RPA flows and resistances, applied to every tuned tree on that side; Olufsen k1/k3 scaled by total_scale^-compliance_gain. M1/M3 refused for full-PA at plan time (svzt-agent 389c580 config/models.py:1339, adapt.py:136; svZeroDTrees f2ec7ff adaptation/workflow.py:318-330, adaptation/tuned_trees.py).</a:t>
            </a:r>
          </a:p>
          <a:p>
            <a:r>
              <a:t>Planned (user, 22 Oct): rebuild on full 0D pre- and post-op models; not started, no commits found. Open decision: per-cap vs territory stimulus (svZeroDTrees docs/pulmonary_tuning_model.md section 7).</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to publication, Stage 5. Adaptation runs in svz: tst-stan-1-20260507 (12 submissions, 21 May to 3 Jun), -3 (3), -5 (1), -9 (2), all M1 on earlier BCs; none in Oct 2026 runs. Rebuild status: planned, not started (user, 22 Oct 2026). svzt-agent 389c580, svZeroDTrees 1b01fc9.</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Deck synced 22 Oct 2026 to svzt-agent 389c580, svZeroDTrees 1b01fc9.</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overview. Stage status: 1 validated; 2 to 5 in development; 6 and 7 planned (Stage 3 changed from validated on 22 Oct: damping rollout 21 Oct, no pre-op iteration selected under the current BCs). Workstreams from the 21 Oct deck, updated against svzt-agent 389c580, svZeroDTrees 1b01fc9 and svz config (damping in config/patients.yaml). Updated 25 Oct 2026: Stage 2 completed (svz docs/preop_protocol_v1/README.md (frozen 25 Oct 2026)); workstreams: E-law wall correction done for all five (pulse -2.6 to +0.6 mmHg); matching 0D refit in development (uncommitted svzt-agent workflows/wall_correction.py); TST-STAN-2 split error +0.037 after v1.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Cohort progress matrix (state slide), updated 25 Oct 2026. Rows 2 and 3: svz docs/preop_protocol_v1/README.md (frozen 25 Oct 2026): all five ran iterations 1 and 2 (tst-stan-1-20261023, tst-stan-{2,3,5,9}-20261021) and the wall-correction step (_checks/elaw_iter3_20261023/*). Row 3 stays in-development colour because Stage 3 is in development (boundary-layer mesh runs pending). Rows 4 to 7 carried over unchanged (May to June runs on earlier BCs). 26 Oct 2026: matched 0D refit and pre-op hand-off completed for all five (svz runs/tst-stan-*/manifest.yaml wall_correction_runs (status completed 26 Oct 2026) and wall_correction/iter-02/calibration/results/calibration_summary.json).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(state slide), updated 25 Oct 2026. Rows 1 to 7 rewritten for protocol v1 (svz docs/preop_protocol_v1/README.md (frozen 25 Oct 2026)). Removed: chi-squared 3D iteration gate (v1 fixes 2 iterations; kept as Planned on the Stage 2 path slide), TST-STAN-2 infeasibility (now a 0.037 split residual, on the Stage 2 path slide), 3D/0D volume correction and the rho correction (both superseded by the E law). Rows 8 to 12 (Stages 4 to 6 and future) unchanged. Wall correction in svzt-agent: uncommitted workflows/wall_correction.py, docs/TUNING_MODEL.md section 10. Repo state: svzt-agent 389c580 (+ local edits), svZeroDTrees 1b01fc9 local / 4f11755 on Sherlock.</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Discretization. dt 4e-4 for every patient (svz config/patients.yaml); 6000 steps (svz config/defaults.yaml: 'Two cycles were not periodic (2026-10-08)'); metrics from the last cycle. Earlier deck listed dt 3e-4 to 5e-4 and 2 tuning cycles. Code default in svzt-agent 389c580 config/models.py:472-473 is n_tsteps 4000, dt 5e-4 (overridden by the workspace). Boundary-layer question open (PIPELINE_BRIEF; Sep 2026 correction withdrawn 22 Oct). Corrected 25 Oct 2026: the v1 svFSIplus.xml inputs (svz runs/*/wall_correction/iter-02/inputs/{iter-01,iter-02,adopted}/svFSIplus.xml) all use Number_of_time_steps 6000 with Time_step_size 4e-4 (TST-STAN-1, -5; 0.8 s cycle) or 3.75e-4 (TST-STAN-2, -3, -9; 0.75 s cycle), i.e. 2000 steps per cycle and 3 cycles. svz config defaults.yaml comment: dt = period/2000, so 6000 steps = 3 cycles. The per-patient dt 0.0004 in patients.yaml is not what the 0.75 s patients ran.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Deformable-wall formulation. svMultiPhysics CMM; E = match_proximal_compliance (svzt-agent 0dad632, TUNING_MODEL.md section 8 item 1); Robin stiffness 1000 (config/models.py:408); damping per patient from svz config/patients.yaml (TST-STAN-1 4300, -2 8000, -3 10000 default, -5 3650, -9 6200). svzt-agent 389c580, svZeroDTrees 1b01fc9. Updated 25 Oct 2026 for protocol v1 (svz docs/preop_protocol_v1/README.md (frozen 25 Oct 2026)): reported pre-op runs use the E-law wall E3 = lambda * E2 (7.9, 11.5, 81.1, 8.4, 152.7 kPa for TST-STAN-1, -2, -3, -5, -9; h = 0.2 cm, nu = 0.5) and Rule A damping c1*sqrt(E3/E1) = 3456, 4438, 7695, 3488, 5792 (c1 = 4300, 8000, 1e4, 3650, 6200 in iterations 1 and 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slide. Spot-checked 22 Oct 2026 against svzt-agent 389c580, svZeroDTrees 1b01fc9 and svz config; sources as in the footnote.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slide: Stage 2 BC tuning status for the five pre-op patients, iteration 2 of the 21 Oct cohort runs (tied stiffness multiplier, stiffness-scaled damping).</a:t>
            </a:r>
          </a:p>
          <a:p>
            <a:r>
              <a:t>Data from Nick Dorn, 23 Oct 2026. svz runs/tst-stan-*-20261021/iterations/iter-02/results is empty locally, so the numbers are not yet traceable to a synced file. Iteration-1 3D from iter-01/results/iteration_metrics.json.</a:t>
            </a:r>
          </a:p>
          <a:p>
            <a:r>
              <a:t>Worst miss = max over (sys, dia, mean, split) of |model - target| / sigma, sigma 2 mmHg and 0.02 (svzt-agent 389c580 docs/TUNING_MODEL.md section 2 objective). 0D: STAN-5 0.85 (dia), STAN-9 0.9 (split), STAN-1 1.0 (mean), STAN-3 0.5 (mean), STAN-2 0.85 (split). 3D: STAN-5 1.0 (split), STAN-9 1.5 (sys), STAN-1 2.2 (sys), STAN-3 3.25 (sys), STAN-2 3.25 (sys).</a:t>
            </a:r>
          </a:p>
          <a:p>
            <a:r>
              <a:t>3D - 0D pulse pressure as supplied: +1.5, +4.6, +6.6, +8.1, +7.4 mmHg. For STAN-5 the table values give -0.4 (31.9 vs 32.3); +1.5 kept per Nick (different 0D reference).</a:t>
            </a:r>
          </a:p>
          <a:p>
            <a:r>
              <a:t>rho: multiplier on the 3D wall modulus E (E_3D = rho x E matched to the 0D proximal compliance). Computed, not yet applied (23 Oct 2026). STAN-5 converged at iteration 2.</a:t>
            </a:r>
          </a:p>
          <a:p>
            <a:r>
              <a:t>Original footnote: Iteration 2 of tst-stan-*-20261021 (N. Dorn, 23 Oct 2026; iter-02 outputs not yet synced locally). sys / dia / mean mmHg, RPA split. σ = 2 mmHg, 0.02. ✓ = within 1σ on all four targets.</a:t>
            </a:r>
          </a:p>
          <a:p>
            <a:r>
              <a:t>Archived 2026-10-25. Replaced by: Final pre-op fit: every pressure within 2.6 mmHg. Reason: Iteration-2 status superseded by the frozen protocol v1 result (iteration 3)..</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Preliminary investigation of the 3D wall stiffness correction rho on TST-STAN-3 (data from Nick Dorn, 23 Oct 2026; runs not yet synced to svz runs, no commit yet; repo state svzt-agent 389c580, svZeroDTrees 1b01fc9).</a:t>
            </a:r>
          </a:p>
          <a:p>
            <a:r>
              <a:t>Target 67/9/32, PP 58, split 0.446. Iteration-2 0D fit 66.3/8.6/31.0, PP 57.7, 0.454. Iteration-2 3D uncorrected (control) 73.5/7.7/29.9, PP 65.8, 0.448. A: E x 0.605 (rho from the iteration-1 calibrated 0D) 61.1/9.8/29.3, PP 51.3, 0.445. B: E x 0.633 (rho from the iteration-2 3D) 62.2/9.5/29.4, PP 52.6, 0.445.</a:t>
            </a:r>
          </a:p>
          <a:p>
            <a:r>
              <a:t>Chart: PP minus target 58: -0.3, +7.8, -6.7, -5.4 mmHg.</a:t>
            </a:r>
          </a:p>
          <a:p>
            <a:r>
              <a:t>Inference, not run: PP falls about 13.2 mmHg from E x 1 to E x 0.633 (about 36 mmHg per unit of the E multiplier). If linear, matching the 0D pulse (57.7) needs about E x 0.78. Treat as a hypothesis for the next test.</a:t>
            </a:r>
          </a:p>
          <a:p>
            <a:r>
              <a:t>Original footnote: Preliminary single-patient test (N. Dorn, 23 Oct 2026), iteration-2 BCs; not yet in the repos. ρ multiplies the 3D wall modulus E. Red: systolic more than 2σ (4 mmHg) off target.</a:t>
            </a:r>
          </a:p>
          <a:p>
            <a:r>
              <a:t>Archived 2026-10-25. Replaced by: Does one wall rule close the 3D pulse in all five?. Reason: The ρ correction was superseded by the E law used in protocol v1..</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slide for the newest Stage 2 change (the wall-correction step of protocol v1). Charts: TST-STAN-3 3D runs tst-stan-3-20261021 iter-01, iter-02, rho tests A and B, and _checks/elaw_iter3_20261023/tst-stan-3 (iteration-2 BCs, Rule A damping 7695). E law (protocol README): lambda = (PP_target / PP_3D,iter2)^(1/alpha), alpha = 0.55, lambda &gt;= 0.5, E3 = lambda * E2. alpha was fixed in advance from TST-STAN-3 (in-sample); TST-STAN-1, -2, -5, -9 are out-of-sample. Result: iteration-3 pulse minus target -2.6 (1), -1.6 (2), +0.6 (3), -0.6 (5), -0.5 (9) mmHg. Measured alpha iteration 2 -&gt; 3: 0.84, 0.66, 0.52, 0.66, 0.61, so the softer walls were slightly over-corrected. K = PP x C3D constant within 2% in all five. Sources: svz docs/preop_protocol_v1/README.md (frozen 25 Oct 2026); results/elaw_compare.json, elaw_compare_stan1.json. Code used by the v1 runs (protocol README, Code and inputs): svzt-agent non-editable install of 16 Oct 2026 (HEAD 389c580 plus local edits, archived as code/svztagent_installed_20261016.tar.gz); svZeroDTrees 4f11755 on Sherlock (local clone HEAD 1b01fc9); svZeroDSolver 573da36; svMultiPhysics 626b002.</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slide, Stage 2 (new 25 Oct 2026). Iteration-3 (wall-correction step) 3D vs pre-op targets, protocol v1. sys/dia/mean (PP), split; error sys/dia/mean; PP error; split error; E3, damping: TST-STAN-1 36.0/10.6/20.9 (25.4), 0.689; -2.0/+0.6/-2.1; -2.6; -0.021; 7.9 kPa, 3456. TST-STAN-2 42.2/13.9/25.0 (28.4), 0.799; -1.8/-0.1/-1.0; -1.6; +0.037; 11.5 kPa, 4438. TST-STAN-3 67.2/8.6/29.7 (58.6), 0.448; +0.2/-0.4/-2.3; +0.6; +0.002; 81.1 kPa, 7695. TST-STAN-5 33.9/3.5/15.8 (30.4), 0.890; -0.1/+0.5/-0.2; -0.6; +0.020; 8.4 kPa, 3488. TST-STAN-9 28.6/5.1/14.5 (23.5), 0.883; -0.4/+0.1/-0.5; -0.5; -0.020; 152.7 kPa, 5792. All within 10% except TST-STAN-5 diastolic (+17%, 0.5 mmHg on 3): report absolute errors as the headline. Remaining errors are resistance-side (TST-STAN-2 split, TST-STAN-1 and -3 mean). Cycle 2 to 3 change &lt;= 0.75 mmHg in every run. Runs: tst-stan-1-20261023, tst-stan-{2,3,5,9}-20261021 (iterations 1-2) and _checks/elaw_iter3_20261023/* (wall correction), runs_root /scratch/users/ndorn/svzt_runs on Sherlock (scratch, purged: archive before relying long term). Chart values computed from svz docs/preop_protocol_v1/results/elaw_compare.json and elaw_compare_stan1.json (iter3 block). Code used by the v1 runs (protocol README, Code and inputs): svzt-agent non-editable install of 16 Oct 2026 (HEAD 389c580 plus local edits, archived as code/svztagent_installed_20261016.tar.gz); svZeroDTrees 4f11755 on Sherlock (local clone HEAD 1b01fc9); svZeroDSolver 573da36; svMultiPhysics 626b002.</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changed and why, Stage 2 (new 25 Oct 2026). Previous: up to max_iterations = 5 outer-loop iterations, the pre-op iteration picked by hand with svzt preop select (3D convergence gate set aside 6 Oct); the 3D pulse was fixed by Rule A damping only (21 Oct), and a rho wall correction (E x 0D/3D compliance ratio) tested on TST-STAN-3 left the pulse 5 to 7 mmHg too narrow (archived slide 'rho test on TST-STAN-3: the correction overshoots'). Trigger: after iteration 2 the 3D pulse was +6.7 (1), +8.1 (2), +7.8 (3), +0.9 (5), +3.7 (9) mmHg wide; the iteration-2 3D deformable wall gave only about 60-75% of the 0D proximal compliance, which R-only calibration cannot change (svzt-agent docs/TUNING_MODEL.md section 10, uncommitted). Current: protocol v1 (svz docs/preop_protocol_v1/README.md (frozen 25 Oct 2026)): two iterations, then the E-law wall-correction step on the iteration-2 BCs, iteration-3 pulse -2.6 to +0.6 mmHg. Earlier step one further back (two-branch RRI to full branched 0D) is archived. In development: svzt run wall-correction (uncommitted svzt-agent workflows/wall_correction.py) ports the step into the orchestrator and also refits the 0D model (R, then one proximal C multiplier) to the corrected 3D run; all five completed and published on 26 Oct 2026 (svz runs/tst-stan-*/manifest.yaml wall_correction_runs (status completed 26 Oct 2026) and wall_correction/iter-02/calibration/results/calibration_summary.json). Code used by the v1 runs (protocol README, Code and inputs): svzt-agent non-editable install of 16 Oct 2026 (HEAD 389c580 plus local edits, archived as code/svztagent_installed_20261016.tar.gz); svZeroDTrees 4f11755 on Sherlock (local clone HEAD 1b01fc9); svZeroDSolver 573da36; svMultiPhysics 626b002.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microsoft.com/office/2007/relationships/hdphoto" Target="../media/hdphoto1.wdp"/><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mage">
    <p:bg>
      <p:bgPr>
        <a:solidFill>
          <a:schemeClr val="tx1"/>
        </a:solidFill>
        <a:effectLst/>
      </p:bgPr>
    </p:bg>
    <p:spTree>
      <p:nvGrpSpPr>
        <p:cNvPr id="1" name=""/>
        <p:cNvGrpSpPr/>
        <p:nvPr/>
      </p:nvGrpSpPr>
      <p:grpSpPr>
        <a:xfrm>
          <a:off x="0" y="0"/>
          <a:ext cx="0" cy="0"/>
          <a:chOff x="0" y="0"/>
          <a:chExt cx="0" cy="0"/>
        </a:xfrm>
      </p:grpSpPr>
      <p:pic>
        <p:nvPicPr>
          <p:cNvPr id="14" name="Picture 13" descr="Background pattern&#10;&#10;Description automatically generated">
            <a:extLst>
              <a:ext uri="{FF2B5EF4-FFF2-40B4-BE49-F238E27FC236}">
                <a16:creationId xmlns:a16="http://schemas.microsoft.com/office/drawing/2014/main" id="{F57962F0-D43B-AD1B-95F7-59D2CF576262}"/>
              </a:ext>
            </a:extLst>
          </p:cNvPr>
          <p:cNvPicPr>
            <a:picLocks noChangeAspect="1"/>
          </p:cNvPicPr>
          <p:nvPr userDrawn="1"/>
        </p:nvPicPr>
        <p:blipFill>
          <a:blip r:embed="rId2"/>
          <a:stretch>
            <a:fillRect/>
          </a:stretch>
        </p:blipFill>
        <p:spPr>
          <a:xfrm>
            <a:off x="0" y="0"/>
            <a:ext cx="3215261" cy="5715000"/>
          </a:xfrm>
          <a:prstGeom prst="rect">
            <a:avLst/>
          </a:prstGeom>
        </p:spPr>
      </p:pic>
      <p:sp>
        <p:nvSpPr>
          <p:cNvPr id="2" name="Title 1"/>
          <p:cNvSpPr>
            <a:spLocks noGrp="1"/>
          </p:cNvSpPr>
          <p:nvPr>
            <p:ph type="ctrTitle" hasCustomPrompt="1"/>
          </p:nvPr>
        </p:nvSpPr>
        <p:spPr>
          <a:xfrm>
            <a:off x="5025813" y="484442"/>
            <a:ext cx="3931919" cy="3288305"/>
          </a:xfrm>
        </p:spPr>
        <p:txBody>
          <a:bodyPr anchor="b"/>
          <a:lstStyle>
            <a:lvl1pPr algn="l">
              <a:defRPr sz="4500">
                <a:solidFill>
                  <a:schemeClr val="bg1"/>
                </a:solidFill>
              </a:defRPr>
            </a:lvl1pPr>
          </a:lstStyle>
          <a:p>
            <a:r>
              <a:rPr lang="en-US" dirty="0"/>
              <a:t>Click to edit main title style</a:t>
            </a:r>
          </a:p>
        </p:txBody>
      </p:sp>
      <p:sp>
        <p:nvSpPr>
          <p:cNvPr id="3" name="Subtitle 2"/>
          <p:cNvSpPr>
            <a:spLocks noGrp="1"/>
          </p:cNvSpPr>
          <p:nvPr>
            <p:ph type="subTitle" idx="1" hasCustomPrompt="1"/>
          </p:nvPr>
        </p:nvSpPr>
        <p:spPr>
          <a:xfrm>
            <a:off x="5025813" y="3854026"/>
            <a:ext cx="3935306" cy="1198881"/>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3"/>
          <a:srcRect/>
          <a:stretch/>
        </p:blipFill>
        <p:spPr>
          <a:xfrm>
            <a:off x="7357532" y="5383110"/>
            <a:ext cx="1600200" cy="192741"/>
          </a:xfrm>
          <a:prstGeom prst="rect">
            <a:avLst/>
          </a:prstGeom>
        </p:spPr>
      </p:pic>
      <p:sp>
        <p:nvSpPr>
          <p:cNvPr id="10" name="Picture Placeholder 9">
            <a:extLst>
              <a:ext uri="{FF2B5EF4-FFF2-40B4-BE49-F238E27FC236}">
                <a16:creationId xmlns:a16="http://schemas.microsoft.com/office/drawing/2014/main" id="{5C0E9908-EFC8-2B4D-13A9-F0DFA354FB02}"/>
              </a:ext>
            </a:extLst>
          </p:cNvPr>
          <p:cNvSpPr>
            <a:spLocks noGrp="1"/>
          </p:cNvSpPr>
          <p:nvPr>
            <p:ph type="pic" sz="quarter" idx="10" hasCustomPrompt="1"/>
          </p:nvPr>
        </p:nvSpPr>
        <p:spPr>
          <a:xfrm>
            <a:off x="325437" y="484443"/>
            <a:ext cx="4568463" cy="4568464"/>
          </a:xfrm>
          <a:solidFill>
            <a:schemeClr val="bg2"/>
          </a:solidFill>
        </p:spPr>
        <p:txBody>
          <a:bodyPr anchor="ctr" anchorCtr="0">
            <a:normAutofit/>
          </a:bodyPr>
          <a:lstStyle>
            <a:lvl1pPr marL="0" indent="0" algn="ctr">
              <a:buNone/>
              <a:defRPr sz="800"/>
            </a:lvl1pPr>
          </a:lstStyle>
          <a:p>
            <a:r>
              <a:rPr lang="en-US" dirty="0"/>
              <a:t>Insert image (square ratio)</a:t>
            </a:r>
          </a:p>
          <a:p>
            <a:endParaRPr lang="en-US" dirty="0"/>
          </a:p>
          <a:p>
            <a:endParaRPr lang="en-US" dirty="0"/>
          </a:p>
        </p:txBody>
      </p:sp>
    </p:spTree>
    <p:extLst>
      <p:ext uri="{BB962C8B-B14F-4D97-AF65-F5344CB8AC3E}">
        <p14:creationId xmlns:p14="http://schemas.microsoft.com/office/powerpoint/2010/main" val="3644809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txt only">
    <p:bg>
      <p:bgPr>
        <a:solidFill>
          <a:schemeClr val="tx1"/>
        </a:solidFill>
        <a:effectLst/>
      </p:bgPr>
    </p:bg>
    <p:spTree>
      <p:nvGrpSpPr>
        <p:cNvPr id="1" name=""/>
        <p:cNvGrpSpPr/>
        <p:nvPr/>
      </p:nvGrpSpPr>
      <p:grpSpPr>
        <a:xfrm>
          <a:off x="0" y="0"/>
          <a:ext cx="0" cy="0"/>
          <a:chOff x="0" y="0"/>
          <a:chExt cx="0" cy="0"/>
        </a:xfrm>
      </p:grpSpPr>
      <p:pic>
        <p:nvPicPr>
          <p:cNvPr id="14" name="Picture 13" descr="Background pattern&#10;&#10;Description automatically generated">
            <a:extLst>
              <a:ext uri="{FF2B5EF4-FFF2-40B4-BE49-F238E27FC236}">
                <a16:creationId xmlns:a16="http://schemas.microsoft.com/office/drawing/2014/main" id="{F57962F0-D43B-AD1B-95F7-59D2CF576262}"/>
              </a:ext>
            </a:extLst>
          </p:cNvPr>
          <p:cNvPicPr>
            <a:picLocks noChangeAspect="1"/>
          </p:cNvPicPr>
          <p:nvPr userDrawn="1"/>
        </p:nvPicPr>
        <p:blipFill>
          <a:blip r:embed="rId2"/>
          <a:stretch>
            <a:fillRect/>
          </a:stretch>
        </p:blipFill>
        <p:spPr>
          <a:xfrm>
            <a:off x="0" y="0"/>
            <a:ext cx="3215261" cy="5715000"/>
          </a:xfrm>
          <a:prstGeom prst="rect">
            <a:avLst/>
          </a:prstGeom>
        </p:spPr>
      </p:pic>
      <p:sp>
        <p:nvSpPr>
          <p:cNvPr id="2" name="Title 1"/>
          <p:cNvSpPr>
            <a:spLocks noGrp="1"/>
          </p:cNvSpPr>
          <p:nvPr>
            <p:ph type="ctrTitle" hasCustomPrompt="1"/>
          </p:nvPr>
        </p:nvSpPr>
        <p:spPr>
          <a:xfrm>
            <a:off x="1363132" y="1955800"/>
            <a:ext cx="7479792" cy="1405468"/>
          </a:xfrm>
        </p:spPr>
        <p:txBody>
          <a:bodyPr anchor="t" anchorCtr="0"/>
          <a:lstStyle>
            <a:lvl1pPr algn="l">
              <a:defRPr sz="4500">
                <a:solidFill>
                  <a:schemeClr val="bg1"/>
                </a:solidFill>
              </a:defRPr>
            </a:lvl1pPr>
          </a:lstStyle>
          <a:p>
            <a:r>
              <a:rPr lang="en-US" dirty="0"/>
              <a:t>Click to edit main title style, continues across two lines</a:t>
            </a:r>
          </a:p>
        </p:txBody>
      </p:sp>
      <p:sp>
        <p:nvSpPr>
          <p:cNvPr id="3" name="Subtitle 2"/>
          <p:cNvSpPr>
            <a:spLocks noGrp="1"/>
          </p:cNvSpPr>
          <p:nvPr>
            <p:ph type="subTitle" idx="1" hasCustomPrompt="1"/>
          </p:nvPr>
        </p:nvSpPr>
        <p:spPr>
          <a:xfrm>
            <a:off x="3688080" y="3386669"/>
            <a:ext cx="3935306" cy="1198881"/>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3"/>
          <a:srcRect/>
          <a:stretch/>
        </p:blipFill>
        <p:spPr>
          <a:xfrm>
            <a:off x="7357532" y="5383110"/>
            <a:ext cx="1600200" cy="192741"/>
          </a:xfrm>
          <a:prstGeom prst="rect">
            <a:avLst/>
          </a:prstGeom>
        </p:spPr>
      </p:pic>
    </p:spTree>
    <p:extLst>
      <p:ext uri="{BB962C8B-B14F-4D97-AF65-F5344CB8AC3E}">
        <p14:creationId xmlns:p14="http://schemas.microsoft.com/office/powerpoint/2010/main" val="1979908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mage + graphic elements">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text, silhouette&#10;&#10;Description automatically generated">
            <a:extLst>
              <a:ext uri="{FF2B5EF4-FFF2-40B4-BE49-F238E27FC236}">
                <a16:creationId xmlns:a16="http://schemas.microsoft.com/office/drawing/2014/main" id="{62FC2C5C-4480-C310-F167-8EE8AC2F1060}"/>
              </a:ext>
            </a:extLst>
          </p:cNvPr>
          <p:cNvPicPr>
            <a:picLocks noChangeAspect="1"/>
          </p:cNvPicPr>
          <p:nvPr userDrawn="1"/>
        </p:nvPicPr>
        <p:blipFill>
          <a:blip r:embed="rId2"/>
          <a:stretch>
            <a:fillRect/>
          </a:stretch>
        </p:blipFill>
        <p:spPr>
          <a:xfrm>
            <a:off x="947058" y="-11194"/>
            <a:ext cx="8196942" cy="5726194"/>
          </a:xfrm>
          <a:prstGeom prst="rect">
            <a:avLst/>
          </a:prstGeom>
          <a:noFill/>
        </p:spPr>
      </p:pic>
      <p:pic>
        <p:nvPicPr>
          <p:cNvPr id="10" name="Picture 9">
            <a:extLst>
              <a:ext uri="{FF2B5EF4-FFF2-40B4-BE49-F238E27FC236}">
                <a16:creationId xmlns:a16="http://schemas.microsoft.com/office/drawing/2014/main" id="{08799441-F534-A055-49C0-8C4A658143D9}"/>
              </a:ext>
            </a:extLst>
          </p:cNvPr>
          <p:cNvPicPr>
            <a:picLocks noChangeAspect="1"/>
          </p:cNvPicPr>
          <p:nvPr userDrawn="1"/>
        </p:nvPicPr>
        <p:blipFill>
          <a:blip r:embed="rId3"/>
          <a:stretch>
            <a:fillRect/>
          </a:stretch>
        </p:blipFill>
        <p:spPr>
          <a:xfrm>
            <a:off x="0" y="4224338"/>
            <a:ext cx="9144000" cy="1490662"/>
          </a:xfrm>
          <a:prstGeom prst="rect">
            <a:avLst/>
          </a:prstGeom>
        </p:spPr>
      </p:pic>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4"/>
          <a:srcRect/>
          <a:stretch/>
        </p:blipFill>
        <p:spPr>
          <a:xfrm>
            <a:off x="7357532" y="233979"/>
            <a:ext cx="1600200" cy="192741"/>
          </a:xfrm>
          <a:prstGeom prst="rect">
            <a:avLst/>
          </a:prstGeom>
        </p:spPr>
      </p:pic>
      <p:sp>
        <p:nvSpPr>
          <p:cNvPr id="4" name="Title 1">
            <a:extLst>
              <a:ext uri="{FF2B5EF4-FFF2-40B4-BE49-F238E27FC236}">
                <a16:creationId xmlns:a16="http://schemas.microsoft.com/office/drawing/2014/main" id="{FEF746EA-8D7B-2B2C-B6A6-AF6BC5BE2D76}"/>
              </a:ext>
            </a:extLst>
          </p:cNvPr>
          <p:cNvSpPr>
            <a:spLocks noGrp="1"/>
          </p:cNvSpPr>
          <p:nvPr>
            <p:ph type="ctrTitle" hasCustomPrompt="1"/>
          </p:nvPr>
        </p:nvSpPr>
        <p:spPr>
          <a:xfrm>
            <a:off x="5025813" y="853440"/>
            <a:ext cx="3931919" cy="2919307"/>
          </a:xfrm>
        </p:spPr>
        <p:txBody>
          <a:bodyPr anchor="b"/>
          <a:lstStyle>
            <a:lvl1pPr algn="l">
              <a:defRPr sz="4500">
                <a:solidFill>
                  <a:schemeClr val="bg1"/>
                </a:solidFill>
              </a:defRPr>
            </a:lvl1pPr>
          </a:lstStyle>
          <a:p>
            <a:r>
              <a:rPr lang="en-US" dirty="0"/>
              <a:t>Click to edit main title style</a:t>
            </a:r>
          </a:p>
        </p:txBody>
      </p:sp>
      <p:sp>
        <p:nvSpPr>
          <p:cNvPr id="5" name="Subtitle 2">
            <a:extLst>
              <a:ext uri="{FF2B5EF4-FFF2-40B4-BE49-F238E27FC236}">
                <a16:creationId xmlns:a16="http://schemas.microsoft.com/office/drawing/2014/main" id="{CC7A326A-5023-234E-A8FC-08D90ACB3215}"/>
              </a:ext>
            </a:extLst>
          </p:cNvPr>
          <p:cNvSpPr>
            <a:spLocks noGrp="1"/>
          </p:cNvSpPr>
          <p:nvPr>
            <p:ph type="subTitle" idx="1" hasCustomPrompt="1"/>
          </p:nvPr>
        </p:nvSpPr>
        <p:spPr>
          <a:xfrm>
            <a:off x="5025813" y="3854026"/>
            <a:ext cx="3935306" cy="1198881"/>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sp>
        <p:nvSpPr>
          <p:cNvPr id="12" name="Picture Placeholder 11">
            <a:extLst>
              <a:ext uri="{FF2B5EF4-FFF2-40B4-BE49-F238E27FC236}">
                <a16:creationId xmlns:a16="http://schemas.microsoft.com/office/drawing/2014/main" id="{56628AFC-58B4-A1DD-58D2-E36C40AFD249}"/>
              </a:ext>
            </a:extLst>
          </p:cNvPr>
          <p:cNvSpPr>
            <a:spLocks noGrp="1"/>
          </p:cNvSpPr>
          <p:nvPr>
            <p:ph type="pic" sz="quarter" idx="10" hasCustomPrompt="1"/>
          </p:nvPr>
        </p:nvSpPr>
        <p:spPr>
          <a:xfrm>
            <a:off x="0" y="0"/>
            <a:ext cx="6840538" cy="4875213"/>
          </a:xfrm>
          <a:custGeom>
            <a:avLst/>
            <a:gdLst>
              <a:gd name="connsiteX0" fmla="*/ 0 w 6840538"/>
              <a:gd name="connsiteY0" fmla="*/ 0 h 4875213"/>
              <a:gd name="connsiteX1" fmla="*/ 6840538 w 6840538"/>
              <a:gd name="connsiteY1" fmla="*/ 0 h 4875213"/>
              <a:gd name="connsiteX2" fmla="*/ 6840538 w 6840538"/>
              <a:gd name="connsiteY2" fmla="*/ 16083 h 4875213"/>
              <a:gd name="connsiteX3" fmla="*/ 6695809 w 6840538"/>
              <a:gd name="connsiteY3" fmla="*/ 15070 h 4875213"/>
              <a:gd name="connsiteX4" fmla="*/ 6448699 w 6840538"/>
              <a:gd name="connsiteY4" fmla="*/ 14802 h 4875213"/>
              <a:gd name="connsiteX5" fmla="*/ 6300778 w 6840538"/>
              <a:gd name="connsiteY5" fmla="*/ 37885 h 4875213"/>
              <a:gd name="connsiteX6" fmla="*/ 6038492 w 6840538"/>
              <a:gd name="connsiteY6" fmla="*/ 413015 h 4875213"/>
              <a:gd name="connsiteX7" fmla="*/ 6027641 w 6840538"/>
              <a:gd name="connsiteY7" fmla="*/ 652885 h 4875213"/>
              <a:gd name="connsiteX8" fmla="*/ 5709861 w 6840538"/>
              <a:gd name="connsiteY8" fmla="*/ 975948 h 4875213"/>
              <a:gd name="connsiteX9" fmla="*/ 5506495 w 6840538"/>
              <a:gd name="connsiteY9" fmla="*/ 981422 h 4875213"/>
              <a:gd name="connsiteX10" fmla="*/ 5164347 w 6840538"/>
              <a:gd name="connsiteY10" fmla="*/ 1290444 h 4875213"/>
              <a:gd name="connsiteX11" fmla="*/ 5153971 w 6840538"/>
              <a:gd name="connsiteY11" fmla="*/ 1448121 h 4875213"/>
              <a:gd name="connsiteX12" fmla="*/ 5133078 w 6840538"/>
              <a:gd name="connsiteY12" fmla="*/ 1670430 h 4875213"/>
              <a:gd name="connsiteX13" fmla="*/ 4811634 w 6840538"/>
              <a:gd name="connsiteY13" fmla="*/ 1938474 h 4875213"/>
              <a:gd name="connsiteX14" fmla="*/ 4634776 w 6840538"/>
              <a:gd name="connsiteY14" fmla="*/ 1943852 h 4875213"/>
              <a:gd name="connsiteX15" fmla="*/ 4273829 w 6840538"/>
              <a:gd name="connsiteY15" fmla="*/ 2340162 h 4875213"/>
              <a:gd name="connsiteX16" fmla="*/ 4272687 w 6840538"/>
              <a:gd name="connsiteY16" fmla="*/ 2689210 h 4875213"/>
              <a:gd name="connsiteX17" fmla="*/ 4272687 w 6840538"/>
              <a:gd name="connsiteY17" fmla="*/ 2869827 h 4875213"/>
              <a:gd name="connsiteX18" fmla="*/ 4238468 w 6840538"/>
              <a:gd name="connsiteY18" fmla="*/ 2869827 h 4875213"/>
              <a:gd name="connsiteX19" fmla="*/ 3821550 w 6840538"/>
              <a:gd name="connsiteY19" fmla="*/ 2870065 h 4875213"/>
              <a:gd name="connsiteX20" fmla="*/ 3644075 w 6840538"/>
              <a:gd name="connsiteY20" fmla="*/ 2906474 h 4875213"/>
              <a:gd name="connsiteX21" fmla="*/ 3420576 w 6840538"/>
              <a:gd name="connsiteY21" fmla="*/ 3235962 h 4875213"/>
              <a:gd name="connsiteX22" fmla="*/ 3410154 w 6840538"/>
              <a:gd name="connsiteY22" fmla="*/ 3483971 h 4875213"/>
              <a:gd name="connsiteX23" fmla="*/ 3087615 w 6840538"/>
              <a:gd name="connsiteY23" fmla="*/ 3832210 h 4875213"/>
              <a:gd name="connsiteX24" fmla="*/ 2881822 w 6840538"/>
              <a:gd name="connsiteY24" fmla="*/ 3837778 h 4875213"/>
              <a:gd name="connsiteX25" fmla="*/ 2545861 w 6840538"/>
              <a:gd name="connsiteY25" fmla="*/ 4132095 h 4875213"/>
              <a:gd name="connsiteX26" fmla="*/ 2532630 w 6840538"/>
              <a:gd name="connsiteY26" fmla="*/ 4284061 h 4875213"/>
              <a:gd name="connsiteX27" fmla="*/ 2517828 w 6840538"/>
              <a:gd name="connsiteY27" fmla="*/ 4496660 h 4875213"/>
              <a:gd name="connsiteX28" fmla="*/ 2459764 w 6840538"/>
              <a:gd name="connsiteY28" fmla="*/ 4635014 h 4875213"/>
              <a:gd name="connsiteX29" fmla="*/ 1514371 w 6840538"/>
              <a:gd name="connsiteY29" fmla="*/ 4417465 h 4875213"/>
              <a:gd name="connsiteX30" fmla="*/ 771726 w 6840538"/>
              <a:gd name="connsiteY30" fmla="*/ 4293675 h 4875213"/>
              <a:gd name="connsiteX31" fmla="*/ 367326 w 6840538"/>
              <a:gd name="connsiteY31" fmla="*/ 4253982 h 4875213"/>
              <a:gd name="connsiteX32" fmla="*/ 6188 w 6840538"/>
              <a:gd name="connsiteY32" fmla="*/ 4238990 h 4875213"/>
              <a:gd name="connsiteX33" fmla="*/ 6148 w 6840538"/>
              <a:gd name="connsiteY33" fmla="*/ 4875213 h 4875213"/>
              <a:gd name="connsiteX34" fmla="*/ 0 w 6840538"/>
              <a:gd name="connsiteY34" fmla="*/ 4875213 h 487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40538" h="4875213">
                <a:moveTo>
                  <a:pt x="0" y="0"/>
                </a:moveTo>
                <a:lnTo>
                  <a:pt x="6840538" y="0"/>
                </a:lnTo>
                <a:lnTo>
                  <a:pt x="6840538" y="16083"/>
                </a:lnTo>
                <a:lnTo>
                  <a:pt x="6695809" y="15070"/>
                </a:lnTo>
                <a:cubicBezTo>
                  <a:pt x="6613431" y="14350"/>
                  <a:pt x="6531059" y="13874"/>
                  <a:pt x="6448699" y="14802"/>
                </a:cubicBezTo>
                <a:cubicBezTo>
                  <a:pt x="6399249" y="15373"/>
                  <a:pt x="6348468" y="23416"/>
                  <a:pt x="6300778" y="37885"/>
                </a:cubicBezTo>
                <a:cubicBezTo>
                  <a:pt x="6141485" y="86335"/>
                  <a:pt x="6043966" y="229209"/>
                  <a:pt x="6038492" y="413015"/>
                </a:cubicBezTo>
                <a:cubicBezTo>
                  <a:pt x="6036113" y="493066"/>
                  <a:pt x="6037541" y="573881"/>
                  <a:pt x="6027641" y="652885"/>
                </a:cubicBezTo>
                <a:cubicBezTo>
                  <a:pt x="6006510" y="821841"/>
                  <a:pt x="5865443" y="963479"/>
                  <a:pt x="5709861" y="975948"/>
                </a:cubicBezTo>
                <a:cubicBezTo>
                  <a:pt x="5642326" y="981327"/>
                  <a:pt x="5574268" y="979327"/>
                  <a:pt x="5506495" y="981422"/>
                </a:cubicBezTo>
                <a:cubicBezTo>
                  <a:pt x="5339776" y="986561"/>
                  <a:pt x="5198090" y="1112541"/>
                  <a:pt x="5164347" y="1290444"/>
                </a:cubicBezTo>
                <a:cubicBezTo>
                  <a:pt x="5154638" y="1341608"/>
                  <a:pt x="5154971" y="1395435"/>
                  <a:pt x="5153971" y="1448121"/>
                </a:cubicBezTo>
                <a:cubicBezTo>
                  <a:pt x="5152591" y="1522986"/>
                  <a:pt x="5155352" y="1597897"/>
                  <a:pt x="5133078" y="1670430"/>
                </a:cubicBezTo>
                <a:cubicBezTo>
                  <a:pt x="5087484" y="1818730"/>
                  <a:pt x="4954794" y="1930383"/>
                  <a:pt x="4811634" y="1938474"/>
                </a:cubicBezTo>
                <a:cubicBezTo>
                  <a:pt x="4752760" y="1941806"/>
                  <a:pt x="4693744" y="1941853"/>
                  <a:pt x="4634776" y="1943852"/>
                </a:cubicBezTo>
                <a:cubicBezTo>
                  <a:pt x="4432696" y="1950801"/>
                  <a:pt x="4277779" y="2119995"/>
                  <a:pt x="4273829" y="2340162"/>
                </a:cubicBezTo>
                <a:cubicBezTo>
                  <a:pt x="4271735" y="2456480"/>
                  <a:pt x="4272878" y="2572846"/>
                  <a:pt x="4272687" y="2689210"/>
                </a:cubicBezTo>
                <a:cubicBezTo>
                  <a:pt x="4272592" y="2747893"/>
                  <a:pt x="4272687" y="2806576"/>
                  <a:pt x="4272687" y="2869827"/>
                </a:cubicBezTo>
                <a:cubicBezTo>
                  <a:pt x="4256933" y="2869827"/>
                  <a:pt x="4247700" y="2869827"/>
                  <a:pt x="4238468" y="2869827"/>
                </a:cubicBezTo>
                <a:cubicBezTo>
                  <a:pt x="4099495" y="2869827"/>
                  <a:pt x="3960523" y="2869303"/>
                  <a:pt x="3821550" y="2870065"/>
                </a:cubicBezTo>
                <a:cubicBezTo>
                  <a:pt x="3760583" y="2870398"/>
                  <a:pt x="3700664" y="2881012"/>
                  <a:pt x="3644075" y="2906474"/>
                </a:cubicBezTo>
                <a:cubicBezTo>
                  <a:pt x="3509292" y="2967203"/>
                  <a:pt x="3433998" y="3078191"/>
                  <a:pt x="3420576" y="3235962"/>
                </a:cubicBezTo>
                <a:cubicBezTo>
                  <a:pt x="3413581" y="3318251"/>
                  <a:pt x="3416532" y="3401539"/>
                  <a:pt x="3410154" y="3483971"/>
                </a:cubicBezTo>
                <a:cubicBezTo>
                  <a:pt x="3396209" y="3664111"/>
                  <a:pt x="3252763" y="3818932"/>
                  <a:pt x="3087615" y="3832210"/>
                </a:cubicBezTo>
                <a:cubicBezTo>
                  <a:pt x="3019270" y="3837683"/>
                  <a:pt x="2950403" y="3835399"/>
                  <a:pt x="2881822" y="3837778"/>
                </a:cubicBezTo>
                <a:cubicBezTo>
                  <a:pt x="2723098" y="3843300"/>
                  <a:pt x="2581889" y="3965043"/>
                  <a:pt x="2545861" y="4132095"/>
                </a:cubicBezTo>
                <a:cubicBezTo>
                  <a:pt x="2535247" y="4181165"/>
                  <a:pt x="2536104" y="4233278"/>
                  <a:pt x="2532630" y="4284061"/>
                </a:cubicBezTo>
                <a:cubicBezTo>
                  <a:pt x="2527775" y="4355022"/>
                  <a:pt x="2531392" y="4427840"/>
                  <a:pt x="2517828" y="4496660"/>
                </a:cubicBezTo>
                <a:cubicBezTo>
                  <a:pt x="2507833" y="4547300"/>
                  <a:pt x="2487559" y="4594131"/>
                  <a:pt x="2459764" y="4635014"/>
                </a:cubicBezTo>
                <a:cubicBezTo>
                  <a:pt x="2147029" y="4552440"/>
                  <a:pt x="1832104" y="4478670"/>
                  <a:pt x="1514371" y="4417465"/>
                </a:cubicBezTo>
                <a:cubicBezTo>
                  <a:pt x="1268028" y="4370014"/>
                  <a:pt x="1019925" y="4330703"/>
                  <a:pt x="771726" y="4293675"/>
                </a:cubicBezTo>
                <a:cubicBezTo>
                  <a:pt x="637894" y="4273733"/>
                  <a:pt x="502395" y="4263596"/>
                  <a:pt x="367326" y="4253982"/>
                </a:cubicBezTo>
                <a:cubicBezTo>
                  <a:pt x="247201" y="4245415"/>
                  <a:pt x="126600" y="4243702"/>
                  <a:pt x="6188" y="4238990"/>
                </a:cubicBezTo>
                <a:lnTo>
                  <a:pt x="6148" y="4875213"/>
                </a:lnTo>
                <a:lnTo>
                  <a:pt x="0" y="4875213"/>
                </a:lnTo>
                <a:close/>
              </a:path>
            </a:pathLst>
          </a:custGeom>
          <a:solidFill>
            <a:schemeClr val="bg1">
              <a:lumMod val="95000"/>
            </a:schemeClr>
          </a:solidFill>
        </p:spPr>
        <p:txBody>
          <a:bodyPr wrap="square" anchor="ctr" anchorCtr="0">
            <a:noAutofit/>
          </a:bodyPr>
          <a:lstStyle>
            <a:lvl1pPr marL="0" indent="0" algn="ctr">
              <a:buNone/>
              <a:defRPr sz="800"/>
            </a:lvl1pPr>
          </a:lstStyle>
          <a:p>
            <a:r>
              <a:rPr lang="en-US" dirty="0"/>
              <a:t>Insert image</a:t>
            </a:r>
          </a:p>
          <a:p>
            <a:endParaRPr lang="en-US" dirty="0"/>
          </a:p>
          <a:p>
            <a:endParaRPr lang="en-US" dirty="0"/>
          </a:p>
        </p:txBody>
      </p:sp>
    </p:spTree>
    <p:extLst>
      <p:ext uri="{BB962C8B-B14F-4D97-AF65-F5344CB8AC3E}">
        <p14:creationId xmlns:p14="http://schemas.microsoft.com/office/powerpoint/2010/main" val="49902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txt &amp; graphic elements">
    <p:bg>
      <p:bgPr>
        <a:solidFill>
          <a:schemeClr val="bg1"/>
        </a:solidFill>
        <a:effectLst/>
      </p:bgPr>
    </p:bg>
    <p:spTree>
      <p:nvGrpSpPr>
        <p:cNvPr id="1" name=""/>
        <p:cNvGrpSpPr/>
        <p:nvPr/>
      </p:nvGrpSpPr>
      <p:grpSpPr>
        <a:xfrm>
          <a:off x="0" y="0"/>
          <a:ext cx="0" cy="0"/>
          <a:chOff x="0" y="0"/>
          <a:chExt cx="0" cy="0"/>
        </a:xfrm>
      </p:grpSpPr>
      <p:pic>
        <p:nvPicPr>
          <p:cNvPr id="14" name="Picture 13" descr="Background pattern&#10;&#10;Description automatically generated">
            <a:extLst>
              <a:ext uri="{FF2B5EF4-FFF2-40B4-BE49-F238E27FC236}">
                <a16:creationId xmlns:a16="http://schemas.microsoft.com/office/drawing/2014/main" id="{F57962F0-D43B-AD1B-95F7-59D2CF576262}"/>
              </a:ext>
            </a:extLst>
          </p:cNvPr>
          <p:cNvPicPr>
            <a:picLocks noChangeAspect="1"/>
          </p:cNvPicPr>
          <p:nvPr userDrawn="1"/>
        </p:nvPicPr>
        <p:blipFill>
          <a:blip r:embed="rId2"/>
          <a:stretch>
            <a:fillRect/>
          </a:stretch>
        </p:blipFill>
        <p:spPr>
          <a:xfrm>
            <a:off x="0" y="0"/>
            <a:ext cx="3215261" cy="5715000"/>
          </a:xfrm>
          <a:prstGeom prst="rect">
            <a:avLst/>
          </a:prstGeom>
        </p:spPr>
      </p:pic>
      <p:sp>
        <p:nvSpPr>
          <p:cNvPr id="2" name="Title 1"/>
          <p:cNvSpPr>
            <a:spLocks noGrp="1"/>
          </p:cNvSpPr>
          <p:nvPr>
            <p:ph type="ctrTitle" hasCustomPrompt="1"/>
          </p:nvPr>
        </p:nvSpPr>
        <p:spPr>
          <a:xfrm>
            <a:off x="1363133" y="1955800"/>
            <a:ext cx="7476067" cy="1405468"/>
          </a:xfrm>
        </p:spPr>
        <p:txBody>
          <a:bodyPr anchor="t" anchorCtr="0"/>
          <a:lstStyle>
            <a:lvl1pPr algn="l">
              <a:defRPr sz="4500">
                <a:solidFill>
                  <a:schemeClr val="tx2"/>
                </a:solidFill>
              </a:defRPr>
            </a:lvl1pPr>
          </a:lstStyle>
          <a:p>
            <a:r>
              <a:rPr lang="en-US" dirty="0"/>
              <a:t>Click to edit main title style, continues across two lines</a:t>
            </a:r>
          </a:p>
        </p:txBody>
      </p:sp>
      <p:sp>
        <p:nvSpPr>
          <p:cNvPr id="3" name="Subtitle 2"/>
          <p:cNvSpPr>
            <a:spLocks noGrp="1"/>
          </p:cNvSpPr>
          <p:nvPr>
            <p:ph type="subTitle" idx="1" hasCustomPrompt="1"/>
          </p:nvPr>
        </p:nvSpPr>
        <p:spPr>
          <a:xfrm>
            <a:off x="3688080" y="3386669"/>
            <a:ext cx="3935306" cy="1198881"/>
          </a:xfrm>
        </p:spPr>
        <p:txBody>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3"/>
          <a:srcRect/>
          <a:stretch/>
        </p:blipFill>
        <p:spPr>
          <a:xfrm>
            <a:off x="7357532" y="5383110"/>
            <a:ext cx="1600200" cy="192741"/>
          </a:xfrm>
          <a:prstGeom prst="rect">
            <a:avLst/>
          </a:prstGeom>
        </p:spPr>
      </p:pic>
      <p:pic>
        <p:nvPicPr>
          <p:cNvPr id="4" name="Picture 3" descr="Logo&#10;&#10;Description automatically generated">
            <a:extLst>
              <a:ext uri="{FF2B5EF4-FFF2-40B4-BE49-F238E27FC236}">
                <a16:creationId xmlns:a16="http://schemas.microsoft.com/office/drawing/2014/main" id="{E390D0B6-7C8D-6AFE-0E0B-45D4A95D0210}"/>
              </a:ext>
            </a:extLst>
          </p:cNvPr>
          <p:cNvPicPr>
            <a:picLocks noChangeAspect="1"/>
          </p:cNvPicPr>
          <p:nvPr userDrawn="1"/>
        </p:nvPicPr>
        <p:blipFill>
          <a:blip r:embed="rId4"/>
          <a:stretch>
            <a:fillRect/>
          </a:stretch>
        </p:blipFill>
        <p:spPr>
          <a:xfrm>
            <a:off x="7357532" y="5309034"/>
            <a:ext cx="1600200" cy="340894"/>
          </a:xfrm>
          <a:prstGeom prst="rect">
            <a:avLst/>
          </a:prstGeom>
        </p:spPr>
      </p:pic>
    </p:spTree>
    <p:extLst>
      <p:ext uri="{BB962C8B-B14F-4D97-AF65-F5344CB8AC3E}">
        <p14:creationId xmlns:p14="http://schemas.microsoft.com/office/powerpoint/2010/main" val="1113588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txt on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363132" y="1955800"/>
            <a:ext cx="7479792" cy="1405468"/>
          </a:xfrm>
        </p:spPr>
        <p:txBody>
          <a:bodyPr anchor="t" anchorCtr="0"/>
          <a:lstStyle>
            <a:lvl1pPr algn="l">
              <a:defRPr sz="4500">
                <a:solidFill>
                  <a:schemeClr val="tx2"/>
                </a:solidFill>
              </a:defRPr>
            </a:lvl1pPr>
          </a:lstStyle>
          <a:p>
            <a:r>
              <a:rPr lang="en-US" dirty="0"/>
              <a:t>Click to edit main title style, continues across two lines</a:t>
            </a:r>
          </a:p>
        </p:txBody>
      </p:sp>
      <p:sp>
        <p:nvSpPr>
          <p:cNvPr id="3" name="Subtitle 2"/>
          <p:cNvSpPr>
            <a:spLocks noGrp="1"/>
          </p:cNvSpPr>
          <p:nvPr>
            <p:ph type="subTitle" idx="1" hasCustomPrompt="1"/>
          </p:nvPr>
        </p:nvSpPr>
        <p:spPr>
          <a:xfrm>
            <a:off x="3688080" y="3386669"/>
            <a:ext cx="3935306" cy="1198881"/>
          </a:xfrm>
        </p:spPr>
        <p:txBody>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2"/>
          <a:srcRect/>
          <a:stretch/>
        </p:blipFill>
        <p:spPr>
          <a:xfrm>
            <a:off x="7357532" y="5383110"/>
            <a:ext cx="1600200" cy="192741"/>
          </a:xfrm>
          <a:prstGeom prst="rect">
            <a:avLst/>
          </a:prstGeom>
        </p:spPr>
      </p:pic>
      <p:pic>
        <p:nvPicPr>
          <p:cNvPr id="4" name="Picture 3" descr="Logo&#10;&#10;Description automatically generated">
            <a:extLst>
              <a:ext uri="{FF2B5EF4-FFF2-40B4-BE49-F238E27FC236}">
                <a16:creationId xmlns:a16="http://schemas.microsoft.com/office/drawing/2014/main" id="{FE0637C8-ED3F-F19F-5C08-EBE8AF0932A4}"/>
              </a:ext>
            </a:extLst>
          </p:cNvPr>
          <p:cNvPicPr>
            <a:picLocks noChangeAspect="1"/>
          </p:cNvPicPr>
          <p:nvPr userDrawn="1"/>
        </p:nvPicPr>
        <p:blipFill>
          <a:blip r:embed="rId3"/>
          <a:stretch>
            <a:fillRect/>
          </a:stretch>
        </p:blipFill>
        <p:spPr>
          <a:xfrm>
            <a:off x="7357532" y="5309034"/>
            <a:ext cx="1600200" cy="340894"/>
          </a:xfrm>
          <a:prstGeom prst="rect">
            <a:avLst/>
          </a:prstGeom>
        </p:spPr>
      </p:pic>
    </p:spTree>
    <p:extLst>
      <p:ext uri="{BB962C8B-B14F-4D97-AF65-F5344CB8AC3E}">
        <p14:creationId xmlns:p14="http://schemas.microsoft.com/office/powerpoint/2010/main" val="1970894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0040" y="304271"/>
            <a:ext cx="8503920" cy="914929"/>
          </a:xfrm>
        </p:spPr>
        <p:txBody>
          <a:bodyPr/>
          <a:lstStyle/>
          <a:p>
            <a:r>
              <a:rPr lang="en-US" dirty="0"/>
              <a:t>Content slide – title one line</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tx2"/>
                </a:solidFill>
              </a:defRPr>
            </a:lvl1pPr>
          </a:lstStyle>
          <a:p>
            <a:fld id="{177CE274-8713-884F-B04F-B6B90AF41963}" type="slidenum">
              <a:rPr lang="en-US" smtClean="0"/>
              <a:pPr/>
              <a:t>‹#›</a:t>
            </a:fld>
            <a:endParaRPr lang="en-US"/>
          </a:p>
        </p:txBody>
      </p:sp>
      <p:cxnSp>
        <p:nvCxnSpPr>
          <p:cNvPr id="8" name="Straight Connector 7">
            <a:extLst>
              <a:ext uri="{FF2B5EF4-FFF2-40B4-BE49-F238E27FC236}">
                <a16:creationId xmlns:a16="http://schemas.microsoft.com/office/drawing/2014/main" id="{CC637EAD-EE5A-08B6-674E-72BC48E5D9B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22CF8161-66D2-8164-188D-E9FE96DAC02A}"/>
              </a:ext>
            </a:extLst>
          </p:cNvPr>
          <p:cNvSpPr>
            <a:spLocks noGrp="1"/>
          </p:cNvSpPr>
          <p:nvPr>
            <p:ph type="body" sz="quarter" idx="13"/>
          </p:nvPr>
        </p:nvSpPr>
        <p:spPr>
          <a:xfrm>
            <a:off x="320675" y="1335024"/>
            <a:ext cx="8503920"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560600"/>
      </p:ext>
    </p:extLst>
  </p:cSld>
  <p:clrMapOvr>
    <a:masterClrMapping/>
  </p:clrMapOvr>
  <p:extLst>
    <p:ext uri="{DCECCB84-F9BA-43D5-87BE-67443E8EF086}">
      <p15:sldGuideLst xmlns:p15="http://schemas.microsoft.com/office/powerpoint/2012/main">
        <p15:guide id="1" orient="horz" pos="180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bkg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850A2D-1B7D-8A2D-30A7-5B07DBBD327C}"/>
              </a:ext>
            </a:extLst>
          </p:cNvPr>
          <p:cNvSpPr/>
          <p:nvPr userDrawn="1"/>
        </p:nvSpPr>
        <p:spPr>
          <a:xfrm>
            <a:off x="0" y="1333501"/>
            <a:ext cx="9144000" cy="39634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20040" y="304271"/>
            <a:ext cx="8503920" cy="914929"/>
          </a:xfrm>
        </p:spPr>
        <p:txBody>
          <a:bodyPr/>
          <a:lstStyle/>
          <a:p>
            <a:r>
              <a:rPr lang="en-US" dirty="0"/>
              <a:t>Content w/background – title one line</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tx2"/>
                </a:solidFill>
              </a:defRPr>
            </a:lvl1pPr>
          </a:lstStyle>
          <a:p>
            <a:fld id="{F7340B6C-CA73-B044-A89C-37F5E5CDE01B}" type="slidenum">
              <a:rPr lang="en-US" smtClean="0"/>
              <a:pPr/>
              <a:t>‹#›</a:t>
            </a:fld>
            <a:endParaRPr lang="en-US" dirty="0"/>
          </a:p>
        </p:txBody>
      </p:sp>
      <p:sp>
        <p:nvSpPr>
          <p:cNvPr id="8" name="Text Placeholder 4">
            <a:extLst>
              <a:ext uri="{FF2B5EF4-FFF2-40B4-BE49-F238E27FC236}">
                <a16:creationId xmlns:a16="http://schemas.microsoft.com/office/drawing/2014/main" id="{1897999A-5CCE-3781-664B-3FA2924D18BC}"/>
              </a:ext>
            </a:extLst>
          </p:cNvPr>
          <p:cNvSpPr>
            <a:spLocks noGrp="1"/>
          </p:cNvSpPr>
          <p:nvPr>
            <p:ph type="body" sz="quarter" idx="13"/>
          </p:nvPr>
        </p:nvSpPr>
        <p:spPr>
          <a:xfrm>
            <a:off x="320675" y="1483911"/>
            <a:ext cx="850392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4797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0039" y="304271"/>
            <a:ext cx="5669280" cy="914929"/>
          </a:xfrm>
        </p:spPr>
        <p:txBody>
          <a:bodyPr/>
          <a:lstStyle/>
          <a:p>
            <a:r>
              <a:rPr lang="en-US" dirty="0"/>
              <a:t>Content slide with image</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tx2"/>
                </a:solidFill>
              </a:defRPr>
            </a:lvl1pPr>
          </a:lstStyle>
          <a:p>
            <a:fld id="{177CE274-8713-884F-B04F-B6B90AF41963}" type="slidenum">
              <a:rPr lang="en-US" smtClean="0"/>
              <a:pPr/>
              <a:t>‹#›</a:t>
            </a:fld>
            <a:endParaRPr lang="en-US"/>
          </a:p>
        </p:txBody>
      </p:sp>
      <p:cxnSp>
        <p:nvCxnSpPr>
          <p:cNvPr id="8" name="Straight Connector 7">
            <a:extLst>
              <a:ext uri="{FF2B5EF4-FFF2-40B4-BE49-F238E27FC236}">
                <a16:creationId xmlns:a16="http://schemas.microsoft.com/office/drawing/2014/main" id="{CC637EAD-EE5A-08B6-674E-72BC48E5D9B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1000035E-6E2B-C8D7-F3EC-C616B1D56F91}"/>
              </a:ext>
            </a:extLst>
          </p:cNvPr>
          <p:cNvSpPr>
            <a:spLocks noGrp="1"/>
          </p:cNvSpPr>
          <p:nvPr>
            <p:ph type="pic" sz="quarter" idx="13" hasCustomPrompt="1"/>
          </p:nvPr>
        </p:nvSpPr>
        <p:spPr>
          <a:xfrm>
            <a:off x="6126163" y="304800"/>
            <a:ext cx="2697162" cy="4843463"/>
          </a:xfrm>
          <a:solidFill>
            <a:schemeClr val="bg2"/>
          </a:solidFill>
        </p:spPr>
        <p:txBody>
          <a:bodyPr anchor="ctr" anchorCtr="0">
            <a:normAutofit/>
          </a:bodyPr>
          <a:lstStyle>
            <a:lvl1pPr marL="0" indent="0" algn="ctr">
              <a:buNone/>
              <a:defRPr sz="800"/>
            </a:lvl1pPr>
          </a:lstStyle>
          <a:p>
            <a:r>
              <a:rPr lang="en-US" dirty="0"/>
              <a:t>Insert vertical image</a:t>
            </a:r>
          </a:p>
          <a:p>
            <a:endParaRPr lang="en-US" dirty="0"/>
          </a:p>
          <a:p>
            <a:endParaRPr lang="en-US" dirty="0"/>
          </a:p>
        </p:txBody>
      </p:sp>
      <p:sp>
        <p:nvSpPr>
          <p:cNvPr id="10" name="Text Placeholder 9">
            <a:extLst>
              <a:ext uri="{FF2B5EF4-FFF2-40B4-BE49-F238E27FC236}">
                <a16:creationId xmlns:a16="http://schemas.microsoft.com/office/drawing/2014/main" id="{666C6C23-B637-A307-D1A4-A318EF5BE857}"/>
              </a:ext>
            </a:extLst>
          </p:cNvPr>
          <p:cNvSpPr>
            <a:spLocks noGrp="1"/>
          </p:cNvSpPr>
          <p:nvPr>
            <p:ph type="body" sz="quarter" idx="14"/>
          </p:nvPr>
        </p:nvSpPr>
        <p:spPr>
          <a:xfrm>
            <a:off x="320674" y="1335024"/>
            <a:ext cx="5669280"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8547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Comparison slide with two columns</a:t>
            </a:r>
          </a:p>
        </p:txBody>
      </p:sp>
      <p:sp>
        <p:nvSpPr>
          <p:cNvPr id="7" name="Slide Number Placeholder 6"/>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cxnSp>
        <p:nvCxnSpPr>
          <p:cNvPr id="8" name="Straight Connector 7">
            <a:extLst>
              <a:ext uri="{FF2B5EF4-FFF2-40B4-BE49-F238E27FC236}">
                <a16:creationId xmlns:a16="http://schemas.microsoft.com/office/drawing/2014/main" id="{446B76A3-7B3B-66A5-E020-61F692A2D0A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DB2D4C75-924A-E1E8-AB47-E0EDDABAB63C}"/>
              </a:ext>
            </a:extLst>
          </p:cNvPr>
          <p:cNvSpPr>
            <a:spLocks noGrp="1"/>
          </p:cNvSpPr>
          <p:nvPr>
            <p:ph type="body" sz="quarter" idx="13"/>
          </p:nvPr>
        </p:nvSpPr>
        <p:spPr>
          <a:xfrm>
            <a:off x="320675" y="1335024"/>
            <a:ext cx="4197096"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4">
            <a:extLst>
              <a:ext uri="{FF2B5EF4-FFF2-40B4-BE49-F238E27FC236}">
                <a16:creationId xmlns:a16="http://schemas.microsoft.com/office/drawing/2014/main" id="{ABE9EF27-CA65-6736-ECE2-81135FA8D5A3}"/>
              </a:ext>
            </a:extLst>
          </p:cNvPr>
          <p:cNvSpPr>
            <a:spLocks noGrp="1"/>
          </p:cNvSpPr>
          <p:nvPr>
            <p:ph type="body" sz="quarter" idx="14"/>
          </p:nvPr>
        </p:nvSpPr>
        <p:spPr>
          <a:xfrm>
            <a:off x="4626231" y="1335024"/>
            <a:ext cx="4197096"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35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ta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727ADD-D432-4F31-86BB-446B7A676F3D}"/>
              </a:ext>
            </a:extLst>
          </p:cNvPr>
          <p:cNvSpPr/>
          <p:nvPr userDrawn="1"/>
        </p:nvSpPr>
        <p:spPr>
          <a:xfrm>
            <a:off x="4572000" y="0"/>
            <a:ext cx="4572000" cy="57149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20040" y="304271"/>
            <a:ext cx="4023358" cy="914929"/>
          </a:xfrm>
        </p:spPr>
        <p:txBody>
          <a:bodyPr/>
          <a:lstStyle/>
          <a:p>
            <a:r>
              <a:rPr lang="en-US" dirty="0"/>
              <a:t>Data slide</a:t>
            </a:r>
          </a:p>
        </p:txBody>
      </p:sp>
      <p:sp>
        <p:nvSpPr>
          <p:cNvPr id="4" name="Content Placeholder 3"/>
          <p:cNvSpPr>
            <a:spLocks noGrp="1"/>
          </p:cNvSpPr>
          <p:nvPr>
            <p:ph sz="half" idx="2"/>
          </p:nvPr>
        </p:nvSpPr>
        <p:spPr>
          <a:xfrm>
            <a:off x="4800600" y="304272"/>
            <a:ext cx="4023360" cy="4843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cxnSp>
        <p:nvCxnSpPr>
          <p:cNvPr id="8" name="Straight Connector 7">
            <a:extLst>
              <a:ext uri="{FF2B5EF4-FFF2-40B4-BE49-F238E27FC236}">
                <a16:creationId xmlns:a16="http://schemas.microsoft.com/office/drawing/2014/main" id="{446B76A3-7B3B-66A5-E020-61F692A2D0A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4">
            <a:extLst>
              <a:ext uri="{FF2B5EF4-FFF2-40B4-BE49-F238E27FC236}">
                <a16:creationId xmlns:a16="http://schemas.microsoft.com/office/drawing/2014/main" id="{1F355CC0-2C4B-EFBA-AB4F-7F83741CD6C3}"/>
              </a:ext>
            </a:extLst>
          </p:cNvPr>
          <p:cNvSpPr>
            <a:spLocks noGrp="1"/>
          </p:cNvSpPr>
          <p:nvPr>
            <p:ph type="body" sz="quarter" idx="13"/>
          </p:nvPr>
        </p:nvSpPr>
        <p:spPr>
          <a:xfrm>
            <a:off x="320675" y="1335024"/>
            <a:ext cx="4022723"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9077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bjectiv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850A2D-1B7D-8A2D-30A7-5B07DBBD327C}"/>
              </a:ext>
            </a:extLst>
          </p:cNvPr>
          <p:cNvSpPr/>
          <p:nvPr userDrawn="1"/>
        </p:nvSpPr>
        <p:spPr>
          <a:xfrm>
            <a:off x="0" y="1333501"/>
            <a:ext cx="9144000" cy="39634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20040" y="304271"/>
            <a:ext cx="8503920" cy="914929"/>
          </a:xfrm>
        </p:spPr>
        <p:txBody>
          <a:bodyPr/>
          <a:lstStyle/>
          <a:p>
            <a:r>
              <a:rPr lang="en-US" dirty="0"/>
              <a:t>Objective slide – title one line</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tx2"/>
                </a:solidFill>
              </a:defRPr>
            </a:lvl1pPr>
          </a:lstStyle>
          <a:p>
            <a:fld id="{F7340B6C-CA73-B044-A89C-37F5E5CDE01B}" type="slidenum">
              <a:rPr lang="en-US" smtClean="0"/>
              <a:pPr/>
              <a:t>‹#›</a:t>
            </a:fld>
            <a:endParaRPr lang="en-US" dirty="0"/>
          </a:p>
        </p:txBody>
      </p:sp>
      <p:sp>
        <p:nvSpPr>
          <p:cNvPr id="9" name="Content Placeholder 2">
            <a:extLst>
              <a:ext uri="{FF2B5EF4-FFF2-40B4-BE49-F238E27FC236}">
                <a16:creationId xmlns:a16="http://schemas.microsoft.com/office/drawing/2014/main" id="{CF00F302-309D-18BE-87A0-B30A53CE0987}"/>
              </a:ext>
            </a:extLst>
          </p:cNvPr>
          <p:cNvSpPr>
            <a:spLocks noGrp="1"/>
          </p:cNvSpPr>
          <p:nvPr>
            <p:ph idx="15" hasCustomPrompt="1"/>
          </p:nvPr>
        </p:nvSpPr>
        <p:spPr>
          <a:xfrm>
            <a:off x="2137718" y="4079554"/>
            <a:ext cx="6686241" cy="1217405"/>
          </a:xfrm>
        </p:spPr>
        <p:txBody>
          <a:bodyPr tIns="182880" anchor="ctr" anchorCtr="0">
            <a:normAutofit/>
          </a:bodyPr>
          <a:lstStyle>
            <a:lvl1pPr>
              <a:defRPr sz="1800" b="0" i="0">
                <a:latin typeface="Calibri Light" panose="020F0302020204030204" pitchFamily="34" charset="0"/>
                <a:cs typeface="Calibri Light" panose="020F0302020204030204" pitchFamily="34" charset="0"/>
              </a:defRPr>
            </a:lvl1pPr>
            <a:lvl2pPr>
              <a:defRPr sz="1800" b="0" i="0">
                <a:latin typeface="+mn-lt"/>
              </a:defRPr>
            </a:lvl2pPr>
            <a:lvl3pPr marL="685800" indent="0">
              <a:buNone/>
              <a:defRPr/>
            </a:lvl3pPr>
          </a:lstStyle>
          <a:p>
            <a:pPr marL="171450" marR="0" lvl="0" indent="0" algn="l" defTabSz="685800" rtl="0" eaLnBrk="1" fontAlgn="auto" latinLnBrk="0" hangingPunct="1">
              <a:lnSpc>
                <a:spcPct val="90000"/>
              </a:lnSpc>
              <a:spcBef>
                <a:spcPts val="375"/>
              </a:spcBef>
              <a:spcAft>
                <a:spcPts val="0"/>
              </a:spcAft>
              <a:buClrTx/>
              <a:buSzTx/>
              <a:buFont typeface="Arial" panose="020B0604020202020204" pitchFamily="34" charset="0"/>
              <a:buNone/>
              <a:tabLst/>
              <a:defRPr/>
            </a:pPr>
            <a:r>
              <a:rPr lang="en-US" dirty="0">
                <a:effectLst/>
                <a:latin typeface="Calibri Light" panose="020F0302020204030204" pitchFamily="34" charset="0"/>
              </a:rPr>
              <a:t>Content goes here.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Proin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ac </a:t>
            </a:r>
            <a:r>
              <a:rPr lang="en-US" dirty="0" err="1">
                <a:effectLst/>
                <a:latin typeface="Calibri Light" panose="020F0302020204030204" pitchFamily="34" charset="0"/>
              </a:rPr>
              <a:t>sodales</a:t>
            </a:r>
            <a:r>
              <a:rPr lang="en-US" dirty="0">
                <a:effectLst/>
                <a:latin typeface="Calibri Light" panose="020F0302020204030204" pitchFamily="34" charset="0"/>
              </a:rPr>
              <a:t> eros </a:t>
            </a:r>
            <a:r>
              <a:rPr lang="en-US" dirty="0" err="1">
                <a:effectLst/>
                <a:latin typeface="Calibri Light" panose="020F0302020204030204" pitchFamily="34" charset="0"/>
              </a:rPr>
              <a:t>rhoncus</a:t>
            </a:r>
            <a:r>
              <a:rPr lang="en-US" dirty="0">
                <a:effectLst/>
                <a:latin typeface="Calibri Light" panose="020F0302020204030204" pitchFamily="34" charset="0"/>
              </a:rPr>
              <a:t>. </a:t>
            </a:r>
          </a:p>
          <a:p>
            <a:pPr lvl="1"/>
            <a:endParaRPr lang="en-US" dirty="0"/>
          </a:p>
        </p:txBody>
      </p:sp>
      <p:sp>
        <p:nvSpPr>
          <p:cNvPr id="10" name="Content Placeholder 2">
            <a:extLst>
              <a:ext uri="{FF2B5EF4-FFF2-40B4-BE49-F238E27FC236}">
                <a16:creationId xmlns:a16="http://schemas.microsoft.com/office/drawing/2014/main" id="{D63FE66B-EB76-C3D7-CBC0-A43EA5920B29}"/>
              </a:ext>
            </a:extLst>
          </p:cNvPr>
          <p:cNvSpPr>
            <a:spLocks noGrp="1"/>
          </p:cNvSpPr>
          <p:nvPr>
            <p:ph idx="16" hasCustomPrompt="1"/>
          </p:nvPr>
        </p:nvSpPr>
        <p:spPr>
          <a:xfrm>
            <a:off x="2137717" y="2731169"/>
            <a:ext cx="6686241" cy="1217405"/>
          </a:xfrm>
        </p:spPr>
        <p:txBody>
          <a:bodyPr tIns="182880" anchor="ctr" anchorCtr="0">
            <a:normAutofit/>
          </a:bodyPr>
          <a:lstStyle>
            <a:lvl1pPr>
              <a:defRPr sz="1800" b="0" i="0">
                <a:latin typeface="Calibri Light" panose="020F0302020204030204" pitchFamily="34" charset="0"/>
                <a:cs typeface="Calibri Light" panose="020F0302020204030204" pitchFamily="34" charset="0"/>
              </a:defRPr>
            </a:lvl1pPr>
            <a:lvl2pPr>
              <a:defRPr sz="1800" b="0" i="0">
                <a:latin typeface="+mn-lt"/>
              </a:defRPr>
            </a:lvl2pPr>
            <a:lvl3pPr marL="685800" indent="0">
              <a:buNone/>
              <a:defRPr/>
            </a:lvl3pPr>
          </a:lstStyle>
          <a:p>
            <a:pPr marL="171450" marR="0" lvl="0" indent="0" algn="l" defTabSz="685800" rtl="0" eaLnBrk="1" fontAlgn="auto" latinLnBrk="0" hangingPunct="1">
              <a:lnSpc>
                <a:spcPct val="90000"/>
              </a:lnSpc>
              <a:spcBef>
                <a:spcPts val="375"/>
              </a:spcBef>
              <a:spcAft>
                <a:spcPts val="0"/>
              </a:spcAft>
              <a:buClrTx/>
              <a:buSzTx/>
              <a:buFont typeface="Arial" panose="020B0604020202020204" pitchFamily="34" charset="0"/>
              <a:buNone/>
              <a:tabLst/>
              <a:defRPr/>
            </a:pPr>
            <a:r>
              <a:rPr lang="en-US" dirty="0">
                <a:effectLst/>
                <a:latin typeface="Calibri Light" panose="020F0302020204030204" pitchFamily="34" charset="0"/>
              </a:rPr>
              <a:t>Content goes here.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Proin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ac </a:t>
            </a:r>
            <a:r>
              <a:rPr lang="en-US" dirty="0" err="1">
                <a:effectLst/>
                <a:latin typeface="Calibri Light" panose="020F0302020204030204" pitchFamily="34" charset="0"/>
              </a:rPr>
              <a:t>sodales</a:t>
            </a:r>
            <a:r>
              <a:rPr lang="en-US" dirty="0">
                <a:effectLst/>
                <a:latin typeface="Calibri Light" panose="020F0302020204030204" pitchFamily="34" charset="0"/>
              </a:rPr>
              <a:t> eros </a:t>
            </a:r>
            <a:r>
              <a:rPr lang="en-US" dirty="0" err="1">
                <a:effectLst/>
                <a:latin typeface="Calibri Light" panose="020F0302020204030204" pitchFamily="34" charset="0"/>
              </a:rPr>
              <a:t>rhoncus</a:t>
            </a:r>
            <a:r>
              <a:rPr lang="en-US" dirty="0">
                <a:effectLst/>
                <a:latin typeface="Calibri Light" panose="020F0302020204030204" pitchFamily="34" charset="0"/>
              </a:rPr>
              <a:t>. </a:t>
            </a:r>
          </a:p>
          <a:p>
            <a:pPr lvl="1"/>
            <a:endParaRPr lang="en-US" dirty="0"/>
          </a:p>
        </p:txBody>
      </p:sp>
      <p:sp>
        <p:nvSpPr>
          <p:cNvPr id="11" name="Content Placeholder 2">
            <a:extLst>
              <a:ext uri="{FF2B5EF4-FFF2-40B4-BE49-F238E27FC236}">
                <a16:creationId xmlns:a16="http://schemas.microsoft.com/office/drawing/2014/main" id="{8474828E-B3D6-7006-9AAF-64F1EE99DE06}"/>
              </a:ext>
            </a:extLst>
          </p:cNvPr>
          <p:cNvSpPr>
            <a:spLocks noGrp="1"/>
          </p:cNvSpPr>
          <p:nvPr>
            <p:ph idx="17" hasCustomPrompt="1"/>
          </p:nvPr>
        </p:nvSpPr>
        <p:spPr>
          <a:xfrm>
            <a:off x="2137716" y="1332972"/>
            <a:ext cx="6686241" cy="1217405"/>
          </a:xfrm>
        </p:spPr>
        <p:txBody>
          <a:bodyPr tIns="182880" anchor="ctr" anchorCtr="0">
            <a:normAutofit/>
          </a:bodyPr>
          <a:lstStyle>
            <a:lvl1pPr>
              <a:defRPr sz="1800" b="0" i="0">
                <a:latin typeface="Calibri Light" panose="020F0302020204030204" pitchFamily="34" charset="0"/>
                <a:cs typeface="Calibri Light" panose="020F0302020204030204" pitchFamily="34" charset="0"/>
              </a:defRPr>
            </a:lvl1pPr>
            <a:lvl2pPr marL="342900" indent="0">
              <a:buNone/>
              <a:defRPr sz="1800" b="0" i="0">
                <a:latin typeface="+mn-lt"/>
              </a:defRPr>
            </a:lvl2pPr>
            <a:lvl3pPr marL="685800" indent="0">
              <a:buNone/>
              <a:defRPr/>
            </a:lvl3pPr>
          </a:lstStyle>
          <a:p>
            <a:pPr marL="171450" marR="0" lvl="0" indent="0" algn="l" defTabSz="685800" rtl="0" eaLnBrk="1" fontAlgn="auto" latinLnBrk="0" hangingPunct="1">
              <a:lnSpc>
                <a:spcPct val="90000"/>
              </a:lnSpc>
              <a:spcBef>
                <a:spcPts val="375"/>
              </a:spcBef>
              <a:spcAft>
                <a:spcPts val="0"/>
              </a:spcAft>
              <a:buClrTx/>
              <a:buSzTx/>
              <a:buFont typeface="Arial" panose="020B0604020202020204" pitchFamily="34" charset="0"/>
              <a:buNone/>
              <a:tabLst/>
              <a:defRPr/>
            </a:pPr>
            <a:r>
              <a:rPr lang="en-US" dirty="0">
                <a:effectLst/>
                <a:latin typeface="Calibri Light" panose="020F0302020204030204" pitchFamily="34" charset="0"/>
              </a:rPr>
              <a:t>Content goes here.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Proin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ac </a:t>
            </a:r>
            <a:r>
              <a:rPr lang="en-US" dirty="0" err="1">
                <a:effectLst/>
                <a:latin typeface="Calibri Light" panose="020F0302020204030204" pitchFamily="34" charset="0"/>
              </a:rPr>
              <a:t>sodales</a:t>
            </a:r>
            <a:r>
              <a:rPr lang="en-US" dirty="0">
                <a:effectLst/>
                <a:latin typeface="Calibri Light" panose="020F0302020204030204" pitchFamily="34" charset="0"/>
              </a:rPr>
              <a:t> eros </a:t>
            </a:r>
            <a:r>
              <a:rPr lang="en-US" dirty="0" err="1">
                <a:effectLst/>
                <a:latin typeface="Calibri Light" panose="020F0302020204030204" pitchFamily="34" charset="0"/>
              </a:rPr>
              <a:t>rhoncus</a:t>
            </a:r>
            <a:r>
              <a:rPr lang="en-US" dirty="0">
                <a:effectLst/>
                <a:latin typeface="Calibri Light" panose="020F0302020204030204" pitchFamily="34" charset="0"/>
              </a:rPr>
              <a:t>. </a:t>
            </a:r>
          </a:p>
        </p:txBody>
      </p:sp>
      <p:sp>
        <p:nvSpPr>
          <p:cNvPr id="13" name="TextBox 12">
            <a:extLst>
              <a:ext uri="{FF2B5EF4-FFF2-40B4-BE49-F238E27FC236}">
                <a16:creationId xmlns:a16="http://schemas.microsoft.com/office/drawing/2014/main" id="{7D3CFC7A-40FC-34EC-65D8-B0E9FFC804F3}"/>
              </a:ext>
            </a:extLst>
          </p:cNvPr>
          <p:cNvSpPr txBox="1"/>
          <p:nvPr userDrawn="1"/>
        </p:nvSpPr>
        <p:spPr>
          <a:xfrm>
            <a:off x="320040" y="1526176"/>
            <a:ext cx="1224555" cy="830997"/>
          </a:xfrm>
          <a:prstGeom prst="rect">
            <a:avLst/>
          </a:prstGeom>
          <a:noFill/>
        </p:spPr>
        <p:txBody>
          <a:bodyPr wrap="square" rtlCol="0">
            <a:spAutoFit/>
          </a:bodyPr>
          <a:lstStyle/>
          <a:p>
            <a:pPr algn="ctr"/>
            <a:r>
              <a:rPr lang="en-US" sz="4800" dirty="0">
                <a:latin typeface="Georgia" panose="02040502050405020303" pitchFamily="18" charset="0"/>
              </a:rPr>
              <a:t>1</a:t>
            </a:r>
          </a:p>
        </p:txBody>
      </p:sp>
      <p:sp>
        <p:nvSpPr>
          <p:cNvPr id="14" name="TextBox 13">
            <a:extLst>
              <a:ext uri="{FF2B5EF4-FFF2-40B4-BE49-F238E27FC236}">
                <a16:creationId xmlns:a16="http://schemas.microsoft.com/office/drawing/2014/main" id="{40D4CD20-0DD6-522D-2BDC-5E9F1E38FC73}"/>
              </a:ext>
            </a:extLst>
          </p:cNvPr>
          <p:cNvSpPr txBox="1"/>
          <p:nvPr userDrawn="1"/>
        </p:nvSpPr>
        <p:spPr>
          <a:xfrm>
            <a:off x="320039" y="2731169"/>
            <a:ext cx="1224555" cy="830997"/>
          </a:xfrm>
          <a:prstGeom prst="rect">
            <a:avLst/>
          </a:prstGeom>
          <a:noFill/>
        </p:spPr>
        <p:txBody>
          <a:bodyPr wrap="square" rtlCol="0">
            <a:spAutoFit/>
          </a:bodyPr>
          <a:lstStyle/>
          <a:p>
            <a:pPr algn="ctr"/>
            <a:r>
              <a:rPr lang="en-US" sz="4800" dirty="0">
                <a:latin typeface="Georgia" panose="02040502050405020303" pitchFamily="18" charset="0"/>
              </a:rPr>
              <a:t>2</a:t>
            </a:r>
          </a:p>
        </p:txBody>
      </p:sp>
      <p:sp>
        <p:nvSpPr>
          <p:cNvPr id="15" name="TextBox 14">
            <a:extLst>
              <a:ext uri="{FF2B5EF4-FFF2-40B4-BE49-F238E27FC236}">
                <a16:creationId xmlns:a16="http://schemas.microsoft.com/office/drawing/2014/main" id="{4AA8F2B7-9F36-3044-6DFE-F76FD0DC92B0}"/>
              </a:ext>
            </a:extLst>
          </p:cNvPr>
          <p:cNvSpPr txBox="1"/>
          <p:nvPr userDrawn="1"/>
        </p:nvSpPr>
        <p:spPr>
          <a:xfrm>
            <a:off x="320039" y="4079554"/>
            <a:ext cx="1224555" cy="830997"/>
          </a:xfrm>
          <a:prstGeom prst="rect">
            <a:avLst/>
          </a:prstGeom>
          <a:noFill/>
        </p:spPr>
        <p:txBody>
          <a:bodyPr wrap="square" rtlCol="0">
            <a:spAutoFit/>
          </a:bodyPr>
          <a:lstStyle/>
          <a:p>
            <a:pPr algn="ctr"/>
            <a:r>
              <a:rPr lang="en-US" sz="4800" dirty="0">
                <a:latin typeface="Georgia" panose="02040502050405020303" pitchFamily="18" charset="0"/>
              </a:rPr>
              <a:t>3</a:t>
            </a:r>
          </a:p>
        </p:txBody>
      </p:sp>
    </p:spTree>
    <p:extLst>
      <p:ext uri="{BB962C8B-B14F-4D97-AF65-F5344CB8AC3E}">
        <p14:creationId xmlns:p14="http://schemas.microsoft.com/office/powerpoint/2010/main" val="429358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story inset w/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Three story inset with images</a:t>
            </a:r>
          </a:p>
        </p:txBody>
      </p:sp>
      <p:sp>
        <p:nvSpPr>
          <p:cNvPr id="7" name="Slide Number Placeholder 6"/>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cxnSp>
        <p:nvCxnSpPr>
          <p:cNvPr id="8" name="Straight Connector 7">
            <a:extLst>
              <a:ext uri="{FF2B5EF4-FFF2-40B4-BE49-F238E27FC236}">
                <a16:creationId xmlns:a16="http://schemas.microsoft.com/office/drawing/2014/main" id="{446B76A3-7B3B-66A5-E020-61F692A2D0A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5C7FAAFB-2588-DDF2-FAB9-CF7A30E5B353}"/>
              </a:ext>
            </a:extLst>
          </p:cNvPr>
          <p:cNvSpPr>
            <a:spLocks noGrp="1"/>
          </p:cNvSpPr>
          <p:nvPr>
            <p:ph type="pic" sz="quarter" idx="13" hasCustomPrompt="1"/>
          </p:nvPr>
        </p:nvSpPr>
        <p:spPr>
          <a:xfrm>
            <a:off x="320675" y="1368424"/>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10" name="Picture Placeholder 8">
            <a:extLst>
              <a:ext uri="{FF2B5EF4-FFF2-40B4-BE49-F238E27FC236}">
                <a16:creationId xmlns:a16="http://schemas.microsoft.com/office/drawing/2014/main" id="{F2A9FC8A-40D6-B726-43B9-7963F537A3A7}"/>
              </a:ext>
            </a:extLst>
          </p:cNvPr>
          <p:cNvSpPr>
            <a:spLocks noGrp="1"/>
          </p:cNvSpPr>
          <p:nvPr>
            <p:ph type="pic" sz="quarter" idx="14" hasCustomPrompt="1"/>
          </p:nvPr>
        </p:nvSpPr>
        <p:spPr>
          <a:xfrm>
            <a:off x="3200400" y="1368266"/>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11" name="Picture Placeholder 8">
            <a:extLst>
              <a:ext uri="{FF2B5EF4-FFF2-40B4-BE49-F238E27FC236}">
                <a16:creationId xmlns:a16="http://schemas.microsoft.com/office/drawing/2014/main" id="{0B35323C-ED18-EB18-F7A4-7EC3ECB82939}"/>
              </a:ext>
            </a:extLst>
          </p:cNvPr>
          <p:cNvSpPr>
            <a:spLocks noGrp="1"/>
          </p:cNvSpPr>
          <p:nvPr>
            <p:ph type="pic" sz="quarter" idx="15" hasCustomPrompt="1"/>
          </p:nvPr>
        </p:nvSpPr>
        <p:spPr>
          <a:xfrm>
            <a:off x="6080125" y="1368266"/>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4" name="Text Placeholder 3">
            <a:extLst>
              <a:ext uri="{FF2B5EF4-FFF2-40B4-BE49-F238E27FC236}">
                <a16:creationId xmlns:a16="http://schemas.microsoft.com/office/drawing/2014/main" id="{F96F3CAC-923D-14B6-F0A3-957C29FA0B7B}"/>
              </a:ext>
            </a:extLst>
          </p:cNvPr>
          <p:cNvSpPr>
            <a:spLocks noGrp="1"/>
          </p:cNvSpPr>
          <p:nvPr>
            <p:ph type="body" sz="quarter" idx="19" hasCustomPrompt="1"/>
          </p:nvPr>
        </p:nvSpPr>
        <p:spPr>
          <a:xfrm>
            <a:off x="320675" y="3154362"/>
            <a:ext cx="2743200" cy="1838325"/>
          </a:xfrm>
        </p:spPr>
        <p:txBody>
          <a:bodyPr>
            <a:noAutofit/>
          </a:bodyPr>
          <a:lstStyle>
            <a:lvl1pPr marL="0" indent="0">
              <a:buNone/>
              <a:defRPr sz="1800"/>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
        <p:nvSpPr>
          <p:cNvPr id="5" name="Text Placeholder 3">
            <a:extLst>
              <a:ext uri="{FF2B5EF4-FFF2-40B4-BE49-F238E27FC236}">
                <a16:creationId xmlns:a16="http://schemas.microsoft.com/office/drawing/2014/main" id="{380F57D2-B06A-9195-ECB1-9554F456E1AD}"/>
              </a:ext>
            </a:extLst>
          </p:cNvPr>
          <p:cNvSpPr>
            <a:spLocks noGrp="1"/>
          </p:cNvSpPr>
          <p:nvPr>
            <p:ph type="body" sz="quarter" idx="20" hasCustomPrompt="1"/>
          </p:nvPr>
        </p:nvSpPr>
        <p:spPr>
          <a:xfrm>
            <a:off x="3200400" y="3154362"/>
            <a:ext cx="2743200" cy="1838325"/>
          </a:xfrm>
        </p:spPr>
        <p:txBody>
          <a:bodyPr>
            <a:noAutofit/>
          </a:bodyPr>
          <a:lstStyle>
            <a:lvl1pPr marL="0" indent="0">
              <a:buNone/>
              <a:defRPr sz="1800"/>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
        <p:nvSpPr>
          <p:cNvPr id="6" name="Text Placeholder 3">
            <a:extLst>
              <a:ext uri="{FF2B5EF4-FFF2-40B4-BE49-F238E27FC236}">
                <a16:creationId xmlns:a16="http://schemas.microsoft.com/office/drawing/2014/main" id="{15F4EA54-D2EE-087D-B777-EC9294D5D47F}"/>
              </a:ext>
            </a:extLst>
          </p:cNvPr>
          <p:cNvSpPr>
            <a:spLocks noGrp="1"/>
          </p:cNvSpPr>
          <p:nvPr>
            <p:ph type="body" sz="quarter" idx="21" hasCustomPrompt="1"/>
          </p:nvPr>
        </p:nvSpPr>
        <p:spPr>
          <a:xfrm>
            <a:off x="6080125" y="3154362"/>
            <a:ext cx="2743200" cy="1838325"/>
          </a:xfrm>
        </p:spPr>
        <p:txBody>
          <a:bodyPr>
            <a:noAutofit/>
          </a:bodyPr>
          <a:lstStyle>
            <a:lvl1pPr marL="0" indent="0">
              <a:buNone/>
              <a:defRPr sz="1800"/>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Tree>
    <p:extLst>
      <p:ext uri="{BB962C8B-B14F-4D97-AF65-F5344CB8AC3E}">
        <p14:creationId xmlns:p14="http://schemas.microsoft.com/office/powerpoint/2010/main" val="3370171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story inset w/images (Cardinal bkg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Three story inset with images</a:t>
            </a:r>
          </a:p>
        </p:txBody>
      </p:sp>
      <p:sp>
        <p:nvSpPr>
          <p:cNvPr id="7" name="Slide Number Placeholder 6"/>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a:p>
        </p:txBody>
      </p:sp>
      <p:cxnSp>
        <p:nvCxnSpPr>
          <p:cNvPr id="8" name="Straight Connector 7">
            <a:extLst>
              <a:ext uri="{FF2B5EF4-FFF2-40B4-BE49-F238E27FC236}">
                <a16:creationId xmlns:a16="http://schemas.microsoft.com/office/drawing/2014/main" id="{446B76A3-7B3B-66A5-E020-61F692A2D0A8}"/>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5C7FAAFB-2588-DDF2-FAB9-CF7A30E5B353}"/>
              </a:ext>
            </a:extLst>
          </p:cNvPr>
          <p:cNvSpPr>
            <a:spLocks noGrp="1"/>
          </p:cNvSpPr>
          <p:nvPr>
            <p:ph type="pic" sz="quarter" idx="13" hasCustomPrompt="1"/>
          </p:nvPr>
        </p:nvSpPr>
        <p:spPr>
          <a:xfrm>
            <a:off x="320675" y="1368424"/>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10" name="Picture Placeholder 8">
            <a:extLst>
              <a:ext uri="{FF2B5EF4-FFF2-40B4-BE49-F238E27FC236}">
                <a16:creationId xmlns:a16="http://schemas.microsoft.com/office/drawing/2014/main" id="{F2A9FC8A-40D6-B726-43B9-7963F537A3A7}"/>
              </a:ext>
            </a:extLst>
          </p:cNvPr>
          <p:cNvSpPr>
            <a:spLocks noGrp="1"/>
          </p:cNvSpPr>
          <p:nvPr>
            <p:ph type="pic" sz="quarter" idx="14" hasCustomPrompt="1"/>
          </p:nvPr>
        </p:nvSpPr>
        <p:spPr>
          <a:xfrm>
            <a:off x="3200400" y="1368266"/>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11" name="Picture Placeholder 8">
            <a:extLst>
              <a:ext uri="{FF2B5EF4-FFF2-40B4-BE49-F238E27FC236}">
                <a16:creationId xmlns:a16="http://schemas.microsoft.com/office/drawing/2014/main" id="{0B35323C-ED18-EB18-F7A4-7EC3ECB82939}"/>
              </a:ext>
            </a:extLst>
          </p:cNvPr>
          <p:cNvSpPr>
            <a:spLocks noGrp="1"/>
          </p:cNvSpPr>
          <p:nvPr>
            <p:ph type="pic" sz="quarter" idx="15" hasCustomPrompt="1"/>
          </p:nvPr>
        </p:nvSpPr>
        <p:spPr>
          <a:xfrm>
            <a:off x="6080125" y="1368266"/>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pic>
        <p:nvPicPr>
          <p:cNvPr id="3" name="Picture 2">
            <a:extLst>
              <a:ext uri="{FF2B5EF4-FFF2-40B4-BE49-F238E27FC236}">
                <a16:creationId xmlns:a16="http://schemas.microsoft.com/office/drawing/2014/main" id="{F1C1EE1B-7E4E-6616-802F-B2C55238A460}"/>
              </a:ext>
            </a:extLst>
          </p:cNvPr>
          <p:cNvPicPr>
            <a:picLocks noChangeAspect="1"/>
          </p:cNvPicPr>
          <p:nvPr userDrawn="1"/>
        </p:nvPicPr>
        <p:blipFill>
          <a:blip r:embed="rId2"/>
          <a:srcRect/>
          <a:stretch/>
        </p:blipFill>
        <p:spPr>
          <a:xfrm>
            <a:off x="313316" y="5389834"/>
            <a:ext cx="1426464" cy="171815"/>
          </a:xfrm>
          <a:prstGeom prst="rect">
            <a:avLst/>
          </a:prstGeom>
        </p:spPr>
      </p:pic>
      <p:sp>
        <p:nvSpPr>
          <p:cNvPr id="4" name="Text Placeholder 3">
            <a:extLst>
              <a:ext uri="{FF2B5EF4-FFF2-40B4-BE49-F238E27FC236}">
                <a16:creationId xmlns:a16="http://schemas.microsoft.com/office/drawing/2014/main" id="{265F3B0C-7C89-CFDD-580C-3DE1E2FB9F8B}"/>
              </a:ext>
            </a:extLst>
          </p:cNvPr>
          <p:cNvSpPr>
            <a:spLocks noGrp="1"/>
          </p:cNvSpPr>
          <p:nvPr>
            <p:ph type="body" sz="quarter" idx="19" hasCustomPrompt="1"/>
          </p:nvPr>
        </p:nvSpPr>
        <p:spPr>
          <a:xfrm>
            <a:off x="320675" y="3154362"/>
            <a:ext cx="2743200" cy="1838325"/>
          </a:xfrm>
        </p:spPr>
        <p:txBody>
          <a:bodyPr>
            <a:noAutofit/>
          </a:bodyPr>
          <a:lstStyle>
            <a:lvl1pPr marL="0" indent="0">
              <a:buNone/>
              <a:defRPr sz="1800">
                <a:solidFill>
                  <a:schemeClr val="bg1"/>
                </a:solidFill>
              </a:defRPr>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
        <p:nvSpPr>
          <p:cNvPr id="5" name="Text Placeholder 3">
            <a:extLst>
              <a:ext uri="{FF2B5EF4-FFF2-40B4-BE49-F238E27FC236}">
                <a16:creationId xmlns:a16="http://schemas.microsoft.com/office/drawing/2014/main" id="{79404406-57CC-2CC6-4B29-BCB12EBEF4B6}"/>
              </a:ext>
            </a:extLst>
          </p:cNvPr>
          <p:cNvSpPr>
            <a:spLocks noGrp="1"/>
          </p:cNvSpPr>
          <p:nvPr>
            <p:ph type="body" sz="quarter" idx="20" hasCustomPrompt="1"/>
          </p:nvPr>
        </p:nvSpPr>
        <p:spPr>
          <a:xfrm>
            <a:off x="3200400" y="3154362"/>
            <a:ext cx="2743200" cy="1838325"/>
          </a:xfrm>
        </p:spPr>
        <p:txBody>
          <a:bodyPr>
            <a:noAutofit/>
          </a:bodyPr>
          <a:lstStyle>
            <a:lvl1pPr marL="0" indent="0">
              <a:buNone/>
              <a:defRPr sz="1800">
                <a:solidFill>
                  <a:schemeClr val="bg1"/>
                </a:solidFill>
              </a:defRPr>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
        <p:nvSpPr>
          <p:cNvPr id="6" name="Text Placeholder 3">
            <a:extLst>
              <a:ext uri="{FF2B5EF4-FFF2-40B4-BE49-F238E27FC236}">
                <a16:creationId xmlns:a16="http://schemas.microsoft.com/office/drawing/2014/main" id="{323E000F-9740-92B5-226E-7F2A9573F22A}"/>
              </a:ext>
            </a:extLst>
          </p:cNvPr>
          <p:cNvSpPr>
            <a:spLocks noGrp="1"/>
          </p:cNvSpPr>
          <p:nvPr>
            <p:ph type="body" sz="quarter" idx="21" hasCustomPrompt="1"/>
          </p:nvPr>
        </p:nvSpPr>
        <p:spPr>
          <a:xfrm>
            <a:off x="6080125" y="3154362"/>
            <a:ext cx="2743200" cy="1838325"/>
          </a:xfrm>
        </p:spPr>
        <p:txBody>
          <a:bodyPr>
            <a:noAutofit/>
          </a:bodyPr>
          <a:lstStyle>
            <a:lvl1pPr marL="0" indent="0">
              <a:buNone/>
              <a:defRPr sz="1800">
                <a:solidFill>
                  <a:schemeClr val="bg1"/>
                </a:solidFill>
              </a:defRPr>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Tree>
    <p:extLst>
      <p:ext uri="{BB962C8B-B14F-4D97-AF65-F5344CB8AC3E}">
        <p14:creationId xmlns:p14="http://schemas.microsoft.com/office/powerpoint/2010/main" val="3703020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 Poppy">
    <p:bg>
      <p:bgPr>
        <a:solidFill>
          <a:schemeClr val="accent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A68484C-AC53-310A-3E63-11563691DA99}"/>
              </a:ext>
            </a:extLst>
          </p:cNvPr>
          <p:cNvPicPr>
            <a:picLocks noChangeAspect="1"/>
          </p:cNvPicPr>
          <p:nvPr userDrawn="1"/>
        </p:nvPicPr>
        <p:blipFill>
          <a:blip r:embed="rId2">
            <a:alphaModFix amt="85000"/>
          </a:blip>
          <a:stretch>
            <a:fillRect/>
          </a:stretch>
        </p:blipFill>
        <p:spPr>
          <a:xfrm>
            <a:off x="0" y="0"/>
            <a:ext cx="3215261"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2921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Illuminating (Dark)">
    <p:bg>
      <p:bgPr>
        <a:solidFill>
          <a:srgbClr val="FEC51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FF3D13-25FB-D093-39D3-F46A232C0112}"/>
              </a:ext>
            </a:extLst>
          </p:cNvPr>
          <p:cNvPicPr>
            <a:picLocks noChangeAspect="1"/>
          </p:cNvPicPr>
          <p:nvPr userDrawn="1"/>
        </p:nvPicPr>
        <p:blipFill>
          <a:blip r:embed="rId2">
            <a:alphaModFix amt="70000"/>
          </a:blip>
          <a:srcRect/>
          <a:stretch/>
        </p:blipFill>
        <p:spPr>
          <a:xfrm>
            <a:off x="0" y="0"/>
            <a:ext cx="3215260"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7439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Palo Verde">
    <p:bg>
      <p:bgPr>
        <a:solidFill>
          <a:schemeClr val="accent4"/>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CE173C3A-5C98-54E9-53FC-C33B2FF433F0}"/>
              </a:ext>
            </a:extLst>
          </p:cNvPr>
          <p:cNvPicPr>
            <a:picLocks noChangeAspect="1"/>
          </p:cNvPicPr>
          <p:nvPr userDrawn="1"/>
        </p:nvPicPr>
        <p:blipFill>
          <a:blip r:embed="rId2">
            <a:alphaModFix amt="70000"/>
          </a:blip>
          <a:stretch>
            <a:fillRect/>
          </a:stretch>
        </p:blipFill>
        <p:spPr>
          <a:xfrm>
            <a:off x="0" y="0"/>
            <a:ext cx="3215261"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399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Sky">
    <p:bg>
      <p:bgPr>
        <a:solidFill>
          <a:srgbClr val="4298B5"/>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with low confidence">
            <a:extLst>
              <a:ext uri="{FF2B5EF4-FFF2-40B4-BE49-F238E27FC236}">
                <a16:creationId xmlns:a16="http://schemas.microsoft.com/office/drawing/2014/main" id="{A87BB1C2-25D1-C630-D541-D13D26A4F685}"/>
              </a:ext>
            </a:extLst>
          </p:cNvPr>
          <p:cNvPicPr>
            <a:picLocks noChangeAspect="1"/>
          </p:cNvPicPr>
          <p:nvPr userDrawn="1"/>
        </p:nvPicPr>
        <p:blipFill>
          <a:blip r:embed="rId2">
            <a:alphaModFix amt="70000"/>
          </a:blip>
          <a:stretch>
            <a:fillRect/>
          </a:stretch>
        </p:blipFill>
        <p:spPr>
          <a:xfrm>
            <a:off x="0" y="0"/>
            <a:ext cx="3215261"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7978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 Plum">
    <p:bg>
      <p:bgPr>
        <a:solidFill>
          <a:schemeClr val="accent3"/>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9B1620-33A2-EB92-1A78-56D0FCB9B5B6}"/>
              </a:ext>
            </a:extLst>
          </p:cNvPr>
          <p:cNvPicPr>
            <a:picLocks noChangeAspect="1"/>
          </p:cNvPicPr>
          <p:nvPr userDrawn="1"/>
        </p:nvPicPr>
        <p:blipFill>
          <a:blip r:embed="rId2"/>
          <a:srcRect/>
          <a:stretch/>
        </p:blipFill>
        <p:spPr>
          <a:xfrm>
            <a:off x="0" y="0"/>
            <a:ext cx="3215260"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1505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 Thank You">
    <p:bg>
      <p:bgPr>
        <a:solidFill>
          <a:srgbClr val="53565A"/>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65630BED-1E98-0CEF-3896-D0DA0B0CA961}"/>
              </a:ext>
            </a:extLst>
          </p:cNvPr>
          <p:cNvPicPr>
            <a:picLocks noChangeAspect="1"/>
          </p:cNvPicPr>
          <p:nvPr userDrawn="1"/>
        </p:nvPicPr>
        <p:blipFill>
          <a:blip r:embed="rId2">
            <a:alphaModFix amt="70000"/>
            <a:extLst>
              <a:ext uri="{BEBA8EAE-BF5A-486C-A8C5-ECC9F3942E4B}">
                <a14:imgProps xmlns:a14="http://schemas.microsoft.com/office/drawing/2010/main">
                  <a14:imgLayer r:embed="rId3">
                    <a14:imgEffect>
                      <a14:colorTemperature colorTemp="5900"/>
                    </a14:imgEffect>
                    <a14:imgEffect>
                      <a14:saturation sat="0"/>
                    </a14:imgEffect>
                  </a14:imgLayer>
                </a14:imgProps>
              </a:ext>
            </a:extLst>
          </a:blip>
          <a:stretch>
            <a:fillRect/>
          </a:stretch>
        </p:blipFill>
        <p:spPr>
          <a:xfrm>
            <a:off x="0" y="0"/>
            <a:ext cx="3215261" cy="5715000"/>
          </a:xfrm>
          <a:prstGeom prst="rect">
            <a:avLst/>
          </a:prstGeom>
        </p:spPr>
      </p:pic>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3298709"/>
            <a:ext cx="7479792" cy="1844899"/>
          </a:xfrm>
        </p:spPr>
        <p:txBody>
          <a:bodyPr anchor="b" anchorCtr="0"/>
          <a:lstStyle>
            <a:lvl1pPr algn="r">
              <a:defRPr sz="4500">
                <a:solidFill>
                  <a:schemeClr val="bg1"/>
                </a:solidFill>
              </a:defRPr>
            </a:lvl1pPr>
          </a:lstStyle>
          <a:p>
            <a:r>
              <a:rPr lang="en-US" dirty="0"/>
              <a:t>Thank You</a:t>
            </a:r>
          </a:p>
        </p:txBody>
      </p:sp>
      <p:pic>
        <p:nvPicPr>
          <p:cNvPr id="7" name="Picture 6">
            <a:extLst>
              <a:ext uri="{FF2B5EF4-FFF2-40B4-BE49-F238E27FC236}">
                <a16:creationId xmlns:a16="http://schemas.microsoft.com/office/drawing/2014/main" id="{4E48C632-C05E-CB25-DBC6-9EB32E637938}"/>
              </a:ext>
            </a:extLst>
          </p:cNvPr>
          <p:cNvPicPr>
            <a:picLocks noChangeAspect="1"/>
          </p:cNvPicPr>
          <p:nvPr userDrawn="1"/>
        </p:nvPicPr>
        <p:blipFill>
          <a:blip r:embed="rId4"/>
          <a:srcRect/>
          <a:stretch/>
        </p:blipFill>
        <p:spPr>
          <a:xfrm>
            <a:off x="313316" y="5389834"/>
            <a:ext cx="1426464" cy="171815"/>
          </a:xfrm>
          <a:prstGeom prst="rect">
            <a:avLst/>
          </a:prstGeom>
        </p:spPr>
      </p:pic>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35248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spTree>
    <p:extLst>
      <p:ext uri="{BB962C8B-B14F-4D97-AF65-F5344CB8AC3E}">
        <p14:creationId xmlns:p14="http://schemas.microsoft.com/office/powerpoint/2010/main" val="23183793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spTree>
    <p:extLst>
      <p:ext uri="{BB962C8B-B14F-4D97-AF65-F5344CB8AC3E}">
        <p14:creationId xmlns:p14="http://schemas.microsoft.com/office/powerpoint/2010/main" val="26859744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2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0040" y="304271"/>
            <a:ext cx="8503920" cy="914929"/>
          </a:xfrm>
          <a:prstGeom prst="rect">
            <a:avLst/>
          </a:prstGeom>
        </p:spPr>
        <p:txBody>
          <a:bodyPr vert="horz" lIns="0" tIns="45720" rIns="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20040" y="1333500"/>
            <a:ext cx="8503920" cy="3813969"/>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Logo&#10;&#10;Description automatically generated">
            <a:extLst>
              <a:ext uri="{FF2B5EF4-FFF2-40B4-BE49-F238E27FC236}">
                <a16:creationId xmlns:a16="http://schemas.microsoft.com/office/drawing/2014/main" id="{ECE70F7C-38F5-0C67-B546-CD48700BBC8B}"/>
              </a:ext>
            </a:extLst>
          </p:cNvPr>
          <p:cNvPicPr>
            <a:picLocks noChangeAspect="1"/>
          </p:cNvPicPr>
          <p:nvPr userDrawn="1"/>
        </p:nvPicPr>
        <p:blipFill>
          <a:blip r:embed="rId23"/>
          <a:stretch>
            <a:fillRect/>
          </a:stretch>
        </p:blipFill>
        <p:spPr>
          <a:xfrm>
            <a:off x="231581" y="5309034"/>
            <a:ext cx="1600200" cy="340894"/>
          </a:xfrm>
          <a:prstGeom prst="rect">
            <a:avLst/>
          </a:prstGeom>
        </p:spPr>
      </p:pic>
      <p:sp>
        <p:nvSpPr>
          <p:cNvPr id="11" name="Slide Number Placeholder 10">
            <a:extLst>
              <a:ext uri="{FF2B5EF4-FFF2-40B4-BE49-F238E27FC236}">
                <a16:creationId xmlns:a16="http://schemas.microsoft.com/office/drawing/2014/main" id="{24C7CA68-7FB4-321D-C8E0-C926B3A1C841}"/>
              </a:ext>
            </a:extLst>
          </p:cNvPr>
          <p:cNvSpPr>
            <a:spLocks noGrp="1"/>
          </p:cNvSpPr>
          <p:nvPr>
            <p:ph type="sldNum" sz="quarter" idx="4"/>
          </p:nvPr>
        </p:nvSpPr>
        <p:spPr>
          <a:xfrm>
            <a:off x="6766560" y="5286377"/>
            <a:ext cx="2057400" cy="303212"/>
          </a:xfrm>
          <a:prstGeom prst="rect">
            <a:avLst/>
          </a:prstGeom>
        </p:spPr>
        <p:txBody>
          <a:bodyPr vert="horz" lIns="91440" tIns="45720" rIns="91440" bIns="45720" rtlCol="0" anchor="ctr"/>
          <a:lstStyle>
            <a:lvl1pPr algn="r">
              <a:defRPr sz="800">
                <a:solidFill>
                  <a:schemeClr val="tx2"/>
                </a:solidFill>
              </a:defRPr>
            </a:lvl1pPr>
          </a:lstStyle>
          <a:p>
            <a:fld id="{0B846F7A-F379-7344-96C1-F93ECF6653C6}" type="slidenum">
              <a:rPr lang="en-US" smtClean="0"/>
              <a:pPr/>
              <a:t>‹#›</a:t>
            </a:fld>
            <a:endParaRPr lang="en-US" dirty="0"/>
          </a:p>
        </p:txBody>
      </p:sp>
    </p:spTree>
    <p:extLst>
      <p:ext uri="{BB962C8B-B14F-4D97-AF65-F5344CB8AC3E}">
        <p14:creationId xmlns:p14="http://schemas.microsoft.com/office/powerpoint/2010/main" val="1182746281"/>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2" r:id="rId3"/>
    <p:sldLayoutId id="2147483671" r:id="rId4"/>
    <p:sldLayoutId id="2147483673" r:id="rId5"/>
    <p:sldLayoutId id="2147483662" r:id="rId6"/>
    <p:sldLayoutId id="2147483674" r:id="rId7"/>
    <p:sldLayoutId id="2147483675" r:id="rId8"/>
    <p:sldLayoutId id="2147483664" r:id="rId9"/>
    <p:sldLayoutId id="2147483684" r:id="rId10"/>
    <p:sldLayoutId id="2147483676" r:id="rId11"/>
    <p:sldLayoutId id="2147483677" r:id="rId12"/>
    <p:sldLayoutId id="2147483678" r:id="rId13"/>
    <p:sldLayoutId id="2147483663" r:id="rId14"/>
    <p:sldLayoutId id="2147483679" r:id="rId15"/>
    <p:sldLayoutId id="2147483680" r:id="rId16"/>
    <p:sldLayoutId id="2147483681" r:id="rId17"/>
    <p:sldLayoutId id="2147483682" r:id="rId18"/>
    <p:sldLayoutId id="2147483683" r:id="rId19"/>
    <p:sldLayoutId id="2147483666" r:id="rId20"/>
    <p:sldLayoutId id="2147483667" r:id="rId21"/>
  </p:sldLayoutIdLst>
  <p:hf hdr="0" ftr="0" dt="0"/>
  <p:txStyles>
    <p:titleStyle>
      <a:lvl1pPr algn="l" defTabSz="685800" rtl="0" eaLnBrk="1" latinLnBrk="0" hangingPunct="1">
        <a:lnSpc>
          <a:spcPct val="90000"/>
        </a:lnSpc>
        <a:spcBef>
          <a:spcPct val="0"/>
        </a:spcBef>
        <a:buNone/>
        <a:defRPr sz="3200" kern="1200">
          <a:solidFill>
            <a:schemeClr val="tx1"/>
          </a:solidFill>
          <a:latin typeface="Georgia" panose="02040502050405020303" pitchFamily="18"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300" b="0" i="0" kern="1200">
          <a:solidFill>
            <a:schemeClr val="tx2"/>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6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6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7.png"/><Relationship Id="rId3" Type="http://schemas.openxmlformats.org/officeDocument/2006/relationships/notesSlide" Target="../notesSlides/notesSlide6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6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3.png"/><Relationship Id="rId3" Type="http://schemas.openxmlformats.org/officeDocument/2006/relationships/notesSlide" Target="../notesSlides/notesSlide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4.png"/><Relationship Id="rId3" Type="http://schemas.openxmlformats.org/officeDocument/2006/relationships/notesSlide" Target="../notesSlides/notesSlide7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chart" Target="../charts/char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2.xml"/><Relationship Id="rId3"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1.xml"/><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25.xml"/><Relationship Id="rId3" Type="http://schemas.openxmlformats.org/officeDocument/2006/relationships/chart" Target="../charts/chart26.xml"/><Relationship Id="rId4" Type="http://schemas.openxmlformats.org/officeDocument/2006/relationships/notesSlide" Target="../notesSlides/notesSlide8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24.xml"/><Relationship Id="rId3" Type="http://schemas.openxmlformats.org/officeDocument/2006/relationships/chart" Target="../charts/chart23.xml"/><Relationship Id="rId4" Type="http://schemas.openxmlformats.org/officeDocument/2006/relationships/notesSlide" Target="../notesSlides/notesSlide8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8.xml"/><Relationship Id="rId3" Type="http://schemas.openxmlformats.org/officeDocument/2006/relationships/notesSlide" Target="../notesSlides/notesSlide4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4.xml"/><Relationship Id="rId3" Type="http://schemas.openxmlformats.org/officeDocument/2006/relationships/chart" Target="../charts/chart15.xml"/><Relationship Id="rId4"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9.xml"/><Relationship Id="rId3" Type="http://schemas.openxmlformats.org/officeDocument/2006/relationships/notesSlide" Target="../notesSlides/notesSlide4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7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20.xml"/><Relationship Id="rId3" Type="http://schemas.openxmlformats.org/officeDocument/2006/relationships/notesSlide" Target="../notesSlides/notesSlide5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notesSlide" Target="../notesSlides/notesSlide7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notesSlide" Target="../notesSlides/notesSlide7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46.png"/><Relationship Id="rId3" Type="http://schemas.openxmlformats.org/officeDocument/2006/relationships/notesSlide" Target="../notesSlides/notesSlide7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22.xml"/><Relationship Id="rId3" Type="http://schemas.openxmlformats.org/officeDocument/2006/relationships/notesSlide" Target="../notesSlides/notesSlide8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21.xml"/><Relationship Id="rId3" Type="http://schemas.openxmlformats.org/officeDocument/2006/relationships/notesSlide" Target="../notesSlides/notesSlide8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3.xml"/><Relationship Id="rId3" Type="http://schemas.openxmlformats.org/officeDocument/2006/relationships/notesSlide" Target="../notesSlides/notesSlide2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chart" Target="../charts/char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chart" Target="../charts/char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chart" Target="../charts/char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 Id="rId3" Type="http://schemas.openxmlformats.org/officeDocument/2006/relationships/chart" Target="../charts/char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2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0.xml"/><Relationship Id="rId3" Type="http://schemas.openxmlformats.org/officeDocument/2006/relationships/notesSlide" Target="../notesSlides/notesSlide1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9.xml"/><Relationship Id="rId3" Type="http://schemas.openxmlformats.org/officeDocument/2006/relationships/notesSlide" Target="../notesSlides/notesSlide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5.png"/><Relationship Id="rId3" Type="http://schemas.openxmlformats.org/officeDocument/2006/relationships/notesSlide" Target="../notesSlides/notesSlide2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notesSlide" Target="../notesSlides/notesSlide3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7.xml"/><Relationship Id="rId3" Type="http://schemas.openxmlformats.org/officeDocument/2006/relationships/notesSlide" Target="../notesSlides/notesSlide2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16.xml"/><Relationship Id="rId3" Type="http://schemas.openxmlformats.org/officeDocument/2006/relationships/notesSlide" Target="../notesSlides/notesSlide2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4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ctrTitle"/>
          </p:nvPr>
        </p:nvSpPr>
        <p:spPr>
          <a:xfrm>
            <a:off x="1362456" y="1463040"/>
            <a:ext cx="7479792" cy="1572768"/>
          </a:xfrm>
        </p:spPr>
        <p:txBody>
          <a:bodyPr wrap="square" lIns="0" rIns="0" anchor="b"/>
          <a:lstStyle/>
          <a:p>
            <a:pPr algn="l"/>
            <a:r>
              <a:rPr sz="2800">
                <a:solidFill>
                  <a:srgbClr val="8C1515"/>
                </a:solidFill>
                <a:latin typeface="Georgia"/>
              </a:rPr>
              <a:t>Simulating Microvascular Adaptation</a:t>
            </a:r>
          </a:p>
          <a:p>
            <a:pPr algn="l"/>
            <a:r>
              <a:rPr sz="2800">
                <a:solidFill>
                  <a:srgbClr val="8C1515"/>
                </a:solidFill>
                <a:latin typeface="Georgia"/>
              </a:rPr>
              <a:t>after Pulmonary Artery Stenting</a:t>
            </a:r>
          </a:p>
        </p:txBody>
      </p:sp>
      <p:sp>
        <p:nvSpPr>
          <p:cNvPr id="4" name="Subtitle 2"/>
          <p:cNvSpPr>
            <a:spLocks noGrp="1"/>
          </p:cNvSpPr>
          <p:nvPr>
            <p:ph type="subTitle" idx="1"/>
          </p:nvPr>
        </p:nvSpPr>
        <p:spPr>
          <a:xfrm>
            <a:off x="1362456" y="3218688"/>
            <a:ext cx="6583680" cy="914400"/>
          </a:xfrm>
        </p:spPr>
        <p:txBody>
          <a:bodyPr wrap="square" lIns="0" rIns="0"/>
          <a:lstStyle/>
          <a:p>
            <a:r>
              <a:rPr sz="1150">
                <a:solidFill>
                  <a:srgbClr val="2E2D29"/>
                </a:solidFill>
                <a:latin typeface="Calibri"/>
              </a:rPr>
              <a:t>A patient-specific pipeline for structured-tree boundary condition tuning</a:t>
            </a:r>
          </a:p>
          <a:p>
            <a:r>
              <a:rPr sz="1150">
                <a:solidFill>
                  <a:srgbClr val="2E2D29"/>
                </a:solidFill>
                <a:latin typeface="Calibri"/>
              </a:rPr>
              <a:t>and mechanobiological adaptation  ·  Tetralogy of Fallot stent cohort</a:t>
            </a:r>
          </a:p>
        </p:txBody>
      </p:sp>
      <p:sp>
        <p:nvSpPr>
          <p:cNvPr id="5" name="S1_text_Nick_Dorn_Marsden"/>
          <p:cNvSpPr txBox="1"/>
          <p:nvPr/>
        </p:nvSpPr>
        <p:spPr>
          <a:xfrm>
            <a:off x="1362456" y="4315968"/>
            <a:ext cx="6583680" cy="457200"/>
          </a:xfrm>
          <a:prstGeom prst="rect">
            <a:avLst/>
          </a:prstGeom>
          <a:noFill/>
        </p:spPr>
        <p:txBody>
          <a:bodyPr wrap="square" lIns="27432" tIns="0" rIns="27432" bIns="0" anchor="t">
            <a:spAutoFit/>
          </a:bodyPr>
          <a:lstStyle/>
          <a:p>
            <a:pPr algn="l">
              <a:lnSpc>
                <a:spcPct val="115000"/>
              </a:lnSpc>
            </a:pPr>
            <a:r>
              <a:rPr sz="1100" b="0" i="0">
                <a:solidFill>
                  <a:srgbClr val="6B6965"/>
                </a:solidFill>
                <a:latin typeface="Calibri"/>
              </a:rPr>
              <a:t>Nick Dorn  ·  Marsden Lab, Stanford University</a:t>
            </a:r>
          </a:p>
          <a:p>
            <a:pPr algn="l">
              <a:lnSpc>
                <a:spcPct val="115000"/>
              </a:lnSpc>
            </a:pPr>
            <a:r>
              <a:rPr sz="1100" b="0" i="0">
                <a:solidFill>
                  <a:srgbClr val="6B6965"/>
                </a:solidFill>
                <a:latin typeface="Calibri"/>
              </a:rPr>
              <a:t>Pipeline reference deck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Branch pulmonary artery stenosis persists after Tetralogy of Fallot repair</a:t>
            </a:r>
          </a:p>
        </p:txBody>
      </p:sp>
      <p:sp>
        <p:nvSpPr>
          <p:cNvPr id="4" name="S2_shape"/>
          <p:cNvSpPr/>
          <p:nvPr/>
        </p:nvSpPr>
        <p:spPr>
          <a:xfrm>
            <a:off x="320040" y="1005840"/>
            <a:ext cx="8503920" cy="9525"/>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2_text_Stenosis_of_the"/>
          <p:cNvSpPr txBox="1"/>
          <p:nvPr/>
        </p:nvSpPr>
        <p:spPr>
          <a:xfrm>
            <a:off x="320040" y="1207008"/>
            <a:ext cx="3977639" cy="2286000"/>
          </a:xfrm>
          <a:prstGeom prst="rect">
            <a:avLst/>
          </a:prstGeom>
          <a:noFill/>
        </p:spPr>
        <p:txBody>
          <a:bodyPr wrap="square" lIns="27432" tIns="0" rIns="27432" bIns="0">
            <a:spAutoFit/>
          </a:bodyPr>
          <a:lstStyle/>
          <a:p>
            <a:pPr>
              <a:spcAft>
                <a:spcPts val="700"/>
              </a:spcAft>
            </a:pPr>
            <a:r>
              <a:rPr sz="1100">
                <a:solidFill>
                  <a:srgbClr val="8C1515"/>
                </a:solidFill>
                <a:latin typeface="Calibri"/>
              </a:rPr>
              <a:t>• </a:t>
            </a:r>
            <a:r>
              <a:rPr sz="1100">
                <a:solidFill>
                  <a:srgbClr val="2E2D29"/>
                </a:solidFill>
                <a:latin typeface="Calibri"/>
              </a:rPr>
              <a:t>Stenosis of the branch and peripheral PAs raises pulmonary vascular resistance and loads the right ventricle</a:t>
            </a:r>
          </a:p>
          <a:p>
            <a:pPr>
              <a:spcAft>
                <a:spcPts val="700"/>
              </a:spcAft>
            </a:pPr>
            <a:r>
              <a:rPr sz="1100">
                <a:solidFill>
                  <a:srgbClr val="8C1515"/>
                </a:solidFill>
                <a:latin typeface="Calibri"/>
              </a:rPr>
              <a:t>• </a:t>
            </a:r>
            <a:r>
              <a:rPr sz="1100">
                <a:solidFill>
                  <a:srgbClr val="2E2D29"/>
                </a:solidFill>
                <a:latin typeface="Calibri"/>
              </a:rPr>
              <a:t>Managed with balloon angioplasty, stenting, or surgical patch reconstruction: often over repeated catheterizations</a:t>
            </a:r>
          </a:p>
          <a:p>
            <a:pPr>
              <a:spcAft>
                <a:spcPts val="700"/>
              </a:spcAft>
            </a:pPr>
            <a:r>
              <a:rPr sz="1100">
                <a:solidFill>
                  <a:srgbClr val="8C1515"/>
                </a:solidFill>
                <a:latin typeface="Calibri"/>
              </a:rPr>
              <a:t>• </a:t>
            </a:r>
            <a:r>
              <a:rPr sz="1100">
                <a:solidFill>
                  <a:srgbClr val="2E2D29"/>
                </a:solidFill>
                <a:latin typeface="Calibri"/>
              </a:rPr>
              <a:t>Goal of intervention is to lower RV pressure and rebalance perfusion between the lungs</a:t>
            </a:r>
          </a:p>
        </p:txBody>
      </p:sp>
      <p:sp>
        <p:nvSpPr>
          <p:cNvPr id="6" name="S2_shape_2"/>
          <p:cNvSpPr/>
          <p:nvPr/>
        </p:nvSpPr>
        <p:spPr>
          <a:xfrm>
            <a:off x="320040" y="3712463"/>
            <a:ext cx="3977639"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2_text_The_hard_question"/>
          <p:cNvSpPr txBox="1"/>
          <p:nvPr/>
        </p:nvSpPr>
        <p:spPr>
          <a:xfrm>
            <a:off x="429768" y="3712463"/>
            <a:ext cx="3758183" cy="310896"/>
          </a:xfrm>
          <a:prstGeom prst="rect">
            <a:avLst/>
          </a:prstGeom>
          <a:noFill/>
        </p:spPr>
        <p:txBody>
          <a:bodyPr wrap="square" lIns="27432" tIns="0" rIns="27432" bIns="0" anchor="ctr">
            <a:spAutoFit/>
          </a:bodyPr>
          <a:lstStyle/>
          <a:p>
            <a:pPr algn="l"/>
            <a:r>
              <a:rPr sz="1100" b="1" i="0">
                <a:solidFill>
                  <a:srgbClr val="8C1515"/>
                </a:solidFill>
                <a:latin typeface="Calibri"/>
              </a:rPr>
              <a:t>The hard question is not whether a lesion can be opened, but how the lung responds afterward.</a:t>
            </a:r>
          </a:p>
        </p:txBody>
      </p:sp>
      <p:pic>
        <p:nvPicPr>
          <p:cNvPr id="8" name="S2_picture" descr="angio_b.png"/>
          <p:cNvPicPr>
            <a:picLocks noChangeAspect="1"/>
          </p:cNvPicPr>
          <p:nvPr/>
        </p:nvPicPr>
        <p:blipFill>
          <a:blip r:embed="rId2"/>
          <a:stretch>
            <a:fillRect/>
          </a:stretch>
        </p:blipFill>
        <p:spPr>
          <a:xfrm>
            <a:off x="5889731" y="1207008"/>
            <a:ext cx="1662216" cy="1554480"/>
          </a:xfrm>
          <a:prstGeom prst="rect">
            <a:avLst/>
          </a:prstGeom>
        </p:spPr>
      </p:pic>
      <p:sp>
        <p:nvSpPr>
          <p:cNvPr id="9" name="S2_text_Angiographic_appearance_of"/>
          <p:cNvSpPr txBox="1"/>
          <p:nvPr/>
        </p:nvSpPr>
        <p:spPr>
          <a:xfrm>
            <a:off x="4617720" y="2798064"/>
            <a:ext cx="4206240" cy="201168"/>
          </a:xfrm>
          <a:prstGeom prst="rect">
            <a:avLst/>
          </a:prstGeom>
          <a:noFill/>
        </p:spPr>
        <p:txBody>
          <a:bodyPr wrap="square" lIns="27432" tIns="0" rIns="27432" bIns="0" anchor="t">
            <a:spAutoFit/>
          </a:bodyPr>
          <a:lstStyle/>
          <a:p>
            <a:pPr algn="ctr"/>
            <a:r>
              <a:rPr sz="1100" b="0" i="1">
                <a:solidFill>
                  <a:srgbClr val="6B6965"/>
                </a:solidFill>
                <a:latin typeface="Calibri"/>
              </a:rPr>
              <a:t>Angiographic appearance of branch PA stenosis</a:t>
            </a:r>
          </a:p>
        </p:txBody>
      </p:sp>
      <p:pic>
        <p:nvPicPr>
          <p:cNvPr id="10" name="S2_picture_2" descr="surg_recon.png"/>
          <p:cNvPicPr>
            <a:picLocks noChangeAspect="1"/>
          </p:cNvPicPr>
          <p:nvPr/>
        </p:nvPicPr>
        <p:blipFill>
          <a:blip r:embed="rId3"/>
          <a:stretch>
            <a:fillRect/>
          </a:stretch>
        </p:blipFill>
        <p:spPr>
          <a:xfrm>
            <a:off x="5143152" y="3035808"/>
            <a:ext cx="869374" cy="1691640"/>
          </a:xfrm>
          <a:prstGeom prst="rect">
            <a:avLst/>
          </a:prstGeom>
        </p:spPr>
      </p:pic>
      <p:sp>
        <p:nvSpPr>
          <p:cNvPr id="11" name="S2_text_Surgical_reconstruction"/>
          <p:cNvSpPr txBox="1"/>
          <p:nvPr/>
        </p:nvSpPr>
        <p:spPr>
          <a:xfrm>
            <a:off x="4617720" y="4764024"/>
            <a:ext cx="1920240" cy="201168"/>
          </a:xfrm>
          <a:prstGeom prst="rect">
            <a:avLst/>
          </a:prstGeom>
          <a:noFill/>
        </p:spPr>
        <p:txBody>
          <a:bodyPr wrap="square" lIns="27432" tIns="0" rIns="27432" bIns="0" anchor="t">
            <a:spAutoFit/>
          </a:bodyPr>
          <a:lstStyle/>
          <a:p>
            <a:pPr algn="ctr"/>
            <a:r>
              <a:rPr sz="1100" b="0" i="1">
                <a:solidFill>
                  <a:srgbClr val="6B6965"/>
                </a:solidFill>
                <a:latin typeface="Calibri"/>
              </a:rPr>
              <a:t>Surgical reconstruction</a:t>
            </a:r>
          </a:p>
        </p:txBody>
      </p:sp>
      <p:pic>
        <p:nvPicPr>
          <p:cNvPr id="12" name="S2_picture_3" descr="rvlv_ratio.png"/>
          <p:cNvPicPr>
            <a:picLocks noChangeAspect="1"/>
          </p:cNvPicPr>
          <p:nvPr/>
        </p:nvPicPr>
        <p:blipFill>
          <a:blip r:embed="rId4"/>
          <a:stretch>
            <a:fillRect/>
          </a:stretch>
        </p:blipFill>
        <p:spPr>
          <a:xfrm>
            <a:off x="6812280" y="3354055"/>
            <a:ext cx="2011680" cy="1055145"/>
          </a:xfrm>
          <a:prstGeom prst="rect">
            <a:avLst/>
          </a:prstGeom>
        </p:spPr>
      </p:pic>
      <p:sp>
        <p:nvSpPr>
          <p:cNvPr id="13" name="S2_text_RV_LV_pressure"/>
          <p:cNvSpPr txBox="1"/>
          <p:nvPr/>
        </p:nvSpPr>
        <p:spPr>
          <a:xfrm>
            <a:off x="6812280" y="4764024"/>
            <a:ext cx="2011680" cy="201168"/>
          </a:xfrm>
          <a:prstGeom prst="rect">
            <a:avLst/>
          </a:prstGeom>
          <a:noFill/>
        </p:spPr>
        <p:txBody>
          <a:bodyPr wrap="square" lIns="27432" tIns="0" rIns="27432" bIns="0" anchor="t">
            <a:spAutoFit/>
          </a:bodyPr>
          <a:lstStyle/>
          <a:p>
            <a:pPr algn="ctr"/>
            <a:r>
              <a:rPr sz="1100" b="0" i="1">
                <a:solidFill>
                  <a:srgbClr val="6B6965"/>
                </a:solidFill>
                <a:latin typeface="Calibri"/>
              </a:rPr>
              <a:t>RV/LV pressure ratio through follow-up</a:t>
            </a:r>
          </a:p>
        </p:txBody>
      </p:sp>
      <p:sp>
        <p:nvSpPr>
          <p:cNvPr id="14" name="S2_text_Figures_Monge_et"/>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Figures: Monge et al., J Thorac Cardiovasc Surg (2013); Bacha &amp; Kreutzer, J Interv Cardiol (2001).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Treatment planning needs a prediction, not a description</a:t>
            </a:r>
          </a:p>
        </p:txBody>
      </p:sp>
      <p:sp>
        <p:nvSpPr>
          <p:cNvPr id="4" name="S3_shape"/>
          <p:cNvSpPr/>
          <p:nvPr/>
        </p:nvSpPr>
        <p:spPr>
          <a:xfrm>
            <a:off x="320040" y="1005840"/>
            <a:ext cx="8503920" cy="9525"/>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3_shape_2"/>
          <p:cNvSpPr/>
          <p:nvPr/>
        </p:nvSpPr>
        <p:spPr>
          <a:xfrm>
            <a:off x="320040" y="1207008"/>
            <a:ext cx="2697480" cy="16459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3_text_What_the_clinician"/>
          <p:cNvSpPr txBox="1"/>
          <p:nvPr/>
        </p:nvSpPr>
        <p:spPr>
          <a:xfrm>
            <a:off x="448056" y="1307592"/>
            <a:ext cx="2441448" cy="219456"/>
          </a:xfrm>
          <a:prstGeom prst="rect">
            <a:avLst/>
          </a:prstGeom>
          <a:noFill/>
        </p:spPr>
        <p:txBody>
          <a:bodyPr wrap="square" lIns="27432" tIns="0" rIns="27432" bIns="0" anchor="t">
            <a:spAutoFit/>
          </a:bodyPr>
          <a:lstStyle/>
          <a:p>
            <a:pPr algn="l"/>
            <a:r>
              <a:rPr sz="1400" b="1" i="0">
                <a:solidFill>
                  <a:srgbClr val="8C1515"/>
                </a:solidFill>
                <a:latin typeface="Calibri"/>
              </a:rPr>
              <a:t>What the clinician decides</a:t>
            </a:r>
          </a:p>
        </p:txBody>
      </p:sp>
      <p:sp>
        <p:nvSpPr>
          <p:cNvPr id="7" name="S3_text_Which_lesion_s"/>
          <p:cNvSpPr txBox="1"/>
          <p:nvPr/>
        </p:nvSpPr>
        <p:spPr>
          <a:xfrm>
            <a:off x="448056" y="1581912"/>
            <a:ext cx="2441448" cy="1234440"/>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Which lesion(s) to treat</a:t>
            </a:r>
          </a:p>
          <a:p>
            <a:pPr>
              <a:spcAft>
                <a:spcPts val="350"/>
              </a:spcAft>
            </a:pPr>
            <a:r>
              <a:rPr sz="1100">
                <a:solidFill>
                  <a:srgbClr val="8C1515"/>
                </a:solidFill>
                <a:latin typeface="Calibri"/>
              </a:rPr>
              <a:t>• </a:t>
            </a:r>
            <a:r>
              <a:rPr sz="1100">
                <a:solidFill>
                  <a:srgbClr val="2E2D29"/>
                </a:solidFill>
                <a:latin typeface="Calibri"/>
              </a:rPr>
              <a:t>Stent diameter and length</a:t>
            </a:r>
          </a:p>
          <a:p>
            <a:pPr>
              <a:spcAft>
                <a:spcPts val="350"/>
              </a:spcAft>
            </a:pPr>
            <a:r>
              <a:rPr sz="1100">
                <a:solidFill>
                  <a:srgbClr val="8C1515"/>
                </a:solidFill>
                <a:latin typeface="Calibri"/>
              </a:rPr>
              <a:t>• </a:t>
            </a:r>
            <a:r>
              <a:rPr sz="1100">
                <a:solidFill>
                  <a:srgbClr val="2E2D29"/>
                </a:solidFill>
                <a:latin typeface="Calibri"/>
              </a:rPr>
              <a:t>Proximal vs. extensive coverage</a:t>
            </a:r>
          </a:p>
        </p:txBody>
      </p:sp>
      <p:sp>
        <p:nvSpPr>
          <p:cNvPr id="8" name="S3_shape_3"/>
          <p:cNvSpPr/>
          <p:nvPr/>
        </p:nvSpPr>
        <p:spPr>
          <a:xfrm>
            <a:off x="3200400" y="1207008"/>
            <a:ext cx="2697480" cy="16459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3_text_What_CFD_can"/>
          <p:cNvSpPr txBox="1"/>
          <p:nvPr/>
        </p:nvSpPr>
        <p:spPr>
          <a:xfrm>
            <a:off x="3328416" y="1307592"/>
            <a:ext cx="2441448" cy="219456"/>
          </a:xfrm>
          <a:prstGeom prst="rect">
            <a:avLst/>
          </a:prstGeom>
          <a:noFill/>
        </p:spPr>
        <p:txBody>
          <a:bodyPr wrap="square" lIns="27432" tIns="0" rIns="27432" bIns="0" anchor="t">
            <a:spAutoFit/>
          </a:bodyPr>
          <a:lstStyle/>
          <a:p>
            <a:pPr algn="l"/>
            <a:r>
              <a:rPr sz="1400" b="1" i="0">
                <a:solidFill>
                  <a:srgbClr val="007C92"/>
                </a:solidFill>
                <a:latin typeface="Calibri"/>
              </a:rPr>
              <a:t>What CFD can give today</a:t>
            </a:r>
          </a:p>
        </p:txBody>
      </p:sp>
      <p:sp>
        <p:nvSpPr>
          <p:cNvPr id="10" name="S3_text_Acute_pressure_and"/>
          <p:cNvSpPr txBox="1"/>
          <p:nvPr/>
        </p:nvSpPr>
        <p:spPr>
          <a:xfrm>
            <a:off x="3328416" y="1581912"/>
            <a:ext cx="2441448" cy="1234440"/>
          </a:xfrm>
          <a:prstGeom prst="rect">
            <a:avLst/>
          </a:prstGeom>
          <a:noFill/>
        </p:spPr>
        <p:txBody>
          <a:bodyPr wrap="square" lIns="27432" tIns="0" rIns="27432" bIns="0">
            <a:spAutoFit/>
          </a:bodyPr>
          <a:lstStyle/>
          <a:p>
            <a:pPr>
              <a:spcAft>
                <a:spcPts val="350"/>
              </a:spcAft>
            </a:pPr>
            <a:r>
              <a:rPr sz="1100">
                <a:solidFill>
                  <a:srgbClr val="007C92"/>
                </a:solidFill>
                <a:latin typeface="Calibri"/>
              </a:rPr>
              <a:t>• </a:t>
            </a:r>
            <a:r>
              <a:rPr sz="1100">
                <a:solidFill>
                  <a:srgbClr val="2E2D29"/>
                </a:solidFill>
                <a:latin typeface="Calibri"/>
              </a:rPr>
              <a:t>Acute pressure and flow immediately after the geometric change</a:t>
            </a:r>
          </a:p>
          <a:p>
            <a:pPr>
              <a:spcAft>
                <a:spcPts val="350"/>
              </a:spcAft>
            </a:pPr>
            <a:r>
              <a:rPr sz="1100">
                <a:solidFill>
                  <a:srgbClr val="007C92"/>
                </a:solidFill>
                <a:latin typeface="Calibri"/>
              </a:rPr>
              <a:t>• </a:t>
            </a:r>
            <a:r>
              <a:rPr sz="1100">
                <a:solidFill>
                  <a:srgbClr val="2E2D29"/>
                </a:solidFill>
                <a:latin typeface="Calibri"/>
              </a:rPr>
              <a:t>Local wall shear stress and pressure gradients</a:t>
            </a:r>
          </a:p>
        </p:txBody>
      </p:sp>
      <p:sp>
        <p:nvSpPr>
          <p:cNvPr id="11" name="S3_shape_4"/>
          <p:cNvSpPr/>
          <p:nvPr/>
        </p:nvSpPr>
        <p:spPr>
          <a:xfrm>
            <a:off x="6080759" y="1207008"/>
            <a:ext cx="2743200" cy="16459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3_text_What_is_actually"/>
          <p:cNvSpPr txBox="1"/>
          <p:nvPr/>
        </p:nvSpPr>
        <p:spPr>
          <a:xfrm>
            <a:off x="6208775" y="1307592"/>
            <a:ext cx="2487168" cy="219456"/>
          </a:xfrm>
          <a:prstGeom prst="rect">
            <a:avLst/>
          </a:prstGeom>
          <a:noFill/>
        </p:spPr>
        <p:txBody>
          <a:bodyPr wrap="square" lIns="27432" tIns="0" rIns="27432" bIns="0" anchor="t">
            <a:spAutoFit/>
          </a:bodyPr>
          <a:lstStyle/>
          <a:p>
            <a:pPr algn="l"/>
            <a:r>
              <a:rPr sz="1400" b="1" i="0">
                <a:solidFill>
                  <a:srgbClr val="E98300"/>
                </a:solidFill>
                <a:latin typeface="Calibri"/>
              </a:rPr>
              <a:t>What is actually measured later</a:t>
            </a:r>
          </a:p>
        </p:txBody>
      </p:sp>
      <p:sp>
        <p:nvSpPr>
          <p:cNvPr id="13" name="S3_text_Post_op_catheter"/>
          <p:cNvSpPr txBox="1"/>
          <p:nvPr/>
        </p:nvSpPr>
        <p:spPr>
          <a:xfrm>
            <a:off x="6208775" y="1581912"/>
            <a:ext cx="2487168" cy="1234440"/>
          </a:xfrm>
          <a:prstGeom prst="rect">
            <a:avLst/>
          </a:prstGeom>
          <a:noFill/>
        </p:spPr>
        <p:txBody>
          <a:bodyPr wrap="square" lIns="27432" tIns="0" rIns="27432" bIns="0">
            <a:spAutoFit/>
          </a:bodyPr>
          <a:lstStyle/>
          <a:p>
            <a:pPr>
              <a:spcAft>
                <a:spcPts val="350"/>
              </a:spcAft>
            </a:pPr>
            <a:r>
              <a:rPr sz="1100">
                <a:solidFill>
                  <a:srgbClr val="E98300"/>
                </a:solidFill>
                <a:latin typeface="Calibri"/>
              </a:rPr>
              <a:t>• </a:t>
            </a:r>
            <a:r>
              <a:rPr sz="1100">
                <a:solidFill>
                  <a:srgbClr val="2E2D29"/>
                </a:solidFill>
                <a:latin typeface="Calibri"/>
              </a:rPr>
              <a:t>Post-op catheter pressures</a:t>
            </a:r>
          </a:p>
          <a:p>
            <a:pPr>
              <a:spcAft>
                <a:spcPts val="350"/>
              </a:spcAft>
            </a:pPr>
            <a:r>
              <a:rPr sz="1100">
                <a:solidFill>
                  <a:srgbClr val="E98300"/>
                </a:solidFill>
                <a:latin typeface="Calibri"/>
              </a:rPr>
              <a:t>• </a:t>
            </a:r>
            <a:r>
              <a:rPr sz="1100">
                <a:solidFill>
                  <a:srgbClr val="2E2D29"/>
                </a:solidFill>
                <a:latin typeface="Calibri"/>
              </a:rPr>
              <a:t>Post-op lung perfusion split</a:t>
            </a:r>
          </a:p>
          <a:p>
            <a:pPr>
              <a:spcAft>
                <a:spcPts val="350"/>
              </a:spcAft>
            </a:pPr>
            <a:r>
              <a:rPr sz="1100">
                <a:solidFill>
                  <a:srgbClr val="E98300"/>
                </a:solidFill>
                <a:latin typeface="Calibri"/>
              </a:rPr>
              <a:t>• </a:t>
            </a:r>
            <a:r>
              <a:rPr sz="1100">
                <a:solidFill>
                  <a:srgbClr val="2E2D29"/>
                </a:solidFill>
                <a:latin typeface="Calibri"/>
              </a:rPr>
              <a:t>Both reflect a remodelled distal bed</a:t>
            </a:r>
          </a:p>
        </p:txBody>
      </p:sp>
      <p:sp>
        <p:nvSpPr>
          <p:cNvPr id="14" name="S3_shape_5"/>
          <p:cNvSpPr/>
          <p:nvPr/>
        </p:nvSpPr>
        <p:spPr>
          <a:xfrm>
            <a:off x="2770632" y="1920240"/>
            <a:ext cx="182880" cy="219456"/>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3_shape_6"/>
          <p:cNvSpPr/>
          <p:nvPr/>
        </p:nvSpPr>
        <p:spPr>
          <a:xfrm>
            <a:off x="5650992" y="1920240"/>
            <a:ext cx="182880" cy="219456"/>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3_text_The_gap_an"/>
          <p:cNvSpPr txBox="1"/>
          <p:nvPr/>
        </p:nvSpPr>
        <p:spPr>
          <a:xfrm>
            <a:off x="320040" y="3127248"/>
            <a:ext cx="8503920" cy="256032"/>
          </a:xfrm>
          <a:prstGeom prst="rect">
            <a:avLst/>
          </a:prstGeom>
          <a:noFill/>
        </p:spPr>
        <p:txBody>
          <a:bodyPr wrap="square" lIns="27432" tIns="0" rIns="27432" bIns="0" anchor="t">
            <a:spAutoFit/>
          </a:bodyPr>
          <a:lstStyle/>
          <a:p>
            <a:pPr algn="l"/>
            <a:r>
              <a:rPr sz="1300" b="1" i="0">
                <a:solidFill>
                  <a:srgbClr val="8C1515"/>
                </a:solidFill>
                <a:latin typeface="Georgia"/>
              </a:rPr>
              <a:t>The gap: an acute simulation cannot reach the measured outcome</a:t>
            </a:r>
          </a:p>
        </p:txBody>
      </p:sp>
      <p:sp>
        <p:nvSpPr>
          <p:cNvPr id="17" name="S3_text_Opening_a_proximal"/>
          <p:cNvSpPr txBox="1"/>
          <p:nvPr/>
        </p:nvSpPr>
        <p:spPr>
          <a:xfrm>
            <a:off x="320040" y="3456432"/>
            <a:ext cx="8503920" cy="1188720"/>
          </a:xfrm>
          <a:prstGeom prst="rect">
            <a:avLst/>
          </a:prstGeom>
          <a:noFill/>
        </p:spPr>
        <p:txBody>
          <a:bodyPr wrap="square" lIns="27432" tIns="0" rIns="27432" bIns="0">
            <a:spAutoFit/>
          </a:bodyPr>
          <a:lstStyle/>
          <a:p>
            <a:pPr>
              <a:spcAft>
                <a:spcPts val="700"/>
              </a:spcAft>
            </a:pPr>
            <a:r>
              <a:rPr sz="1100">
                <a:solidFill>
                  <a:srgbClr val="8C1515"/>
                </a:solidFill>
                <a:latin typeface="Calibri"/>
              </a:rPr>
              <a:t>• </a:t>
            </a:r>
            <a:r>
              <a:rPr sz="1100">
                <a:solidFill>
                  <a:srgbClr val="2E2D29"/>
                </a:solidFill>
                <a:latin typeface="Calibri"/>
              </a:rPr>
              <a:t>Opening a proximal stenosis raises flow to the downstream bed, which raises wall shear stress in every distal arteriole</a:t>
            </a:r>
          </a:p>
          <a:p>
            <a:pPr>
              <a:spcAft>
                <a:spcPts val="700"/>
              </a:spcAft>
            </a:pPr>
            <a:r>
              <a:rPr sz="1100">
                <a:solidFill>
                  <a:srgbClr val="8C1515"/>
                </a:solidFill>
                <a:latin typeface="Calibri"/>
              </a:rPr>
              <a:t>• </a:t>
            </a:r>
            <a:r>
              <a:rPr sz="1100">
                <a:solidFill>
                  <a:srgbClr val="2E2D29"/>
                </a:solidFill>
                <a:latin typeface="Calibri"/>
              </a:rPr>
              <a:t>Those arterioles dilate to restore their homeostatic shear and stress state, lowering downstream resistance further</a:t>
            </a:r>
          </a:p>
          <a:p>
            <a:pPr>
              <a:spcAft>
                <a:spcPts val="700"/>
              </a:spcAft>
            </a:pPr>
            <a:r>
              <a:rPr sz="1100">
                <a:solidFill>
                  <a:srgbClr val="8C1515"/>
                </a:solidFill>
                <a:latin typeface="Calibri"/>
              </a:rPr>
              <a:t>• </a:t>
            </a:r>
            <a:r>
              <a:rPr sz="1100">
                <a:solidFill>
                  <a:srgbClr val="2E2D29"/>
                </a:solidFill>
                <a:latin typeface="Calibri"/>
              </a:rPr>
              <a:t>The flow split and pressures that get measured weeks to months later are the adapted state, not the acute one</a:t>
            </a:r>
          </a:p>
        </p:txBody>
      </p:sp>
      <p:sp>
        <p:nvSpPr>
          <p:cNvPr id="18" name="S3_shape_7"/>
          <p:cNvSpPr/>
          <p:nvPr/>
        </p:nvSpPr>
        <p:spPr>
          <a:xfrm>
            <a:off x="320040" y="479145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3_text_So_the_boundary"/>
          <p:cNvSpPr txBox="1"/>
          <p:nvPr/>
        </p:nvSpPr>
        <p:spPr>
          <a:xfrm>
            <a:off x="429768" y="4791456"/>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So the boundary condition itself has to be able to remodel.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The boundary condition problem</a:t>
            </a:r>
          </a:p>
        </p:txBody>
      </p:sp>
      <p:sp>
        <p:nvSpPr>
          <p:cNvPr id="4" name="S4_shape"/>
          <p:cNvSpPr/>
          <p:nvPr/>
        </p:nvSpPr>
        <p:spPr>
          <a:xfrm>
            <a:off x="320040" y="1005840"/>
            <a:ext cx="8503920" cy="9525"/>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S4_picture" descr="pa_model_black.png"/>
          <p:cNvPicPr>
            <a:picLocks noChangeAspect="1"/>
          </p:cNvPicPr>
          <p:nvPr/>
        </p:nvPicPr>
        <p:blipFill>
          <a:blip r:embed="rId2"/>
          <a:stretch>
            <a:fillRect/>
          </a:stretch>
        </p:blipFill>
        <p:spPr>
          <a:xfrm>
            <a:off x="-452761" y="944319"/>
            <a:ext cx="3787214" cy="2275165"/>
          </a:xfrm>
          <a:prstGeom prst="rect">
            <a:avLst/>
          </a:prstGeom>
        </p:spPr>
      </p:pic>
      <p:pic>
        <p:nvPicPr>
          <p:cNvPr id="6" name="S4_picture_2" descr="pa_outlets_zoom.png"/>
          <p:cNvPicPr>
            <a:picLocks noChangeAspect="1"/>
          </p:cNvPicPr>
          <p:nvPr/>
        </p:nvPicPr>
        <p:blipFill>
          <a:blip r:embed="rId3"/>
          <a:stretch>
            <a:fillRect/>
          </a:stretch>
        </p:blipFill>
        <p:spPr>
          <a:xfrm>
            <a:off x="3017520" y="1343191"/>
            <a:ext cx="2606040" cy="1565576"/>
          </a:xfrm>
          <a:prstGeom prst="rect">
            <a:avLst/>
          </a:prstGeom>
        </p:spPr>
      </p:pic>
      <p:sp>
        <p:nvSpPr>
          <p:cNvPr id="7" name="S4_text_Segmentation_resolves_vessels"/>
          <p:cNvSpPr txBox="1"/>
          <p:nvPr/>
        </p:nvSpPr>
        <p:spPr>
          <a:xfrm>
            <a:off x="320040" y="3127248"/>
            <a:ext cx="5303520" cy="219456"/>
          </a:xfrm>
          <a:prstGeom prst="rect">
            <a:avLst/>
          </a:prstGeom>
          <a:noFill/>
        </p:spPr>
        <p:txBody>
          <a:bodyPr wrap="square" lIns="27432" tIns="0" rIns="27432" bIns="0" anchor="t">
            <a:spAutoFit/>
          </a:bodyPr>
          <a:lstStyle/>
          <a:p>
            <a:pPr algn="ctr"/>
            <a:r>
              <a:rPr sz="1100" b="0" i="1">
                <a:solidFill>
                  <a:srgbClr val="6B6965"/>
                </a:solidFill>
                <a:latin typeface="Calibri"/>
              </a:rPr>
              <a:t>Segmentation resolves vessels to roughly 1 mm; everything distal is boundary condition</a:t>
            </a:r>
          </a:p>
        </p:txBody>
      </p:sp>
      <p:sp>
        <p:nvSpPr>
          <p:cNvPr id="8" name="S4_shape_2"/>
          <p:cNvSpPr/>
          <p:nvPr/>
        </p:nvSpPr>
        <p:spPr>
          <a:xfrm>
            <a:off x="5806440" y="1188720"/>
            <a:ext cx="3017520" cy="1874519"/>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4_text_Conventional_outlet_BCs"/>
          <p:cNvSpPr txBox="1"/>
          <p:nvPr/>
        </p:nvSpPr>
        <p:spPr>
          <a:xfrm>
            <a:off x="5934455" y="1289304"/>
            <a:ext cx="2761487" cy="219456"/>
          </a:xfrm>
          <a:prstGeom prst="rect">
            <a:avLst/>
          </a:prstGeom>
          <a:noFill/>
        </p:spPr>
        <p:txBody>
          <a:bodyPr wrap="square" lIns="27432" tIns="0" rIns="27432" bIns="0" anchor="t">
            <a:spAutoFit/>
          </a:bodyPr>
          <a:lstStyle/>
          <a:p>
            <a:pPr algn="l"/>
            <a:r>
              <a:rPr sz="1100" b="1" i="0">
                <a:solidFill>
                  <a:srgbClr val="6B6965"/>
                </a:solidFill>
                <a:latin typeface="Calibri"/>
              </a:rPr>
              <a:t>Conventional outlet BCs</a:t>
            </a:r>
          </a:p>
        </p:txBody>
      </p:sp>
      <p:sp>
        <p:nvSpPr>
          <p:cNvPr id="10" name="S4_text_Resistance_or_RCR"/>
          <p:cNvSpPr txBox="1"/>
          <p:nvPr/>
        </p:nvSpPr>
        <p:spPr>
          <a:xfrm>
            <a:off x="5934455" y="1563624"/>
            <a:ext cx="2761487" cy="1463039"/>
          </a:xfrm>
          <a:prstGeom prst="rect">
            <a:avLst/>
          </a:prstGeom>
          <a:noFill/>
        </p:spPr>
        <p:txBody>
          <a:bodyPr wrap="square" lIns="27432" tIns="0" rIns="27432" bIns="0">
            <a:spAutoFit/>
          </a:bodyPr>
          <a:lstStyle/>
          <a:p>
            <a:pPr>
              <a:spcAft>
                <a:spcPts val="350"/>
              </a:spcAft>
            </a:pPr>
            <a:r>
              <a:rPr sz="1100">
                <a:solidFill>
                  <a:srgbClr val="6B6965"/>
                </a:solidFill>
                <a:latin typeface="Calibri"/>
              </a:rPr>
              <a:t>• </a:t>
            </a:r>
            <a:r>
              <a:rPr sz="1100">
                <a:solidFill>
                  <a:srgbClr val="2E2D29"/>
                </a:solidFill>
                <a:latin typeface="Calibri"/>
              </a:rPr>
              <a:t>Resistance or RCR fitted once to the pre-operative state</a:t>
            </a:r>
          </a:p>
          <a:p>
            <a:pPr>
              <a:spcAft>
                <a:spcPts val="350"/>
              </a:spcAft>
            </a:pPr>
            <a:r>
              <a:rPr sz="1100">
                <a:solidFill>
                  <a:srgbClr val="6B6965"/>
                </a:solidFill>
                <a:latin typeface="Calibri"/>
              </a:rPr>
              <a:t>• </a:t>
            </a:r>
            <a:r>
              <a:rPr sz="1100">
                <a:solidFill>
                  <a:srgbClr val="2E2D29"/>
                </a:solidFill>
                <a:latin typeface="Calibri"/>
              </a:rPr>
              <a:t>A single lumped number per outlet</a:t>
            </a:r>
          </a:p>
          <a:p>
            <a:pPr>
              <a:spcAft>
                <a:spcPts val="350"/>
              </a:spcAft>
            </a:pPr>
            <a:r>
              <a:rPr sz="1100">
                <a:solidFill>
                  <a:srgbClr val="6B6965"/>
                </a:solidFill>
                <a:latin typeface="Calibri"/>
              </a:rPr>
              <a:t>• </a:t>
            </a:r>
            <a:r>
              <a:rPr sz="1100">
                <a:solidFill>
                  <a:srgbClr val="2E2D29"/>
                </a:solidFill>
                <a:latin typeface="Calibri"/>
              </a:rPr>
              <a:t>No internal structure, so nothing to remodel</a:t>
            </a:r>
          </a:p>
          <a:p>
            <a:pPr>
              <a:spcAft>
                <a:spcPts val="350"/>
              </a:spcAft>
            </a:pPr>
            <a:r>
              <a:rPr sz="1100">
                <a:solidFill>
                  <a:srgbClr val="6B6965"/>
                </a:solidFill>
                <a:latin typeface="Calibri"/>
              </a:rPr>
              <a:t>• </a:t>
            </a:r>
            <a:r>
              <a:rPr sz="1100">
                <a:solidFill>
                  <a:srgbClr val="2E2D29"/>
                </a:solidFill>
                <a:latin typeface="Calibri"/>
              </a:rPr>
              <a:t>Post-op flow redistribution can only come from the 3D geometry change</a:t>
            </a:r>
          </a:p>
        </p:txBody>
      </p:sp>
      <p:sp>
        <p:nvSpPr>
          <p:cNvPr id="11" name="S4_shape_3"/>
          <p:cNvSpPr/>
          <p:nvPr/>
        </p:nvSpPr>
        <p:spPr>
          <a:xfrm>
            <a:off x="320040" y="3493008"/>
            <a:ext cx="8503920" cy="9525"/>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4_text_Requirements_for_an"/>
          <p:cNvSpPr txBox="1"/>
          <p:nvPr/>
        </p:nvSpPr>
        <p:spPr>
          <a:xfrm>
            <a:off x="320040" y="3639312"/>
            <a:ext cx="8503920" cy="237744"/>
          </a:xfrm>
          <a:prstGeom prst="rect">
            <a:avLst/>
          </a:prstGeom>
          <a:noFill/>
        </p:spPr>
        <p:txBody>
          <a:bodyPr wrap="square" lIns="27432" tIns="0" rIns="27432" bIns="0" anchor="t">
            <a:spAutoFit/>
          </a:bodyPr>
          <a:lstStyle/>
          <a:p>
            <a:pPr algn="l"/>
            <a:r>
              <a:rPr sz="1300" b="1" i="0">
                <a:solidFill>
                  <a:srgbClr val="8C1515"/>
                </a:solidFill>
                <a:latin typeface="Georgia"/>
              </a:rPr>
              <a:t>Requirements for an adaptive boundary condition</a:t>
            </a:r>
          </a:p>
        </p:txBody>
      </p:sp>
      <p:sp>
        <p:nvSpPr>
          <p:cNvPr id="13" name="S4_shape_4"/>
          <p:cNvSpPr/>
          <p:nvPr/>
        </p:nvSpPr>
        <p:spPr>
          <a:xfrm>
            <a:off x="320040" y="3968496"/>
            <a:ext cx="2697480" cy="12252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4_text_Physiological"/>
          <p:cNvSpPr txBox="1"/>
          <p:nvPr/>
        </p:nvSpPr>
        <p:spPr>
          <a:xfrm>
            <a:off x="448056" y="4069080"/>
            <a:ext cx="2441448" cy="219456"/>
          </a:xfrm>
          <a:prstGeom prst="rect">
            <a:avLst/>
          </a:prstGeom>
          <a:noFill/>
        </p:spPr>
        <p:txBody>
          <a:bodyPr wrap="square" lIns="27432" tIns="0" rIns="27432" bIns="0" anchor="t">
            <a:spAutoFit/>
          </a:bodyPr>
          <a:lstStyle/>
          <a:p>
            <a:pPr algn="l"/>
            <a:r>
              <a:rPr sz="1400" b="1" i="0">
                <a:solidFill>
                  <a:srgbClr val="8C1515"/>
                </a:solidFill>
                <a:latin typeface="Calibri"/>
              </a:rPr>
              <a:t>Physiological</a:t>
            </a:r>
          </a:p>
        </p:txBody>
      </p:sp>
      <p:sp>
        <p:nvSpPr>
          <p:cNvPr id="15" name="S4_text_Morphometry_of_the"/>
          <p:cNvSpPr txBox="1"/>
          <p:nvPr/>
        </p:nvSpPr>
        <p:spPr>
          <a:xfrm>
            <a:off x="448056" y="4343400"/>
            <a:ext cx="2441448" cy="813816"/>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Morphometry of the real arteriolar bed</a:t>
            </a:r>
          </a:p>
          <a:p>
            <a:pPr>
              <a:spcAft>
                <a:spcPts val="350"/>
              </a:spcAft>
            </a:pPr>
            <a:r>
              <a:rPr sz="1100">
                <a:solidFill>
                  <a:srgbClr val="8C1515"/>
                </a:solidFill>
                <a:latin typeface="Calibri"/>
              </a:rPr>
              <a:t>• </a:t>
            </a:r>
            <a:r>
              <a:rPr sz="1100">
                <a:solidFill>
                  <a:srgbClr val="2E2D29"/>
                </a:solidFill>
                <a:latin typeface="Calibri"/>
              </a:rPr>
              <a:t>Terminates at capillary scale</a:t>
            </a:r>
          </a:p>
        </p:txBody>
      </p:sp>
      <p:sp>
        <p:nvSpPr>
          <p:cNvPr id="16" name="S4_shape_5"/>
          <p:cNvSpPr/>
          <p:nvPr/>
        </p:nvSpPr>
        <p:spPr>
          <a:xfrm>
            <a:off x="3200400" y="3968496"/>
            <a:ext cx="2697480" cy="12252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4_text_Dynamic"/>
          <p:cNvSpPr txBox="1"/>
          <p:nvPr/>
        </p:nvSpPr>
        <p:spPr>
          <a:xfrm>
            <a:off x="3328416" y="4069080"/>
            <a:ext cx="2441448" cy="219456"/>
          </a:xfrm>
          <a:prstGeom prst="rect">
            <a:avLst/>
          </a:prstGeom>
          <a:noFill/>
        </p:spPr>
        <p:txBody>
          <a:bodyPr wrap="square" lIns="27432" tIns="0" rIns="27432" bIns="0" anchor="t">
            <a:spAutoFit/>
          </a:bodyPr>
          <a:lstStyle/>
          <a:p>
            <a:pPr algn="l"/>
            <a:r>
              <a:rPr sz="1400" b="1" i="0">
                <a:solidFill>
                  <a:srgbClr val="8C1515"/>
                </a:solidFill>
                <a:latin typeface="Calibri"/>
              </a:rPr>
              <a:t>Dynamic</a:t>
            </a:r>
          </a:p>
        </p:txBody>
      </p:sp>
      <p:sp>
        <p:nvSpPr>
          <p:cNvPr id="18" name="S4_text_Full_impedance_not"/>
          <p:cNvSpPr txBox="1"/>
          <p:nvPr/>
        </p:nvSpPr>
        <p:spPr>
          <a:xfrm>
            <a:off x="3328416" y="4343400"/>
            <a:ext cx="2441448" cy="813816"/>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Full impedance, not just resistance</a:t>
            </a:r>
          </a:p>
          <a:p>
            <a:pPr>
              <a:spcAft>
                <a:spcPts val="350"/>
              </a:spcAft>
            </a:pPr>
            <a:r>
              <a:rPr sz="1100">
                <a:solidFill>
                  <a:srgbClr val="8C1515"/>
                </a:solidFill>
                <a:latin typeface="Calibri"/>
              </a:rPr>
              <a:t>• </a:t>
            </a:r>
            <a:r>
              <a:rPr sz="1100">
                <a:solidFill>
                  <a:srgbClr val="2E2D29"/>
                </a:solidFill>
                <a:latin typeface="Calibri"/>
              </a:rPr>
              <a:t>Compatible with pulsatile 3D coupling</a:t>
            </a:r>
          </a:p>
        </p:txBody>
      </p:sp>
      <p:sp>
        <p:nvSpPr>
          <p:cNvPr id="19" name="S4_shape_6"/>
          <p:cNvSpPr/>
          <p:nvPr/>
        </p:nvSpPr>
        <p:spPr>
          <a:xfrm>
            <a:off x="6080759" y="3968496"/>
            <a:ext cx="2743200" cy="12252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4_text_Adaptable"/>
          <p:cNvSpPr txBox="1"/>
          <p:nvPr/>
        </p:nvSpPr>
        <p:spPr>
          <a:xfrm>
            <a:off x="6208775" y="4069080"/>
            <a:ext cx="2487168" cy="219456"/>
          </a:xfrm>
          <a:prstGeom prst="rect">
            <a:avLst/>
          </a:prstGeom>
          <a:noFill/>
        </p:spPr>
        <p:txBody>
          <a:bodyPr wrap="square" lIns="27432" tIns="0" rIns="27432" bIns="0" anchor="t">
            <a:spAutoFit/>
          </a:bodyPr>
          <a:lstStyle/>
          <a:p>
            <a:pPr algn="l"/>
            <a:r>
              <a:rPr sz="1400" b="1" i="0">
                <a:solidFill>
                  <a:srgbClr val="8C1515"/>
                </a:solidFill>
                <a:latin typeface="Calibri"/>
              </a:rPr>
              <a:t>Adaptable</a:t>
            </a:r>
          </a:p>
        </p:txBody>
      </p:sp>
      <p:sp>
        <p:nvSpPr>
          <p:cNvPr id="21" name="S4_text_Per_vessel_state"/>
          <p:cNvSpPr txBox="1"/>
          <p:nvPr/>
        </p:nvSpPr>
        <p:spPr>
          <a:xfrm>
            <a:off x="6208775" y="4343400"/>
            <a:ext cx="2487168" cy="813816"/>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Per-vessel state that responds to flow</a:t>
            </a:r>
          </a:p>
          <a:p>
            <a:pPr>
              <a:spcAft>
                <a:spcPts val="350"/>
              </a:spcAft>
            </a:pPr>
            <a:r>
              <a:rPr sz="1100">
                <a:solidFill>
                  <a:srgbClr val="8C1515"/>
                </a:solidFill>
                <a:latin typeface="Calibri"/>
              </a:rPr>
              <a:t>• </a:t>
            </a:r>
            <a:r>
              <a:rPr sz="1100">
                <a:solidFill>
                  <a:srgbClr val="2E2D29"/>
                </a:solidFill>
                <a:latin typeface="Calibri"/>
              </a:rPr>
              <a:t>Driven by mechanobiological stimuli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Structured-tree boundary conditions</a:t>
            </a:r>
          </a:p>
        </p:txBody>
      </p:sp>
      <p:sp>
        <p:nvSpPr>
          <p:cNvPr id="4" name="S5_shape"/>
          <p:cNvSpPr/>
          <p:nvPr/>
        </p:nvSpPr>
        <p:spPr>
          <a:xfrm>
            <a:off x="320040" y="1005840"/>
            <a:ext cx="8503920" cy="9525"/>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S5_picture" descr="tree_at_outlet.png"/>
          <p:cNvPicPr>
            <a:picLocks noChangeAspect="1"/>
          </p:cNvPicPr>
          <p:nvPr/>
        </p:nvPicPr>
        <p:blipFill>
          <a:blip r:embed="rId2"/>
          <a:stretch>
            <a:fillRect/>
          </a:stretch>
        </p:blipFill>
        <p:spPr>
          <a:xfrm>
            <a:off x="473867" y="1170432"/>
            <a:ext cx="2938465" cy="2697480"/>
          </a:xfrm>
          <a:prstGeom prst="rect">
            <a:avLst/>
          </a:prstGeom>
        </p:spPr>
      </p:pic>
      <p:sp>
        <p:nvSpPr>
          <p:cNvPr id="6" name="S5_text_A_self_similar"/>
          <p:cNvSpPr txBox="1"/>
          <p:nvPr/>
        </p:nvSpPr>
        <p:spPr>
          <a:xfrm>
            <a:off x="320040" y="3904488"/>
            <a:ext cx="3246120" cy="201168"/>
          </a:xfrm>
          <a:prstGeom prst="rect">
            <a:avLst/>
          </a:prstGeom>
          <a:noFill/>
        </p:spPr>
        <p:txBody>
          <a:bodyPr wrap="square" lIns="27432" tIns="0" rIns="27432" bIns="0" anchor="t">
            <a:spAutoFit/>
          </a:bodyPr>
          <a:lstStyle/>
          <a:p>
            <a:pPr algn="ctr"/>
            <a:r>
              <a:rPr sz="1100" b="0" i="1">
                <a:solidFill>
                  <a:srgbClr val="6B6965"/>
                </a:solidFill>
                <a:latin typeface="Calibri"/>
              </a:rPr>
              <a:t>A self-similar binary tree is appended at each 3D outlet</a:t>
            </a:r>
          </a:p>
        </p:txBody>
      </p:sp>
      <p:sp>
        <p:nvSpPr>
          <p:cNvPr id="7" name="S5_shape_2"/>
          <p:cNvSpPr/>
          <p:nvPr/>
        </p:nvSpPr>
        <p:spPr>
          <a:xfrm>
            <a:off x="3840480" y="1170432"/>
            <a:ext cx="4983480" cy="12984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5_text_What_the_tree"/>
          <p:cNvSpPr txBox="1"/>
          <p:nvPr/>
        </p:nvSpPr>
        <p:spPr>
          <a:xfrm>
            <a:off x="3968496" y="1271016"/>
            <a:ext cx="4727448" cy="219456"/>
          </a:xfrm>
          <a:prstGeom prst="rect">
            <a:avLst/>
          </a:prstGeom>
          <a:noFill/>
        </p:spPr>
        <p:txBody>
          <a:bodyPr wrap="square" lIns="27432" tIns="0" rIns="27432" bIns="0" anchor="t">
            <a:spAutoFit/>
          </a:bodyPr>
          <a:lstStyle/>
          <a:p>
            <a:pPr algn="l"/>
            <a:r>
              <a:rPr sz="1400" b="1" i="0">
                <a:solidFill>
                  <a:srgbClr val="8C1515"/>
                </a:solidFill>
                <a:latin typeface="Calibri"/>
              </a:rPr>
              <a:t>What the tree buys us</a:t>
            </a:r>
          </a:p>
        </p:txBody>
      </p:sp>
      <p:sp>
        <p:nvSpPr>
          <p:cNvPr id="9" name="S5_text_Impedance_is_computed"/>
          <p:cNvSpPr txBox="1"/>
          <p:nvPr/>
        </p:nvSpPr>
        <p:spPr>
          <a:xfrm>
            <a:off x="3968496" y="1545336"/>
            <a:ext cx="4727448" cy="886968"/>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Impedance is computed recursively from the vessel network, giving a physically grounded pulsatile BC</a:t>
            </a:r>
          </a:p>
          <a:p>
            <a:pPr>
              <a:spcAft>
                <a:spcPts val="350"/>
              </a:spcAft>
            </a:pPr>
            <a:r>
              <a:rPr sz="1100">
                <a:solidFill>
                  <a:srgbClr val="8C1515"/>
                </a:solidFill>
                <a:latin typeface="Calibri"/>
              </a:rPr>
              <a:t>• </a:t>
            </a:r>
            <a:r>
              <a:rPr sz="1100">
                <a:solidFill>
                  <a:srgbClr val="2E2D29"/>
                </a:solidFill>
                <a:latin typeface="Calibri"/>
              </a:rPr>
              <a:t>Every vessel carries its own radius, thickness, flow and pressure: the state that adaptation acts on</a:t>
            </a:r>
          </a:p>
        </p:txBody>
      </p:sp>
      <p:sp>
        <p:nvSpPr>
          <p:cNvPr id="10" name="S5_shape_3"/>
          <p:cNvSpPr/>
          <p:nvPr/>
        </p:nvSpPr>
        <p:spPr>
          <a:xfrm>
            <a:off x="3840480" y="2578608"/>
            <a:ext cx="4983480" cy="12984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5_text_Cost_of_the"/>
          <p:cNvSpPr txBox="1"/>
          <p:nvPr/>
        </p:nvSpPr>
        <p:spPr>
          <a:xfrm>
            <a:off x="3968496" y="2679191"/>
            <a:ext cx="4727448" cy="219456"/>
          </a:xfrm>
          <a:prstGeom prst="rect">
            <a:avLst/>
          </a:prstGeom>
          <a:noFill/>
        </p:spPr>
        <p:txBody>
          <a:bodyPr wrap="square" lIns="27432" tIns="0" rIns="27432" bIns="0" anchor="t">
            <a:spAutoFit/>
          </a:bodyPr>
          <a:lstStyle/>
          <a:p>
            <a:pPr algn="l"/>
            <a:r>
              <a:rPr sz="1400" b="1" i="0">
                <a:solidFill>
                  <a:srgbClr val="E98300"/>
                </a:solidFill>
                <a:latin typeface="Calibri"/>
              </a:rPr>
              <a:t>Cost of the choice</a:t>
            </a:r>
          </a:p>
        </p:txBody>
      </p:sp>
      <p:sp>
        <p:nvSpPr>
          <p:cNvPr id="12" name="S5_text_Tree_morphometry_introduces"/>
          <p:cNvSpPr txBox="1"/>
          <p:nvPr/>
        </p:nvSpPr>
        <p:spPr>
          <a:xfrm>
            <a:off x="3968496" y="2953511"/>
            <a:ext cx="4727448" cy="886968"/>
          </a:xfrm>
          <a:prstGeom prst="rect">
            <a:avLst/>
          </a:prstGeom>
          <a:noFill/>
        </p:spPr>
        <p:txBody>
          <a:bodyPr wrap="square" lIns="27432" tIns="0" rIns="27432" bIns="0">
            <a:spAutoFit/>
          </a:bodyPr>
          <a:lstStyle/>
          <a:p>
            <a:pPr>
              <a:spcAft>
                <a:spcPts val="350"/>
              </a:spcAft>
            </a:pPr>
            <a:r>
              <a:rPr sz="1100">
                <a:solidFill>
                  <a:srgbClr val="E98300"/>
                </a:solidFill>
                <a:latin typeface="Calibri"/>
              </a:rPr>
              <a:t>• </a:t>
            </a:r>
            <a:r>
              <a:rPr sz="1100">
                <a:solidFill>
                  <a:srgbClr val="2E2D29"/>
                </a:solidFill>
                <a:latin typeface="Calibri"/>
              </a:rPr>
              <a:t>Tree morphometry introduces parameters that must be identified per patient</a:t>
            </a:r>
          </a:p>
          <a:p>
            <a:pPr>
              <a:spcAft>
                <a:spcPts val="350"/>
              </a:spcAft>
            </a:pPr>
            <a:r>
              <a:rPr sz="1100">
                <a:solidFill>
                  <a:srgbClr val="E98300"/>
                </a:solidFill>
                <a:latin typeface="Calibri"/>
              </a:rPr>
              <a:t>• </a:t>
            </a:r>
            <a:r>
              <a:rPr sz="1100">
                <a:solidFill>
                  <a:srgbClr val="2E2D29"/>
                </a:solidFill>
                <a:latin typeface="Calibri"/>
              </a:rPr>
              <a:t>Impedance evaluation is expensive, so tuning happens against a reduced-order surrogate</a:t>
            </a:r>
          </a:p>
        </p:txBody>
      </p:sp>
      <p:sp>
        <p:nvSpPr>
          <p:cNvPr id="13" name="S5_shape_4"/>
          <p:cNvSpPr/>
          <p:nvPr/>
        </p:nvSpPr>
        <p:spPr>
          <a:xfrm>
            <a:off x="320040" y="4133087"/>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5_text_Structured_trees_turn"/>
          <p:cNvSpPr txBox="1"/>
          <p:nvPr/>
        </p:nvSpPr>
        <p:spPr>
          <a:xfrm>
            <a:off x="429768" y="4133087"/>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Structured trees turn the outlet BC from a fitted constant into a model that can be perturbed.</a:t>
            </a:r>
          </a:p>
        </p:txBody>
      </p:sp>
      <p:sp>
        <p:nvSpPr>
          <p:cNvPr id="15" name="S5_text_The_rest_of"/>
          <p:cNvSpPr txBox="1"/>
          <p:nvPr/>
        </p:nvSpPr>
        <p:spPr>
          <a:xfrm>
            <a:off x="320040" y="4590288"/>
            <a:ext cx="8503920" cy="457200"/>
          </a:xfrm>
          <a:prstGeom prst="rect">
            <a:avLst/>
          </a:prstGeom>
          <a:noFill/>
        </p:spPr>
        <p:txBody>
          <a:bodyPr wrap="square" lIns="27432" tIns="0" rIns="27432" bIns="0" anchor="t">
            <a:spAutoFit/>
          </a:bodyPr>
          <a:lstStyle/>
          <a:p>
            <a:pPr algn="l"/>
            <a:r>
              <a:rPr sz="1100" b="0" i="1">
                <a:solidFill>
                  <a:srgbClr val="6B6965"/>
                </a:solidFill>
                <a:latin typeface="Calibri"/>
              </a:rPr>
              <a:t>The rest of this deck walks the seven pipeline stages that build, tune, apply and adapt these boundary conditions.</a:t>
            </a:r>
          </a:p>
        </p:txBody>
      </p:sp>
      <p:sp>
        <p:nvSpPr>
          <p:cNvPr id="16" name="S5_text_Tree_construction_and"/>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Tree construction and impedance formulation after Olufsen, Ann Biomed Eng (1999, 2000).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 name="">
          <a:extLst>
            <a:ext uri="{FF2B5EF4-FFF2-40B4-BE49-F238E27FC236}">
              <a16:creationId xmlns:a16="http://schemas.microsoft.com/office/drawing/2014/main" id="{BC34807E-092C-EF10-D1E3-2E5C391B0644}"/>
            </a:ext>
          </a:extLst>
        </p:cNvPr>
        <p:cNvGrpSpPr/>
        <p:nvPr/>
      </p:nvGrpSpPr>
      <p:grpSpPr>
        <a:xfrm>
          <a:off x="0" y="0"/>
          <a:ext cx="0" cy="0"/>
          <a:chOff x="0" y="0"/>
          <a:chExt cx="0" cy="0"/>
        </a:xfrm>
      </p:grpSpPr>
      <p:sp>
        <p:nvSpPr>
          <p:cNvPr id="3" name="Title_text">
            <a:extLst>
              <a:ext uri="{FF2B5EF4-FFF2-40B4-BE49-F238E27FC236}">
                <a16:creationId xmlns:a16="http://schemas.microsoft.com/office/drawing/2014/main" id="{029064A7-61B5-2F36-03CA-319D45B3DE2B}"/>
              </a:ext>
            </a:extLst>
          </p:cNvPr>
          <p:cNvSpPr txBox="1"/>
          <p:nvPr/>
        </p:nvSpPr>
        <p:spPr>
          <a:xfrm>
            <a:off x="320040" y="274320"/>
            <a:ext cx="8503920" cy="365760"/>
          </a:xfrm>
          <a:prstGeom prst="rect">
            <a:avLst/>
          </a:prstGeom>
          <a:noFill/>
        </p:spPr>
        <p:txBody>
          <a:bodyPr wrap="square" lIns="27432" tIns="0" rIns="27432" bIns="0" anchor="t">
            <a:spAutoFit/>
          </a:bodyPr>
          <a:lstStyle/>
          <a:p>
            <a:pPr algn="l"/>
            <a:r>
              <a:rPr sz="2400" b="0" i="0">
                <a:solidFill>
                  <a:srgbClr val="8C1515"/>
                </a:solidFill>
                <a:latin typeface="Georgia"/>
              </a:rPr>
              <a:t>The pipeline</a:t>
            </a:r>
          </a:p>
        </p:txBody>
      </p:sp>
      <p:sp>
        <p:nvSpPr>
          <p:cNvPr id="4" name="Pipeline_stage1_card"/>
          <p:cNvSpPr/>
          <p:nvPr/>
        </p:nvSpPr>
        <p:spPr>
          <a:xfrm>
            <a:off x="320040" y="914400"/>
            <a:ext cx="1170432" cy="18288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5" name="Pipeline_stage1_head"/>
          <p:cNvSpPr/>
          <p:nvPr/>
        </p:nvSpPr>
        <p:spPr>
          <a:xfrm>
            <a:off x="320040" y="914400"/>
            <a:ext cx="1170432" cy="3840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r>
              <a:rPr sz="1200" b="1" i="0">
                <a:solidFill>
                  <a:srgbClr val="FFFFFF"/>
                </a:solidFill>
                <a:latin typeface="Calibri"/>
              </a:rPr>
              <a:t>1  Inputs</a:t>
            </a:r>
          </a:p>
        </p:txBody>
      </p:sp>
      <p:sp>
        <p:nvSpPr>
          <p:cNvPr id="6" name="Pipeline_stage1_text"/>
          <p:cNvSpPr txBox="1"/>
          <p:nvPr/>
        </p:nvSpPr>
        <p:spPr>
          <a:xfrm>
            <a:off x="356615" y="1353312"/>
            <a:ext cx="1097280" cy="960120"/>
          </a:xfrm>
          <a:prstGeom prst="rect">
            <a:avLst/>
          </a:prstGeom>
          <a:noFill/>
        </p:spPr>
        <p:txBody>
          <a:bodyPr wrap="square" lIns="18288" rIns="18288" tIns="18288" bIns="18288" anchor="t">
            <a:noAutofit/>
          </a:bodyPr>
          <a:lstStyle/>
          <a:p>
            <a:pPr algn="ctr"/>
            <a:r>
              <a:rPr sz="1100" b="0" i="0">
                <a:solidFill>
                  <a:srgbClr val="2E2D29"/>
                </a:solidFill>
                <a:latin typeface="Calibri"/>
              </a:rPr>
              <a:t>Imaging, segmentation, cath and perfusion targets</a:t>
            </a:r>
          </a:p>
        </p:txBody>
      </p:sp>
      <p:sp>
        <p:nvSpPr>
          <p:cNvPr id="7" name="Pipeline_stage1_status"/>
          <p:cNvSpPr/>
          <p:nvPr/>
        </p:nvSpPr>
        <p:spPr>
          <a:xfrm>
            <a:off x="374904" y="2377440"/>
            <a:ext cx="1060704" cy="27432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100" b="1" i="0">
                <a:solidFill>
                  <a:srgbClr val="FFFFFF"/>
                </a:solidFill>
                <a:latin typeface="Calibri"/>
              </a:rPr>
              <a:t>Validated</a:t>
            </a:r>
          </a:p>
        </p:txBody>
      </p:sp>
      <p:sp>
        <p:nvSpPr>
          <p:cNvPr id="8" name="Pipeline_stage2_card"/>
          <p:cNvSpPr/>
          <p:nvPr/>
        </p:nvSpPr>
        <p:spPr>
          <a:xfrm>
            <a:off x="1542592" y="914400"/>
            <a:ext cx="1170432" cy="18288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9" name="Pipeline_stage2_head"/>
          <p:cNvSpPr/>
          <p:nvPr/>
        </p:nvSpPr>
        <p:spPr>
          <a:xfrm>
            <a:off x="1542592" y="914400"/>
            <a:ext cx="1170432" cy="3840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r>
              <a:rPr sz="1200" b="1" i="0">
                <a:solidFill>
                  <a:srgbClr val="FFFFFF"/>
                </a:solidFill>
                <a:latin typeface="Calibri"/>
              </a:rPr>
              <a:t>2  BC Tuning</a:t>
            </a:r>
          </a:p>
        </p:txBody>
      </p:sp>
      <p:sp>
        <p:nvSpPr>
          <p:cNvPr id="10" name="Pipeline_stage2_text"/>
          <p:cNvSpPr txBox="1"/>
          <p:nvPr/>
        </p:nvSpPr>
        <p:spPr>
          <a:xfrm>
            <a:off x="1579168" y="1353312"/>
            <a:ext cx="1097280" cy="960120"/>
          </a:xfrm>
          <a:prstGeom prst="rect">
            <a:avLst/>
          </a:prstGeom>
          <a:noFill/>
        </p:spPr>
        <p:txBody>
          <a:bodyPr wrap="square" lIns="18288" rIns="18288" tIns="18288" bIns="18288" anchor="t">
            <a:noAutofit/>
          </a:bodyPr>
          <a:lstStyle/>
          <a:p>
            <a:pPr algn="ctr"/>
            <a:r>
              <a:rPr sz="1100" b="0" i="0">
                <a:solidFill>
                  <a:srgbClr val="2E2D29"/>
                </a:solidFill>
                <a:latin typeface="Calibri"/>
              </a:rPr>
              <a:t>Trees fit to cath and perfusion; protocol v1 frozen</a:t>
            </a:r>
          </a:p>
        </p:txBody>
      </p:sp>
      <p:sp>
        <p:nvSpPr>
          <p:cNvPr id="11" name="Pipeline_stage2_status"/>
          <p:cNvSpPr/>
          <p:nvPr/>
        </p:nvSpPr>
        <p:spPr>
          <a:xfrm>
            <a:off x="1597456" y="2377440"/>
            <a:ext cx="1060704" cy="27432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100" b="1" i="0">
                <a:solidFill>
                  <a:srgbClr val="FFFFFF"/>
                </a:solidFill>
                <a:latin typeface="Calibri"/>
              </a:rPr>
              <a:t>Completed</a:t>
            </a:r>
          </a:p>
        </p:txBody>
      </p:sp>
      <p:sp>
        <p:nvSpPr>
          <p:cNvPr id="12" name="Pipeline_stage3_card"/>
          <p:cNvSpPr/>
          <p:nvPr/>
        </p:nvSpPr>
        <p:spPr>
          <a:xfrm>
            <a:off x="2765145" y="914400"/>
            <a:ext cx="1170432" cy="18288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13" name="Pipeline_stage3_head"/>
          <p:cNvSpPr/>
          <p:nvPr/>
        </p:nvSpPr>
        <p:spPr>
          <a:xfrm>
            <a:off x="2765145" y="914400"/>
            <a:ext cx="1170432" cy="3840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r>
              <a:rPr sz="1200" b="1" i="0">
                <a:solidFill>
                  <a:srgbClr val="FFFFFF"/>
                </a:solidFill>
                <a:latin typeface="Calibri"/>
              </a:rPr>
              <a:t>3  Pre-op Sim</a:t>
            </a:r>
          </a:p>
        </p:txBody>
      </p:sp>
      <p:sp>
        <p:nvSpPr>
          <p:cNvPr id="14" name="Pipeline_stage3_text"/>
          <p:cNvSpPr txBox="1"/>
          <p:nvPr/>
        </p:nvSpPr>
        <p:spPr>
          <a:xfrm>
            <a:off x="2801721" y="1353312"/>
            <a:ext cx="1097280" cy="960120"/>
          </a:xfrm>
          <a:prstGeom prst="rect">
            <a:avLst/>
          </a:prstGeom>
          <a:noFill/>
        </p:spPr>
        <p:txBody>
          <a:bodyPr wrap="square" lIns="18288" rIns="18288" tIns="18288" bIns="18288" anchor="t">
            <a:noAutofit/>
          </a:bodyPr>
          <a:lstStyle/>
          <a:p>
            <a:pPr algn="ctr"/>
            <a:r>
              <a:rPr sz="1100" b="0" i="0">
                <a:solidFill>
                  <a:srgbClr val="2E2D29"/>
                </a:solidFill>
                <a:latin typeface="Calibri"/>
              </a:rPr>
              <a:t>Deformable-wall 3D CFD (CMM)</a:t>
            </a:r>
          </a:p>
        </p:txBody>
      </p:sp>
      <p:sp>
        <p:nvSpPr>
          <p:cNvPr id="15" name="Pipeline_stage3_status"/>
          <p:cNvSpPr/>
          <p:nvPr/>
        </p:nvSpPr>
        <p:spPr>
          <a:xfrm>
            <a:off x="2820009" y="2377440"/>
            <a:ext cx="1060704" cy="274320"/>
          </a:xfrm>
          <a:prstGeom prst="round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100" b="1" i="0">
                <a:solidFill>
                  <a:srgbClr val="FFFFFF"/>
                </a:solidFill>
                <a:latin typeface="Calibri"/>
              </a:rPr>
              <a:t>In development</a:t>
            </a:r>
          </a:p>
        </p:txBody>
      </p:sp>
      <p:sp>
        <p:nvSpPr>
          <p:cNvPr id="16" name="Pipeline_stage4_card"/>
          <p:cNvSpPr/>
          <p:nvPr/>
        </p:nvSpPr>
        <p:spPr>
          <a:xfrm>
            <a:off x="3987698" y="914400"/>
            <a:ext cx="1170432" cy="18288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17" name="Pipeline_stage4_head"/>
          <p:cNvSpPr/>
          <p:nvPr/>
        </p:nvSpPr>
        <p:spPr>
          <a:xfrm>
            <a:off x="3987698" y="914400"/>
            <a:ext cx="1170432" cy="3840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r>
              <a:rPr sz="1200" b="1" i="0">
                <a:solidFill>
                  <a:srgbClr val="FFFFFF"/>
                </a:solidFill>
                <a:latin typeface="Calibri"/>
              </a:rPr>
              <a:t>4  Post-op Sim</a:t>
            </a:r>
          </a:p>
        </p:txBody>
      </p:sp>
      <p:sp>
        <p:nvSpPr>
          <p:cNvPr id="18" name="Pipeline_stage4_text"/>
          <p:cNvSpPr txBox="1"/>
          <p:nvPr/>
        </p:nvSpPr>
        <p:spPr>
          <a:xfrm>
            <a:off x="4024274" y="1353312"/>
            <a:ext cx="1097280" cy="960120"/>
          </a:xfrm>
          <a:prstGeom prst="rect">
            <a:avLst/>
          </a:prstGeom>
          <a:noFill/>
        </p:spPr>
        <p:txBody>
          <a:bodyPr wrap="square" lIns="18288" rIns="18288" tIns="18288" bIns="18288" anchor="t">
            <a:noAutofit/>
          </a:bodyPr>
          <a:lstStyle/>
          <a:p>
            <a:pPr algn="ctr"/>
            <a:r>
              <a:rPr sz="1100" b="0" i="0">
                <a:solidFill>
                  <a:srgbClr val="2E2D29"/>
                </a:solidFill>
                <a:latin typeface="Calibri"/>
              </a:rPr>
              <a:t>SDF virtual stent, pre-op BCs kept</a:t>
            </a:r>
          </a:p>
        </p:txBody>
      </p:sp>
      <p:sp>
        <p:nvSpPr>
          <p:cNvPr id="19" name="Pipeline_stage4_status"/>
          <p:cNvSpPr/>
          <p:nvPr/>
        </p:nvSpPr>
        <p:spPr>
          <a:xfrm>
            <a:off x="4042562" y="2377440"/>
            <a:ext cx="1060704" cy="274320"/>
          </a:xfrm>
          <a:prstGeom prst="round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100" b="1" i="0">
                <a:solidFill>
                  <a:srgbClr val="FFFFFF"/>
                </a:solidFill>
                <a:latin typeface="Calibri"/>
              </a:rPr>
              <a:t>In development</a:t>
            </a:r>
          </a:p>
        </p:txBody>
      </p:sp>
      <p:sp>
        <p:nvSpPr>
          <p:cNvPr id="20" name="Pipeline_stage5_card"/>
          <p:cNvSpPr/>
          <p:nvPr/>
        </p:nvSpPr>
        <p:spPr>
          <a:xfrm>
            <a:off x="5210251" y="914400"/>
            <a:ext cx="1170432" cy="18288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21" name="Pipeline_stage5_head"/>
          <p:cNvSpPr/>
          <p:nvPr/>
        </p:nvSpPr>
        <p:spPr>
          <a:xfrm>
            <a:off x="5210251" y="914400"/>
            <a:ext cx="1170432" cy="3840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r>
              <a:rPr sz="1200" b="1" i="0">
                <a:solidFill>
                  <a:srgbClr val="FFFFFF"/>
                </a:solidFill>
                <a:latin typeface="Calibri"/>
              </a:rPr>
              <a:t>5  Adaptation</a:t>
            </a:r>
          </a:p>
        </p:txBody>
      </p:sp>
      <p:sp>
        <p:nvSpPr>
          <p:cNvPr id="22" name="Pipeline_stage5_text"/>
          <p:cNvSpPr txBox="1"/>
          <p:nvPr/>
        </p:nvSpPr>
        <p:spPr>
          <a:xfrm>
            <a:off x="5246827" y="1353312"/>
            <a:ext cx="1097280" cy="960120"/>
          </a:xfrm>
          <a:prstGeom prst="rect">
            <a:avLst/>
          </a:prstGeom>
          <a:noFill/>
        </p:spPr>
        <p:txBody>
          <a:bodyPr wrap="square" lIns="18288" rIns="18288" tIns="18288" bIns="18288" anchor="t">
            <a:noAutofit/>
          </a:bodyPr>
          <a:lstStyle/>
          <a:p>
            <a:pPr algn="ctr"/>
            <a:r>
              <a:rPr sz="1100" b="0" i="0">
                <a:solidFill>
                  <a:srgbClr val="2E2D29"/>
                </a:solidFill>
                <a:latin typeface="Calibri"/>
              </a:rPr>
              <a:t>M2 update of per-cap trees; rebuild planned</a:t>
            </a:r>
          </a:p>
        </p:txBody>
      </p:sp>
      <p:sp>
        <p:nvSpPr>
          <p:cNvPr id="23" name="Pipeline_stage5_status"/>
          <p:cNvSpPr/>
          <p:nvPr/>
        </p:nvSpPr>
        <p:spPr>
          <a:xfrm>
            <a:off x="5265115" y="2377440"/>
            <a:ext cx="1060704" cy="274320"/>
          </a:xfrm>
          <a:prstGeom prst="round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100" b="1" i="0">
                <a:solidFill>
                  <a:srgbClr val="FFFFFF"/>
                </a:solidFill>
                <a:latin typeface="Calibri"/>
              </a:rPr>
              <a:t>In development</a:t>
            </a:r>
          </a:p>
        </p:txBody>
      </p:sp>
      <p:sp>
        <p:nvSpPr>
          <p:cNvPr id="24" name="Pipeline_stage6_card"/>
          <p:cNvSpPr/>
          <p:nvPr/>
        </p:nvSpPr>
        <p:spPr>
          <a:xfrm>
            <a:off x="6432803" y="914400"/>
            <a:ext cx="1170432" cy="18288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25" name="Pipeline_stage6_head"/>
          <p:cNvSpPr/>
          <p:nvPr/>
        </p:nvSpPr>
        <p:spPr>
          <a:xfrm>
            <a:off x="6432803" y="914400"/>
            <a:ext cx="1170432" cy="384048"/>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r>
              <a:rPr sz="1200" b="1" i="0">
                <a:solidFill>
                  <a:srgbClr val="FFFFFF"/>
                </a:solidFill>
                <a:latin typeface="Calibri"/>
              </a:rPr>
              <a:t>6  Adapted Sim</a:t>
            </a:r>
          </a:p>
        </p:txBody>
      </p:sp>
      <p:sp>
        <p:nvSpPr>
          <p:cNvPr id="26" name="Pipeline_stage6_text"/>
          <p:cNvSpPr txBox="1"/>
          <p:nvPr/>
        </p:nvSpPr>
        <p:spPr>
          <a:xfrm>
            <a:off x="6469379" y="1353312"/>
            <a:ext cx="1097280" cy="960120"/>
          </a:xfrm>
          <a:prstGeom prst="rect">
            <a:avLst/>
          </a:prstGeom>
          <a:noFill/>
        </p:spPr>
        <p:txBody>
          <a:bodyPr wrap="square" lIns="18288" rIns="18288" tIns="18288" bIns="18288" anchor="t">
            <a:noAutofit/>
          </a:bodyPr>
          <a:lstStyle/>
          <a:p>
            <a:pPr algn="ctr"/>
            <a:r>
              <a:rPr sz="1100" b="0" i="0">
                <a:solidFill>
                  <a:srgbClr val="2E2D29"/>
                </a:solidFill>
                <a:latin typeface="Calibri"/>
              </a:rPr>
              <a:t>3D rerun with the adapted trees</a:t>
            </a:r>
          </a:p>
        </p:txBody>
      </p:sp>
      <p:sp>
        <p:nvSpPr>
          <p:cNvPr id="27" name="Pipeline_stage6_status"/>
          <p:cNvSpPr/>
          <p:nvPr/>
        </p:nvSpPr>
        <p:spPr>
          <a:xfrm>
            <a:off x="6487667" y="2377440"/>
            <a:ext cx="1060704" cy="274320"/>
          </a:xfrm>
          <a:prstGeom prst="round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100" b="1" i="0">
                <a:solidFill>
                  <a:srgbClr val="FFFFFF"/>
                </a:solidFill>
                <a:latin typeface="Calibri"/>
              </a:rPr>
              <a:t>Planned</a:t>
            </a:r>
          </a:p>
        </p:txBody>
      </p:sp>
      <p:sp>
        <p:nvSpPr>
          <p:cNvPr id="28" name="Pipeline_stage7_card"/>
          <p:cNvSpPr/>
          <p:nvPr/>
        </p:nvSpPr>
        <p:spPr>
          <a:xfrm>
            <a:off x="7655356" y="914400"/>
            <a:ext cx="1170432" cy="18288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29" name="Pipeline_stage7_head"/>
          <p:cNvSpPr/>
          <p:nvPr/>
        </p:nvSpPr>
        <p:spPr>
          <a:xfrm>
            <a:off x="7655356" y="914400"/>
            <a:ext cx="1170432" cy="384048"/>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r>
              <a:rPr sz="1200" b="1" i="0">
                <a:solidFill>
                  <a:srgbClr val="FFFFFF"/>
                </a:solidFill>
                <a:latin typeface="Calibri"/>
              </a:rPr>
              <a:t>7  Metrics</a:t>
            </a:r>
          </a:p>
        </p:txBody>
      </p:sp>
      <p:sp>
        <p:nvSpPr>
          <p:cNvPr id="30" name="Pipeline_stage7_text"/>
          <p:cNvSpPr txBox="1"/>
          <p:nvPr/>
        </p:nvSpPr>
        <p:spPr>
          <a:xfrm>
            <a:off x="7691932" y="1353312"/>
            <a:ext cx="1097280" cy="960120"/>
          </a:xfrm>
          <a:prstGeom prst="rect">
            <a:avLst/>
          </a:prstGeom>
          <a:noFill/>
        </p:spPr>
        <p:txBody>
          <a:bodyPr wrap="square" lIns="18288" rIns="18288" tIns="18288" bIns="18288" anchor="t">
            <a:noAutofit/>
          </a:bodyPr>
          <a:lstStyle/>
          <a:p>
            <a:pPr algn="ctr"/>
            <a:r>
              <a:rPr sz="1100" b="0" i="0">
                <a:solidFill>
                  <a:srgbClr val="2E2D29"/>
                </a:solidFill>
                <a:latin typeface="Calibri"/>
              </a:rPr>
              <a:t>Split and pressures vs post-op data</a:t>
            </a:r>
          </a:p>
        </p:txBody>
      </p:sp>
      <p:sp>
        <p:nvSpPr>
          <p:cNvPr id="31" name="Pipeline_stage7_status"/>
          <p:cNvSpPr/>
          <p:nvPr/>
        </p:nvSpPr>
        <p:spPr>
          <a:xfrm>
            <a:off x="7710220" y="2377440"/>
            <a:ext cx="1060704" cy="274320"/>
          </a:xfrm>
          <a:prstGeom prst="round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100" b="1" i="0">
                <a:solidFill>
                  <a:srgbClr val="FFFFFF"/>
                </a:solidFill>
                <a:latin typeface="Calibri"/>
              </a:rPr>
              <a:t>Planned</a:t>
            </a:r>
          </a:p>
        </p:txBody>
      </p:sp>
      <p:sp>
        <p:nvSpPr>
          <p:cNvPr id="32" name="Pipeline_workstreams_head"/>
          <p:cNvSpPr txBox="1"/>
          <p:nvPr/>
        </p:nvSpPr>
        <p:spPr>
          <a:xfrm>
            <a:off x="320040" y="2880360"/>
            <a:ext cx="8503920" cy="292608"/>
          </a:xfrm>
          <a:prstGeom prst="rect">
            <a:avLst/>
          </a:prstGeom>
          <a:noFill/>
        </p:spPr>
        <p:txBody>
          <a:bodyPr wrap="square" lIns="73152" rIns="73152" anchor="t">
            <a:noAutofit/>
          </a:bodyPr>
          <a:lstStyle/>
          <a:p>
            <a:pPr algn="l"/>
            <a:r>
              <a:rPr sz="1400" b="1" i="0">
                <a:solidFill>
                  <a:srgbClr val="8C1515"/>
                </a:solidFill>
                <a:latin typeface="Calibri"/>
              </a:rPr>
              <a:t>Development workstreams</a:t>
            </a:r>
          </a:p>
        </p:txBody>
      </p:sp>
      <p:graphicFrame>
        <p:nvGraphicFramePr>
          <p:cNvPr id="33" name="Pipeline_workstreams_table"/>
          <p:cNvGraphicFramePr>
            <a:graphicFrameLocks noGrp="1"/>
          </p:cNvGraphicFramePr>
          <p:nvPr/>
        </p:nvGraphicFramePr>
        <p:xfrm>
          <a:off x="320040" y="3200400"/>
          <a:ext cx="8503920" cy="1737360"/>
        </p:xfrm>
        <a:graphic>
          <a:graphicData uri="http://schemas.openxmlformats.org/drawingml/2006/table">
            <a:tbl>
              <a:tblPr firstRow="1" bandRow="0">
                <a:tableStyleId>{5C22544A-7EE6-4342-B048-85BDC9FD1C3A}</a:tableStyleId>
              </a:tblPr>
              <a:tblGrid>
                <a:gridCol w="2926080"/>
                <a:gridCol w="4297680"/>
                <a:gridCol w="1280160"/>
              </a:tblGrid>
              <a:tr h="347472">
                <a:tc>
                  <a:txBody>
                    <a:bodyPr wrap="square"/>
                    <a:lstStyle/>
                    <a:p>
                      <a:r>
                        <a:rPr sz="1200" b="1">
                          <a:solidFill>
                            <a:srgbClr val="FFFFFF"/>
                          </a:solidFill>
                          <a:latin typeface="Calibri"/>
                        </a:rPr>
                        <a:t>Problem</a:t>
                      </a:r>
                    </a:p>
                  </a:txBody>
                  <a:tcPr marL="54864" marR="54864" marT="27432" marB="27432" anchor="ctr">
                    <a:solidFill>
                      <a:srgbClr val="8C1515"/>
                    </a:solidFill>
                  </a:tcPr>
                </a:tc>
                <a:tc>
                  <a:txBody>
                    <a:bodyPr wrap="square"/>
                    <a:lstStyle/>
                    <a:p>
                      <a:r>
                        <a:rPr sz="1200" b="1">
                          <a:solidFill>
                            <a:srgbClr val="FFFFFF"/>
                          </a:solidFill>
                          <a:latin typeface="Calibri"/>
                        </a:rPr>
                        <a:t>Current fix</a:t>
                      </a:r>
                    </a:p>
                  </a:txBody>
                  <a:tcPr marL="54864" marR="54864" marT="27432" marB="27432" anchor="ctr">
                    <a:solidFill>
                      <a:srgbClr val="8C1515"/>
                    </a:solidFill>
                  </a:tcPr>
                </a:tc>
                <a:tc>
                  <a:txBody>
                    <a:bodyPr wrap="square"/>
                    <a:lstStyle/>
                    <a:p>
                      <a:r>
                        <a:rPr sz="1200" b="1">
                          <a:solidFill>
                            <a:srgbClr val="FFFFFF"/>
                          </a:solidFill>
                          <a:latin typeface="Calibri"/>
                        </a:rPr>
                        <a:t>Status</a:t>
                      </a:r>
                    </a:p>
                  </a:txBody>
                  <a:tcPr marL="54864" marR="54864" marT="27432" marB="27432" anchor="ctr">
                    <a:solidFill>
                      <a:srgbClr val="8C1515"/>
                    </a:solidFill>
                  </a:tcPr>
                </a:tc>
              </a:tr>
              <a:tr h="347472">
                <a:tc>
                  <a:txBody>
                    <a:bodyPr wrap="square"/>
                    <a:lstStyle/>
                    <a:p>
                      <a:r>
                        <a:rPr sz="1200" b="0">
                          <a:solidFill>
                            <a:srgbClr val="2E2D29"/>
                          </a:solidFill>
                          <a:latin typeface="Calibri"/>
                        </a:rPr>
                        <a:t>3D pulse too wide (TST-STAN-1, -2, -3)</a:t>
                      </a:r>
                    </a:p>
                  </a:txBody>
                  <a:tcPr marL="54864" marR="54864" marT="27432" marB="27432" anchor="ctr">
                    <a:solidFill>
                      <a:srgbClr val="FFFFFF"/>
                    </a:solidFill>
                  </a:tcPr>
                </a:tc>
                <a:tc>
                  <a:txBody>
                    <a:bodyPr wrap="square"/>
                    <a:lstStyle/>
                    <a:p>
                      <a:r>
                        <a:rPr sz="1200" b="0">
                          <a:solidFill>
                            <a:srgbClr val="2E2D29"/>
                          </a:solidFill>
                          <a:latin typeface="Calibri"/>
                        </a:rPr>
                        <a:t>E-law wall correction, iteration 3 (23 Oct)</a:t>
                      </a:r>
                    </a:p>
                  </a:txBody>
                  <a:tcPr marL="54864" marR="54864" marT="27432" marB="27432" anchor="ctr">
                    <a:solidFill>
                      <a:srgbClr val="FFFFFF"/>
                    </a:solidFill>
                  </a:tcPr>
                </a:tc>
                <a:tc>
                  <a:txBody>
                    <a:bodyPr wrap="square"/>
                    <a:lstStyle/>
                    <a:p>
                      <a:r>
                        <a:rPr sz="1200" b="1">
                          <a:solidFill>
                            <a:srgbClr val="279989"/>
                          </a:solidFill>
                          <a:latin typeface="Calibri"/>
                        </a:rPr>
                        <a:t>Done</a:t>
                      </a:r>
                    </a:p>
                  </a:txBody>
                  <a:tcPr marL="54864" marR="54864" marT="27432" marB="27432" anchor="ctr">
                    <a:solidFill>
                      <a:srgbClr val="FFFFFF"/>
                    </a:solidFill>
                  </a:tcPr>
                </a:tc>
              </a:tr>
              <a:tr h="347472">
                <a:tc>
                  <a:txBody>
                    <a:bodyPr wrap="square"/>
                    <a:lstStyle/>
                    <a:p>
                      <a:r>
                        <a:rPr sz="1200" b="0">
                          <a:solidFill>
                            <a:srgbClr val="2E2D29"/>
                          </a:solidFill>
                          <a:latin typeface="Calibri"/>
                        </a:rPr>
                        <a:t>0D model did not match the corrected wall</a:t>
                      </a:r>
                    </a:p>
                  </a:txBody>
                  <a:tcPr marL="54864" marR="54864" marT="27432" marB="27432" anchor="ctr">
                    <a:solidFill>
                      <a:srgbClr val="F2F1F0"/>
                    </a:solidFill>
                  </a:tcPr>
                </a:tc>
                <a:tc>
                  <a:txBody>
                    <a:bodyPr wrap="square"/>
                    <a:lstStyle/>
                    <a:p>
                      <a:r>
                        <a:rPr sz="1200" b="0">
                          <a:solidFill>
                            <a:srgbClr val="2E2D29"/>
                          </a:solidFill>
                          <a:latin typeface="Calibri"/>
                        </a:rPr>
                        <a:t>Matched 0D refit, R then proximal C (all five, 26 Oct)</a:t>
                      </a:r>
                    </a:p>
                  </a:txBody>
                  <a:tcPr marL="54864" marR="54864" marT="27432" marB="27432" anchor="ctr">
                    <a:solidFill>
                      <a:srgbClr val="F2F1F0"/>
                    </a:solidFill>
                  </a:tcPr>
                </a:tc>
                <a:tc>
                  <a:txBody>
                    <a:bodyPr wrap="square"/>
                    <a:lstStyle/>
                    <a:p>
                      <a:r>
                        <a:rPr sz="1200" b="1">
                          <a:solidFill>
                            <a:srgbClr val="279989"/>
                          </a:solidFill>
                          <a:latin typeface="Calibri"/>
                        </a:rPr>
                        <a:t>Done</a:t>
                      </a:r>
                    </a:p>
                  </a:txBody>
                  <a:tcPr marL="54864" marR="54864" marT="27432" marB="27432" anchor="ctr">
                    <a:solidFill>
                      <a:srgbClr val="F2F1F0"/>
                    </a:solidFill>
                  </a:tcPr>
                </a:tc>
              </a:tr>
              <a:tr h="347472">
                <a:tc>
                  <a:txBody>
                    <a:bodyPr wrap="square"/>
                    <a:lstStyle/>
                    <a:p>
                      <a:r>
                        <a:rPr sz="1200" b="0">
                          <a:solidFill>
                            <a:srgbClr val="2E2D29"/>
                          </a:solidFill>
                          <a:latin typeface="Calibri"/>
                        </a:rPr>
                        <a:t>TST-STAN-2 split +0.037 after v1</a:t>
                      </a:r>
                    </a:p>
                  </a:txBody>
                  <a:tcPr marL="54864" marR="54864" marT="27432" marB="27432" anchor="ctr">
                    <a:solidFill>
                      <a:srgbClr val="FFFFFF"/>
                    </a:solidFill>
                  </a:tcPr>
                </a:tc>
                <a:tc>
                  <a:txBody>
                    <a:bodyPr wrap="square"/>
                    <a:lstStyle/>
                    <a:p>
                      <a:r>
                        <a:rPr sz="1200" b="0">
                          <a:solidFill>
                            <a:srgbClr val="2E2D29"/>
                          </a:solidFill>
                          <a:latin typeface="Calibri"/>
                        </a:rPr>
                        <a:t>Resistance side; check for a missing lobe on the angiogram</a:t>
                      </a:r>
                    </a:p>
                  </a:txBody>
                  <a:tcPr marL="54864" marR="54864" marT="27432" marB="27432" anchor="ctr">
                    <a:solidFill>
                      <a:srgbClr val="FFFFFF"/>
                    </a:solidFill>
                  </a:tcPr>
                </a:tc>
                <a:tc>
                  <a:txBody>
                    <a:bodyPr wrap="square"/>
                    <a:lstStyle/>
                    <a:p>
                      <a:r>
                        <a:rPr sz="1200" b="1">
                          <a:solidFill>
                            <a:srgbClr val="2E2D29"/>
                          </a:solidFill>
                          <a:latin typeface="Calibri"/>
                        </a:rPr>
                        <a:t>Open</a:t>
                      </a:r>
                    </a:p>
                  </a:txBody>
                  <a:tcPr marL="54864" marR="54864" marT="27432" marB="27432" anchor="ctr">
                    <a:solidFill>
                      <a:srgbClr val="FFFFFF"/>
                    </a:solidFill>
                  </a:tcPr>
                </a:tc>
              </a:tr>
              <a:tr h="347472">
                <a:tc>
                  <a:txBody>
                    <a:bodyPr wrap="square"/>
                    <a:lstStyle/>
                    <a:p>
                      <a:r>
                        <a:rPr sz="1200" b="0">
                          <a:solidFill>
                            <a:srgbClr val="2E2D29"/>
                          </a:solidFill>
                          <a:latin typeface="Calibri"/>
                        </a:rPr>
                        <a:t>Simulated post-op splits overshoot</a:t>
                      </a:r>
                    </a:p>
                  </a:txBody>
                  <a:tcPr marL="54864" marR="54864" marT="27432" marB="27432" anchor="ctr">
                    <a:solidFill>
                      <a:srgbClr val="F2F1F0"/>
                    </a:solidFill>
                  </a:tcPr>
                </a:tc>
                <a:tc>
                  <a:txBody>
                    <a:bodyPr wrap="square"/>
                    <a:lstStyle/>
                    <a:p>
                      <a:r>
                        <a:rPr sz="1200" b="0">
                          <a:solidFill>
                            <a:srgbClr val="2E2D29"/>
                          </a:solidFill>
                          <a:latin typeface="Calibri"/>
                        </a:rPr>
                        <a:t>Check stent diameters against angiography</a:t>
                      </a:r>
                    </a:p>
                  </a:txBody>
                  <a:tcPr marL="54864" marR="54864" marT="27432" marB="27432" anchor="ctr">
                    <a:solidFill>
                      <a:srgbClr val="F2F1F0"/>
                    </a:solidFill>
                  </a:tcPr>
                </a:tc>
                <a:tc>
                  <a:txBody>
                    <a:bodyPr wrap="square"/>
                    <a:lstStyle/>
                    <a:p>
                      <a:r>
                        <a:rPr sz="1200" b="1">
                          <a:solidFill>
                            <a:srgbClr val="2E2D29"/>
                          </a:solidFill>
                          <a:latin typeface="Calibri"/>
                        </a:rPr>
                        <a:t>Open</a:t>
                      </a:r>
                    </a:p>
                  </a:txBody>
                  <a:tcPr marL="54864" marR="54864" marT="27432" marB="27432" anchor="ctr">
                    <a:solidFill>
                      <a:srgbClr val="F2F1F0"/>
                    </a:solidFill>
                  </a:tcPr>
                </a:tc>
              </a:tr>
            </a:tbl>
          </a:graphicData>
        </a:graphic>
      </p:graphicFrame>
      <p:sp>
        <p:nvSpPr>
          <p:cNvPr id="34" name="Pipeline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Stage status per PIPELINE_BRIEF stage table, with Stage 2 completed 25 Oct 2026 (pre-op protocol v1 frozen).</a:t>
            </a:r>
          </a:p>
        </p:txBody>
      </p:sp>
    </p:spTree>
    <p:extLst>
      <p:ext uri="{BB962C8B-B14F-4D97-AF65-F5344CB8AC3E}">
        <p14:creationId xmlns:p14="http://schemas.microsoft.com/office/powerpoint/2010/main" val="406647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Cohort progress across the pipeline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graphicFrame>
        <p:nvGraphicFramePr>
          <p:cNvPr id="11" name="Cohort_matrix_table"/>
          <p:cNvGraphicFramePr>
            <a:graphicFrameLocks noGrp="1"/>
          </p:cNvGraphicFramePr>
          <p:nvPr/>
        </p:nvGraphicFramePr>
        <p:xfrm>
          <a:off x="320040" y="1417320"/>
          <a:ext cx="8503919" cy="3072384"/>
        </p:xfrm>
        <a:graphic>
          <a:graphicData uri="http://schemas.openxmlformats.org/drawingml/2006/table">
            <a:tbl>
              <a:tblPr firstRow="1" bandRow="0">
                <a:tableStyleId>{5C22544A-7EE6-4342-B048-85BDC9FD1C3A}</a:tableStyleId>
              </a:tblPr>
              <a:tblGrid>
                <a:gridCol w="1874519"/>
                <a:gridCol w="1325880"/>
                <a:gridCol w="1325880"/>
                <a:gridCol w="1325880"/>
                <a:gridCol w="1325880"/>
                <a:gridCol w="1325880"/>
              </a:tblGrid>
              <a:tr h="384048">
                <a:tc>
                  <a:txBody>
                    <a:bodyPr wrap="square"/>
                    <a:lstStyle/>
                    <a:p>
                      <a:r>
                        <a:rPr sz="1200" b="1">
                          <a:solidFill>
                            <a:srgbClr val="FFFFFF"/>
                          </a:solidFill>
                          <a:latin typeface="Calibri"/>
                        </a:rPr>
                        <a:t>Stage</a:t>
                      </a:r>
                    </a:p>
                  </a:txBody>
                  <a:tcPr marL="54864" marR="54864" marT="27432" marB="27432" anchor="ctr">
                    <a:solidFill>
                      <a:srgbClr val="8C1515"/>
                    </a:solidFill>
                  </a:tcPr>
                </a:tc>
                <a:tc>
                  <a:txBody>
                    <a:bodyPr wrap="square"/>
                    <a:lstStyle/>
                    <a:p>
                      <a:r>
                        <a:rPr sz="1200" b="1">
                          <a:solidFill>
                            <a:srgbClr val="FFFFFF"/>
                          </a:solidFill>
                          <a:latin typeface="Calibri"/>
                        </a:rPr>
                        <a:t>TST-STAN-1</a:t>
                      </a:r>
                    </a:p>
                  </a:txBody>
                  <a:tcPr marL="54864" marR="54864" marT="27432" marB="27432" anchor="ctr">
                    <a:solidFill>
                      <a:srgbClr val="8C1515"/>
                    </a:solidFill>
                  </a:tcPr>
                </a:tc>
                <a:tc>
                  <a:txBody>
                    <a:bodyPr wrap="square"/>
                    <a:lstStyle/>
                    <a:p>
                      <a:r>
                        <a:rPr sz="1200" b="1">
                          <a:solidFill>
                            <a:srgbClr val="FFFFFF"/>
                          </a:solidFill>
                          <a:latin typeface="Calibri"/>
                        </a:rPr>
                        <a:t>TST-STAN-2</a:t>
                      </a:r>
                    </a:p>
                  </a:txBody>
                  <a:tcPr marL="54864" marR="54864" marT="27432" marB="27432" anchor="ctr">
                    <a:solidFill>
                      <a:srgbClr val="8C1515"/>
                    </a:solidFill>
                  </a:tcPr>
                </a:tc>
                <a:tc>
                  <a:txBody>
                    <a:bodyPr wrap="square"/>
                    <a:lstStyle/>
                    <a:p>
                      <a:r>
                        <a:rPr sz="1200" b="1">
                          <a:solidFill>
                            <a:srgbClr val="FFFFFF"/>
                          </a:solidFill>
                          <a:latin typeface="Calibri"/>
                        </a:rPr>
                        <a:t>TST-STAN-3</a:t>
                      </a:r>
                    </a:p>
                  </a:txBody>
                  <a:tcPr marL="54864" marR="54864" marT="27432" marB="27432" anchor="ctr">
                    <a:solidFill>
                      <a:srgbClr val="8C1515"/>
                    </a:solidFill>
                  </a:tcPr>
                </a:tc>
                <a:tc>
                  <a:txBody>
                    <a:bodyPr wrap="square"/>
                    <a:lstStyle/>
                    <a:p>
                      <a:r>
                        <a:rPr sz="1200" b="1">
                          <a:solidFill>
                            <a:srgbClr val="FFFFFF"/>
                          </a:solidFill>
                          <a:latin typeface="Calibri"/>
                        </a:rPr>
                        <a:t>TST-STAN-5</a:t>
                      </a:r>
                    </a:p>
                  </a:txBody>
                  <a:tcPr marL="54864" marR="54864" marT="27432" marB="27432" anchor="ctr">
                    <a:solidFill>
                      <a:srgbClr val="8C1515"/>
                    </a:solidFill>
                  </a:tcPr>
                </a:tc>
                <a:tc>
                  <a:txBody>
                    <a:bodyPr wrap="square"/>
                    <a:lstStyle/>
                    <a:p>
                      <a:r>
                        <a:rPr sz="1200" b="1">
                          <a:solidFill>
                            <a:srgbClr val="FFFFFF"/>
                          </a:solidFill>
                          <a:latin typeface="Calibri"/>
                        </a:rPr>
                        <a:t>TST-STAN-9</a:t>
                      </a:r>
                    </a:p>
                  </a:txBody>
                  <a:tcPr marL="54864" marR="54864" marT="27432" marB="27432" anchor="ctr">
                    <a:solidFill>
                      <a:srgbClr val="8C1515"/>
                    </a:solidFill>
                  </a:tcPr>
                </a:tc>
              </a:tr>
              <a:tr h="384048">
                <a:tc>
                  <a:txBody>
                    <a:bodyPr wrap="square"/>
                    <a:lstStyle/>
                    <a:p>
                      <a:r>
                        <a:rPr sz="1200" b="1">
                          <a:solidFill>
                            <a:srgbClr val="2E2D29"/>
                          </a:solidFill>
                          <a:latin typeface="Calibri"/>
                        </a:rPr>
                        <a:t>1  Model finalized</a:t>
                      </a:r>
                    </a:p>
                  </a:txBody>
                  <a:tcPr marL="54864" marR="54864" marT="27432" marB="27432" anchor="ctr">
                    <a:solidFill>
                      <a:srgbClr val="FFFFFF"/>
                    </a:solidFill>
                  </a:tcPr>
                </a:tc>
                <a:tc>
                  <a:txBody>
                    <a:bodyPr wrap="square"/>
                    <a:lstStyle/>
                    <a:p>
                      <a:r>
                        <a:rPr sz="1200" b="1">
                          <a:solidFill>
                            <a:srgbClr val="279989"/>
                          </a:solidFill>
                          <a:latin typeface="Calibri"/>
                        </a:rPr>
                        <a:t>Done</a:t>
                      </a:r>
                    </a:p>
                  </a:txBody>
                  <a:tcPr marL="54864" marR="54864" marT="27432" marB="27432" anchor="ctr">
                    <a:solidFill>
                      <a:srgbClr val="DCEFEC"/>
                    </a:solidFill>
                  </a:tcPr>
                </a:tc>
                <a:tc>
                  <a:txBody>
                    <a:bodyPr wrap="square"/>
                    <a:lstStyle/>
                    <a:p>
                      <a:r>
                        <a:rPr sz="1200" b="1">
                          <a:solidFill>
                            <a:srgbClr val="279989"/>
                          </a:solidFill>
                          <a:latin typeface="Calibri"/>
                        </a:rPr>
                        <a:t>Done</a:t>
                      </a:r>
                    </a:p>
                  </a:txBody>
                  <a:tcPr marL="54864" marR="54864" marT="27432" marB="27432" anchor="ctr">
                    <a:solidFill>
                      <a:srgbClr val="DCEFEC"/>
                    </a:solidFill>
                  </a:tcPr>
                </a:tc>
                <a:tc>
                  <a:txBody>
                    <a:bodyPr wrap="square"/>
                    <a:lstStyle/>
                    <a:p>
                      <a:r>
                        <a:rPr sz="1200" b="1">
                          <a:solidFill>
                            <a:srgbClr val="279989"/>
                          </a:solidFill>
                          <a:latin typeface="Calibri"/>
                        </a:rPr>
                        <a:t>Done</a:t>
                      </a:r>
                    </a:p>
                  </a:txBody>
                  <a:tcPr marL="54864" marR="54864" marT="27432" marB="27432" anchor="ctr">
                    <a:solidFill>
                      <a:srgbClr val="DCEFEC"/>
                    </a:solidFill>
                  </a:tcPr>
                </a:tc>
                <a:tc>
                  <a:txBody>
                    <a:bodyPr wrap="square"/>
                    <a:lstStyle/>
                    <a:p>
                      <a:r>
                        <a:rPr sz="1200" b="1">
                          <a:solidFill>
                            <a:srgbClr val="279989"/>
                          </a:solidFill>
                          <a:latin typeface="Calibri"/>
                        </a:rPr>
                        <a:t>Done</a:t>
                      </a:r>
                    </a:p>
                  </a:txBody>
                  <a:tcPr marL="54864" marR="54864" marT="27432" marB="27432" anchor="ctr">
                    <a:solidFill>
                      <a:srgbClr val="DCEFEC"/>
                    </a:solidFill>
                  </a:tcPr>
                </a:tc>
                <a:tc>
                  <a:txBody>
                    <a:bodyPr wrap="square"/>
                    <a:lstStyle/>
                    <a:p>
                      <a:r>
                        <a:rPr sz="1200" b="1">
                          <a:solidFill>
                            <a:srgbClr val="279989"/>
                          </a:solidFill>
                          <a:latin typeface="Calibri"/>
                        </a:rPr>
                        <a:t>Done</a:t>
                      </a:r>
                    </a:p>
                  </a:txBody>
                  <a:tcPr marL="54864" marR="54864" marT="27432" marB="27432" anchor="ctr">
                    <a:solidFill>
                      <a:srgbClr val="DCEFEC"/>
                    </a:solidFill>
                  </a:tcPr>
                </a:tc>
              </a:tr>
              <a:tr h="384048">
                <a:tc>
                  <a:txBody>
                    <a:bodyPr wrap="square"/>
                    <a:lstStyle/>
                    <a:p>
                      <a:r>
                        <a:rPr sz="1200" b="1">
                          <a:solidFill>
                            <a:srgbClr val="2E2D29"/>
                          </a:solidFill>
                          <a:latin typeface="Calibri"/>
                        </a:rPr>
                        <a:t>2  BCs tuned</a:t>
                      </a:r>
                    </a:p>
                  </a:txBody>
                  <a:tcPr marL="54864" marR="54864" marT="27432" marB="27432" anchor="ctr">
                    <a:solidFill>
                      <a:srgbClr val="FFFFFF"/>
                    </a:solidFill>
                  </a:tcPr>
                </a:tc>
                <a:tc>
                  <a:txBody>
                    <a:bodyPr wrap="square"/>
                    <a:lstStyle/>
                    <a:p>
                      <a:r>
                        <a:rPr sz="1200" b="1">
                          <a:solidFill>
                            <a:srgbClr val="279989"/>
                          </a:solidFill>
                          <a:latin typeface="Calibri"/>
                        </a:rPr>
                        <a:t>Done (v1)</a:t>
                      </a:r>
                    </a:p>
                  </a:txBody>
                  <a:tcPr marL="54864" marR="54864" marT="27432" marB="27432" anchor="ctr">
                    <a:solidFill>
                      <a:srgbClr val="DCEFEC"/>
                    </a:solidFill>
                  </a:tcPr>
                </a:tc>
                <a:tc>
                  <a:txBody>
                    <a:bodyPr wrap="square"/>
                    <a:lstStyle/>
                    <a:p>
                      <a:r>
                        <a:rPr sz="1200" b="1">
                          <a:solidFill>
                            <a:srgbClr val="279989"/>
                          </a:solidFill>
                          <a:latin typeface="Calibri"/>
                        </a:rPr>
                        <a:t>Done (v1)</a:t>
                      </a:r>
                    </a:p>
                  </a:txBody>
                  <a:tcPr marL="54864" marR="54864" marT="27432" marB="27432" anchor="ctr">
                    <a:solidFill>
                      <a:srgbClr val="DCEFEC"/>
                    </a:solidFill>
                  </a:tcPr>
                </a:tc>
                <a:tc>
                  <a:txBody>
                    <a:bodyPr wrap="square"/>
                    <a:lstStyle/>
                    <a:p>
                      <a:r>
                        <a:rPr sz="1200" b="1">
                          <a:solidFill>
                            <a:srgbClr val="279989"/>
                          </a:solidFill>
                          <a:latin typeface="Calibri"/>
                        </a:rPr>
                        <a:t>Done (v1)</a:t>
                      </a:r>
                    </a:p>
                  </a:txBody>
                  <a:tcPr marL="54864" marR="54864" marT="27432" marB="27432" anchor="ctr">
                    <a:solidFill>
                      <a:srgbClr val="DCEFEC"/>
                    </a:solidFill>
                  </a:tcPr>
                </a:tc>
                <a:tc>
                  <a:txBody>
                    <a:bodyPr wrap="square"/>
                    <a:lstStyle/>
                    <a:p>
                      <a:r>
                        <a:rPr sz="1200" b="1">
                          <a:solidFill>
                            <a:srgbClr val="279989"/>
                          </a:solidFill>
                          <a:latin typeface="Calibri"/>
                        </a:rPr>
                        <a:t>Done (v1)</a:t>
                      </a:r>
                    </a:p>
                  </a:txBody>
                  <a:tcPr marL="54864" marR="54864" marT="27432" marB="27432" anchor="ctr">
                    <a:solidFill>
                      <a:srgbClr val="DCEFEC"/>
                    </a:solidFill>
                  </a:tcPr>
                </a:tc>
                <a:tc>
                  <a:txBody>
                    <a:bodyPr wrap="square"/>
                    <a:lstStyle/>
                    <a:p>
                      <a:r>
                        <a:rPr sz="1200" b="1">
                          <a:solidFill>
                            <a:srgbClr val="279989"/>
                          </a:solidFill>
                          <a:latin typeface="Calibri"/>
                        </a:rPr>
                        <a:t>Done (v1)</a:t>
                      </a:r>
                    </a:p>
                  </a:txBody>
                  <a:tcPr marL="54864" marR="54864" marT="27432" marB="27432" anchor="ctr">
                    <a:solidFill>
                      <a:srgbClr val="DCEFEC"/>
                    </a:solidFill>
                  </a:tcPr>
                </a:tc>
              </a:tr>
              <a:tr h="384048">
                <a:tc>
                  <a:txBody>
                    <a:bodyPr wrap="square"/>
                    <a:lstStyle/>
                    <a:p>
                      <a:r>
                        <a:rPr sz="1200" b="1">
                          <a:solidFill>
                            <a:srgbClr val="2E2D29"/>
                          </a:solidFill>
                          <a:latin typeface="Calibri"/>
                        </a:rPr>
                        <a:t>3  Pre-op 3D</a:t>
                      </a:r>
                    </a:p>
                  </a:txBody>
                  <a:tcPr marL="54864" marR="54864" marT="27432" marB="27432" anchor="ctr">
                    <a:solidFill>
                      <a:srgbClr val="FFFFFF"/>
                    </a:solidFill>
                  </a:tcPr>
                </a:tc>
                <a:tc>
                  <a:txBody>
                    <a:bodyPr wrap="square"/>
                    <a:lstStyle/>
                    <a:p>
                      <a:r>
                        <a:rPr sz="1200" b="1">
                          <a:solidFill>
                            <a:srgbClr val="E98300"/>
                          </a:solidFill>
                          <a:latin typeface="Calibri"/>
                        </a:rPr>
                        <a:t>Iter. 3 done</a:t>
                      </a:r>
                    </a:p>
                  </a:txBody>
                  <a:tcPr marL="54864" marR="54864" marT="27432" marB="27432" anchor="ctr">
                    <a:solidFill>
                      <a:srgbClr val="FCEBD9"/>
                    </a:solidFill>
                  </a:tcPr>
                </a:tc>
                <a:tc>
                  <a:txBody>
                    <a:bodyPr wrap="square"/>
                    <a:lstStyle/>
                    <a:p>
                      <a:r>
                        <a:rPr sz="1200" b="1">
                          <a:solidFill>
                            <a:srgbClr val="E98300"/>
                          </a:solidFill>
                          <a:latin typeface="Calibri"/>
                        </a:rPr>
                        <a:t>Iter. 3 done</a:t>
                      </a:r>
                    </a:p>
                  </a:txBody>
                  <a:tcPr marL="54864" marR="54864" marT="27432" marB="27432" anchor="ctr">
                    <a:solidFill>
                      <a:srgbClr val="FCEBD9"/>
                    </a:solidFill>
                  </a:tcPr>
                </a:tc>
                <a:tc>
                  <a:txBody>
                    <a:bodyPr wrap="square"/>
                    <a:lstStyle/>
                    <a:p>
                      <a:r>
                        <a:rPr sz="1200" b="1">
                          <a:solidFill>
                            <a:srgbClr val="E98300"/>
                          </a:solidFill>
                          <a:latin typeface="Calibri"/>
                        </a:rPr>
                        <a:t>Iter. 3 done</a:t>
                      </a:r>
                    </a:p>
                  </a:txBody>
                  <a:tcPr marL="54864" marR="54864" marT="27432" marB="27432" anchor="ctr">
                    <a:solidFill>
                      <a:srgbClr val="FCEBD9"/>
                    </a:solidFill>
                  </a:tcPr>
                </a:tc>
                <a:tc>
                  <a:txBody>
                    <a:bodyPr wrap="square"/>
                    <a:lstStyle/>
                    <a:p>
                      <a:r>
                        <a:rPr sz="1200" b="1">
                          <a:solidFill>
                            <a:srgbClr val="E98300"/>
                          </a:solidFill>
                          <a:latin typeface="Calibri"/>
                        </a:rPr>
                        <a:t>Iter. 3 done</a:t>
                      </a:r>
                    </a:p>
                  </a:txBody>
                  <a:tcPr marL="54864" marR="54864" marT="27432" marB="27432" anchor="ctr">
                    <a:solidFill>
                      <a:srgbClr val="FCEBD9"/>
                    </a:solidFill>
                  </a:tcPr>
                </a:tc>
                <a:tc>
                  <a:txBody>
                    <a:bodyPr wrap="square"/>
                    <a:lstStyle/>
                    <a:p>
                      <a:r>
                        <a:rPr sz="1200" b="1">
                          <a:solidFill>
                            <a:srgbClr val="E98300"/>
                          </a:solidFill>
                          <a:latin typeface="Calibri"/>
                        </a:rPr>
                        <a:t>Iter. 3 done</a:t>
                      </a:r>
                    </a:p>
                  </a:txBody>
                  <a:tcPr marL="54864" marR="54864" marT="27432" marB="27432" anchor="ctr">
                    <a:solidFill>
                      <a:srgbClr val="FCEBD9"/>
                    </a:solidFill>
                  </a:tcPr>
                </a:tc>
              </a:tr>
              <a:tr h="384048">
                <a:tc>
                  <a:txBody>
                    <a:bodyPr wrap="square"/>
                    <a:lstStyle/>
                    <a:p>
                      <a:r>
                        <a:rPr sz="1200" b="1">
                          <a:solidFill>
                            <a:srgbClr val="2E2D29"/>
                          </a:solidFill>
                          <a:latin typeface="Calibri"/>
                        </a:rPr>
                        <a:t>4  Post-op 3D</a:t>
                      </a:r>
                    </a:p>
                  </a:txBody>
                  <a:tcPr marL="54864" marR="54864" marT="27432" marB="27432" anchor="ctr">
                    <a:solidFill>
                      <a:srgbClr val="FFFFFF"/>
                    </a:solidFill>
                  </a:tcPr>
                </a:tc>
                <a:tc>
                  <a:txBody>
                    <a:bodyPr wrap="square"/>
                    <a:lstStyle/>
                    <a:p>
                      <a:r>
                        <a:rPr sz="1200" b="0">
                          <a:solidFill>
                            <a:srgbClr val="6B6965"/>
                          </a:solidFill>
                          <a:latin typeface="Calibri"/>
                        </a:rPr>
                        <a:t>Earlier BCs</a:t>
                      </a:r>
                    </a:p>
                  </a:txBody>
                  <a:tcPr marL="54864" marR="54864" marT="27432" marB="27432" anchor="ctr">
                    <a:solidFill>
                      <a:srgbClr val="F2F1F0"/>
                    </a:solidFill>
                  </a:tcPr>
                </a:tc>
                <a:tc>
                  <a:txBody>
                    <a:bodyPr wrap="square"/>
                    <a:lstStyle/>
                    <a:p>
                      <a:r>
                        <a:rPr sz="1200" b="0">
                          <a:solidFill>
                            <a:srgbClr val="6B6965"/>
                          </a:solidFill>
                          <a:latin typeface="Calibri"/>
                        </a:rPr>
                        <a:t>Incomplete</a:t>
                      </a:r>
                    </a:p>
                  </a:txBody>
                  <a:tcPr marL="54864" marR="54864" marT="27432" marB="27432" anchor="ctr">
                    <a:solidFill>
                      <a:srgbClr val="F2F1F0"/>
                    </a:solidFill>
                  </a:tcPr>
                </a:tc>
                <a:tc>
                  <a:txBody>
                    <a:bodyPr wrap="square"/>
                    <a:lstStyle/>
                    <a:p>
                      <a:r>
                        <a:rPr sz="1200" b="0">
                          <a:solidFill>
                            <a:srgbClr val="6B6965"/>
                          </a:solidFill>
                          <a:latin typeface="Calibri"/>
                        </a:rPr>
                        <a:t>Earlier BCs</a:t>
                      </a:r>
                    </a:p>
                  </a:txBody>
                  <a:tcPr marL="54864" marR="54864" marT="27432" marB="27432" anchor="ctr">
                    <a:solidFill>
                      <a:srgbClr val="F2F1F0"/>
                    </a:solidFill>
                  </a:tcPr>
                </a:tc>
                <a:tc>
                  <a:txBody>
                    <a:bodyPr wrap="square"/>
                    <a:lstStyle/>
                    <a:p>
                      <a:r>
                        <a:rPr sz="1200" b="0">
                          <a:solidFill>
                            <a:srgbClr val="6B6965"/>
                          </a:solidFill>
                          <a:latin typeface="Calibri"/>
                        </a:rPr>
                        <a:t>Incomplete</a:t>
                      </a:r>
                    </a:p>
                  </a:txBody>
                  <a:tcPr marL="54864" marR="54864" marT="27432" marB="27432" anchor="ctr">
                    <a:solidFill>
                      <a:srgbClr val="F2F1F0"/>
                    </a:solidFill>
                  </a:tcPr>
                </a:tc>
                <a:tc>
                  <a:txBody>
                    <a:bodyPr wrap="square"/>
                    <a:lstStyle/>
                    <a:p>
                      <a:r>
                        <a:rPr sz="1200" b="0">
                          <a:solidFill>
                            <a:srgbClr val="6B6965"/>
                          </a:solidFill>
                          <a:latin typeface="Calibri"/>
                        </a:rPr>
                        <a:t>Earlier BCs</a:t>
                      </a:r>
                    </a:p>
                  </a:txBody>
                  <a:tcPr marL="54864" marR="54864" marT="27432" marB="27432" anchor="ctr">
                    <a:solidFill>
                      <a:srgbClr val="F2F1F0"/>
                    </a:solidFill>
                  </a:tcPr>
                </a:tc>
              </a:tr>
              <a:tr h="384048">
                <a:tc>
                  <a:txBody>
                    <a:bodyPr wrap="square"/>
                    <a:lstStyle/>
                    <a:p>
                      <a:r>
                        <a:rPr sz="1200" b="1">
                          <a:solidFill>
                            <a:srgbClr val="2E2D29"/>
                          </a:solidFill>
                          <a:latin typeface="Calibri"/>
                        </a:rPr>
                        <a:t>5  Adaptation (0D)</a:t>
                      </a:r>
                    </a:p>
                  </a:txBody>
                  <a:tcPr marL="54864" marR="54864" marT="27432" marB="27432" anchor="ctr">
                    <a:solidFill>
                      <a:srgbClr val="FFFFFF"/>
                    </a:solidFill>
                  </a:tcPr>
                </a:tc>
                <a:tc>
                  <a:txBody>
                    <a:bodyPr wrap="square"/>
                    <a:lstStyle/>
                    <a:p>
                      <a:r>
                        <a:rPr sz="1200" b="0">
                          <a:solidFill>
                            <a:srgbClr val="6B6965"/>
                          </a:solidFill>
                          <a:latin typeface="Calibri"/>
                        </a:rPr>
                        <a:t>Tested, earlier BCs</a:t>
                      </a:r>
                    </a:p>
                  </a:txBody>
                  <a:tcPr marL="54864" marR="54864" marT="27432" marB="27432" anchor="ctr">
                    <a:solidFill>
                      <a:srgbClr val="F2F1F0"/>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Tested, earlier BCs</a:t>
                      </a:r>
                    </a:p>
                  </a:txBody>
                  <a:tcPr marL="54864" marR="54864" marT="27432" marB="27432" anchor="ctr">
                    <a:solidFill>
                      <a:srgbClr val="F2F1F0"/>
                    </a:solidFill>
                  </a:tcPr>
                </a:tc>
              </a:tr>
              <a:tr h="384048">
                <a:tc>
                  <a:txBody>
                    <a:bodyPr wrap="square"/>
                    <a:lstStyle/>
                    <a:p>
                      <a:r>
                        <a:rPr sz="1200" b="1">
                          <a:solidFill>
                            <a:srgbClr val="2E2D29"/>
                          </a:solidFill>
                          <a:latin typeface="Calibri"/>
                        </a:rPr>
                        <a:t>6  Adapted 3D</a:t>
                      </a:r>
                    </a:p>
                  </a:txBody>
                  <a:tcPr marL="54864" marR="54864" marT="27432" marB="27432" anchor="ctr">
                    <a:solidFill>
                      <a:srgbClr val="FFFFFF"/>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r>
              <a:tr h="384048">
                <a:tc>
                  <a:txBody>
                    <a:bodyPr wrap="square"/>
                    <a:lstStyle/>
                    <a:p>
                      <a:r>
                        <a:rPr sz="1200" b="1">
                          <a:solidFill>
                            <a:srgbClr val="2E2D29"/>
                          </a:solidFill>
                          <a:latin typeface="Calibri"/>
                        </a:rPr>
                        <a:t>7  Metrics</a:t>
                      </a:r>
                    </a:p>
                  </a:txBody>
                  <a:tcPr marL="54864" marR="54864" marT="27432" marB="27432" anchor="ctr">
                    <a:solidFill>
                      <a:srgbClr val="FFFFFF"/>
                    </a:solidFill>
                  </a:tcPr>
                </a:tc>
                <a:tc>
                  <a:txBody>
                    <a:bodyPr wrap="square"/>
                    <a:lstStyle/>
                    <a:p>
                      <a:r>
                        <a:rPr sz="1200" b="0">
                          <a:solidFill>
                            <a:srgbClr val="6B6965"/>
                          </a:solidFill>
                          <a:latin typeface="Calibri"/>
                        </a:rPr>
                        <a:t>Partial, earlier BCs</a:t>
                      </a:r>
                    </a:p>
                  </a:txBody>
                  <a:tcPr marL="54864" marR="54864" marT="27432" marB="27432" anchor="ctr">
                    <a:solidFill>
                      <a:srgbClr val="F2F1F0"/>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Partial, earlier BCs</a:t>
                      </a:r>
                    </a:p>
                  </a:txBody>
                  <a:tcPr marL="54864" marR="54864" marT="27432" marB="27432" anchor="ctr">
                    <a:solidFill>
                      <a:srgbClr val="F2F1F0"/>
                    </a:solidFill>
                  </a:tcPr>
                </a:tc>
                <a:tc>
                  <a:txBody>
                    <a:bodyPr wrap="square"/>
                    <a:lstStyle/>
                    <a:p>
                      <a:r>
                        <a:rPr sz="1200" b="0">
                          <a:solidFill>
                            <a:srgbClr val="6B6965"/>
                          </a:solidFill>
                          <a:latin typeface="Calibri"/>
                        </a:rPr>
                        <a:t>Not started</a:t>
                      </a:r>
                    </a:p>
                  </a:txBody>
                  <a:tcPr marL="54864" marR="54864" marT="27432" marB="27432" anchor="ctr">
                    <a:solidFill>
                      <a:srgbClr val="FFFFFF"/>
                    </a:solidFill>
                  </a:tcPr>
                </a:tc>
                <a:tc>
                  <a:txBody>
                    <a:bodyPr wrap="square"/>
                    <a:lstStyle/>
                    <a:p>
                      <a:r>
                        <a:rPr sz="1200" b="0">
                          <a:solidFill>
                            <a:srgbClr val="6B6965"/>
                          </a:solidFill>
                          <a:latin typeface="Calibri"/>
                        </a:rPr>
                        <a:t>Partial, earlier BCs</a:t>
                      </a:r>
                    </a:p>
                  </a:txBody>
                  <a:tcPr marL="54864" marR="54864" marT="27432" marB="27432" anchor="ctr">
                    <a:solidFill>
                      <a:srgbClr val="F2F1F0"/>
                    </a:solidFill>
                  </a:tcPr>
                </a:tc>
              </a:tr>
            </a:tbl>
          </a:graphicData>
        </a:graphic>
      </p:graphicFrame>
      <p:sp>
        <p:nvSpPr>
          <p:cNvPr id="12" name="Cohort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Pre-op tuning is done for all five under protocol v1; Stages 4 to 7 still hold earlier-BC results.</a:t>
            </a:r>
          </a:p>
        </p:txBody>
      </p:sp>
      <p:sp>
        <p:nvSpPr>
          <p:cNvPr id="13" name="Cohort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Status as of 26 Oct 2026: protocol v1 (svz docs/preop_protocol_v1); matched 0D refit and pre-op hand-off done for all five. Row 3: tuning mesh, boundary-layer runs pending. Rows 4 to 7 from the May to June runs.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ext Placeholder 1"/>
          <p:cNvSpPr>
            <a:spLocks noGrp="1"/>
          </p:cNvSpPr>
          <p:nvPr>
            <p:ph type="body" idx="1"/>
          </p:nvPr>
        </p:nvSpPr>
        <p:spPr>
          <a:xfrm>
            <a:off x="1362456" y="2971800"/>
            <a:ext cx="6400800" cy="658368"/>
          </a:xfrm>
        </p:spPr>
        <p:txBody>
          <a:bodyPr wrap="square" lIns="0" rIns="0"/>
          <a:lstStyle/>
          <a:p>
            <a:r>
              <a:rPr sz="1300">
                <a:solidFill>
                  <a:srgbClr val="FFFFFF"/>
                </a:solidFill>
                <a:latin typeface="Calibri"/>
              </a:rPr>
              <a:t>Patient imaging, segmentation, catheter and perfusion targets, and the prescribed inflow waveform.</a:t>
            </a:r>
          </a:p>
        </p:txBody>
      </p:sp>
      <p:sp>
        <p:nvSpPr>
          <p:cNvPr id="4" name="Title 2"/>
          <p:cNvSpPr>
            <a:spLocks noGrp="1"/>
          </p:cNvSpPr>
          <p:nvPr>
            <p:ph type="ctrTitle"/>
          </p:nvPr>
        </p:nvSpPr>
        <p:spPr>
          <a:xfrm>
            <a:off x="1362456" y="1874519"/>
            <a:ext cx="7479792" cy="1005840"/>
          </a:xfrm>
        </p:spPr>
        <p:txBody>
          <a:bodyPr lIns="0" rIns="0" anchor="b"/>
          <a:lstStyle/>
          <a:p>
            <a:r>
              <a:rPr sz="3200">
                <a:solidFill>
                  <a:srgbClr val="FFFFFF"/>
                </a:solidFill>
                <a:latin typeface="Georgia"/>
              </a:rPr>
              <a:t>Inputs &amp; Dataset</a:t>
            </a:r>
          </a:p>
        </p:txBody>
      </p:sp>
      <p:sp>
        <p:nvSpPr>
          <p:cNvPr id="5" name="S8_text_STAGE_1_OF"/>
          <p:cNvSpPr txBox="1"/>
          <p:nvPr/>
        </p:nvSpPr>
        <p:spPr>
          <a:xfrm>
            <a:off x="1362456" y="1517904"/>
            <a:ext cx="7479792" cy="256032"/>
          </a:xfrm>
          <a:prstGeom prst="rect">
            <a:avLst/>
          </a:prstGeom>
          <a:noFill/>
        </p:spPr>
        <p:txBody>
          <a:bodyPr wrap="square" lIns="27432" tIns="0" rIns="27432" bIns="0" anchor="t">
            <a:spAutoFit/>
          </a:bodyPr>
          <a:lstStyle/>
          <a:p>
            <a:pPr algn="l"/>
            <a:r>
              <a:rPr sz="1100" b="1" i="0">
                <a:solidFill>
                  <a:srgbClr val="FFFFFF"/>
                </a:solidFill>
                <a:latin typeface="Calibri"/>
              </a:rPr>
              <a:t>STAGE 1 OF 7</a:t>
            </a:r>
          </a:p>
        </p:txBody>
      </p:sp>
      <p:sp>
        <p:nvSpPr>
          <p:cNvPr id="6" name="Ribbon_seg1"/>
          <p:cNvSpPr/>
          <p:nvPr/>
        </p:nvSpPr>
        <p:spPr>
          <a:xfrm>
            <a:off x="1362456" y="4041648"/>
            <a:ext cx="869986"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1">
                <a:solidFill>
                  <a:srgbClr val="007C92"/>
                </a:solidFill>
                <a:latin typeface="Calibri"/>
              </a:rPr>
              <a:t>1</a:t>
            </a:r>
          </a:p>
          <a:p>
            <a:pPr algn="ctr"/>
            <a:r>
              <a:rPr sz="1100" b="1">
                <a:solidFill>
                  <a:srgbClr val="007C92"/>
                </a:solidFill>
                <a:latin typeface="Calibri"/>
              </a:rPr>
              <a:t>Inputs</a:t>
            </a:r>
          </a:p>
        </p:txBody>
      </p:sp>
      <p:sp>
        <p:nvSpPr>
          <p:cNvPr id="7" name="Ribbon_seg2"/>
          <p:cNvSpPr/>
          <p:nvPr/>
        </p:nvSpPr>
        <p:spPr>
          <a:xfrm>
            <a:off x="22873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2</a:t>
            </a:r>
          </a:p>
          <a:p>
            <a:pPr algn="ctr"/>
            <a:r>
              <a:rPr sz="1100" b="0">
                <a:solidFill>
                  <a:srgbClr val="FFFFFF"/>
                </a:solidFill>
                <a:latin typeface="Calibri"/>
              </a:rPr>
              <a:t>BC Tuning</a:t>
            </a:r>
          </a:p>
        </p:txBody>
      </p:sp>
      <p:sp>
        <p:nvSpPr>
          <p:cNvPr id="8" name="Ribbon_seg3"/>
          <p:cNvSpPr/>
          <p:nvPr/>
        </p:nvSpPr>
        <p:spPr>
          <a:xfrm>
            <a:off x="32121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3</a:t>
            </a:r>
          </a:p>
          <a:p>
            <a:pPr algn="ctr"/>
            <a:r>
              <a:rPr sz="1100" b="0">
                <a:solidFill>
                  <a:srgbClr val="FFFFFF"/>
                </a:solidFill>
                <a:latin typeface="Calibri"/>
              </a:rPr>
              <a:t>Pre-op Sim</a:t>
            </a:r>
          </a:p>
        </p:txBody>
      </p:sp>
      <p:sp>
        <p:nvSpPr>
          <p:cNvPr id="9" name="Ribbon_seg4"/>
          <p:cNvSpPr/>
          <p:nvPr/>
        </p:nvSpPr>
        <p:spPr>
          <a:xfrm>
            <a:off x="41370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4</a:t>
            </a:r>
          </a:p>
          <a:p>
            <a:pPr algn="ctr"/>
            <a:r>
              <a:rPr sz="1100" b="0">
                <a:solidFill>
                  <a:srgbClr val="FFFFFF"/>
                </a:solidFill>
                <a:latin typeface="Calibri"/>
              </a:rPr>
              <a:t>Post-op Sim</a:t>
            </a:r>
          </a:p>
        </p:txBody>
      </p:sp>
      <p:sp>
        <p:nvSpPr>
          <p:cNvPr id="10" name="Ribbon_seg5"/>
          <p:cNvSpPr/>
          <p:nvPr/>
        </p:nvSpPr>
        <p:spPr>
          <a:xfrm>
            <a:off x="50618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5</a:t>
            </a:r>
          </a:p>
          <a:p>
            <a:pPr algn="ctr"/>
            <a:r>
              <a:rPr sz="1100" b="0">
                <a:solidFill>
                  <a:srgbClr val="FFFFFF"/>
                </a:solidFill>
                <a:latin typeface="Calibri"/>
              </a:rPr>
              <a:t>Adaptation</a:t>
            </a:r>
          </a:p>
        </p:txBody>
      </p:sp>
      <p:sp>
        <p:nvSpPr>
          <p:cNvPr id="11" name="Ribbon_seg6"/>
          <p:cNvSpPr/>
          <p:nvPr/>
        </p:nvSpPr>
        <p:spPr>
          <a:xfrm>
            <a:off x="598670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6</a:t>
            </a:r>
          </a:p>
          <a:p>
            <a:pPr algn="ctr"/>
            <a:r>
              <a:rPr sz="1100" b="0">
                <a:solidFill>
                  <a:srgbClr val="FFFFFF"/>
                </a:solidFill>
                <a:latin typeface="Calibri"/>
              </a:rPr>
              <a:t>Adapted Sim</a:t>
            </a:r>
          </a:p>
        </p:txBody>
      </p:sp>
      <p:sp>
        <p:nvSpPr>
          <p:cNvPr id="12" name="Ribbon_seg7"/>
          <p:cNvSpPr/>
          <p:nvPr/>
        </p:nvSpPr>
        <p:spPr>
          <a:xfrm>
            <a:off x="69115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7</a:t>
            </a:r>
          </a:p>
          <a:p>
            <a:pPr algn="ctr"/>
            <a:r>
              <a:rPr sz="1100" b="0">
                <a:solidFill>
                  <a:srgbClr val="FFFFFF"/>
                </a:solidFill>
                <a:latin typeface="Calibri"/>
              </a:rPr>
              <a:t>Metrics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Five Tetralogy of Fallot stent patients</a:t>
            </a:r>
          </a:p>
        </p:txBody>
      </p:sp>
      <p:sp>
        <p:nvSpPr>
          <p:cNvPr id="4" name="Ribbon_seg1"/>
          <p:cNvSpPr/>
          <p:nvPr/>
        </p:nvSpPr>
        <p:spPr>
          <a:xfrm>
            <a:off x="320040"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VALIDATED</a:t>
            </a:r>
          </a:p>
        </p:txBody>
      </p:sp>
      <p:pic>
        <p:nvPicPr>
          <p:cNvPr id="12" name="S9_picture" descr="model_T1.png"/>
          <p:cNvPicPr>
            <a:picLocks noChangeAspect="1"/>
          </p:cNvPicPr>
          <p:nvPr/>
        </p:nvPicPr>
        <p:blipFill>
          <a:blip r:embed="rId2"/>
          <a:stretch>
            <a:fillRect/>
          </a:stretch>
        </p:blipFill>
        <p:spPr>
          <a:xfrm>
            <a:off x="320040" y="3429346"/>
            <a:ext cx="1598371" cy="1142306"/>
          </a:xfrm>
          <a:prstGeom prst="rect">
            <a:avLst/>
          </a:prstGeom>
        </p:spPr>
      </p:pic>
      <p:sp>
        <p:nvSpPr>
          <p:cNvPr id="13" name="S9_text_TST_STAN_1"/>
          <p:cNvSpPr txBox="1"/>
          <p:nvPr/>
        </p:nvSpPr>
        <p:spPr>
          <a:xfrm>
            <a:off x="320040" y="4745736"/>
            <a:ext cx="1598371" cy="201168"/>
          </a:xfrm>
          <a:prstGeom prst="rect">
            <a:avLst/>
          </a:prstGeom>
          <a:noFill/>
        </p:spPr>
        <p:txBody>
          <a:bodyPr wrap="square" lIns="27432" tIns="0" rIns="27432" bIns="0" anchor="t">
            <a:spAutoFit/>
          </a:bodyPr>
          <a:lstStyle/>
          <a:p>
            <a:pPr algn="ctr"/>
            <a:r>
              <a:rPr sz="1100" b="0" i="1">
                <a:solidFill>
                  <a:srgbClr val="6B6965"/>
                </a:solidFill>
                <a:latin typeface="Calibri"/>
              </a:rPr>
              <a:t>TST-STAN-1</a:t>
            </a:r>
          </a:p>
        </p:txBody>
      </p:sp>
      <p:pic>
        <p:nvPicPr>
          <p:cNvPr id="14" name="S9_picture_2" descr="model_T2.png"/>
          <p:cNvPicPr>
            <a:picLocks noChangeAspect="1"/>
          </p:cNvPicPr>
          <p:nvPr/>
        </p:nvPicPr>
        <p:blipFill>
          <a:blip r:embed="rId3"/>
          <a:stretch>
            <a:fillRect/>
          </a:stretch>
        </p:blipFill>
        <p:spPr>
          <a:xfrm>
            <a:off x="2046427" y="3429346"/>
            <a:ext cx="1598371" cy="1142306"/>
          </a:xfrm>
          <a:prstGeom prst="rect">
            <a:avLst/>
          </a:prstGeom>
        </p:spPr>
      </p:pic>
      <p:sp>
        <p:nvSpPr>
          <p:cNvPr id="15" name="S9_text_TST_STAN_2"/>
          <p:cNvSpPr txBox="1"/>
          <p:nvPr/>
        </p:nvSpPr>
        <p:spPr>
          <a:xfrm>
            <a:off x="2046427" y="4745736"/>
            <a:ext cx="1598371" cy="201168"/>
          </a:xfrm>
          <a:prstGeom prst="rect">
            <a:avLst/>
          </a:prstGeom>
          <a:noFill/>
        </p:spPr>
        <p:txBody>
          <a:bodyPr wrap="square" lIns="27432" tIns="0" rIns="27432" bIns="0" anchor="t">
            <a:spAutoFit/>
          </a:bodyPr>
          <a:lstStyle/>
          <a:p>
            <a:pPr algn="ctr"/>
            <a:r>
              <a:rPr sz="1100" b="0" i="1">
                <a:solidFill>
                  <a:srgbClr val="6B6965"/>
                </a:solidFill>
                <a:latin typeface="Calibri"/>
              </a:rPr>
              <a:t>TST-STAN-2</a:t>
            </a:r>
          </a:p>
        </p:txBody>
      </p:sp>
      <p:pic>
        <p:nvPicPr>
          <p:cNvPr id="16" name="S9_picture_3" descr="model_T3.png"/>
          <p:cNvPicPr>
            <a:picLocks noChangeAspect="1"/>
          </p:cNvPicPr>
          <p:nvPr/>
        </p:nvPicPr>
        <p:blipFill>
          <a:blip r:embed="rId4"/>
          <a:stretch>
            <a:fillRect/>
          </a:stretch>
        </p:blipFill>
        <p:spPr>
          <a:xfrm>
            <a:off x="3772814" y="3429346"/>
            <a:ext cx="1598371" cy="1142306"/>
          </a:xfrm>
          <a:prstGeom prst="rect">
            <a:avLst/>
          </a:prstGeom>
        </p:spPr>
      </p:pic>
      <p:sp>
        <p:nvSpPr>
          <p:cNvPr id="17" name="S9_text_TST_STAN_3"/>
          <p:cNvSpPr txBox="1"/>
          <p:nvPr/>
        </p:nvSpPr>
        <p:spPr>
          <a:xfrm>
            <a:off x="3772814" y="4745736"/>
            <a:ext cx="1598371" cy="201168"/>
          </a:xfrm>
          <a:prstGeom prst="rect">
            <a:avLst/>
          </a:prstGeom>
          <a:noFill/>
        </p:spPr>
        <p:txBody>
          <a:bodyPr wrap="square" lIns="27432" tIns="0" rIns="27432" bIns="0" anchor="t">
            <a:spAutoFit/>
          </a:bodyPr>
          <a:lstStyle/>
          <a:p>
            <a:pPr algn="ctr"/>
            <a:r>
              <a:rPr sz="1100" b="0" i="1">
                <a:solidFill>
                  <a:srgbClr val="6B6965"/>
                </a:solidFill>
                <a:latin typeface="Calibri"/>
              </a:rPr>
              <a:t>TST-STAN-3</a:t>
            </a:r>
          </a:p>
        </p:txBody>
      </p:sp>
      <p:pic>
        <p:nvPicPr>
          <p:cNvPr id="18" name="S9_picture_4" descr="model_T5.png"/>
          <p:cNvPicPr>
            <a:picLocks noChangeAspect="1"/>
          </p:cNvPicPr>
          <p:nvPr/>
        </p:nvPicPr>
        <p:blipFill>
          <a:blip r:embed="rId5"/>
          <a:stretch>
            <a:fillRect/>
          </a:stretch>
        </p:blipFill>
        <p:spPr>
          <a:xfrm>
            <a:off x="5499201" y="3429346"/>
            <a:ext cx="1598371" cy="1142306"/>
          </a:xfrm>
          <a:prstGeom prst="rect">
            <a:avLst/>
          </a:prstGeom>
        </p:spPr>
      </p:pic>
      <p:sp>
        <p:nvSpPr>
          <p:cNvPr id="19" name="S9_text_TST_STAN_5"/>
          <p:cNvSpPr txBox="1"/>
          <p:nvPr/>
        </p:nvSpPr>
        <p:spPr>
          <a:xfrm>
            <a:off x="5499201" y="4745736"/>
            <a:ext cx="1598371" cy="201168"/>
          </a:xfrm>
          <a:prstGeom prst="rect">
            <a:avLst/>
          </a:prstGeom>
          <a:noFill/>
        </p:spPr>
        <p:txBody>
          <a:bodyPr wrap="square" lIns="27432" tIns="0" rIns="27432" bIns="0" anchor="t">
            <a:spAutoFit/>
          </a:bodyPr>
          <a:lstStyle/>
          <a:p>
            <a:pPr algn="ctr"/>
            <a:r>
              <a:rPr sz="1100" b="0" i="1">
                <a:solidFill>
                  <a:srgbClr val="6B6965"/>
                </a:solidFill>
                <a:latin typeface="Calibri"/>
              </a:rPr>
              <a:t>TST-STAN-5</a:t>
            </a:r>
          </a:p>
        </p:txBody>
      </p:sp>
      <p:pic>
        <p:nvPicPr>
          <p:cNvPr id="20" name="S9_picture_5" descr="model_T9.png"/>
          <p:cNvPicPr>
            <a:picLocks noChangeAspect="1"/>
          </p:cNvPicPr>
          <p:nvPr/>
        </p:nvPicPr>
        <p:blipFill>
          <a:blip r:embed="rId6"/>
          <a:stretch>
            <a:fillRect/>
          </a:stretch>
        </p:blipFill>
        <p:spPr>
          <a:xfrm>
            <a:off x="7225588" y="3429346"/>
            <a:ext cx="1598371" cy="1142306"/>
          </a:xfrm>
          <a:prstGeom prst="rect">
            <a:avLst/>
          </a:prstGeom>
        </p:spPr>
      </p:pic>
      <p:sp>
        <p:nvSpPr>
          <p:cNvPr id="21" name="S9_text_TST_STAN_9"/>
          <p:cNvSpPr txBox="1"/>
          <p:nvPr/>
        </p:nvSpPr>
        <p:spPr>
          <a:xfrm>
            <a:off x="7225588" y="4745736"/>
            <a:ext cx="1598371" cy="201168"/>
          </a:xfrm>
          <a:prstGeom prst="rect">
            <a:avLst/>
          </a:prstGeom>
          <a:noFill/>
        </p:spPr>
        <p:txBody>
          <a:bodyPr wrap="square" lIns="27432" tIns="0" rIns="27432" bIns="0" anchor="t">
            <a:spAutoFit/>
          </a:bodyPr>
          <a:lstStyle/>
          <a:p>
            <a:pPr algn="ctr"/>
            <a:r>
              <a:rPr sz="1100" b="0" i="1">
                <a:solidFill>
                  <a:srgbClr val="6B6965"/>
                </a:solidFill>
                <a:latin typeface="Calibri"/>
              </a:rPr>
              <a:t>TST-STAN-9</a:t>
            </a:r>
          </a:p>
        </p:txBody>
      </p:sp>
      <p:sp>
        <p:nvSpPr>
          <p:cNvPr id="22" name="S9_shape"/>
          <p:cNvSpPr/>
          <p:nvPr/>
        </p:nvSpPr>
        <p:spPr>
          <a:xfrm>
            <a:off x="320040" y="4956048"/>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9_text_Two_regurgitant_1"/>
          <p:cNvSpPr txBox="1"/>
          <p:nvPr/>
        </p:nvSpPr>
        <p:spPr>
          <a:xfrm>
            <a:off x="429768" y="4956048"/>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Two regurgitant (1, 5) and three non-regurgitant (2, 3, 9): the split that determines inflow assignment.</a:t>
            </a:r>
          </a:p>
        </p:txBody>
      </p:sp>
      <p:graphicFrame>
        <p:nvGraphicFramePr>
          <p:cNvPr id="24" name="S1_cohort_table"/>
          <p:cNvGraphicFramePr>
            <a:graphicFrameLocks noGrp="1"/>
          </p:cNvGraphicFramePr>
          <p:nvPr/>
        </p:nvGraphicFramePr>
        <p:xfrm>
          <a:off x="320040" y="1444752"/>
          <a:ext cx="8503919" cy="1664203"/>
        </p:xfrm>
        <a:graphic>
          <a:graphicData uri="http://schemas.openxmlformats.org/drawingml/2006/table">
            <a:tbl>
              <a:tblPr firstRow="1" bandRow="0">
                <a:tableStyleId>{5C22544A-7EE6-4342-B048-85BDC9FD1C3A}</a:tableStyleId>
              </a:tblPr>
              <a:tblGrid>
                <a:gridCol w="1143000"/>
                <a:gridCol w="868680"/>
                <a:gridCol w="1188720"/>
                <a:gridCol w="1097280"/>
                <a:gridCol w="3337559"/>
                <a:gridCol w="868680"/>
              </a:tblGrid>
              <a:tr h="292608">
                <a:tc>
                  <a:txBody>
                    <a:bodyPr wrap="square"/>
                    <a:lstStyle/>
                    <a:p>
                      <a:r>
                        <a:rPr sz="1200" b="1">
                          <a:solidFill>
                            <a:srgbClr val="FFFFFF"/>
                          </a:solidFill>
                          <a:latin typeface="Calibri"/>
                        </a:rPr>
                        <a:t>Patient</a:t>
                      </a:r>
                    </a:p>
                  </a:txBody>
                  <a:tcPr marL="54864" marR="54864" marT="27432" marB="27432" anchor="ctr">
                    <a:solidFill>
                      <a:srgbClr val="8C1515"/>
                    </a:solidFill>
                  </a:tcPr>
                </a:tc>
                <a:tc>
                  <a:txBody>
                    <a:bodyPr wrap="square"/>
                    <a:lstStyle/>
                    <a:p>
                      <a:r>
                        <a:rPr sz="1200" b="1">
                          <a:solidFill>
                            <a:srgbClr val="FFFFFF"/>
                          </a:solidFill>
                          <a:latin typeface="Calibri"/>
                        </a:rPr>
                        <a:t>Age / Sex</a:t>
                      </a:r>
                    </a:p>
                  </a:txBody>
                  <a:tcPr marL="54864" marR="54864" marT="27432" marB="27432" anchor="ctr">
                    <a:solidFill>
                      <a:srgbClr val="8C1515"/>
                    </a:solidFill>
                  </a:tcPr>
                </a:tc>
                <a:tc>
                  <a:txBody>
                    <a:bodyPr wrap="square"/>
                    <a:lstStyle/>
                    <a:p>
                      <a:r>
                        <a:rPr sz="1200" b="1">
                          <a:solidFill>
                            <a:srgbClr val="FFFFFF"/>
                          </a:solidFill>
                          <a:latin typeface="Calibri"/>
                        </a:rPr>
                        <a:t>Weight · BSA</a:t>
                      </a:r>
                    </a:p>
                  </a:txBody>
                  <a:tcPr marL="54864" marR="54864" marT="27432" marB="27432" anchor="ctr">
                    <a:solidFill>
                      <a:srgbClr val="8C1515"/>
                    </a:solidFill>
                  </a:tcPr>
                </a:tc>
                <a:tc>
                  <a:txBody>
                    <a:bodyPr wrap="square"/>
                    <a:lstStyle/>
                    <a:p>
                      <a:r>
                        <a:rPr sz="1200" b="1">
                          <a:solidFill>
                            <a:srgbClr val="FFFFFF"/>
                          </a:solidFill>
                          <a:latin typeface="Calibri"/>
                        </a:rPr>
                        <a:t>Lesion</a:t>
                      </a:r>
                    </a:p>
                  </a:txBody>
                  <a:tcPr marL="54864" marR="54864" marT="27432" marB="27432" anchor="ctr">
                    <a:solidFill>
                      <a:srgbClr val="8C1515"/>
                    </a:solidFill>
                  </a:tcPr>
                </a:tc>
                <a:tc>
                  <a:txBody>
                    <a:bodyPr wrap="square"/>
                    <a:lstStyle/>
                    <a:p>
                      <a:r>
                        <a:rPr sz="1200" b="1">
                          <a:solidFill>
                            <a:srgbClr val="FFFFFF"/>
                          </a:solidFill>
                          <a:latin typeface="Calibri"/>
                        </a:rPr>
                        <a:t>Intervention (from cath report)</a:t>
                      </a:r>
                    </a:p>
                  </a:txBody>
                  <a:tcPr marL="54864" marR="54864" marT="27432" marB="27432" anchor="ctr">
                    <a:solidFill>
                      <a:srgbClr val="8C1515"/>
                    </a:solidFill>
                  </a:tcPr>
                </a:tc>
                <a:tc>
                  <a:txBody>
                    <a:bodyPr wrap="square"/>
                    <a:lstStyle/>
                    <a:p>
                      <a:r>
                        <a:rPr sz="1200" b="1">
                          <a:solidFill>
                            <a:srgbClr val="FFFFFF"/>
                          </a:solidFill>
                          <a:latin typeface="Calibri"/>
                        </a:rPr>
                        <a:t>PV regurg.</a:t>
                      </a:r>
                    </a:p>
                  </a:txBody>
                  <a:tcPr marL="54864" marR="54864" marT="27432" marB="27432" anchor="ctr">
                    <a:solidFill>
                      <a:srgbClr val="8C1515"/>
                    </a:solidFill>
                  </a:tcPr>
                </a:tc>
              </a:tr>
              <a:tr h="274319">
                <a:tc>
                  <a:txBody>
                    <a:bodyPr wrap="square"/>
                    <a:lstStyle/>
                    <a:p>
                      <a:r>
                        <a:rPr sz="1200" b="1">
                          <a:solidFill>
                            <a:srgbClr val="2E2D29"/>
                          </a:solidFill>
                          <a:latin typeface="Calibri"/>
                        </a:rPr>
                        <a:t>TST-STAN-1</a:t>
                      </a:r>
                    </a:p>
                  </a:txBody>
                  <a:tcPr marL="54864" marR="54864" marT="27432" marB="27432" anchor="ctr">
                    <a:solidFill>
                      <a:srgbClr val="FFFFFF"/>
                    </a:solidFill>
                  </a:tcPr>
                </a:tc>
                <a:tc>
                  <a:txBody>
                    <a:bodyPr wrap="square"/>
                    <a:lstStyle/>
                    <a:p>
                      <a:r>
                        <a:rPr sz="1200" b="0">
                          <a:solidFill>
                            <a:srgbClr val="6B6965"/>
                          </a:solidFill>
                          <a:latin typeface="Calibri"/>
                        </a:rPr>
                        <a:t>2 yr · M</a:t>
                      </a:r>
                    </a:p>
                  </a:txBody>
                  <a:tcPr marL="54864" marR="54864" marT="27432" marB="27432" anchor="ctr">
                    <a:solidFill>
                      <a:srgbClr val="FFFFFF"/>
                    </a:solidFill>
                  </a:tcPr>
                </a:tc>
                <a:tc>
                  <a:txBody>
                    <a:bodyPr wrap="square"/>
                    <a:lstStyle/>
                    <a:p>
                      <a:r>
                        <a:rPr sz="1200" b="0">
                          <a:solidFill>
                            <a:srgbClr val="6B6965"/>
                          </a:solidFill>
                          <a:latin typeface="Calibri"/>
                        </a:rPr>
                        <a:t>8.9 kg · 0.39 m²</a:t>
                      </a:r>
                    </a:p>
                  </a:txBody>
                  <a:tcPr marL="54864" marR="54864" marT="27432" marB="27432" anchor="ctr">
                    <a:solidFill>
                      <a:srgbClr val="FFFFFF"/>
                    </a:solidFill>
                  </a:tcPr>
                </a:tc>
                <a:tc>
                  <a:txBody>
                    <a:bodyPr wrap="square"/>
                    <a:lstStyle/>
                    <a:p>
                      <a:r>
                        <a:rPr sz="1200" b="0">
                          <a:solidFill>
                            <a:srgbClr val="6B6965"/>
                          </a:solidFill>
                          <a:latin typeface="Calibri"/>
                        </a:rPr>
                        <a:t>LPA stenosis</a:t>
                      </a:r>
                    </a:p>
                  </a:txBody>
                  <a:tcPr marL="54864" marR="54864" marT="27432" marB="27432" anchor="ctr">
                    <a:solidFill>
                      <a:srgbClr val="FFFFFF"/>
                    </a:solidFill>
                  </a:tcPr>
                </a:tc>
                <a:tc>
                  <a:txBody>
                    <a:bodyPr wrap="square"/>
                    <a:lstStyle/>
                    <a:p>
                      <a:r>
                        <a:rPr sz="1200" b="0">
                          <a:solidFill>
                            <a:srgbClr val="6B6965"/>
                          </a:solidFill>
                          <a:latin typeface="Calibri"/>
                        </a:rPr>
                        <a:t>Formula 8 × 16 mm stent, LPA</a:t>
                      </a:r>
                    </a:p>
                  </a:txBody>
                  <a:tcPr marL="54864" marR="54864" marT="27432" marB="27432" anchor="ctr">
                    <a:solidFill>
                      <a:srgbClr val="FFFFFF"/>
                    </a:solidFill>
                  </a:tcPr>
                </a:tc>
                <a:tc>
                  <a:txBody>
                    <a:bodyPr wrap="square"/>
                    <a:lstStyle/>
                    <a:p>
                      <a:r>
                        <a:rPr sz="1200" b="0">
                          <a:solidFill>
                            <a:srgbClr val="6B6965"/>
                          </a:solidFill>
                          <a:latin typeface="Calibri"/>
                        </a:rPr>
                        <a:t>Yes</a:t>
                      </a:r>
                    </a:p>
                  </a:txBody>
                  <a:tcPr marL="54864" marR="54864" marT="27432" marB="27432" anchor="ctr">
                    <a:solidFill>
                      <a:srgbClr val="FFFFFF"/>
                    </a:solidFill>
                  </a:tcPr>
                </a:tc>
              </a:tr>
              <a:tr h="274319">
                <a:tc>
                  <a:txBody>
                    <a:bodyPr wrap="square"/>
                    <a:lstStyle/>
                    <a:p>
                      <a:r>
                        <a:rPr sz="1200" b="1">
                          <a:solidFill>
                            <a:srgbClr val="2E2D29"/>
                          </a:solidFill>
                          <a:latin typeface="Calibri"/>
                        </a:rPr>
                        <a:t>TST-STAN-2</a:t>
                      </a:r>
                    </a:p>
                  </a:txBody>
                  <a:tcPr marL="54864" marR="54864" marT="27432" marB="27432" anchor="ctr">
                    <a:solidFill>
                      <a:srgbClr val="F2F1F0"/>
                    </a:solidFill>
                  </a:tcPr>
                </a:tc>
                <a:tc>
                  <a:txBody>
                    <a:bodyPr wrap="square"/>
                    <a:lstStyle/>
                    <a:p>
                      <a:r>
                        <a:rPr sz="1200" b="0">
                          <a:solidFill>
                            <a:srgbClr val="6B6965"/>
                          </a:solidFill>
                          <a:latin typeface="Calibri"/>
                        </a:rPr>
                        <a:t>1 yr · M</a:t>
                      </a:r>
                    </a:p>
                  </a:txBody>
                  <a:tcPr marL="54864" marR="54864" marT="27432" marB="27432" anchor="ctr">
                    <a:solidFill>
                      <a:srgbClr val="F2F1F0"/>
                    </a:solidFill>
                  </a:tcPr>
                </a:tc>
                <a:tc>
                  <a:txBody>
                    <a:bodyPr wrap="square"/>
                    <a:lstStyle/>
                    <a:p>
                      <a:r>
                        <a:rPr sz="1200" b="0">
                          <a:solidFill>
                            <a:srgbClr val="6B6965"/>
                          </a:solidFill>
                          <a:latin typeface="Calibri"/>
                        </a:rPr>
                        <a:t>8.4 kg · n/a</a:t>
                      </a:r>
                    </a:p>
                  </a:txBody>
                  <a:tcPr marL="54864" marR="54864" marT="27432" marB="27432" anchor="ctr">
                    <a:solidFill>
                      <a:srgbClr val="F2F1F0"/>
                    </a:solidFill>
                  </a:tcPr>
                </a:tc>
                <a:tc>
                  <a:txBody>
                    <a:bodyPr wrap="square"/>
                    <a:lstStyle/>
                    <a:p>
                      <a:r>
                        <a:rPr sz="1200" b="0">
                          <a:solidFill>
                            <a:srgbClr val="6B6965"/>
                          </a:solidFill>
                          <a:latin typeface="Calibri"/>
                        </a:rPr>
                        <a:t>RPA stenosis</a:t>
                      </a:r>
                    </a:p>
                  </a:txBody>
                  <a:tcPr marL="54864" marR="54864" marT="27432" marB="27432" anchor="ctr">
                    <a:solidFill>
                      <a:srgbClr val="F2F1F0"/>
                    </a:solidFill>
                  </a:tcPr>
                </a:tc>
                <a:tc>
                  <a:txBody>
                    <a:bodyPr wrap="square"/>
                    <a:lstStyle/>
                    <a:p>
                      <a:r>
                        <a:rPr sz="1200" b="0">
                          <a:solidFill>
                            <a:srgbClr val="6B6965"/>
                          </a:solidFill>
                          <a:latin typeface="Calibri"/>
                        </a:rPr>
                        <a:t>Visi-Pro 10 × 17 mm stent, RPA</a:t>
                      </a:r>
                    </a:p>
                  </a:txBody>
                  <a:tcPr marL="54864" marR="54864" marT="27432" marB="27432" anchor="ctr">
                    <a:solidFill>
                      <a:srgbClr val="F2F1F0"/>
                    </a:solidFill>
                  </a:tcPr>
                </a:tc>
                <a:tc>
                  <a:txBody>
                    <a:bodyPr wrap="square"/>
                    <a:lstStyle/>
                    <a:p>
                      <a:r>
                        <a:rPr sz="1200" b="0">
                          <a:solidFill>
                            <a:srgbClr val="6B6965"/>
                          </a:solidFill>
                          <a:latin typeface="Calibri"/>
                        </a:rPr>
                        <a:t>No</a:t>
                      </a:r>
                    </a:p>
                  </a:txBody>
                  <a:tcPr marL="54864" marR="54864" marT="27432" marB="27432" anchor="ctr">
                    <a:solidFill>
                      <a:srgbClr val="F2F1F0"/>
                    </a:solidFill>
                  </a:tcPr>
                </a:tc>
              </a:tr>
              <a:tr h="274319">
                <a:tc>
                  <a:txBody>
                    <a:bodyPr wrap="square"/>
                    <a:lstStyle/>
                    <a:p>
                      <a:r>
                        <a:rPr sz="1200" b="1">
                          <a:solidFill>
                            <a:srgbClr val="2E2D29"/>
                          </a:solidFill>
                          <a:latin typeface="Calibri"/>
                        </a:rPr>
                        <a:t>TST-STAN-3</a:t>
                      </a:r>
                    </a:p>
                  </a:txBody>
                  <a:tcPr marL="54864" marR="54864" marT="27432" marB="27432" anchor="ctr">
                    <a:solidFill>
                      <a:srgbClr val="FFFFFF"/>
                    </a:solidFill>
                  </a:tcPr>
                </a:tc>
                <a:tc>
                  <a:txBody>
                    <a:bodyPr wrap="square"/>
                    <a:lstStyle/>
                    <a:p>
                      <a:r>
                        <a:rPr sz="1200" b="0">
                          <a:solidFill>
                            <a:srgbClr val="6B6965"/>
                          </a:solidFill>
                          <a:latin typeface="Calibri"/>
                        </a:rPr>
                        <a:t>21 yr · F</a:t>
                      </a:r>
                    </a:p>
                  </a:txBody>
                  <a:tcPr marL="54864" marR="54864" marT="27432" marB="27432" anchor="ctr">
                    <a:solidFill>
                      <a:srgbClr val="FFFFFF"/>
                    </a:solidFill>
                  </a:tcPr>
                </a:tc>
                <a:tc>
                  <a:txBody>
                    <a:bodyPr wrap="square"/>
                    <a:lstStyle/>
                    <a:p>
                      <a:r>
                        <a:rPr sz="1200" b="0">
                          <a:solidFill>
                            <a:srgbClr val="6B6965"/>
                          </a:solidFill>
                          <a:latin typeface="Calibri"/>
                        </a:rPr>
                        <a:t>62.2 kg · 1.56 m²</a:t>
                      </a:r>
                    </a:p>
                  </a:txBody>
                  <a:tcPr marL="54864" marR="54864" marT="27432" marB="27432" anchor="ctr">
                    <a:solidFill>
                      <a:srgbClr val="FFFFFF"/>
                    </a:solidFill>
                  </a:tcPr>
                </a:tc>
                <a:tc>
                  <a:txBody>
                    <a:bodyPr wrap="square"/>
                    <a:lstStyle/>
                    <a:p>
                      <a:r>
                        <a:rPr sz="1200" b="0">
                          <a:solidFill>
                            <a:srgbClr val="6B6965"/>
                          </a:solidFill>
                          <a:latin typeface="Calibri"/>
                        </a:rPr>
                        <a:t>RPA stenosis</a:t>
                      </a:r>
                    </a:p>
                  </a:txBody>
                  <a:tcPr marL="54864" marR="54864" marT="27432" marB="27432" anchor="ctr">
                    <a:solidFill>
                      <a:srgbClr val="FFFFFF"/>
                    </a:solidFill>
                  </a:tcPr>
                </a:tc>
                <a:tc>
                  <a:txBody>
                    <a:bodyPr wrap="square"/>
                    <a:lstStyle/>
                    <a:p>
                      <a:r>
                        <a:rPr sz="1200" b="0">
                          <a:solidFill>
                            <a:srgbClr val="6B6965"/>
                          </a:solidFill>
                          <a:latin typeface="Calibri"/>
                        </a:rPr>
                        <a:t>Visi-Pro 10 × 27 mm stent, RPA</a:t>
                      </a:r>
                    </a:p>
                  </a:txBody>
                  <a:tcPr marL="54864" marR="54864" marT="27432" marB="27432" anchor="ctr">
                    <a:solidFill>
                      <a:srgbClr val="FFFFFF"/>
                    </a:solidFill>
                  </a:tcPr>
                </a:tc>
                <a:tc>
                  <a:txBody>
                    <a:bodyPr wrap="square"/>
                    <a:lstStyle/>
                    <a:p>
                      <a:r>
                        <a:rPr sz="1200" b="0">
                          <a:solidFill>
                            <a:srgbClr val="6B6965"/>
                          </a:solidFill>
                          <a:latin typeface="Calibri"/>
                        </a:rPr>
                        <a:t>No</a:t>
                      </a:r>
                    </a:p>
                  </a:txBody>
                  <a:tcPr marL="54864" marR="54864" marT="27432" marB="27432" anchor="ctr">
                    <a:solidFill>
                      <a:srgbClr val="FFFFFF"/>
                    </a:solidFill>
                  </a:tcPr>
                </a:tc>
              </a:tr>
              <a:tr h="274319">
                <a:tc>
                  <a:txBody>
                    <a:bodyPr wrap="square"/>
                    <a:lstStyle/>
                    <a:p>
                      <a:r>
                        <a:rPr sz="1200" b="1">
                          <a:solidFill>
                            <a:srgbClr val="2E2D29"/>
                          </a:solidFill>
                          <a:latin typeface="Calibri"/>
                        </a:rPr>
                        <a:t>TST-STAN-5</a:t>
                      </a:r>
                    </a:p>
                  </a:txBody>
                  <a:tcPr marL="54864" marR="54864" marT="27432" marB="27432" anchor="ctr">
                    <a:solidFill>
                      <a:srgbClr val="F2F1F0"/>
                    </a:solidFill>
                  </a:tcPr>
                </a:tc>
                <a:tc>
                  <a:txBody>
                    <a:bodyPr wrap="square"/>
                    <a:lstStyle/>
                    <a:p>
                      <a:r>
                        <a:rPr sz="1200" b="0">
                          <a:solidFill>
                            <a:srgbClr val="6B6965"/>
                          </a:solidFill>
                          <a:latin typeface="Calibri"/>
                        </a:rPr>
                        <a:t>4 yr · M</a:t>
                      </a:r>
                    </a:p>
                  </a:txBody>
                  <a:tcPr marL="54864" marR="54864" marT="27432" marB="27432" anchor="ctr">
                    <a:solidFill>
                      <a:srgbClr val="F2F1F0"/>
                    </a:solidFill>
                  </a:tcPr>
                </a:tc>
                <a:tc>
                  <a:txBody>
                    <a:bodyPr wrap="square"/>
                    <a:lstStyle/>
                    <a:p>
                      <a:r>
                        <a:rPr sz="1200" b="0">
                          <a:solidFill>
                            <a:srgbClr val="6B6965"/>
                          </a:solidFill>
                          <a:latin typeface="Calibri"/>
                        </a:rPr>
                        <a:t>14.3 kg · 0.62 m²</a:t>
                      </a:r>
                    </a:p>
                  </a:txBody>
                  <a:tcPr marL="54864" marR="54864" marT="27432" marB="27432" anchor="ctr">
                    <a:solidFill>
                      <a:srgbClr val="F2F1F0"/>
                    </a:solidFill>
                  </a:tcPr>
                </a:tc>
                <a:tc>
                  <a:txBody>
                    <a:bodyPr wrap="square"/>
                    <a:lstStyle/>
                    <a:p>
                      <a:r>
                        <a:rPr sz="1200" b="0">
                          <a:solidFill>
                            <a:srgbClr val="6B6965"/>
                          </a:solidFill>
                          <a:latin typeface="Calibri"/>
                        </a:rPr>
                        <a:t>LPA stenosis</a:t>
                      </a:r>
                    </a:p>
                  </a:txBody>
                  <a:tcPr marL="54864" marR="54864" marT="27432" marB="27432" anchor="ctr">
                    <a:solidFill>
                      <a:srgbClr val="F2F1F0"/>
                    </a:solidFill>
                  </a:tcPr>
                </a:tc>
                <a:tc>
                  <a:txBody>
                    <a:bodyPr wrap="square"/>
                    <a:lstStyle/>
                    <a:p>
                      <a:r>
                        <a:rPr sz="1200" b="0">
                          <a:solidFill>
                            <a:srgbClr val="6B6965"/>
                          </a:solidFill>
                          <a:latin typeface="Calibri"/>
                        </a:rPr>
                        <a:t>Visi-Pro 10 × 17 mm stent, post-dilated 9 mm</a:t>
                      </a:r>
                    </a:p>
                  </a:txBody>
                  <a:tcPr marL="54864" marR="54864" marT="27432" marB="27432" anchor="ctr">
                    <a:solidFill>
                      <a:srgbClr val="F2F1F0"/>
                    </a:solidFill>
                  </a:tcPr>
                </a:tc>
                <a:tc>
                  <a:txBody>
                    <a:bodyPr wrap="square"/>
                    <a:lstStyle/>
                    <a:p>
                      <a:r>
                        <a:rPr sz="1200" b="0">
                          <a:solidFill>
                            <a:srgbClr val="6B6965"/>
                          </a:solidFill>
                          <a:latin typeface="Calibri"/>
                        </a:rPr>
                        <a:t>Yes</a:t>
                      </a:r>
                    </a:p>
                  </a:txBody>
                  <a:tcPr marL="54864" marR="54864" marT="27432" marB="27432" anchor="ctr">
                    <a:solidFill>
                      <a:srgbClr val="F2F1F0"/>
                    </a:solidFill>
                  </a:tcPr>
                </a:tc>
              </a:tr>
              <a:tr h="274319">
                <a:tc>
                  <a:txBody>
                    <a:bodyPr wrap="square"/>
                    <a:lstStyle/>
                    <a:p>
                      <a:r>
                        <a:rPr sz="1200" b="1">
                          <a:solidFill>
                            <a:srgbClr val="2E2D29"/>
                          </a:solidFill>
                          <a:latin typeface="Calibri"/>
                        </a:rPr>
                        <a:t>TST-STAN-9</a:t>
                      </a:r>
                    </a:p>
                  </a:txBody>
                  <a:tcPr marL="54864" marR="54864" marT="27432" marB="27432" anchor="ctr">
                    <a:solidFill>
                      <a:srgbClr val="FFFFFF"/>
                    </a:solidFill>
                  </a:tcPr>
                </a:tc>
                <a:tc>
                  <a:txBody>
                    <a:bodyPr wrap="square"/>
                    <a:lstStyle/>
                    <a:p>
                      <a:r>
                        <a:rPr sz="1200" b="0">
                          <a:solidFill>
                            <a:srgbClr val="6B6965"/>
                          </a:solidFill>
                          <a:latin typeface="Calibri"/>
                        </a:rPr>
                        <a:t>2 yr · M</a:t>
                      </a:r>
                    </a:p>
                  </a:txBody>
                  <a:tcPr marL="54864" marR="54864" marT="27432" marB="27432" anchor="ctr">
                    <a:solidFill>
                      <a:srgbClr val="FFFFFF"/>
                    </a:solidFill>
                  </a:tcPr>
                </a:tc>
                <a:tc>
                  <a:txBody>
                    <a:bodyPr wrap="square"/>
                    <a:lstStyle/>
                    <a:p>
                      <a:r>
                        <a:rPr sz="1200" b="0">
                          <a:solidFill>
                            <a:srgbClr val="6B6965"/>
                          </a:solidFill>
                          <a:latin typeface="Calibri"/>
                        </a:rPr>
                        <a:t>14 kg · 0.57 m²</a:t>
                      </a:r>
                    </a:p>
                  </a:txBody>
                  <a:tcPr marL="54864" marR="54864" marT="27432" marB="27432" anchor="ctr">
                    <a:solidFill>
                      <a:srgbClr val="FFFFFF"/>
                    </a:solidFill>
                  </a:tcPr>
                </a:tc>
                <a:tc>
                  <a:txBody>
                    <a:bodyPr wrap="square"/>
                    <a:lstStyle/>
                    <a:p>
                      <a:r>
                        <a:rPr sz="1200" b="0">
                          <a:solidFill>
                            <a:srgbClr val="6B6965"/>
                          </a:solidFill>
                          <a:latin typeface="Calibri"/>
                        </a:rPr>
                        <a:t>Bilateral branch</a:t>
                      </a:r>
                    </a:p>
                  </a:txBody>
                  <a:tcPr marL="54864" marR="54864" marT="27432" marB="27432" anchor="ctr">
                    <a:solidFill>
                      <a:srgbClr val="FFFFFF"/>
                    </a:solidFill>
                  </a:tcPr>
                </a:tc>
                <a:tc>
                  <a:txBody>
                    <a:bodyPr wrap="square"/>
                    <a:lstStyle/>
                    <a:p>
                      <a:r>
                        <a:rPr sz="1200" b="0">
                          <a:solidFill>
                            <a:srgbClr val="6B6965"/>
                          </a:solidFill>
                          <a:latin typeface="Calibri"/>
                        </a:rPr>
                        <a:t>RPA 7 × 20 mm balloon; LPA 5 × 15 mm Herculink stent</a:t>
                      </a:r>
                    </a:p>
                  </a:txBody>
                  <a:tcPr marL="54864" marR="54864" marT="27432" marB="27432" anchor="ctr">
                    <a:solidFill>
                      <a:srgbClr val="FFFFFF"/>
                    </a:solidFill>
                  </a:tcPr>
                </a:tc>
                <a:tc>
                  <a:txBody>
                    <a:bodyPr wrap="square"/>
                    <a:lstStyle/>
                    <a:p>
                      <a:r>
                        <a:rPr sz="1200" b="0">
                          <a:solidFill>
                            <a:srgbClr val="6B6965"/>
                          </a:solidFill>
                          <a:latin typeface="Calibri"/>
                        </a:rPr>
                        <a:t>No</a:t>
                      </a:r>
                    </a:p>
                  </a:txBody>
                  <a:tcPr marL="54864" marR="54864" marT="27432" marB="27432"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Did scaling only the 3D mesh bias TST-STAN-1 and -9?</a:t>
            </a:r>
          </a:p>
        </p:txBody>
      </p:sp>
      <p:sp>
        <p:nvSpPr>
          <p:cNvPr id="4" name="Ribbon_seg1"/>
          <p:cNvSpPr/>
          <p:nvPr/>
        </p:nvSpPr>
        <p:spPr>
          <a:xfrm>
            <a:off x="320040"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VALIDATED</a:t>
            </a:r>
          </a:p>
        </p:txBody>
      </p:sp>
      <p:sp>
        <p:nvSpPr>
          <p:cNvPr id="12" name="S1_question_label_before"/>
          <p:cNvSpPr txBox="1"/>
          <p:nvPr/>
        </p:nvSpPr>
        <p:spPr>
          <a:xfrm>
            <a:off x="320040" y="1554480"/>
            <a:ext cx="1188720" cy="731520"/>
          </a:xfrm>
          <a:prstGeom prst="rect">
            <a:avLst/>
          </a:prstGeom>
          <a:noFill/>
        </p:spPr>
        <p:txBody>
          <a:bodyPr wrap="square" lIns="73152" rIns="73152" anchor="ctr">
            <a:noAutofit/>
          </a:bodyPr>
          <a:lstStyle/>
          <a:p>
            <a:pPr algn="l"/>
            <a:r>
              <a:rPr sz="1400" b="1" i="0">
                <a:solidFill>
                  <a:srgbClr val="2E2D29"/>
                </a:solidFill>
                <a:latin typeface="Calibri"/>
              </a:rPr>
              <a:t>Before
14 Oct</a:t>
            </a:r>
          </a:p>
        </p:txBody>
      </p:sp>
      <p:sp>
        <p:nvSpPr>
          <p:cNvPr id="13" name="S1_question_label_since"/>
          <p:cNvSpPr txBox="1"/>
          <p:nvPr/>
        </p:nvSpPr>
        <p:spPr>
          <a:xfrm>
            <a:off x="320040" y="2697480"/>
            <a:ext cx="1188720" cy="731520"/>
          </a:xfrm>
          <a:prstGeom prst="rect">
            <a:avLst/>
          </a:prstGeom>
          <a:noFill/>
        </p:spPr>
        <p:txBody>
          <a:bodyPr wrap="square" lIns="73152" rIns="73152" anchor="ctr">
            <a:noAutofit/>
          </a:bodyPr>
          <a:lstStyle/>
          <a:p>
            <a:pPr algn="l"/>
            <a:r>
              <a:rPr sz="1400" b="1" i="0">
                <a:solidFill>
                  <a:srgbClr val="2E2D29"/>
                </a:solidFill>
                <a:latin typeface="Calibri"/>
              </a:rPr>
              <a:t>Since
14 Oct</a:t>
            </a:r>
          </a:p>
        </p:txBody>
      </p:sp>
      <p:sp>
        <p:nvSpPr>
          <p:cNvPr id="14" name="S1_question_before_3d_box"/>
          <p:cNvSpPr/>
          <p:nvPr/>
        </p:nvSpPr>
        <p:spPr>
          <a:xfrm>
            <a:off x="1554480" y="1554480"/>
            <a:ext cx="1234440" cy="73152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3D mesh</a:t>
            </a:r>
          </a:p>
          <a:p>
            <a:pPr algn="ctr"/>
            <a:r>
              <a:rPr sz="1100" b="0" i="0">
                <a:solidFill>
                  <a:srgbClr val="FFFFFF"/>
                </a:solidFill>
                <a:latin typeface="Calibri"/>
              </a:rPr>
              <a:t>scaled by s</a:t>
            </a:r>
          </a:p>
        </p:txBody>
      </p:sp>
      <p:sp>
        <p:nvSpPr>
          <p:cNvPr id="15" name="S1_question_before_centerline_box"/>
          <p:cNvSpPr/>
          <p:nvPr/>
        </p:nvSpPr>
        <p:spPr>
          <a:xfrm>
            <a:off x="2971800" y="1554480"/>
            <a:ext cx="1234440" cy="7315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6B6965"/>
                </a:solidFill>
                <a:latin typeface="Calibri"/>
              </a:rPr>
              <a:t>Centerline</a:t>
            </a:r>
          </a:p>
          <a:p>
            <a:pPr algn="ctr"/>
            <a:r>
              <a:rPr sz="1100" b="0" i="0">
                <a:solidFill>
                  <a:srgbClr val="6B6965"/>
                </a:solidFill>
                <a:latin typeface="Calibri"/>
              </a:rPr>
              <a:t>unscaled</a:t>
            </a:r>
          </a:p>
        </p:txBody>
      </p:sp>
      <p:cxnSp>
        <p:nvCxnSpPr>
          <p:cNvPr id="16" name="S1_question_before_arrow_1"/>
          <p:cNvCxnSpPr>
            <a:stCxn id="14" idx="3"/>
            <a:endCxn id="15" idx="1"/>
          </p:cNvCxnSpPr>
          <p:nvPr/>
        </p:nvCxnSpPr>
        <p:spPr>
          <a:xfrm flipV="1">
            <a:off x="2788920" y="1920240"/>
            <a:ext cx="18288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1_question_before_0d_box"/>
          <p:cNvSpPr/>
          <p:nvPr/>
        </p:nvSpPr>
        <p:spPr>
          <a:xfrm>
            <a:off x="4389120" y="1554480"/>
            <a:ext cx="1234440" cy="7315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6B6965"/>
                </a:solidFill>
                <a:latin typeface="Calibri"/>
              </a:rPr>
              <a:t>0D seed</a:t>
            </a:r>
          </a:p>
          <a:p>
            <a:pPr algn="ctr"/>
            <a:r>
              <a:rPr sz="1100" b="0" i="0">
                <a:solidFill>
                  <a:srgbClr val="6B6965"/>
                </a:solidFill>
                <a:latin typeface="Calibri"/>
              </a:rPr>
              <a:t>unscaled</a:t>
            </a:r>
          </a:p>
        </p:txBody>
      </p:sp>
      <p:cxnSp>
        <p:nvCxnSpPr>
          <p:cNvPr id="18" name="S1_question_before_arrow_2"/>
          <p:cNvCxnSpPr>
            <a:stCxn id="15" idx="3"/>
            <a:endCxn id="17" idx="1"/>
          </p:cNvCxnSpPr>
          <p:nvPr/>
        </p:nvCxnSpPr>
        <p:spPr>
          <a:xfrm flipV="1">
            <a:off x="4206240" y="1920240"/>
            <a:ext cx="18288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1_question_since_3d_box"/>
          <p:cNvSpPr/>
          <p:nvPr/>
        </p:nvSpPr>
        <p:spPr>
          <a:xfrm>
            <a:off x="1554480" y="2697480"/>
            <a:ext cx="1234440" cy="73152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3D mesh</a:t>
            </a:r>
          </a:p>
          <a:p>
            <a:pPr algn="ctr"/>
            <a:r>
              <a:rPr sz="1100" b="0" i="0">
                <a:solidFill>
                  <a:srgbClr val="FFFFFF"/>
                </a:solidFill>
                <a:latin typeface="Calibri"/>
              </a:rPr>
              <a:t>scaled by s</a:t>
            </a:r>
          </a:p>
        </p:txBody>
      </p:sp>
      <p:sp>
        <p:nvSpPr>
          <p:cNvPr id="20" name="S1_question_since_centerline_box"/>
          <p:cNvSpPr/>
          <p:nvPr/>
        </p:nvSpPr>
        <p:spPr>
          <a:xfrm>
            <a:off x="2971800" y="2697480"/>
            <a:ext cx="1234440" cy="73152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Centerline</a:t>
            </a:r>
          </a:p>
          <a:p>
            <a:pPr algn="ctr"/>
            <a:r>
              <a:rPr sz="1100" b="0" i="0">
                <a:solidFill>
                  <a:srgbClr val="FFFFFF"/>
                </a:solidFill>
                <a:latin typeface="Calibri"/>
              </a:rPr>
              <a:t>scaled by s</a:t>
            </a:r>
          </a:p>
        </p:txBody>
      </p:sp>
      <p:cxnSp>
        <p:nvCxnSpPr>
          <p:cNvPr id="21" name="S1_question_since_arrow_1"/>
          <p:cNvCxnSpPr>
            <a:stCxn id="19" idx="3"/>
            <a:endCxn id="20" idx="1"/>
          </p:cNvCxnSpPr>
          <p:nvPr/>
        </p:nvCxnSpPr>
        <p:spPr>
          <a:xfrm flipV="1">
            <a:off x="2788920" y="3063240"/>
            <a:ext cx="18288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1_question_since_0d_box"/>
          <p:cNvSpPr/>
          <p:nvPr/>
        </p:nvSpPr>
        <p:spPr>
          <a:xfrm>
            <a:off x="4389120" y="2697480"/>
            <a:ext cx="1234440" cy="73152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0D seed</a:t>
            </a:r>
          </a:p>
          <a:p>
            <a:pPr algn="ctr"/>
            <a:r>
              <a:rPr sz="1100" b="0" i="0">
                <a:solidFill>
                  <a:srgbClr val="FFFFFF"/>
                </a:solidFill>
                <a:latin typeface="Calibri"/>
              </a:rPr>
              <a:t>R s⁻³, L s⁻¹, C s³</a:t>
            </a:r>
          </a:p>
        </p:txBody>
      </p:sp>
      <p:cxnSp>
        <p:nvCxnSpPr>
          <p:cNvPr id="23" name="S1_question_since_arrow_2"/>
          <p:cNvCxnSpPr>
            <a:stCxn id="20" idx="3"/>
            <a:endCxn id="22" idx="1"/>
          </p:cNvCxnSpPr>
          <p:nvPr/>
        </p:nvCxnSpPr>
        <p:spPr>
          <a:xfrm flipV="1">
            <a:off x="4206240" y="3063240"/>
            <a:ext cx="18288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1_question_effect_card"/>
          <p:cNvSpPr/>
          <p:nvPr/>
        </p:nvSpPr>
        <p:spPr>
          <a:xfrm>
            <a:off x="320040" y="3657600"/>
            <a:ext cx="5303520" cy="9144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noAutofit/>
          </a:bodyPr>
          <a:lstStyle/>
          <a:p>
            <a:pPr algn="l"/>
            <a:r>
              <a:rPr sz="1400" b="1" i="0">
                <a:solidFill>
                  <a:srgbClr val="8C1515"/>
                </a:solidFill>
                <a:latin typeface="Calibri"/>
              </a:rPr>
              <a:t>What the mismatch did</a:t>
            </a:r>
          </a:p>
          <a:p>
            <a:pPr algn="l"/>
            <a:r>
              <a:rPr sz="1400" b="0" i="0">
                <a:solidFill>
                  <a:srgbClr val="2E2D29"/>
                </a:solidFill>
                <a:latin typeface="Calibri"/>
              </a:rPr>
              <a:t>The 0D models were smaller than the 3D domain, and svSlicer flows came out too small by a factor s².</a:t>
            </a:r>
          </a:p>
        </p:txBody>
      </p:sp>
      <p:sp>
        <p:nvSpPr>
          <p:cNvPr id="25" name="S1_question_answer_card"/>
          <p:cNvSpPr/>
          <p:nvPr/>
        </p:nvSpPr>
        <p:spPr>
          <a:xfrm>
            <a:off x="5897880" y="1554480"/>
            <a:ext cx="2926080" cy="30175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l"/>
            <a:r>
              <a:rPr sz="1100" b="1" i="0">
                <a:solidFill>
                  <a:srgbClr val="6B6965"/>
                </a:solidFill>
                <a:latin typeface="Calibri"/>
              </a:rPr>
              <a:t>Answer</a:t>
            </a:r>
          </a:p>
          <a:p>
            <a:pPr algn="l"/>
            <a:r>
              <a:rPr sz="2400" b="1" i="0">
                <a:solidFill>
                  <a:srgbClr val="8C1515"/>
                </a:solidFill>
                <a:latin typeface="Calibri"/>
              </a:rPr>
              <a:t>Yes</a:t>
            </a:r>
          </a:p>
          <a:p>
            <a:pPr algn="l">
              <a:spcBef>
                <a:spcPts val="600"/>
              </a:spcBef>
            </a:pPr>
            <a:r>
              <a:rPr sz="1400" b="0" i="0">
                <a:solidFill>
                  <a:srgbClr val="2E2D29"/>
                </a:solidFill>
                <a:latin typeface="Calibri"/>
              </a:rPr>
              <a:t>Runs for these two patients before 14 Oct are biased:</a:t>
            </a:r>
          </a:p>
          <a:p>
            <a:pPr algn="l">
              <a:spcBef>
                <a:spcPts val="600"/>
              </a:spcBef>
            </a:pPr>
            <a:r>
              <a:rPr sz="1400" b="1" i="0">
                <a:solidFill>
                  <a:srgbClr val="2E2D29"/>
                </a:solidFill>
                <a:latin typeface="Calibri"/>
              </a:rPr>
              <a:t>TST-STAN-1   s = 1.147</a:t>
            </a:r>
          </a:p>
          <a:p>
            <a:pPr algn="l"/>
            <a:r>
              <a:rPr sz="1400" b="1" i="0">
                <a:solidFill>
                  <a:srgbClr val="2E2D29"/>
                </a:solidFill>
                <a:latin typeface="Calibri"/>
              </a:rPr>
              <a:t>TST-STAN-9   s = 1.425</a:t>
            </a:r>
          </a:p>
          <a:p>
            <a:pPr algn="l">
              <a:spcBef>
                <a:spcPts val="800"/>
              </a:spcBef>
            </a:pPr>
            <a:r>
              <a:rPr sz="1100" b="0" i="0">
                <a:solidFill>
                  <a:srgbClr val="6B6965"/>
                </a:solidFill>
                <a:latin typeface="Calibri"/>
              </a:rPr>
              <a:t>s: mesh scale factor (true anatomy = mesh × s). R resistance, L inertance, C compliance.</a:t>
            </a:r>
          </a:p>
        </p:txBody>
      </p:sp>
      <p:sp>
        <p:nvSpPr>
          <p:cNvPr id="26" name="S1_question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Since 14 Oct, the mesh, centerline and 0D seed are scaled together, so 0D and 3D describe the same PA.</a:t>
            </a:r>
          </a:p>
        </p:txBody>
      </p:sp>
      <p:sp>
        <p:nvSpPr>
          <p:cNvPr id="27" name="S1_question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svzt-agent docs/PATIENT_DATA_CONTRACT.md (Mesh Scale Factor); svzt-agent 545ac09, a838e57, 505adfd (14 Oct), 96b65c2 (15 Oct).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Imaging and segmentation</a:t>
            </a:r>
          </a:p>
        </p:txBody>
      </p:sp>
      <p:sp>
        <p:nvSpPr>
          <p:cNvPr id="4" name="Ribbon_seg1"/>
          <p:cNvSpPr/>
          <p:nvPr/>
        </p:nvSpPr>
        <p:spPr>
          <a:xfrm>
            <a:off x="320040"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VALIDATED</a:t>
            </a:r>
          </a:p>
        </p:txBody>
      </p:sp>
      <p:sp>
        <p:nvSpPr>
          <p:cNvPr id="12" name="S11_shape"/>
          <p:cNvSpPr/>
          <p:nvPr/>
        </p:nvSpPr>
        <p:spPr>
          <a:xfrm>
            <a:off x="320040" y="1426464"/>
            <a:ext cx="4160520" cy="148132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11_text_Source_imaging"/>
          <p:cNvSpPr txBox="1"/>
          <p:nvPr/>
        </p:nvSpPr>
        <p:spPr>
          <a:xfrm>
            <a:off x="448056" y="1527048"/>
            <a:ext cx="3904487" cy="219456"/>
          </a:xfrm>
          <a:prstGeom prst="rect">
            <a:avLst/>
          </a:prstGeom>
          <a:noFill/>
        </p:spPr>
        <p:txBody>
          <a:bodyPr wrap="square" lIns="27432" tIns="0" rIns="27432" bIns="0" anchor="t">
            <a:spAutoFit/>
          </a:bodyPr>
          <a:lstStyle/>
          <a:p>
            <a:pPr algn="l"/>
            <a:r>
              <a:rPr sz="1400" b="1" i="0">
                <a:solidFill>
                  <a:srgbClr val="8C1515"/>
                </a:solidFill>
                <a:latin typeface="Calibri"/>
              </a:rPr>
              <a:t>Source imaging</a:t>
            </a:r>
          </a:p>
        </p:txBody>
      </p:sp>
      <p:sp>
        <p:nvSpPr>
          <p:cNvPr id="14" name="S11_text_TST_STAN_1"/>
          <p:cNvSpPr txBox="1"/>
          <p:nvPr/>
        </p:nvSpPr>
        <p:spPr>
          <a:xfrm>
            <a:off x="448056" y="1801368"/>
            <a:ext cx="3904487" cy="1069848"/>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TST-STAN-1, -2, -9: pre-operative CT angiography</a:t>
            </a:r>
          </a:p>
          <a:p>
            <a:pPr>
              <a:spcAft>
                <a:spcPts val="350"/>
              </a:spcAft>
            </a:pPr>
            <a:r>
              <a:rPr sz="1100">
                <a:solidFill>
                  <a:srgbClr val="8C1515"/>
                </a:solidFill>
                <a:latin typeface="Calibri"/>
              </a:rPr>
              <a:t>• </a:t>
            </a:r>
            <a:r>
              <a:rPr sz="1100">
                <a:solidFill>
                  <a:srgbClr val="2E2D29"/>
                </a:solidFill>
                <a:latin typeface="Calibri"/>
              </a:rPr>
              <a:t>TST-STAN-3, -5: pre-operative cardiac MR</a:t>
            </a:r>
          </a:p>
          <a:p>
            <a:pPr>
              <a:spcAft>
                <a:spcPts val="350"/>
              </a:spcAft>
            </a:pPr>
            <a:r>
              <a:rPr sz="1100">
                <a:solidFill>
                  <a:srgbClr val="8C1515"/>
                </a:solidFill>
                <a:latin typeface="Calibri"/>
              </a:rPr>
              <a:t>• </a:t>
            </a:r>
            <a:r>
              <a:rPr sz="1100">
                <a:solidFill>
                  <a:srgbClr val="2E2D29"/>
                </a:solidFill>
                <a:latin typeface="Calibri"/>
              </a:rPr>
              <a:t>Pre-op imaging to catheterization interval ranges 8 to 84 weeks</a:t>
            </a:r>
          </a:p>
        </p:txBody>
      </p:sp>
      <p:sp>
        <p:nvSpPr>
          <p:cNvPr id="15" name="S11_shape_2"/>
          <p:cNvSpPr/>
          <p:nvPr/>
        </p:nvSpPr>
        <p:spPr>
          <a:xfrm>
            <a:off x="320040" y="3035808"/>
            <a:ext cx="4160520" cy="148132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11_text_Segmentation"/>
          <p:cNvSpPr txBox="1"/>
          <p:nvPr/>
        </p:nvSpPr>
        <p:spPr>
          <a:xfrm>
            <a:off x="448056" y="3136391"/>
            <a:ext cx="3904487" cy="219456"/>
          </a:xfrm>
          <a:prstGeom prst="rect">
            <a:avLst/>
          </a:prstGeom>
          <a:noFill/>
        </p:spPr>
        <p:txBody>
          <a:bodyPr wrap="square" lIns="27432" tIns="0" rIns="27432" bIns="0" anchor="t">
            <a:spAutoFit/>
          </a:bodyPr>
          <a:lstStyle/>
          <a:p>
            <a:pPr algn="l"/>
            <a:r>
              <a:rPr sz="1400" b="1" i="0">
                <a:solidFill>
                  <a:srgbClr val="8C1515"/>
                </a:solidFill>
                <a:latin typeface="Calibri"/>
              </a:rPr>
              <a:t>Segmentation</a:t>
            </a:r>
          </a:p>
        </p:txBody>
      </p:sp>
      <p:sp>
        <p:nvSpPr>
          <p:cNvPr id="17" name="S11_text_Manual_2D_segmentation"/>
          <p:cNvSpPr txBox="1"/>
          <p:nvPr/>
        </p:nvSpPr>
        <p:spPr>
          <a:xfrm>
            <a:off x="448056" y="3410711"/>
            <a:ext cx="3904487" cy="1069848"/>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Manual 2D segmentation along centerline pathlines in SimVascular</a:t>
            </a:r>
          </a:p>
          <a:p>
            <a:pPr>
              <a:spcAft>
                <a:spcPts val="350"/>
              </a:spcAft>
            </a:pPr>
            <a:r>
              <a:rPr sz="1100">
                <a:solidFill>
                  <a:srgbClr val="8C1515"/>
                </a:solidFill>
                <a:latin typeface="Calibri"/>
              </a:rPr>
              <a:t>• </a:t>
            </a:r>
            <a:r>
              <a:rPr sz="1100">
                <a:solidFill>
                  <a:srgbClr val="2E2D29"/>
                </a:solidFill>
                <a:latin typeface="Calibri"/>
              </a:rPr>
              <a:t>Lofted and unioned to a solid model, then meshed with TetGen</a:t>
            </a:r>
          </a:p>
          <a:p>
            <a:pPr>
              <a:spcAft>
                <a:spcPts val="350"/>
              </a:spcAft>
            </a:pPr>
            <a:r>
              <a:rPr sz="1100">
                <a:solidFill>
                  <a:srgbClr val="8C1515"/>
                </a:solidFill>
                <a:latin typeface="Calibri"/>
              </a:rPr>
              <a:t>• </a:t>
            </a:r>
            <a:r>
              <a:rPr sz="1100">
                <a:solidFill>
                  <a:srgbClr val="2E2D29"/>
                </a:solidFill>
                <a:latin typeface="Calibri"/>
              </a:rPr>
              <a:t>Resolves MPA through lobar and early segmental branches</a:t>
            </a:r>
          </a:p>
        </p:txBody>
      </p:sp>
      <p:pic>
        <p:nvPicPr>
          <p:cNvPr id="18" name="S11_picture" descr="pa_model_white.png"/>
          <p:cNvPicPr>
            <a:picLocks noChangeAspect="1"/>
          </p:cNvPicPr>
          <p:nvPr/>
        </p:nvPicPr>
        <p:blipFill>
          <a:blip r:embed="rId2"/>
          <a:stretch>
            <a:fillRect/>
          </a:stretch>
        </p:blipFill>
        <p:spPr>
          <a:xfrm>
            <a:off x="4897031" y="1426464"/>
            <a:ext cx="3876217" cy="3090672"/>
          </a:xfrm>
          <a:prstGeom prst="rect">
            <a:avLst/>
          </a:prstGeom>
        </p:spPr>
      </p:pic>
      <p:sp>
        <p:nvSpPr>
          <p:cNvPr id="19" name="S11_text_Representative_segmented_pulmonary"/>
          <p:cNvSpPr txBox="1"/>
          <p:nvPr/>
        </p:nvSpPr>
        <p:spPr>
          <a:xfrm>
            <a:off x="4846320" y="4553712"/>
            <a:ext cx="3977639" cy="201168"/>
          </a:xfrm>
          <a:prstGeom prst="rect">
            <a:avLst/>
          </a:prstGeom>
          <a:noFill/>
        </p:spPr>
        <p:txBody>
          <a:bodyPr wrap="square" lIns="27432" tIns="0" rIns="27432" bIns="0" anchor="t">
            <a:spAutoFit/>
          </a:bodyPr>
          <a:lstStyle/>
          <a:p>
            <a:pPr algn="ctr"/>
            <a:r>
              <a:rPr sz="1100" b="0" i="1">
                <a:solidFill>
                  <a:srgbClr val="6B6965"/>
                </a:solidFill>
                <a:latin typeface="Calibri"/>
              </a:rPr>
              <a:t>Representative segmented pulmonary artery model with outlet caps</a:t>
            </a:r>
          </a:p>
        </p:txBody>
      </p:sp>
      <p:sp>
        <p:nvSpPr>
          <p:cNvPr id="20" name="S11_shape_3"/>
          <p:cNvSpPr/>
          <p:nvPr/>
        </p:nvSpPr>
        <p:spPr>
          <a:xfrm>
            <a:off x="320040" y="466344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11_text_Manual_segmentation_is"/>
          <p:cNvSpPr txBox="1"/>
          <p:nvPr/>
        </p:nvSpPr>
        <p:spPr>
          <a:xfrm>
            <a:off x="429768" y="4663440"/>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Manual segmentation is the pipeline's main human-time cost and the main source of inter-model variability.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Clinical targets</a:t>
            </a:r>
          </a:p>
        </p:txBody>
      </p:sp>
      <p:sp>
        <p:nvSpPr>
          <p:cNvPr id="4" name="Ribbon_seg1"/>
          <p:cNvSpPr/>
          <p:nvPr/>
        </p:nvSpPr>
        <p:spPr>
          <a:xfrm>
            <a:off x="320040"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VALIDATED</a:t>
            </a:r>
          </a:p>
        </p:txBody>
      </p:sp>
      <p:sp>
        <p:nvSpPr>
          <p:cNvPr id="12" name="S12_text_Catheter_and_lung"/>
          <p:cNvSpPr txBox="1"/>
          <p:nvPr/>
        </p:nvSpPr>
        <p:spPr>
          <a:xfrm>
            <a:off x="320040" y="1389888"/>
            <a:ext cx="8503920" cy="201168"/>
          </a:xfrm>
          <a:prstGeom prst="rect">
            <a:avLst/>
          </a:prstGeom>
          <a:noFill/>
        </p:spPr>
        <p:txBody>
          <a:bodyPr wrap="square" lIns="27432" tIns="0" rIns="27432" bIns="0" anchor="t">
            <a:spAutoFit/>
          </a:bodyPr>
          <a:lstStyle/>
          <a:p>
            <a:pPr algn="l"/>
            <a:r>
              <a:rPr sz="1100" b="0" i="1">
                <a:solidFill>
                  <a:srgbClr val="6B6965"/>
                </a:solidFill>
                <a:latin typeface="Calibri"/>
              </a:rPr>
              <a:t>Catheter and lung perfusion measurements define both the tuning targets (pre-op) and the validation data (post-op).</a:t>
            </a:r>
          </a:p>
        </p:txBody>
      </p:sp>
      <p:sp>
        <p:nvSpPr>
          <p:cNvPr id="13" name="S12_shape"/>
          <p:cNvSpPr/>
          <p:nvPr/>
        </p:nvSpPr>
        <p:spPr>
          <a:xfrm>
            <a:off x="320040" y="3529584"/>
            <a:ext cx="4160520" cy="11887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12_text_Used_as_tuning"/>
          <p:cNvSpPr txBox="1"/>
          <p:nvPr/>
        </p:nvSpPr>
        <p:spPr>
          <a:xfrm>
            <a:off x="448056" y="3630168"/>
            <a:ext cx="3904487" cy="219456"/>
          </a:xfrm>
          <a:prstGeom prst="rect">
            <a:avLst/>
          </a:prstGeom>
          <a:noFill/>
        </p:spPr>
        <p:txBody>
          <a:bodyPr wrap="square" lIns="27432" tIns="0" rIns="27432" bIns="0" anchor="t">
            <a:spAutoFit/>
          </a:bodyPr>
          <a:lstStyle/>
          <a:p>
            <a:pPr algn="l"/>
            <a:r>
              <a:rPr sz="1400" b="1" i="0">
                <a:solidFill>
                  <a:srgbClr val="E98300"/>
                </a:solidFill>
                <a:latin typeface="Calibri"/>
              </a:rPr>
              <a:t>Used as tuning targets (Stage 2)</a:t>
            </a:r>
          </a:p>
        </p:txBody>
      </p:sp>
      <p:sp>
        <p:nvSpPr>
          <p:cNvPr id="15" name="S12_text_Pre_op_MPA"/>
          <p:cNvSpPr txBox="1"/>
          <p:nvPr/>
        </p:nvSpPr>
        <p:spPr>
          <a:xfrm>
            <a:off x="448056" y="3904487"/>
            <a:ext cx="3904487" cy="777240"/>
          </a:xfrm>
          <a:prstGeom prst="rect">
            <a:avLst/>
          </a:prstGeom>
          <a:noFill/>
        </p:spPr>
        <p:txBody>
          <a:bodyPr wrap="square" lIns="27432" tIns="0" rIns="27432" bIns="0">
            <a:spAutoFit/>
          </a:bodyPr>
          <a:lstStyle/>
          <a:p>
            <a:pPr>
              <a:spcAft>
                <a:spcPts val="350"/>
              </a:spcAft>
            </a:pPr>
            <a:r>
              <a:rPr sz="1100">
                <a:solidFill>
                  <a:srgbClr val="E98300"/>
                </a:solidFill>
                <a:latin typeface="Calibri"/>
              </a:rPr>
              <a:t>• </a:t>
            </a:r>
            <a:r>
              <a:rPr sz="1100">
                <a:solidFill>
                  <a:srgbClr val="2E2D29"/>
                </a:solidFill>
                <a:latin typeface="Calibri"/>
              </a:rPr>
              <a:t>Pre-op MPA systolic, diastolic and mean pressure</a:t>
            </a:r>
          </a:p>
          <a:p>
            <a:pPr>
              <a:spcAft>
                <a:spcPts val="350"/>
              </a:spcAft>
            </a:pPr>
            <a:r>
              <a:rPr sz="1100">
                <a:solidFill>
                  <a:srgbClr val="E98300"/>
                </a:solidFill>
                <a:latin typeface="Calibri"/>
              </a:rPr>
              <a:t>• </a:t>
            </a:r>
            <a:r>
              <a:rPr sz="1100">
                <a:solidFill>
                  <a:srgbClr val="2E2D29"/>
                </a:solidFill>
                <a:latin typeface="Calibri"/>
              </a:rPr>
              <a:t>Pre-op RPA flow split from lung perfusion scan</a:t>
            </a:r>
          </a:p>
          <a:p>
            <a:pPr>
              <a:spcAft>
                <a:spcPts val="350"/>
              </a:spcAft>
            </a:pPr>
            <a:r>
              <a:rPr sz="1100">
                <a:solidFill>
                  <a:srgbClr val="E98300"/>
                </a:solidFill>
                <a:latin typeface="Calibri"/>
              </a:rPr>
              <a:t>• PCWP or PA diastolic sets the tree outlet pressure Pd, per patient</a:t>
            </a:r>
          </a:p>
        </p:txBody>
      </p:sp>
      <p:sp>
        <p:nvSpPr>
          <p:cNvPr id="16" name="S12_shape_2"/>
          <p:cNvSpPr/>
          <p:nvPr/>
        </p:nvSpPr>
        <p:spPr>
          <a:xfrm>
            <a:off x="4663440" y="3529584"/>
            <a:ext cx="4160520" cy="11887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12_text_Held_back_for"/>
          <p:cNvSpPr txBox="1"/>
          <p:nvPr/>
        </p:nvSpPr>
        <p:spPr>
          <a:xfrm>
            <a:off x="4791455" y="3630168"/>
            <a:ext cx="3904487" cy="219456"/>
          </a:xfrm>
          <a:prstGeom prst="rect">
            <a:avLst/>
          </a:prstGeom>
          <a:noFill/>
        </p:spPr>
        <p:txBody>
          <a:bodyPr wrap="square" lIns="27432" tIns="0" rIns="27432" bIns="0" anchor="t">
            <a:spAutoFit/>
          </a:bodyPr>
          <a:lstStyle/>
          <a:p>
            <a:pPr algn="l"/>
            <a:r>
              <a:rPr sz="1400" b="1" i="0">
                <a:solidFill>
                  <a:srgbClr val="279989"/>
                </a:solidFill>
                <a:latin typeface="Calibri"/>
              </a:rPr>
              <a:t>Held back for validation (Stage 7)</a:t>
            </a:r>
          </a:p>
        </p:txBody>
      </p:sp>
      <p:sp>
        <p:nvSpPr>
          <p:cNvPr id="18" name="S12_text_Post_op_MPA"/>
          <p:cNvSpPr txBox="1"/>
          <p:nvPr/>
        </p:nvSpPr>
        <p:spPr>
          <a:xfrm>
            <a:off x="4791455" y="3904487"/>
            <a:ext cx="3904487" cy="777240"/>
          </a:xfrm>
          <a:prstGeom prst="rect">
            <a:avLst/>
          </a:prstGeom>
          <a:noFill/>
        </p:spPr>
        <p:txBody>
          <a:bodyPr wrap="square" lIns="27432" tIns="0" rIns="27432" bIns="0">
            <a:spAutoFit/>
          </a:bodyPr>
          <a:lstStyle/>
          <a:p>
            <a:pPr>
              <a:spcAft>
                <a:spcPts val="350"/>
              </a:spcAft>
            </a:pPr>
            <a:r>
              <a:rPr sz="1100">
                <a:solidFill>
                  <a:srgbClr val="279989"/>
                </a:solidFill>
                <a:latin typeface="Calibri"/>
              </a:rPr>
              <a:t>• </a:t>
            </a:r>
            <a:r>
              <a:rPr sz="1100">
                <a:solidFill>
                  <a:srgbClr val="2E2D29"/>
                </a:solidFill>
                <a:latin typeface="Calibri"/>
              </a:rPr>
              <a:t>Post-op MPA pressures at catheterization</a:t>
            </a:r>
          </a:p>
          <a:p>
            <a:pPr>
              <a:spcAft>
                <a:spcPts val="350"/>
              </a:spcAft>
            </a:pPr>
            <a:r>
              <a:rPr sz="1100">
                <a:solidFill>
                  <a:srgbClr val="279989"/>
                </a:solidFill>
                <a:latin typeface="Calibri"/>
              </a:rPr>
              <a:t>• </a:t>
            </a:r>
            <a:r>
              <a:rPr sz="1100">
                <a:solidFill>
                  <a:srgbClr val="2E2D29"/>
                </a:solidFill>
                <a:latin typeface="Calibri"/>
              </a:rPr>
              <a:t>Post-op RPA / LPA perfusion split</a:t>
            </a:r>
          </a:p>
        </p:txBody>
      </p:sp>
      <p:sp>
        <p:nvSpPr>
          <p:cNvPr id="19" name="S12_shape_3"/>
          <p:cNvSpPr/>
          <p:nvPr/>
        </p:nvSpPr>
        <p:spPr>
          <a:xfrm>
            <a:off x="320040" y="484632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12_text_Post_op_data"/>
          <p:cNvSpPr txBox="1"/>
          <p:nvPr/>
        </p:nvSpPr>
        <p:spPr>
          <a:xfrm>
            <a:off x="429768" y="4846320"/>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Post-op data never enters tuning: it is the endpoint the adapted simulation must reproduce.</a:t>
            </a:r>
          </a:p>
        </p:txBody>
      </p:sp>
      <p:graphicFrame>
        <p:nvGraphicFramePr>
          <p:cNvPr id="21" name="S1_targets_table"/>
          <p:cNvGraphicFramePr>
            <a:graphicFrameLocks noGrp="1"/>
          </p:cNvGraphicFramePr>
          <p:nvPr/>
        </p:nvGraphicFramePr>
        <p:xfrm>
          <a:off x="320040" y="1645920"/>
          <a:ext cx="8503918" cy="1664203"/>
        </p:xfrm>
        <a:graphic>
          <a:graphicData uri="http://schemas.openxmlformats.org/drawingml/2006/table">
            <a:tbl>
              <a:tblPr firstRow="1" bandRow="0">
                <a:tableStyleId>{5C22544A-7EE6-4342-B048-85BDC9FD1C3A}</a:tableStyleId>
              </a:tblPr>
              <a:tblGrid>
                <a:gridCol w="1097280"/>
                <a:gridCol w="2011680"/>
                <a:gridCol w="1645920"/>
                <a:gridCol w="1874519"/>
                <a:gridCol w="1874519"/>
              </a:tblGrid>
              <a:tr h="292608">
                <a:tc>
                  <a:txBody>
                    <a:bodyPr wrap="square"/>
                    <a:lstStyle/>
                    <a:p>
                      <a:r>
                        <a:rPr sz="1200" b="1">
                          <a:solidFill>
                            <a:srgbClr val="FFFFFF"/>
                          </a:solidFill>
                          <a:latin typeface="Calibri"/>
                        </a:rPr>
                        <a:t>Patient</a:t>
                      </a:r>
                    </a:p>
                  </a:txBody>
                  <a:tcPr marL="54864" marR="54864" marT="27432" marB="27432" anchor="ctr">
                    <a:solidFill>
                      <a:srgbClr val="8C1515"/>
                    </a:solidFill>
                  </a:tcPr>
                </a:tc>
                <a:tc>
                  <a:txBody>
                    <a:bodyPr wrap="square"/>
                    <a:lstStyle/>
                    <a:p>
                      <a:r>
                        <a:rPr sz="1200" b="1">
                          <a:solidFill>
                            <a:srgbClr val="FFFFFF"/>
                          </a:solidFill>
                          <a:latin typeface="Calibri"/>
                        </a:rPr>
                        <a:t>Pre-op MPA (sys/dia/mean)</a:t>
                      </a:r>
                    </a:p>
                  </a:txBody>
                  <a:tcPr marL="54864" marR="54864" marT="27432" marB="27432" anchor="ctr">
                    <a:solidFill>
                      <a:srgbClr val="8C1515"/>
                    </a:solidFill>
                  </a:tcPr>
                </a:tc>
                <a:tc>
                  <a:txBody>
                    <a:bodyPr wrap="square"/>
                    <a:lstStyle/>
                    <a:p>
                      <a:r>
                        <a:rPr sz="1200" b="1">
                          <a:solidFill>
                            <a:srgbClr val="FFFFFF"/>
                          </a:solidFill>
                          <a:latin typeface="Calibri"/>
                        </a:rPr>
                        <a:t>Post-op MPA</a:t>
                      </a:r>
                    </a:p>
                  </a:txBody>
                  <a:tcPr marL="54864" marR="54864" marT="27432" marB="27432" anchor="ctr">
                    <a:solidFill>
                      <a:srgbClr val="8C1515"/>
                    </a:solidFill>
                  </a:tcPr>
                </a:tc>
                <a:tc>
                  <a:txBody>
                    <a:bodyPr wrap="square"/>
                    <a:lstStyle/>
                    <a:p>
                      <a:r>
                        <a:rPr sz="1200" b="1">
                          <a:solidFill>
                            <a:srgbClr val="FFFFFF"/>
                          </a:solidFill>
                          <a:latin typeface="Calibri"/>
                        </a:rPr>
                        <a:t>Pre-op LPS  R / L</a:t>
                      </a:r>
                    </a:p>
                  </a:txBody>
                  <a:tcPr marL="54864" marR="54864" marT="27432" marB="27432" anchor="ctr">
                    <a:solidFill>
                      <a:srgbClr val="8C1515"/>
                    </a:solidFill>
                  </a:tcPr>
                </a:tc>
                <a:tc>
                  <a:txBody>
                    <a:bodyPr wrap="square"/>
                    <a:lstStyle/>
                    <a:p>
                      <a:r>
                        <a:rPr sz="1200" b="1">
                          <a:solidFill>
                            <a:srgbClr val="FFFFFF"/>
                          </a:solidFill>
                          <a:latin typeface="Calibri"/>
                        </a:rPr>
                        <a:t>Post-op LPS  R / L</a:t>
                      </a:r>
                    </a:p>
                  </a:txBody>
                  <a:tcPr marL="54864" marR="54864" marT="27432" marB="27432" anchor="ctr">
                    <a:solidFill>
                      <a:srgbClr val="8C1515"/>
                    </a:solidFill>
                  </a:tcPr>
                </a:tc>
              </a:tr>
              <a:tr h="274319">
                <a:tc>
                  <a:txBody>
                    <a:bodyPr wrap="square"/>
                    <a:lstStyle/>
                    <a:p>
                      <a:r>
                        <a:rPr sz="1200" b="1">
                          <a:solidFill>
                            <a:srgbClr val="2E2D29"/>
                          </a:solidFill>
                          <a:latin typeface="Calibri"/>
                        </a:rPr>
                        <a:t>TST-STAN-1</a:t>
                      </a:r>
                    </a:p>
                  </a:txBody>
                  <a:tcPr marL="54864" marR="54864" marT="27432" marB="27432" anchor="ctr">
                    <a:solidFill>
                      <a:srgbClr val="FFFFFF"/>
                    </a:solidFill>
                  </a:tcPr>
                </a:tc>
                <a:tc>
                  <a:txBody>
                    <a:bodyPr wrap="square"/>
                    <a:lstStyle/>
                    <a:p>
                      <a:r>
                        <a:rPr sz="1200" b="0">
                          <a:solidFill>
                            <a:srgbClr val="6B6965"/>
                          </a:solidFill>
                          <a:latin typeface="Calibri"/>
                        </a:rPr>
                        <a:t>38 / 10 / 23 mmHg</a:t>
                      </a:r>
                    </a:p>
                  </a:txBody>
                  <a:tcPr marL="54864" marR="54864" marT="27432" marB="27432" anchor="ctr">
                    <a:solidFill>
                      <a:srgbClr val="FFFFFF"/>
                    </a:solidFill>
                  </a:tcPr>
                </a:tc>
                <a:tc>
                  <a:txBody>
                    <a:bodyPr wrap="square"/>
                    <a:lstStyle/>
                    <a:p>
                      <a:r>
                        <a:rPr sz="1200" b="0">
                          <a:solidFill>
                            <a:srgbClr val="6B6965"/>
                          </a:solidFill>
                          <a:latin typeface="Calibri"/>
                        </a:rPr>
                        <a:t>25 / 8 / 15 mmHg</a:t>
                      </a:r>
                    </a:p>
                  </a:txBody>
                  <a:tcPr marL="54864" marR="54864" marT="27432" marB="27432" anchor="ctr">
                    <a:solidFill>
                      <a:srgbClr val="FFFFFF"/>
                    </a:solidFill>
                  </a:tcPr>
                </a:tc>
                <a:tc>
                  <a:txBody>
                    <a:bodyPr wrap="square"/>
                    <a:lstStyle/>
                    <a:p>
                      <a:r>
                        <a:rPr sz="1200" b="0">
                          <a:solidFill>
                            <a:srgbClr val="6B6965"/>
                          </a:solidFill>
                          <a:latin typeface="Calibri"/>
                        </a:rPr>
                        <a:t>71.3 / 28.7 %</a:t>
                      </a:r>
                    </a:p>
                  </a:txBody>
                  <a:tcPr marL="54864" marR="54864" marT="27432" marB="27432" anchor="ctr">
                    <a:solidFill>
                      <a:srgbClr val="FFFFFF"/>
                    </a:solidFill>
                  </a:tcPr>
                </a:tc>
                <a:tc>
                  <a:txBody>
                    <a:bodyPr wrap="square"/>
                    <a:lstStyle/>
                    <a:p>
                      <a:r>
                        <a:rPr sz="1200" b="0">
                          <a:solidFill>
                            <a:srgbClr val="6B6965"/>
                          </a:solidFill>
                          <a:latin typeface="Calibri"/>
                        </a:rPr>
                        <a:t>55.5 / 44.5 %</a:t>
                      </a:r>
                    </a:p>
                  </a:txBody>
                  <a:tcPr marL="54864" marR="54864" marT="27432" marB="27432" anchor="ctr">
                    <a:solidFill>
                      <a:srgbClr val="FFFFFF"/>
                    </a:solidFill>
                  </a:tcPr>
                </a:tc>
              </a:tr>
              <a:tr h="274319">
                <a:tc>
                  <a:txBody>
                    <a:bodyPr wrap="square"/>
                    <a:lstStyle/>
                    <a:p>
                      <a:r>
                        <a:rPr sz="1200" b="1">
                          <a:solidFill>
                            <a:srgbClr val="2E2D29"/>
                          </a:solidFill>
                          <a:latin typeface="Calibri"/>
                        </a:rPr>
                        <a:t>TST-STAN-2</a:t>
                      </a:r>
                    </a:p>
                  </a:txBody>
                  <a:tcPr marL="54864" marR="54864" marT="27432" marB="27432" anchor="ctr">
                    <a:solidFill>
                      <a:srgbClr val="F2F1F0"/>
                    </a:solidFill>
                  </a:tcPr>
                </a:tc>
                <a:tc>
                  <a:txBody>
                    <a:bodyPr wrap="square"/>
                    <a:lstStyle/>
                    <a:p>
                      <a:r>
                        <a:rPr sz="1200" b="0">
                          <a:solidFill>
                            <a:srgbClr val="6B6965"/>
                          </a:solidFill>
                          <a:latin typeface="Calibri"/>
                        </a:rPr>
                        <a:t>44 / 14 / 26 mmHg</a:t>
                      </a:r>
                    </a:p>
                  </a:txBody>
                  <a:tcPr marL="54864" marR="54864" marT="27432" marB="27432" anchor="ctr">
                    <a:solidFill>
                      <a:srgbClr val="F2F1F0"/>
                    </a:solidFill>
                  </a:tcPr>
                </a:tc>
                <a:tc>
                  <a:txBody>
                    <a:bodyPr wrap="square"/>
                    <a:lstStyle/>
                    <a:p>
                      <a:r>
                        <a:rPr sz="1200" b="0">
                          <a:solidFill>
                            <a:srgbClr val="6B6965"/>
                          </a:solidFill>
                          <a:latin typeface="Calibri"/>
                        </a:rPr>
                        <a:t>39 / 16 / 26 mmHg</a:t>
                      </a:r>
                    </a:p>
                  </a:txBody>
                  <a:tcPr marL="54864" marR="54864" marT="27432" marB="27432" anchor="ctr">
                    <a:solidFill>
                      <a:srgbClr val="F2F1F0"/>
                    </a:solidFill>
                  </a:tcPr>
                </a:tc>
                <a:tc>
                  <a:txBody>
                    <a:bodyPr wrap="square"/>
                    <a:lstStyle/>
                    <a:p>
                      <a:r>
                        <a:rPr sz="1200" b="0">
                          <a:solidFill>
                            <a:srgbClr val="6B6965"/>
                          </a:solidFill>
                          <a:latin typeface="Calibri"/>
                        </a:rPr>
                        <a:t>76.2 / 23.8 %</a:t>
                      </a:r>
                    </a:p>
                  </a:txBody>
                  <a:tcPr marL="54864" marR="54864" marT="27432" marB="27432" anchor="ctr">
                    <a:solidFill>
                      <a:srgbClr val="F2F1F0"/>
                    </a:solidFill>
                  </a:tcPr>
                </a:tc>
                <a:tc>
                  <a:txBody>
                    <a:bodyPr wrap="square"/>
                    <a:lstStyle/>
                    <a:p>
                      <a:r>
                        <a:rPr sz="1200" b="0">
                          <a:solidFill>
                            <a:srgbClr val="6B6965"/>
                          </a:solidFill>
                          <a:latin typeface="Calibri"/>
                        </a:rPr>
                        <a:t>77.2 / 22.8 %</a:t>
                      </a:r>
                    </a:p>
                  </a:txBody>
                  <a:tcPr marL="54864" marR="54864" marT="27432" marB="27432" anchor="ctr">
                    <a:solidFill>
                      <a:srgbClr val="F2F1F0"/>
                    </a:solidFill>
                  </a:tcPr>
                </a:tc>
              </a:tr>
              <a:tr h="274319">
                <a:tc>
                  <a:txBody>
                    <a:bodyPr wrap="square"/>
                    <a:lstStyle/>
                    <a:p>
                      <a:r>
                        <a:rPr sz="1200" b="1">
                          <a:solidFill>
                            <a:srgbClr val="2E2D29"/>
                          </a:solidFill>
                          <a:latin typeface="Calibri"/>
                        </a:rPr>
                        <a:t>TST-STAN-3</a:t>
                      </a:r>
                    </a:p>
                  </a:txBody>
                  <a:tcPr marL="54864" marR="54864" marT="27432" marB="27432" anchor="ctr">
                    <a:solidFill>
                      <a:srgbClr val="FFFFFF"/>
                    </a:solidFill>
                  </a:tcPr>
                </a:tc>
                <a:tc>
                  <a:txBody>
                    <a:bodyPr wrap="square"/>
                    <a:lstStyle/>
                    <a:p>
                      <a:r>
                        <a:rPr sz="1200" b="0">
                          <a:solidFill>
                            <a:srgbClr val="6B6965"/>
                          </a:solidFill>
                          <a:latin typeface="Calibri"/>
                        </a:rPr>
                        <a:t>67 / 9 / 32 mmHg</a:t>
                      </a:r>
                    </a:p>
                  </a:txBody>
                  <a:tcPr marL="54864" marR="54864" marT="27432" marB="27432" anchor="ctr">
                    <a:solidFill>
                      <a:srgbClr val="FFFFFF"/>
                    </a:solidFill>
                  </a:tcPr>
                </a:tc>
                <a:tc>
                  <a:txBody>
                    <a:bodyPr wrap="square"/>
                    <a:lstStyle/>
                    <a:p>
                      <a:r>
                        <a:rPr sz="1200" b="0">
                          <a:solidFill>
                            <a:srgbClr val="6B6965"/>
                          </a:solidFill>
                          <a:latin typeface="Calibri"/>
                        </a:rPr>
                        <a:t>64 / 10 / 30 mmHg</a:t>
                      </a:r>
                    </a:p>
                  </a:txBody>
                  <a:tcPr marL="54864" marR="54864" marT="27432" marB="27432" anchor="ctr">
                    <a:solidFill>
                      <a:srgbClr val="FFFFFF"/>
                    </a:solidFill>
                  </a:tcPr>
                </a:tc>
                <a:tc>
                  <a:txBody>
                    <a:bodyPr wrap="square"/>
                    <a:lstStyle/>
                    <a:p>
                      <a:r>
                        <a:rPr sz="1200" b="0">
                          <a:solidFill>
                            <a:srgbClr val="6B6965"/>
                          </a:solidFill>
                          <a:latin typeface="Calibri"/>
                        </a:rPr>
                        <a:t>44.6 / 55.4 %</a:t>
                      </a:r>
                    </a:p>
                  </a:txBody>
                  <a:tcPr marL="54864" marR="54864" marT="27432" marB="27432" anchor="ctr">
                    <a:solidFill>
                      <a:srgbClr val="FFFFFF"/>
                    </a:solidFill>
                  </a:tcPr>
                </a:tc>
                <a:tc>
                  <a:txBody>
                    <a:bodyPr wrap="square"/>
                    <a:lstStyle/>
                    <a:p>
                      <a:r>
                        <a:rPr sz="1200" b="0">
                          <a:solidFill>
                            <a:srgbClr val="6B6965"/>
                          </a:solidFill>
                          <a:latin typeface="Calibri"/>
                        </a:rPr>
                        <a:t>46.8 / 53.2 %</a:t>
                      </a:r>
                    </a:p>
                  </a:txBody>
                  <a:tcPr marL="54864" marR="54864" marT="27432" marB="27432" anchor="ctr">
                    <a:solidFill>
                      <a:srgbClr val="FFFFFF"/>
                    </a:solidFill>
                  </a:tcPr>
                </a:tc>
              </a:tr>
              <a:tr h="274319">
                <a:tc>
                  <a:txBody>
                    <a:bodyPr wrap="square"/>
                    <a:lstStyle/>
                    <a:p>
                      <a:r>
                        <a:rPr sz="1200" b="1">
                          <a:solidFill>
                            <a:srgbClr val="2E2D29"/>
                          </a:solidFill>
                          <a:latin typeface="Calibri"/>
                        </a:rPr>
                        <a:t>TST-STAN-5</a:t>
                      </a:r>
                    </a:p>
                  </a:txBody>
                  <a:tcPr marL="54864" marR="54864" marT="27432" marB="27432" anchor="ctr">
                    <a:solidFill>
                      <a:srgbClr val="F2F1F0"/>
                    </a:solidFill>
                  </a:tcPr>
                </a:tc>
                <a:tc>
                  <a:txBody>
                    <a:bodyPr wrap="square"/>
                    <a:lstStyle/>
                    <a:p>
                      <a:r>
                        <a:rPr sz="1200" b="0">
                          <a:solidFill>
                            <a:srgbClr val="6B6965"/>
                          </a:solidFill>
                          <a:latin typeface="Calibri"/>
                        </a:rPr>
                        <a:t>34 / 3 / 16 mmHg</a:t>
                      </a:r>
                    </a:p>
                  </a:txBody>
                  <a:tcPr marL="54864" marR="54864" marT="27432" marB="27432" anchor="ctr">
                    <a:solidFill>
                      <a:srgbClr val="F2F1F0"/>
                    </a:solidFill>
                  </a:tcPr>
                </a:tc>
                <a:tc>
                  <a:txBody>
                    <a:bodyPr wrap="square"/>
                    <a:lstStyle/>
                    <a:p>
                      <a:r>
                        <a:rPr sz="1200" b="0">
                          <a:solidFill>
                            <a:srgbClr val="6B6965"/>
                          </a:solidFill>
                          <a:latin typeface="Calibri"/>
                        </a:rPr>
                        <a:t>30 / 8 / 17 mmHg</a:t>
                      </a:r>
                    </a:p>
                  </a:txBody>
                  <a:tcPr marL="54864" marR="54864" marT="27432" marB="27432" anchor="ctr">
                    <a:solidFill>
                      <a:srgbClr val="F2F1F0"/>
                    </a:solidFill>
                  </a:tcPr>
                </a:tc>
                <a:tc>
                  <a:txBody>
                    <a:bodyPr wrap="square"/>
                    <a:lstStyle/>
                    <a:p>
                      <a:r>
                        <a:rPr sz="1200" b="0">
                          <a:solidFill>
                            <a:srgbClr val="6B6965"/>
                          </a:solidFill>
                          <a:latin typeface="Calibri"/>
                        </a:rPr>
                        <a:t>87.0 / 13.0 %</a:t>
                      </a:r>
                    </a:p>
                  </a:txBody>
                  <a:tcPr marL="54864" marR="54864" marT="27432" marB="27432" anchor="ctr">
                    <a:solidFill>
                      <a:srgbClr val="F2F1F0"/>
                    </a:solidFill>
                  </a:tcPr>
                </a:tc>
                <a:tc>
                  <a:txBody>
                    <a:bodyPr wrap="square"/>
                    <a:lstStyle/>
                    <a:p>
                      <a:r>
                        <a:rPr sz="1200" b="0">
                          <a:solidFill>
                            <a:srgbClr val="6B6965"/>
                          </a:solidFill>
                          <a:latin typeface="Calibri"/>
                        </a:rPr>
                        <a:t>63.1 / 36.9 %</a:t>
                      </a:r>
                    </a:p>
                  </a:txBody>
                  <a:tcPr marL="54864" marR="54864" marT="27432" marB="27432" anchor="ctr">
                    <a:solidFill>
                      <a:srgbClr val="F2F1F0"/>
                    </a:solidFill>
                  </a:tcPr>
                </a:tc>
              </a:tr>
              <a:tr h="274319">
                <a:tc>
                  <a:txBody>
                    <a:bodyPr wrap="square"/>
                    <a:lstStyle/>
                    <a:p>
                      <a:r>
                        <a:rPr sz="1200" b="1">
                          <a:solidFill>
                            <a:srgbClr val="2E2D29"/>
                          </a:solidFill>
                          <a:latin typeface="Calibri"/>
                        </a:rPr>
                        <a:t>TST-STAN-9</a:t>
                      </a:r>
                    </a:p>
                  </a:txBody>
                  <a:tcPr marL="54864" marR="54864" marT="27432" marB="27432" anchor="ctr">
                    <a:solidFill>
                      <a:srgbClr val="FFFFFF"/>
                    </a:solidFill>
                  </a:tcPr>
                </a:tc>
                <a:tc>
                  <a:txBody>
                    <a:bodyPr wrap="square"/>
                    <a:lstStyle/>
                    <a:p>
                      <a:r>
                        <a:rPr sz="1200" b="0">
                          <a:solidFill>
                            <a:srgbClr val="6B6965"/>
                          </a:solidFill>
                          <a:latin typeface="Calibri"/>
                        </a:rPr>
                        <a:t>29 / 5 / 15 mmHg</a:t>
                      </a:r>
                    </a:p>
                  </a:txBody>
                  <a:tcPr marL="54864" marR="54864" marT="27432" marB="27432" anchor="ctr">
                    <a:solidFill>
                      <a:srgbClr val="FFFFFF"/>
                    </a:solidFill>
                  </a:tcPr>
                </a:tc>
                <a:tc>
                  <a:txBody>
                    <a:bodyPr wrap="square"/>
                    <a:lstStyle/>
                    <a:p>
                      <a:r>
                        <a:rPr sz="1200" b="0">
                          <a:solidFill>
                            <a:srgbClr val="6B6965"/>
                          </a:solidFill>
                          <a:latin typeface="Calibri"/>
                        </a:rPr>
                        <a:t>27 / 8 / 16 mmHg</a:t>
                      </a:r>
                    </a:p>
                  </a:txBody>
                  <a:tcPr marL="54864" marR="54864" marT="27432" marB="27432" anchor="ctr">
                    <a:solidFill>
                      <a:srgbClr val="FFFFFF"/>
                    </a:solidFill>
                  </a:tcPr>
                </a:tc>
                <a:tc>
                  <a:txBody>
                    <a:bodyPr wrap="square"/>
                    <a:lstStyle/>
                    <a:p>
                      <a:r>
                        <a:rPr sz="1200" b="0">
                          <a:solidFill>
                            <a:srgbClr val="6B6965"/>
                          </a:solidFill>
                          <a:latin typeface="Calibri"/>
                        </a:rPr>
                        <a:t>90.3 / 9.7 %</a:t>
                      </a:r>
                    </a:p>
                  </a:txBody>
                  <a:tcPr marL="54864" marR="54864" marT="27432" marB="27432" anchor="ctr">
                    <a:solidFill>
                      <a:srgbClr val="FFFFFF"/>
                    </a:solidFill>
                  </a:tcPr>
                </a:tc>
                <a:tc>
                  <a:txBody>
                    <a:bodyPr wrap="square"/>
                    <a:lstStyle/>
                    <a:p>
                      <a:r>
                        <a:rPr sz="1200" b="0">
                          <a:solidFill>
                            <a:srgbClr val="6B6965"/>
                          </a:solidFill>
                          <a:latin typeface="Calibri"/>
                        </a:rPr>
                        <a:t>82.9 / 17.1 %</a:t>
                      </a:r>
                    </a:p>
                  </a:txBody>
                  <a:tcPr marL="54864" marR="54864" marT="27432" marB="2743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Inflow waveform assignment</a:t>
            </a:r>
          </a:p>
        </p:txBody>
      </p:sp>
      <p:sp>
        <p:nvSpPr>
          <p:cNvPr id="4" name="Ribbon_seg1"/>
          <p:cNvSpPr/>
          <p:nvPr/>
        </p:nvSpPr>
        <p:spPr>
          <a:xfrm>
            <a:off x="320040"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VALIDATED</a:t>
            </a:r>
          </a:p>
        </p:txBody>
      </p:sp>
      <p:sp>
        <p:nvSpPr>
          <p:cNvPr id="12" name="S13_text_Not_every_patient"/>
          <p:cNvSpPr txBox="1"/>
          <p:nvPr/>
        </p:nvSpPr>
        <p:spPr>
          <a:xfrm>
            <a:off x="320040" y="1389888"/>
            <a:ext cx="8503920" cy="219456"/>
          </a:xfrm>
          <a:prstGeom prst="rect">
            <a:avLst/>
          </a:prstGeom>
          <a:noFill/>
        </p:spPr>
        <p:txBody>
          <a:bodyPr wrap="square" lIns="27432" tIns="0" rIns="27432" bIns="0" anchor="t">
            <a:spAutoFit/>
          </a:bodyPr>
          <a:lstStyle/>
          <a:p>
            <a:pPr algn="l"/>
            <a:r>
              <a:rPr sz="1100" b="0" i="1">
                <a:solidFill>
                  <a:srgbClr val="6B6965"/>
                </a:solidFill>
                <a:latin typeface="Calibri"/>
              </a:rPr>
              <a:t>Not every patient has phase-contrast flow data, so waveform shape is assigned by pulmonary valve regurgitation class and then rescaled.</a:t>
            </a:r>
          </a:p>
        </p:txBody>
      </p:sp>
      <p:sp>
        <p:nvSpPr>
          <p:cNvPr id="13" name="S13_shape"/>
          <p:cNvSpPr/>
          <p:nvPr/>
        </p:nvSpPr>
        <p:spPr>
          <a:xfrm>
            <a:off x="320040" y="1700784"/>
            <a:ext cx="4160520" cy="135331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13_text_Regurgitant_class"/>
          <p:cNvSpPr txBox="1"/>
          <p:nvPr/>
        </p:nvSpPr>
        <p:spPr>
          <a:xfrm>
            <a:off x="448056" y="1801368"/>
            <a:ext cx="3904487" cy="219456"/>
          </a:xfrm>
          <a:prstGeom prst="rect">
            <a:avLst/>
          </a:prstGeom>
          <a:noFill/>
        </p:spPr>
        <p:txBody>
          <a:bodyPr wrap="square" lIns="27432" tIns="0" rIns="27432" bIns="0" anchor="t">
            <a:spAutoFit/>
          </a:bodyPr>
          <a:lstStyle/>
          <a:p>
            <a:pPr algn="l"/>
            <a:r>
              <a:rPr sz="1400" b="1" i="0">
                <a:solidFill>
                  <a:srgbClr val="8C1515"/>
                </a:solidFill>
                <a:latin typeface="Calibri"/>
              </a:rPr>
              <a:t>Regurgitant class</a:t>
            </a:r>
          </a:p>
        </p:txBody>
      </p:sp>
      <p:sp>
        <p:nvSpPr>
          <p:cNvPr id="15" name="S13_text_TST_STAN_1"/>
          <p:cNvSpPr txBox="1"/>
          <p:nvPr/>
        </p:nvSpPr>
        <p:spPr>
          <a:xfrm>
            <a:off x="448056" y="2075688"/>
            <a:ext cx="3904487" cy="941832"/>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TST-STAN-1 and TST-STAN-5</a:t>
            </a:r>
          </a:p>
          <a:p>
            <a:pPr>
              <a:spcAft>
                <a:spcPts val="350"/>
              </a:spcAft>
            </a:pPr>
            <a:r>
              <a:rPr sz="1100">
                <a:solidFill>
                  <a:srgbClr val="8C1515"/>
                </a:solidFill>
                <a:latin typeface="Calibri"/>
              </a:rPr>
              <a:t>• </a:t>
            </a:r>
            <a:r>
              <a:rPr sz="1100">
                <a:solidFill>
                  <a:srgbClr val="2E2D29"/>
                </a:solidFill>
                <a:latin typeface="Calibri"/>
              </a:rPr>
              <a:t>Waveform shape taken from TST-STAN-5 and applied to TST-STAN-1</a:t>
            </a:r>
          </a:p>
          <a:p>
            <a:pPr>
              <a:spcAft>
                <a:spcPts val="350"/>
              </a:spcAft>
            </a:pPr>
            <a:r>
              <a:rPr sz="1100">
                <a:solidFill>
                  <a:srgbClr val="8C1515"/>
                </a:solidFill>
                <a:latin typeface="Calibri"/>
              </a:rPr>
              <a:t>• </a:t>
            </a:r>
            <a:r>
              <a:rPr sz="1100">
                <a:solidFill>
                  <a:srgbClr val="2E2D29"/>
                </a:solidFill>
                <a:latin typeface="Calibri"/>
              </a:rPr>
              <a:t>Retains the retrograde diastolic component</a:t>
            </a:r>
          </a:p>
        </p:txBody>
      </p:sp>
      <p:sp>
        <p:nvSpPr>
          <p:cNvPr id="16" name="S13_shape_2"/>
          <p:cNvSpPr/>
          <p:nvPr/>
        </p:nvSpPr>
        <p:spPr>
          <a:xfrm>
            <a:off x="320040" y="3182112"/>
            <a:ext cx="4160520" cy="135331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13_text_Non_regurgitant_class"/>
          <p:cNvSpPr txBox="1"/>
          <p:nvPr/>
        </p:nvSpPr>
        <p:spPr>
          <a:xfrm>
            <a:off x="448056" y="3282696"/>
            <a:ext cx="3904487" cy="219456"/>
          </a:xfrm>
          <a:prstGeom prst="rect">
            <a:avLst/>
          </a:prstGeom>
          <a:noFill/>
        </p:spPr>
        <p:txBody>
          <a:bodyPr wrap="square" lIns="27432" tIns="0" rIns="27432" bIns="0" anchor="t">
            <a:spAutoFit/>
          </a:bodyPr>
          <a:lstStyle/>
          <a:p>
            <a:pPr algn="l"/>
            <a:r>
              <a:rPr sz="1400" b="1" i="0">
                <a:solidFill>
                  <a:srgbClr val="8C1515"/>
                </a:solidFill>
                <a:latin typeface="Calibri"/>
              </a:rPr>
              <a:t>Non-regurgitant class</a:t>
            </a:r>
          </a:p>
        </p:txBody>
      </p:sp>
      <p:sp>
        <p:nvSpPr>
          <p:cNvPr id="18" name="S13_text_TST_STAN_2"/>
          <p:cNvSpPr txBox="1"/>
          <p:nvPr/>
        </p:nvSpPr>
        <p:spPr>
          <a:xfrm>
            <a:off x="448056" y="3557015"/>
            <a:ext cx="3904487" cy="941832"/>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TST-STAN-2, TST-STAN-3 and TST-STAN-9</a:t>
            </a:r>
          </a:p>
          <a:p>
            <a:pPr>
              <a:spcAft>
                <a:spcPts val="350"/>
              </a:spcAft>
            </a:pPr>
            <a:r>
              <a:rPr sz="1100">
                <a:solidFill>
                  <a:srgbClr val="8C1515"/>
                </a:solidFill>
                <a:latin typeface="Calibri"/>
              </a:rPr>
              <a:t>• </a:t>
            </a:r>
            <a:r>
              <a:rPr sz="1100">
                <a:solidFill>
                  <a:srgbClr val="2E2D29"/>
                </a:solidFill>
                <a:latin typeface="Calibri"/>
              </a:rPr>
              <a:t>Waveform shape taken from TST-STAN-3 and applied to TST-STAN-2 and -9</a:t>
            </a:r>
          </a:p>
          <a:p>
            <a:pPr>
              <a:spcAft>
                <a:spcPts val="350"/>
              </a:spcAft>
            </a:pPr>
            <a:r>
              <a:rPr sz="1100">
                <a:solidFill>
                  <a:srgbClr val="8C1515"/>
                </a:solidFill>
                <a:latin typeface="Calibri"/>
              </a:rPr>
              <a:t>• </a:t>
            </a:r>
            <a:r>
              <a:rPr sz="1100">
                <a:solidFill>
                  <a:srgbClr val="2E2D29"/>
                </a:solidFill>
                <a:latin typeface="Calibri"/>
              </a:rPr>
              <a:t>Strictly forward flow through the cycle</a:t>
            </a:r>
          </a:p>
        </p:txBody>
      </p:sp>
      <p:pic>
        <p:nvPicPr>
          <p:cNvPr id="19" name="S13_picture" descr="inflow_waveforms_cohort.png"/>
          <p:cNvPicPr>
            <a:picLocks noChangeAspect="1"/>
          </p:cNvPicPr>
          <p:nvPr/>
        </p:nvPicPr>
        <p:blipFill>
          <a:blip r:embed="rId2"/>
          <a:stretch>
            <a:fillRect/>
          </a:stretch>
        </p:blipFill>
        <p:spPr>
          <a:xfrm>
            <a:off x="5511892" y="1559368"/>
            <a:ext cx="2437116" cy="3204656"/>
          </a:xfrm>
          <a:prstGeom prst="rect">
            <a:avLst/>
          </a:prstGeom>
        </p:spPr>
      </p:pic>
      <p:sp>
        <p:nvSpPr>
          <p:cNvPr id="20" name="S13_text_Patient_specific_inflow"/>
          <p:cNvSpPr txBox="1"/>
          <p:nvPr/>
        </p:nvSpPr>
        <p:spPr>
          <a:xfrm>
            <a:off x="4639641" y="4764024"/>
            <a:ext cx="4184318" cy="130805"/>
          </a:xfrm>
          <a:prstGeom prst="rect">
            <a:avLst/>
          </a:prstGeom>
          <a:noFill/>
        </p:spPr>
        <p:txBody>
          <a:bodyPr wrap="square" lIns="27432" tIns="0" rIns="27432" bIns="0" anchor="t">
            <a:spAutoFit/>
          </a:bodyPr>
          <a:lstStyle/>
          <a:p>
            <a:pPr algn="ctr"/>
            <a:r>
              <a:rPr sz="1100" b="0" i="1">
                <a:solidFill>
                  <a:srgbClr val="6B6965"/>
                </a:solidFill>
                <a:latin typeface="Calibri"/>
              </a:rPr>
              <a:t>Patient-specific inflow waveforms across the cohort</a:t>
            </a:r>
          </a:p>
        </p:txBody>
      </p:sp>
      <p:sp>
        <p:nvSpPr>
          <p:cNvPr id="21" name="S13_shape_3"/>
          <p:cNvSpPr/>
          <p:nvPr/>
        </p:nvSpPr>
        <p:spPr>
          <a:xfrm>
            <a:off x="320040" y="5019613"/>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13_text_Every_assigned_waveform"/>
          <p:cNvSpPr txBox="1"/>
          <p:nvPr/>
        </p:nvSpPr>
        <p:spPr>
          <a:xfrm>
            <a:off x="429768" y="5019613"/>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Every assigned waveform is rescaled so that its cycle-mean matches the patient's measured cardiac output.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Mesh and temporal discretization</a:t>
            </a:r>
          </a:p>
        </p:txBody>
      </p:sp>
      <p:sp>
        <p:nvSpPr>
          <p:cNvPr id="4" name="Ribbon_seg1"/>
          <p:cNvSpPr/>
          <p:nvPr/>
        </p:nvSpPr>
        <p:spPr>
          <a:xfrm>
            <a:off x="320040"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VALIDATED</a:t>
            </a:r>
          </a:p>
        </p:txBody>
      </p:sp>
      <p:sp>
        <p:nvSpPr>
          <p:cNvPr id="12" name="S14_text_Discretization_settings"/>
          <p:cNvSpPr txBox="1"/>
          <p:nvPr/>
        </p:nvSpPr>
        <p:spPr>
          <a:xfrm>
            <a:off x="320040" y="1426464"/>
            <a:ext cx="4160520" cy="201168"/>
          </a:xfrm>
          <a:prstGeom prst="rect">
            <a:avLst/>
          </a:prstGeom>
          <a:noFill/>
        </p:spPr>
        <p:txBody>
          <a:bodyPr wrap="square" lIns="27432" tIns="0" rIns="27432" bIns="0" anchor="t">
            <a:spAutoFit/>
          </a:bodyPr>
          <a:lstStyle/>
          <a:p>
            <a:pPr algn="l"/>
            <a:r>
              <a:rPr sz="1400" b="1" i="0">
                <a:solidFill>
                  <a:srgbClr val="8C1515"/>
                </a:solidFill>
                <a:latin typeface="Calibri"/>
              </a:rPr>
              <a:t>Discretization settings</a:t>
            </a:r>
          </a:p>
        </p:txBody>
      </p:sp>
      <p:sp>
        <p:nvSpPr>
          <p:cNvPr id="13" name="S14_shape"/>
          <p:cNvSpPr/>
          <p:nvPr/>
        </p:nvSpPr>
        <p:spPr>
          <a:xfrm>
            <a:off x="4663440" y="1426464"/>
            <a:ext cx="4160520" cy="17373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14_text_Why_two_mesh"/>
          <p:cNvSpPr txBox="1"/>
          <p:nvPr/>
        </p:nvSpPr>
        <p:spPr>
          <a:xfrm>
            <a:off x="4791455" y="1527048"/>
            <a:ext cx="3904487" cy="219456"/>
          </a:xfrm>
          <a:prstGeom prst="rect">
            <a:avLst/>
          </a:prstGeom>
          <a:noFill/>
        </p:spPr>
        <p:txBody>
          <a:bodyPr wrap="square" lIns="27432" tIns="0" rIns="27432" bIns="0" anchor="t">
            <a:spAutoFit/>
          </a:bodyPr>
          <a:lstStyle/>
          <a:p>
            <a:pPr algn="l"/>
            <a:r>
              <a:rPr sz="1400" b="1" i="0">
                <a:solidFill>
                  <a:srgbClr val="E98300"/>
                </a:solidFill>
                <a:latin typeface="Calibri"/>
              </a:rPr>
              <a:t>Why two mesh configurations</a:t>
            </a:r>
          </a:p>
        </p:txBody>
      </p:sp>
      <p:sp>
        <p:nvSpPr>
          <p:cNvPr id="15" name="S14_text_Tuning_needs_many"/>
          <p:cNvSpPr txBox="1"/>
          <p:nvPr/>
        </p:nvSpPr>
        <p:spPr>
          <a:xfrm>
            <a:off x="4791455" y="1801368"/>
            <a:ext cx="3904487" cy="1325880"/>
          </a:xfrm>
          <a:prstGeom prst="rect">
            <a:avLst/>
          </a:prstGeom>
          <a:noFill/>
        </p:spPr>
        <p:txBody>
          <a:bodyPr wrap="square" lIns="27432" tIns="0" rIns="27432" bIns="0">
            <a:spAutoFit/>
          </a:bodyPr>
          <a:lstStyle/>
          <a:p>
            <a:pPr>
              <a:spcAft>
                <a:spcPts val="350"/>
              </a:spcAft>
            </a:pPr>
            <a:r>
              <a:rPr sz="1100">
                <a:solidFill>
                  <a:srgbClr val="E98300"/>
                </a:solidFill>
                <a:latin typeface="Calibri"/>
              </a:rPr>
              <a:t>• </a:t>
            </a:r>
            <a:r>
              <a:rPr sz="1100">
                <a:solidFill>
                  <a:srgbClr val="2E2D29"/>
                </a:solidFill>
                <a:latin typeface="Calibri"/>
              </a:rPr>
              <a:t>Tuning needs many 3D evaluations, so the boundary layer is dropped to keep each outer iteration affordable</a:t>
            </a:r>
          </a:p>
          <a:p>
            <a:pPr>
              <a:spcAft>
                <a:spcPts val="350"/>
              </a:spcAft>
            </a:pPr>
            <a:r>
              <a:rPr sz="1100">
                <a:solidFill>
                  <a:srgbClr val="E98300"/>
                </a:solidFill>
                <a:latin typeface="Calibri"/>
              </a:rPr>
              <a:t>• </a:t>
            </a:r>
            <a:r>
              <a:rPr sz="1100">
                <a:solidFill>
                  <a:srgbClr val="2E2D29"/>
                </a:solidFill>
                <a:latin typeface="Calibri"/>
              </a:rPr>
              <a:t>Final pre-op, post-op and adapted runs use the boundary-layer mesh for wall shear stress fidelity</a:t>
            </a:r>
          </a:p>
        </p:txBody>
      </p:sp>
      <p:sp>
        <p:nvSpPr>
          <p:cNvPr id="16" name="S14_shape_2"/>
          <p:cNvSpPr/>
          <p:nvPr/>
        </p:nvSpPr>
        <p:spPr>
          <a:xfrm>
            <a:off x="4663440" y="3291840"/>
            <a:ext cx="4160520" cy="14173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14_text_Open_question_to"/>
          <p:cNvSpPr txBox="1"/>
          <p:nvPr/>
        </p:nvSpPr>
        <p:spPr>
          <a:xfrm>
            <a:off x="4791455" y="3392424"/>
            <a:ext cx="2761487" cy="219456"/>
          </a:xfrm>
          <a:prstGeom prst="rect">
            <a:avLst/>
          </a:prstGeom>
          <a:noFill/>
        </p:spPr>
        <p:txBody>
          <a:bodyPr wrap="square" lIns="27432" tIns="0" rIns="27432" bIns="0" anchor="t">
            <a:spAutoFit/>
          </a:bodyPr>
          <a:lstStyle/>
          <a:p>
            <a:pPr algn="l"/>
            <a:r>
              <a:rPr sz="1400" b="1" i="0">
                <a:solidFill>
                  <a:srgbClr val="E98300"/>
                </a:solidFill>
                <a:latin typeface="Calibri"/>
              </a:rPr>
              <a:t>Open question to document</a:t>
            </a:r>
          </a:p>
        </p:txBody>
      </p:sp>
      <p:sp>
        <p:nvSpPr>
          <p:cNvPr id="18" name="S14_shape_3"/>
          <p:cNvSpPr/>
          <p:nvPr/>
        </p:nvSpPr>
        <p:spPr>
          <a:xfrm>
            <a:off x="7580375" y="3401568"/>
            <a:ext cx="1097280" cy="173736"/>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14_text_IN_DEVELOPMENT"/>
          <p:cNvSpPr txBox="1"/>
          <p:nvPr/>
        </p:nvSpPr>
        <p:spPr>
          <a:xfrm>
            <a:off x="7580375" y="3401568"/>
            <a:ext cx="1097280" cy="173736"/>
          </a:xfrm>
          <a:prstGeom prst="rect">
            <a:avLst/>
          </a:prstGeom>
          <a:noFill/>
        </p:spPr>
        <p:txBody>
          <a:bodyPr wrap="square" lIns="18288" tIns="0" rIns="18288" bIns="0" anchor="ctr">
            <a:spAutoFit/>
          </a:bodyPr>
          <a:lstStyle/>
          <a:p>
            <a:pPr algn="ctr"/>
            <a:r>
              <a:rPr sz="1100" b="1">
                <a:solidFill>
                  <a:srgbClr val="FFFFFF"/>
                </a:solidFill>
                <a:latin typeface="Calibri"/>
              </a:rPr>
              <a:t>IN DEVELOPMENT</a:t>
            </a:r>
          </a:p>
        </p:txBody>
      </p:sp>
      <p:sp>
        <p:nvSpPr>
          <p:cNvPr id="20" name="S14_text_Boundary_layer_meshes"/>
          <p:cNvSpPr txBox="1"/>
          <p:nvPr/>
        </p:nvSpPr>
        <p:spPr>
          <a:xfrm>
            <a:off x="4791455" y="3666744"/>
            <a:ext cx="3904487" cy="1005840"/>
          </a:xfrm>
          <a:prstGeom prst="rect">
            <a:avLst/>
          </a:prstGeom>
          <a:noFill/>
        </p:spPr>
        <p:txBody>
          <a:bodyPr wrap="square" lIns="27432" tIns="0" rIns="27432" bIns="0">
            <a:spAutoFit/>
          </a:bodyPr>
          <a:lstStyle/>
          <a:p>
            <a:pPr>
              <a:spcAft>
                <a:spcPts val="350"/>
              </a:spcAft>
            </a:pPr>
            <a:r>
              <a:rPr sz="1100">
                <a:solidFill>
                  <a:srgbClr val="E98300"/>
                </a:solidFill>
                <a:latin typeface="Calibri"/>
              </a:rPr>
              <a:t>• </a:t>
            </a:r>
            <a:r>
              <a:rPr sz="1100">
                <a:solidFill>
                  <a:srgbClr val="2E2D29"/>
                </a:solidFill>
                <a:latin typeface="Calibri"/>
              </a:rPr>
              <a:t>Boundary-layer meshes change the computed pressure drop, so tuned parameters are strictly valid for the mesh they were tuned on</a:t>
            </a:r>
          </a:p>
          <a:p>
            <a:pPr>
              <a:spcAft>
                <a:spcPts val="350"/>
              </a:spcAft>
            </a:pPr>
            <a:r>
              <a:rPr sz="1100">
                <a:solidFill>
                  <a:srgbClr val="E98300"/>
                </a:solidFill>
                <a:latin typeface="Calibri"/>
              </a:rPr>
              <a:t>• </a:t>
            </a:r>
            <a:r>
              <a:rPr sz="1100">
                <a:solidFill>
                  <a:srgbClr val="2E2D29"/>
                </a:solidFill>
                <a:latin typeface="Calibri"/>
              </a:rPr>
              <a:t>Worth quantifying the shift for the paper</a:t>
            </a:r>
          </a:p>
        </p:txBody>
      </p:sp>
      <p:sp>
        <p:nvSpPr>
          <p:cNvPr id="21" name="S14_shape_4"/>
          <p:cNvSpPr/>
          <p:nvPr/>
        </p:nvSpPr>
        <p:spPr>
          <a:xfrm>
            <a:off x="320040" y="4828032"/>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14_text_Discretization_is_settled"/>
          <p:cNvSpPr txBox="1"/>
          <p:nvPr/>
        </p:nvSpPr>
        <p:spPr>
          <a:xfrm>
            <a:off x="429768" y="4828032"/>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Discretization is settled; the tuning-mesh to final-mesh consistency check is not.</a:t>
            </a:r>
          </a:p>
        </p:txBody>
      </p:sp>
      <p:graphicFrame>
        <p:nvGraphicFramePr>
          <p:cNvPr id="23" name="S1_discretization_table"/>
          <p:cNvGraphicFramePr>
            <a:graphicFrameLocks noGrp="1"/>
          </p:cNvGraphicFramePr>
          <p:nvPr/>
        </p:nvGraphicFramePr>
        <p:xfrm>
          <a:off x="320040" y="1700784"/>
          <a:ext cx="4160519" cy="1773930"/>
        </p:xfrm>
        <a:graphic>
          <a:graphicData uri="http://schemas.openxmlformats.org/drawingml/2006/table">
            <a:tbl>
              <a:tblPr firstRow="0" bandRow="0">
                <a:tableStyleId>{5C22544A-7EE6-4342-B048-85BDC9FD1C3A}</a:tableStyleId>
              </a:tblPr>
              <a:tblGrid>
                <a:gridCol w="1362455"/>
                <a:gridCol w="2798064"/>
              </a:tblGrid>
              <a:tr h="292608">
                <a:tc>
                  <a:txBody>
                    <a:bodyPr wrap="square"/>
                    <a:lstStyle/>
                    <a:p>
                      <a:r>
                        <a:rPr sz="1200" b="1">
                          <a:solidFill>
                            <a:srgbClr val="2E2D29"/>
                          </a:solidFill>
                          <a:latin typeface="Calibri"/>
                        </a:rPr>
                        <a:t>Mesh edge size</a:t>
                      </a:r>
                    </a:p>
                  </a:txBody>
                  <a:tcPr marL="54864" marR="54864" marT="27432" marB="27432" anchor="ctr">
                    <a:solidFill>
                      <a:srgbClr val="F2F1F0"/>
                    </a:solidFill>
                  </a:tcPr>
                </a:tc>
                <a:tc>
                  <a:txBody>
                    <a:bodyPr wrap="square"/>
                    <a:lstStyle/>
                    <a:p>
                      <a:r>
                        <a:rPr sz="1200" b="0">
                          <a:solidFill>
                            <a:srgbClr val="6B6965"/>
                          </a:solidFill>
                          <a:latin typeface="Calibri"/>
                        </a:rPr>
                        <a:t>≈ 0.035 cm, isotropic tetrahedral</a:t>
                      </a:r>
                    </a:p>
                  </a:txBody>
                  <a:tcPr marL="54864" marR="54864" marT="27432" marB="27432" anchor="ctr">
                    <a:solidFill>
                      <a:srgbClr val="F2F1F0"/>
                    </a:solidFill>
                  </a:tcPr>
                </a:tc>
              </a:tr>
              <a:tr h="246887">
                <a:tc>
                  <a:txBody>
                    <a:bodyPr wrap="square"/>
                    <a:lstStyle/>
                    <a:p>
                      <a:r>
                        <a:rPr sz="1200" b="1">
                          <a:solidFill>
                            <a:srgbClr val="2E2D29"/>
                          </a:solidFill>
                          <a:latin typeface="Calibri"/>
                        </a:rPr>
                        <a:t>Boundary layer</a:t>
                      </a:r>
                    </a:p>
                  </a:txBody>
                  <a:tcPr marL="54864" marR="54864" marT="27432" marB="27432" anchor="ctr">
                    <a:solidFill>
                      <a:srgbClr val="FFFFFF"/>
                    </a:solidFill>
                  </a:tcPr>
                </a:tc>
                <a:tc>
                  <a:txBody>
                    <a:bodyPr wrap="square"/>
                    <a:lstStyle/>
                    <a:p>
                      <a:r>
                        <a:rPr sz="1200" b="0">
                          <a:solidFill>
                            <a:srgbClr val="6B6965"/>
                          </a:solidFill>
                          <a:latin typeface="Calibri"/>
                        </a:rPr>
                        <a:t>Off during tuning, on for final runs</a:t>
                      </a:r>
                    </a:p>
                  </a:txBody>
                  <a:tcPr marL="54864" marR="54864" marT="27432" marB="27432" anchor="ctr">
                    <a:solidFill>
                      <a:srgbClr val="FFFFFF"/>
                    </a:solidFill>
                  </a:tcPr>
                </a:tc>
              </a:tr>
              <a:tr h="246887">
                <a:tc>
                  <a:txBody>
                    <a:bodyPr wrap="square"/>
                    <a:lstStyle/>
                    <a:p>
                      <a:r>
                        <a:rPr sz="1200" b="1">
                          <a:solidFill>
                            <a:srgbClr val="2E2D29"/>
                          </a:solidFill>
                          <a:latin typeface="Calibri"/>
                        </a:rPr>
                        <a:t>Timesteps per cycle</a:t>
                      </a:r>
                    </a:p>
                  </a:txBody>
                  <a:tcPr marL="54864" marR="54864" marT="27432" marB="27432" anchor="ctr">
                    <a:solidFill>
                      <a:srgbClr val="F2F1F0"/>
                    </a:solidFill>
                  </a:tcPr>
                </a:tc>
                <a:tc>
                  <a:txBody>
                    <a:bodyPr wrap="square"/>
                    <a:lstStyle/>
                    <a:p>
                      <a:r>
                        <a:rPr sz="1200" b="0">
                          <a:solidFill>
                            <a:srgbClr val="6B6965"/>
                          </a:solidFill>
                          <a:latin typeface="Calibri"/>
                        </a:rPr>
                        <a:t>2000, every patient (dt = period / 2000)</a:t>
                      </a:r>
                    </a:p>
                  </a:txBody>
                  <a:tcPr marL="54864" marR="54864" marT="27432" marB="27432" anchor="ctr">
                    <a:solidFill>
                      <a:srgbClr val="F2F1F0"/>
                    </a:solidFill>
                  </a:tcPr>
                </a:tc>
              </a:tr>
              <a:tr h="246887">
                <a:tc>
                  <a:txBody>
                    <a:bodyPr wrap="square"/>
                    <a:lstStyle/>
                    <a:p>
                      <a:r>
                        <a:rPr sz="1200" b="1">
                          <a:solidFill>
                            <a:srgbClr val="2E2D29"/>
                          </a:solidFill>
                          <a:latin typeface="Calibri"/>
                        </a:rPr>
                        <a:t>Timestep size</a:t>
                      </a:r>
                    </a:p>
                  </a:txBody>
                  <a:tcPr marL="54864" marR="54864" marT="27432" marB="27432" anchor="ctr">
                    <a:solidFill>
                      <a:srgbClr val="FFFFFF"/>
                    </a:solidFill>
                  </a:tcPr>
                </a:tc>
                <a:tc>
                  <a:txBody>
                    <a:bodyPr wrap="square"/>
                    <a:lstStyle/>
                    <a:p>
                      <a:r>
                        <a:rPr sz="1200" b="0">
                          <a:solidFill>
                            <a:srgbClr val="6B6965"/>
                          </a:solidFill>
                          <a:latin typeface="Calibri"/>
                        </a:rPr>
                        <a:t>4×10⁻⁴ s (0.8 s cycle) or 3.75×10⁻⁴ s (0.75 s)</a:t>
                      </a:r>
                    </a:p>
                  </a:txBody>
                  <a:tcPr marL="54864" marR="54864" marT="27432" marB="27432" anchor="ctr">
                    <a:solidFill>
                      <a:srgbClr val="FFFFFF"/>
                    </a:solidFill>
                  </a:tcPr>
                </a:tc>
              </a:tr>
              <a:tr h="246887">
                <a:tc>
                  <a:txBody>
                    <a:bodyPr wrap="square"/>
                    <a:lstStyle/>
                    <a:p>
                      <a:r>
                        <a:rPr sz="1200" b="1">
                          <a:solidFill>
                            <a:srgbClr val="2E2D29"/>
                          </a:solidFill>
                          <a:latin typeface="Calibri"/>
                        </a:rPr>
                        <a:t>Cycles: tuning</a:t>
                      </a:r>
                    </a:p>
                  </a:txBody>
                  <a:tcPr marL="54864" marR="54864" marT="27432" marB="27432" anchor="ctr">
                    <a:solidFill>
                      <a:srgbClr val="F2F1F0"/>
                    </a:solidFill>
                  </a:tcPr>
                </a:tc>
                <a:tc>
                  <a:txBody>
                    <a:bodyPr wrap="square"/>
                    <a:lstStyle/>
                    <a:p>
                      <a:r>
                        <a:rPr sz="1200" b="0">
                          <a:solidFill>
                            <a:srgbClr val="6B6965"/>
                          </a:solidFill>
                          <a:latin typeface="Calibri"/>
                        </a:rPr>
                        <a:t>3 (6000 steps), metrics from the last</a:t>
                      </a:r>
                    </a:p>
                  </a:txBody>
                  <a:tcPr marL="54864" marR="54864" marT="27432" marB="27432" anchor="ctr">
                    <a:solidFill>
                      <a:srgbClr val="F2F1F0"/>
                    </a:solidFill>
                  </a:tcPr>
                </a:tc>
              </a:tr>
              <a:tr h="246887">
                <a:tc>
                  <a:txBody>
                    <a:bodyPr wrap="square"/>
                    <a:lstStyle/>
                    <a:p>
                      <a:r>
                        <a:rPr sz="1200" b="1">
                          <a:solidFill>
                            <a:srgbClr val="2E2D29"/>
                          </a:solidFill>
                          <a:latin typeface="Calibri"/>
                        </a:rPr>
                        <a:t>Cycles: final</a:t>
                      </a:r>
                    </a:p>
                  </a:txBody>
                  <a:tcPr marL="54864" marR="54864" marT="27432" marB="27432" anchor="ctr">
                    <a:solidFill>
                      <a:srgbClr val="FFFFFF"/>
                    </a:solidFill>
                  </a:tcPr>
                </a:tc>
                <a:tc>
                  <a:txBody>
                    <a:bodyPr wrap="square"/>
                    <a:lstStyle/>
                    <a:p>
                      <a:r>
                        <a:rPr sz="1200" b="0">
                          <a:solidFill>
                            <a:srgbClr val="6B6965"/>
                          </a:solidFill>
                          <a:latin typeface="Calibri"/>
                        </a:rPr>
                        <a:t>3</a:t>
                      </a:r>
                    </a:p>
                  </a:txBody>
                  <a:tcPr marL="54864" marR="54864" marT="27432" marB="27432" anchor="ctr">
                    <a:solidFill>
                      <a:srgbClr val="FFFFFF"/>
                    </a:solidFill>
                  </a:tcPr>
                </a:tc>
              </a:tr>
              <a:tr h="246887">
                <a:tc>
                  <a:txBody>
                    <a:bodyPr wrap="square"/>
                    <a:lstStyle/>
                    <a:p>
                      <a:r>
                        <a:rPr sz="1200" b="1">
                          <a:solidFill>
                            <a:srgbClr val="2E2D29"/>
                          </a:solidFill>
                          <a:latin typeface="Calibri"/>
                        </a:rPr>
                        <a:t>Solver</a:t>
                      </a:r>
                    </a:p>
                  </a:txBody>
                  <a:tcPr marL="54864" marR="54864" marT="27432" marB="27432" anchor="ctr">
                    <a:solidFill>
                      <a:srgbClr val="F2F1F0"/>
                    </a:solidFill>
                  </a:tcPr>
                </a:tc>
                <a:tc>
                  <a:txBody>
                    <a:bodyPr wrap="square"/>
                    <a:lstStyle/>
                    <a:p>
                      <a:r>
                        <a:rPr sz="1200" b="0">
                          <a:solidFill>
                            <a:srgbClr val="6B6965"/>
                          </a:solidFill>
                          <a:latin typeface="Calibri"/>
                        </a:rPr>
                        <a:t>svMultiPhysics</a:t>
                      </a:r>
                    </a:p>
                  </a:txBody>
                  <a:tcPr marL="54864" marR="54864" marT="27432" marB="27432" anchor="ctr">
                    <a:solidFill>
                      <a:srgbClr val="F2F1F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Path to publication: Stage 1</a:t>
            </a:r>
          </a:p>
        </p:txBody>
      </p:sp>
      <p:sp>
        <p:nvSpPr>
          <p:cNvPr id="4" name="Ribbon_seg1"/>
          <p:cNvSpPr/>
          <p:nvPr/>
        </p:nvSpPr>
        <p:spPr>
          <a:xfrm>
            <a:off x="320040"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VALIDATED</a:t>
            </a:r>
          </a:p>
        </p:txBody>
      </p:sp>
      <p:graphicFrame>
        <p:nvGraphicFramePr>
          <p:cNvPr id="12" name="S1_path_table"/>
          <p:cNvGraphicFramePr>
            <a:graphicFrameLocks noGrp="1"/>
          </p:cNvGraphicFramePr>
          <p:nvPr/>
        </p:nvGraphicFramePr>
        <p:xfrm>
          <a:off x="320040" y="1417320"/>
          <a:ext cx="8503920" cy="2414016"/>
        </p:xfrm>
        <a:graphic>
          <a:graphicData uri="http://schemas.openxmlformats.org/drawingml/2006/table">
            <a:tbl>
              <a:tblPr firstRow="1" bandRow="0">
                <a:tableStyleId>{5C22544A-7EE6-4342-B048-85BDC9FD1C3A}</a:tableStyleId>
              </a:tblPr>
              <a:tblGrid>
                <a:gridCol w="4572000"/>
                <a:gridCol w="1325880"/>
                <a:gridCol w="2606040"/>
              </a:tblGrid>
              <a:tr h="402336">
                <a:tc>
                  <a:txBody>
                    <a:bodyPr wrap="square"/>
                    <a:lstStyle/>
                    <a:p>
                      <a:r>
                        <a:rPr sz="1300" b="1">
                          <a:solidFill>
                            <a:srgbClr val="FFFFFF"/>
                          </a:solidFill>
                          <a:latin typeface="Calibri"/>
                        </a:rPr>
                        <a:t>Action item</a:t>
                      </a:r>
                    </a:p>
                  </a:txBody>
                  <a:tcPr marL="54864" marR="54864" marT="27432" marB="27432" anchor="ctr">
                    <a:solidFill>
                      <a:srgbClr val="8C1515"/>
                    </a:solidFill>
                  </a:tcPr>
                </a:tc>
                <a:tc>
                  <a:txBody>
                    <a:bodyPr wrap="square"/>
                    <a:lstStyle/>
                    <a:p>
                      <a:r>
                        <a:rPr sz="1300" b="1">
                          <a:solidFill>
                            <a:srgbClr val="FFFFFF"/>
                          </a:solidFill>
                          <a:latin typeface="Calibri"/>
                        </a:rPr>
                        <a:t>Status</a:t>
                      </a:r>
                    </a:p>
                  </a:txBody>
                  <a:tcPr marL="54864" marR="54864" marT="27432" marB="27432" anchor="ctr">
                    <a:solidFill>
                      <a:srgbClr val="8C1515"/>
                    </a:solidFill>
                  </a:tcPr>
                </a:tc>
                <a:tc>
                  <a:txBody>
                    <a:bodyPr wrap="square"/>
                    <a:lstStyle/>
                    <a:p>
                      <a:r>
                        <a:rPr sz="1300" b="1">
                          <a:solidFill>
                            <a:srgbClr val="FFFFFF"/>
                          </a:solidFill>
                          <a:latin typeface="Calibri"/>
                        </a:rPr>
                        <a:t>What it gates</a:t>
                      </a:r>
                    </a:p>
                  </a:txBody>
                  <a:tcPr marL="54864" marR="54864" marT="27432" marB="27432" anchor="ctr">
                    <a:solidFill>
                      <a:srgbClr val="8C1515"/>
                    </a:solidFill>
                  </a:tcPr>
                </a:tc>
              </a:tr>
              <a:tr h="402336">
                <a:tc>
                  <a:txBody>
                    <a:bodyPr wrap="square"/>
                    <a:lstStyle/>
                    <a:p>
                      <a:r>
                        <a:rPr sz="1300" b="0">
                          <a:solidFill>
                            <a:srgbClr val="2E2D29"/>
                          </a:solidFill>
                          <a:latin typeface="Calibri"/>
                        </a:rPr>
                        <a:t>Scale mesh, centerline and 0D seed together (TST-STAN-1, -9)</a:t>
                      </a:r>
                    </a:p>
                  </a:txBody>
                  <a:tcPr marL="54864" marR="54864" marT="27432" marB="27432" anchor="ctr">
                    <a:solidFill>
                      <a:srgbClr val="FFFFFF"/>
                    </a:solidFill>
                  </a:tcPr>
                </a:tc>
                <a:tc>
                  <a:txBody>
                    <a:bodyPr wrap="square"/>
                    <a:lstStyle/>
                    <a:p>
                      <a:r>
                        <a:rPr sz="1300" b="1">
                          <a:solidFill>
                            <a:srgbClr val="279989"/>
                          </a:solidFill>
                          <a:latin typeface="Calibri"/>
                        </a:rPr>
                        <a:t>Done (14 Oct)</a:t>
                      </a:r>
                    </a:p>
                  </a:txBody>
                  <a:tcPr marL="54864" marR="54864" marT="27432" marB="27432" anchor="ctr">
                    <a:solidFill>
                      <a:srgbClr val="DCEFEC"/>
                    </a:solidFill>
                  </a:tcPr>
                </a:tc>
                <a:tc>
                  <a:txBody>
                    <a:bodyPr wrap="square"/>
                    <a:lstStyle/>
                    <a:p>
                      <a:r>
                        <a:rPr sz="1300" b="0">
                          <a:solidFill>
                            <a:srgbClr val="6B6965"/>
                          </a:solidFill>
                          <a:latin typeface="Calibri"/>
                        </a:rPr>
                        <a:t>Valid 0D/3D comparison for 1 and 9</a:t>
                      </a:r>
                    </a:p>
                  </a:txBody>
                  <a:tcPr marL="54864" marR="54864" marT="27432" marB="27432" anchor="ctr">
                    <a:solidFill>
                      <a:srgbClr val="FFFFFF"/>
                    </a:solidFill>
                  </a:tcPr>
                </a:tc>
              </a:tr>
              <a:tr h="402336">
                <a:tc>
                  <a:txBody>
                    <a:bodyPr wrap="square"/>
                    <a:lstStyle/>
                    <a:p>
                      <a:r>
                        <a:rPr sz="1300" b="0">
                          <a:solidFill>
                            <a:srgbClr val="2E2D29"/>
                          </a:solidFill>
                          <a:latin typeface="Calibri"/>
                        </a:rPr>
                        <a:t>Quantify how the boundary-layer mesh shifts the tuned parameters</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Final runs in Stages 3, 4 and 6</a:t>
                      </a:r>
                    </a:p>
                  </a:txBody>
                  <a:tcPr marL="54864" marR="54864" marT="27432" marB="27432" anchor="ctr">
                    <a:solidFill>
                      <a:srgbClr val="FFFFFF"/>
                    </a:solidFill>
                  </a:tcPr>
                </a:tc>
              </a:tr>
              <a:tr h="402336">
                <a:tc>
                  <a:txBody>
                    <a:bodyPr wrap="square"/>
                    <a:lstStyle/>
                    <a:p>
                      <a:r>
                        <a:rPr sz="1300" b="0">
                          <a:solidFill>
                            <a:srgbClr val="2E2D29"/>
                          </a:solidFill>
                          <a:latin typeface="Calibri"/>
                        </a:rPr>
                        <a:t>TST-STAN-5 flow source: catheter 2.79 vs MRI net 1.55 L/min</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TST-STAN-5 targets</a:t>
                      </a:r>
                    </a:p>
                  </a:txBody>
                  <a:tcPr marL="54864" marR="54864" marT="27432" marB="27432" anchor="ctr">
                    <a:solidFill>
                      <a:srgbClr val="FFFFFF"/>
                    </a:solidFill>
                  </a:tcPr>
                </a:tc>
              </a:tr>
              <a:tr h="402336">
                <a:tc>
                  <a:txBody>
                    <a:bodyPr wrap="square"/>
                    <a:lstStyle/>
                    <a:p>
                      <a:r>
                        <a:rPr sz="1300" b="0">
                          <a:solidFill>
                            <a:srgbClr val="2E2D29"/>
                          </a:solidFill>
                          <a:latin typeface="Calibri"/>
                        </a:rPr>
                        <a:t>Confirm each patient's inflow waveform before tuning</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Every tuning run</a:t>
                      </a:r>
                    </a:p>
                  </a:txBody>
                  <a:tcPr marL="54864" marR="54864" marT="27432" marB="27432" anchor="ctr">
                    <a:solidFill>
                      <a:srgbClr val="FFFFFF"/>
                    </a:solidFill>
                  </a:tcPr>
                </a:tc>
              </a:tr>
              <a:tr h="402336">
                <a:tc>
                  <a:txBody>
                    <a:bodyPr wrap="square"/>
                    <a:lstStyle/>
                    <a:p>
                      <a:r>
                        <a:rPr sz="1300" b="0">
                          <a:solidFill>
                            <a:srgbClr val="2E2D29"/>
                          </a:solidFill>
                          <a:latin typeface="Calibri"/>
                        </a:rPr>
                        <a:t>Check whether TST-STAN-2 needs a missing lobe re-segmented</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TST-STAN-2 flow split</a:t>
                      </a:r>
                    </a:p>
                  </a:txBody>
                  <a:tcPr marL="54864" marR="54864" marT="27432" marB="27432" anchor="ctr">
                    <a:solidFill>
                      <a:srgbClr val="FFFFFF"/>
                    </a:solidFill>
                  </a:tcPr>
                </a:tc>
              </a:tr>
            </a:tbl>
          </a:graphicData>
        </a:graphic>
      </p:graphicFrame>
      <p:sp>
        <p:nvSpPr>
          <p:cNvPr id="13" name="S1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Stage 1 is validated; the open checks decide whether the final meshes and the TST-STAN-5 targets hold.</a:t>
            </a:r>
          </a:p>
        </p:txBody>
      </p:sp>
      <p:sp>
        <p:nvSpPr>
          <p:cNvPr id="14" name="S1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Items from PIPELINE_BRIEF open items and svzt-agent docs/TUNING_MODEL.md section 8 items 6 and 7 (389c580).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ext Placeholder 1"/>
          <p:cNvSpPr>
            <a:spLocks noGrp="1"/>
          </p:cNvSpPr>
          <p:nvPr>
            <p:ph type="body" idx="1"/>
          </p:nvPr>
        </p:nvSpPr>
        <p:spPr>
          <a:xfrm>
            <a:off x="1362456" y="2971800"/>
            <a:ext cx="6400800" cy="658368"/>
          </a:xfrm>
        </p:spPr>
        <p:txBody>
          <a:bodyPr wrap="square" lIns="0" rIns="0"/>
          <a:lstStyle/>
          <a:p>
            <a:r>
              <a:rPr sz="1300">
                <a:solidFill>
                  <a:srgbClr val="FFFFFF"/>
                </a:solidFill>
                <a:latin typeface="Calibri"/>
              </a:rPr>
              <a:t>Identifying structured-tree parameters that reproduce the pre-operative catheter and perfusion measurements.</a:t>
            </a:r>
          </a:p>
        </p:txBody>
      </p:sp>
      <p:sp>
        <p:nvSpPr>
          <p:cNvPr id="4" name="Title 2"/>
          <p:cNvSpPr>
            <a:spLocks noGrp="1"/>
          </p:cNvSpPr>
          <p:nvPr>
            <p:ph type="ctrTitle"/>
          </p:nvPr>
        </p:nvSpPr>
        <p:spPr>
          <a:xfrm>
            <a:off x="1362456" y="1874519"/>
            <a:ext cx="7479792" cy="1005840"/>
          </a:xfrm>
        </p:spPr>
        <p:txBody>
          <a:bodyPr lIns="0" rIns="0" anchor="b"/>
          <a:lstStyle/>
          <a:p>
            <a:r>
              <a:rPr sz="3200">
                <a:solidFill>
                  <a:srgbClr val="FFFFFF"/>
                </a:solidFill>
                <a:latin typeface="Georgia"/>
              </a:rPr>
              <a:t>Boundary Condition Tuning</a:t>
            </a:r>
          </a:p>
        </p:txBody>
      </p:sp>
      <p:sp>
        <p:nvSpPr>
          <p:cNvPr id="5" name="S16_text_STAGE_2_OF"/>
          <p:cNvSpPr txBox="1"/>
          <p:nvPr/>
        </p:nvSpPr>
        <p:spPr>
          <a:xfrm>
            <a:off x="1362456" y="1517904"/>
            <a:ext cx="7479792" cy="256032"/>
          </a:xfrm>
          <a:prstGeom prst="rect">
            <a:avLst/>
          </a:prstGeom>
          <a:noFill/>
        </p:spPr>
        <p:txBody>
          <a:bodyPr wrap="square" lIns="27432" tIns="0" rIns="27432" bIns="0" anchor="t">
            <a:spAutoFit/>
          </a:bodyPr>
          <a:lstStyle/>
          <a:p>
            <a:pPr algn="l"/>
            <a:r>
              <a:rPr sz="1100" b="1" i="0">
                <a:solidFill>
                  <a:srgbClr val="FFFFFF"/>
                </a:solidFill>
                <a:latin typeface="Calibri"/>
              </a:rPr>
              <a:t>STAGE 2 OF 7</a:t>
            </a:r>
          </a:p>
        </p:txBody>
      </p:sp>
      <p:sp>
        <p:nvSpPr>
          <p:cNvPr id="6" name="Ribbon_seg1"/>
          <p:cNvSpPr/>
          <p:nvPr/>
        </p:nvSpPr>
        <p:spPr>
          <a:xfrm>
            <a:off x="13624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1</a:t>
            </a:r>
          </a:p>
          <a:p>
            <a:pPr algn="ctr"/>
            <a:r>
              <a:rPr sz="1100" b="0">
                <a:solidFill>
                  <a:srgbClr val="FFFFFF"/>
                </a:solidFill>
                <a:latin typeface="Calibri"/>
              </a:rPr>
              <a:t>Inputs</a:t>
            </a:r>
          </a:p>
        </p:txBody>
      </p:sp>
      <p:sp>
        <p:nvSpPr>
          <p:cNvPr id="7" name="Ribbon_seg2"/>
          <p:cNvSpPr/>
          <p:nvPr/>
        </p:nvSpPr>
        <p:spPr>
          <a:xfrm>
            <a:off x="2287306" y="4041648"/>
            <a:ext cx="869986"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1">
                <a:solidFill>
                  <a:srgbClr val="007C92"/>
                </a:solidFill>
                <a:latin typeface="Calibri"/>
              </a:rPr>
              <a:t>2</a:t>
            </a:r>
          </a:p>
          <a:p>
            <a:pPr algn="ctr"/>
            <a:r>
              <a:rPr sz="1100" b="1">
                <a:solidFill>
                  <a:srgbClr val="007C92"/>
                </a:solidFill>
                <a:latin typeface="Calibri"/>
              </a:rPr>
              <a:t>BC Tuning</a:t>
            </a:r>
          </a:p>
        </p:txBody>
      </p:sp>
      <p:sp>
        <p:nvSpPr>
          <p:cNvPr id="8" name="Ribbon_seg3"/>
          <p:cNvSpPr/>
          <p:nvPr/>
        </p:nvSpPr>
        <p:spPr>
          <a:xfrm>
            <a:off x="32121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3</a:t>
            </a:r>
          </a:p>
          <a:p>
            <a:pPr algn="ctr"/>
            <a:r>
              <a:rPr sz="1100" b="0">
                <a:solidFill>
                  <a:srgbClr val="FFFFFF"/>
                </a:solidFill>
                <a:latin typeface="Calibri"/>
              </a:rPr>
              <a:t>Pre-op Sim</a:t>
            </a:r>
          </a:p>
        </p:txBody>
      </p:sp>
      <p:sp>
        <p:nvSpPr>
          <p:cNvPr id="9" name="Ribbon_seg4"/>
          <p:cNvSpPr/>
          <p:nvPr/>
        </p:nvSpPr>
        <p:spPr>
          <a:xfrm>
            <a:off x="41370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4</a:t>
            </a:r>
          </a:p>
          <a:p>
            <a:pPr algn="ctr"/>
            <a:r>
              <a:rPr sz="1100" b="0">
                <a:solidFill>
                  <a:srgbClr val="FFFFFF"/>
                </a:solidFill>
                <a:latin typeface="Calibri"/>
              </a:rPr>
              <a:t>Post-op Sim</a:t>
            </a:r>
          </a:p>
        </p:txBody>
      </p:sp>
      <p:sp>
        <p:nvSpPr>
          <p:cNvPr id="10" name="Ribbon_seg5"/>
          <p:cNvSpPr/>
          <p:nvPr/>
        </p:nvSpPr>
        <p:spPr>
          <a:xfrm>
            <a:off x="50618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5</a:t>
            </a:r>
          </a:p>
          <a:p>
            <a:pPr algn="ctr"/>
            <a:r>
              <a:rPr sz="1100" b="0">
                <a:solidFill>
                  <a:srgbClr val="FFFFFF"/>
                </a:solidFill>
                <a:latin typeface="Calibri"/>
              </a:rPr>
              <a:t>Adaptation</a:t>
            </a:r>
          </a:p>
        </p:txBody>
      </p:sp>
      <p:sp>
        <p:nvSpPr>
          <p:cNvPr id="11" name="Ribbon_seg6"/>
          <p:cNvSpPr/>
          <p:nvPr/>
        </p:nvSpPr>
        <p:spPr>
          <a:xfrm>
            <a:off x="598670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6</a:t>
            </a:r>
          </a:p>
          <a:p>
            <a:pPr algn="ctr"/>
            <a:r>
              <a:rPr sz="1100" b="0">
                <a:solidFill>
                  <a:srgbClr val="FFFFFF"/>
                </a:solidFill>
                <a:latin typeface="Calibri"/>
              </a:rPr>
              <a:t>Adapted Sim</a:t>
            </a:r>
          </a:p>
        </p:txBody>
      </p:sp>
      <p:sp>
        <p:nvSpPr>
          <p:cNvPr id="12" name="Ribbon_seg7"/>
          <p:cNvSpPr/>
          <p:nvPr/>
        </p:nvSpPr>
        <p:spPr>
          <a:xfrm>
            <a:off x="69115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7</a:t>
            </a:r>
          </a:p>
          <a:p>
            <a:pPr algn="ctr"/>
            <a:r>
              <a:rPr sz="1100" b="0">
                <a:solidFill>
                  <a:srgbClr val="FFFFFF"/>
                </a:solidFill>
                <a:latin typeface="Calibri"/>
              </a:rPr>
              <a:t>Metrics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What the measurements require from the distal bed</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17_text_Phase_0_lumped"/>
          <p:cNvSpPr txBox="1"/>
          <p:nvPr/>
        </p:nvSpPr>
        <p:spPr>
          <a:xfrm>
            <a:off x="320040" y="1261872"/>
            <a:ext cx="8503920" cy="201168"/>
          </a:xfrm>
          <a:prstGeom prst="rect">
            <a:avLst/>
          </a:prstGeom>
          <a:noFill/>
        </p:spPr>
        <p:txBody>
          <a:bodyPr wrap="square" lIns="0" tIns="0" rIns="0" bIns="0" anchor="ctr"/>
          <a:lstStyle/>
          <a:p>
            <a:pPr algn="l"/>
            <a:r>
              <a:rPr sz="1100" b="1" i="0">
                <a:solidFill>
                  <a:srgbClr val="8C1515"/>
                </a:solidFill>
                <a:latin typeface="Calibri"/>
              </a:rPr>
              <a:t>Phase 0 · lumped Rp–C–Rd model driven by the measured inflow: 54% regurgitant (44.5 mL forward, 23.9 mL back per beat), Pd = 7 mmHg</a:t>
            </a:r>
          </a:p>
        </p:txBody>
      </p:sp>
      <p:sp>
        <p:nvSpPr>
          <p:cNvPr id="13" name="S17_text_Best_lumped_fit"/>
          <p:cNvSpPr txBox="1"/>
          <p:nvPr/>
        </p:nvSpPr>
        <p:spPr>
          <a:xfrm>
            <a:off x="320040" y="1536192"/>
            <a:ext cx="4114800" cy="219456"/>
          </a:xfrm>
          <a:prstGeom prst="rect">
            <a:avLst/>
          </a:prstGeom>
          <a:noFill/>
        </p:spPr>
        <p:txBody>
          <a:bodyPr wrap="square" lIns="0" tIns="0" rIns="0" bIns="0" anchor="ctr"/>
          <a:lstStyle/>
          <a:p>
            <a:pPr algn="l"/>
            <a:r>
              <a:rPr sz="1400" b="1" i="0">
                <a:solidFill>
                  <a:srgbClr val="8C1515"/>
                </a:solidFill>
                <a:latin typeface="Calibri"/>
              </a:rPr>
              <a:t>Best lumped fit vs fixed compliance C</a:t>
            </a:r>
          </a:p>
        </p:txBody>
      </p:sp>
      <p:graphicFrame>
        <p:nvGraphicFramePr>
          <p:cNvPr id="14" name="S17_chart"/>
          <p:cNvGraphicFramePr>
            <a:graphicFrameLocks noGrp="1"/>
          </p:cNvGraphicFramePr>
          <p:nvPr/>
        </p:nvGraphicFramePr>
        <p:xfrm>
          <a:off x="320040" y="1755648"/>
          <a:ext cx="420624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15" name="S17_text_C_1_mL"/>
          <p:cNvSpPr txBox="1"/>
          <p:nvPr/>
        </p:nvSpPr>
        <p:spPr>
          <a:xfrm>
            <a:off x="320040" y="4297680"/>
            <a:ext cx="4114800" cy="329184"/>
          </a:xfrm>
          <a:prstGeom prst="rect">
            <a:avLst/>
          </a:prstGeom>
          <a:noFill/>
        </p:spPr>
        <p:txBody>
          <a:bodyPr wrap="square" lIns="0" tIns="0" rIns="0" bIns="0" anchor="t"/>
          <a:lstStyle/>
          <a:p>
            <a:pPr algn="l"/>
            <a:r>
              <a:rPr sz="1100" b="0" i="0">
                <a:solidFill>
                  <a:srgbClr val="6B6965"/>
                </a:solidFill>
                <a:latin typeface="Calibri"/>
              </a:rPr>
              <a:t>C ≥ ~1 mL/mmHg is required; above that the three pressures cannot tell values apart, so C is bounded below but not identified.</a:t>
            </a:r>
          </a:p>
        </p:txBody>
      </p:sp>
      <p:sp>
        <p:nvSpPr>
          <p:cNvPr id="16" name="S17_text_Impedance_budget_in"/>
          <p:cNvSpPr txBox="1"/>
          <p:nvPr/>
        </p:nvSpPr>
        <p:spPr>
          <a:xfrm>
            <a:off x="4663440" y="1536192"/>
            <a:ext cx="4160520" cy="219456"/>
          </a:xfrm>
          <a:prstGeom prst="rect">
            <a:avLst/>
          </a:prstGeom>
          <a:noFill/>
        </p:spPr>
        <p:txBody>
          <a:bodyPr wrap="square" lIns="0" tIns="0" rIns="0" bIns="0" anchor="ctr"/>
          <a:lstStyle/>
          <a:p>
            <a:pPr algn="l"/>
            <a:r>
              <a:rPr sz="1100" b="1" i="0">
                <a:solidFill>
                  <a:srgbClr val="8C1515"/>
                </a:solidFill>
                <a:latin typeface="Calibri"/>
              </a:rPr>
              <a:t>Impedance budget in front of the compliance (dyn·s/cm⁵)</a:t>
            </a:r>
          </a:p>
        </p:txBody>
      </p:sp>
      <p:sp>
        <p:nvSpPr>
          <p:cNvPr id="17" name="S17_text_Allowed_by_the"/>
          <p:cNvSpPr txBox="1"/>
          <p:nvPr/>
        </p:nvSpPr>
        <p:spPr>
          <a:xfrm>
            <a:off x="4663440" y="1847088"/>
            <a:ext cx="1645920" cy="329184"/>
          </a:xfrm>
          <a:prstGeom prst="rect">
            <a:avLst/>
          </a:prstGeom>
          <a:noFill/>
        </p:spPr>
        <p:txBody>
          <a:bodyPr wrap="square" lIns="0" tIns="0" rIns="0" bIns="0" anchor="ctr"/>
          <a:lstStyle/>
          <a:p>
            <a:pPr algn="l"/>
            <a:r>
              <a:rPr sz="1100" b="0" i="0">
                <a:solidFill>
                  <a:srgbClr val="2E2D29"/>
                </a:solidFill>
                <a:latin typeface="Calibri"/>
              </a:rPr>
              <a:t>Allowed by the measured pulse pressure</a:t>
            </a:r>
          </a:p>
        </p:txBody>
      </p:sp>
      <p:sp>
        <p:nvSpPr>
          <p:cNvPr id="18" name="S17_shape"/>
          <p:cNvSpPr/>
          <p:nvPr/>
        </p:nvSpPr>
        <p:spPr>
          <a:xfrm>
            <a:off x="6355080" y="1883664"/>
            <a:ext cx="854829" cy="256032"/>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17_text_140"/>
          <p:cNvSpPr txBox="1"/>
          <p:nvPr/>
        </p:nvSpPr>
        <p:spPr>
          <a:xfrm>
            <a:off x="7273917" y="1847088"/>
            <a:ext cx="640080" cy="329184"/>
          </a:xfrm>
          <a:prstGeom prst="rect">
            <a:avLst/>
          </a:prstGeom>
          <a:noFill/>
        </p:spPr>
        <p:txBody>
          <a:bodyPr wrap="square" lIns="0" tIns="0" rIns="0" bIns="0" anchor="ctr"/>
          <a:lstStyle/>
          <a:p>
            <a:pPr algn="l"/>
            <a:r>
              <a:rPr sz="1100" b="1" i="0">
                <a:solidFill>
                  <a:srgbClr val="2E2D29"/>
                </a:solidFill>
                <a:latin typeface="Calibri"/>
              </a:rPr>
              <a:t>≤ 140</a:t>
            </a:r>
          </a:p>
        </p:txBody>
      </p:sp>
      <p:sp>
        <p:nvSpPr>
          <p:cNvPr id="20" name="S17_text_Rigid_seed_literature"/>
          <p:cNvSpPr txBox="1"/>
          <p:nvPr/>
        </p:nvSpPr>
        <p:spPr>
          <a:xfrm>
            <a:off x="4663440" y="2322576"/>
            <a:ext cx="1645920" cy="329184"/>
          </a:xfrm>
          <a:prstGeom prst="rect">
            <a:avLst/>
          </a:prstGeom>
          <a:noFill/>
        </p:spPr>
        <p:txBody>
          <a:bodyPr wrap="square" lIns="0" tIns="0" rIns="0" bIns="0" anchor="ctr"/>
          <a:lstStyle/>
          <a:p>
            <a:pPr algn="l"/>
            <a:r>
              <a:rPr sz="1100" b="0" i="0">
                <a:solidFill>
                  <a:srgbClr val="2E2D29"/>
                </a:solidFill>
                <a:latin typeface="Calibri"/>
              </a:rPr>
              <a:t>Rigid seed + literature-stiffness trees</a:t>
            </a:r>
          </a:p>
        </p:txBody>
      </p:sp>
      <p:sp>
        <p:nvSpPr>
          <p:cNvPr id="21" name="S17_shape_2"/>
          <p:cNvSpPr/>
          <p:nvPr/>
        </p:nvSpPr>
        <p:spPr>
          <a:xfrm>
            <a:off x="6355080" y="2359152"/>
            <a:ext cx="744923" cy="256032"/>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S17_shape_3"/>
          <p:cNvSpPr/>
          <p:nvPr/>
        </p:nvSpPr>
        <p:spPr>
          <a:xfrm>
            <a:off x="7100003" y="2359152"/>
            <a:ext cx="702181" cy="256032"/>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17_shape_4"/>
          <p:cNvSpPr/>
          <p:nvPr/>
        </p:nvSpPr>
        <p:spPr>
          <a:xfrm>
            <a:off x="7802185" y="2359152"/>
            <a:ext cx="427414" cy="256032"/>
          </a:xfrm>
          <a:prstGeom prst="rect">
            <a:avLst/>
          </a:prstGeom>
          <a:solidFill>
            <a:srgbClr val="C9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17_text_250_300"/>
          <p:cNvSpPr txBox="1"/>
          <p:nvPr/>
        </p:nvSpPr>
        <p:spPr>
          <a:xfrm>
            <a:off x="8183879" y="2322576"/>
            <a:ext cx="640080" cy="329184"/>
          </a:xfrm>
          <a:prstGeom prst="rect">
            <a:avLst/>
          </a:prstGeom>
          <a:noFill/>
        </p:spPr>
        <p:txBody>
          <a:bodyPr wrap="square" lIns="0" tIns="0" rIns="0" bIns="0" anchor="ctr"/>
          <a:lstStyle/>
          <a:p>
            <a:pPr algn="l"/>
            <a:r>
              <a:rPr sz="1100" b="1" i="0">
                <a:solidFill>
                  <a:srgbClr val="2E2D29"/>
                </a:solidFill>
                <a:latin typeface="Calibri"/>
              </a:rPr>
              <a:t>≈ 250–300</a:t>
            </a:r>
          </a:p>
        </p:txBody>
      </p:sp>
      <p:sp>
        <p:nvSpPr>
          <p:cNvPr id="25" name="S17_text_Earlier_fit_k"/>
          <p:cNvSpPr txBox="1"/>
          <p:nvPr/>
        </p:nvSpPr>
        <p:spPr>
          <a:xfrm>
            <a:off x="4663440" y="2798064"/>
            <a:ext cx="1645920" cy="329184"/>
          </a:xfrm>
          <a:prstGeom prst="rect">
            <a:avLst/>
          </a:prstGeom>
          <a:noFill/>
        </p:spPr>
        <p:txBody>
          <a:bodyPr wrap="square" lIns="0" tIns="0" rIns="0" bIns="0" anchor="ctr"/>
          <a:lstStyle/>
          <a:p>
            <a:pPr algn="l"/>
            <a:r>
              <a:rPr sz="1100" b="0" i="0">
                <a:solidFill>
                  <a:srgbClr val="2E2D29"/>
                </a:solidFill>
                <a:latin typeface="Calibri"/>
              </a:rPr>
              <a:t>Earlier fit (k₃ = 0)</a:t>
            </a:r>
          </a:p>
        </p:txBody>
      </p:sp>
      <p:sp>
        <p:nvSpPr>
          <p:cNvPr id="26" name="S17_shape_5"/>
          <p:cNvSpPr/>
          <p:nvPr/>
        </p:nvSpPr>
        <p:spPr>
          <a:xfrm>
            <a:off x="6355080" y="2834640"/>
            <a:ext cx="744923" cy="256032"/>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17_shape_6"/>
          <p:cNvSpPr/>
          <p:nvPr/>
        </p:nvSpPr>
        <p:spPr>
          <a:xfrm>
            <a:off x="7100003" y="2834640"/>
            <a:ext cx="48847" cy="256032"/>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17_text_130"/>
          <p:cNvSpPr txBox="1"/>
          <p:nvPr/>
        </p:nvSpPr>
        <p:spPr>
          <a:xfrm>
            <a:off x="7273917" y="2798064"/>
            <a:ext cx="640080" cy="329184"/>
          </a:xfrm>
          <a:prstGeom prst="rect">
            <a:avLst/>
          </a:prstGeom>
          <a:noFill/>
        </p:spPr>
        <p:txBody>
          <a:bodyPr wrap="square" lIns="0" tIns="0" rIns="0" bIns="0" anchor="ctr"/>
          <a:lstStyle/>
          <a:p>
            <a:pPr algn="l"/>
            <a:r>
              <a:rPr sz="1100" b="1" i="0">
                <a:solidFill>
                  <a:srgbClr val="2E2D29"/>
                </a:solidFill>
                <a:latin typeface="Calibri"/>
              </a:rPr>
              <a:t>≈ 130</a:t>
            </a:r>
          </a:p>
        </p:txBody>
      </p:sp>
      <p:cxnSp>
        <p:nvCxnSpPr>
          <p:cNvPr id="29" name="S17_connector"/>
          <p:cNvCxnSpPr>
            <a:stCxn id="18" idx="3"/>
            <a:endCxn id="27" idx="2"/>
          </p:cNvCxnSpPr>
          <p:nvPr/>
        </p:nvCxnSpPr>
        <p:spPr>
          <a:xfrm flipH="1">
            <a:off x="7124426" y="2011680"/>
            <a:ext cx="85483" cy="1078992"/>
          </a:xfrm>
          <a:prstGeom prst="line">
            <a:avLst/>
          </a:prstGeom>
          <a:ln w="15875">
            <a:solidFill>
              <a:srgbClr val="279989"/>
            </a:solidFill>
            <a:prstDash val="dash"/>
          </a:ln>
        </p:spPr>
        <p:style>
          <a:lnRef idx="2">
            <a:schemeClr val="accent1"/>
          </a:lnRef>
          <a:fillRef idx="0">
            <a:schemeClr val="accent1"/>
          </a:fillRef>
          <a:effectRef idx="1">
            <a:schemeClr val="accent1"/>
          </a:effectRef>
          <a:fontRef idx="minor">
            <a:schemeClr val="tx1"/>
          </a:fontRef>
        </p:style>
      </p:cxnSp>
      <p:sp>
        <p:nvSpPr>
          <p:cNvPr id="30" name="S17_shape_7"/>
          <p:cNvSpPr/>
          <p:nvPr/>
        </p:nvSpPr>
        <p:spPr>
          <a:xfrm>
            <a:off x="4663440" y="3346704"/>
            <a:ext cx="109728" cy="109728"/>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S17_text_seed_proximal_R"/>
          <p:cNvSpPr txBox="1"/>
          <p:nvPr/>
        </p:nvSpPr>
        <p:spPr>
          <a:xfrm>
            <a:off x="4818888" y="3291840"/>
            <a:ext cx="1097280" cy="219456"/>
          </a:xfrm>
          <a:prstGeom prst="rect">
            <a:avLst/>
          </a:prstGeom>
          <a:noFill/>
        </p:spPr>
        <p:txBody>
          <a:bodyPr wrap="square" lIns="0" tIns="0" rIns="0" bIns="0" anchor="ctr"/>
          <a:lstStyle/>
          <a:p>
            <a:pPr algn="l"/>
            <a:r>
              <a:rPr sz="1100" b="0" i="0">
                <a:solidFill>
                  <a:srgbClr val="6B6965"/>
                </a:solidFill>
                <a:latin typeface="Calibri"/>
              </a:rPr>
              <a:t>seed proximal R ≈ 122</a:t>
            </a:r>
          </a:p>
        </p:txBody>
      </p:sp>
      <p:sp>
        <p:nvSpPr>
          <p:cNvPr id="32" name="S17_shape_8"/>
          <p:cNvSpPr/>
          <p:nvPr/>
        </p:nvSpPr>
        <p:spPr>
          <a:xfrm>
            <a:off x="6025896" y="3346704"/>
            <a:ext cx="109728" cy="10972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17_text_tree_root_impedance"/>
          <p:cNvSpPr txBox="1"/>
          <p:nvPr/>
        </p:nvSpPr>
        <p:spPr>
          <a:xfrm>
            <a:off x="6181344" y="3291840"/>
            <a:ext cx="1234440" cy="219456"/>
          </a:xfrm>
          <a:prstGeom prst="rect">
            <a:avLst/>
          </a:prstGeom>
          <a:noFill/>
        </p:spPr>
        <p:txBody>
          <a:bodyPr wrap="square" lIns="0" tIns="0" rIns="0" bIns="0" anchor="ctr"/>
          <a:lstStyle/>
          <a:p>
            <a:pPr algn="l"/>
            <a:r>
              <a:rPr sz="1100" b="0" i="0">
                <a:solidFill>
                  <a:srgbClr val="6B6965"/>
                </a:solidFill>
                <a:latin typeface="Calibri"/>
              </a:rPr>
              <a:t>tree-root impedance ρc/A</a:t>
            </a:r>
          </a:p>
        </p:txBody>
      </p:sp>
      <p:sp>
        <p:nvSpPr>
          <p:cNvPr id="34" name="S17_shape_9"/>
          <p:cNvSpPr/>
          <p:nvPr/>
        </p:nvSpPr>
        <p:spPr>
          <a:xfrm>
            <a:off x="7525512" y="3346704"/>
            <a:ext cx="109728" cy="109728"/>
          </a:xfrm>
          <a:prstGeom prst="rect">
            <a:avLst/>
          </a:prstGeom>
          <a:solidFill>
            <a:srgbClr val="C9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S17_text_its_115_185"/>
          <p:cNvSpPr txBox="1"/>
          <p:nvPr/>
        </p:nvSpPr>
        <p:spPr>
          <a:xfrm>
            <a:off x="7680960" y="3291840"/>
            <a:ext cx="914400" cy="219456"/>
          </a:xfrm>
          <a:prstGeom prst="rect">
            <a:avLst/>
          </a:prstGeom>
          <a:noFill/>
        </p:spPr>
        <p:txBody>
          <a:bodyPr wrap="square" lIns="0" tIns="0" rIns="0" bIns="0" anchor="ctr"/>
          <a:lstStyle/>
          <a:p>
            <a:pPr algn="l"/>
            <a:r>
              <a:rPr sz="1100" b="0" i="0">
                <a:solidFill>
                  <a:srgbClr val="6B6965"/>
                </a:solidFill>
                <a:latin typeface="Calibri"/>
              </a:rPr>
              <a:t>its 115–185 range</a:t>
            </a:r>
          </a:p>
        </p:txBody>
      </p:sp>
      <p:sp>
        <p:nvSpPr>
          <p:cNvPr id="36" name="S17_shape_10"/>
          <p:cNvSpPr/>
          <p:nvPr/>
        </p:nvSpPr>
        <p:spPr>
          <a:xfrm>
            <a:off x="4663440" y="3639312"/>
            <a:ext cx="4160520" cy="969264"/>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17_text_Consequence_With_Rp"/>
          <p:cNvSpPr txBox="1"/>
          <p:nvPr/>
        </p:nvSpPr>
        <p:spPr>
          <a:xfrm>
            <a:off x="4791456" y="3703320"/>
            <a:ext cx="3931920" cy="868680"/>
          </a:xfrm>
          <a:prstGeom prst="rect">
            <a:avLst/>
          </a:prstGeom>
          <a:noFill/>
        </p:spPr>
        <p:txBody>
          <a:bodyPr wrap="square" lIns="0" tIns="0" rIns="0" bIns="0" anchor="t"/>
          <a:lstStyle/>
          <a:p>
            <a:pPr algn="l"/>
            <a:r>
              <a:rPr sz="1100" b="1" i="0">
                <a:solidFill>
                  <a:srgbClr val="8C1515"/>
                </a:solidFill>
                <a:latin typeface="Calibri"/>
              </a:rPr>
              <a:t>Consequence</a:t>
            </a:r>
          </a:p>
          <a:p>
            <a:pPr algn="l">
              <a:spcBef>
                <a:spcPts val="300"/>
              </a:spcBef>
            </a:pPr>
            <a:r>
              <a:rPr sz="1100" b="0" i="0">
                <a:solidFill>
                  <a:srgbClr val="2E2D29"/>
                </a:solidFill>
                <a:latin typeface="Calibri"/>
              </a:rPr>
              <a:t>With Rp ≈ 250–300 a Windkessel predicts 46–51 / −9 to −14 mmHg, the pattern every literature-stiffness case produced. k₃ = 0 fits only because it removes the root impedance.</a:t>
            </a:r>
          </a:p>
        </p:txBody>
      </p:sp>
      <p:sp>
        <p:nvSpPr>
          <p:cNvPr id="38" name="S17_shape_11"/>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17_text_The_trees_must"/>
          <p:cNvSpPr txBox="1"/>
          <p:nvPr/>
        </p:nvSpPr>
        <p:spPr>
          <a:xfrm>
            <a:off x="429768" y="4700016"/>
            <a:ext cx="8284464" cy="310896"/>
          </a:xfrm>
          <a:prstGeom prst="rect">
            <a:avLst/>
          </a:prstGeom>
          <a:noFill/>
        </p:spPr>
        <p:txBody>
          <a:bodyPr wrap="square" lIns="0" tIns="0" rIns="0" bIns="0" anchor="ctr"/>
          <a:lstStyle/>
          <a:p>
            <a:pPr algn="l"/>
            <a:r>
              <a:rPr sz="1400" b="1" i="0">
                <a:solidFill>
                  <a:srgbClr val="8C1515"/>
                </a:solidFill>
                <a:latin typeface="Calibri"/>
              </a:rPr>
              <a:t>The trees must supply ≳ 1 mL/mmHg of compliance with ≤ ~140 dyn·s/cm⁵ of impedance in front of it.</a:t>
            </a:r>
          </a:p>
        </p:txBody>
      </p:sp>
      <p:sp>
        <p:nvSpPr>
          <p:cNvPr id="40" name="S17_text_Pulse_pressure_31"/>
          <p:cNvSpPr txBox="1"/>
          <p:nvPr/>
        </p:nvSpPr>
        <p:spPr>
          <a:xfrm>
            <a:off x="2011680" y="5376672"/>
            <a:ext cx="6812280" cy="201168"/>
          </a:xfrm>
          <a:prstGeom prst="rect">
            <a:avLst/>
          </a:prstGeom>
          <a:noFill/>
        </p:spPr>
        <p:txBody>
          <a:bodyPr wrap="square" lIns="0" tIns="0" rIns="0" bIns="0" anchor="ctr"/>
          <a:lstStyle/>
          <a:p>
            <a:pPr algn="l"/>
            <a:r>
              <a:rPr sz="700" b="0" i="1">
                <a:solidFill>
                  <a:srgbClr val="6B6965"/>
                </a:solidFill>
                <a:latin typeface="Calibri"/>
              </a:rPr>
              <a:t>Pulse pressure 31 mmHg ÷ inflow swing ≈ 290 mL/s ≈ 140 dyn·s/cm⁵. Root impedance: 23 roots in parallel. C fixed, Rp and Rd refit at each point. REPORT.md Phase 0; FINDINGS.md finding 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Can proximal and tree stiffness be tuned apart?</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18_text_TST_STAN_3"/>
          <p:cNvSpPr txBox="1"/>
          <p:nvPr/>
        </p:nvSpPr>
        <p:spPr>
          <a:xfrm>
            <a:off x="320040" y="1316736"/>
            <a:ext cx="4937760" cy="219456"/>
          </a:xfrm>
          <a:prstGeom prst="rect">
            <a:avLst/>
          </a:prstGeom>
          <a:noFill/>
        </p:spPr>
        <p:txBody>
          <a:bodyPr wrap="square" lIns="0" rIns="0" tIns="0" bIns="0" anchor="t">
            <a:spAutoFit/>
          </a:bodyPr>
          <a:lstStyle/>
          <a:p>
            <a:pPr algn="l"/>
            <a:r>
              <a:rPr sz="1100" b="1" i="0">
                <a:solidFill>
                  <a:srgbClr val="8C1515"/>
                </a:solidFill>
                <a:latin typeface="Calibri"/>
              </a:rPr>
              <a:t>TST-STAN-3 profile over k₃ (proximal Eh/r and ξ, η refit)</a:t>
            </a:r>
          </a:p>
        </p:txBody>
      </p:sp>
      <p:graphicFrame>
        <p:nvGraphicFramePr>
          <p:cNvPr id="13" name="S18_chart"/>
          <p:cNvGraphicFramePr>
            <a:graphicFrameLocks noGrp="1"/>
          </p:cNvGraphicFramePr>
          <p:nvPr/>
        </p:nvGraphicFramePr>
        <p:xfrm>
          <a:off x="320040" y="1554480"/>
          <a:ext cx="4937760" cy="2240280"/>
        </p:xfrm>
        <a:graphic>
          <a:graphicData uri="http://schemas.openxmlformats.org/drawingml/2006/chart">
            <c:chart xmlns:c="http://schemas.openxmlformats.org/drawingml/2006/chart" r:id="rId2"/>
          </a:graphicData>
        </a:graphic>
      </p:graphicFrame>
      <p:sp>
        <p:nvSpPr>
          <p:cNvPr id="14" name="S18_text_old_k_range"/>
          <p:cNvSpPr txBox="1"/>
          <p:nvPr/>
        </p:nvSpPr>
        <p:spPr>
          <a:xfrm>
            <a:off x="320040" y="3794760"/>
            <a:ext cx="4937760" cy="182880"/>
          </a:xfrm>
          <a:prstGeom prst="rect">
            <a:avLst/>
          </a:prstGeom>
          <a:noFill/>
        </p:spPr>
        <p:txBody>
          <a:bodyPr wrap="square" lIns="0" rIns="0" tIns="0" bIns="0" anchor="t">
            <a:spAutoFit/>
          </a:bodyPr>
          <a:lstStyle/>
          <a:p>
            <a:pPr algn="l"/>
            <a:r>
              <a:rPr sz="1100" b="1" i="0">
                <a:solidFill>
                  <a:srgbClr val="B5B3AF"/>
                </a:solidFill>
                <a:latin typeface="Calibri"/>
              </a:rPr>
              <a:t>■ </a:t>
            </a:r>
            <a:r>
              <a:rPr sz="1100" b="0" i="0">
                <a:solidFill>
                  <a:srgbClr val="6B6965"/>
                </a:solidFill>
                <a:latin typeface="Calibri"/>
              </a:rPr>
              <a:t>old k₃ range [5×10⁴, 4×10⁵]: Δχ² 46     </a:t>
            </a:r>
            <a:r>
              <a:rPr sz="1100" b="1" i="0">
                <a:solidFill>
                  <a:srgbClr val="8C1515"/>
                </a:solidFill>
                <a:latin typeface="Calibri"/>
              </a:rPr>
              <a:t>■ </a:t>
            </a:r>
            <a:r>
              <a:rPr sz="1100" b="0" i="0">
                <a:solidFill>
                  <a:srgbClr val="6B6965"/>
                </a:solidFill>
                <a:latin typeface="Calibri"/>
              </a:rPr>
              <a:t>above 8×10⁵: flat, Δχ² 0.7</a:t>
            </a:r>
          </a:p>
        </p:txBody>
      </p:sp>
      <p:sp>
        <p:nvSpPr>
          <p:cNvPr id="15" name="S18_shape"/>
          <p:cNvSpPr/>
          <p:nvPr/>
        </p:nvSpPr>
        <p:spPr>
          <a:xfrm>
            <a:off x="320040" y="4041648"/>
            <a:ext cx="2423160" cy="5486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6" name="S18_text_0_99"/>
          <p:cNvSpPr txBox="1"/>
          <p:nvPr/>
        </p:nvSpPr>
        <p:spPr>
          <a:xfrm>
            <a:off x="393192" y="4059936"/>
            <a:ext cx="914400" cy="512064"/>
          </a:xfrm>
          <a:prstGeom prst="rect">
            <a:avLst/>
          </a:prstGeom>
          <a:noFill/>
        </p:spPr>
        <p:txBody>
          <a:bodyPr wrap="square" lIns="0" rIns="0" tIns="0" bIns="0" anchor="ctr">
            <a:spAutoFit/>
          </a:bodyPr>
          <a:lstStyle/>
          <a:p>
            <a:pPr algn="l"/>
            <a:r>
              <a:rPr sz="1400" b="1" i="0">
                <a:solidFill>
                  <a:srgbClr val="8C1515"/>
                </a:solidFill>
                <a:latin typeface="Calibri"/>
              </a:rPr>
              <a:t>−0.99</a:t>
            </a:r>
          </a:p>
        </p:txBody>
      </p:sp>
      <p:sp>
        <p:nvSpPr>
          <p:cNvPr id="17" name="S18_text_corr_log_Eh"/>
          <p:cNvSpPr txBox="1"/>
          <p:nvPr/>
        </p:nvSpPr>
        <p:spPr>
          <a:xfrm>
            <a:off x="1325880" y="4059936"/>
            <a:ext cx="1371600" cy="512064"/>
          </a:xfrm>
          <a:prstGeom prst="rect">
            <a:avLst/>
          </a:prstGeom>
          <a:noFill/>
        </p:spPr>
        <p:txBody>
          <a:bodyPr wrap="square" lIns="0" rIns="0" tIns="0" bIns="0" anchor="ctr">
            <a:spAutoFit/>
          </a:bodyPr>
          <a:lstStyle/>
          <a:p>
            <a:pPr algn="l"/>
            <a:r>
              <a:rPr sz="1100" b="0" i="0">
                <a:solidFill>
                  <a:srgbClr val="2E2D29"/>
                </a:solidFill>
                <a:latin typeface="Calibri"/>
              </a:rPr>
              <a:t>corr(log Eh/r, log k₃): same signature on sys and dia</a:t>
            </a:r>
          </a:p>
        </p:txBody>
      </p:sp>
      <p:sp>
        <p:nvSpPr>
          <p:cNvPr id="18" name="S18_shape_2"/>
          <p:cNvSpPr/>
          <p:nvPr/>
        </p:nvSpPr>
        <p:spPr>
          <a:xfrm>
            <a:off x="2834640" y="4041648"/>
            <a:ext cx="2423160" cy="5486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9" name="S18_text_0_44_0"/>
          <p:cNvSpPr txBox="1"/>
          <p:nvPr/>
        </p:nvSpPr>
        <p:spPr>
          <a:xfrm>
            <a:off x="2907792" y="4059936"/>
            <a:ext cx="914400" cy="512064"/>
          </a:xfrm>
          <a:prstGeom prst="rect">
            <a:avLst/>
          </a:prstGeom>
          <a:noFill/>
        </p:spPr>
        <p:txBody>
          <a:bodyPr wrap="square" lIns="0" rIns="0" tIns="0" bIns="0" anchor="ctr">
            <a:spAutoFit/>
          </a:bodyPr>
          <a:lstStyle/>
          <a:p>
            <a:pPr algn="l"/>
            <a:r>
              <a:rPr sz="1400" b="1" i="0">
                <a:solidFill>
                  <a:srgbClr val="8C1515"/>
                </a:solidFill>
                <a:latin typeface="Calibri"/>
              </a:rPr>
              <a:t>0.44–0.49</a:t>
            </a:r>
          </a:p>
        </p:txBody>
      </p:sp>
      <p:sp>
        <p:nvSpPr>
          <p:cNvPr id="20" name="S18_text_mL_mmHg_total"/>
          <p:cNvSpPr txBox="1"/>
          <p:nvPr/>
        </p:nvSpPr>
        <p:spPr>
          <a:xfrm>
            <a:off x="3840480" y="4059936"/>
            <a:ext cx="1371600" cy="512064"/>
          </a:xfrm>
          <a:prstGeom prst="rect">
            <a:avLst/>
          </a:prstGeom>
          <a:noFill/>
        </p:spPr>
        <p:txBody>
          <a:bodyPr wrap="square" lIns="0" rIns="0" tIns="0" bIns="0" anchor="ctr">
            <a:spAutoFit/>
          </a:bodyPr>
          <a:lstStyle/>
          <a:p>
            <a:pPr algn="l"/>
            <a:r>
              <a:rPr sz="1100" b="0" i="0">
                <a:solidFill>
                  <a:srgbClr val="2E2D29"/>
                </a:solidFill>
                <a:latin typeface="Calibri"/>
              </a:rPr>
              <a:t>mL/mmHg total C along the flat valley; the prox/tree split is free</a:t>
            </a:r>
          </a:p>
        </p:txBody>
      </p:sp>
      <p:sp>
        <p:nvSpPr>
          <p:cNvPr id="21" name="S18_shape_Eh_r_s"/>
          <p:cNvSpPr/>
          <p:nvPr/>
        </p:nvSpPr>
        <p:spPr>
          <a:xfrm>
            <a:off x="5440680" y="1316736"/>
            <a:ext cx="3383280" cy="56692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50" b="1" i="0">
                <a:solidFill>
                  <a:srgbClr val="FFFFFF"/>
                </a:solidFill>
                <a:latin typeface="Calibri"/>
              </a:rPr>
              <a:t>Eh/r = s · 5×10⁴     k₃ = s · 10⁵</a:t>
            </a:r>
          </a:p>
          <a:p>
            <a:pPr algn="ctr"/>
            <a:r>
              <a:rPr sz="1100" b="0" i="0">
                <a:solidFill>
                  <a:srgbClr val="FFFFFF"/>
                </a:solidFill>
                <a:latin typeface="Calibri"/>
              </a:rPr>
              <a:t>one multiplier s ∈ [0.5, 20], log-scaled, s = 1 at the literature point</a:t>
            </a:r>
          </a:p>
        </p:txBody>
      </p:sp>
      <p:sp>
        <p:nvSpPr>
          <p:cNvPr id="22" name="S18_text_Options_tested_TST"/>
          <p:cNvSpPr txBox="1"/>
          <p:nvPr/>
        </p:nvSpPr>
        <p:spPr>
          <a:xfrm>
            <a:off x="5440680" y="1975104"/>
            <a:ext cx="3383280" cy="219456"/>
          </a:xfrm>
          <a:prstGeom prst="rect">
            <a:avLst/>
          </a:prstGeom>
          <a:noFill/>
        </p:spPr>
        <p:txBody>
          <a:bodyPr wrap="square" lIns="0" rIns="0" tIns="0" bIns="0" anchor="t">
            <a:spAutoFit/>
          </a:bodyPr>
          <a:lstStyle/>
          <a:p>
            <a:pPr algn="l"/>
            <a:r>
              <a:rPr sz="1400" b="1" i="0">
                <a:solidFill>
                  <a:srgbClr val="8C1515"/>
                </a:solidFill>
                <a:latin typeface="Calibri"/>
              </a:rPr>
              <a:t>Options tested (TST-STAN-3)</a:t>
            </a:r>
          </a:p>
        </p:txBody>
      </p:sp>
      <p:sp>
        <p:nvSpPr>
          <p:cNvPr id="23" name="S18_shape_3"/>
          <p:cNvSpPr/>
          <p:nvPr/>
        </p:nvSpPr>
        <p:spPr>
          <a:xfrm>
            <a:off x="5440680" y="2231136"/>
            <a:ext cx="3383280" cy="7132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4" name="S18_text_a_both_free"/>
          <p:cNvSpPr txBox="1"/>
          <p:nvPr/>
        </p:nvSpPr>
        <p:spPr>
          <a:xfrm>
            <a:off x="5532120" y="2276856"/>
            <a:ext cx="2286000" cy="201168"/>
          </a:xfrm>
          <a:prstGeom prst="rect">
            <a:avLst/>
          </a:prstGeom>
          <a:noFill/>
        </p:spPr>
        <p:txBody>
          <a:bodyPr wrap="square" lIns="0" rIns="0" tIns="0" bIns="0" anchor="t">
            <a:spAutoFit/>
          </a:bodyPr>
          <a:lstStyle/>
          <a:p>
            <a:pPr algn="l"/>
            <a:r>
              <a:rPr sz="1100" b="1" i="0">
                <a:solidFill>
                  <a:srgbClr val="2E2D29"/>
                </a:solidFill>
                <a:latin typeface="Calibri"/>
              </a:rPr>
              <a:t>(a) both free, k₃ ≤ 1.6×10⁶</a:t>
            </a:r>
          </a:p>
        </p:txBody>
      </p:sp>
      <p:sp>
        <p:nvSpPr>
          <p:cNvPr id="25" name="S18_shape_REJECTED"/>
          <p:cNvSpPr/>
          <p:nvPr/>
        </p:nvSpPr>
        <p:spPr>
          <a:xfrm>
            <a:off x="7726679" y="2258568"/>
            <a:ext cx="1051560" cy="246888"/>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i="0">
                <a:solidFill>
                  <a:srgbClr val="FFFFFF"/>
                </a:solidFill>
                <a:latin typeface="Calibri"/>
              </a:rPr>
              <a:t>✗ REJECTED</a:t>
            </a:r>
          </a:p>
        </p:txBody>
      </p:sp>
      <p:sp>
        <p:nvSpPr>
          <p:cNvPr id="26" name="S18_text_7_89"/>
          <p:cNvSpPr txBox="1"/>
          <p:nvPr/>
        </p:nvSpPr>
        <p:spPr>
          <a:xfrm>
            <a:off x="5532120" y="2505456"/>
            <a:ext cx="685800" cy="384048"/>
          </a:xfrm>
          <a:prstGeom prst="rect">
            <a:avLst/>
          </a:prstGeom>
          <a:noFill/>
        </p:spPr>
        <p:txBody>
          <a:bodyPr wrap="square" lIns="0" rIns="0" tIns="0" bIns="0" anchor="ctr">
            <a:spAutoFit/>
          </a:bodyPr>
          <a:lstStyle/>
          <a:p>
            <a:pPr algn="l"/>
            <a:r>
              <a:rPr sz="1500" b="1" i="0">
                <a:solidFill>
                  <a:srgbClr val="8C1515"/>
                </a:solidFill>
                <a:latin typeface="Calibri"/>
              </a:rPr>
              <a:t>7.89</a:t>
            </a:r>
          </a:p>
        </p:txBody>
      </p:sp>
      <p:sp>
        <p:nvSpPr>
          <p:cNvPr id="27" name="S18_text_adds_a_direction"/>
          <p:cNvSpPr txBox="1"/>
          <p:nvPr/>
        </p:nvSpPr>
        <p:spPr>
          <a:xfrm>
            <a:off x="6217920" y="2505456"/>
            <a:ext cx="2514600" cy="402336"/>
          </a:xfrm>
          <a:prstGeom prst="rect">
            <a:avLst/>
          </a:prstGeom>
          <a:noFill/>
        </p:spPr>
        <p:txBody>
          <a:bodyPr wrap="square" lIns="0" rIns="0" tIns="0" bIns="0" anchor="ctr">
            <a:spAutoFit/>
          </a:bodyPr>
          <a:lstStyle/>
          <a:p>
            <a:pPr algn="l"/>
            <a:r>
              <a:rPr sz="1100" b="0" i="0">
                <a:solidFill>
                  <a:srgbClr val="2E2D29"/>
                </a:solidFill>
                <a:latin typeface="Calibri"/>
              </a:rPr>
              <a:t>adds a direction the data cannot resolve (sd ≈ 1.2 decades)</a:t>
            </a:r>
          </a:p>
        </p:txBody>
      </p:sp>
      <p:sp>
        <p:nvSpPr>
          <p:cNvPr id="28" name="S18_shape_4"/>
          <p:cNvSpPr/>
          <p:nvPr/>
        </p:nvSpPr>
        <p:spPr>
          <a:xfrm>
            <a:off x="5440680" y="3017520"/>
            <a:ext cx="3383280" cy="7132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9" name="S18_text_b_one_cohort"/>
          <p:cNvSpPr txBox="1"/>
          <p:nvPr/>
        </p:nvSpPr>
        <p:spPr>
          <a:xfrm>
            <a:off x="5532120" y="3063239"/>
            <a:ext cx="2286000" cy="201168"/>
          </a:xfrm>
          <a:prstGeom prst="rect">
            <a:avLst/>
          </a:prstGeom>
          <a:noFill/>
        </p:spPr>
        <p:txBody>
          <a:bodyPr wrap="square" lIns="0" rIns="0" tIns="0" bIns="0" anchor="t">
            <a:spAutoFit/>
          </a:bodyPr>
          <a:lstStyle/>
          <a:p>
            <a:pPr algn="l"/>
            <a:r>
              <a:rPr sz="1100" b="1" i="0">
                <a:solidFill>
                  <a:srgbClr val="2E2D29"/>
                </a:solidFill>
                <a:latin typeface="Calibri"/>
              </a:rPr>
              <a:t>(b) one cohort k₃ = 4×10⁵</a:t>
            </a:r>
          </a:p>
        </p:txBody>
      </p:sp>
      <p:sp>
        <p:nvSpPr>
          <p:cNvPr id="30" name="S18_shape_REJECTED_2"/>
          <p:cNvSpPr/>
          <p:nvPr/>
        </p:nvSpPr>
        <p:spPr>
          <a:xfrm>
            <a:off x="7726679" y="3044952"/>
            <a:ext cx="1051560" cy="246888"/>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i="0">
                <a:solidFill>
                  <a:srgbClr val="FFFFFF"/>
                </a:solidFill>
                <a:latin typeface="Calibri"/>
              </a:rPr>
              <a:t>✗ REJECTED</a:t>
            </a:r>
          </a:p>
        </p:txBody>
      </p:sp>
      <p:sp>
        <p:nvSpPr>
          <p:cNvPr id="31" name="S18_text_13_6"/>
          <p:cNvSpPr txBox="1"/>
          <p:nvPr/>
        </p:nvSpPr>
        <p:spPr>
          <a:xfrm>
            <a:off x="5532120" y="3291839"/>
            <a:ext cx="685800" cy="384048"/>
          </a:xfrm>
          <a:prstGeom prst="rect">
            <a:avLst/>
          </a:prstGeom>
          <a:noFill/>
        </p:spPr>
        <p:txBody>
          <a:bodyPr wrap="square" lIns="0" rIns="0" tIns="0" bIns="0" anchor="ctr">
            <a:spAutoFit/>
          </a:bodyPr>
          <a:lstStyle/>
          <a:p>
            <a:pPr algn="l"/>
            <a:r>
              <a:rPr sz="1500" b="1" i="0">
                <a:solidFill>
                  <a:srgbClr val="8C1515"/>
                </a:solidFill>
                <a:latin typeface="Calibri"/>
              </a:rPr>
              <a:t>13.6</a:t>
            </a:r>
          </a:p>
        </p:txBody>
      </p:sp>
      <p:sp>
        <p:nvSpPr>
          <p:cNvPr id="32" name="S18_text_TST_STAN_3_2"/>
          <p:cNvSpPr txBox="1"/>
          <p:nvPr/>
        </p:nvSpPr>
        <p:spPr>
          <a:xfrm>
            <a:off x="6217920" y="3291839"/>
            <a:ext cx="2514600" cy="402336"/>
          </a:xfrm>
          <a:prstGeom prst="rect">
            <a:avLst/>
          </a:prstGeom>
          <a:noFill/>
        </p:spPr>
        <p:txBody>
          <a:bodyPr wrap="square" lIns="0" rIns="0" tIns="0" bIns="0" anchor="ctr">
            <a:spAutoFit/>
          </a:bodyPr>
          <a:lstStyle/>
          <a:p>
            <a:pPr algn="l"/>
            <a:r>
              <a:rPr sz="1100" b="0" i="0">
                <a:solidFill>
                  <a:srgbClr val="2E2D29"/>
                </a:solidFill>
                <a:latin typeface="Calibri"/>
              </a:rPr>
              <a:t>TST-STAN-3 wants 7.5×10⁵, TST-STAN-5 wanted 5×10⁴</a:t>
            </a:r>
          </a:p>
        </p:txBody>
      </p:sp>
      <p:sp>
        <p:nvSpPr>
          <p:cNvPr id="33" name="S18_shape_5"/>
          <p:cNvSpPr/>
          <p:nvPr/>
        </p:nvSpPr>
        <p:spPr>
          <a:xfrm>
            <a:off x="5440680" y="3803904"/>
            <a:ext cx="3383280" cy="713232"/>
          </a:xfrm>
          <a:prstGeom prst="rect">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4" name="S18_text_c_tied_s"/>
          <p:cNvSpPr txBox="1"/>
          <p:nvPr/>
        </p:nvSpPr>
        <p:spPr>
          <a:xfrm>
            <a:off x="5532120" y="3849624"/>
            <a:ext cx="2286000" cy="201168"/>
          </a:xfrm>
          <a:prstGeom prst="rect">
            <a:avLst/>
          </a:prstGeom>
          <a:noFill/>
        </p:spPr>
        <p:txBody>
          <a:bodyPr wrap="square" lIns="0" rIns="0" tIns="0" bIns="0" anchor="t">
            <a:spAutoFit/>
          </a:bodyPr>
          <a:lstStyle/>
          <a:p>
            <a:pPr algn="l"/>
            <a:r>
              <a:rPr sz="1100" b="1" i="0">
                <a:solidFill>
                  <a:srgbClr val="2E2D29"/>
                </a:solidFill>
                <a:latin typeface="Calibri"/>
              </a:rPr>
              <a:t>(c) tied s, k₃ ref 10⁵</a:t>
            </a:r>
          </a:p>
        </p:txBody>
      </p:sp>
      <p:sp>
        <p:nvSpPr>
          <p:cNvPr id="35" name="S18_shape_ADOPTED"/>
          <p:cNvSpPr/>
          <p:nvPr/>
        </p:nvSpPr>
        <p:spPr>
          <a:xfrm>
            <a:off x="7726679" y="3831336"/>
            <a:ext cx="1051560" cy="246888"/>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i="0">
                <a:solidFill>
                  <a:srgbClr val="FFFFFF"/>
                </a:solidFill>
                <a:latin typeface="Calibri"/>
              </a:rPr>
              <a:t>✓ ADOPTED</a:t>
            </a:r>
          </a:p>
        </p:txBody>
      </p:sp>
      <p:sp>
        <p:nvSpPr>
          <p:cNvPr id="36" name="S18_text_8_18"/>
          <p:cNvSpPr txBox="1"/>
          <p:nvPr/>
        </p:nvSpPr>
        <p:spPr>
          <a:xfrm>
            <a:off x="5532120" y="4078224"/>
            <a:ext cx="685800" cy="384048"/>
          </a:xfrm>
          <a:prstGeom prst="rect">
            <a:avLst/>
          </a:prstGeom>
          <a:noFill/>
        </p:spPr>
        <p:txBody>
          <a:bodyPr wrap="square" lIns="0" rIns="0" tIns="0" bIns="0" anchor="ctr">
            <a:spAutoFit/>
          </a:bodyPr>
          <a:lstStyle/>
          <a:p>
            <a:pPr algn="l"/>
            <a:r>
              <a:rPr sz="1500" b="1" i="0">
                <a:solidFill>
                  <a:srgbClr val="E98300"/>
                </a:solidFill>
                <a:latin typeface="Calibri"/>
              </a:rPr>
              <a:t>8.18</a:t>
            </a:r>
          </a:p>
        </p:txBody>
      </p:sp>
      <p:sp>
        <p:nvSpPr>
          <p:cNvPr id="37" name="S18_text_s_7_48"/>
          <p:cNvSpPr txBox="1"/>
          <p:nvPr/>
        </p:nvSpPr>
        <p:spPr>
          <a:xfrm>
            <a:off x="6217920" y="4078224"/>
            <a:ext cx="2514600" cy="402336"/>
          </a:xfrm>
          <a:prstGeom prst="rect">
            <a:avLst/>
          </a:prstGeom>
          <a:noFill/>
        </p:spPr>
        <p:txBody>
          <a:bodyPr wrap="square" lIns="0" rIns="0" tIns="0" bIns="0" anchor="ctr">
            <a:spAutoFit/>
          </a:bodyPr>
          <a:lstStyle/>
          <a:p>
            <a:pPr algn="l"/>
            <a:r>
              <a:rPr sz="1100" b="0" i="0">
                <a:solidFill>
                  <a:srgbClr val="2E2D29"/>
                </a:solidFill>
                <a:latin typeface="Calibri"/>
              </a:rPr>
              <a:t>s = 7.48: Eh/r 3.7×10⁵, k₃ 7.5×10⁵; within 0.3 of (a)</a:t>
            </a:r>
          </a:p>
        </p:txBody>
      </p:sp>
      <p:sp>
        <p:nvSpPr>
          <p:cNvPr id="38"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9" name="S18_text_Answer_No_corr"/>
          <p:cNvSpPr txBox="1"/>
          <p:nvPr/>
        </p:nvSpPr>
        <p:spPr>
          <a:xfrm>
            <a:off x="429768" y="4700016"/>
            <a:ext cx="8284464" cy="310896"/>
          </a:xfrm>
          <a:prstGeom prst="rect">
            <a:avLst/>
          </a:prstGeom>
          <a:noFill/>
        </p:spPr>
        <p:txBody>
          <a:bodyPr wrap="square" lIns="0" rIns="0" tIns="0" bIns="0" anchor="ctr">
            <a:spAutoFit/>
          </a:bodyPr>
          <a:lstStyle/>
          <a:p>
            <a:pPr algn="l"/>
            <a:r>
              <a:rPr sz="1400" b="1" i="0">
                <a:solidFill>
                  <a:srgbClr val="8C1515"/>
                </a:solidFill>
                <a:latin typeface="Calibri"/>
              </a:rPr>
              <a:t>Answer: No. corr(log Eh/r, log k₃) = −0.99, so one multiplier s sets both (default since 16 Oct; ξ floor now 2.1).</a:t>
            </a:r>
          </a:p>
        </p:txBody>
      </p:sp>
      <p:sp>
        <p:nvSpPr>
          <p:cNvPr id="40" name="S18_text_examples_adaptation_tst3"/>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examples/adaptation/tst3-stiffness-identifiability/FINDINGS.md: iter-02 seed, shared conductance-matched trees, local periodic solves. svZeroDTrees 1b01fc9, svzt-agent be312f9 (16 Oct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Protocol v1: two tuning iterations, then a wall fix</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2_loop_step1"/>
          <p:cNvSpPr/>
          <p:nvPr/>
        </p:nvSpPr>
        <p:spPr>
          <a:xfrm>
            <a:off x="320040" y="1417320"/>
            <a:ext cx="1965960" cy="10515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noAutofit/>
          </a:bodyPr>
          <a:lstStyle/>
          <a:p>
            <a:pPr algn="l"/>
            <a:r>
              <a:rPr sz="1300" b="1" i="0">
                <a:solidFill>
                  <a:srgbClr val="8C1515"/>
                </a:solidFill>
                <a:latin typeface="Calibri"/>
              </a:rPr>
              <a:t>learnedZeroD seed</a:t>
            </a:r>
          </a:p>
          <a:p>
            <a:pPr algn="l"/>
            <a:r>
              <a:rPr sz="1100" b="0" i="0">
                <a:solidFill>
                  <a:srgbClr val="2E2D29"/>
                </a:solidFill>
                <a:latin typeface="Calibri"/>
              </a:rPr>
              <a:t>ML-predicted R, C, L; scaled with the mesh</a:t>
            </a:r>
          </a:p>
        </p:txBody>
      </p:sp>
      <p:sp>
        <p:nvSpPr>
          <p:cNvPr id="13" name="S2_loop_step1_status"/>
          <p:cNvSpPr/>
          <p:nvPr/>
        </p:nvSpPr>
        <p:spPr>
          <a:xfrm>
            <a:off x="411479" y="2176272"/>
            <a:ext cx="960120" cy="22860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Completed</a:t>
            </a:r>
          </a:p>
        </p:txBody>
      </p:sp>
      <p:sp>
        <p:nvSpPr>
          <p:cNvPr id="14" name="S2_loop_step2"/>
          <p:cNvSpPr/>
          <p:nvPr/>
        </p:nvSpPr>
        <p:spPr>
          <a:xfrm>
            <a:off x="2499055" y="1417320"/>
            <a:ext cx="1965960" cy="10515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noAutofit/>
          </a:bodyPr>
          <a:lstStyle/>
          <a:p>
            <a:pPr algn="l"/>
            <a:r>
              <a:rPr sz="1300" b="1" i="0">
                <a:solidFill>
                  <a:srgbClr val="8C1515"/>
                </a:solidFill>
                <a:latin typeface="Calibri"/>
              </a:rPr>
              <a:t>Centerline BC mapping</a:t>
            </a:r>
          </a:p>
          <a:p>
            <a:pPr algn="l"/>
            <a:r>
              <a:rPr sz="1100" b="0" i="0">
                <a:solidFill>
                  <a:srgbClr val="2E2D29"/>
                </a:solidFill>
                <a:latin typeface="Calibri"/>
              </a:rPr>
              <a:t>each 3D cap to its 0D outlet, one tree per cap</a:t>
            </a:r>
          </a:p>
        </p:txBody>
      </p:sp>
      <p:sp>
        <p:nvSpPr>
          <p:cNvPr id="15" name="S2_loop_step2_status"/>
          <p:cNvSpPr/>
          <p:nvPr/>
        </p:nvSpPr>
        <p:spPr>
          <a:xfrm>
            <a:off x="2590495" y="2176272"/>
            <a:ext cx="960120" cy="22860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Completed</a:t>
            </a:r>
          </a:p>
        </p:txBody>
      </p:sp>
      <p:sp>
        <p:nvSpPr>
          <p:cNvPr id="16" name="S2_loop_step3"/>
          <p:cNvSpPr/>
          <p:nvPr/>
        </p:nvSpPr>
        <p:spPr>
          <a:xfrm>
            <a:off x="4678984" y="1417320"/>
            <a:ext cx="1965960" cy="10515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noAutofit/>
          </a:bodyPr>
          <a:lstStyle/>
          <a:p>
            <a:pPr algn="l"/>
            <a:r>
              <a:rPr sz="1300" b="1" i="0">
                <a:solidFill>
                  <a:srgbClr val="8C1515"/>
                </a:solidFill>
                <a:latin typeface="Calibri"/>
              </a:rPr>
              <a:t>Full-PA impedance tuning</a:t>
            </a:r>
          </a:p>
          <a:p>
            <a:pPr algn="l"/>
            <a:r>
              <a:rPr sz="1100" b="0" i="0">
                <a:solidFill>
                  <a:srgbClr val="2E2D29"/>
                </a:solidFill>
                <a:latin typeface="Calibri"/>
              </a:rPr>
              <a:t>χ² fit of ξ, η per side and s; per-cap polish</a:t>
            </a:r>
          </a:p>
        </p:txBody>
      </p:sp>
      <p:sp>
        <p:nvSpPr>
          <p:cNvPr id="17" name="S2_loop_step3_status"/>
          <p:cNvSpPr/>
          <p:nvPr/>
        </p:nvSpPr>
        <p:spPr>
          <a:xfrm>
            <a:off x="4770424" y="2176272"/>
            <a:ext cx="960120" cy="22860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Completed</a:t>
            </a:r>
          </a:p>
        </p:txBody>
      </p:sp>
      <p:sp>
        <p:nvSpPr>
          <p:cNvPr id="18" name="S2_loop_step4"/>
          <p:cNvSpPr/>
          <p:nvPr/>
        </p:nvSpPr>
        <p:spPr>
          <a:xfrm>
            <a:off x="6858000" y="1417320"/>
            <a:ext cx="1965960" cy="10515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noAutofit/>
          </a:bodyPr>
          <a:lstStyle/>
          <a:p>
            <a:pPr algn="l"/>
            <a:r>
              <a:rPr sz="1300" b="1" i="0">
                <a:solidFill>
                  <a:srgbClr val="8C1515"/>
                </a:solidFill>
                <a:latin typeface="Calibri"/>
              </a:rPr>
              <a:t>3D CMM simulation</a:t>
            </a:r>
          </a:p>
          <a:p>
            <a:pPr algn="l"/>
            <a:r>
              <a:rPr sz="1100" b="0" i="0">
                <a:solidFill>
                  <a:srgbClr val="2E2D29"/>
                </a:solidFill>
                <a:latin typeface="Calibri"/>
              </a:rPr>
              <a:t>3 cycles; wall E from s; Rule A damping</a:t>
            </a:r>
          </a:p>
        </p:txBody>
      </p:sp>
      <p:sp>
        <p:nvSpPr>
          <p:cNvPr id="19" name="S2_loop_step4_status"/>
          <p:cNvSpPr/>
          <p:nvPr/>
        </p:nvSpPr>
        <p:spPr>
          <a:xfrm>
            <a:off x="6949440" y="2176272"/>
            <a:ext cx="960120" cy="22860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Completed</a:t>
            </a:r>
          </a:p>
        </p:txBody>
      </p:sp>
      <p:sp>
        <p:nvSpPr>
          <p:cNvPr id="20" name="S2_loop_step5"/>
          <p:cNvSpPr/>
          <p:nvPr/>
        </p:nvSpPr>
        <p:spPr>
          <a:xfrm>
            <a:off x="6858000" y="2880360"/>
            <a:ext cx="1965960" cy="10515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noAutofit/>
          </a:bodyPr>
          <a:lstStyle/>
          <a:p>
            <a:pPr algn="l"/>
            <a:r>
              <a:rPr sz="1300" b="1" i="0">
                <a:solidFill>
                  <a:srgbClr val="8C1515"/>
                </a:solidFill>
                <a:latin typeface="Calibri"/>
              </a:rPr>
              <a:t>Centerline postprocess</a:t>
            </a:r>
          </a:p>
          <a:p>
            <a:pPr algn="l"/>
            <a:r>
              <a:rPr sz="1100" b="0" i="0">
                <a:solidFill>
                  <a:srgbClr val="2E2D29"/>
                </a:solidFill>
                <a:latin typeface="Calibri"/>
              </a:rPr>
              <a:t>svSlicer: last-cycle MPA metrics, RPA split</a:t>
            </a:r>
          </a:p>
        </p:txBody>
      </p:sp>
      <p:sp>
        <p:nvSpPr>
          <p:cNvPr id="21" name="S2_loop_step5_status"/>
          <p:cNvSpPr/>
          <p:nvPr/>
        </p:nvSpPr>
        <p:spPr>
          <a:xfrm>
            <a:off x="6949440" y="3639312"/>
            <a:ext cx="960120" cy="22860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Completed</a:t>
            </a:r>
          </a:p>
        </p:txBody>
      </p:sp>
      <p:sp>
        <p:nvSpPr>
          <p:cNvPr id="22" name="S2_loop_step6"/>
          <p:cNvSpPr/>
          <p:nvPr/>
        </p:nvSpPr>
        <p:spPr>
          <a:xfrm>
            <a:off x="4678984" y="2880360"/>
            <a:ext cx="1965960" cy="10515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noAutofit/>
          </a:bodyPr>
          <a:lstStyle/>
          <a:p>
            <a:pPr algn="l"/>
            <a:r>
              <a:rPr sz="1300" b="1" i="0">
                <a:solidFill>
                  <a:srgbClr val="8C1515"/>
                </a:solidFill>
                <a:latin typeface="Calibri"/>
              </a:rPr>
              <a:t>svZeroDCalibrator</a:t>
            </a:r>
          </a:p>
          <a:p>
            <a:pPr algn="l"/>
            <a:r>
              <a:rPr sz="1100" b="0" i="0">
                <a:solidFill>
                  <a:srgbClr val="2E2D29"/>
                </a:solidFill>
                <a:latin typeface="Calibri"/>
              </a:rPr>
              <a:t>R only; promoted only if no worse</a:t>
            </a:r>
          </a:p>
        </p:txBody>
      </p:sp>
      <p:sp>
        <p:nvSpPr>
          <p:cNvPr id="23" name="S2_loop_step6_status"/>
          <p:cNvSpPr/>
          <p:nvPr/>
        </p:nvSpPr>
        <p:spPr>
          <a:xfrm>
            <a:off x="4770424" y="3639312"/>
            <a:ext cx="960120" cy="22860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Completed</a:t>
            </a:r>
          </a:p>
        </p:txBody>
      </p:sp>
      <p:sp>
        <p:nvSpPr>
          <p:cNvPr id="24" name="S2_loop_step7"/>
          <p:cNvSpPr/>
          <p:nvPr/>
        </p:nvSpPr>
        <p:spPr>
          <a:xfrm>
            <a:off x="2499055" y="2880360"/>
            <a:ext cx="1965960" cy="10515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noAutofit/>
          </a:bodyPr>
          <a:lstStyle/>
          <a:p>
            <a:pPr algn="l"/>
            <a:r>
              <a:rPr sz="1300" b="1" i="0">
                <a:solidFill>
                  <a:srgbClr val="8C1515"/>
                </a:solidFill>
                <a:latin typeface="Calibri"/>
              </a:rPr>
              <a:t>Seed promotion</a:t>
            </a:r>
          </a:p>
          <a:p>
            <a:pPr algn="l"/>
            <a:r>
              <a:rPr sz="1100" b="0" i="0">
                <a:solidFill>
                  <a:srgbClr val="2E2D29"/>
                </a:solidFill>
                <a:latin typeface="Calibri"/>
              </a:rPr>
              <a:t>calibrated iteration 1 seeds iteration 2</a:t>
            </a:r>
          </a:p>
        </p:txBody>
      </p:sp>
      <p:sp>
        <p:nvSpPr>
          <p:cNvPr id="25" name="S2_loop_step7_status"/>
          <p:cNvSpPr/>
          <p:nvPr/>
        </p:nvSpPr>
        <p:spPr>
          <a:xfrm>
            <a:off x="2590495" y="3639312"/>
            <a:ext cx="960120" cy="22860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Completed</a:t>
            </a:r>
          </a:p>
        </p:txBody>
      </p:sp>
      <p:sp>
        <p:nvSpPr>
          <p:cNvPr id="26" name="S2_loop_wallfix"/>
          <p:cNvSpPr/>
          <p:nvPr/>
        </p:nvSpPr>
        <p:spPr>
          <a:xfrm>
            <a:off x="320040" y="2880360"/>
            <a:ext cx="1965960" cy="1051560"/>
          </a:xfrm>
          <a:prstGeom prst="roundRect">
            <a:avLst/>
          </a:prstGeom>
          <a:solidFill>
            <a:srgbClr val="F6E8E8"/>
          </a:solidFill>
          <a:ln w="1270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noAutofit/>
          </a:bodyPr>
          <a:lstStyle/>
          <a:p>
            <a:pPr algn="l"/>
            <a:r>
              <a:rPr sz="1300" b="1" i="0">
                <a:solidFill>
                  <a:srgbClr val="8C1515"/>
                </a:solidFill>
                <a:latin typeface="Calibri"/>
              </a:rPr>
              <a:t>Wall correction (iter. 3)</a:t>
            </a:r>
          </a:p>
          <a:p>
            <a:pPr algn="l"/>
            <a:r>
              <a:rPr sz="1100" b="0" i="0">
                <a:solidFill>
                  <a:srgbClr val="2E2D29"/>
                </a:solidFill>
                <a:latin typeface="Calibri"/>
              </a:rPr>
              <a:t>E-law 3D rerun, then matched 0D refit; to post-op</a:t>
            </a:r>
          </a:p>
        </p:txBody>
      </p:sp>
      <p:cxnSp>
        <p:nvCxnSpPr>
          <p:cNvPr id="27" name="S2_loop_arrow_1"/>
          <p:cNvCxnSpPr>
            <a:stCxn id="12" idx="3"/>
            <a:endCxn id="14" idx="1"/>
          </p:cNvCxnSpPr>
          <p:nvPr/>
        </p:nvCxnSpPr>
        <p:spPr>
          <a:xfrm flipV="1">
            <a:off x="2286000" y="1943100"/>
            <a:ext cx="213055"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S2_loop_arrow_2"/>
          <p:cNvCxnSpPr>
            <a:stCxn id="14" idx="3"/>
            <a:endCxn id="16" idx="1"/>
          </p:cNvCxnSpPr>
          <p:nvPr/>
        </p:nvCxnSpPr>
        <p:spPr>
          <a:xfrm flipV="1">
            <a:off x="4465015" y="1943100"/>
            <a:ext cx="213969"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S2_loop_arrow_3"/>
          <p:cNvCxnSpPr>
            <a:stCxn id="16" idx="3"/>
            <a:endCxn id="18" idx="1"/>
          </p:cNvCxnSpPr>
          <p:nvPr/>
        </p:nvCxnSpPr>
        <p:spPr>
          <a:xfrm flipV="1">
            <a:off x="6644944" y="1943100"/>
            <a:ext cx="213056"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S2_loop_arrow_4"/>
          <p:cNvCxnSpPr>
            <a:stCxn id="18" idx="2"/>
            <a:endCxn id="20" idx="0"/>
          </p:cNvCxnSpPr>
          <p:nvPr/>
        </p:nvCxnSpPr>
        <p:spPr>
          <a:xfrm flipH="1">
            <a:off x="7840980" y="2468880"/>
            <a:ext cx="0" cy="41148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S2_loop_arrow_5"/>
          <p:cNvCxnSpPr>
            <a:stCxn id="20" idx="1"/>
            <a:endCxn id="22" idx="3"/>
          </p:cNvCxnSpPr>
          <p:nvPr/>
        </p:nvCxnSpPr>
        <p:spPr>
          <a:xfrm flipH="1" flipV="1">
            <a:off x="6644944" y="3406140"/>
            <a:ext cx="213056"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S2_loop_arrow_6"/>
          <p:cNvCxnSpPr>
            <a:stCxn id="22" idx="1"/>
            <a:endCxn id="24" idx="3"/>
          </p:cNvCxnSpPr>
          <p:nvPr/>
        </p:nvCxnSpPr>
        <p:spPr>
          <a:xfrm flipH="1" flipV="1">
            <a:off x="4465015" y="3406140"/>
            <a:ext cx="213969"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S2_loop_arrow_select"/>
          <p:cNvCxnSpPr>
            <a:stCxn id="24" idx="1"/>
            <a:endCxn id="26" idx="3"/>
          </p:cNvCxnSpPr>
          <p:nvPr/>
        </p:nvCxnSpPr>
        <p:spPr>
          <a:xfrm flipH="1" flipV="1">
            <a:off x="2286000" y="3406140"/>
            <a:ext cx="213055"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S2_loop_arrow_next"/>
          <p:cNvCxnSpPr>
            <a:stCxn id="24" idx="0"/>
            <a:endCxn id="14" idx="2"/>
          </p:cNvCxnSpPr>
          <p:nvPr/>
        </p:nvCxnSpPr>
        <p:spPr>
          <a:xfrm flipH="1" flipV="1">
            <a:off x="3482035" y="2468880"/>
            <a:ext cx="0" cy="411480"/>
          </a:xfrm>
          <a:prstGeom prst="line">
            <a:avLst/>
          </a:prstGeom>
          <a:ln w="19050">
            <a:solidFill>
              <a:srgbClr val="8C151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S2_loop_next_label"/>
          <p:cNvSpPr txBox="1"/>
          <p:nvPr/>
        </p:nvSpPr>
        <p:spPr>
          <a:xfrm>
            <a:off x="2697480" y="2514600"/>
            <a:ext cx="1737360" cy="274320"/>
          </a:xfrm>
          <a:prstGeom prst="rect">
            <a:avLst/>
          </a:prstGeom>
          <a:noFill/>
        </p:spPr>
        <p:txBody>
          <a:bodyPr wrap="square" lIns="0" rIns="0" tIns="0" bIns="0" anchor="ctr">
            <a:noAutofit/>
          </a:bodyPr>
          <a:lstStyle/>
          <a:p>
            <a:pPr algn="l"/>
            <a:r>
              <a:rPr sz="1100" b="0" i="1">
                <a:solidFill>
                  <a:srgbClr val="8C1515"/>
                </a:solidFill>
                <a:latin typeface="Calibri"/>
              </a:rPr>
              <a:t>iteration 2, then stop</a:t>
            </a:r>
          </a:p>
        </p:txBody>
      </p:sp>
      <p:sp>
        <p:nvSpPr>
          <p:cNvPr id="36" name="S2_loop_progress"/>
          <p:cNvSpPr/>
          <p:nvPr/>
        </p:nvSpPr>
        <p:spPr>
          <a:xfrm>
            <a:off x="320040" y="4069080"/>
            <a:ext cx="8503920" cy="502920"/>
          </a:xfrm>
          <a:prstGeom prst="rect">
            <a:avLst/>
          </a:prstGeom>
          <a:solidFill>
            <a:srgbClr val="FFFFFF"/>
          </a:solidFill>
          <a:ln w="12700">
            <a:solidFill>
              <a:srgbClr val="27998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noAutofit/>
          </a:bodyPr>
          <a:lstStyle/>
          <a:p>
            <a:pPr algn="l"/>
            <a:r>
              <a:rPr sz="1300" b="1" i="0">
                <a:solidFill>
                  <a:srgbClr val="279989"/>
                </a:solidFill>
                <a:latin typeface="Calibri"/>
              </a:rPr>
              <a:t>Frozen 25 Oct 2026:  </a:t>
            </a:r>
            <a:r>
              <a:rPr sz="1300" b="0" i="0">
                <a:solidFill>
                  <a:srgbClr val="2E2D29"/>
                </a:solidFill>
                <a:latin typeface="Calibri"/>
              </a:rPr>
              <a:t>all five patients ran these steps identically on Sherlock. Any change starts a v2.</a:t>
            </a:r>
          </a:p>
        </p:txBody>
      </p:sp>
      <p:sp>
        <p:nvSpPr>
          <p:cNvPr id="37" name="S2_loop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Two iterations refit the 0D model to 3D; one wall correction then fixes the 3D pulse, no 0D retune.</a:t>
            </a:r>
          </a:p>
        </p:txBody>
      </p:sp>
      <p:sp>
        <p:nvSpPr>
          <p:cNvPr id="38" name="S2_loop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 docs/preop_protocol_v1/README.md (frozen 25 Oct 2026), steps 1 to 7; svzt-agent docs/TUNING_MODEL.md §10 (389c580 + local edits).</a:t>
            </a:r>
          </a:p>
        </p:txBody>
      </p:sp>
      <p:sp>
        <p:nvSpPr>
          <p:cNvPr id="39" name="S2_loop_wallfix_status"/>
          <p:cNvSpPr/>
          <p:nvPr/>
        </p:nvSpPr>
        <p:spPr>
          <a:xfrm>
            <a:off x="411480" y="3639312"/>
            <a:ext cx="960120" cy="228600"/>
          </a:xfrm>
          <a:prstGeom prst="round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Completed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Fixed and tuned parameters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20_text_Fixed_from_literature"/>
          <p:cNvSpPr txBox="1"/>
          <p:nvPr/>
        </p:nvSpPr>
        <p:spPr>
          <a:xfrm>
            <a:off x="320040" y="1316736"/>
            <a:ext cx="5120640" cy="219456"/>
          </a:xfrm>
          <a:prstGeom prst="rect">
            <a:avLst/>
          </a:prstGeom>
          <a:noFill/>
        </p:spPr>
        <p:txBody>
          <a:bodyPr wrap="square" lIns="0" rIns="0" tIns="0" bIns="0" anchor="t">
            <a:spAutoFit/>
          </a:bodyPr>
          <a:lstStyle/>
          <a:p>
            <a:pPr algn="l"/>
            <a:r>
              <a:rPr sz="1400" b="1" i="0">
                <a:solidFill>
                  <a:srgbClr val="8C1515"/>
                </a:solidFill>
                <a:latin typeface="Calibri"/>
              </a:rPr>
              <a:t>Fixed from literature or patient data</a:t>
            </a:r>
          </a:p>
        </p:txBody>
      </p:sp>
      <p:sp>
        <p:nvSpPr>
          <p:cNvPr id="13" name="S20_text_Tuned_5_parameters"/>
          <p:cNvSpPr txBox="1"/>
          <p:nvPr/>
        </p:nvSpPr>
        <p:spPr>
          <a:xfrm>
            <a:off x="5623560" y="1316736"/>
            <a:ext cx="3200400" cy="219456"/>
          </a:xfrm>
          <a:prstGeom prst="rect">
            <a:avLst/>
          </a:prstGeom>
          <a:noFill/>
        </p:spPr>
        <p:txBody>
          <a:bodyPr wrap="square" lIns="0" rIns="0" tIns="0" bIns="0" anchor="t">
            <a:spAutoFit/>
          </a:bodyPr>
          <a:lstStyle/>
          <a:p>
            <a:pPr algn="l"/>
            <a:r>
              <a:rPr sz="1400" b="1" i="0">
                <a:solidFill>
                  <a:srgbClr val="8C1515"/>
                </a:solidFill>
                <a:latin typeface="Calibri"/>
              </a:rPr>
              <a:t>Tuned: 5 parameters, 4 targets</a:t>
            </a:r>
          </a:p>
        </p:txBody>
      </p:sp>
      <p:sp>
        <p:nvSpPr>
          <p:cNvPr id="14" name="S20_shape"/>
          <p:cNvSpPr/>
          <p:nvPr/>
        </p:nvSpPr>
        <p:spPr>
          <a:xfrm>
            <a:off x="5623560" y="1591056"/>
            <a:ext cx="3200400" cy="7132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5" name="S20_text_LPA_RPA"/>
          <p:cNvSpPr txBox="1"/>
          <p:nvPr/>
        </p:nvSpPr>
        <p:spPr>
          <a:xfrm>
            <a:off x="5733288" y="1645920"/>
            <a:ext cx="1737360" cy="201168"/>
          </a:xfrm>
          <a:prstGeom prst="rect">
            <a:avLst/>
          </a:prstGeom>
          <a:noFill/>
        </p:spPr>
        <p:txBody>
          <a:bodyPr wrap="square" lIns="0" rIns="0" tIns="0" bIns="0" anchor="t">
            <a:spAutoFit/>
          </a:bodyPr>
          <a:lstStyle/>
          <a:p>
            <a:pPr algn="l"/>
            <a:r>
              <a:rPr sz="1100" b="1" i="0">
                <a:solidFill>
                  <a:srgbClr val="2E2D29"/>
                </a:solidFill>
                <a:latin typeface="Calibri"/>
              </a:rPr>
              <a:t>ξ  LPA, RPA</a:t>
            </a:r>
          </a:p>
        </p:txBody>
      </p:sp>
      <p:sp>
        <p:nvSpPr>
          <p:cNvPr id="16" name="S20_text_2_1_3"/>
          <p:cNvSpPr txBox="1"/>
          <p:nvPr/>
        </p:nvSpPr>
        <p:spPr>
          <a:xfrm>
            <a:off x="7360920" y="1645920"/>
            <a:ext cx="1371600" cy="201168"/>
          </a:xfrm>
          <a:prstGeom prst="rect">
            <a:avLst/>
          </a:prstGeom>
          <a:noFill/>
        </p:spPr>
        <p:txBody>
          <a:bodyPr wrap="square" lIns="0" rIns="0" tIns="0" bIns="0" anchor="t">
            <a:spAutoFit/>
          </a:bodyPr>
          <a:lstStyle/>
          <a:p>
            <a:pPr algn="r"/>
            <a:r>
              <a:rPr sz="1400" b="1" i="0">
                <a:solidFill>
                  <a:srgbClr val="8C1515"/>
                </a:solidFill>
                <a:latin typeface="Calibri"/>
              </a:rPr>
              <a:t>[2.1, 3.0]</a:t>
            </a:r>
          </a:p>
        </p:txBody>
      </p:sp>
      <p:sp>
        <p:nvSpPr>
          <p:cNvPr id="17" name="S20_shape_2"/>
          <p:cNvSpPr/>
          <p:nvPr/>
        </p:nvSpPr>
        <p:spPr>
          <a:xfrm>
            <a:off x="5897880" y="1956816"/>
            <a:ext cx="2651760" cy="45720"/>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8" name="S20_text_2_1"/>
          <p:cNvSpPr txBox="1"/>
          <p:nvPr/>
        </p:nvSpPr>
        <p:spPr>
          <a:xfrm>
            <a:off x="5669280" y="2048256"/>
            <a:ext cx="457200" cy="128016"/>
          </a:xfrm>
          <a:prstGeom prst="rect">
            <a:avLst/>
          </a:prstGeom>
          <a:noFill/>
        </p:spPr>
        <p:txBody>
          <a:bodyPr wrap="square" lIns="0" rIns="0" tIns="0" bIns="0" anchor="t">
            <a:spAutoFit/>
          </a:bodyPr>
          <a:lstStyle/>
          <a:p>
            <a:pPr algn="ctr"/>
            <a:r>
              <a:rPr sz="1100" b="0" i="0">
                <a:solidFill>
                  <a:srgbClr val="6B6965"/>
                </a:solidFill>
                <a:latin typeface="Calibri"/>
              </a:rPr>
              <a:t>2.1</a:t>
            </a:r>
          </a:p>
        </p:txBody>
      </p:sp>
      <p:sp>
        <p:nvSpPr>
          <p:cNvPr id="19" name="S20_text_3_0"/>
          <p:cNvSpPr txBox="1"/>
          <p:nvPr/>
        </p:nvSpPr>
        <p:spPr>
          <a:xfrm>
            <a:off x="8321040" y="2048256"/>
            <a:ext cx="457200" cy="128016"/>
          </a:xfrm>
          <a:prstGeom prst="rect">
            <a:avLst/>
          </a:prstGeom>
          <a:noFill/>
        </p:spPr>
        <p:txBody>
          <a:bodyPr wrap="square" lIns="0" rIns="0" tIns="0" bIns="0" anchor="t">
            <a:spAutoFit/>
          </a:bodyPr>
          <a:lstStyle/>
          <a:p>
            <a:pPr algn="ctr"/>
            <a:r>
              <a:rPr sz="1100" b="0" i="0">
                <a:solidFill>
                  <a:srgbClr val="6B6965"/>
                </a:solidFill>
                <a:latin typeface="Calibri"/>
              </a:rPr>
              <a:t>3.0</a:t>
            </a:r>
          </a:p>
        </p:txBody>
      </p:sp>
      <p:sp>
        <p:nvSpPr>
          <p:cNvPr id="20" name="S20_text_floor_lowered_from"/>
          <p:cNvSpPr txBox="1"/>
          <p:nvPr/>
        </p:nvSpPr>
        <p:spPr>
          <a:xfrm>
            <a:off x="6172200" y="2048256"/>
            <a:ext cx="2103120" cy="146304"/>
          </a:xfrm>
          <a:prstGeom prst="rect">
            <a:avLst/>
          </a:prstGeom>
          <a:noFill/>
        </p:spPr>
        <p:txBody>
          <a:bodyPr wrap="square" lIns="0" rIns="0" tIns="0" bIns="0" anchor="t">
            <a:spAutoFit/>
          </a:bodyPr>
          <a:lstStyle/>
          <a:p>
            <a:pPr algn="ctr"/>
            <a:r>
              <a:rPr sz="1100" b="0" i="0">
                <a:solidFill>
                  <a:srgbClr val="6B6965"/>
                </a:solidFill>
                <a:latin typeface="Calibri"/>
              </a:rPr>
              <a:t>floor lowered from 2.33 (16 Oct)</a:t>
            </a:r>
          </a:p>
        </p:txBody>
      </p:sp>
      <p:sp>
        <p:nvSpPr>
          <p:cNvPr id="21" name="S20_shape_3"/>
          <p:cNvSpPr/>
          <p:nvPr/>
        </p:nvSpPr>
        <p:spPr>
          <a:xfrm>
            <a:off x="5623560" y="2377440"/>
            <a:ext cx="3200400" cy="7132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2" name="S20_text_LPA_RPA_2"/>
          <p:cNvSpPr txBox="1"/>
          <p:nvPr/>
        </p:nvSpPr>
        <p:spPr>
          <a:xfrm>
            <a:off x="5733288" y="2432304"/>
            <a:ext cx="1737360" cy="201168"/>
          </a:xfrm>
          <a:prstGeom prst="rect">
            <a:avLst/>
          </a:prstGeom>
          <a:noFill/>
        </p:spPr>
        <p:txBody>
          <a:bodyPr wrap="square" lIns="0" rIns="0" tIns="0" bIns="0" anchor="t">
            <a:spAutoFit/>
          </a:bodyPr>
          <a:lstStyle/>
          <a:p>
            <a:pPr algn="l"/>
            <a:r>
              <a:rPr sz="1100" b="1" i="0">
                <a:solidFill>
                  <a:srgbClr val="2E2D29"/>
                </a:solidFill>
                <a:latin typeface="Calibri"/>
              </a:rPr>
              <a:t>η  LPA, RPA</a:t>
            </a:r>
          </a:p>
        </p:txBody>
      </p:sp>
      <p:sp>
        <p:nvSpPr>
          <p:cNvPr id="23" name="S20_text_0_3_1"/>
          <p:cNvSpPr txBox="1"/>
          <p:nvPr/>
        </p:nvSpPr>
        <p:spPr>
          <a:xfrm>
            <a:off x="7360920" y="2432304"/>
            <a:ext cx="1371600" cy="201168"/>
          </a:xfrm>
          <a:prstGeom prst="rect">
            <a:avLst/>
          </a:prstGeom>
          <a:noFill/>
        </p:spPr>
        <p:txBody>
          <a:bodyPr wrap="square" lIns="0" rIns="0" tIns="0" bIns="0" anchor="t">
            <a:spAutoFit/>
          </a:bodyPr>
          <a:lstStyle/>
          <a:p>
            <a:pPr algn="r"/>
            <a:r>
              <a:rPr sz="1400" b="1" i="0">
                <a:solidFill>
                  <a:srgbClr val="8C1515"/>
                </a:solidFill>
                <a:latin typeface="Calibri"/>
              </a:rPr>
              <a:t>[0.3, 1.0]</a:t>
            </a:r>
          </a:p>
        </p:txBody>
      </p:sp>
      <p:sp>
        <p:nvSpPr>
          <p:cNvPr id="24" name="S20_shape_4"/>
          <p:cNvSpPr/>
          <p:nvPr/>
        </p:nvSpPr>
        <p:spPr>
          <a:xfrm>
            <a:off x="5897880" y="2743200"/>
            <a:ext cx="2651760" cy="45720"/>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5" name="S20_text_0_3"/>
          <p:cNvSpPr txBox="1"/>
          <p:nvPr/>
        </p:nvSpPr>
        <p:spPr>
          <a:xfrm>
            <a:off x="5669280" y="2834640"/>
            <a:ext cx="457200" cy="128016"/>
          </a:xfrm>
          <a:prstGeom prst="rect">
            <a:avLst/>
          </a:prstGeom>
          <a:noFill/>
        </p:spPr>
        <p:txBody>
          <a:bodyPr wrap="square" lIns="0" rIns="0" tIns="0" bIns="0" anchor="t">
            <a:spAutoFit/>
          </a:bodyPr>
          <a:lstStyle/>
          <a:p>
            <a:pPr algn="ctr"/>
            <a:r>
              <a:rPr sz="1100" b="0" i="0">
                <a:solidFill>
                  <a:srgbClr val="6B6965"/>
                </a:solidFill>
                <a:latin typeface="Calibri"/>
              </a:rPr>
              <a:t>0.3</a:t>
            </a:r>
          </a:p>
        </p:txBody>
      </p:sp>
      <p:sp>
        <p:nvSpPr>
          <p:cNvPr id="26" name="S20_text_1_0"/>
          <p:cNvSpPr txBox="1"/>
          <p:nvPr/>
        </p:nvSpPr>
        <p:spPr>
          <a:xfrm>
            <a:off x="8321040" y="2834640"/>
            <a:ext cx="457200" cy="128016"/>
          </a:xfrm>
          <a:prstGeom prst="rect">
            <a:avLst/>
          </a:prstGeom>
          <a:noFill/>
        </p:spPr>
        <p:txBody>
          <a:bodyPr wrap="square" lIns="0" rIns="0" tIns="0" bIns="0" anchor="t">
            <a:spAutoFit/>
          </a:bodyPr>
          <a:lstStyle/>
          <a:p>
            <a:pPr algn="ctr"/>
            <a:r>
              <a:rPr sz="1100" b="0" i="0">
                <a:solidFill>
                  <a:srgbClr val="6B6965"/>
                </a:solidFill>
                <a:latin typeface="Calibri"/>
              </a:rPr>
              <a:t>1.0</a:t>
            </a:r>
          </a:p>
        </p:txBody>
      </p:sp>
      <p:sp>
        <p:nvSpPr>
          <p:cNvPr id="27" name="S20_text_1_0_symmetric"/>
          <p:cNvSpPr txBox="1"/>
          <p:nvPr/>
        </p:nvSpPr>
        <p:spPr>
          <a:xfrm>
            <a:off x="6172200" y="2834640"/>
            <a:ext cx="2103120" cy="146304"/>
          </a:xfrm>
          <a:prstGeom prst="rect">
            <a:avLst/>
          </a:prstGeom>
          <a:noFill/>
        </p:spPr>
        <p:txBody>
          <a:bodyPr wrap="square" lIns="0" rIns="0" tIns="0" bIns="0" anchor="t">
            <a:spAutoFit/>
          </a:bodyPr>
          <a:lstStyle/>
          <a:p>
            <a:pPr algn="ctr"/>
            <a:r>
              <a:rPr sz="1100" b="0" i="0">
                <a:solidFill>
                  <a:srgbClr val="6B6965"/>
                </a:solidFill>
                <a:latin typeface="Calibri"/>
              </a:rPr>
              <a:t>1.0 = symmetric</a:t>
            </a:r>
          </a:p>
        </p:txBody>
      </p:sp>
      <p:sp>
        <p:nvSpPr>
          <p:cNvPr id="28" name="S20_shape_5"/>
          <p:cNvSpPr/>
          <p:nvPr/>
        </p:nvSpPr>
        <p:spPr>
          <a:xfrm>
            <a:off x="5623560" y="3163824"/>
            <a:ext cx="3200400" cy="7132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9" name="S20_text_s_stiffness_multiplier"/>
          <p:cNvSpPr txBox="1"/>
          <p:nvPr/>
        </p:nvSpPr>
        <p:spPr>
          <a:xfrm>
            <a:off x="5733288" y="3218688"/>
            <a:ext cx="1737360" cy="201168"/>
          </a:xfrm>
          <a:prstGeom prst="rect">
            <a:avLst/>
          </a:prstGeom>
          <a:noFill/>
        </p:spPr>
        <p:txBody>
          <a:bodyPr wrap="square" lIns="0" rIns="0" tIns="0" bIns="0" anchor="t">
            <a:spAutoFit/>
          </a:bodyPr>
          <a:lstStyle/>
          <a:p>
            <a:pPr algn="l"/>
            <a:r>
              <a:rPr sz="1100" b="1" i="0">
                <a:solidFill>
                  <a:srgbClr val="2E2D29"/>
                </a:solidFill>
                <a:latin typeface="Calibri"/>
              </a:rPr>
              <a:t>s  stiffness multiplier</a:t>
            </a:r>
          </a:p>
        </p:txBody>
      </p:sp>
      <p:sp>
        <p:nvSpPr>
          <p:cNvPr id="30" name="S20_text_0_5_20"/>
          <p:cNvSpPr txBox="1"/>
          <p:nvPr/>
        </p:nvSpPr>
        <p:spPr>
          <a:xfrm>
            <a:off x="7360920" y="3218688"/>
            <a:ext cx="1371600" cy="201168"/>
          </a:xfrm>
          <a:prstGeom prst="rect">
            <a:avLst/>
          </a:prstGeom>
          <a:noFill/>
        </p:spPr>
        <p:txBody>
          <a:bodyPr wrap="square" lIns="0" rIns="0" tIns="0" bIns="0" anchor="t">
            <a:spAutoFit/>
          </a:bodyPr>
          <a:lstStyle/>
          <a:p>
            <a:pPr algn="r"/>
            <a:r>
              <a:rPr sz="1400" b="1" i="0">
                <a:solidFill>
                  <a:srgbClr val="8C1515"/>
                </a:solidFill>
                <a:latin typeface="Calibri"/>
              </a:rPr>
              <a:t>[0.5, 20], log</a:t>
            </a:r>
          </a:p>
        </p:txBody>
      </p:sp>
      <p:sp>
        <p:nvSpPr>
          <p:cNvPr id="31" name="S20_shape_6"/>
          <p:cNvSpPr/>
          <p:nvPr/>
        </p:nvSpPr>
        <p:spPr>
          <a:xfrm>
            <a:off x="5897880" y="3529584"/>
            <a:ext cx="2651760" cy="45720"/>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2" name="S20_shape_7"/>
          <p:cNvSpPr/>
          <p:nvPr/>
        </p:nvSpPr>
        <p:spPr>
          <a:xfrm>
            <a:off x="6341286" y="3497580"/>
            <a:ext cx="109728" cy="109728"/>
          </a:xfrm>
          <a:prstGeom prst="ellipse">
            <a:avLst/>
          </a:prstGeom>
          <a:solidFill>
            <a:srgbClr val="FFFFFF"/>
          </a:solidFill>
          <a:ln w="9525">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3" name="S20_text_0_5"/>
          <p:cNvSpPr txBox="1"/>
          <p:nvPr/>
        </p:nvSpPr>
        <p:spPr>
          <a:xfrm>
            <a:off x="5669280" y="3621024"/>
            <a:ext cx="457200" cy="128016"/>
          </a:xfrm>
          <a:prstGeom prst="rect">
            <a:avLst/>
          </a:prstGeom>
          <a:noFill/>
        </p:spPr>
        <p:txBody>
          <a:bodyPr wrap="square" lIns="0" rIns="0" tIns="0" bIns="0" anchor="t">
            <a:spAutoFit/>
          </a:bodyPr>
          <a:lstStyle/>
          <a:p>
            <a:pPr algn="ctr"/>
            <a:r>
              <a:rPr sz="1100" b="0" i="0">
                <a:solidFill>
                  <a:srgbClr val="6B6965"/>
                </a:solidFill>
                <a:latin typeface="Calibri"/>
              </a:rPr>
              <a:t>0.5</a:t>
            </a:r>
          </a:p>
        </p:txBody>
      </p:sp>
      <p:sp>
        <p:nvSpPr>
          <p:cNvPr id="34" name="S20_text_20"/>
          <p:cNvSpPr txBox="1"/>
          <p:nvPr/>
        </p:nvSpPr>
        <p:spPr>
          <a:xfrm>
            <a:off x="8321040" y="3621024"/>
            <a:ext cx="457200" cy="128016"/>
          </a:xfrm>
          <a:prstGeom prst="rect">
            <a:avLst/>
          </a:prstGeom>
          <a:noFill/>
        </p:spPr>
        <p:txBody>
          <a:bodyPr wrap="square" lIns="0" rIns="0" tIns="0" bIns="0" anchor="t">
            <a:spAutoFit/>
          </a:bodyPr>
          <a:lstStyle/>
          <a:p>
            <a:pPr algn="ctr"/>
            <a:r>
              <a:rPr sz="1100" b="0" i="0">
                <a:solidFill>
                  <a:srgbClr val="6B6965"/>
                </a:solidFill>
                <a:latin typeface="Calibri"/>
              </a:rPr>
              <a:t>20</a:t>
            </a:r>
          </a:p>
        </p:txBody>
      </p:sp>
      <p:sp>
        <p:nvSpPr>
          <p:cNvPr id="35" name="S20_text_Eh_r_s"/>
          <p:cNvSpPr txBox="1"/>
          <p:nvPr/>
        </p:nvSpPr>
        <p:spPr>
          <a:xfrm>
            <a:off x="6172200" y="3621024"/>
            <a:ext cx="2103120" cy="146304"/>
          </a:xfrm>
          <a:prstGeom prst="rect">
            <a:avLst/>
          </a:prstGeom>
          <a:noFill/>
        </p:spPr>
        <p:txBody>
          <a:bodyPr wrap="square" lIns="0" rIns="0" tIns="0" bIns="0" anchor="t">
            <a:spAutoFit/>
          </a:bodyPr>
          <a:lstStyle/>
          <a:p>
            <a:pPr algn="ctr"/>
            <a:r>
              <a:rPr sz="1100" b="0" i="0">
                <a:solidFill>
                  <a:srgbClr val="6B6965"/>
                </a:solidFill>
                <a:latin typeface="Calibri"/>
              </a:rPr>
              <a:t>Eh/r = s·5×10⁴, k₃ = s·10⁵</a:t>
            </a:r>
          </a:p>
        </p:txBody>
      </p:sp>
      <p:sp>
        <p:nvSpPr>
          <p:cNvPr id="36" name="S20_text_s_1_the"/>
          <p:cNvSpPr txBox="1"/>
          <p:nvPr/>
        </p:nvSpPr>
        <p:spPr>
          <a:xfrm>
            <a:off x="5733288" y="3986784"/>
            <a:ext cx="3017520" cy="182880"/>
          </a:xfrm>
          <a:prstGeom prst="rect">
            <a:avLst/>
          </a:prstGeom>
          <a:noFill/>
        </p:spPr>
        <p:txBody>
          <a:bodyPr wrap="square" lIns="0" rIns="0" tIns="0" bIns="0" anchor="t">
            <a:spAutoFit/>
          </a:bodyPr>
          <a:lstStyle/>
          <a:p>
            <a:pPr algn="l"/>
            <a:r>
              <a:rPr sz="1100" b="0" i="0">
                <a:solidFill>
                  <a:srgbClr val="8C1515"/>
                </a:solidFill>
                <a:latin typeface="Calibri"/>
              </a:rPr>
              <a:t>○ s = 1: the literature point and the initial guess</a:t>
            </a:r>
          </a:p>
        </p:txBody>
      </p:sp>
      <p:sp>
        <p:nvSpPr>
          <p:cNvPr id="37" name="S20_shape_8"/>
          <p:cNvSpPr/>
          <p:nvPr/>
        </p:nvSpPr>
        <p:spPr>
          <a:xfrm>
            <a:off x="5623560" y="4206240"/>
            <a:ext cx="3200400"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8" name="S20_text_Removed_free_k"/>
          <p:cNvSpPr txBox="1"/>
          <p:nvPr/>
        </p:nvSpPr>
        <p:spPr>
          <a:xfrm>
            <a:off x="5715000" y="4224528"/>
            <a:ext cx="3017520" cy="347472"/>
          </a:xfrm>
          <a:prstGeom prst="rect">
            <a:avLst/>
          </a:prstGeom>
          <a:noFill/>
        </p:spPr>
        <p:txBody>
          <a:bodyPr wrap="square" lIns="0" rIns="0" tIns="0" bIns="0" anchor="ctr">
            <a:spAutoFit/>
          </a:bodyPr>
          <a:lstStyle/>
          <a:p>
            <a:pPr algn="l"/>
            <a:r>
              <a:rPr sz="1100" b="1" i="0">
                <a:solidFill>
                  <a:srgbClr val="2E2D29"/>
                </a:solidFill>
                <a:latin typeface="Calibri"/>
              </a:rPr>
              <a:t>Removed: </a:t>
            </a:r>
            <a:r>
              <a:rPr sz="1100" b="0" i="0">
                <a:solidFill>
                  <a:srgbClr val="6B6965"/>
                </a:solidFill>
                <a:latin typeface="Calibri"/>
              </a:rPr>
              <a:t>free k₃ ∈ [5×10⁴, 4×10⁵] with Eh/r fixed at 5×10⁴; tuned k₂; L2 penalty on θ</a:t>
            </a:r>
          </a:p>
        </p:txBody>
      </p:sp>
      <p:sp>
        <p:nvSpPr>
          <p:cNvPr id="39"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0" name="S20_text_One_multiplier_now"/>
          <p:cNvSpPr txBox="1"/>
          <p:nvPr/>
        </p:nvSpPr>
        <p:spPr>
          <a:xfrm>
            <a:off x="429768" y="4700016"/>
            <a:ext cx="8284464" cy="310896"/>
          </a:xfrm>
          <a:prstGeom prst="rect">
            <a:avLst/>
          </a:prstGeom>
          <a:noFill/>
        </p:spPr>
        <p:txBody>
          <a:bodyPr wrap="square" lIns="0" rIns="0" tIns="0" bIns="0" anchor="ctr">
            <a:spAutoFit/>
          </a:bodyPr>
          <a:lstStyle/>
          <a:p>
            <a:pPr algn="l"/>
            <a:r>
              <a:rPr sz="1400" b="1" i="0">
                <a:solidFill>
                  <a:srgbClr val="8C1515"/>
                </a:solidFill>
                <a:latin typeface="Calibri"/>
              </a:rPr>
              <a:t>One multiplier now moves both stiffnesses; the tree shape parameters carry the resistance.</a:t>
            </a:r>
          </a:p>
        </p:txBody>
      </p:sp>
      <p:sp>
        <p:nvSpPr>
          <p:cNvPr id="41" name="S20_text_svz_workspace_defaults"/>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Frozen in pre-op protocol v1 (svz docs/preop_protocol_v1, 25 Oct 2026); svz defaults since 16 Oct (svzt-agent docs/TUNING_MODEL.md §2, §8 item 9).</a:t>
            </a:r>
          </a:p>
        </p:txBody>
      </p:sp>
      <p:graphicFrame>
        <p:nvGraphicFramePr>
          <p:cNvPr id="42" name="S2_fixed_params_table"/>
          <p:cNvGraphicFramePr>
            <a:graphicFrameLocks noGrp="1"/>
          </p:cNvGraphicFramePr>
          <p:nvPr/>
        </p:nvGraphicFramePr>
        <p:xfrm>
          <a:off x="320040" y="1591056"/>
          <a:ext cx="5120639" cy="2926072"/>
        </p:xfrm>
        <a:graphic>
          <a:graphicData uri="http://schemas.openxmlformats.org/drawingml/2006/table">
            <a:tbl>
              <a:tblPr firstRow="0" bandRow="0">
                <a:tableStyleId>{5C22544A-7EE6-4342-B048-85BDC9FD1C3A}</a:tableStyleId>
              </a:tblPr>
              <a:tblGrid>
                <a:gridCol w="1106424"/>
                <a:gridCol w="1536191"/>
                <a:gridCol w="2478024"/>
              </a:tblGrid>
              <a:tr h="365759">
                <a:tc>
                  <a:txBody>
                    <a:bodyPr wrap="square"/>
                    <a:lstStyle/>
                    <a:p>
                      <a:r>
                        <a:rPr sz="1100" b="1">
                          <a:solidFill>
                            <a:srgbClr val="2E2D29"/>
                          </a:solidFill>
                          <a:latin typeface="Calibri"/>
                        </a:rPr>
                        <a:t>k₁</a:t>
                      </a:r>
                    </a:p>
                  </a:txBody>
                  <a:tcPr marL="54864" marR="54864" marT="27432" marB="27432" anchor="ctr">
                    <a:solidFill>
                      <a:srgbClr val="F2F1F0"/>
                    </a:solidFill>
                  </a:tcPr>
                </a:tc>
                <a:tc>
                  <a:txBody>
                    <a:bodyPr wrap="square"/>
                    <a:lstStyle/>
                    <a:p>
                      <a:r>
                        <a:rPr sz="1100" b="1">
                          <a:solidFill>
                            <a:srgbClr val="8C1515"/>
                          </a:solidFill>
                          <a:latin typeface="Calibri"/>
                        </a:rPr>
                        <a:t>2.6×10⁵ dyn/cm²</a:t>
                      </a:r>
                    </a:p>
                  </a:txBody>
                  <a:tcPr marL="54864" marR="54864" marT="27432" marB="27432" anchor="ctr">
                    <a:solidFill>
                      <a:srgbClr val="F2F1F0"/>
                    </a:solidFill>
                  </a:tcPr>
                </a:tc>
                <a:tc>
                  <a:txBody>
                    <a:bodyPr wrap="square"/>
                    <a:lstStyle/>
                    <a:p>
                      <a:r>
                        <a:rPr sz="1100" b="0">
                          <a:solidFill>
                            <a:srgbClr val="6B6965"/>
                          </a:solidFill>
                          <a:latin typeface="Calibri"/>
                        </a:rPr>
                        <a:t>pulmonary small arteries (Colebank 2021)</a:t>
                      </a:r>
                    </a:p>
                  </a:txBody>
                  <a:tcPr marL="54864" marR="54864" marT="27432" marB="27432" anchor="ctr">
                    <a:solidFill>
                      <a:srgbClr val="F2F1F0"/>
                    </a:solidFill>
                  </a:tcPr>
                </a:tc>
              </a:tr>
              <a:tr h="365759">
                <a:tc>
                  <a:txBody>
                    <a:bodyPr wrap="square"/>
                    <a:lstStyle/>
                    <a:p>
                      <a:r>
                        <a:rPr sz="1100" b="1">
                          <a:solidFill>
                            <a:srgbClr val="2E2D29"/>
                          </a:solidFill>
                          <a:latin typeface="Calibri"/>
                        </a:rPr>
                        <a:t>k₂</a:t>
                      </a:r>
                    </a:p>
                  </a:txBody>
                  <a:tcPr marL="54864" marR="54864" marT="27432" marB="27432" anchor="ctr">
                    <a:solidFill>
                      <a:srgbClr val="FFFFFF"/>
                    </a:solidFill>
                  </a:tcPr>
                </a:tc>
                <a:tc>
                  <a:txBody>
                    <a:bodyPr wrap="square"/>
                    <a:lstStyle/>
                    <a:p>
                      <a:r>
                        <a:rPr sz="1100" b="1">
                          <a:solidFill>
                            <a:srgbClr val="8C1515"/>
                          </a:solidFill>
                          <a:latin typeface="Calibri"/>
                        </a:rPr>
                        <a:t>−14 cm⁻¹</a:t>
                      </a:r>
                    </a:p>
                  </a:txBody>
                  <a:tcPr marL="54864" marR="54864" marT="27432" marB="27432" anchor="ctr">
                    <a:solidFill>
                      <a:srgbClr val="FFFFFF"/>
                    </a:solidFill>
                  </a:tcPr>
                </a:tc>
                <a:tc>
                  <a:txBody>
                    <a:bodyPr wrap="square"/>
                    <a:lstStyle/>
                    <a:p>
                      <a:r>
                        <a:rPr sz="1100" b="0">
                          <a:solidFill>
                            <a:srgbClr val="6B6965"/>
                          </a:solidFill>
                          <a:latin typeface="Calibri"/>
                        </a:rPr>
                        <a:t>not identifiable from pressures (Paun 2020)</a:t>
                      </a:r>
                    </a:p>
                  </a:txBody>
                  <a:tcPr marL="54864" marR="54864" marT="27432" marB="27432" anchor="ctr">
                    <a:solidFill>
                      <a:srgbClr val="FFFFFF"/>
                    </a:solidFill>
                  </a:tcPr>
                </a:tc>
              </a:tr>
              <a:tr h="365759">
                <a:tc>
                  <a:txBody>
                    <a:bodyPr wrap="square"/>
                    <a:lstStyle/>
                    <a:p>
                      <a:r>
                        <a:rPr sz="1100" b="1">
                          <a:solidFill>
                            <a:srgbClr val="2E2D29"/>
                          </a:solidFill>
                          <a:latin typeface="Calibri"/>
                        </a:rPr>
                        <a:t>Stiffness refs</a:t>
                      </a:r>
                    </a:p>
                  </a:txBody>
                  <a:tcPr marL="54864" marR="54864" marT="27432" marB="27432" anchor="ctr">
                    <a:solidFill>
                      <a:srgbClr val="F2F1F0"/>
                    </a:solidFill>
                  </a:tcPr>
                </a:tc>
                <a:tc>
                  <a:txBody>
                    <a:bodyPr wrap="square"/>
                    <a:lstStyle/>
                    <a:p>
                      <a:r>
                        <a:rPr sz="1100" b="1">
                          <a:solidFill>
                            <a:srgbClr val="8C1515"/>
                          </a:solidFill>
                          <a:latin typeface="Calibri"/>
                        </a:rPr>
                        <a:t>Eh/r 5×10⁴, k₃ 1×10⁵</a:t>
                      </a:r>
                    </a:p>
                  </a:txBody>
                  <a:tcPr marL="54864" marR="54864" marT="27432" marB="27432" anchor="ctr">
                    <a:solidFill>
                      <a:srgbClr val="F2F1F0"/>
                    </a:solidFill>
                  </a:tcPr>
                </a:tc>
                <a:tc>
                  <a:txBody>
                    <a:bodyPr wrap="square"/>
                    <a:lstStyle/>
                    <a:p>
                      <a:r>
                        <a:rPr sz="1100" b="0">
                          <a:solidFill>
                            <a:srgbClr val="6B6965"/>
                          </a:solidFill>
                          <a:latin typeface="Calibri"/>
                        </a:rPr>
                        <a:t>literature point at s = 1 (Krenz &amp; Dawson; Colebank)</a:t>
                      </a:r>
                    </a:p>
                  </a:txBody>
                  <a:tcPr marL="54864" marR="54864" marT="27432" marB="27432" anchor="ctr">
                    <a:solidFill>
                      <a:srgbClr val="F2F1F0"/>
                    </a:solidFill>
                  </a:tcPr>
                </a:tc>
              </a:tr>
              <a:tr h="365759">
                <a:tc>
                  <a:txBody>
                    <a:bodyPr wrap="square"/>
                    <a:lstStyle/>
                    <a:p>
                      <a:r>
                        <a:rPr sz="1100" b="1">
                          <a:solidFill>
                            <a:srgbClr val="2E2D29"/>
                          </a:solidFill>
                          <a:latin typeface="Calibri"/>
                        </a:rPr>
                        <a:t>l_rr</a:t>
                      </a:r>
                    </a:p>
                  </a:txBody>
                  <a:tcPr marL="54864" marR="54864" marT="27432" marB="27432" anchor="ctr">
                    <a:solidFill>
                      <a:srgbClr val="FFFFFF"/>
                    </a:solidFill>
                  </a:tcPr>
                </a:tc>
                <a:tc>
                  <a:txBody>
                    <a:bodyPr wrap="square"/>
                    <a:lstStyle/>
                    <a:p>
                      <a:r>
                        <a:rPr sz="1100" b="1">
                          <a:solidFill>
                            <a:srgbClr val="8C1515"/>
                          </a:solidFill>
                          <a:latin typeface="Calibri"/>
                        </a:rPr>
                        <a:t>10</a:t>
                      </a:r>
                    </a:p>
                  </a:txBody>
                  <a:tcPr marL="54864" marR="54864" marT="27432" marB="27432" anchor="ctr">
                    <a:solidFill>
                      <a:srgbClr val="FFFFFF"/>
                    </a:solidFill>
                  </a:tcPr>
                </a:tc>
                <a:tc>
                  <a:txBody>
                    <a:bodyPr wrap="square"/>
                    <a:lstStyle/>
                    <a:p>
                      <a:r>
                        <a:rPr sz="1100" b="0">
                          <a:solidFill>
                            <a:srgbClr val="6B6965"/>
                          </a:solidFill>
                          <a:latin typeface="Calibri"/>
                        </a:rPr>
                        <a:t>morphometric range 7–13; free l_rr not identifiable</a:t>
                      </a:r>
                    </a:p>
                  </a:txBody>
                  <a:tcPr marL="54864" marR="54864" marT="27432" marB="27432" anchor="ctr">
                    <a:solidFill>
                      <a:srgbClr val="FFFFFF"/>
                    </a:solidFill>
                  </a:tcPr>
                </a:tc>
              </a:tr>
              <a:tr h="365759">
                <a:tc>
                  <a:txBody>
                    <a:bodyPr wrap="square"/>
                    <a:lstStyle/>
                    <a:p>
                      <a:r>
                        <a:rPr sz="1100" b="1">
                          <a:solidFill>
                            <a:srgbClr val="2E2D29"/>
                          </a:solidFill>
                          <a:latin typeface="Calibri"/>
                        </a:rPr>
                        <a:t>d_min</a:t>
                      </a:r>
                    </a:p>
                  </a:txBody>
                  <a:tcPr marL="54864" marR="54864" marT="27432" marB="27432" anchor="ctr">
                    <a:solidFill>
                      <a:srgbClr val="F2F1F0"/>
                    </a:solidFill>
                  </a:tcPr>
                </a:tc>
                <a:tc>
                  <a:txBody>
                    <a:bodyPr wrap="square"/>
                    <a:lstStyle/>
                    <a:p>
                      <a:r>
                        <a:rPr sz="1100" b="1">
                          <a:solidFill>
                            <a:srgbClr val="8C1515"/>
                          </a:solidFill>
                          <a:latin typeface="Calibri"/>
                        </a:rPr>
                        <a:t>0.01 cm</a:t>
                      </a:r>
                    </a:p>
                  </a:txBody>
                  <a:tcPr marL="54864" marR="54864" marT="27432" marB="27432" anchor="ctr">
                    <a:solidFill>
                      <a:srgbClr val="F2F1F0"/>
                    </a:solidFill>
                  </a:tcPr>
                </a:tc>
                <a:tc>
                  <a:txBody>
                    <a:bodyPr wrap="square"/>
                    <a:lstStyle/>
                    <a:p>
                      <a:r>
                        <a:rPr sz="1100" b="0">
                          <a:solidFill>
                            <a:srgbClr val="6B6965"/>
                          </a:solidFill>
                          <a:latin typeface="Calibri"/>
                        </a:rPr>
                        <a:t>r_min 50 µm: pre-capillary arterioles</a:t>
                      </a:r>
                    </a:p>
                  </a:txBody>
                  <a:tcPr marL="54864" marR="54864" marT="27432" marB="27432" anchor="ctr">
                    <a:solidFill>
                      <a:srgbClr val="F2F1F0"/>
                    </a:solidFill>
                  </a:tcPr>
                </a:tc>
              </a:tr>
              <a:tr h="365759">
                <a:tc>
                  <a:txBody>
                    <a:bodyPr wrap="square"/>
                    <a:lstStyle/>
                    <a:p>
                      <a:r>
                        <a:rPr sz="1100" b="1">
                          <a:solidFill>
                            <a:srgbClr val="2E2D29"/>
                          </a:solidFill>
                          <a:latin typeface="Calibri"/>
                        </a:rPr>
                        <a:t>Tree diameter</a:t>
                      </a:r>
                    </a:p>
                  </a:txBody>
                  <a:tcPr marL="54864" marR="54864" marT="27432" marB="27432" anchor="ctr">
                    <a:solidFill>
                      <a:srgbClr val="FFFFFF"/>
                    </a:solidFill>
                  </a:tcPr>
                </a:tc>
                <a:tc>
                  <a:txBody>
                    <a:bodyPr wrap="square"/>
                    <a:lstStyle/>
                    <a:p>
                      <a:r>
                        <a:rPr sz="1100" b="1">
                          <a:solidFill>
                            <a:srgbClr val="8C1515"/>
                          </a:solidFill>
                          <a:latin typeface="Calibri"/>
                        </a:rPr>
                        <a:t>measured cap d</a:t>
                      </a:r>
                    </a:p>
                  </a:txBody>
                  <a:tcPr marL="54864" marR="54864" marT="27432" marB="27432" anchor="ctr">
                    <a:solidFill>
                      <a:srgbClr val="FFFFFF"/>
                    </a:solidFill>
                  </a:tcPr>
                </a:tc>
                <a:tc>
                  <a:txBody>
                    <a:bodyPr wrap="square"/>
                    <a:lstStyle/>
                    <a:p>
                      <a:r>
                        <a:rPr sz="1100" b="0">
                          <a:solidFill>
                            <a:srgbClr val="6B6965"/>
                          </a:solidFill>
                          <a:latin typeface="Calibri"/>
                        </a:rPr>
                        <a:t>s = 1.0, one tree per cap</a:t>
                      </a:r>
                    </a:p>
                  </a:txBody>
                  <a:tcPr marL="54864" marR="54864" marT="27432" marB="27432" anchor="ctr">
                    <a:solidFill>
                      <a:srgbClr val="FFFFFF"/>
                    </a:solidFill>
                  </a:tcPr>
                </a:tc>
              </a:tr>
              <a:tr h="365759">
                <a:tc>
                  <a:txBody>
                    <a:bodyPr wrap="square"/>
                    <a:lstStyle/>
                    <a:p>
                      <a:r>
                        <a:rPr sz="1100" b="1">
                          <a:solidFill>
                            <a:srgbClr val="2E2D29"/>
                          </a:solidFill>
                          <a:latin typeface="Calibri"/>
                        </a:rPr>
                        <a:t>Outlet Pd</a:t>
                      </a:r>
                    </a:p>
                  </a:txBody>
                  <a:tcPr marL="54864" marR="54864" marT="27432" marB="27432" anchor="ctr">
                    <a:solidFill>
                      <a:srgbClr val="F2F1F0"/>
                    </a:solidFill>
                  </a:tcPr>
                </a:tc>
                <a:tc>
                  <a:txBody>
                    <a:bodyPr wrap="square"/>
                    <a:lstStyle/>
                    <a:p>
                      <a:r>
                        <a:rPr sz="1100" b="1">
                          <a:solidFill>
                            <a:srgbClr val="8C1515"/>
                          </a:solidFill>
                          <a:latin typeface="Calibri"/>
                        </a:rPr>
                        <a:t>per-patient policy</a:t>
                      </a:r>
                    </a:p>
                  </a:txBody>
                  <a:tcPr marL="54864" marR="54864" marT="27432" marB="27432" anchor="ctr">
                    <a:solidFill>
                      <a:srgbClr val="F2F1F0"/>
                    </a:solidFill>
                  </a:tcPr>
                </a:tc>
                <a:tc>
                  <a:txBody>
                    <a:bodyPr wrap="square"/>
                    <a:lstStyle/>
                    <a:p>
                      <a:r>
                        <a:rPr sz="1100" b="0">
                          <a:solidFill>
                            <a:srgbClr val="6B6965"/>
                          </a:solidFill>
                          <a:latin typeface="Calibri"/>
                        </a:rPr>
                        <a:t>PCWP- or diastolic-based</a:t>
                      </a:r>
                    </a:p>
                  </a:txBody>
                  <a:tcPr marL="54864" marR="54864" marT="27432" marB="27432" anchor="ctr">
                    <a:solidFill>
                      <a:srgbClr val="F2F1F0"/>
                    </a:solidFill>
                  </a:tcPr>
                </a:tc>
              </a:tr>
              <a:tr h="365759">
                <a:tc>
                  <a:txBody>
                    <a:bodyPr wrap="square"/>
                    <a:lstStyle/>
                    <a:p>
                      <a:r>
                        <a:rPr sz="1100" b="1">
                          <a:solidFill>
                            <a:srgbClr val="2E2D29"/>
                          </a:solidFill>
                          <a:latin typeface="Calibri"/>
                        </a:rPr>
                        <a:t>max_nodes</a:t>
                      </a:r>
                    </a:p>
                  </a:txBody>
                  <a:tcPr marL="54864" marR="54864" marT="27432" marB="27432" anchor="ctr">
                    <a:solidFill>
                      <a:srgbClr val="FFFFFF"/>
                    </a:solidFill>
                  </a:tcPr>
                </a:tc>
                <a:tc>
                  <a:txBody>
                    <a:bodyPr wrap="square"/>
                    <a:lstStyle/>
                    <a:p>
                      <a:r>
                        <a:rPr sz="1100" b="1">
                          <a:solidFill>
                            <a:srgbClr val="8C1515"/>
                          </a:solidFill>
                          <a:latin typeface="Calibri"/>
                        </a:rPr>
                        <a:t>1,000,000</a:t>
                      </a:r>
                    </a:p>
                  </a:txBody>
                  <a:tcPr marL="54864" marR="54864" marT="27432" marB="27432" anchor="ctr">
                    <a:solidFill>
                      <a:srgbClr val="FFFFFF"/>
                    </a:solidFill>
                  </a:tcPr>
                </a:tc>
                <a:tc>
                  <a:txBody>
                    <a:bodyPr wrap="square"/>
                    <a:lstStyle/>
                    <a:p>
                      <a:r>
                        <a:rPr sz="1100" b="0">
                          <a:solidFill>
                            <a:srgbClr val="6B6965"/>
                          </a:solidFill>
                          <a:latin typeface="Calibri"/>
                        </a:rPr>
                        <a:t>truncation flagged, not excluded</a:t>
                      </a:r>
                    </a:p>
                  </a:txBody>
                  <a:tcPr marL="54864" marR="54864" marT="27432" marB="27432"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Inner loop: shared fit, then a per-cap polish</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8"/>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21_shape_Shared_stage_1"/>
          <p:cNvSpPr/>
          <p:nvPr/>
        </p:nvSpPr>
        <p:spPr>
          <a:xfrm>
            <a:off x="320040" y="1316736"/>
            <a:ext cx="1885950" cy="640080"/>
          </a:xfrm>
          <a:prstGeom prst="rect">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i="0">
                <a:solidFill>
                  <a:srgbClr val="2E2D29"/>
                </a:solidFill>
                <a:latin typeface="Calibri"/>
              </a:rPr>
              <a:t>Shared stage</a:t>
            </a:r>
          </a:p>
          <a:p>
            <a:pPr algn="ctr"/>
            <a:r>
              <a:rPr sz="1100" b="0" i="0">
                <a:solidFill>
                  <a:srgbClr val="6B6965"/>
                </a:solidFill>
                <a:latin typeface="Calibri"/>
              </a:rPr>
              <a:t>1 conductance-matched tree per side · ~7 s / eval</a:t>
            </a:r>
          </a:p>
        </p:txBody>
      </p:sp>
      <p:cxnSp>
        <p:nvCxnSpPr>
          <p:cNvPr id="13" name="S21_connector"/>
          <p:cNvCxnSpPr>
            <a:stCxn id="12" idx="3"/>
            <a:endCxn id="14" idx="1"/>
          </p:cNvCxnSpPr>
          <p:nvPr/>
        </p:nvCxnSpPr>
        <p:spPr>
          <a:xfrm>
            <a:off x="2205990" y="1636776"/>
            <a:ext cx="32004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S21_shape_Per_cap_polish"/>
          <p:cNvSpPr/>
          <p:nvPr/>
        </p:nvSpPr>
        <p:spPr>
          <a:xfrm>
            <a:off x="2526030" y="1316736"/>
            <a:ext cx="1885950" cy="64008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i="0">
                <a:solidFill>
                  <a:srgbClr val="FFFFFF"/>
                </a:solidFill>
                <a:latin typeface="Calibri"/>
              </a:rPr>
              <a:t>Per-cap polish</a:t>
            </a:r>
          </a:p>
          <a:p>
            <a:pPr algn="ctr"/>
            <a:r>
              <a:rPr sz="1100" b="0" i="0">
                <a:solidFill>
                  <a:srgbClr val="FFFFFF"/>
                </a:solidFill>
                <a:latin typeface="Calibri"/>
              </a:rPr>
              <a:t>23 exported trees · maxfev 100 · ~65 s / eval</a:t>
            </a:r>
          </a:p>
        </p:txBody>
      </p:sp>
      <p:cxnSp>
        <p:nvCxnSpPr>
          <p:cNvPr id="15" name="S21_connector_2"/>
          <p:cNvCxnSpPr>
            <a:stCxn id="14" idx="3"/>
            <a:endCxn id="16" idx="1"/>
          </p:cNvCxnSpPr>
          <p:nvPr/>
        </p:nvCxnSpPr>
        <p:spPr>
          <a:xfrm>
            <a:off x="4411980" y="1636776"/>
            <a:ext cx="32004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21_shape_Published_scoring_the"/>
          <p:cNvSpPr/>
          <p:nvPr/>
        </p:nvSpPr>
        <p:spPr>
          <a:xfrm>
            <a:off x="4732020" y="1316736"/>
            <a:ext cx="1885950" cy="640080"/>
          </a:xfrm>
          <a:prstGeom prst="rect">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i="0">
                <a:solidFill>
                  <a:srgbClr val="2E2D29"/>
                </a:solidFill>
                <a:latin typeface="Calibri"/>
              </a:rPr>
              <a:t>Published scoring</a:t>
            </a:r>
          </a:p>
          <a:p>
            <a:pPr algn="ctr"/>
            <a:r>
              <a:rPr sz="1100" b="0" i="0">
                <a:solidFill>
                  <a:srgbClr val="6B6965"/>
                </a:solidFill>
                <a:latin typeface="Calibri"/>
              </a:rPr>
              <a:t>the exported model, simulated once</a:t>
            </a:r>
          </a:p>
        </p:txBody>
      </p:sp>
      <p:cxnSp>
        <p:nvCxnSpPr>
          <p:cNvPr id="17" name="S21_connector_3"/>
          <p:cNvCxnSpPr>
            <a:stCxn id="16" idx="3"/>
            <a:endCxn id="18" idx="1"/>
          </p:cNvCxnSpPr>
          <p:nvPr/>
        </p:nvCxnSpPr>
        <p:spPr>
          <a:xfrm>
            <a:off x="6617970" y="1636776"/>
            <a:ext cx="32004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21_shape_tuning_diagnostics_json"/>
          <p:cNvSpPr/>
          <p:nvPr/>
        </p:nvSpPr>
        <p:spPr>
          <a:xfrm>
            <a:off x="6938010" y="1316736"/>
            <a:ext cx="1885950" cy="640080"/>
          </a:xfrm>
          <a:prstGeom prst="rect">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i="0">
                <a:solidFill>
                  <a:srgbClr val="2E2D29"/>
                </a:solidFill>
                <a:latin typeface="Calibri"/>
              </a:rPr>
              <a:t>tuning_diagnostics.json</a:t>
            </a:r>
          </a:p>
          <a:p>
            <a:pPr algn="ctr"/>
            <a:r>
              <a:rPr sz="1100" b="0" i="0">
                <a:solidFill>
                  <a:srgbClr val="6B6965"/>
                </a:solidFill>
                <a:latin typeface="Calibri"/>
              </a:rPr>
              <a:t>fit, bounds, compliance, periodicity</a:t>
            </a:r>
          </a:p>
        </p:txBody>
      </p:sp>
      <p:sp>
        <p:nvSpPr>
          <p:cNvPr id="19" name="S21_text_Shared_vs_per"/>
          <p:cNvSpPr txBox="1"/>
          <p:nvPr/>
        </p:nvSpPr>
        <p:spPr>
          <a:xfrm>
            <a:off x="320040" y="2103120"/>
            <a:ext cx="4937760" cy="219456"/>
          </a:xfrm>
          <a:prstGeom prst="rect">
            <a:avLst/>
          </a:prstGeom>
          <a:noFill/>
        </p:spPr>
        <p:txBody>
          <a:bodyPr wrap="square" lIns="0" rIns="0" tIns="0" bIns="0" anchor="t">
            <a:spAutoFit/>
          </a:bodyPr>
          <a:lstStyle/>
          <a:p>
            <a:pPr algn="l"/>
            <a:r>
              <a:rPr sz="1100" b="1" i="0">
                <a:solidFill>
                  <a:srgbClr val="8C1515"/>
                </a:solidFill>
                <a:latin typeface="Calibri"/>
              </a:rPr>
              <a:t>Shared vs per-cap objective trees, same start (TST-STAN-5)</a:t>
            </a:r>
          </a:p>
        </p:txBody>
      </p:sp>
      <p:sp>
        <p:nvSpPr>
          <p:cNvPr id="20" name="S21_text_shared"/>
          <p:cNvSpPr txBox="1"/>
          <p:nvPr/>
        </p:nvSpPr>
        <p:spPr>
          <a:xfrm>
            <a:off x="2331720" y="2340864"/>
            <a:ext cx="1371600" cy="182880"/>
          </a:xfrm>
          <a:prstGeom prst="rect">
            <a:avLst/>
          </a:prstGeom>
          <a:noFill/>
        </p:spPr>
        <p:txBody>
          <a:bodyPr wrap="square" lIns="0" rIns="0" tIns="0" bIns="0" anchor="t">
            <a:spAutoFit/>
          </a:bodyPr>
          <a:lstStyle/>
          <a:p>
            <a:pPr algn="ctr"/>
            <a:r>
              <a:rPr sz="1100" b="1" i="0">
                <a:solidFill>
                  <a:srgbClr val="6B6965"/>
                </a:solidFill>
                <a:latin typeface="Calibri"/>
              </a:rPr>
              <a:t>shared</a:t>
            </a:r>
          </a:p>
        </p:txBody>
      </p:sp>
      <p:sp>
        <p:nvSpPr>
          <p:cNvPr id="21" name="S21_text_per_cap"/>
          <p:cNvSpPr txBox="1"/>
          <p:nvPr/>
        </p:nvSpPr>
        <p:spPr>
          <a:xfrm>
            <a:off x="3794760" y="2340864"/>
            <a:ext cx="1371600" cy="182880"/>
          </a:xfrm>
          <a:prstGeom prst="rect">
            <a:avLst/>
          </a:prstGeom>
          <a:noFill/>
        </p:spPr>
        <p:txBody>
          <a:bodyPr wrap="square" lIns="0" rIns="0" tIns="0" bIns="0" anchor="t">
            <a:spAutoFit/>
          </a:bodyPr>
          <a:lstStyle/>
          <a:p>
            <a:pPr algn="ctr"/>
            <a:r>
              <a:rPr sz="1100" b="1" i="0">
                <a:solidFill>
                  <a:srgbClr val="8C1515"/>
                </a:solidFill>
                <a:latin typeface="Calibri"/>
              </a:rPr>
              <a:t>per-cap</a:t>
            </a:r>
          </a:p>
        </p:txBody>
      </p:sp>
      <p:sp>
        <p:nvSpPr>
          <p:cNvPr id="22" name="S21_text_Published"/>
          <p:cNvSpPr txBox="1"/>
          <p:nvPr/>
        </p:nvSpPr>
        <p:spPr>
          <a:xfrm>
            <a:off x="320040" y="2560320"/>
            <a:ext cx="1965960" cy="420624"/>
          </a:xfrm>
          <a:prstGeom prst="rect">
            <a:avLst/>
          </a:prstGeom>
          <a:noFill/>
        </p:spPr>
        <p:txBody>
          <a:bodyPr wrap="square" lIns="0" rIns="0" tIns="0" bIns="0" anchor="ctr">
            <a:spAutoFit/>
          </a:bodyPr>
          <a:lstStyle/>
          <a:p>
            <a:pPr algn="l"/>
            <a:r>
              <a:rPr sz="1100" b="1" i="0">
                <a:solidFill>
                  <a:srgbClr val="2E2D29"/>
                </a:solidFill>
                <a:latin typeface="Calibri"/>
              </a:rPr>
              <a:t>Published χ²</a:t>
            </a:r>
          </a:p>
        </p:txBody>
      </p:sp>
      <p:sp>
        <p:nvSpPr>
          <p:cNvPr id="23" name="S21_shape_17_26"/>
          <p:cNvSpPr/>
          <p:nvPr/>
        </p:nvSpPr>
        <p:spPr>
          <a:xfrm>
            <a:off x="2331720" y="2560320"/>
            <a:ext cx="1371600" cy="42062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i="0">
                <a:solidFill>
                  <a:srgbClr val="6B6965"/>
                </a:solidFill>
                <a:latin typeface="Calibri"/>
              </a:rPr>
              <a:t>17.26</a:t>
            </a:r>
          </a:p>
        </p:txBody>
      </p:sp>
      <p:sp>
        <p:nvSpPr>
          <p:cNvPr id="24" name="S21_shape_17_22"/>
          <p:cNvSpPr/>
          <p:nvPr/>
        </p:nvSpPr>
        <p:spPr>
          <a:xfrm>
            <a:off x="3794760" y="2560320"/>
            <a:ext cx="1371600" cy="420624"/>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400" b="1" i="0">
                <a:solidFill>
                  <a:srgbClr val="8C1515"/>
                </a:solidFill>
                <a:latin typeface="Calibri"/>
              </a:rPr>
              <a:t>17.22</a:t>
            </a:r>
          </a:p>
        </p:txBody>
      </p:sp>
      <p:sp>
        <p:nvSpPr>
          <p:cNvPr id="25" name="S21_text_Optimizer_vs_published"/>
          <p:cNvSpPr txBox="1"/>
          <p:nvPr/>
        </p:nvSpPr>
        <p:spPr>
          <a:xfrm>
            <a:off x="320040" y="3035808"/>
            <a:ext cx="1965960" cy="420624"/>
          </a:xfrm>
          <a:prstGeom prst="rect">
            <a:avLst/>
          </a:prstGeom>
          <a:noFill/>
        </p:spPr>
        <p:txBody>
          <a:bodyPr wrap="square" lIns="0" rIns="0" tIns="0" bIns="0" anchor="ctr">
            <a:spAutoFit/>
          </a:bodyPr>
          <a:lstStyle/>
          <a:p>
            <a:pPr algn="l"/>
            <a:r>
              <a:rPr sz="1100" b="1" i="0">
                <a:solidFill>
                  <a:srgbClr val="2E2D29"/>
                </a:solidFill>
                <a:latin typeface="Calibri"/>
              </a:rPr>
              <a:t>Optimizer vs published gap</a:t>
            </a:r>
          </a:p>
        </p:txBody>
      </p:sp>
      <p:sp>
        <p:nvSpPr>
          <p:cNvPr id="26" name="S21_shape_2_57_mmHg"/>
          <p:cNvSpPr/>
          <p:nvPr/>
        </p:nvSpPr>
        <p:spPr>
          <a:xfrm>
            <a:off x="2331720" y="3035808"/>
            <a:ext cx="1371600" cy="42062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i="0">
                <a:solidFill>
                  <a:srgbClr val="6B6965"/>
                </a:solidFill>
                <a:latin typeface="Calibri"/>
              </a:rPr>
              <a:t>2.57 mmHg</a:t>
            </a:r>
          </a:p>
        </p:txBody>
      </p:sp>
      <p:sp>
        <p:nvSpPr>
          <p:cNvPr id="27" name="S21_shape_0_05_mmHg"/>
          <p:cNvSpPr/>
          <p:nvPr/>
        </p:nvSpPr>
        <p:spPr>
          <a:xfrm>
            <a:off x="3794760" y="3035808"/>
            <a:ext cx="1371600" cy="420624"/>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400" b="1" i="0">
                <a:solidFill>
                  <a:srgbClr val="8C1515"/>
                </a:solidFill>
                <a:latin typeface="Calibri"/>
              </a:rPr>
              <a:t>0.05 mmHg</a:t>
            </a:r>
          </a:p>
        </p:txBody>
      </p:sp>
      <p:sp>
        <p:nvSpPr>
          <p:cNvPr id="28" name="S21_text_Time_per_evaluation"/>
          <p:cNvSpPr txBox="1"/>
          <p:nvPr/>
        </p:nvSpPr>
        <p:spPr>
          <a:xfrm>
            <a:off x="320040" y="3511296"/>
            <a:ext cx="1965960" cy="420624"/>
          </a:xfrm>
          <a:prstGeom prst="rect">
            <a:avLst/>
          </a:prstGeom>
          <a:noFill/>
        </p:spPr>
        <p:txBody>
          <a:bodyPr wrap="square" lIns="0" rIns="0" tIns="0" bIns="0" anchor="ctr">
            <a:spAutoFit/>
          </a:bodyPr>
          <a:lstStyle/>
          <a:p>
            <a:pPr algn="l"/>
            <a:r>
              <a:rPr sz="1100" b="1" i="0">
                <a:solidFill>
                  <a:srgbClr val="2E2D29"/>
                </a:solidFill>
                <a:latin typeface="Calibri"/>
              </a:rPr>
              <a:t>Time per evaluation</a:t>
            </a:r>
          </a:p>
        </p:txBody>
      </p:sp>
      <p:sp>
        <p:nvSpPr>
          <p:cNvPr id="29" name="S21_shape_6_9_s"/>
          <p:cNvSpPr/>
          <p:nvPr/>
        </p:nvSpPr>
        <p:spPr>
          <a:xfrm>
            <a:off x="2331720" y="3511296"/>
            <a:ext cx="1371600" cy="42062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i="0">
                <a:solidFill>
                  <a:srgbClr val="6B6965"/>
                </a:solidFill>
                <a:latin typeface="Calibri"/>
              </a:rPr>
              <a:t>6.9 s</a:t>
            </a:r>
          </a:p>
        </p:txBody>
      </p:sp>
      <p:sp>
        <p:nvSpPr>
          <p:cNvPr id="30" name="S21_shape_64_5_s"/>
          <p:cNvSpPr/>
          <p:nvPr/>
        </p:nvSpPr>
        <p:spPr>
          <a:xfrm>
            <a:off x="3794760" y="3511296"/>
            <a:ext cx="1371600" cy="420624"/>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400" b="1" i="0">
                <a:solidFill>
                  <a:srgbClr val="8C1515"/>
                </a:solidFill>
                <a:latin typeface="Calibri"/>
              </a:rPr>
              <a:t>64.5 s</a:t>
            </a:r>
          </a:p>
        </p:txBody>
      </p:sp>
      <p:sp>
        <p:nvSpPr>
          <p:cNvPr id="31" name="S21_text_Wall_time_stall"/>
          <p:cNvSpPr txBox="1"/>
          <p:nvPr/>
        </p:nvSpPr>
        <p:spPr>
          <a:xfrm>
            <a:off x="320040" y="3986783"/>
            <a:ext cx="1965960" cy="420624"/>
          </a:xfrm>
          <a:prstGeom prst="rect">
            <a:avLst/>
          </a:prstGeom>
          <a:noFill/>
        </p:spPr>
        <p:txBody>
          <a:bodyPr wrap="square" lIns="0" rIns="0" tIns="0" bIns="0" anchor="ctr">
            <a:spAutoFit/>
          </a:bodyPr>
          <a:lstStyle/>
          <a:p>
            <a:pPr algn="l"/>
            <a:r>
              <a:rPr sz="1100" b="1" i="0">
                <a:solidFill>
                  <a:srgbClr val="2E2D29"/>
                </a:solidFill>
                <a:latin typeface="Calibri"/>
              </a:rPr>
              <a:t>Wall time (stall stop)</a:t>
            </a:r>
          </a:p>
        </p:txBody>
      </p:sp>
      <p:sp>
        <p:nvSpPr>
          <p:cNvPr id="32" name="S21_shape_19_min"/>
          <p:cNvSpPr/>
          <p:nvPr/>
        </p:nvSpPr>
        <p:spPr>
          <a:xfrm>
            <a:off x="2331720" y="3986783"/>
            <a:ext cx="1371600" cy="42062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i="0">
                <a:solidFill>
                  <a:srgbClr val="6B6965"/>
                </a:solidFill>
                <a:latin typeface="Calibri"/>
              </a:rPr>
              <a:t>19 min</a:t>
            </a:r>
          </a:p>
        </p:txBody>
      </p:sp>
      <p:sp>
        <p:nvSpPr>
          <p:cNvPr id="33" name="S21_shape_73_min"/>
          <p:cNvSpPr/>
          <p:nvPr/>
        </p:nvSpPr>
        <p:spPr>
          <a:xfrm>
            <a:off x="3794760" y="3986783"/>
            <a:ext cx="1371600" cy="420624"/>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400" b="1" i="0">
                <a:solidFill>
                  <a:srgbClr val="8C1515"/>
                </a:solidFill>
                <a:latin typeface="Calibri"/>
              </a:rPr>
              <a:t>73 min</a:t>
            </a:r>
          </a:p>
        </p:txBody>
      </p:sp>
      <p:sp>
        <p:nvSpPr>
          <p:cNvPr id="34" name="S21_shape"/>
          <p:cNvSpPr/>
          <p:nvPr/>
        </p:nvSpPr>
        <p:spPr>
          <a:xfrm>
            <a:off x="5440680" y="2103120"/>
            <a:ext cx="3383280" cy="248716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5" name="S21_text_Stopping_scoring_and"/>
          <p:cNvSpPr txBox="1"/>
          <p:nvPr/>
        </p:nvSpPr>
        <p:spPr>
          <a:xfrm>
            <a:off x="5550408" y="2157984"/>
            <a:ext cx="3200400" cy="219456"/>
          </a:xfrm>
          <a:prstGeom prst="rect">
            <a:avLst/>
          </a:prstGeom>
          <a:noFill/>
        </p:spPr>
        <p:txBody>
          <a:bodyPr wrap="square" lIns="0" rIns="0" tIns="0" bIns="0" anchor="t">
            <a:spAutoFit/>
          </a:bodyPr>
          <a:lstStyle/>
          <a:p>
            <a:pPr algn="l"/>
            <a:r>
              <a:rPr sz="1400" b="1" i="0">
                <a:solidFill>
                  <a:srgbClr val="8C1515"/>
                </a:solidFill>
                <a:latin typeface="Calibri"/>
              </a:rPr>
              <a:t>Stopping, scoring and robustness</a:t>
            </a:r>
          </a:p>
        </p:txBody>
      </p:sp>
      <p:sp>
        <p:nvSpPr>
          <p:cNvPr id="36" name="S21_shape_1"/>
          <p:cNvSpPr/>
          <p:nvPr/>
        </p:nvSpPr>
        <p:spPr>
          <a:xfrm>
            <a:off x="5550408" y="2487168"/>
            <a:ext cx="237744" cy="237744"/>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i="0">
                <a:solidFill>
                  <a:srgbClr val="FFFFFF"/>
                </a:solidFill>
                <a:latin typeface="Calibri"/>
              </a:rPr>
              <a:t>1</a:t>
            </a:r>
          </a:p>
        </p:txBody>
      </p:sp>
      <p:sp>
        <p:nvSpPr>
          <p:cNvPr id="37" name="S21_text_Bounds_normalized_Nelder"/>
          <p:cNvSpPr txBox="1"/>
          <p:nvPr/>
        </p:nvSpPr>
        <p:spPr>
          <a:xfrm>
            <a:off x="5870448" y="2450592"/>
            <a:ext cx="2880360" cy="493776"/>
          </a:xfrm>
          <a:prstGeom prst="rect">
            <a:avLst/>
          </a:prstGeom>
          <a:noFill/>
        </p:spPr>
        <p:txBody>
          <a:bodyPr wrap="square" lIns="0" rIns="0" tIns="0" bIns="0" anchor="t">
            <a:spAutoFit/>
          </a:bodyPr>
          <a:lstStyle/>
          <a:p>
            <a:pPr algn="l"/>
            <a:r>
              <a:rPr sz="1100" b="1" i="0">
                <a:solidFill>
                  <a:srgbClr val="2E2D29"/>
                </a:solidFill>
                <a:latin typeface="Calibri"/>
              </a:rPr>
              <a:t>Bounds-normalized Nelder–Mead</a:t>
            </a:r>
          </a:p>
          <a:p>
            <a:pPr algn="l"/>
            <a:r>
              <a:rPr sz="1100" b="0" i="0">
                <a:solidFill>
                  <a:srgbClr val="6B6965"/>
                </a:solidFill>
                <a:latin typeface="Calibri"/>
              </a:rPr>
              <a:t>stop on target (1σ), stall or maxfev</a:t>
            </a:r>
          </a:p>
        </p:txBody>
      </p:sp>
      <p:sp>
        <p:nvSpPr>
          <p:cNvPr id="38" name="S21_shape_2"/>
          <p:cNvSpPr/>
          <p:nvPr/>
        </p:nvSpPr>
        <p:spPr>
          <a:xfrm>
            <a:off x="5550408" y="3017520"/>
            <a:ext cx="237744" cy="237744"/>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i="0">
                <a:solidFill>
                  <a:srgbClr val="FFFFFF"/>
                </a:solidFill>
                <a:latin typeface="Calibri"/>
              </a:rPr>
              <a:t>2</a:t>
            </a:r>
          </a:p>
        </p:txBody>
      </p:sp>
      <p:sp>
        <p:nvSpPr>
          <p:cNvPr id="39" name="S21_text_Scored_on_a"/>
          <p:cNvSpPr txBox="1"/>
          <p:nvPr/>
        </p:nvSpPr>
        <p:spPr>
          <a:xfrm>
            <a:off x="5870448" y="2980944"/>
            <a:ext cx="2880360" cy="493776"/>
          </a:xfrm>
          <a:prstGeom prst="rect">
            <a:avLst/>
          </a:prstGeom>
          <a:noFill/>
        </p:spPr>
        <p:txBody>
          <a:bodyPr wrap="square" lIns="0" rIns="0" tIns="0" bIns="0" anchor="t">
            <a:spAutoFit/>
          </a:bodyPr>
          <a:lstStyle/>
          <a:p>
            <a:pPr algn="l"/>
            <a:r>
              <a:rPr sz="1100" b="1" i="0">
                <a:solidFill>
                  <a:srgbClr val="2E2D29"/>
                </a:solidFill>
                <a:latin typeface="Calibri"/>
              </a:rPr>
              <a:t>Scored on a periodic cycle (15 Oct)</a:t>
            </a:r>
          </a:p>
          <a:p>
            <a:pPr algn="l"/>
            <a:r>
              <a:rPr sz="1100" b="0" i="0">
                <a:solidFill>
                  <a:srgbClr val="6B6965"/>
                </a:solidFill>
                <a:latin typeface="Calibri"/>
              </a:rPr>
              <a:t>≥ 6 cycles, doubling to 24, until Δmean &lt; 0.1 mmHg</a:t>
            </a:r>
          </a:p>
        </p:txBody>
      </p:sp>
      <p:sp>
        <p:nvSpPr>
          <p:cNvPr id="40" name="S21_shape_3"/>
          <p:cNvSpPr/>
          <p:nvPr/>
        </p:nvSpPr>
        <p:spPr>
          <a:xfrm>
            <a:off x="5550408" y="3547872"/>
            <a:ext cx="237744" cy="237744"/>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i="0">
                <a:solidFill>
                  <a:srgbClr val="FFFFFF"/>
                </a:solidFill>
                <a:latin typeface="Calibri"/>
              </a:rPr>
              <a:t>3</a:t>
            </a:r>
          </a:p>
        </p:txBody>
      </p:sp>
      <p:sp>
        <p:nvSpPr>
          <p:cNvPr id="41" name="S21_text_2_cold_start"/>
          <p:cNvSpPr txBox="1"/>
          <p:nvPr/>
        </p:nvSpPr>
        <p:spPr>
          <a:xfrm>
            <a:off x="5870448" y="3511296"/>
            <a:ext cx="2880360" cy="493776"/>
          </a:xfrm>
          <a:prstGeom prst="rect">
            <a:avLst/>
          </a:prstGeom>
          <a:noFill/>
        </p:spPr>
        <p:txBody>
          <a:bodyPr wrap="square" lIns="0" rIns="0" tIns="0" bIns="0" anchor="t">
            <a:spAutoFit/>
          </a:bodyPr>
          <a:lstStyle/>
          <a:p>
            <a:pPr algn="l"/>
            <a:r>
              <a:rPr sz="1100" b="1" i="0">
                <a:solidFill>
                  <a:srgbClr val="2E2D29"/>
                </a:solidFill>
                <a:latin typeface="Calibri"/>
              </a:rPr>
              <a:t>2 cold-start cycles were biased</a:t>
            </a:r>
          </a:p>
          <a:p>
            <a:pPr algn="l"/>
            <a:r>
              <a:rPr sz="1100" b="0" i="0">
                <a:solidFill>
                  <a:srgbClr val="6B6965"/>
                </a:solidFill>
                <a:latin typeface="Calibri"/>
              </a:rPr>
              <a:t>TST-STAN-3: 42.8/7.6/25.3 vs 46.3/15.4/28.7 periodic</a:t>
            </a:r>
          </a:p>
        </p:txBody>
      </p:sp>
      <p:sp>
        <p:nvSpPr>
          <p:cNvPr id="42" name="Ribbon_seg7"/>
          <p:cNvSpPr/>
          <p:nvPr/>
        </p:nvSpPr>
        <p:spPr>
          <a:xfrm>
            <a:off x="5550408" y="4078224"/>
            <a:ext cx="237744" cy="237744"/>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i="0">
                <a:solidFill>
                  <a:srgbClr val="FFFFFF"/>
                </a:solidFill>
                <a:latin typeface="Calibri"/>
              </a:rPr>
              <a:t>4</a:t>
            </a:r>
          </a:p>
        </p:txBody>
      </p:sp>
      <p:sp>
        <p:nvSpPr>
          <p:cNvPr id="43" name="S21_text_7_8_Sobol"/>
          <p:cNvSpPr txBox="1"/>
          <p:nvPr/>
        </p:nvSpPr>
        <p:spPr>
          <a:xfrm>
            <a:off x="5870448" y="4041648"/>
            <a:ext cx="2880360" cy="493776"/>
          </a:xfrm>
          <a:prstGeom prst="rect">
            <a:avLst/>
          </a:prstGeom>
          <a:noFill/>
        </p:spPr>
        <p:txBody>
          <a:bodyPr wrap="square" lIns="0" rIns="0" tIns="0" bIns="0" anchor="t">
            <a:spAutoFit/>
          </a:bodyPr>
          <a:lstStyle/>
          <a:p>
            <a:pPr algn="l"/>
            <a:r>
              <a:rPr sz="1100" b="1" i="0">
                <a:solidFill>
                  <a:srgbClr val="2E2D29"/>
                </a:solidFill>
                <a:latin typeface="Calibri"/>
              </a:rPr>
              <a:t>7 / 8 Sobol starts agree</a:t>
            </a:r>
          </a:p>
          <a:p>
            <a:pPr algn="l"/>
            <a:r>
              <a:rPr sz="1100" b="0" i="0">
                <a:solidFill>
                  <a:srgbClr val="6B6965"/>
                </a:solidFill>
                <a:latin typeface="Calibri"/>
              </a:rPr>
              <a:t>χ² 17.2–17.6 on TST-STAN-5</a:t>
            </a:r>
          </a:p>
        </p:txBody>
      </p:sp>
      <p:sp>
        <p:nvSpPr>
          <p:cNvPr id="44"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5" name="S21_text_Runs_tuned_before"/>
          <p:cNvSpPr txBox="1"/>
          <p:nvPr/>
        </p:nvSpPr>
        <p:spPr>
          <a:xfrm>
            <a:off x="429768" y="4700016"/>
            <a:ext cx="8284464" cy="310896"/>
          </a:xfrm>
          <a:prstGeom prst="rect">
            <a:avLst/>
          </a:prstGeom>
          <a:noFill/>
        </p:spPr>
        <p:txBody>
          <a:bodyPr wrap="square" lIns="0" rIns="0" tIns="0" bIns="0" anchor="ctr">
            <a:spAutoFit/>
          </a:bodyPr>
          <a:lstStyle/>
          <a:p>
            <a:pPr algn="l"/>
            <a:r>
              <a:rPr sz="1400" b="1" i="0">
                <a:solidFill>
                  <a:srgbClr val="8C1515"/>
                </a:solidFill>
                <a:latin typeface="Calibri"/>
              </a:rPr>
              <a:t>Runs tuned before 15 Oct scored a transient: their 0D–3D diastolic gap is that artifact, not model mismatch.</a:t>
            </a:r>
          </a:p>
        </p:txBody>
      </p:sp>
      <p:sp>
        <p:nvSpPr>
          <p:cNvPr id="46" name="S21_text_polish_maxfev_100"/>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polish {maxfev: 100}; periodic_evaluation defaults (not exposed by svzt-agent yet). svZeroDTrees ce00806; OPTION1.md §3–3b; svzt-agent TUNING_MODEL.md §6.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svZeroDCalibrator refits the full 0D model to 3D</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22_shape_3D_centerline_last"/>
          <p:cNvSpPr/>
          <p:nvPr/>
        </p:nvSpPr>
        <p:spPr>
          <a:xfrm>
            <a:off x="320040" y="1371600"/>
            <a:ext cx="1810512" cy="658368"/>
          </a:xfrm>
          <a:prstGeom prst="homePlate">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wrap="square" tIns="18288" rIns="18288" bIns="18288" rtlCol="0" anchor="ctr" lIns="18288"/>
          <a:lstStyle/>
          <a:p>
            <a:pPr algn="ctr"/>
            <a:r>
              <a:rPr sz="1100" b="1" i="0">
                <a:solidFill>
                  <a:srgbClr val="2E2D29"/>
                </a:solidFill>
                <a:latin typeface="Calibri"/>
              </a:rPr>
              <a:t>3D centerline</a:t>
            </a:r>
          </a:p>
          <a:p>
            <a:pPr algn="ctr"/>
            <a:r>
              <a:rPr sz="1100" b="0" i="0">
                <a:solidFill>
                  <a:srgbClr val="6B6965"/>
                </a:solidFill>
                <a:latin typeface="Calibri"/>
              </a:rPr>
              <a:t>last cycle P, Q</a:t>
            </a:r>
          </a:p>
        </p:txBody>
      </p:sp>
      <p:sp>
        <p:nvSpPr>
          <p:cNvPr id="13" name="S22_shape_QC_checks_units"/>
          <p:cNvSpPr/>
          <p:nvPr/>
        </p:nvSpPr>
        <p:spPr>
          <a:xfrm>
            <a:off x="1993392" y="1371600"/>
            <a:ext cx="1810512" cy="658368"/>
          </a:xfrm>
          <a:prstGeom prst="chevron">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100" b="1" i="0">
                <a:solidFill>
                  <a:srgbClr val="2E2D29"/>
                </a:solidFill>
                <a:latin typeface="Calibri"/>
              </a:rPr>
              <a:t>QC checks</a:t>
            </a:r>
          </a:p>
          <a:p>
            <a:pPr algn="ctr"/>
            <a:r>
              <a:rPr sz="1100" b="0" i="0">
                <a:solidFill>
                  <a:srgbClr val="6B6965"/>
                </a:solidFill>
                <a:latin typeface="Calibri"/>
              </a:rPr>
              <a:t>units, lineage</a:t>
            </a:r>
          </a:p>
        </p:txBody>
      </p:sp>
      <p:sp>
        <p:nvSpPr>
          <p:cNvPr id="14" name="S22_shape_Calibrate_2_fixed"/>
          <p:cNvSpPr/>
          <p:nvPr/>
        </p:nvSpPr>
        <p:spPr>
          <a:xfrm>
            <a:off x="3666744" y="1371600"/>
            <a:ext cx="1810512" cy="658368"/>
          </a:xfrm>
          <a:prstGeom prst="chevron">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100" b="1" i="0">
                <a:solidFill>
                  <a:srgbClr val="FFFFFF"/>
                </a:solidFill>
                <a:latin typeface="Calibri"/>
              </a:rPr>
              <a:t>Calibrate ×2</a:t>
            </a:r>
          </a:p>
          <a:p>
            <a:pPr algn="ctr"/>
            <a:r>
              <a:rPr sz="1100" b="0" i="0">
                <a:solidFill>
                  <a:srgbClr val="F3DADA"/>
                </a:solidFill>
                <a:latin typeface="Calibri"/>
              </a:rPr>
              <a:t>fixed point</a:t>
            </a:r>
          </a:p>
        </p:txBody>
      </p:sp>
      <p:sp>
        <p:nvSpPr>
          <p:cNvPr id="15" name="S22_shape_Replay_stable_in"/>
          <p:cNvSpPr/>
          <p:nvPr/>
        </p:nvSpPr>
        <p:spPr>
          <a:xfrm>
            <a:off x="5340096" y="1371600"/>
            <a:ext cx="1810512" cy="658368"/>
          </a:xfrm>
          <a:prstGeom prst="chevron">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100" b="1" i="0">
                <a:solidFill>
                  <a:srgbClr val="2E2D29"/>
                </a:solidFill>
                <a:latin typeface="Calibri"/>
              </a:rPr>
              <a:t>Replay</a:t>
            </a:r>
          </a:p>
          <a:p>
            <a:pPr algn="ctr"/>
            <a:r>
              <a:rPr sz="1100" b="0" i="0">
                <a:solidFill>
                  <a:srgbClr val="6B6965"/>
                </a:solidFill>
                <a:latin typeface="Calibri"/>
              </a:rPr>
              <a:t>stable in solver</a:t>
            </a:r>
          </a:p>
        </p:txBody>
      </p:sp>
      <p:sp>
        <p:nvSpPr>
          <p:cNvPr id="16" name="S22_shape_Target_gates_pressure"/>
          <p:cNvSpPr/>
          <p:nvPr/>
        </p:nvSpPr>
        <p:spPr>
          <a:xfrm>
            <a:off x="7013448" y="1371600"/>
            <a:ext cx="1810512" cy="658368"/>
          </a:xfrm>
          <a:prstGeom prst="chevron">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100" b="1" i="0">
                <a:solidFill>
                  <a:srgbClr val="2E2D29"/>
                </a:solidFill>
                <a:latin typeface="Calibri"/>
              </a:rPr>
              <a:t>Target gates</a:t>
            </a:r>
          </a:p>
          <a:p>
            <a:pPr algn="ctr"/>
            <a:r>
              <a:rPr sz="1100" b="0" i="0">
                <a:solidFill>
                  <a:srgbClr val="6B6965"/>
                </a:solidFill>
                <a:latin typeface="Calibri"/>
              </a:rPr>
              <a:t>pressure, split</a:t>
            </a:r>
          </a:p>
        </p:txBody>
      </p:sp>
      <p:cxnSp>
        <p:nvCxnSpPr>
          <p:cNvPr id="17" name="S22_connector"/>
          <p:cNvCxnSpPr>
            <a:stCxn id="16" idx="2"/>
            <a:endCxn id="18" idx="0"/>
          </p:cNvCxnSpPr>
          <p:nvPr/>
        </p:nvCxnSpPr>
        <p:spPr>
          <a:xfrm flipH="1">
            <a:off x="7589520" y="2029968"/>
            <a:ext cx="329184" cy="274320"/>
          </a:xfrm>
          <a:prstGeom prst="line">
            <a:avLst/>
          </a:prstGeom>
          <a:ln w="19050">
            <a:solidFill>
              <a:srgbClr val="27998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22_shape_pass_publish_calibrated"/>
          <p:cNvSpPr/>
          <p:nvPr/>
        </p:nvSpPr>
        <p:spPr>
          <a:xfrm>
            <a:off x="6355080" y="2304288"/>
            <a:ext cx="2468880" cy="585216"/>
          </a:xfrm>
          <a:prstGeom prst="rect">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wrap="square" tIns="18288" rIns="45720" bIns="18288" rtlCol="0" anchor="ctr"/>
          <a:lstStyle/>
          <a:p>
            <a:pPr algn="l"/>
            <a:r>
              <a:rPr sz="1100" b="1" i="0">
                <a:solidFill>
                  <a:srgbClr val="279989"/>
                </a:solidFill>
                <a:latin typeface="Calibri"/>
              </a:rPr>
              <a:t>pass  </a:t>
            </a:r>
            <a:r>
              <a:rPr sz="1100" b="1" i="0">
                <a:solidFill>
                  <a:srgbClr val="2E2D29"/>
                </a:solidFill>
                <a:latin typeface="Calibri"/>
              </a:rPr>
              <a:t>publish calibrated_full_pa_zerod.json</a:t>
            </a:r>
          </a:p>
          <a:p>
            <a:pPr algn="l"/>
            <a:r>
              <a:rPr sz="1100" b="0" i="0">
                <a:solidFill>
                  <a:srgbClr val="6B6965"/>
                </a:solidFill>
                <a:latin typeface="Calibri"/>
              </a:rPr>
              <a:t>svzt-agent promotes it as the next seed</a:t>
            </a:r>
          </a:p>
        </p:txBody>
      </p:sp>
      <p:sp>
        <p:nvSpPr>
          <p:cNvPr id="19" name="S22_shape_fail_nothing_published"/>
          <p:cNvSpPr/>
          <p:nvPr/>
        </p:nvSpPr>
        <p:spPr>
          <a:xfrm>
            <a:off x="3611880" y="2304288"/>
            <a:ext cx="2468880" cy="585216"/>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tIns="18288" rIns="45720" bIns="18288" rtlCol="0" anchor="ctr"/>
          <a:lstStyle/>
          <a:p>
            <a:pPr algn="l"/>
            <a:r>
              <a:rPr sz="1100" b="1" i="0">
                <a:solidFill>
                  <a:srgbClr val="8C1515"/>
                </a:solidFill>
                <a:latin typeface="Calibri"/>
              </a:rPr>
              <a:t>fail  </a:t>
            </a:r>
            <a:r>
              <a:rPr sz="1100" b="1" i="0">
                <a:solidFill>
                  <a:srgbClr val="2E2D29"/>
                </a:solidFill>
                <a:latin typeface="Calibri"/>
              </a:rPr>
              <a:t>nothing published</a:t>
            </a:r>
          </a:p>
          <a:p>
            <a:pPr algn="l"/>
            <a:r>
              <a:rPr sz="1100" b="0" i="0">
                <a:solidFill>
                  <a:srgbClr val="6B6965"/>
                </a:solidFill>
                <a:latin typeface="Calibri"/>
              </a:rPr>
              <a:t>prior seed kept, diagnostic reports retained</a:t>
            </a:r>
          </a:p>
        </p:txBody>
      </p:sp>
      <p:cxnSp>
        <p:nvCxnSpPr>
          <p:cNvPr id="20" name="S22_connector_2"/>
          <p:cNvCxnSpPr>
            <a:stCxn id="16" idx="2"/>
            <a:endCxn id="19" idx="3"/>
          </p:cNvCxnSpPr>
          <p:nvPr/>
        </p:nvCxnSpPr>
        <p:spPr>
          <a:xfrm flipH="1">
            <a:off x="6080760" y="2029968"/>
            <a:ext cx="1837944" cy="566928"/>
          </a:xfrm>
          <a:prstGeom prst="line">
            <a:avLst/>
          </a:prstGeom>
          <a:ln w="12700">
            <a:solidFill>
              <a:srgbClr val="8C151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S22_text_Default_fit_vessel"/>
          <p:cNvSpPr txBox="1"/>
          <p:nvPr/>
        </p:nvSpPr>
        <p:spPr>
          <a:xfrm>
            <a:off x="320040" y="2304288"/>
            <a:ext cx="3154680" cy="457200"/>
          </a:xfrm>
          <a:prstGeom prst="rect">
            <a:avLst/>
          </a:prstGeom>
          <a:noFill/>
        </p:spPr>
        <p:txBody>
          <a:bodyPr wrap="square" lIns="0" tIns="0" rIns="0" bIns="0" anchor="ctr"/>
          <a:lstStyle/>
          <a:p>
            <a:pPr algn="l"/>
            <a:r>
              <a:rPr sz="1100" b="0" i="1">
                <a:solidFill>
                  <a:srgbClr val="6B6965"/>
                </a:solidFill>
                <a:latin typeface="Calibri"/>
              </a:rPr>
              <a:t>Default fit: vessel R_poiseuille; junction coefficients selectable</a:t>
            </a:r>
          </a:p>
        </p:txBody>
      </p:sp>
      <p:sp>
        <p:nvSpPr>
          <p:cNvPr id="22" name="S22_text_Pressure_RMSE_vs"/>
          <p:cNvSpPr txBox="1"/>
          <p:nvPr/>
        </p:nvSpPr>
        <p:spPr>
          <a:xfrm>
            <a:off x="320040" y="2971800"/>
            <a:ext cx="4937760" cy="219456"/>
          </a:xfrm>
          <a:prstGeom prst="rect">
            <a:avLst/>
          </a:prstGeom>
          <a:noFill/>
        </p:spPr>
        <p:txBody>
          <a:bodyPr wrap="square" lIns="0" tIns="0" rIns="0" bIns="0" anchor="t"/>
          <a:lstStyle/>
          <a:p>
            <a:pPr algn="l"/>
            <a:r>
              <a:rPr sz="1100" b="1" i="0">
                <a:solidFill>
                  <a:srgbClr val="8C1515"/>
                </a:solidFill>
                <a:latin typeface="Calibri"/>
              </a:rPr>
              <a:t>Pressure RMSE vs 3D (mmHg), impedance outlet BCs</a:t>
            </a:r>
          </a:p>
        </p:txBody>
      </p:sp>
      <p:graphicFrame>
        <p:nvGraphicFramePr>
          <p:cNvPr id="23" name="S22_chart"/>
          <p:cNvGraphicFramePr>
            <a:graphicFrameLocks noGrp="1"/>
          </p:cNvGraphicFramePr>
          <p:nvPr/>
        </p:nvGraphicFramePr>
        <p:xfrm>
          <a:off x="320040" y="3200400"/>
          <a:ext cx="502920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24" name="S22_text_Gates_improvement_only"/>
          <p:cNvSpPr txBox="1"/>
          <p:nvPr/>
        </p:nvSpPr>
        <p:spPr>
          <a:xfrm>
            <a:off x="5623560" y="2971800"/>
            <a:ext cx="3200400" cy="219456"/>
          </a:xfrm>
          <a:prstGeom prst="rect">
            <a:avLst/>
          </a:prstGeom>
          <a:noFill/>
        </p:spPr>
        <p:txBody>
          <a:bodyPr wrap="square" lIns="0" tIns="0" rIns="0" bIns="0" anchor="t"/>
          <a:lstStyle/>
          <a:p>
            <a:pPr algn="l"/>
            <a:r>
              <a:rPr sz="1400" b="1" i="0">
                <a:solidFill>
                  <a:srgbClr val="8C1515"/>
                </a:solidFill>
                <a:latin typeface="Calibri"/>
              </a:rPr>
              <a:t>Gates (improvement-only since 7 Oct)</a:t>
            </a:r>
          </a:p>
        </p:txBody>
      </p:sp>
      <p:sp>
        <p:nvSpPr>
          <p:cNvPr id="25" name="S22_shape"/>
          <p:cNvSpPr/>
          <p:nvPr/>
        </p:nvSpPr>
        <p:spPr>
          <a:xfrm>
            <a:off x="5623560" y="3246120"/>
            <a:ext cx="3200400" cy="53035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S22_text_0_05"/>
          <p:cNvSpPr txBox="1"/>
          <p:nvPr/>
        </p:nvSpPr>
        <p:spPr>
          <a:xfrm>
            <a:off x="5715000" y="3246120"/>
            <a:ext cx="1234440" cy="530352"/>
          </a:xfrm>
          <a:prstGeom prst="rect">
            <a:avLst/>
          </a:prstGeom>
          <a:noFill/>
        </p:spPr>
        <p:txBody>
          <a:bodyPr wrap="square" lIns="0" tIns="0" rIns="0" bIns="0" anchor="ctr"/>
          <a:lstStyle/>
          <a:p>
            <a:pPr algn="l"/>
            <a:r>
              <a:rPr sz="1600" b="1" i="0">
                <a:solidFill>
                  <a:srgbClr val="8C1515"/>
                </a:solidFill>
                <a:latin typeface="Calibri"/>
              </a:rPr>
              <a:t>≤ 0.05</a:t>
            </a:r>
          </a:p>
        </p:txBody>
      </p:sp>
      <p:sp>
        <p:nvSpPr>
          <p:cNvPr id="27" name="S22_text_MPA_waveform_NRMSE"/>
          <p:cNvSpPr txBox="1"/>
          <p:nvPr/>
        </p:nvSpPr>
        <p:spPr>
          <a:xfrm>
            <a:off x="6995160" y="3246120"/>
            <a:ext cx="1783080" cy="530352"/>
          </a:xfrm>
          <a:prstGeom prst="rect">
            <a:avLst/>
          </a:prstGeom>
          <a:noFill/>
        </p:spPr>
        <p:txBody>
          <a:bodyPr wrap="square" lIns="0" tIns="0" rIns="0" bIns="0" anchor="ctr"/>
          <a:lstStyle/>
          <a:p>
            <a:pPr algn="l"/>
            <a:r>
              <a:rPr sz="1100" b="0" i="0">
                <a:solidFill>
                  <a:srgbClr val="2E2D29"/>
                </a:solidFill>
                <a:latin typeface="Calibri"/>
              </a:rPr>
              <a:t>MPA waveform NRMSE: reported only</a:t>
            </a:r>
          </a:p>
        </p:txBody>
      </p:sp>
      <p:sp>
        <p:nvSpPr>
          <p:cNvPr id="28" name="S22_shape_2"/>
          <p:cNvSpPr/>
          <p:nvPr/>
        </p:nvSpPr>
        <p:spPr>
          <a:xfrm>
            <a:off x="5623560" y="3849624"/>
            <a:ext cx="3200400" cy="53035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22_text_0_02"/>
          <p:cNvSpPr txBox="1"/>
          <p:nvPr/>
        </p:nvSpPr>
        <p:spPr>
          <a:xfrm>
            <a:off x="5715000" y="3849624"/>
            <a:ext cx="1234440" cy="530352"/>
          </a:xfrm>
          <a:prstGeom prst="rect">
            <a:avLst/>
          </a:prstGeom>
          <a:noFill/>
        </p:spPr>
        <p:txBody>
          <a:bodyPr wrap="square" lIns="0" tIns="0" rIns="0" bIns="0" anchor="ctr"/>
          <a:lstStyle/>
          <a:p>
            <a:pPr algn="l"/>
            <a:r>
              <a:rPr sz="1600" b="1" i="0">
                <a:solidFill>
                  <a:srgbClr val="8C1515"/>
                </a:solidFill>
                <a:latin typeface="Calibri"/>
              </a:rPr>
              <a:t>≤ 0.02</a:t>
            </a:r>
          </a:p>
        </p:txBody>
      </p:sp>
      <p:sp>
        <p:nvSpPr>
          <p:cNvPr id="30" name="S22_text_RPA_split_error"/>
          <p:cNvSpPr txBox="1"/>
          <p:nvPr/>
        </p:nvSpPr>
        <p:spPr>
          <a:xfrm>
            <a:off x="6995160" y="3849624"/>
            <a:ext cx="1783080" cy="530352"/>
          </a:xfrm>
          <a:prstGeom prst="rect">
            <a:avLst/>
          </a:prstGeom>
          <a:noFill/>
        </p:spPr>
        <p:txBody>
          <a:bodyPr wrap="square" lIns="0" tIns="0" rIns="0" bIns="0" anchor="ctr"/>
          <a:lstStyle/>
          <a:p>
            <a:pPr algn="l"/>
            <a:r>
              <a:rPr sz="1100" b="0" i="0">
                <a:solidFill>
                  <a:srgbClr val="2E2D29"/>
                </a:solidFill>
                <a:latin typeface="Calibri"/>
              </a:rPr>
              <a:t>RPA split error: reported only</a:t>
            </a:r>
          </a:p>
        </p:txBody>
      </p:sp>
      <p:sp>
        <p:nvSpPr>
          <p:cNvPr id="31" name="S22_shape_3"/>
          <p:cNvSpPr/>
          <p:nvPr/>
        </p:nvSpPr>
        <p:spPr>
          <a:xfrm>
            <a:off x="5623560" y="4453128"/>
            <a:ext cx="3200400" cy="53035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S22_text_prior"/>
          <p:cNvSpPr txBox="1"/>
          <p:nvPr/>
        </p:nvSpPr>
        <p:spPr>
          <a:xfrm>
            <a:off x="5715000" y="4453128"/>
            <a:ext cx="1234440" cy="530352"/>
          </a:xfrm>
          <a:prstGeom prst="rect">
            <a:avLst/>
          </a:prstGeom>
          <a:noFill/>
        </p:spPr>
        <p:txBody>
          <a:bodyPr wrap="square" lIns="0" tIns="0" rIns="0" bIns="0" anchor="ctr"/>
          <a:lstStyle/>
          <a:p>
            <a:pPr algn="l"/>
            <a:r>
              <a:rPr sz="1600" b="1" i="0">
                <a:solidFill>
                  <a:srgbClr val="8C1515"/>
                </a:solidFill>
                <a:latin typeface="Calibri"/>
              </a:rPr>
              <a:t>≥ prior</a:t>
            </a:r>
          </a:p>
        </p:txBody>
      </p:sp>
      <p:sp>
        <p:nvSpPr>
          <p:cNvPr id="33" name="S22_text_promotion_score_no"/>
          <p:cNvSpPr txBox="1"/>
          <p:nvPr/>
        </p:nvSpPr>
        <p:spPr>
          <a:xfrm>
            <a:off x="6995160" y="4453128"/>
            <a:ext cx="1783080" cy="530352"/>
          </a:xfrm>
          <a:prstGeom prst="rect">
            <a:avLst/>
          </a:prstGeom>
          <a:noFill/>
        </p:spPr>
        <p:txBody>
          <a:bodyPr wrap="square" lIns="0" tIns="0" rIns="0" bIns="0" anchor="ctr"/>
          <a:lstStyle/>
          <a:p>
            <a:pPr algn="l"/>
            <a:r>
              <a:rPr sz="1100" b="0" i="0">
                <a:solidFill>
                  <a:srgbClr val="2E2D29"/>
                </a:solidFill>
                <a:latin typeface="Calibri"/>
              </a:rPr>
              <a:t>promotion: score no worse than the uncalibrated seed</a:t>
            </a:r>
          </a:p>
        </p:txBody>
      </p:sp>
      <p:sp>
        <p:nvSpPr>
          <p:cNvPr id="34" name="S22_text_TST_STAN_5"/>
          <p:cNvSpPr txBox="1"/>
          <p:nvPr/>
        </p:nvSpPr>
        <p:spPr>
          <a:xfrm>
            <a:off x="2011680" y="5376672"/>
            <a:ext cx="6812280" cy="201168"/>
          </a:xfrm>
          <a:prstGeom prst="rect">
            <a:avLst/>
          </a:prstGeom>
          <a:noFill/>
        </p:spPr>
        <p:txBody>
          <a:bodyPr wrap="square" lIns="27432" tIns="0" rIns="27432" bIns="0" anchor="t"/>
          <a:lstStyle/>
          <a:p>
            <a:pPr algn="l"/>
            <a:r>
              <a:rPr sz="700" b="0" i="1">
                <a:solidFill>
                  <a:srgbClr val="6B6965"/>
                </a:solidFill>
                <a:latin typeface="Calibri"/>
              </a:rPr>
              <a:t>TST-STAN-5 (archived 0D-representation comparison): RMSE over systolic, diastolic and mean MPA pressure. Gate-passing output is the only seed accepted for the next full-PA iteration.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Cohort setup: outlet pressure policy per patient</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23_text_Resolved_outlet_pressure"/>
          <p:cNvSpPr txBox="1"/>
          <p:nvPr/>
        </p:nvSpPr>
        <p:spPr>
          <a:xfrm>
            <a:off x="320040" y="1316736"/>
            <a:ext cx="4846320" cy="219456"/>
          </a:xfrm>
          <a:prstGeom prst="rect">
            <a:avLst/>
          </a:prstGeom>
          <a:noFill/>
        </p:spPr>
        <p:txBody>
          <a:bodyPr wrap="square" lIns="0" rIns="0" tIns="0" bIns="0" anchor="t">
            <a:spAutoFit/>
          </a:bodyPr>
          <a:lstStyle/>
          <a:p>
            <a:pPr algn="l"/>
            <a:r>
              <a:rPr sz="1100" b="1" i="0">
                <a:solidFill>
                  <a:srgbClr val="8C1515"/>
                </a:solidFill>
                <a:latin typeface="Calibri"/>
              </a:rPr>
              <a:t>Resolved outlet pressure vs catheter targets (mmHg)</a:t>
            </a:r>
          </a:p>
        </p:txBody>
      </p:sp>
      <p:graphicFrame>
        <p:nvGraphicFramePr>
          <p:cNvPr id="13" name="S23_chart"/>
          <p:cNvGraphicFramePr>
            <a:graphicFrameLocks noGrp="1"/>
          </p:cNvGraphicFramePr>
          <p:nvPr/>
        </p:nvGraphicFramePr>
        <p:xfrm>
          <a:off x="320040" y="1536192"/>
          <a:ext cx="4937760" cy="2651760"/>
        </p:xfrm>
        <a:graphic>
          <a:graphicData uri="http://schemas.openxmlformats.org/drawingml/2006/chart">
            <c:chart xmlns:c="http://schemas.openxmlformats.org/drawingml/2006/chart" r:id="rId2"/>
          </a:graphicData>
        </a:graphic>
      </p:graphicFrame>
      <p:sp>
        <p:nvSpPr>
          <p:cNvPr id="14" name="S23_text_With_regurgitation_PR"/>
          <p:cNvSpPr txBox="1"/>
          <p:nvPr/>
        </p:nvSpPr>
        <p:spPr>
          <a:xfrm>
            <a:off x="320040" y="4206240"/>
            <a:ext cx="4937760" cy="329184"/>
          </a:xfrm>
          <a:prstGeom prst="rect">
            <a:avLst/>
          </a:prstGeom>
          <a:noFill/>
        </p:spPr>
        <p:txBody>
          <a:bodyPr wrap="square" lIns="0" rIns="0" tIns="0" bIns="0" anchor="t">
            <a:spAutoFit/>
          </a:bodyPr>
          <a:lstStyle/>
          <a:p>
            <a:pPr algn="l"/>
            <a:r>
              <a:rPr sz="1100" b="0" i="0">
                <a:solidFill>
                  <a:srgbClr val="6B6965"/>
                </a:solidFill>
                <a:latin typeface="Calibri"/>
              </a:rPr>
              <a:t>With regurgitation (PR), backflow lets MPA pressure fall below Pd, so Pd may sit above the diastolic target.</a:t>
            </a:r>
          </a:p>
        </p:txBody>
      </p:sp>
      <p:sp>
        <p:nvSpPr>
          <p:cNvPr id="15" name="S23_shape"/>
          <p:cNvSpPr/>
          <p:nvPr/>
        </p:nvSpPr>
        <p:spPr>
          <a:xfrm>
            <a:off x="5440680" y="1316736"/>
            <a:ext cx="3383280" cy="1078992"/>
          </a:xfrm>
          <a:prstGeom prst="rect">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6" name="S23_text_Regurgitant_TST_STAN"/>
          <p:cNvSpPr txBox="1"/>
          <p:nvPr/>
        </p:nvSpPr>
        <p:spPr>
          <a:xfrm>
            <a:off x="5550408" y="1371600"/>
            <a:ext cx="3163824" cy="201168"/>
          </a:xfrm>
          <a:prstGeom prst="rect">
            <a:avLst/>
          </a:prstGeom>
          <a:noFill/>
        </p:spPr>
        <p:txBody>
          <a:bodyPr wrap="square" lIns="0" rIns="0" tIns="0" bIns="0" anchor="t">
            <a:spAutoFit/>
          </a:bodyPr>
          <a:lstStyle/>
          <a:p>
            <a:pPr algn="l"/>
            <a:r>
              <a:rPr sz="1400" b="1" i="0">
                <a:solidFill>
                  <a:srgbClr val="8C1515"/>
                </a:solidFill>
                <a:latin typeface="Calibri"/>
              </a:rPr>
              <a:t>Regurgitant · TST-STAN-1, -5</a:t>
            </a:r>
          </a:p>
        </p:txBody>
      </p:sp>
      <p:sp>
        <p:nvSpPr>
          <p:cNvPr id="17" name="S23_text_Pd_PCWP_0"/>
          <p:cNvSpPr txBox="1"/>
          <p:nvPr/>
        </p:nvSpPr>
        <p:spPr>
          <a:xfrm>
            <a:off x="5550408" y="1609344"/>
            <a:ext cx="3163824" cy="237744"/>
          </a:xfrm>
          <a:prstGeom prst="rect">
            <a:avLst/>
          </a:prstGeom>
          <a:noFill/>
        </p:spPr>
        <p:txBody>
          <a:bodyPr wrap="square" lIns="0" rIns="0" tIns="0" bIns="0" anchor="t">
            <a:spAutoFit/>
          </a:bodyPr>
          <a:lstStyle/>
          <a:p>
            <a:pPr algn="l"/>
            <a:r>
              <a:rPr sz="1100" b="1" i="0">
                <a:solidFill>
                  <a:srgbClr val="2E2D29"/>
                </a:solidFill>
                <a:latin typeface="Calibri"/>
              </a:rPr>
              <a:t>Pd = PCWP + 0.332 (mPAP − PCWP)</a:t>
            </a:r>
          </a:p>
        </p:txBody>
      </p:sp>
      <p:sp>
        <p:nvSpPr>
          <p:cNvPr id="18" name="S23_text_Empirically_fitted_33"/>
          <p:cNvSpPr txBox="1"/>
          <p:nvPr/>
        </p:nvSpPr>
        <p:spPr>
          <a:xfrm>
            <a:off x="5550408" y="1883664"/>
            <a:ext cx="3163824" cy="475488"/>
          </a:xfrm>
          <a:prstGeom prst="rect">
            <a:avLst/>
          </a:prstGeom>
          <a:noFill/>
        </p:spPr>
        <p:txBody>
          <a:bodyPr wrap="square" lIns="0" rIns="0" tIns="0" bIns="0" anchor="t">
            <a:spAutoFit/>
          </a:bodyPr>
          <a:lstStyle/>
          <a:p>
            <a:pPr algn="l"/>
            <a:r>
              <a:rPr sz="1100" b="0" i="0">
                <a:solidFill>
                  <a:srgbClr val="2E2D29"/>
                </a:solidFill>
                <a:latin typeface="Calibri"/>
              </a:rPr>
              <a:t>Empirically fitted: χ² 33.5 → 17.3 vs Pd = PCWP. Not Dong et al.'s partition, which puts 33.2% of PVR in the arteries.</a:t>
            </a:r>
          </a:p>
        </p:txBody>
      </p:sp>
      <p:sp>
        <p:nvSpPr>
          <p:cNvPr id="19" name="S23_shape_2"/>
          <p:cNvSpPr/>
          <p:nvPr/>
        </p:nvSpPr>
        <p:spPr>
          <a:xfrm>
            <a:off x="5440680" y="2468880"/>
            <a:ext cx="3383280" cy="107899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S23_text_No_regurgitation_TST"/>
          <p:cNvSpPr txBox="1"/>
          <p:nvPr/>
        </p:nvSpPr>
        <p:spPr>
          <a:xfrm>
            <a:off x="5550408" y="2523744"/>
            <a:ext cx="3163824" cy="201168"/>
          </a:xfrm>
          <a:prstGeom prst="rect">
            <a:avLst/>
          </a:prstGeom>
          <a:noFill/>
        </p:spPr>
        <p:txBody>
          <a:bodyPr wrap="square" lIns="0" rIns="0" tIns="0" bIns="0" anchor="t">
            <a:spAutoFit/>
          </a:bodyPr>
          <a:lstStyle/>
          <a:p>
            <a:pPr algn="l"/>
            <a:r>
              <a:rPr sz="1100" b="1" i="0">
                <a:solidFill>
                  <a:srgbClr val="279989"/>
                </a:solidFill>
                <a:latin typeface="Calibri"/>
              </a:rPr>
              <a:t>No regurgitation · TST-STAN-2, -3, -9 (default)</a:t>
            </a:r>
          </a:p>
        </p:txBody>
      </p:sp>
      <p:sp>
        <p:nvSpPr>
          <p:cNvPr id="21" name="S23_text_Pd_PA_diastolic"/>
          <p:cNvSpPr txBox="1"/>
          <p:nvPr/>
        </p:nvSpPr>
        <p:spPr>
          <a:xfrm>
            <a:off x="5550408" y="2761488"/>
            <a:ext cx="3163824" cy="237744"/>
          </a:xfrm>
          <a:prstGeom prst="rect">
            <a:avLst/>
          </a:prstGeom>
          <a:noFill/>
        </p:spPr>
        <p:txBody>
          <a:bodyPr wrap="square" lIns="0" rIns="0" tIns="0" bIns="0" anchor="t">
            <a:spAutoFit/>
          </a:bodyPr>
          <a:lstStyle/>
          <a:p>
            <a:pPr algn="l"/>
            <a:r>
              <a:rPr sz="1100" b="1" i="0">
                <a:solidFill>
                  <a:srgbClr val="2E2D29"/>
                </a:solidFill>
                <a:latin typeface="Calibri"/>
              </a:rPr>
              <a:t>Pd = PA diastolic − 2 mmHg</a:t>
            </a:r>
          </a:p>
        </p:txBody>
      </p:sp>
      <p:sp>
        <p:nvSpPr>
          <p:cNvPr id="22" name="S23_text_Keeps_diastole_reachable"/>
          <p:cNvSpPr txBox="1"/>
          <p:nvPr/>
        </p:nvSpPr>
        <p:spPr>
          <a:xfrm>
            <a:off x="5550408" y="3035808"/>
            <a:ext cx="3163824" cy="475488"/>
          </a:xfrm>
          <a:prstGeom prst="rect">
            <a:avLst/>
          </a:prstGeom>
          <a:noFill/>
        </p:spPr>
        <p:txBody>
          <a:bodyPr wrap="square" lIns="0" rIns="0" tIns="0" bIns="0" anchor="t">
            <a:spAutoFit/>
          </a:bodyPr>
          <a:lstStyle/>
          <a:p>
            <a:pPr algn="l"/>
            <a:r>
              <a:rPr sz="1100" b="0" i="0">
                <a:solidFill>
                  <a:srgbClr val="2E2D29"/>
                </a:solidFill>
                <a:latin typeface="Calibri"/>
              </a:rPr>
              <a:t>Keeps diastole reachable without backflow; needs no PCWP. 0.332 would be infeasible for -2 (needs &lt; 0.29) and -3 (&lt; 0.12).</a:t>
            </a:r>
          </a:p>
        </p:txBody>
      </p:sp>
      <p:sp>
        <p:nvSpPr>
          <p:cNvPr id="23" name="S23_shape_3"/>
          <p:cNvSpPr/>
          <p:nvPr/>
        </p:nvSpPr>
        <p:spPr>
          <a:xfrm>
            <a:off x="5440680" y="3621024"/>
            <a:ext cx="3383280" cy="969264"/>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4" name="S23_text_Tested_not_adopted"/>
          <p:cNvSpPr txBox="1"/>
          <p:nvPr/>
        </p:nvSpPr>
        <p:spPr>
          <a:xfrm>
            <a:off x="5550408" y="3657600"/>
            <a:ext cx="3163824" cy="201168"/>
          </a:xfrm>
          <a:prstGeom prst="rect">
            <a:avLst/>
          </a:prstGeom>
          <a:noFill/>
        </p:spPr>
        <p:txBody>
          <a:bodyPr wrap="square" lIns="0" rIns="0" tIns="0" bIns="0" anchor="t">
            <a:spAutoFit/>
          </a:bodyPr>
          <a:lstStyle/>
          <a:p>
            <a:pPr algn="l"/>
            <a:r>
              <a:rPr sz="1400" b="1" i="0">
                <a:solidFill>
                  <a:srgbClr val="8C1515"/>
                </a:solidFill>
                <a:latin typeface="Calibri"/>
              </a:rPr>
              <a:t>Tested, not adopted: leaf resistance</a:t>
            </a:r>
          </a:p>
        </p:txBody>
      </p:sp>
      <p:sp>
        <p:nvSpPr>
          <p:cNvPr id="25" name="S23_text_Pd_PCWP_with"/>
          <p:cNvSpPr txBox="1"/>
          <p:nvPr/>
        </p:nvSpPr>
        <p:spPr>
          <a:xfrm>
            <a:off x="5550408" y="3877056"/>
            <a:ext cx="3163824" cy="694944"/>
          </a:xfrm>
          <a:prstGeom prst="rect">
            <a:avLst/>
          </a:prstGeom>
          <a:noFill/>
        </p:spPr>
        <p:txBody>
          <a:bodyPr wrap="square" lIns="0" rIns="0" tIns="0" bIns="0" anchor="t">
            <a:spAutoFit/>
          </a:bodyPr>
          <a:lstStyle/>
          <a:p>
            <a:pPr algn="l"/>
            <a:r>
              <a:rPr sz="1100" b="0" i="0">
                <a:solidFill>
                  <a:srgbClr val="2E2D29"/>
                </a:solidFill>
                <a:latin typeface="Calibri"/>
              </a:rPr>
              <a:t>Pd = PCWP with capillary + venous R at the tree leaves (pulsatile form of the partition): χ² 50.6 (share 0.668), ~145 (0.90) vs 17.2. Kept available for non-PR patients.</a:t>
            </a:r>
          </a:p>
        </p:txBody>
      </p:sp>
      <p:sp>
        <p:nvSpPr>
          <p:cNvPr id="26" name="S23_text"/>
          <p:cNvSpPr txBox="1"/>
          <p:nvPr/>
        </p:nvSpPr>
        <p:spPr>
          <a:xfrm>
            <a:off x="320040" y="4553712"/>
            <a:ext cx="1280160" cy="146304"/>
          </a:xfrm>
          <a:prstGeom prst="rect">
            <a:avLst/>
          </a:prstGeom>
          <a:noFill/>
        </p:spPr>
        <p:txBody>
          <a:bodyPr wrap="square" lIns="0" rIns="0" tIns="0" bIns="0" anchor="t">
            <a:spAutoFit/>
          </a:bodyPr>
          <a:lstStyle/>
          <a:p>
            <a:pPr algn="l"/>
            <a:r>
              <a:rPr sz="100" b="0" i="0">
                <a:solidFill>
                  <a:srgbClr val="FFFFFF"/>
                </a:solidFill>
                <a:latin typeface="Calibri"/>
              </a:rPr>
              <a:t/>
            </a:r>
          </a:p>
        </p:txBody>
      </p:sp>
      <p:sp>
        <p:nvSpPr>
          <p:cNvPr id="27"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8" name="S23_text_All_five_patients"/>
          <p:cNvSpPr txBox="1"/>
          <p:nvPr/>
        </p:nvSpPr>
        <p:spPr>
          <a:xfrm>
            <a:off x="429768" y="4700016"/>
            <a:ext cx="8284464" cy="310896"/>
          </a:xfrm>
          <a:prstGeom prst="rect">
            <a:avLst/>
          </a:prstGeom>
          <a:noFill/>
        </p:spPr>
        <p:txBody>
          <a:bodyPr wrap="square" lIns="0" rIns="0" tIns="0" bIns="0" anchor="ctr">
            <a:spAutoFit/>
          </a:bodyPr>
          <a:lstStyle/>
          <a:p>
            <a:pPr algn="l"/>
            <a:r>
              <a:rPr sz="1400" b="1" i="0">
                <a:solidFill>
                  <a:srgbClr val="8C1515"/>
                </a:solidFill>
                <a:latin typeface="Calibri"/>
              </a:rPr>
              <a:t>All five ran protocol v1 under this policy (tst-stan-*-20261021; TST-STAN-1: -20261023).</a:t>
            </a:r>
          </a:p>
        </p:txBody>
      </p:sp>
      <p:sp>
        <p:nvSpPr>
          <p:cNvPr id="29" name="S23_text_Targets_from_Clinical"/>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Targets from 'Clinical targets'. svzt-agent TUNING_MODEL.md §3, §8.8; svZeroDTrees docs/pulmonary_tuning_model.md §2.3. Pd must be finite, ≥ 0 and below mean pressure, checked before any tree is built.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Does one wall rule close the 3D pulse in all five?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graphicFrame>
        <p:nvGraphicFramePr>
          <p:cNvPr id="12" name="S2_elaw_compliance_chart"/>
          <p:cNvGraphicFramePr>
            <a:graphicFrameLocks noGrp="1"/>
          </p:cNvGraphicFramePr>
          <p:nvPr/>
        </p:nvGraphicFramePr>
        <p:xfrm>
          <a:off x="320040" y="1572768"/>
          <a:ext cx="4160520" cy="2487168"/>
        </p:xfrm>
        <a:graphic>
          <a:graphicData uri="http://schemas.openxmlformats.org/drawingml/2006/chart">
            <c:chart xmlns:c="http://schemas.openxmlformats.org/drawingml/2006/chart" r:id="rId2"/>
          </a:graphicData>
        </a:graphic>
      </p:graphicFrame>
      <p:graphicFrame>
        <p:nvGraphicFramePr>
          <p:cNvPr id="13" name="S2_elaw_pulse_chart"/>
          <p:cNvGraphicFramePr>
            <a:graphicFrameLocks noGrp="1"/>
          </p:cNvGraphicFramePr>
          <p:nvPr/>
        </p:nvGraphicFramePr>
        <p:xfrm>
          <a:off x="4663440" y="1572768"/>
          <a:ext cx="4160520" cy="2487168"/>
        </p:xfrm>
        <a:graphic>
          <a:graphicData uri="http://schemas.openxmlformats.org/drawingml/2006/chart">
            <c:chart xmlns:c="http://schemas.openxmlformats.org/drawingml/2006/chart" r:id="rId3"/>
          </a:graphicData>
        </a:graphic>
      </p:graphicFrame>
      <p:sp>
        <p:nvSpPr>
          <p:cNvPr id="12" name="S2_elaw_compliance_label"/>
          <p:cNvSpPr txBox="1"/>
          <p:nvPr/>
        </p:nvSpPr>
        <p:spPr>
          <a:xfrm>
            <a:off x="320040" y="1316736"/>
            <a:ext cx="4160520" cy="256032"/>
          </a:xfrm>
          <a:prstGeom prst="rect">
            <a:avLst/>
          </a:prstGeom>
          <a:noFill/>
        </p:spPr>
        <p:txBody>
          <a:bodyPr wrap="square" lIns="0" rIns="0" tIns="0" bIns="0" anchor="t">
            <a:noAutofit/>
          </a:bodyPr>
          <a:lstStyle/>
          <a:p>
            <a:pPr algn="l"/>
            <a:r>
              <a:rPr sz="1300" b="1" i="0">
                <a:solidFill>
                  <a:srgbClr val="2E2D29"/>
                </a:solidFill>
                <a:latin typeface="Calibri"/>
              </a:rPr>
              <a:t>3D compliance falls more slowly than 1/E</a:t>
            </a:r>
          </a:p>
        </p:txBody>
      </p:sp>
      <p:sp>
        <p:nvSpPr>
          <p:cNvPr id="12" name="S2_elaw_pulse_label"/>
          <p:cNvSpPr txBox="1"/>
          <p:nvPr/>
        </p:nvSpPr>
        <p:spPr>
          <a:xfrm>
            <a:off x="4663440" y="1316736"/>
            <a:ext cx="4160520" cy="256032"/>
          </a:xfrm>
          <a:prstGeom prst="rect">
            <a:avLst/>
          </a:prstGeom>
          <a:noFill/>
        </p:spPr>
        <p:txBody>
          <a:bodyPr wrap="square" lIns="0" rIns="0" tIns="0" bIns="0" anchor="t">
            <a:noAutofit/>
          </a:bodyPr>
          <a:lstStyle/>
          <a:p>
            <a:pPr algn="l"/>
            <a:r>
              <a:rPr sz="1300" b="1" i="0">
                <a:solidFill>
                  <a:srgbClr val="2E2D29"/>
                </a:solidFill>
                <a:latin typeface="Calibri"/>
              </a:rPr>
              <a:t>Pulse pressure follows PP × C₃D = constant</a:t>
            </a:r>
          </a:p>
        </p:txBody>
      </p:sp>
      <p:sp>
        <p:nvSpPr>
          <p:cNvPr id="16" name="S2_elaw_rule_card"/>
          <p:cNvSpPr/>
          <p:nvPr/>
        </p:nvSpPr>
        <p:spPr>
          <a:xfrm>
            <a:off x="320040" y="4133087"/>
            <a:ext cx="5120640" cy="51206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noAutofit/>
          </a:bodyPr>
          <a:lstStyle/>
          <a:p>
            <a:pPr algn="l"/>
            <a:r>
              <a:rPr sz="1200" b="1" i="0">
                <a:solidFill>
                  <a:srgbClr val="FFFFFF"/>
                </a:solidFill>
                <a:latin typeface="Calibri"/>
              </a:rPr>
              <a:t>Rule:  C* = K / PP</a:t>
            </a:r>
            <a:r>
              <a:rPr sz="1200" b="1" i="0" baseline="-25000">
                <a:solidFill>
                  <a:srgbClr val="FFFFFF"/>
                </a:solidFill>
                <a:latin typeface="Calibri"/>
              </a:rPr>
              <a:t>target</a:t>
            </a:r>
            <a:r>
              <a:rPr sz="1200" b="1" i="0">
                <a:solidFill>
                  <a:srgbClr val="FFFFFF"/>
                </a:solidFill>
                <a:latin typeface="Calibri"/>
              </a:rPr>
              <a:t>,    E₃ = E₂ · (C₃D / C*)</a:t>
            </a:r>
            <a:r>
              <a:rPr sz="1200" b="1" i="0" baseline="30000">
                <a:solidFill>
                  <a:srgbClr val="FFFFFF"/>
                </a:solidFill>
                <a:latin typeface="Calibri"/>
              </a:rPr>
              <a:t>1/α</a:t>
            </a:r>
            <a:r>
              <a:rPr sz="1200" b="1" i="0">
                <a:solidFill>
                  <a:srgbClr val="FFFFFF"/>
                </a:solidFill>
                <a:latin typeface="Calibri"/>
              </a:rPr>
              <a:t>,    α = 0.55</a:t>
            </a:r>
          </a:p>
          <a:p>
            <a:pPr algn="l">
              <a:spcBef>
                <a:spcPts val="200"/>
              </a:spcBef>
            </a:pPr>
            <a:r>
              <a:rPr sz="1100" b="0" i="0">
                <a:solidFill>
                  <a:srgbClr val="FFFFFF"/>
                </a:solidFill>
                <a:latin typeface="Calibri"/>
              </a:rPr>
              <a:t>K = PP × C₃D = 20.3 to 21.4 mL across all four runs; four-point fit gives α = 0.62</a:t>
            </a:r>
          </a:p>
        </p:txBody>
      </p:sp>
      <p:sp>
        <p:nvSpPr>
          <p:cNvPr id="16" name="S2_elaw_answer_card"/>
          <p:cNvSpPr/>
          <p:nvPr/>
        </p:nvSpPr>
        <p:spPr>
          <a:xfrm>
            <a:off x="5577840" y="4133087"/>
            <a:ext cx="3246120" cy="51206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noAutofit/>
          </a:bodyPr>
          <a:lstStyle/>
          <a:p>
            <a:pPr algn="l"/>
            <a:r>
              <a:rPr sz="1300" b="1" i="0">
                <a:solidFill>
                  <a:srgbClr val="8C1515"/>
                </a:solidFill>
                <a:latin typeface="Calibri"/>
              </a:rPr>
              <a:t>Answer: Yes</a:t>
            </a:r>
          </a:p>
          <a:p>
            <a:pPr algn="l">
              <a:spcBef>
                <a:spcPts val="200"/>
              </a:spcBef>
            </a:pPr>
            <a:r>
              <a:rPr sz="1100" b="0" i="0">
                <a:solidFill>
                  <a:srgbClr val="2E2D29"/>
                </a:solidFill>
                <a:latin typeface="Calibri"/>
              </a:rPr>
              <a:t>α fixed on TST-STAN-3; all five pulses then within −2.6 to +0.6 mmHg</a:t>
            </a:r>
          </a:p>
        </p:txBody>
      </p:sp>
      <p:sp>
        <p:nvSpPr>
          <p:cNvPr id="17" name="S2_elaw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Fitted on TST-STAN-3 alone, the law closed the pulse in the four out-of-sample patients too.</a:t>
            </a:r>
          </a:p>
        </p:txBody>
      </p:sp>
      <p:sp>
        <p:nvSpPr>
          <p:cNvPr id="18" name="S2_elaw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TST-STAN-3 3D runs (N. Dorn, 23-24 Oct 2026): tst-stan-3-20261021 iter-01, iter-02, ρ tests A, B, and _checks/elaw_iter3_20261023 (iteration-2 BCs, Rule A damping 7695). Fit uses the first four runs only. C₃D = slope of stored volume vs MPA pressure, last cycle. Fit C = 5.43·E^(−0.62) (E in kPa); the rule's α = 0.55 (two-point) under-predicts the pulse drop, so it errs high.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Final pre-op fit: every pressure within 2.6 mmHg</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43" name="S2_result_takeaway"/>
          <p:cNvSpPr/>
          <p:nvPr/>
        </p:nvSpPr>
        <p:spPr>
          <a:xfrm>
            <a:off x="320040" y="4901184"/>
            <a:ext cx="8503920" cy="34747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Every pressure within 2.6 mmHg and every split within 0.037; what remains is resistance, not wall.</a:t>
            </a:r>
          </a:p>
        </p:txBody>
      </p:sp>
      <p:sp>
        <p:nvSpPr>
          <p:cNvPr id="44" name="S2_result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Iteration-3 (wall-corrected) 3D vs pre-op catheter and perfusion targets. svz docs/preop_protocol_v1/README.md (frozen 25 Oct 2026), Results; results/elaw_compare*.json. σ = 2 mmHg, 0.02.</a:t>
            </a:r>
          </a:p>
        </p:txBody>
      </p:sp>
      <p:sp>
        <p:nvSpPr>
          <p:cNvPr id="45" name="S2_result_p_label"/>
          <p:cNvSpPr txBox="1"/>
          <p:nvPr/>
        </p:nvSpPr>
        <p:spPr>
          <a:xfrm>
            <a:off x="320040" y="1344168"/>
            <a:ext cx="5394960" cy="274320"/>
          </a:xfrm>
          <a:prstGeom prst="rect">
            <a:avLst/>
          </a:prstGeom>
          <a:noFill/>
        </p:spPr>
        <p:txBody>
          <a:bodyPr wrap="square" lIns="36576" rIns="36576" tIns="36576" bIns="36576">
            <a:noAutofit/>
          </a:bodyPr>
          <a:lstStyle/>
          <a:p>
            <a:r>
              <a:rPr sz="1400" b="1">
                <a:solidFill>
                  <a:srgbClr val="2E2D29"/>
                </a:solidFill>
                <a:latin typeface="Calibri"/>
              </a:rPr>
              <a:t>3D minus catheter pressure (mmHg); gridlines every 1σ</a:t>
            </a:r>
          </a:p>
        </p:txBody>
      </p:sp>
      <p:graphicFrame>
        <p:nvGraphicFramePr>
          <p:cNvPr id="46" name="S2_result_pressure_chart"/>
          <p:cNvGraphicFramePr>
            <a:graphicFrameLocks noGrp="1"/>
          </p:cNvGraphicFramePr>
          <p:nvPr/>
        </p:nvGraphicFramePr>
        <p:xfrm>
          <a:off x="320040" y="1600200"/>
          <a:ext cx="5394960" cy="2240280"/>
        </p:xfrm>
        <a:graphic>
          <a:graphicData uri="http://schemas.openxmlformats.org/drawingml/2006/chart">
            <c:chart xmlns:c="http://schemas.openxmlformats.org/drawingml/2006/chart" r:id="rId2"/>
          </a:graphicData>
        </a:graphic>
      </p:graphicFrame>
      <p:sp>
        <p:nvSpPr>
          <p:cNvPr id="47" name="S2_result_s_label"/>
          <p:cNvSpPr txBox="1"/>
          <p:nvPr/>
        </p:nvSpPr>
        <p:spPr>
          <a:xfrm>
            <a:off x="5897880" y="1344168"/>
            <a:ext cx="2926080" cy="274320"/>
          </a:xfrm>
          <a:prstGeom prst="rect">
            <a:avLst/>
          </a:prstGeom>
          <a:noFill/>
        </p:spPr>
        <p:txBody>
          <a:bodyPr wrap="square" lIns="36576" rIns="36576" tIns="36576" bIns="36576">
            <a:noAutofit/>
          </a:bodyPr>
          <a:lstStyle/>
          <a:p>
            <a:r>
              <a:rPr sz="1400" b="1">
                <a:solidFill>
                  <a:srgbClr val="2E2D29"/>
                </a:solidFill>
                <a:latin typeface="Calibri"/>
              </a:rPr>
              <a:t>RPA split minus perfusion</a:t>
            </a:r>
          </a:p>
        </p:txBody>
      </p:sp>
      <p:graphicFrame>
        <p:nvGraphicFramePr>
          <p:cNvPr id="48" name="S2_result_split_chart"/>
          <p:cNvGraphicFramePr>
            <a:graphicFrameLocks noGrp="1"/>
          </p:cNvGraphicFramePr>
          <p:nvPr/>
        </p:nvGraphicFramePr>
        <p:xfrm>
          <a:off x="5897880" y="1600200"/>
          <a:ext cx="2926080" cy="2240280"/>
        </p:xfrm>
        <a:graphic>
          <a:graphicData uri="http://schemas.openxmlformats.org/drawingml/2006/chart">
            <c:chart xmlns:c="http://schemas.openxmlformats.org/drawingml/2006/chart" r:id="rId3"/>
          </a:graphicData>
        </a:graphic>
      </p:graphicFrame>
      <p:graphicFrame>
        <p:nvGraphicFramePr>
          <p:cNvPr id="49" name="S2_result_values_table"/>
          <p:cNvGraphicFramePr>
            <a:graphicFrameLocks noGrp="1"/>
          </p:cNvGraphicFramePr>
          <p:nvPr/>
        </p:nvGraphicFramePr>
        <p:xfrm>
          <a:off x="320040" y="3913632"/>
          <a:ext cx="8503920" cy="768096"/>
        </p:xfrm>
        <a:graphic>
          <a:graphicData uri="http://schemas.openxmlformats.org/drawingml/2006/table">
            <a:tbl>
              <a:tblPr firstRow="1" bandRow="1">
                <a:tableStyleId>{5C22544A-7EE6-4342-B048-85BDC9FD1C3A}</a:tableStyleId>
              </a:tblPr>
              <a:tblGrid>
                <a:gridCol w="960120"/>
                <a:gridCol w="1508760"/>
                <a:gridCol w="1508760"/>
                <a:gridCol w="1508760"/>
                <a:gridCol w="1508760"/>
                <a:gridCol w="1508760"/>
              </a:tblGrid>
              <a:tr h="256032">
                <a:tc>
                  <a:txBody>
                    <a:bodyPr/>
                    <a:lstStyle/>
                    <a:p>
                      <a:r>
                        <a:rPr sz="1100" b="1">
                          <a:solidFill>
                            <a:srgbClr val="FFFFFF"/>
                          </a:solidFill>
                          <a:latin typeface="Calibri"/>
                        </a:rPr>
                        <a:t>mmHg, split</a:t>
                      </a:r>
                    </a:p>
                  </a:txBody>
                  <a:tcPr marL="45720" marR="45720" marT="18288" marB="18288">
                    <a:solidFill>
                      <a:srgbClr val="8C1515"/>
                    </a:solidFill>
                  </a:tcPr>
                </a:tc>
                <a:tc>
                  <a:txBody>
                    <a:bodyPr/>
                    <a:lstStyle/>
                    <a:p>
                      <a:r>
                        <a:rPr sz="1100" b="1">
                          <a:solidFill>
                            <a:srgbClr val="FFFFFF"/>
                          </a:solidFill>
                          <a:latin typeface="Calibri"/>
                        </a:rPr>
                        <a:t>TST-STAN-1</a:t>
                      </a:r>
                    </a:p>
                  </a:txBody>
                  <a:tcPr marL="45720" marR="45720" marT="18288" marB="18288">
                    <a:solidFill>
                      <a:srgbClr val="8C1515"/>
                    </a:solidFill>
                  </a:tcPr>
                </a:tc>
                <a:tc>
                  <a:txBody>
                    <a:bodyPr/>
                    <a:lstStyle/>
                    <a:p>
                      <a:r>
                        <a:rPr sz="1100" b="1">
                          <a:solidFill>
                            <a:srgbClr val="FFFFFF"/>
                          </a:solidFill>
                          <a:latin typeface="Calibri"/>
                        </a:rPr>
                        <a:t>TST-STAN-2</a:t>
                      </a:r>
                    </a:p>
                  </a:txBody>
                  <a:tcPr marL="45720" marR="45720" marT="18288" marB="18288">
                    <a:solidFill>
                      <a:srgbClr val="8C1515"/>
                    </a:solidFill>
                  </a:tcPr>
                </a:tc>
                <a:tc>
                  <a:txBody>
                    <a:bodyPr/>
                    <a:lstStyle/>
                    <a:p>
                      <a:r>
                        <a:rPr sz="1100" b="1">
                          <a:solidFill>
                            <a:srgbClr val="FFFFFF"/>
                          </a:solidFill>
                          <a:latin typeface="Calibri"/>
                        </a:rPr>
                        <a:t>TST-STAN-3</a:t>
                      </a:r>
                    </a:p>
                  </a:txBody>
                  <a:tcPr marL="45720" marR="45720" marT="18288" marB="18288">
                    <a:solidFill>
                      <a:srgbClr val="8C1515"/>
                    </a:solidFill>
                  </a:tcPr>
                </a:tc>
                <a:tc>
                  <a:txBody>
                    <a:bodyPr/>
                    <a:lstStyle/>
                    <a:p>
                      <a:r>
                        <a:rPr sz="1100" b="1">
                          <a:solidFill>
                            <a:srgbClr val="FFFFFF"/>
                          </a:solidFill>
                          <a:latin typeface="Calibri"/>
                        </a:rPr>
                        <a:t>TST-STAN-5</a:t>
                      </a:r>
                    </a:p>
                  </a:txBody>
                  <a:tcPr marL="45720" marR="45720" marT="18288" marB="18288">
                    <a:solidFill>
                      <a:srgbClr val="8C1515"/>
                    </a:solidFill>
                  </a:tcPr>
                </a:tc>
                <a:tc>
                  <a:txBody>
                    <a:bodyPr/>
                    <a:lstStyle/>
                    <a:p>
                      <a:r>
                        <a:rPr sz="1100" b="1">
                          <a:solidFill>
                            <a:srgbClr val="FFFFFF"/>
                          </a:solidFill>
                          <a:latin typeface="Calibri"/>
                        </a:rPr>
                        <a:t>TST-STAN-9</a:t>
                      </a:r>
                    </a:p>
                  </a:txBody>
                  <a:tcPr marL="45720" marR="45720" marT="18288" marB="18288">
                    <a:solidFill>
                      <a:srgbClr val="8C1515"/>
                    </a:solidFill>
                  </a:tcPr>
                </a:tc>
              </a:tr>
              <a:tr h="256032">
                <a:tc>
                  <a:txBody>
                    <a:bodyPr/>
                    <a:lstStyle/>
                    <a:p>
                      <a:r>
                        <a:rPr sz="1100" b="1">
                          <a:solidFill>
                            <a:srgbClr val="2E2D29"/>
                          </a:solidFill>
                          <a:latin typeface="Calibri"/>
                        </a:rPr>
                        <a:t>Clinical</a:t>
                      </a:r>
                    </a:p>
                  </a:txBody>
                  <a:tcPr marL="45720" marR="45720" marT="18288" marB="18288">
                    <a:solidFill>
                      <a:srgbClr val="FFFFFF"/>
                    </a:solidFill>
                  </a:tcPr>
                </a:tc>
                <a:tc>
                  <a:txBody>
                    <a:bodyPr/>
                    <a:lstStyle/>
                    <a:p>
                      <a:r>
                        <a:rPr sz="1100" b="0">
                          <a:solidFill>
                            <a:srgbClr val="007C92"/>
                          </a:solidFill>
                          <a:latin typeface="Calibri"/>
                        </a:rPr>
                        <a:t>38 / 10 / 23, 0.71</a:t>
                      </a:r>
                    </a:p>
                  </a:txBody>
                  <a:tcPr marL="45720" marR="45720" marT="18288" marB="18288">
                    <a:solidFill>
                      <a:srgbClr val="FFFFFF"/>
                    </a:solidFill>
                  </a:tcPr>
                </a:tc>
                <a:tc>
                  <a:txBody>
                    <a:bodyPr/>
                    <a:lstStyle/>
                    <a:p>
                      <a:r>
                        <a:rPr sz="1100" b="0">
                          <a:solidFill>
                            <a:srgbClr val="007C92"/>
                          </a:solidFill>
                          <a:latin typeface="Calibri"/>
                        </a:rPr>
                        <a:t>44 / 14 / 26, 0.76</a:t>
                      </a:r>
                    </a:p>
                  </a:txBody>
                  <a:tcPr marL="45720" marR="45720" marT="18288" marB="18288">
                    <a:solidFill>
                      <a:srgbClr val="FFFFFF"/>
                    </a:solidFill>
                  </a:tcPr>
                </a:tc>
                <a:tc>
                  <a:txBody>
                    <a:bodyPr/>
                    <a:lstStyle/>
                    <a:p>
                      <a:r>
                        <a:rPr sz="1100" b="0">
                          <a:solidFill>
                            <a:srgbClr val="007C92"/>
                          </a:solidFill>
                          <a:latin typeface="Calibri"/>
                        </a:rPr>
                        <a:t>67 / 9 / 32, 0.45</a:t>
                      </a:r>
                    </a:p>
                  </a:txBody>
                  <a:tcPr marL="45720" marR="45720" marT="18288" marB="18288">
                    <a:solidFill>
                      <a:srgbClr val="FFFFFF"/>
                    </a:solidFill>
                  </a:tcPr>
                </a:tc>
                <a:tc>
                  <a:txBody>
                    <a:bodyPr/>
                    <a:lstStyle/>
                    <a:p>
                      <a:r>
                        <a:rPr sz="1100" b="0">
                          <a:solidFill>
                            <a:srgbClr val="007C92"/>
                          </a:solidFill>
                          <a:latin typeface="Calibri"/>
                        </a:rPr>
                        <a:t>34 / 3 / 16, 0.87</a:t>
                      </a:r>
                    </a:p>
                  </a:txBody>
                  <a:tcPr marL="45720" marR="45720" marT="18288" marB="18288">
                    <a:solidFill>
                      <a:srgbClr val="FFFFFF"/>
                    </a:solidFill>
                  </a:tcPr>
                </a:tc>
                <a:tc>
                  <a:txBody>
                    <a:bodyPr/>
                    <a:lstStyle/>
                    <a:p>
                      <a:r>
                        <a:rPr sz="1100" b="0">
                          <a:solidFill>
                            <a:srgbClr val="007C92"/>
                          </a:solidFill>
                          <a:latin typeface="Calibri"/>
                        </a:rPr>
                        <a:t>29 / 5 / 15, 0.90</a:t>
                      </a:r>
                    </a:p>
                  </a:txBody>
                  <a:tcPr marL="45720" marR="45720" marT="18288" marB="18288">
                    <a:solidFill>
                      <a:srgbClr val="FFFFFF"/>
                    </a:solidFill>
                  </a:tcPr>
                </a:tc>
              </a:tr>
              <a:tr h="256032">
                <a:tc>
                  <a:txBody>
                    <a:bodyPr/>
                    <a:lstStyle/>
                    <a:p>
                      <a:r>
                        <a:rPr sz="1100" b="1">
                          <a:solidFill>
                            <a:srgbClr val="2E2D29"/>
                          </a:solidFill>
                          <a:latin typeface="Calibri"/>
                        </a:rPr>
                        <a:t>3D, iter. 3</a:t>
                      </a:r>
                    </a:p>
                  </a:txBody>
                  <a:tcPr marL="45720" marR="45720" marT="18288" marB="18288">
                    <a:solidFill>
                      <a:srgbClr val="F2F1F0"/>
                    </a:solidFill>
                  </a:tcPr>
                </a:tc>
                <a:tc>
                  <a:txBody>
                    <a:bodyPr/>
                    <a:lstStyle/>
                    <a:p>
                      <a:r>
                        <a:rPr sz="1100" b="1">
                          <a:solidFill>
                            <a:srgbClr val="8C1515"/>
                          </a:solidFill>
                          <a:latin typeface="Calibri"/>
                        </a:rPr>
                        <a:t>36.0 / 10.6 / 20.9, 0.69</a:t>
                      </a:r>
                    </a:p>
                  </a:txBody>
                  <a:tcPr marL="45720" marR="45720" marT="18288" marB="18288">
                    <a:solidFill>
                      <a:srgbClr val="F2F1F0"/>
                    </a:solidFill>
                  </a:tcPr>
                </a:tc>
                <a:tc>
                  <a:txBody>
                    <a:bodyPr/>
                    <a:lstStyle/>
                    <a:p>
                      <a:r>
                        <a:rPr sz="1100" b="1">
                          <a:solidFill>
                            <a:srgbClr val="8C1515"/>
                          </a:solidFill>
                          <a:latin typeface="Calibri"/>
                        </a:rPr>
                        <a:t>42.2 / 13.9 / 25.0, 0.80</a:t>
                      </a:r>
                    </a:p>
                  </a:txBody>
                  <a:tcPr marL="45720" marR="45720" marT="18288" marB="18288">
                    <a:solidFill>
                      <a:srgbClr val="F2F1F0"/>
                    </a:solidFill>
                  </a:tcPr>
                </a:tc>
                <a:tc>
                  <a:txBody>
                    <a:bodyPr/>
                    <a:lstStyle/>
                    <a:p>
                      <a:r>
                        <a:rPr sz="1100" b="1">
                          <a:solidFill>
                            <a:srgbClr val="8C1515"/>
                          </a:solidFill>
                          <a:latin typeface="Calibri"/>
                        </a:rPr>
                        <a:t>67.2 / 8.6 / 29.7, 0.45</a:t>
                      </a:r>
                    </a:p>
                  </a:txBody>
                  <a:tcPr marL="45720" marR="45720" marT="18288" marB="18288">
                    <a:solidFill>
                      <a:srgbClr val="F2F1F0"/>
                    </a:solidFill>
                  </a:tcPr>
                </a:tc>
                <a:tc>
                  <a:txBody>
                    <a:bodyPr/>
                    <a:lstStyle/>
                    <a:p>
                      <a:r>
                        <a:rPr sz="1100" b="1">
                          <a:solidFill>
                            <a:srgbClr val="8C1515"/>
                          </a:solidFill>
                          <a:latin typeface="Calibri"/>
                        </a:rPr>
                        <a:t>33.9 / 3.5 / 15.8, 0.89</a:t>
                      </a:r>
                    </a:p>
                  </a:txBody>
                  <a:tcPr marL="45720" marR="45720" marT="18288" marB="18288">
                    <a:solidFill>
                      <a:srgbClr val="F2F1F0"/>
                    </a:solidFill>
                  </a:tcPr>
                </a:tc>
                <a:tc>
                  <a:txBody>
                    <a:bodyPr/>
                    <a:lstStyle/>
                    <a:p>
                      <a:r>
                        <a:rPr sz="1100" b="1">
                          <a:solidFill>
                            <a:srgbClr val="8C1515"/>
                          </a:solidFill>
                          <a:latin typeface="Calibri"/>
                        </a:rPr>
                        <a:t>28.6 / 5.1 / 14.5, 0.88</a:t>
                      </a:r>
                    </a:p>
                  </a:txBody>
                  <a:tcPr marL="45720" marR="45720" marT="18288" marB="18288">
                    <a:solidFill>
                      <a:srgbClr val="F2F1F0"/>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Matched 0D refit published for all five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2_result_chart_label"/>
          <p:cNvSpPr txBox="1"/>
          <p:nvPr/>
        </p:nvSpPr>
        <p:spPr>
          <a:xfrm>
            <a:off x="320040" y="1389888"/>
            <a:ext cx="5120640" cy="274320"/>
          </a:xfrm>
          <a:prstGeom prst="rect">
            <a:avLst/>
          </a:prstGeom>
          <a:noFill/>
        </p:spPr>
        <p:txBody>
          <a:bodyPr wrap="square" lIns="73152" rIns="73152" anchor="t">
            <a:noAutofit/>
          </a:bodyPr>
          <a:lstStyle/>
          <a:p>
            <a:pPr algn="l"/>
            <a:r>
              <a:rPr sz="1400" b="1" i="0">
                <a:solidFill>
                  <a:srgbClr val="2E2D29"/>
                </a:solidFill>
                <a:latin typeface="Calibri"/>
              </a:rPr>
              <a:t>Calibration score vs the corrected 3D run (lower is better)</a:t>
            </a:r>
          </a:p>
        </p:txBody>
      </p:sp>
      <p:graphicFrame>
        <p:nvGraphicFramePr>
          <p:cNvPr id="13" name="S2_result_score_chart"/>
          <p:cNvGraphicFramePr>
            <a:graphicFrameLocks noGrp="1"/>
          </p:cNvGraphicFramePr>
          <p:nvPr/>
        </p:nvGraphicFramePr>
        <p:xfrm>
          <a:off x="320040" y="1664208"/>
          <a:ext cx="5120640" cy="2926080"/>
        </p:xfrm>
        <a:graphic>
          <a:graphicData uri="http://schemas.openxmlformats.org/drawingml/2006/chart">
            <c:chart xmlns:c="http://schemas.openxmlformats.org/drawingml/2006/chart" r:id="rId2"/>
          </a:graphicData>
        </a:graphic>
      </p:graphicFrame>
      <p:graphicFrame>
        <p:nvGraphicFramePr>
          <p:cNvPr id="14" name="S2_result_nrmse_table"/>
          <p:cNvGraphicFramePr>
            <a:graphicFrameLocks noGrp="1"/>
          </p:cNvGraphicFramePr>
          <p:nvPr/>
        </p:nvGraphicFramePr>
        <p:xfrm>
          <a:off x="5669280" y="1664208"/>
          <a:ext cx="3154680" cy="1975104"/>
        </p:xfrm>
        <a:graphic>
          <a:graphicData uri="http://schemas.openxmlformats.org/drawingml/2006/table">
            <a:tbl>
              <a:tblPr firstRow="1" bandRow="0">
                <a:tableStyleId>{5C22544A-7EE6-4342-B048-85BDC9FD1C3A}</a:tableStyleId>
              </a:tblPr>
              <a:tblGrid>
                <a:gridCol w="1143000"/>
                <a:gridCol w="1143000"/>
                <a:gridCol w="868680"/>
              </a:tblGrid>
              <a:tr h="329184">
                <a:tc>
                  <a:txBody>
                    <a:bodyPr wrap="square"/>
                    <a:lstStyle/>
                    <a:p>
                      <a:r>
                        <a:rPr sz="1200" b="1">
                          <a:solidFill>
                            <a:srgbClr val="FFFFFF"/>
                          </a:solidFill>
                          <a:latin typeface="Calibri"/>
                        </a:rPr>
                        <a:t>Patient</a:t>
                      </a:r>
                    </a:p>
                  </a:txBody>
                  <a:tcPr marL="54864" marR="54864" marT="27432" marB="27432" anchor="ctr">
                    <a:solidFill>
                      <a:srgbClr val="8C1515"/>
                    </a:solidFill>
                  </a:tcPr>
                </a:tc>
                <a:tc>
                  <a:txBody>
                    <a:bodyPr wrap="square"/>
                    <a:lstStyle/>
                    <a:p>
                      <a:r>
                        <a:rPr sz="1200" b="1">
                          <a:solidFill>
                            <a:srgbClr val="FFFFFF"/>
                          </a:solidFill>
                          <a:latin typeface="Calibri"/>
                        </a:rPr>
                        <a:t>Proximal C ×</a:t>
                      </a:r>
                    </a:p>
                  </a:txBody>
                  <a:tcPr marL="54864" marR="54864" marT="27432" marB="27432" anchor="ctr">
                    <a:solidFill>
                      <a:srgbClr val="8C1515"/>
                    </a:solidFill>
                  </a:tcPr>
                </a:tc>
                <a:tc>
                  <a:txBody>
                    <a:bodyPr wrap="square"/>
                    <a:lstStyle/>
                    <a:p>
                      <a:r>
                        <a:rPr sz="1200" b="1">
                          <a:solidFill>
                            <a:srgbClr val="FFFFFF"/>
                          </a:solidFill>
                          <a:latin typeface="Calibri"/>
                        </a:rPr>
                        <a:t>0D − 3D pulse</a:t>
                      </a:r>
                    </a:p>
                  </a:txBody>
                  <a:tcPr marL="54864" marR="54864" marT="27432" marB="27432" anchor="ctr">
                    <a:solidFill>
                      <a:srgbClr val="8C1515"/>
                    </a:solidFill>
                  </a:tcPr>
                </a:tc>
              </a:tr>
              <a:tr h="329184">
                <a:tc>
                  <a:txBody>
                    <a:bodyPr wrap="square"/>
                    <a:lstStyle/>
                    <a:p>
                      <a:r>
                        <a:rPr sz="1200" b="0">
                          <a:solidFill>
                            <a:srgbClr val="2E2D29"/>
                          </a:solidFill>
                          <a:latin typeface="Calibri"/>
                        </a:rPr>
                        <a:t>TST-STAN-1</a:t>
                      </a:r>
                    </a:p>
                  </a:txBody>
                  <a:tcPr marL="54864" marR="54864" marT="27432" marB="27432" anchor="ctr">
                    <a:solidFill>
                      <a:srgbClr val="FFFFFF"/>
                    </a:solidFill>
                  </a:tcPr>
                </a:tc>
                <a:tc>
                  <a:txBody>
                    <a:bodyPr wrap="square"/>
                    <a:lstStyle/>
                    <a:p>
                      <a:r>
                        <a:rPr sz="1200" b="0">
                          <a:solidFill>
                            <a:srgbClr val="2E2D29"/>
                          </a:solidFill>
                          <a:latin typeface="Calibri"/>
                        </a:rPr>
                        <a:t>1.13</a:t>
                      </a:r>
                    </a:p>
                  </a:txBody>
                  <a:tcPr marL="54864" marR="54864" marT="27432" marB="27432" anchor="ctr">
                    <a:solidFill>
                      <a:srgbClr val="FFFFFF"/>
                    </a:solidFill>
                  </a:tcPr>
                </a:tc>
                <a:tc>
                  <a:txBody>
                    <a:bodyPr wrap="square"/>
                    <a:lstStyle/>
                    <a:p>
                      <a:r>
                        <a:rPr sz="1200" b="0">
                          <a:solidFill>
                            <a:srgbClr val="2E2D29"/>
                          </a:solidFill>
                          <a:latin typeface="Calibri"/>
                        </a:rPr>
                        <a:t>−0.04</a:t>
                      </a:r>
                    </a:p>
                  </a:txBody>
                  <a:tcPr marL="54864" marR="54864" marT="27432" marB="27432" anchor="ctr">
                    <a:solidFill>
                      <a:srgbClr val="FFFFFF"/>
                    </a:solidFill>
                  </a:tcPr>
                </a:tc>
              </a:tr>
              <a:tr h="329184">
                <a:tc>
                  <a:txBody>
                    <a:bodyPr wrap="square"/>
                    <a:lstStyle/>
                    <a:p>
                      <a:r>
                        <a:rPr sz="1200" b="0">
                          <a:solidFill>
                            <a:srgbClr val="2E2D29"/>
                          </a:solidFill>
                          <a:latin typeface="Calibri"/>
                        </a:rPr>
                        <a:t>TST-STAN-2</a:t>
                      </a:r>
                    </a:p>
                  </a:txBody>
                  <a:tcPr marL="54864" marR="54864" marT="27432" marB="27432" anchor="ctr">
                    <a:solidFill>
                      <a:srgbClr val="F2F1F0"/>
                    </a:solidFill>
                  </a:tcPr>
                </a:tc>
                <a:tc>
                  <a:txBody>
                    <a:bodyPr wrap="square"/>
                    <a:lstStyle/>
                    <a:p>
                      <a:r>
                        <a:rPr sz="1200" b="0">
                          <a:solidFill>
                            <a:srgbClr val="2E2D29"/>
                          </a:solidFill>
                          <a:latin typeface="Calibri"/>
                        </a:rPr>
                        <a:t>0.99</a:t>
                      </a:r>
                    </a:p>
                  </a:txBody>
                  <a:tcPr marL="54864" marR="54864" marT="27432" marB="27432" anchor="ctr">
                    <a:solidFill>
                      <a:srgbClr val="F2F1F0"/>
                    </a:solidFill>
                  </a:tcPr>
                </a:tc>
                <a:tc>
                  <a:txBody>
                    <a:bodyPr wrap="square"/>
                    <a:lstStyle/>
                    <a:p>
                      <a:r>
                        <a:rPr sz="1200" b="0">
                          <a:solidFill>
                            <a:srgbClr val="2E2D29"/>
                          </a:solidFill>
                          <a:latin typeface="Calibri"/>
                        </a:rPr>
                        <a:t>+0.03</a:t>
                      </a:r>
                    </a:p>
                  </a:txBody>
                  <a:tcPr marL="54864" marR="54864" marT="27432" marB="27432" anchor="ctr">
                    <a:solidFill>
                      <a:srgbClr val="F2F1F0"/>
                    </a:solidFill>
                  </a:tcPr>
                </a:tc>
              </a:tr>
              <a:tr h="329184">
                <a:tc>
                  <a:txBody>
                    <a:bodyPr wrap="square"/>
                    <a:lstStyle/>
                    <a:p>
                      <a:r>
                        <a:rPr sz="1200" b="0">
                          <a:solidFill>
                            <a:srgbClr val="2E2D29"/>
                          </a:solidFill>
                          <a:latin typeface="Calibri"/>
                        </a:rPr>
                        <a:t>TST-STAN-3</a:t>
                      </a:r>
                    </a:p>
                  </a:txBody>
                  <a:tcPr marL="54864" marR="54864" marT="27432" marB="27432" anchor="ctr">
                    <a:solidFill>
                      <a:srgbClr val="FFFFFF"/>
                    </a:solidFill>
                  </a:tcPr>
                </a:tc>
                <a:tc>
                  <a:txBody>
                    <a:bodyPr wrap="square"/>
                    <a:lstStyle/>
                    <a:p>
                      <a:r>
                        <a:rPr sz="1200" b="0">
                          <a:solidFill>
                            <a:srgbClr val="2E2D29"/>
                          </a:solidFill>
                          <a:latin typeface="Calibri"/>
                        </a:rPr>
                        <a:t>0.82</a:t>
                      </a:r>
                    </a:p>
                  </a:txBody>
                  <a:tcPr marL="54864" marR="54864" marT="27432" marB="27432" anchor="ctr">
                    <a:solidFill>
                      <a:srgbClr val="FFFFFF"/>
                    </a:solidFill>
                  </a:tcPr>
                </a:tc>
                <a:tc>
                  <a:txBody>
                    <a:bodyPr wrap="square"/>
                    <a:lstStyle/>
                    <a:p>
                      <a:r>
                        <a:rPr sz="1200" b="0">
                          <a:solidFill>
                            <a:srgbClr val="2E2D29"/>
                          </a:solidFill>
                          <a:latin typeface="Calibri"/>
                        </a:rPr>
                        <a:t>0.00</a:t>
                      </a:r>
                    </a:p>
                  </a:txBody>
                  <a:tcPr marL="54864" marR="54864" marT="27432" marB="27432" anchor="ctr">
                    <a:solidFill>
                      <a:srgbClr val="FFFFFF"/>
                    </a:solidFill>
                  </a:tcPr>
                </a:tc>
              </a:tr>
              <a:tr h="329184">
                <a:tc>
                  <a:txBody>
                    <a:bodyPr wrap="square"/>
                    <a:lstStyle/>
                    <a:p>
                      <a:r>
                        <a:rPr sz="1200" b="0">
                          <a:solidFill>
                            <a:srgbClr val="2E2D29"/>
                          </a:solidFill>
                          <a:latin typeface="Calibri"/>
                        </a:rPr>
                        <a:t>TST-STAN-5</a:t>
                      </a:r>
                    </a:p>
                  </a:txBody>
                  <a:tcPr marL="54864" marR="54864" marT="27432" marB="27432" anchor="ctr">
                    <a:solidFill>
                      <a:srgbClr val="F2F1F0"/>
                    </a:solidFill>
                  </a:tcPr>
                </a:tc>
                <a:tc>
                  <a:txBody>
                    <a:bodyPr wrap="square"/>
                    <a:lstStyle/>
                    <a:p>
                      <a:r>
                        <a:rPr sz="1200" b="0">
                          <a:solidFill>
                            <a:srgbClr val="2E2D29"/>
                          </a:solidFill>
                          <a:latin typeface="Calibri"/>
                        </a:rPr>
                        <a:t>1.00</a:t>
                      </a:r>
                    </a:p>
                  </a:txBody>
                  <a:tcPr marL="54864" marR="54864" marT="27432" marB="27432" anchor="ctr">
                    <a:solidFill>
                      <a:srgbClr val="F2F1F0"/>
                    </a:solidFill>
                  </a:tcPr>
                </a:tc>
                <a:tc>
                  <a:txBody>
                    <a:bodyPr wrap="square"/>
                    <a:lstStyle/>
                    <a:p>
                      <a:r>
                        <a:rPr sz="1200" b="0">
                          <a:solidFill>
                            <a:srgbClr val="2E2D29"/>
                          </a:solidFill>
                          <a:latin typeface="Calibri"/>
                        </a:rPr>
                        <a:t>−0.02</a:t>
                      </a:r>
                    </a:p>
                  </a:txBody>
                  <a:tcPr marL="54864" marR="54864" marT="27432" marB="27432" anchor="ctr">
                    <a:solidFill>
                      <a:srgbClr val="F2F1F0"/>
                    </a:solidFill>
                  </a:tcPr>
                </a:tc>
              </a:tr>
              <a:tr h="329184">
                <a:tc>
                  <a:txBody>
                    <a:bodyPr wrap="square"/>
                    <a:lstStyle/>
                    <a:p>
                      <a:r>
                        <a:rPr sz="1200" b="0">
                          <a:solidFill>
                            <a:srgbClr val="2E2D29"/>
                          </a:solidFill>
                          <a:latin typeface="Calibri"/>
                        </a:rPr>
                        <a:t>TST-STAN-9</a:t>
                      </a:r>
                    </a:p>
                  </a:txBody>
                  <a:tcPr marL="54864" marR="54864" marT="27432" marB="27432" anchor="ctr">
                    <a:solidFill>
                      <a:srgbClr val="FFFFFF"/>
                    </a:solidFill>
                  </a:tcPr>
                </a:tc>
                <a:tc>
                  <a:txBody>
                    <a:bodyPr wrap="square"/>
                    <a:lstStyle/>
                    <a:p>
                      <a:r>
                        <a:rPr sz="1200" b="0">
                          <a:solidFill>
                            <a:srgbClr val="2E2D29"/>
                          </a:solidFill>
                          <a:latin typeface="Calibri"/>
                        </a:rPr>
                        <a:t>0.93</a:t>
                      </a:r>
                    </a:p>
                  </a:txBody>
                  <a:tcPr marL="54864" marR="54864" marT="27432" marB="27432" anchor="ctr">
                    <a:solidFill>
                      <a:srgbClr val="FFFFFF"/>
                    </a:solidFill>
                  </a:tcPr>
                </a:tc>
                <a:tc>
                  <a:txBody>
                    <a:bodyPr wrap="square"/>
                    <a:lstStyle/>
                    <a:p>
                      <a:r>
                        <a:rPr sz="1200" b="0">
                          <a:solidFill>
                            <a:srgbClr val="2E2D29"/>
                          </a:solidFill>
                          <a:latin typeface="Calibri"/>
                        </a:rPr>
                        <a:t>0.00</a:t>
                      </a:r>
                    </a:p>
                  </a:txBody>
                  <a:tcPr marL="54864" marR="54864" marT="27432" marB="27432" anchor="ctr">
                    <a:solidFill>
                      <a:srgbClr val="FFFFFF"/>
                    </a:solidFill>
                  </a:tcPr>
                </a:tc>
              </a:tr>
            </a:tbl>
          </a:graphicData>
        </a:graphic>
      </p:graphicFrame>
      <p:sp>
        <p:nvSpPr>
          <p:cNvPr id="15" name="S2_result_gate_note"/>
          <p:cNvSpPr txBox="1"/>
          <p:nvPr/>
        </p:nvSpPr>
        <p:spPr>
          <a:xfrm>
            <a:off x="5669280" y="3730752"/>
            <a:ext cx="3154680" cy="822960"/>
          </a:xfrm>
          <a:prstGeom prst="rect">
            <a:avLst/>
          </a:prstGeom>
          <a:noFill/>
        </p:spPr>
        <p:txBody>
          <a:bodyPr wrap="square" lIns="18288" rIns="18288" tIns="18288" bIns="18288" anchor="t">
            <a:noAutofit/>
          </a:bodyPr>
          <a:lstStyle/>
          <a:p>
            <a:pPr algn="l"/>
            <a:r>
              <a:rPr sz="1200" b="0" i="0">
                <a:solidFill>
                  <a:srgbClr val="6B6965"/>
                </a:solidFill>
                <a:latin typeface="Calibri"/>
              </a:rPr>
              <a:t>Pulse in mmHg. All five published; beating the tuned model is advisory here, and only TST-STAN-2 did.</a:t>
            </a:r>
          </a:p>
        </p:txBody>
      </p:sp>
      <p:sp>
        <p:nvSpPr>
          <p:cNvPr id="16" name="S2_result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All five matched 0D models are published and handed to post-op; the score improved only for TST-STAN-2.</a:t>
            </a:r>
          </a:p>
        </p:txBody>
      </p:sp>
      <p:sp>
        <p:nvSpPr>
          <p:cNvPr id="17" name="S2_result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 runs/tst-stan-*/manifest.yaml wall_correction_runs (status completed 26 Oct 2026) and wall_correction/iter-02/calibration/results/calibration_summary.json. Iteration-1 and -2 gates: svz docs/preop_protocol_v1/README.md.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What changed: hand-picked iteration to protocol v1</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sp>
        <p:nvSpPr>
          <p:cNvPr id="12" name="S2_changed_prev_card"/>
          <p:cNvSpPr/>
          <p:nvPr/>
        </p:nvSpPr>
        <p:spPr>
          <a:xfrm>
            <a:off x="320040" y="1417320"/>
            <a:ext cx="3383280" cy="31546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13" name="S2_changed_prev_head"/>
          <p:cNvSpPr txBox="1"/>
          <p:nvPr/>
        </p:nvSpPr>
        <p:spPr>
          <a:xfrm>
            <a:off x="457200" y="1481328"/>
            <a:ext cx="3108960" cy="292608"/>
          </a:xfrm>
          <a:prstGeom prst="rect">
            <a:avLst/>
          </a:prstGeom>
          <a:noFill/>
        </p:spPr>
        <p:txBody>
          <a:bodyPr wrap="square" lIns="73152" rIns="73152" anchor="t">
            <a:noAutofit/>
          </a:bodyPr>
          <a:lstStyle/>
          <a:p>
            <a:pPr algn="l"/>
            <a:r>
              <a:rPr sz="1400" b="1" i="0">
                <a:solidFill>
                  <a:srgbClr val="6B6965"/>
                </a:solidFill>
                <a:latin typeface="Calibri"/>
              </a:rPr>
              <a:t>Previous: iterate, pick by hand</a:t>
            </a:r>
          </a:p>
        </p:txBody>
      </p:sp>
      <p:sp>
        <p:nvSpPr>
          <p:cNvPr id="23" name="S2_changed_prev_text"/>
          <p:cNvSpPr txBox="1"/>
          <p:nvPr/>
        </p:nvSpPr>
        <p:spPr>
          <a:xfrm>
            <a:off x="457200" y="3246120"/>
            <a:ext cx="3108960" cy="1234440"/>
          </a:xfrm>
          <a:prstGeom prst="rect">
            <a:avLst/>
          </a:prstGeom>
          <a:noFill/>
        </p:spPr>
        <p:txBody>
          <a:bodyPr wrap="square" lIns="73152" rIns="73152" anchor="t">
            <a:noAutofit/>
          </a:bodyPr>
          <a:lstStyle/>
          <a:p>
            <a:pPr algn="l"/>
            <a:r>
              <a:rPr sz="1300" b="0" i="0">
                <a:solidFill>
                  <a:srgbClr val="6B6965"/>
                </a:solidFill>
                <a:latin typeface="Calibri"/>
              </a:rPr>
              <a:t>Up to 5 iterations; the operator picked one (svzt preop select). The 3D pulse stayed up to 8 mmHg wide, and a ρ wall test overshot TST-STAN-3.</a:t>
            </a:r>
          </a:p>
        </p:txBody>
      </p:sp>
      <p:sp>
        <p:nvSpPr>
          <p:cNvPr id="24" name="S2_changed_trigger"/>
          <p:cNvSpPr/>
          <p:nvPr/>
        </p:nvSpPr>
        <p:spPr>
          <a:xfrm>
            <a:off x="3840480" y="2103120"/>
            <a:ext cx="1463040" cy="1463040"/>
          </a:xfrm>
          <a:prstGeom prst="roundRect">
            <a:avLst/>
          </a:prstGeom>
          <a:solidFill>
            <a:srgbClr val="FFFFFF"/>
          </a:solidFill>
          <a:ln w="1270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2E2D29"/>
                </a:solidFill>
                <a:latin typeface="Calibri"/>
              </a:rPr>
              <a:t>Why does the 3D pulse stay wide after iteration 2?</a:t>
            </a:r>
          </a:p>
        </p:txBody>
      </p:sp>
      <p:sp>
        <p:nvSpPr>
          <p:cNvPr id="25" name="S2_changed_curr_card"/>
          <p:cNvSpPr/>
          <p:nvPr/>
        </p:nvSpPr>
        <p:spPr>
          <a:xfrm>
            <a:off x="5440680" y="1417320"/>
            <a:ext cx="3383280" cy="3154680"/>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26" name="S2_changed_curr_head"/>
          <p:cNvSpPr txBox="1"/>
          <p:nvPr/>
        </p:nvSpPr>
        <p:spPr>
          <a:xfrm>
            <a:off x="5577840" y="1481328"/>
            <a:ext cx="3108960" cy="292608"/>
          </a:xfrm>
          <a:prstGeom prst="rect">
            <a:avLst/>
          </a:prstGeom>
          <a:noFill/>
        </p:spPr>
        <p:txBody>
          <a:bodyPr wrap="square" lIns="73152" rIns="73152" anchor="t">
            <a:noAutofit/>
          </a:bodyPr>
          <a:lstStyle/>
          <a:p>
            <a:pPr algn="l"/>
            <a:r>
              <a:rPr sz="1400" b="1" i="0">
                <a:solidFill>
                  <a:srgbClr val="8C1515"/>
                </a:solidFill>
                <a:latin typeface="Calibri"/>
              </a:rPr>
              <a:t>Current: protocol v1</a:t>
            </a:r>
          </a:p>
        </p:txBody>
      </p:sp>
      <p:sp>
        <p:nvSpPr>
          <p:cNvPr id="41" name="S2_changed_curr_text"/>
          <p:cNvSpPr txBox="1"/>
          <p:nvPr/>
        </p:nvSpPr>
        <p:spPr>
          <a:xfrm>
            <a:off x="5577840" y="3246120"/>
            <a:ext cx="3108960" cy="1234440"/>
          </a:xfrm>
          <a:prstGeom prst="rect">
            <a:avLst/>
          </a:prstGeom>
          <a:noFill/>
        </p:spPr>
        <p:txBody>
          <a:bodyPr wrap="square" lIns="73152" rIns="73152" anchor="t">
            <a:noAutofit/>
          </a:bodyPr>
          <a:lstStyle/>
          <a:p>
            <a:pPr algn="l"/>
            <a:r>
              <a:rPr sz="1300" b="0" i="0">
                <a:solidFill>
                  <a:srgbClr val="2E2D29"/>
                </a:solidFill>
                <a:latin typeface="Calibri"/>
              </a:rPr>
              <a:t>Two iterations, then one E-law wall correction with no 0D retune. Same steps for all five patients.</a:t>
            </a:r>
          </a:p>
        </p:txBody>
      </p:sp>
      <p:sp>
        <p:nvSpPr>
          <p:cNvPr id="42" name="S2_changed_evidence_line"/>
          <p:cNvSpPr txBox="1"/>
          <p:nvPr/>
        </p:nvSpPr>
        <p:spPr>
          <a:xfrm>
            <a:off x="320040" y="4626864"/>
            <a:ext cx="8503920" cy="256032"/>
          </a:xfrm>
          <a:prstGeom prst="rect">
            <a:avLst/>
          </a:prstGeom>
          <a:noFill/>
        </p:spPr>
        <p:txBody>
          <a:bodyPr wrap="square" lIns="0" rIns="0" tIns="0" bIns="0" anchor="ctr">
            <a:noAutofit/>
          </a:bodyPr>
          <a:lstStyle/>
          <a:p>
            <a:pPr algn="l"/>
            <a:r>
              <a:rPr sz="1100" b="0" i="0">
                <a:solidFill>
                  <a:srgbClr val="6B6965"/>
                </a:solidFill>
                <a:latin typeface="Calibri"/>
              </a:rPr>
              <a:t>3D pulse minus catheter: iteration 2 +0.9 to +8.1 mmHg, iteration 3 −2.6 to +0.6.   Earlier step (archived): RRI to full branched 0D.</a:t>
            </a:r>
          </a:p>
        </p:txBody>
      </p:sp>
      <p:sp>
        <p:nvSpPr>
          <p:cNvPr id="43" name="S2_changed_takeaway"/>
          <p:cNvSpPr/>
          <p:nvPr/>
        </p:nvSpPr>
        <p:spPr>
          <a:xfrm>
            <a:off x="320040" y="4901184"/>
            <a:ext cx="8503920" cy="34747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A fixed protocol gives every patient the same steps, and the wall correction closes the pulse.</a:t>
            </a:r>
          </a:p>
        </p:txBody>
      </p:sp>
      <p:sp>
        <p:nvSpPr>
          <p:cNvPr id="44" name="S2_changed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 docs/preop_protocol_v1/README.md (frozen 25 Oct 2026); svzt-agent docs/TUNING_MODEL.md §10 (local edits on 389c580); slide 'Does one wall rule close the 3D pulse in all five?'.</a:t>
            </a:r>
          </a:p>
        </p:txBody>
      </p:sp>
      <p:sp>
        <p:nvSpPr>
          <p:cNvPr id="45" name="S2_changed_answer"/>
          <p:cNvSpPr txBox="1"/>
          <p:nvPr/>
        </p:nvSpPr>
        <p:spPr>
          <a:xfrm>
            <a:off x="3749039" y="3611880"/>
            <a:ext cx="1645920" cy="914400"/>
          </a:xfrm>
          <a:prstGeom prst="rect">
            <a:avLst/>
          </a:prstGeom>
          <a:noFill/>
        </p:spPr>
        <p:txBody>
          <a:bodyPr wrap="square" lIns="36576" rIns="36576" tIns="36576" bIns="36576">
            <a:noAutofit/>
          </a:bodyPr>
          <a:lstStyle/>
          <a:p>
            <a:pPr algn="ctr"/>
            <a:r>
              <a:rPr sz="1100" b="0">
                <a:solidFill>
                  <a:srgbClr val="2E2D29"/>
                </a:solidFill>
                <a:latin typeface="Calibri"/>
              </a:rPr>
              <a:t>3D wall held only 60 to 75% of the 0D compliance; R-only calibration cannot fix that.</a:t>
            </a:r>
          </a:p>
        </p:txBody>
      </p:sp>
      <p:sp>
        <p:nvSpPr>
          <p:cNvPr id="46" name="S2_changed_prev_step1"/>
          <p:cNvSpPr/>
          <p:nvPr/>
        </p:nvSpPr>
        <p:spPr>
          <a:xfrm>
            <a:off x="457200" y="2057400"/>
            <a:ext cx="694944"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noAutofit/>
          </a:bodyPr>
          <a:lstStyle/>
          <a:p>
            <a:pPr algn="ctr"/>
            <a:r>
              <a:rPr sz="1100" b="1">
                <a:solidFill>
                  <a:srgbClr val="6B6965"/>
                </a:solidFill>
                <a:latin typeface="Calibri"/>
              </a:rPr>
              <a:t>Iter. 1</a:t>
            </a:r>
          </a:p>
        </p:txBody>
      </p:sp>
      <p:sp>
        <p:nvSpPr>
          <p:cNvPr id="47" name="S2_changed_prev_step2"/>
          <p:cNvSpPr/>
          <p:nvPr/>
        </p:nvSpPr>
        <p:spPr>
          <a:xfrm>
            <a:off x="1261872" y="2057400"/>
            <a:ext cx="694944"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noAutofit/>
          </a:bodyPr>
          <a:lstStyle/>
          <a:p>
            <a:pPr algn="ctr"/>
            <a:r>
              <a:rPr sz="1100" b="1">
                <a:solidFill>
                  <a:srgbClr val="6B6965"/>
                </a:solidFill>
                <a:latin typeface="Calibri"/>
              </a:rPr>
              <a:t>Iter. 2</a:t>
            </a:r>
          </a:p>
        </p:txBody>
      </p:sp>
      <p:sp>
        <p:nvSpPr>
          <p:cNvPr id="48" name="S2_changed_prev_step3"/>
          <p:cNvSpPr/>
          <p:nvPr/>
        </p:nvSpPr>
        <p:spPr>
          <a:xfrm>
            <a:off x="2066543" y="2057400"/>
            <a:ext cx="694944"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noAutofit/>
          </a:bodyPr>
          <a:lstStyle/>
          <a:p>
            <a:pPr algn="ctr"/>
            <a:r>
              <a:rPr sz="1100" b="1">
                <a:solidFill>
                  <a:srgbClr val="6B6965"/>
                </a:solidFill>
                <a:latin typeface="Calibri"/>
              </a:rPr>
              <a:t>… up to</a:t>
            </a:r>
          </a:p>
          <a:p>
            <a:pPr algn="ctr"/>
            <a:r>
              <a:rPr sz="1100" b="1">
                <a:solidFill>
                  <a:srgbClr val="6B6965"/>
                </a:solidFill>
                <a:latin typeface="Calibri"/>
              </a:rPr>
              <a:t>iter. 5</a:t>
            </a:r>
          </a:p>
        </p:txBody>
      </p:sp>
      <p:sp>
        <p:nvSpPr>
          <p:cNvPr id="49" name="S2_changed_prev_step4"/>
          <p:cNvSpPr/>
          <p:nvPr/>
        </p:nvSpPr>
        <p:spPr>
          <a:xfrm>
            <a:off x="2871216" y="2057400"/>
            <a:ext cx="694944"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noAutofit/>
          </a:bodyPr>
          <a:lstStyle/>
          <a:p>
            <a:pPr algn="ctr"/>
            <a:r>
              <a:rPr sz="1100" b="1">
                <a:solidFill>
                  <a:srgbClr val="6B6965"/>
                </a:solidFill>
                <a:latin typeface="Calibri"/>
              </a:rPr>
              <a:t>Pick by</a:t>
            </a:r>
          </a:p>
          <a:p>
            <a:pPr algn="ctr"/>
            <a:r>
              <a:rPr sz="1100" b="1">
                <a:solidFill>
                  <a:srgbClr val="6B6965"/>
                </a:solidFill>
                <a:latin typeface="Calibri"/>
              </a:rPr>
              <a:t>hand</a:t>
            </a:r>
          </a:p>
        </p:txBody>
      </p:sp>
      <p:cxnSp>
        <p:nvCxnSpPr>
          <p:cNvPr id="50" name="S2_changed_prev_arrow1"/>
          <p:cNvCxnSpPr>
            <a:stCxn id="46" idx="3"/>
            <a:endCxn id="47" idx="1"/>
          </p:cNvCxnSpPr>
          <p:nvPr/>
        </p:nvCxnSpPr>
        <p:spPr>
          <a:xfrm flipV="1">
            <a:off x="1152144" y="2400300"/>
            <a:ext cx="109728" cy="0"/>
          </a:xfrm>
          <a:prstGeom prst="line">
            <a:avLst/>
          </a:prstGeom>
          <a:ln w="15875">
            <a:solidFill>
              <a:srgbClr val="6B6965"/>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1" name="S2_changed_prev_arrow2"/>
          <p:cNvCxnSpPr>
            <a:stCxn id="47" idx="3"/>
            <a:endCxn id="48" idx="1"/>
          </p:cNvCxnSpPr>
          <p:nvPr/>
        </p:nvCxnSpPr>
        <p:spPr>
          <a:xfrm flipV="1">
            <a:off x="1956816" y="2400300"/>
            <a:ext cx="109727" cy="0"/>
          </a:xfrm>
          <a:prstGeom prst="line">
            <a:avLst/>
          </a:prstGeom>
          <a:ln w="15875">
            <a:solidFill>
              <a:srgbClr val="6B6965"/>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2" name="S2_changed_prev_arrow3"/>
          <p:cNvCxnSpPr>
            <a:stCxn id="48" idx="3"/>
            <a:endCxn id="49" idx="1"/>
          </p:cNvCxnSpPr>
          <p:nvPr/>
        </p:nvCxnSpPr>
        <p:spPr>
          <a:xfrm flipV="1">
            <a:off x="2761487" y="2400300"/>
            <a:ext cx="109729" cy="0"/>
          </a:xfrm>
          <a:prstGeom prst="line">
            <a:avLst/>
          </a:prstGeom>
          <a:ln w="15875">
            <a:solidFill>
              <a:srgbClr val="6B6965"/>
            </a:solidFill>
            <a:tailEnd type="triangle" w="med" h="med"/>
          </a:ln>
        </p:spPr>
        <p:style>
          <a:lnRef idx="2">
            <a:schemeClr val="accent1"/>
          </a:lnRef>
          <a:fillRef idx="0">
            <a:schemeClr val="accent1"/>
          </a:fillRef>
          <a:effectRef idx="1">
            <a:schemeClr val="accent1"/>
          </a:effectRef>
          <a:fontRef idx="minor">
            <a:schemeClr val="tx1"/>
          </a:fontRef>
        </p:style>
      </p:cxnSp>
      <p:sp>
        <p:nvSpPr>
          <p:cNvPr id="53" name="S2_changed_curr_step1"/>
          <p:cNvSpPr/>
          <p:nvPr/>
        </p:nvSpPr>
        <p:spPr>
          <a:xfrm>
            <a:off x="5577840" y="2057400"/>
            <a:ext cx="694944"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noAutofit/>
          </a:bodyPr>
          <a:lstStyle/>
          <a:p>
            <a:pPr algn="ctr"/>
            <a:r>
              <a:rPr sz="1100" b="1">
                <a:solidFill>
                  <a:srgbClr val="8C1515"/>
                </a:solidFill>
                <a:latin typeface="Calibri"/>
              </a:rPr>
              <a:t>Iter. 1</a:t>
            </a:r>
          </a:p>
        </p:txBody>
      </p:sp>
      <p:sp>
        <p:nvSpPr>
          <p:cNvPr id="54" name="S2_changed_curr_step2"/>
          <p:cNvSpPr/>
          <p:nvPr/>
        </p:nvSpPr>
        <p:spPr>
          <a:xfrm>
            <a:off x="6382512" y="2057400"/>
            <a:ext cx="694944"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noAutofit/>
          </a:bodyPr>
          <a:lstStyle/>
          <a:p>
            <a:pPr algn="ctr"/>
            <a:r>
              <a:rPr sz="1100" b="1">
                <a:solidFill>
                  <a:srgbClr val="8C1515"/>
                </a:solidFill>
                <a:latin typeface="Calibri"/>
              </a:rPr>
              <a:t>Iter. 2</a:t>
            </a:r>
          </a:p>
        </p:txBody>
      </p:sp>
      <p:sp>
        <p:nvSpPr>
          <p:cNvPr id="55" name="S2_changed_curr_step3"/>
          <p:cNvSpPr/>
          <p:nvPr/>
        </p:nvSpPr>
        <p:spPr>
          <a:xfrm>
            <a:off x="7187184" y="2057400"/>
            <a:ext cx="694944" cy="68580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noAutofit/>
          </a:bodyPr>
          <a:lstStyle/>
          <a:p>
            <a:pPr algn="ctr"/>
            <a:r>
              <a:rPr sz="1100" b="1">
                <a:solidFill>
                  <a:srgbClr val="FFFFFF"/>
                </a:solidFill>
                <a:latin typeface="Calibri"/>
              </a:rPr>
              <a:t>E-law</a:t>
            </a:r>
          </a:p>
          <a:p>
            <a:pPr algn="ctr"/>
            <a:r>
              <a:rPr sz="1100" b="1">
                <a:solidFill>
                  <a:srgbClr val="FFFFFF"/>
                </a:solidFill>
                <a:latin typeface="Calibri"/>
              </a:rPr>
              <a:t>wall</a:t>
            </a:r>
          </a:p>
        </p:txBody>
      </p:sp>
      <p:sp>
        <p:nvSpPr>
          <p:cNvPr id="56" name="S2_changed_curr_step4"/>
          <p:cNvSpPr/>
          <p:nvPr/>
        </p:nvSpPr>
        <p:spPr>
          <a:xfrm>
            <a:off x="7991856" y="2057400"/>
            <a:ext cx="694944"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noAutofit/>
          </a:bodyPr>
          <a:lstStyle/>
          <a:p>
            <a:pPr algn="ctr"/>
            <a:r>
              <a:rPr sz="1100" b="1">
                <a:solidFill>
                  <a:srgbClr val="8C1515"/>
                </a:solidFill>
                <a:latin typeface="Calibri"/>
              </a:rPr>
              <a:t>Reported</a:t>
            </a:r>
          </a:p>
          <a:p>
            <a:pPr algn="ctr"/>
            <a:r>
              <a:rPr sz="1100" b="1">
                <a:solidFill>
                  <a:srgbClr val="8C1515"/>
                </a:solidFill>
                <a:latin typeface="Calibri"/>
              </a:rPr>
              <a:t>pre-op</a:t>
            </a:r>
          </a:p>
        </p:txBody>
      </p:sp>
      <p:cxnSp>
        <p:nvCxnSpPr>
          <p:cNvPr id="57" name="S2_changed_curr_arrow1"/>
          <p:cNvCxnSpPr>
            <a:stCxn id="53" idx="3"/>
            <a:endCxn id="54" idx="1"/>
          </p:cNvCxnSpPr>
          <p:nvPr/>
        </p:nvCxnSpPr>
        <p:spPr>
          <a:xfrm flipV="1">
            <a:off x="6272784" y="2400300"/>
            <a:ext cx="109728" cy="0"/>
          </a:xfrm>
          <a:prstGeom prst="line">
            <a:avLst/>
          </a:prstGeom>
          <a:ln w="15875">
            <a:solidFill>
              <a:srgbClr val="8C1515"/>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8" name="S2_changed_curr_arrow2"/>
          <p:cNvCxnSpPr>
            <a:stCxn id="54" idx="3"/>
            <a:endCxn id="55" idx="1"/>
          </p:cNvCxnSpPr>
          <p:nvPr/>
        </p:nvCxnSpPr>
        <p:spPr>
          <a:xfrm flipV="1">
            <a:off x="7077456" y="2400300"/>
            <a:ext cx="109728" cy="0"/>
          </a:xfrm>
          <a:prstGeom prst="line">
            <a:avLst/>
          </a:prstGeom>
          <a:ln w="15875">
            <a:solidFill>
              <a:srgbClr val="8C1515"/>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9" name="S2_changed_curr_arrow3"/>
          <p:cNvCxnSpPr>
            <a:stCxn id="55" idx="3"/>
            <a:endCxn id="56" idx="1"/>
          </p:cNvCxnSpPr>
          <p:nvPr/>
        </p:nvCxnSpPr>
        <p:spPr>
          <a:xfrm flipV="1">
            <a:off x="7882128" y="2400300"/>
            <a:ext cx="109728" cy="0"/>
          </a:xfrm>
          <a:prstGeom prst="line">
            <a:avLst/>
          </a:prstGeom>
          <a:ln w="15875">
            <a:solidFill>
              <a:srgbClr val="8C1515"/>
            </a:solidFill>
            <a:tailEnd type="triangle" w="med" h="med"/>
          </a:ln>
        </p:spPr>
        <p:style>
          <a:lnRef idx="2">
            <a:schemeClr val="accent1"/>
          </a:lnRef>
          <a:fillRef idx="0">
            <a:schemeClr val="accent1"/>
          </a:fillRef>
          <a:effectRef idx="1">
            <a:schemeClr val="accent1"/>
          </a:effectRef>
          <a:fontRef idx="minor">
            <a:schemeClr val="tx1"/>
          </a:fontRef>
        </p:style>
      </p:cxnSp>
      <p:sp>
        <p:nvSpPr>
          <p:cNvPr id="60" name="S2_changed_prev_sub"/>
          <p:cNvSpPr txBox="1"/>
          <p:nvPr/>
        </p:nvSpPr>
        <p:spPr>
          <a:xfrm>
            <a:off x="457200" y="2788920"/>
            <a:ext cx="3108960" cy="274320"/>
          </a:xfrm>
          <a:prstGeom prst="rect">
            <a:avLst/>
          </a:prstGeom>
          <a:noFill/>
        </p:spPr>
        <p:txBody>
          <a:bodyPr wrap="square" lIns="36576" rIns="36576" tIns="36576" bIns="36576">
            <a:noAutofit/>
          </a:bodyPr>
          <a:lstStyle/>
          <a:p>
            <a:r>
              <a:rPr sz="1100" b="0">
                <a:solidFill>
                  <a:srgbClr val="6B6965"/>
                </a:solidFill>
                <a:latin typeface="Calibri"/>
              </a:rPr>
              <a:t>iteration count and choice vary by patient</a:t>
            </a:r>
          </a:p>
        </p:txBody>
      </p:sp>
      <p:sp>
        <p:nvSpPr>
          <p:cNvPr id="61" name="S2_changed_curr_sub"/>
          <p:cNvSpPr txBox="1"/>
          <p:nvPr/>
        </p:nvSpPr>
        <p:spPr>
          <a:xfrm>
            <a:off x="5577840" y="2788920"/>
            <a:ext cx="3108960" cy="274320"/>
          </a:xfrm>
          <a:prstGeom prst="rect">
            <a:avLst/>
          </a:prstGeom>
          <a:noFill/>
        </p:spPr>
        <p:txBody>
          <a:bodyPr wrap="square" lIns="36576" rIns="36576" tIns="36576" bIns="36576">
            <a:noAutofit/>
          </a:bodyPr>
          <a:lstStyle/>
          <a:p>
            <a:r>
              <a:rPr sz="1100" b="0">
                <a:solidFill>
                  <a:srgbClr val="8C1515"/>
                </a:solidFill>
                <a:latin typeface="Calibri"/>
              </a:rPr>
              <a:t>fixed: iteration 3 is the 3D rerun, not a retune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Path to publication: Stage 2</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COMPLETED</a:t>
            </a:r>
          </a:p>
        </p:txBody>
      </p:sp>
      <p:graphicFrame>
        <p:nvGraphicFramePr>
          <p:cNvPr id="12" name="S2_path_table"/>
          <p:cNvGraphicFramePr>
            <a:graphicFrameLocks noGrp="1"/>
          </p:cNvGraphicFramePr>
          <p:nvPr/>
        </p:nvGraphicFramePr>
        <p:xfrm>
          <a:off x="320040" y="1417320"/>
          <a:ext cx="8503920" cy="2926080"/>
        </p:xfrm>
        <a:graphic>
          <a:graphicData uri="http://schemas.openxmlformats.org/drawingml/2006/table">
            <a:tbl>
              <a:tblPr firstRow="1" bandRow="0">
                <a:tableStyleId>{5C22544A-7EE6-4342-B048-85BDC9FD1C3A}</a:tableStyleId>
              </a:tblPr>
              <a:tblGrid>
                <a:gridCol w="4572000"/>
                <a:gridCol w="1325880"/>
                <a:gridCol w="2606040"/>
              </a:tblGrid>
              <a:tr h="365760">
                <a:tc>
                  <a:txBody>
                    <a:bodyPr wrap="square"/>
                    <a:lstStyle/>
                    <a:p>
                      <a:r>
                        <a:rPr sz="1300" b="1">
                          <a:solidFill>
                            <a:srgbClr val="FFFFFF"/>
                          </a:solidFill>
                          <a:latin typeface="Calibri"/>
                        </a:rPr>
                        <a:t>Action item</a:t>
                      </a:r>
                    </a:p>
                  </a:txBody>
                  <a:tcPr marL="54864" marR="54864" marT="27432" marB="27432" anchor="ctr">
                    <a:solidFill>
                      <a:srgbClr val="8C1515"/>
                    </a:solidFill>
                  </a:tcPr>
                </a:tc>
                <a:tc>
                  <a:txBody>
                    <a:bodyPr wrap="square"/>
                    <a:lstStyle/>
                    <a:p>
                      <a:r>
                        <a:rPr sz="1300" b="1">
                          <a:solidFill>
                            <a:srgbClr val="FFFFFF"/>
                          </a:solidFill>
                          <a:latin typeface="Calibri"/>
                        </a:rPr>
                        <a:t>Status</a:t>
                      </a:r>
                    </a:p>
                  </a:txBody>
                  <a:tcPr marL="54864" marR="54864" marT="27432" marB="27432" anchor="ctr">
                    <a:solidFill>
                      <a:srgbClr val="8C1515"/>
                    </a:solidFill>
                  </a:tcPr>
                </a:tc>
                <a:tc>
                  <a:txBody>
                    <a:bodyPr wrap="square"/>
                    <a:lstStyle/>
                    <a:p>
                      <a:r>
                        <a:rPr sz="1300" b="1">
                          <a:solidFill>
                            <a:srgbClr val="FFFFFF"/>
                          </a:solidFill>
                          <a:latin typeface="Calibri"/>
                        </a:rPr>
                        <a:t>What it gates</a:t>
                      </a:r>
                    </a:p>
                  </a:txBody>
                  <a:tcPr marL="54864" marR="54864" marT="27432" marB="27432" anchor="ctr">
                    <a:solidFill>
                      <a:srgbClr val="8C1515"/>
                    </a:solidFill>
                  </a:tcPr>
                </a:tc>
              </a:tr>
              <a:tr h="365760">
                <a:tc>
                  <a:txBody>
                    <a:bodyPr wrap="square"/>
                    <a:lstStyle/>
                    <a:p>
                      <a:r>
                        <a:rPr sz="1300" b="0">
                          <a:solidFill>
                            <a:srgbClr val="2E2D29"/>
                          </a:solidFill>
                          <a:latin typeface="Calibri"/>
                        </a:rPr>
                        <a:t>Freeze the pre-op protocol (v1): all five run identically</a:t>
                      </a:r>
                    </a:p>
                  </a:txBody>
                  <a:tcPr marL="54864" marR="54864" marT="27432" marB="27432" anchor="ctr">
                    <a:solidFill>
                      <a:srgbClr val="FFFFFF"/>
                    </a:solidFill>
                  </a:tcPr>
                </a:tc>
                <a:tc>
                  <a:txBody>
                    <a:bodyPr wrap="square"/>
                    <a:lstStyle/>
                    <a:p>
                      <a:r>
                        <a:rPr sz="1300" b="1">
                          <a:solidFill>
                            <a:srgbClr val="279989"/>
                          </a:solidFill>
                          <a:latin typeface="Calibri"/>
                        </a:rPr>
                        <a:t>Done (25 Oct)</a:t>
                      </a:r>
                    </a:p>
                  </a:txBody>
                  <a:tcPr marL="54864" marR="54864" marT="27432" marB="27432" anchor="ctr">
                    <a:solidFill>
                      <a:srgbClr val="DCEFEC"/>
                    </a:solidFill>
                  </a:tcPr>
                </a:tc>
                <a:tc>
                  <a:txBody>
                    <a:bodyPr wrap="square"/>
                    <a:lstStyle/>
                    <a:p>
                      <a:r>
                        <a:rPr sz="1300" b="0">
                          <a:solidFill>
                            <a:srgbClr val="6B6965"/>
                          </a:solidFill>
                          <a:latin typeface="Calibri"/>
                        </a:rPr>
                        <a:t>Stages 3 to 7</a:t>
                      </a:r>
                    </a:p>
                  </a:txBody>
                  <a:tcPr marL="54864" marR="54864" marT="27432" marB="27432" anchor="ctr">
                    <a:solidFill>
                      <a:srgbClr val="FFFFFF"/>
                    </a:solidFill>
                  </a:tcPr>
                </a:tc>
              </a:tr>
              <a:tr h="365760">
                <a:tc>
                  <a:txBody>
                    <a:bodyPr wrap="square"/>
                    <a:lstStyle/>
                    <a:p>
                      <a:r>
                        <a:rPr sz="1300" b="0">
                          <a:solidFill>
                            <a:srgbClr val="2E2D29"/>
                          </a:solidFill>
                          <a:latin typeface="Calibri"/>
                        </a:rPr>
                        <a:t>Archive v1 run directories off Sherlock scratch (purged)</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Every reported pre-op number</a:t>
                      </a:r>
                    </a:p>
                  </a:txBody>
                  <a:tcPr marL="54864" marR="54864" marT="27432" marB="27432" anchor="ctr">
                    <a:solidFill>
                      <a:srgbClr val="FFFFFF"/>
                    </a:solidFill>
                  </a:tcPr>
                </a:tc>
              </a:tr>
              <a:tr h="365760">
                <a:tc>
                  <a:txBody>
                    <a:bodyPr wrap="square"/>
                    <a:lstStyle/>
                    <a:p>
                      <a:r>
                        <a:rPr sz="1300" b="0">
                          <a:solidFill>
                            <a:srgbClr val="2E2D29"/>
                          </a:solidFill>
                          <a:latin typeface="Calibri"/>
                        </a:rPr>
                        <a:t>Matched 0D refit for the corrected wall (all five)</a:t>
                      </a:r>
                    </a:p>
                  </a:txBody>
                  <a:tcPr marL="54864" marR="54864" marT="27432" marB="27432" anchor="ctr">
                    <a:solidFill>
                      <a:srgbClr val="FFFFFF"/>
                    </a:solidFill>
                  </a:tcPr>
                </a:tc>
                <a:tc>
                  <a:txBody>
                    <a:bodyPr wrap="square"/>
                    <a:lstStyle/>
                    <a:p>
                      <a:r>
                        <a:rPr sz="1300" b="1">
                          <a:solidFill>
                            <a:srgbClr val="279989"/>
                          </a:solidFill>
                          <a:latin typeface="Calibri"/>
                        </a:rPr>
                        <a:t>Done (26 Oct)</a:t>
                      </a:r>
                    </a:p>
                  </a:txBody>
                  <a:tcPr marL="54864" marR="54864" marT="27432" marB="27432" anchor="ctr">
                    <a:solidFill>
                      <a:srgbClr val="DCEFEC"/>
                    </a:solidFill>
                  </a:tcPr>
                </a:tc>
                <a:tc>
                  <a:txBody>
                    <a:bodyPr wrap="square"/>
                    <a:lstStyle/>
                    <a:p>
                      <a:r>
                        <a:rPr sz="1300" b="0">
                          <a:solidFill>
                            <a:srgbClr val="6B6965"/>
                          </a:solidFill>
                          <a:latin typeface="Calibri"/>
                        </a:rPr>
                        <a:t>Post-op and adaptation 0D models</a:t>
                      </a:r>
                    </a:p>
                  </a:txBody>
                  <a:tcPr marL="54864" marR="54864" marT="27432" marB="27432" anchor="ctr">
                    <a:solidFill>
                      <a:srgbClr val="FFFFFF"/>
                    </a:solidFill>
                  </a:tcPr>
                </a:tc>
              </a:tr>
              <a:tr h="365760">
                <a:tc>
                  <a:txBody>
                    <a:bodyPr wrap="square"/>
                    <a:lstStyle/>
                    <a:p>
                      <a:r>
                        <a:rPr sz="1300" b="0">
                          <a:solidFill>
                            <a:srgbClr val="2E2D29"/>
                          </a:solidFill>
                          <a:latin typeface="Calibri"/>
                        </a:rPr>
                        <a:t>Resistance-side misses: TST-STAN-2 split, -1 and -3 mean</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Limitations in the paper</a:t>
                      </a:r>
                    </a:p>
                  </a:txBody>
                  <a:tcPr marL="54864" marR="54864" marT="27432" marB="27432" anchor="ctr">
                    <a:solidFill>
                      <a:srgbClr val="FFFFFF"/>
                    </a:solidFill>
                  </a:tcPr>
                </a:tc>
              </a:tr>
              <a:tr h="365760">
                <a:tc>
                  <a:txBody>
                    <a:bodyPr wrap="square"/>
                    <a:lstStyle/>
                    <a:p>
                      <a:r>
                        <a:rPr sz="1300" b="0">
                          <a:solidFill>
                            <a:srgbClr val="2E2D29"/>
                          </a:solidFill>
                          <a:latin typeface="Calibri"/>
                        </a:rPr>
                        <a:t>α = 0.55 over-corrects softer walls (measured 0.52 to 0.84)</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E law in a v2</a:t>
                      </a:r>
                    </a:p>
                  </a:txBody>
                  <a:tcPr marL="54864" marR="54864" marT="27432" marB="27432" anchor="ctr">
                    <a:solidFill>
                      <a:srgbClr val="FFFFFF"/>
                    </a:solidFill>
                  </a:tcPr>
                </a:tc>
              </a:tr>
              <a:tr h="365760">
                <a:tc>
                  <a:txBody>
                    <a:bodyPr wrap="square"/>
                    <a:lstStyle/>
                    <a:p>
                      <a:r>
                        <a:rPr sz="1300" b="0">
                          <a:solidFill>
                            <a:srgbClr val="2E2D29"/>
                          </a:solidFill>
                          <a:latin typeface="Calibri"/>
                        </a:rPr>
                        <a:t>Check parameters at bounds in the final tuning diagnostics</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Tied model for the cohort</a:t>
                      </a:r>
                    </a:p>
                  </a:txBody>
                  <a:tcPr marL="54864" marR="54864" marT="27432" marB="27432" anchor="ctr">
                    <a:solidFill>
                      <a:srgbClr val="FFFFFF"/>
                    </a:solidFill>
                  </a:tcPr>
                </a:tc>
              </a:tr>
              <a:tr h="365760">
                <a:tc>
                  <a:txBody>
                    <a:bodyPr wrap="square"/>
                    <a:lstStyle/>
                    <a:p>
                      <a:r>
                        <a:rPr sz="1300" b="0">
                          <a:solidFill>
                            <a:srgbClr val="2E2D29"/>
                          </a:solidFill>
                          <a:latin typeface="Calibri"/>
                        </a:rPr>
                        <a:t>Commit the svzt-agent wall-correction workflow</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Reproducible v2 runs</a:t>
                      </a:r>
                    </a:p>
                  </a:txBody>
                  <a:tcPr marL="54864" marR="54864" marT="27432" marB="27432" anchor="ctr">
                    <a:solidFill>
                      <a:srgbClr val="FFFFFF"/>
                    </a:solidFill>
                  </a:tcPr>
                </a:tc>
              </a:tr>
            </a:tbl>
          </a:graphicData>
        </a:graphic>
      </p:graphicFrame>
      <p:sp>
        <p:nvSpPr>
          <p:cNvPr id="13" name="S2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Pre-op tuning is done; what is left is archiving, a code commit and limitations to report.</a:t>
            </a:r>
          </a:p>
        </p:txBody>
      </p:sp>
      <p:sp>
        <p:nvSpPr>
          <p:cNvPr id="14" name="S2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 docs/preop_protocol_v1/README.md (frozen 25 Oct 2026) (Known limitations, Runs); svzt-agent docs/TUNING_MODEL.md §10.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ext Placeholder 1"/>
          <p:cNvSpPr>
            <a:spLocks noGrp="1"/>
          </p:cNvSpPr>
          <p:nvPr>
            <p:ph type="body" idx="1"/>
          </p:nvPr>
        </p:nvSpPr>
        <p:spPr>
          <a:xfrm>
            <a:off x="1362456" y="2971800"/>
            <a:ext cx="6400800" cy="658368"/>
          </a:xfrm>
        </p:spPr>
        <p:txBody>
          <a:bodyPr wrap="square" lIns="0" rIns="0"/>
          <a:lstStyle/>
          <a:p>
            <a:r>
              <a:rPr sz="1300">
                <a:solidFill>
                  <a:srgbClr val="FFFFFF"/>
                </a:solidFill>
                <a:latin typeface="Calibri"/>
              </a:rPr>
              <a:t>Deformable-wall 3D CFD with the tuned structured-tree impedance boundary conditions.</a:t>
            </a:r>
          </a:p>
        </p:txBody>
      </p:sp>
      <p:sp>
        <p:nvSpPr>
          <p:cNvPr id="4" name="Title 2"/>
          <p:cNvSpPr>
            <a:spLocks noGrp="1"/>
          </p:cNvSpPr>
          <p:nvPr>
            <p:ph type="ctrTitle"/>
          </p:nvPr>
        </p:nvSpPr>
        <p:spPr>
          <a:xfrm>
            <a:off x="1362456" y="1874519"/>
            <a:ext cx="7479792" cy="1005840"/>
          </a:xfrm>
        </p:spPr>
        <p:txBody>
          <a:bodyPr lIns="0" rIns="0" anchor="b"/>
          <a:lstStyle/>
          <a:p>
            <a:r>
              <a:rPr sz="3200">
                <a:solidFill>
                  <a:srgbClr val="FFFFFF"/>
                </a:solidFill>
                <a:latin typeface="Georgia"/>
              </a:rPr>
              <a:t>Pre-operative Simulation</a:t>
            </a:r>
          </a:p>
        </p:txBody>
      </p:sp>
      <p:sp>
        <p:nvSpPr>
          <p:cNvPr id="5" name="S27_text_STAGE_3_OF"/>
          <p:cNvSpPr txBox="1"/>
          <p:nvPr/>
        </p:nvSpPr>
        <p:spPr>
          <a:xfrm>
            <a:off x="1362456" y="1517904"/>
            <a:ext cx="7479792" cy="256032"/>
          </a:xfrm>
          <a:prstGeom prst="rect">
            <a:avLst/>
          </a:prstGeom>
          <a:noFill/>
        </p:spPr>
        <p:txBody>
          <a:bodyPr wrap="square" lIns="27432" tIns="0" rIns="27432" bIns="0" anchor="t">
            <a:spAutoFit/>
          </a:bodyPr>
          <a:lstStyle/>
          <a:p>
            <a:pPr algn="l"/>
            <a:r>
              <a:rPr sz="1100" b="1" i="0">
                <a:solidFill>
                  <a:srgbClr val="FFFFFF"/>
                </a:solidFill>
                <a:latin typeface="Calibri"/>
              </a:rPr>
              <a:t>STAGE 3 OF 7</a:t>
            </a:r>
          </a:p>
        </p:txBody>
      </p:sp>
      <p:sp>
        <p:nvSpPr>
          <p:cNvPr id="6" name="Ribbon_seg1"/>
          <p:cNvSpPr/>
          <p:nvPr/>
        </p:nvSpPr>
        <p:spPr>
          <a:xfrm>
            <a:off x="13624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1</a:t>
            </a:r>
          </a:p>
          <a:p>
            <a:pPr algn="ctr"/>
            <a:r>
              <a:rPr sz="1100" b="0">
                <a:solidFill>
                  <a:srgbClr val="FFFFFF"/>
                </a:solidFill>
                <a:latin typeface="Calibri"/>
              </a:rPr>
              <a:t>Inputs</a:t>
            </a:r>
          </a:p>
        </p:txBody>
      </p:sp>
      <p:sp>
        <p:nvSpPr>
          <p:cNvPr id="7" name="Ribbon_seg2"/>
          <p:cNvSpPr/>
          <p:nvPr/>
        </p:nvSpPr>
        <p:spPr>
          <a:xfrm>
            <a:off x="22873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2</a:t>
            </a:r>
          </a:p>
          <a:p>
            <a:pPr algn="ctr"/>
            <a:r>
              <a:rPr sz="1100" b="0">
                <a:solidFill>
                  <a:srgbClr val="FFFFFF"/>
                </a:solidFill>
                <a:latin typeface="Calibri"/>
              </a:rPr>
              <a:t>BC Tuning</a:t>
            </a:r>
          </a:p>
        </p:txBody>
      </p:sp>
      <p:sp>
        <p:nvSpPr>
          <p:cNvPr id="8" name="Ribbon_seg3"/>
          <p:cNvSpPr/>
          <p:nvPr/>
        </p:nvSpPr>
        <p:spPr>
          <a:xfrm>
            <a:off x="3212156" y="4041648"/>
            <a:ext cx="869986"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1">
                <a:solidFill>
                  <a:srgbClr val="007C92"/>
                </a:solidFill>
                <a:latin typeface="Calibri"/>
              </a:rPr>
              <a:t>3</a:t>
            </a:r>
          </a:p>
          <a:p>
            <a:pPr algn="ctr"/>
            <a:r>
              <a:rPr sz="1100" b="1">
                <a:solidFill>
                  <a:srgbClr val="007C92"/>
                </a:solidFill>
                <a:latin typeface="Calibri"/>
              </a:rPr>
              <a:t>Pre-op Sim</a:t>
            </a:r>
          </a:p>
        </p:txBody>
      </p:sp>
      <p:sp>
        <p:nvSpPr>
          <p:cNvPr id="9" name="Ribbon_seg4"/>
          <p:cNvSpPr/>
          <p:nvPr/>
        </p:nvSpPr>
        <p:spPr>
          <a:xfrm>
            <a:off x="41370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4</a:t>
            </a:r>
          </a:p>
          <a:p>
            <a:pPr algn="ctr"/>
            <a:r>
              <a:rPr sz="1100" b="0">
                <a:solidFill>
                  <a:srgbClr val="FFFFFF"/>
                </a:solidFill>
                <a:latin typeface="Calibri"/>
              </a:rPr>
              <a:t>Post-op Sim</a:t>
            </a:r>
          </a:p>
        </p:txBody>
      </p:sp>
      <p:sp>
        <p:nvSpPr>
          <p:cNvPr id="10" name="Ribbon_seg5"/>
          <p:cNvSpPr/>
          <p:nvPr/>
        </p:nvSpPr>
        <p:spPr>
          <a:xfrm>
            <a:off x="50618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5</a:t>
            </a:r>
          </a:p>
          <a:p>
            <a:pPr algn="ctr"/>
            <a:r>
              <a:rPr sz="1100" b="0">
                <a:solidFill>
                  <a:srgbClr val="FFFFFF"/>
                </a:solidFill>
                <a:latin typeface="Calibri"/>
              </a:rPr>
              <a:t>Adaptation</a:t>
            </a:r>
          </a:p>
        </p:txBody>
      </p:sp>
      <p:sp>
        <p:nvSpPr>
          <p:cNvPr id="11" name="Ribbon_seg6"/>
          <p:cNvSpPr/>
          <p:nvPr/>
        </p:nvSpPr>
        <p:spPr>
          <a:xfrm>
            <a:off x="598670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6</a:t>
            </a:r>
          </a:p>
          <a:p>
            <a:pPr algn="ctr"/>
            <a:r>
              <a:rPr sz="1100" b="0">
                <a:solidFill>
                  <a:srgbClr val="FFFFFF"/>
                </a:solidFill>
                <a:latin typeface="Calibri"/>
              </a:rPr>
              <a:t>Adapted Sim</a:t>
            </a:r>
          </a:p>
        </p:txBody>
      </p:sp>
      <p:sp>
        <p:nvSpPr>
          <p:cNvPr id="12" name="Ribbon_seg7"/>
          <p:cNvSpPr/>
          <p:nvPr/>
        </p:nvSpPr>
        <p:spPr>
          <a:xfrm>
            <a:off x="69115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7</a:t>
            </a:r>
          </a:p>
          <a:p>
            <a:pPr algn="ctr"/>
            <a:r>
              <a:rPr sz="1100" b="0">
                <a:solidFill>
                  <a:srgbClr val="FFFFFF"/>
                </a:solidFill>
                <a:latin typeface="Calibri"/>
              </a:rPr>
              <a:t>Metrics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Pre-op 3D is the baseline for every later stage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3_motivation_tuned_box"/>
          <p:cNvSpPr/>
          <p:nvPr/>
        </p:nvSpPr>
        <p:spPr>
          <a:xfrm>
            <a:off x="320040" y="2148840"/>
            <a:ext cx="1600200" cy="8686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6B6965"/>
                </a:solidFill>
                <a:latin typeface="Calibri"/>
              </a:rPr>
              <a:t>Tuned BCs</a:t>
            </a:r>
          </a:p>
          <a:p>
            <a:pPr algn="ctr"/>
            <a:r>
              <a:rPr sz="1100" b="0" i="0">
                <a:solidFill>
                  <a:srgbClr val="6B6965"/>
                </a:solidFill>
                <a:latin typeface="Calibri"/>
              </a:rPr>
              <a:t>Stage 2</a:t>
            </a:r>
          </a:p>
        </p:txBody>
      </p:sp>
      <p:sp>
        <p:nvSpPr>
          <p:cNvPr id="13" name="S3_motivation_preop_box"/>
          <p:cNvSpPr/>
          <p:nvPr/>
        </p:nvSpPr>
        <p:spPr>
          <a:xfrm>
            <a:off x="2331720" y="2011680"/>
            <a:ext cx="2011680" cy="114300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600" b="1" i="0">
                <a:solidFill>
                  <a:srgbClr val="FFFFFF"/>
                </a:solidFill>
                <a:latin typeface="Calibri"/>
              </a:rPr>
              <a:t>Pre-op 3D run</a:t>
            </a:r>
          </a:p>
          <a:p>
            <a:pPr algn="ctr"/>
            <a:r>
              <a:rPr sz="1200" b="0" i="0">
                <a:solidFill>
                  <a:srgbClr val="FFFFFF"/>
                </a:solidFill>
                <a:latin typeface="Calibri"/>
              </a:rPr>
              <a:t>deformable wall (CMM)</a:t>
            </a:r>
          </a:p>
        </p:txBody>
      </p:sp>
      <p:sp>
        <p:nvSpPr>
          <p:cNvPr id="14" name="S3_motivation_cath_box"/>
          <p:cNvSpPr/>
          <p:nvPr/>
        </p:nvSpPr>
        <p:spPr>
          <a:xfrm>
            <a:off x="2331720" y="3703320"/>
            <a:ext cx="2011680" cy="777240"/>
          </a:xfrm>
          <a:prstGeom prst="rect">
            <a:avLst/>
          </a:prstGeom>
          <a:solidFill>
            <a:srgbClr val="007C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Catheter + perfusion</a:t>
            </a:r>
          </a:p>
          <a:p>
            <a:pPr algn="ctr"/>
            <a:r>
              <a:rPr sz="1100" b="0" i="0">
                <a:solidFill>
                  <a:srgbClr val="FFFFFF"/>
                </a:solidFill>
                <a:latin typeface="Calibri"/>
              </a:rPr>
              <a:t>pre-op targets</a:t>
            </a:r>
          </a:p>
        </p:txBody>
      </p:sp>
      <p:sp>
        <p:nvSpPr>
          <p:cNvPr id="15" name="S3_motivation_postop_box"/>
          <p:cNvSpPr/>
          <p:nvPr/>
        </p:nvSpPr>
        <p:spPr>
          <a:xfrm>
            <a:off x="4983480" y="1600200"/>
            <a:ext cx="1920240" cy="8229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2E2D29"/>
                </a:solidFill>
                <a:latin typeface="Calibri"/>
              </a:rPr>
              <a:t>Post-op 3D</a:t>
            </a:r>
          </a:p>
          <a:p>
            <a:pPr algn="ctr"/>
            <a:r>
              <a:rPr sz="1100" b="0" i="0">
                <a:solidFill>
                  <a:srgbClr val="6B6965"/>
                </a:solidFill>
                <a:latin typeface="Calibri"/>
              </a:rPr>
              <a:t>Stage 4</a:t>
            </a:r>
          </a:p>
        </p:txBody>
      </p:sp>
      <p:sp>
        <p:nvSpPr>
          <p:cNvPr id="16" name="S3_motivation_adapted_box"/>
          <p:cNvSpPr/>
          <p:nvPr/>
        </p:nvSpPr>
        <p:spPr>
          <a:xfrm>
            <a:off x="4983480" y="2743200"/>
            <a:ext cx="1920240" cy="8229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2E2D29"/>
                </a:solidFill>
                <a:latin typeface="Calibri"/>
              </a:rPr>
              <a:t>Adapted 3D</a:t>
            </a:r>
          </a:p>
          <a:p>
            <a:pPr algn="ctr"/>
            <a:r>
              <a:rPr sz="1100" b="0" i="0">
                <a:solidFill>
                  <a:srgbClr val="6B6965"/>
                </a:solidFill>
                <a:latin typeface="Calibri"/>
              </a:rPr>
              <a:t>Stage 6</a:t>
            </a:r>
          </a:p>
        </p:txBody>
      </p:sp>
      <p:cxnSp>
        <p:nvCxnSpPr>
          <p:cNvPr id="17" name="S3_motivation_arrow_tuned"/>
          <p:cNvCxnSpPr>
            <a:stCxn id="12" idx="3"/>
            <a:endCxn id="13" idx="1"/>
          </p:cNvCxnSpPr>
          <p:nvPr/>
        </p:nvCxnSpPr>
        <p:spPr>
          <a:xfrm flipV="1">
            <a:off x="1920240" y="2583180"/>
            <a:ext cx="41148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S3_motivation_arrow_post"/>
          <p:cNvCxnSpPr>
            <a:stCxn id="13" idx="3"/>
            <a:endCxn id="15" idx="1"/>
          </p:cNvCxnSpPr>
          <p:nvPr/>
        </p:nvCxnSpPr>
        <p:spPr>
          <a:xfrm flipV="1">
            <a:off x="4343400" y="2011680"/>
            <a:ext cx="640080" cy="57150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S3_motivation_arrow_adapted"/>
          <p:cNvCxnSpPr>
            <a:stCxn id="13" idx="3"/>
            <a:endCxn id="16" idx="1"/>
          </p:cNvCxnSpPr>
          <p:nvPr/>
        </p:nvCxnSpPr>
        <p:spPr>
          <a:xfrm>
            <a:off x="4343400" y="2583180"/>
            <a:ext cx="640080" cy="57150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S3_motivation_arrow_check"/>
          <p:cNvCxnSpPr>
            <a:stCxn id="14" idx="0"/>
            <a:endCxn id="13" idx="2"/>
          </p:cNvCxnSpPr>
          <p:nvPr/>
        </p:nvCxnSpPr>
        <p:spPr>
          <a:xfrm flipH="1" flipV="1">
            <a:off x="3337560" y="3154680"/>
            <a:ext cx="0" cy="548640"/>
          </a:xfrm>
          <a:prstGeom prst="line">
            <a:avLst/>
          </a:prstGeom>
          <a:ln w="19050">
            <a:solidFill>
              <a:srgbClr val="007C9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3_motivation_fixed_card"/>
          <p:cNvSpPr/>
          <p:nvPr/>
        </p:nvSpPr>
        <p:spPr>
          <a:xfrm>
            <a:off x="7132320" y="1600200"/>
            <a:ext cx="1691640" cy="19659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noAutofit/>
          </a:bodyPr>
          <a:lstStyle/>
          <a:p>
            <a:pPr algn="l"/>
            <a:r>
              <a:rPr sz="1400" b="1" i="0">
                <a:solidFill>
                  <a:srgbClr val="8C1515"/>
                </a:solidFill>
                <a:latin typeface="Calibri"/>
              </a:rPr>
              <a:t>Held fixed in all three</a:t>
            </a:r>
          </a:p>
          <a:p>
            <a:pPr algn="l">
              <a:spcBef>
                <a:spcPts val="400"/>
              </a:spcBef>
            </a:pPr>
            <a:r>
              <a:rPr sz="1300" b="0" i="0">
                <a:solidFill>
                  <a:srgbClr val="2E2D29"/>
                </a:solidFill>
                <a:latin typeface="Calibri"/>
              </a:rPr>
              <a:t>wall E, damping, 0D model, coupler, outlet mapping</a:t>
            </a:r>
          </a:p>
        </p:txBody>
      </p:sp>
      <p:sp>
        <p:nvSpPr>
          <p:cNvPr id="22" name="S3_motivation_why_text"/>
          <p:cNvSpPr txBox="1"/>
          <p:nvPr/>
        </p:nvSpPr>
        <p:spPr>
          <a:xfrm>
            <a:off x="4983480" y="3749039"/>
            <a:ext cx="3840480" cy="731520"/>
          </a:xfrm>
          <a:prstGeom prst="rect">
            <a:avLst/>
          </a:prstGeom>
          <a:noFill/>
        </p:spPr>
        <p:txBody>
          <a:bodyPr wrap="square" lIns="18288" rIns="18288" tIns="18288" bIns="18288" anchor="ctr">
            <a:noAutofit/>
          </a:bodyPr>
          <a:lstStyle/>
          <a:p>
            <a:pPr algn="l"/>
            <a:r>
              <a:rPr sz="1300" b="0" i="0">
                <a:solidFill>
                  <a:srgbClr val="2E2D29"/>
                </a:solidFill>
                <a:latin typeface="Calibri"/>
              </a:rPr>
              <a:t>The pre-op run checks the tuned BCs against the catheter in 3D, where they will actually be used.</a:t>
            </a:r>
          </a:p>
        </p:txBody>
      </p:sp>
      <p:sp>
        <p:nvSpPr>
          <p:cNvPr id="23" name="S3_motivation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If the pre-op 3D run misses the catheter, every post-op and adapted comparison inherits the miss.</a:t>
            </a:r>
          </a:p>
        </p:txBody>
      </p:sp>
      <p:sp>
        <p:nvSpPr>
          <p:cNvPr id="24" name="S3_motivation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svzt-agent docs/TUNING_MODEL.md section 8 item 1; docs/ARCHITECTURE.md (preop select, run postop, run adapt).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Does scaled damping narrow the 3D pulse pressure?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29_shape_c_10_K"/>
          <p:cNvSpPr/>
          <p:nvPr/>
        </p:nvSpPr>
        <p:spPr>
          <a:xfrm>
            <a:off x="320040" y="1316736"/>
            <a:ext cx="8503920" cy="5486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400" b="1" i="0">
                <a:solidFill>
                  <a:srgbClr val="8C1515"/>
                </a:solidFill>
                <a:latin typeface="Calibri"/>
              </a:rPr>
              <a:t>c = 10⁴ · √( K / K_STAN-3 ),     K = E h / (0.75 r²)</a:t>
            </a:r>
          </a:p>
          <a:p>
            <a:pPr algn="ctr"/>
            <a:r>
              <a:rPr sz="1100" b="0" i="0">
                <a:solidFill>
                  <a:srgbClr val="6B6965"/>
                </a:solidFill>
                <a:latin typeface="Calibri"/>
              </a:rPr>
              <a:t>K from each patient's iteration-1 tuned wall; keeps TST-STAN-3's stable damping ratio</a:t>
            </a:r>
          </a:p>
        </p:txBody>
      </p:sp>
      <p:sp>
        <p:nvSpPr>
          <p:cNvPr id="13" name="S29_text_Wall_time_constant"/>
          <p:cNvSpPr txBox="1"/>
          <p:nvPr/>
        </p:nvSpPr>
        <p:spPr>
          <a:xfrm>
            <a:off x="320040" y="1975104"/>
            <a:ext cx="4114800" cy="219456"/>
          </a:xfrm>
          <a:prstGeom prst="rect">
            <a:avLst/>
          </a:prstGeom>
          <a:noFill/>
        </p:spPr>
        <p:txBody>
          <a:bodyPr wrap="square" lIns="0" rIns="0" tIns="0" bIns="0" anchor="t">
            <a:spAutoFit/>
          </a:bodyPr>
          <a:lstStyle/>
          <a:p>
            <a:pPr algn="l"/>
            <a:r>
              <a:rPr sz="1100" b="1" i="0">
                <a:solidFill>
                  <a:srgbClr val="8C1515"/>
                </a:solidFill>
                <a:latin typeface="Calibri"/>
              </a:rPr>
              <a:t>Wall time constant τ = c / K at c = 10⁴ (ms)</a:t>
            </a:r>
          </a:p>
        </p:txBody>
      </p:sp>
      <p:graphicFrame>
        <p:nvGraphicFramePr>
          <p:cNvPr id="14" name="S29_chart"/>
          <p:cNvGraphicFramePr>
            <a:graphicFrameLocks noGrp="1"/>
          </p:cNvGraphicFramePr>
          <p:nvPr/>
        </p:nvGraphicFramePr>
        <p:xfrm>
          <a:off x="320040" y="2194560"/>
          <a:ext cx="4114800" cy="1828800"/>
        </p:xfrm>
        <a:graphic>
          <a:graphicData uri="http://schemas.openxmlformats.org/drawingml/2006/chart">
            <c:chart xmlns:c="http://schemas.openxmlformats.org/drawingml/2006/chart" r:id="rId2"/>
          </a:graphicData>
        </a:graphic>
      </p:graphicFrame>
      <p:sp>
        <p:nvSpPr>
          <p:cNvPr id="15" name="S29_shape_Too_much_damping"/>
          <p:cNvSpPr/>
          <p:nvPr/>
        </p:nvSpPr>
        <p:spPr>
          <a:xfrm>
            <a:off x="320040" y="4059936"/>
            <a:ext cx="4114800" cy="53035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1" i="0">
                <a:solidFill>
                  <a:srgbClr val="8C1515"/>
                </a:solidFill>
                <a:latin typeface="Calibri"/>
              </a:rPr>
              <a:t>Too much damping on soft PA walls  </a:t>
            </a:r>
            <a:r>
              <a:rPr sz="1100" b="0" i="0">
                <a:solidFill>
                  <a:srgbClr val="2E2D29"/>
                </a:solidFill>
                <a:latin typeface="Calibri"/>
              </a:rPr>
              <a:t>removed 20–55% of the wall's dynamic compliance at the first three harmonics, so the 3D pulse pressure came out too wide</a:t>
            </a:r>
          </a:p>
        </p:txBody>
      </p:sp>
      <p:sp>
        <p:nvSpPr>
          <p:cNvPr id="16" name="S29_text_TST_STAN_5"/>
          <p:cNvSpPr txBox="1"/>
          <p:nvPr/>
        </p:nvSpPr>
        <p:spPr>
          <a:xfrm>
            <a:off x="4663440" y="1975104"/>
            <a:ext cx="4160520" cy="219456"/>
          </a:xfrm>
          <a:prstGeom prst="rect">
            <a:avLst/>
          </a:prstGeom>
          <a:noFill/>
        </p:spPr>
        <p:txBody>
          <a:bodyPr wrap="square" lIns="0" rIns="0" tIns="0" bIns="0" anchor="t">
            <a:spAutoFit/>
          </a:bodyPr>
          <a:lstStyle/>
          <a:p>
            <a:pPr algn="l"/>
            <a:r>
              <a:rPr sz="1100" b="1" i="0">
                <a:solidFill>
                  <a:srgbClr val="8C1515"/>
                </a:solidFill>
                <a:latin typeface="Calibri"/>
              </a:rPr>
              <a:t>TST-STAN-5 3D test, iteration-1 BCs (mmHg)</a:t>
            </a:r>
          </a:p>
        </p:txBody>
      </p:sp>
      <p:graphicFrame>
        <p:nvGraphicFramePr>
          <p:cNvPr id="17" name="S29_chart_2"/>
          <p:cNvGraphicFramePr>
            <a:graphicFrameLocks noGrp="1"/>
          </p:cNvGraphicFramePr>
          <p:nvPr/>
        </p:nvGraphicFramePr>
        <p:xfrm>
          <a:off x="4663440" y="2194560"/>
          <a:ext cx="4160520" cy="1828800"/>
        </p:xfrm>
        <a:graphic>
          <a:graphicData uri="http://schemas.openxmlformats.org/drawingml/2006/chart">
            <c:chart xmlns:c="http://schemas.openxmlformats.org/drawingml/2006/chart" r:id="rId3"/>
          </a:graphicData>
        </a:graphic>
      </p:graphicFrame>
      <p:sp>
        <p:nvSpPr>
          <p:cNvPr id="18" name="S29_shape"/>
          <p:cNvSpPr/>
          <p:nvPr/>
        </p:nvSpPr>
        <p:spPr>
          <a:xfrm>
            <a:off x="4663440" y="4059936"/>
            <a:ext cx="2057400" cy="53035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9" name="S29_text_0_895"/>
          <p:cNvSpPr txBox="1"/>
          <p:nvPr/>
        </p:nvSpPr>
        <p:spPr>
          <a:xfrm>
            <a:off x="4736592" y="4078224"/>
            <a:ext cx="777240" cy="493776"/>
          </a:xfrm>
          <a:prstGeom prst="rect">
            <a:avLst/>
          </a:prstGeom>
          <a:noFill/>
        </p:spPr>
        <p:txBody>
          <a:bodyPr wrap="square" lIns="0" rIns="0" tIns="0" bIns="0" anchor="ctr">
            <a:spAutoFit/>
          </a:bodyPr>
          <a:lstStyle/>
          <a:p>
            <a:pPr algn="l"/>
            <a:r>
              <a:rPr sz="1400" b="1" i="0">
                <a:solidFill>
                  <a:srgbClr val="E98300"/>
                </a:solidFill>
                <a:latin typeface="Calibri"/>
              </a:rPr>
              <a:t>0.895</a:t>
            </a:r>
          </a:p>
        </p:txBody>
      </p:sp>
      <p:sp>
        <p:nvSpPr>
          <p:cNvPr id="20" name="S29_text_RPA_split_target"/>
          <p:cNvSpPr txBox="1"/>
          <p:nvPr/>
        </p:nvSpPr>
        <p:spPr>
          <a:xfrm>
            <a:off x="5532120" y="4078224"/>
            <a:ext cx="1143000" cy="493776"/>
          </a:xfrm>
          <a:prstGeom prst="rect">
            <a:avLst/>
          </a:prstGeom>
          <a:noFill/>
        </p:spPr>
        <p:txBody>
          <a:bodyPr wrap="square" lIns="0" rIns="0" tIns="0" bIns="0" anchor="ctr">
            <a:spAutoFit/>
          </a:bodyPr>
          <a:lstStyle/>
          <a:p>
            <a:pPr algn="l"/>
            <a:r>
              <a:rPr sz="1100" b="0" i="0">
                <a:solidFill>
                  <a:srgbClr val="2E2D29"/>
                </a:solidFill>
                <a:latin typeface="Calibri"/>
              </a:rPr>
              <a:t>RPA split (target 0.87)</a:t>
            </a:r>
          </a:p>
        </p:txBody>
      </p:sp>
      <p:sp>
        <p:nvSpPr>
          <p:cNvPr id="21" name="S29_shape_2"/>
          <p:cNvSpPr/>
          <p:nvPr/>
        </p:nvSpPr>
        <p:spPr>
          <a:xfrm>
            <a:off x="6766559" y="4059936"/>
            <a:ext cx="2057400" cy="53035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2" name="S29_text_2"/>
          <p:cNvSpPr txBox="1"/>
          <p:nvPr/>
        </p:nvSpPr>
        <p:spPr>
          <a:xfrm>
            <a:off x="6839712" y="4078224"/>
            <a:ext cx="777240" cy="493776"/>
          </a:xfrm>
          <a:prstGeom prst="rect">
            <a:avLst/>
          </a:prstGeom>
          <a:noFill/>
        </p:spPr>
        <p:txBody>
          <a:bodyPr wrap="square" lIns="0" rIns="0" tIns="0" bIns="0" anchor="ctr">
            <a:spAutoFit/>
          </a:bodyPr>
          <a:lstStyle/>
          <a:p>
            <a:pPr algn="l"/>
            <a:r>
              <a:rPr sz="1400" b="1" i="0">
                <a:solidFill>
                  <a:srgbClr val="E98300"/>
                </a:solidFill>
                <a:latin typeface="Calibri"/>
              </a:rPr>
              <a:t>≈ 2×</a:t>
            </a:r>
          </a:p>
        </p:txBody>
      </p:sp>
      <p:sp>
        <p:nvSpPr>
          <p:cNvPr id="23" name="S29_text_effective_wall_compliance"/>
          <p:cNvSpPr txBox="1"/>
          <p:nvPr/>
        </p:nvSpPr>
        <p:spPr>
          <a:xfrm>
            <a:off x="7635240" y="4078224"/>
            <a:ext cx="1143000" cy="493776"/>
          </a:xfrm>
          <a:prstGeom prst="rect">
            <a:avLst/>
          </a:prstGeom>
          <a:noFill/>
        </p:spPr>
        <p:txBody>
          <a:bodyPr wrap="square" lIns="0" rIns="0" tIns="0" bIns="0" anchor="ctr">
            <a:spAutoFit/>
          </a:bodyPr>
          <a:lstStyle/>
          <a:p>
            <a:pPr algn="l"/>
            <a:r>
              <a:rPr sz="1100" b="0" i="0">
                <a:solidFill>
                  <a:srgbClr val="2E2D29"/>
                </a:solidFill>
                <a:latin typeface="Calibri"/>
              </a:rPr>
              <a:t>effective wall compliance; run stable</a:t>
            </a:r>
          </a:p>
        </p:txBody>
      </p:sp>
      <p:sp>
        <p:nvSpPr>
          <p:cNvPr id="24"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5" name="S29_text_Answer_partly_TST"/>
          <p:cNvSpPr txBox="1"/>
          <p:nvPr/>
        </p:nvSpPr>
        <p:spPr>
          <a:xfrm>
            <a:off x="429768" y="4700016"/>
            <a:ext cx="8284464" cy="310896"/>
          </a:xfrm>
          <a:prstGeom prst="rect">
            <a:avLst/>
          </a:prstGeom>
          <a:noFill/>
        </p:spPr>
        <p:txBody>
          <a:bodyPr wrap="square" lIns="0" rIns="0" tIns="0" bIns="0" anchor="ctr">
            <a:spAutoFit/>
          </a:bodyPr>
          <a:lstStyle/>
          <a:p>
            <a:pPr algn="l"/>
            <a:r>
              <a:rPr sz="1400" b="1" i="0">
                <a:solidFill>
                  <a:srgbClr val="8C1515"/>
                </a:solidFill>
                <a:latin typeface="Calibri"/>
              </a:rPr>
              <a:t>Answer: partly. TST-STAN-5's pulse is now within 1 mmHg; TST-STAN-1, -2 and -3 stay 8 to 22 mmHg too wide.</a:t>
            </a:r>
          </a:p>
        </p:txBody>
      </p:sp>
      <p:sp>
        <p:nvSpPr>
          <p:cNvPr id="26" name="S29_text_TST_STAN_5_2"/>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TST-STAN-5 test 20 Oct; all five rerun 21 Oct (tst-stan-*-20261021). Damping per patient in svz config/patients.yaml; Robin stiffness unchanged (1000).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Deformable-wall formulation</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30_text_All_three_simulation"/>
          <p:cNvSpPr txBox="1"/>
          <p:nvPr/>
        </p:nvSpPr>
        <p:spPr>
          <a:xfrm>
            <a:off x="320040" y="1389888"/>
            <a:ext cx="8503920" cy="219456"/>
          </a:xfrm>
          <a:prstGeom prst="rect">
            <a:avLst/>
          </a:prstGeom>
          <a:noFill/>
        </p:spPr>
        <p:txBody>
          <a:bodyPr wrap="square" lIns="27432" tIns="0" rIns="27432" bIns="0" anchor="t">
            <a:spAutoFit/>
          </a:bodyPr>
          <a:lstStyle/>
          <a:p>
            <a:pPr algn="l"/>
            <a:r>
              <a:rPr sz="1100" b="0" i="1">
                <a:solidFill>
                  <a:srgbClr val="6B6965"/>
                </a:solidFill>
                <a:latin typeface="Calibri"/>
              </a:rPr>
              <a:t>All three simulation stages: pre-operative, post-operative and adapted: use the same coupled momentum method setup.</a:t>
            </a:r>
          </a:p>
        </p:txBody>
      </p:sp>
      <p:sp>
        <p:nvSpPr>
          <p:cNvPr id="13" name="S30_text_Wall_and_solver"/>
          <p:cNvSpPr txBox="1"/>
          <p:nvPr/>
        </p:nvSpPr>
        <p:spPr>
          <a:xfrm>
            <a:off x="320040" y="1700784"/>
            <a:ext cx="4160520" cy="201168"/>
          </a:xfrm>
          <a:prstGeom prst="rect">
            <a:avLst/>
          </a:prstGeom>
          <a:noFill/>
        </p:spPr>
        <p:txBody>
          <a:bodyPr wrap="square" lIns="27432" tIns="0" rIns="27432" bIns="0" anchor="t">
            <a:spAutoFit/>
          </a:bodyPr>
          <a:lstStyle/>
          <a:p>
            <a:pPr algn="l"/>
            <a:r>
              <a:rPr sz="1400" b="1" i="0">
                <a:solidFill>
                  <a:srgbClr val="8C1515"/>
                </a:solidFill>
                <a:latin typeface="Calibri"/>
              </a:rPr>
              <a:t>Wall and solver settings</a:t>
            </a:r>
          </a:p>
        </p:txBody>
      </p:sp>
      <p:sp>
        <p:nvSpPr>
          <p:cNvPr id="14" name="S30_shape"/>
          <p:cNvSpPr/>
          <p:nvPr/>
        </p:nvSpPr>
        <p:spPr>
          <a:xfrm>
            <a:off x="4663440" y="1700784"/>
            <a:ext cx="4160520" cy="157276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30_text_Why_a_uniform"/>
          <p:cNvSpPr txBox="1"/>
          <p:nvPr/>
        </p:nvSpPr>
        <p:spPr>
          <a:xfrm>
            <a:off x="4791455" y="1801368"/>
            <a:ext cx="3904487" cy="219456"/>
          </a:xfrm>
          <a:prstGeom prst="rect">
            <a:avLst/>
          </a:prstGeom>
          <a:noFill/>
        </p:spPr>
        <p:txBody>
          <a:bodyPr wrap="square" lIns="27432" tIns="0" rIns="27432" bIns="0" anchor="t">
            <a:spAutoFit/>
          </a:bodyPr>
          <a:lstStyle/>
          <a:p>
            <a:pPr algn="l"/>
            <a:r>
              <a:rPr sz="1400" b="1" i="0">
                <a:solidFill>
                  <a:srgbClr val="8C1515"/>
                </a:solidFill>
                <a:latin typeface="Calibri"/>
              </a:rPr>
              <a:t>Why a uniform modulus</a:t>
            </a:r>
          </a:p>
        </p:txBody>
      </p:sp>
      <p:sp>
        <p:nvSpPr>
          <p:cNvPr id="16" name="S30_text_Patient_specific_wall"/>
          <p:cNvSpPr txBox="1"/>
          <p:nvPr/>
        </p:nvSpPr>
        <p:spPr>
          <a:xfrm>
            <a:off x="4791455" y="2075688"/>
            <a:ext cx="3904487" cy="1161288"/>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Patient-specific wall stiffness is not measurable from the available imaging</a:t>
            </a:r>
          </a:p>
          <a:p>
            <a:pPr>
              <a:spcAft>
                <a:spcPts val="350"/>
              </a:spcAft>
            </a:pPr>
            <a:r>
              <a:rPr sz="1100">
                <a:solidFill>
                  <a:srgbClr val="8C1515"/>
                </a:solidFill>
                <a:latin typeface="Calibri"/>
              </a:rPr>
              <a:t>• E starts matched to the tuned 0D proximal compliance; the E law then corrects it from the 3D pulse</a:t>
            </a:r>
          </a:p>
          <a:p>
            <a:pPr>
              <a:spcAft>
                <a:spcPts val="350"/>
              </a:spcAft>
            </a:pPr>
            <a:r>
              <a:rPr sz="1100">
                <a:solidFill>
                  <a:srgbClr val="8C1515"/>
                </a:solidFill>
                <a:latin typeface="Calibri"/>
              </a:rPr>
              <a:t>• </a:t>
            </a:r>
            <a:r>
              <a:rPr sz="1100">
                <a:solidFill>
                  <a:srgbClr val="2E2D29"/>
                </a:solidFill>
                <a:latin typeface="Calibri"/>
              </a:rPr>
              <a:t>Robin support supplies tethering without requiring a surrounding tissue mesh</a:t>
            </a:r>
          </a:p>
        </p:txBody>
      </p:sp>
      <p:sp>
        <p:nvSpPr>
          <p:cNvPr id="17" name="S30_shape_2"/>
          <p:cNvSpPr/>
          <p:nvPr/>
        </p:nvSpPr>
        <p:spPr>
          <a:xfrm>
            <a:off x="4663440" y="3401568"/>
            <a:ext cx="4160520" cy="12984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30_text_Candidate_refinement"/>
          <p:cNvSpPr txBox="1"/>
          <p:nvPr/>
        </p:nvSpPr>
        <p:spPr>
          <a:xfrm>
            <a:off x="4791455" y="3502152"/>
            <a:ext cx="2761487" cy="219456"/>
          </a:xfrm>
          <a:prstGeom prst="rect">
            <a:avLst/>
          </a:prstGeom>
          <a:noFill/>
        </p:spPr>
        <p:txBody>
          <a:bodyPr wrap="square" lIns="27432" tIns="0" rIns="27432" bIns="0" anchor="t">
            <a:spAutoFit/>
          </a:bodyPr>
          <a:lstStyle/>
          <a:p>
            <a:pPr algn="l"/>
            <a:r>
              <a:rPr sz="1400" b="1" i="0">
                <a:solidFill>
                  <a:srgbClr val="E98300"/>
                </a:solidFill>
                <a:latin typeface="Calibri"/>
              </a:rPr>
              <a:t>Candidate refinement</a:t>
            </a:r>
          </a:p>
        </p:txBody>
      </p:sp>
      <p:sp>
        <p:nvSpPr>
          <p:cNvPr id="19" name="S30_shape_3"/>
          <p:cNvSpPr/>
          <p:nvPr/>
        </p:nvSpPr>
        <p:spPr>
          <a:xfrm>
            <a:off x="7580375" y="3511296"/>
            <a:ext cx="1097280" cy="173736"/>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30_text_PLANNED"/>
          <p:cNvSpPr txBox="1"/>
          <p:nvPr/>
        </p:nvSpPr>
        <p:spPr>
          <a:xfrm>
            <a:off x="7580375" y="3511296"/>
            <a:ext cx="1097280" cy="173736"/>
          </a:xfrm>
          <a:prstGeom prst="rect">
            <a:avLst/>
          </a:prstGeom>
          <a:noFill/>
        </p:spPr>
        <p:txBody>
          <a:bodyPr wrap="square" lIns="18288" tIns="0" rIns="18288" bIns="0" anchor="ctr">
            <a:spAutoFit/>
          </a:bodyPr>
          <a:lstStyle/>
          <a:p>
            <a:pPr algn="ctr"/>
            <a:r>
              <a:rPr sz="1100" b="1">
                <a:solidFill>
                  <a:srgbClr val="6B6965"/>
                </a:solidFill>
                <a:latin typeface="Calibri"/>
              </a:rPr>
              <a:t>PLANNED</a:t>
            </a:r>
          </a:p>
        </p:txBody>
      </p:sp>
      <p:sp>
        <p:nvSpPr>
          <p:cNvPr id="21" name="S30_text_Regionally_varying_modulus"/>
          <p:cNvSpPr txBox="1"/>
          <p:nvPr/>
        </p:nvSpPr>
        <p:spPr>
          <a:xfrm>
            <a:off x="4791455" y="3776472"/>
            <a:ext cx="3904487" cy="886968"/>
          </a:xfrm>
          <a:prstGeom prst="rect">
            <a:avLst/>
          </a:prstGeom>
          <a:noFill/>
        </p:spPr>
        <p:txBody>
          <a:bodyPr wrap="square" lIns="27432" tIns="0" rIns="27432" bIns="0">
            <a:spAutoFit/>
          </a:bodyPr>
          <a:lstStyle/>
          <a:p>
            <a:pPr>
              <a:spcAft>
                <a:spcPts val="350"/>
              </a:spcAft>
            </a:pPr>
            <a:r>
              <a:rPr sz="1100">
                <a:solidFill>
                  <a:srgbClr val="E98300"/>
                </a:solidFill>
                <a:latin typeface="Calibri"/>
              </a:rPr>
              <a:t>• </a:t>
            </a:r>
            <a:r>
              <a:rPr sz="1100">
                <a:solidFill>
                  <a:srgbClr val="2E2D29"/>
                </a:solidFill>
                <a:latin typeface="Calibri"/>
              </a:rPr>
              <a:t>Regionally varying modulus, or stiffer wall in the stented segment</a:t>
            </a:r>
          </a:p>
          <a:p>
            <a:pPr>
              <a:spcAft>
                <a:spcPts val="350"/>
              </a:spcAft>
            </a:pPr>
            <a:r>
              <a:rPr sz="1100">
                <a:solidFill>
                  <a:srgbClr val="E98300"/>
                </a:solidFill>
                <a:latin typeface="Calibri"/>
              </a:rPr>
              <a:t>• </a:t>
            </a:r>
            <a:r>
              <a:rPr sz="1100">
                <a:solidFill>
                  <a:srgbClr val="2E2D29"/>
                </a:solidFill>
                <a:latin typeface="Calibri"/>
              </a:rPr>
              <a:t>Would need a defensible source for the values</a:t>
            </a:r>
          </a:p>
        </p:txBody>
      </p:sp>
      <p:sp>
        <p:nvSpPr>
          <p:cNvPr id="22" name="S30_shape_4"/>
          <p:cNvSpPr/>
          <p:nvPr/>
        </p:nvSpPr>
        <p:spPr>
          <a:xfrm>
            <a:off x="320040" y="4828032"/>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30_text_E_and_damping"/>
          <p:cNvSpPr txBox="1"/>
          <p:nvPr/>
        </p:nvSpPr>
        <p:spPr>
          <a:xfrm>
            <a:off x="429768" y="4828032"/>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E and damping are fixed per patient across stages, so stage differences are not wall effects.</a:t>
            </a:r>
          </a:p>
        </p:txBody>
      </p:sp>
      <p:graphicFrame>
        <p:nvGraphicFramePr>
          <p:cNvPr id="24" name="S3_wall_settings_table"/>
          <p:cNvGraphicFramePr>
            <a:graphicFrameLocks noGrp="1"/>
          </p:cNvGraphicFramePr>
          <p:nvPr/>
        </p:nvGraphicFramePr>
        <p:xfrm>
          <a:off x="320040" y="1975104"/>
          <a:ext cx="4160519" cy="1773930"/>
        </p:xfrm>
        <a:graphic>
          <a:graphicData uri="http://schemas.openxmlformats.org/drawingml/2006/table">
            <a:tbl>
              <a:tblPr firstRow="0" bandRow="0">
                <a:tableStyleId>{5C22544A-7EE6-4342-B048-85BDC9FD1C3A}</a:tableStyleId>
              </a:tblPr>
              <a:tblGrid>
                <a:gridCol w="1362455"/>
                <a:gridCol w="2798064"/>
              </a:tblGrid>
              <a:tr h="292608">
                <a:tc>
                  <a:txBody>
                    <a:bodyPr wrap="square"/>
                    <a:lstStyle/>
                    <a:p>
                      <a:r>
                        <a:rPr sz="1200" b="1">
                          <a:solidFill>
                            <a:srgbClr val="2E2D29"/>
                          </a:solidFill>
                          <a:latin typeface="Calibri"/>
                        </a:rPr>
                        <a:t>Solver</a:t>
                      </a:r>
                    </a:p>
                  </a:txBody>
                  <a:tcPr marL="54864" marR="54864" marT="27432" marB="27432" anchor="ctr">
                    <a:solidFill>
                      <a:srgbClr val="F2F1F0"/>
                    </a:solidFill>
                  </a:tcPr>
                </a:tc>
                <a:tc>
                  <a:txBody>
                    <a:bodyPr wrap="square"/>
                    <a:lstStyle/>
                    <a:p>
                      <a:r>
                        <a:rPr sz="1200" b="0">
                          <a:solidFill>
                            <a:srgbClr val="6B6965"/>
                          </a:solidFill>
                          <a:latin typeface="Calibri"/>
                        </a:rPr>
                        <a:t>svMultiPhysics, CMM</a:t>
                      </a:r>
                    </a:p>
                  </a:txBody>
                  <a:tcPr marL="54864" marR="54864" marT="27432" marB="27432" anchor="ctr">
                    <a:solidFill>
                      <a:srgbClr val="F2F1F0"/>
                    </a:solidFill>
                  </a:tcPr>
                </a:tc>
              </a:tr>
              <a:tr h="246887">
                <a:tc>
                  <a:txBody>
                    <a:bodyPr wrap="square"/>
                    <a:lstStyle/>
                    <a:p>
                      <a:r>
                        <a:rPr sz="1200" b="1">
                          <a:solidFill>
                            <a:srgbClr val="2E2D29"/>
                          </a:solidFill>
                          <a:latin typeface="Calibri"/>
                        </a:rPr>
                        <a:t>Wall model</a:t>
                      </a:r>
                    </a:p>
                  </a:txBody>
                  <a:tcPr marL="54864" marR="54864" marT="27432" marB="27432" anchor="ctr">
                    <a:solidFill>
                      <a:srgbClr val="FFFFFF"/>
                    </a:solidFill>
                  </a:tcPr>
                </a:tc>
                <a:tc>
                  <a:txBody>
                    <a:bodyPr wrap="square"/>
                    <a:lstStyle/>
                    <a:p>
                      <a:r>
                        <a:rPr sz="1200" b="0">
                          <a:solidFill>
                            <a:srgbClr val="6B6965"/>
                          </a:solidFill>
                          <a:latin typeface="Calibri"/>
                        </a:rPr>
                        <a:t>Coupled momentum, linear elastic</a:t>
                      </a:r>
                    </a:p>
                  </a:txBody>
                  <a:tcPr marL="54864" marR="54864" marT="27432" marB="27432" anchor="ctr">
                    <a:solidFill>
                      <a:srgbClr val="FFFFFF"/>
                    </a:solidFill>
                  </a:tcPr>
                </a:tc>
              </a:tr>
              <a:tr h="246887">
                <a:tc>
                  <a:txBody>
                    <a:bodyPr wrap="square"/>
                    <a:lstStyle/>
                    <a:p>
                      <a:r>
                        <a:rPr sz="1200" b="1">
                          <a:solidFill>
                            <a:srgbClr val="2E2D29"/>
                          </a:solidFill>
                          <a:latin typeface="Calibri"/>
                        </a:rPr>
                        <a:t>Elastic modulus</a:t>
                      </a:r>
                    </a:p>
                  </a:txBody>
                  <a:tcPr marL="54864" marR="54864" marT="27432" marB="27432" anchor="ctr">
                    <a:solidFill>
                      <a:srgbClr val="F2F1F0"/>
                    </a:solidFill>
                  </a:tcPr>
                </a:tc>
                <a:tc>
                  <a:txBody>
                    <a:bodyPr wrap="square"/>
                    <a:lstStyle/>
                    <a:p>
                      <a:r>
                        <a:rPr sz="1200" b="0">
                          <a:solidFill>
                            <a:srgbClr val="6B6965"/>
                          </a:solidFill>
                          <a:latin typeface="Calibri"/>
                        </a:rPr>
                        <a:t>matched to 0D C, then E-law corrected: 7.9 to 153 kPa</a:t>
                      </a:r>
                    </a:p>
                  </a:txBody>
                  <a:tcPr marL="54864" marR="54864" marT="27432" marB="27432" anchor="ctr">
                    <a:solidFill>
                      <a:srgbClr val="F2F1F0"/>
                    </a:solidFill>
                  </a:tcPr>
                </a:tc>
              </a:tr>
              <a:tr h="246887">
                <a:tc>
                  <a:txBody>
                    <a:bodyPr wrap="square"/>
                    <a:lstStyle/>
                    <a:p>
                      <a:r>
                        <a:rPr sz="1200" b="1">
                          <a:solidFill>
                            <a:srgbClr val="2E2D29"/>
                          </a:solidFill>
                          <a:latin typeface="Calibri"/>
                        </a:rPr>
                        <a:t>External support</a:t>
                      </a:r>
                    </a:p>
                  </a:txBody>
                  <a:tcPr marL="54864" marR="54864" marT="27432" marB="27432" anchor="ctr">
                    <a:solidFill>
                      <a:srgbClr val="FFFFFF"/>
                    </a:solidFill>
                  </a:tcPr>
                </a:tc>
                <a:tc>
                  <a:txBody>
                    <a:bodyPr wrap="square"/>
                    <a:lstStyle/>
                    <a:p>
                      <a:r>
                        <a:rPr sz="1200" b="0">
                          <a:solidFill>
                            <a:srgbClr val="6B6965"/>
                          </a:solidFill>
                          <a:latin typeface="Calibri"/>
                        </a:rPr>
                        <a:t>Robin boundary condition</a:t>
                      </a:r>
                    </a:p>
                  </a:txBody>
                  <a:tcPr marL="54864" marR="54864" marT="27432" marB="27432" anchor="ctr">
                    <a:solidFill>
                      <a:srgbClr val="FFFFFF"/>
                    </a:solidFill>
                  </a:tcPr>
                </a:tc>
              </a:tr>
              <a:tr h="246887">
                <a:tc>
                  <a:txBody>
                    <a:bodyPr wrap="square"/>
                    <a:lstStyle/>
                    <a:p>
                      <a:r>
                        <a:rPr sz="1200" b="1">
                          <a:solidFill>
                            <a:srgbClr val="2E2D29"/>
                          </a:solidFill>
                          <a:latin typeface="Calibri"/>
                        </a:rPr>
                        <a:t>Robin stiffness</a:t>
                      </a:r>
                    </a:p>
                  </a:txBody>
                  <a:tcPr marL="54864" marR="54864" marT="27432" marB="27432" anchor="ctr">
                    <a:solidFill>
                      <a:srgbClr val="F2F1F0"/>
                    </a:solidFill>
                  </a:tcPr>
                </a:tc>
                <a:tc>
                  <a:txBody>
                    <a:bodyPr wrap="square"/>
                    <a:lstStyle/>
                    <a:p>
                      <a:r>
                        <a:rPr sz="1200" b="0">
                          <a:solidFill>
                            <a:srgbClr val="6B6965"/>
                          </a:solidFill>
                          <a:latin typeface="Calibri"/>
                        </a:rPr>
                        <a:t>1000.0</a:t>
                      </a:r>
                    </a:p>
                  </a:txBody>
                  <a:tcPr marL="54864" marR="54864" marT="27432" marB="27432" anchor="ctr">
                    <a:solidFill>
                      <a:srgbClr val="F2F1F0"/>
                    </a:solidFill>
                  </a:tcPr>
                </a:tc>
              </a:tr>
              <a:tr h="246887">
                <a:tc>
                  <a:txBody>
                    <a:bodyPr wrap="square"/>
                    <a:lstStyle/>
                    <a:p>
                      <a:r>
                        <a:rPr sz="1200" b="1">
                          <a:solidFill>
                            <a:srgbClr val="2E2D29"/>
                          </a:solidFill>
                          <a:latin typeface="Calibri"/>
                        </a:rPr>
                        <a:t>Robin damping</a:t>
                      </a:r>
                    </a:p>
                  </a:txBody>
                  <a:tcPr marL="54864" marR="54864" marT="27432" marB="27432" anchor="ctr">
                    <a:solidFill>
                      <a:srgbClr val="FFFFFF"/>
                    </a:solidFill>
                  </a:tcPr>
                </a:tc>
                <a:tc>
                  <a:txBody>
                    <a:bodyPr wrap="square"/>
                    <a:lstStyle/>
                    <a:p>
                      <a:r>
                        <a:rPr sz="1200" b="0">
                          <a:solidFill>
                            <a:srgbClr val="6B6965"/>
                          </a:solidFill>
                          <a:latin typeface="Calibri"/>
                        </a:rPr>
                        <a:t>Rule A, c₁ √(E / E₁): 3,456 to 7,695 at iteration 3</a:t>
                      </a:r>
                    </a:p>
                  </a:txBody>
                  <a:tcPr marL="54864" marR="54864" marT="27432" marB="27432" anchor="ctr">
                    <a:solidFill>
                      <a:srgbClr val="FFFFFF"/>
                    </a:solidFill>
                  </a:tcPr>
                </a:tc>
              </a:tr>
              <a:tr h="246887">
                <a:tc>
                  <a:txBody>
                    <a:bodyPr wrap="square"/>
                    <a:lstStyle/>
                    <a:p>
                      <a:r>
                        <a:rPr sz="1200" b="1">
                          <a:solidFill>
                            <a:srgbClr val="2E2D29"/>
                          </a:solidFill>
                          <a:latin typeface="Calibri"/>
                        </a:rPr>
                        <a:t>Fluid</a:t>
                      </a:r>
                    </a:p>
                  </a:txBody>
                  <a:tcPr marL="54864" marR="54864" marT="27432" marB="27432" anchor="ctr">
                    <a:solidFill>
                      <a:srgbClr val="F2F1F0"/>
                    </a:solidFill>
                  </a:tcPr>
                </a:tc>
                <a:tc>
                  <a:txBody>
                    <a:bodyPr wrap="square"/>
                    <a:lstStyle/>
                    <a:p>
                      <a:r>
                        <a:rPr sz="1200" b="0">
                          <a:solidFill>
                            <a:srgbClr val="6B6965"/>
                          </a:solidFill>
                          <a:latin typeface="Calibri"/>
                        </a:rPr>
                        <a:t>Incompressible Newtonian blood</a:t>
                      </a:r>
                    </a:p>
                  </a:txBody>
                  <a:tcPr marL="54864" marR="54864" marT="27432" marB="27432" anchor="ctr">
                    <a:solidFill>
                      <a:srgbClr val="F2F1F0"/>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Wall correction closed the 3D pulse in all five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3_result_chart_label"/>
          <p:cNvSpPr txBox="1"/>
          <p:nvPr/>
        </p:nvSpPr>
        <p:spPr>
          <a:xfrm>
            <a:off x="320040" y="1389888"/>
            <a:ext cx="5212080" cy="274320"/>
          </a:xfrm>
          <a:prstGeom prst="rect">
            <a:avLst/>
          </a:prstGeom>
          <a:noFill/>
        </p:spPr>
        <p:txBody>
          <a:bodyPr wrap="square" lIns="73152" rIns="73152" anchor="t">
            <a:noAutofit/>
          </a:bodyPr>
          <a:lstStyle/>
          <a:p>
            <a:pPr algn="l"/>
            <a:r>
              <a:rPr sz="1400" b="1" i="0">
                <a:solidFill>
                  <a:srgbClr val="2E2D29"/>
                </a:solidFill>
                <a:latin typeface="Calibri"/>
              </a:rPr>
              <a:t>3D minus catheter pulse pressure (mmHg)</a:t>
            </a:r>
          </a:p>
        </p:txBody>
      </p:sp>
      <p:graphicFrame>
        <p:nvGraphicFramePr>
          <p:cNvPr id="13" name="S3_result_pulse_chart"/>
          <p:cNvGraphicFramePr>
            <a:graphicFrameLocks noGrp="1"/>
          </p:cNvGraphicFramePr>
          <p:nvPr/>
        </p:nvGraphicFramePr>
        <p:xfrm>
          <a:off x="320040" y="1664208"/>
          <a:ext cx="5212080" cy="2971800"/>
        </p:xfrm>
        <a:graphic>
          <a:graphicData uri="http://schemas.openxmlformats.org/drawingml/2006/chart">
            <c:chart xmlns:c="http://schemas.openxmlformats.org/drawingml/2006/chart" r:id="rId2"/>
          </a:graphicData>
        </a:graphic>
      </p:graphicFrame>
      <p:graphicFrame>
        <p:nvGraphicFramePr>
          <p:cNvPr id="14" name="S3_result_now_table"/>
          <p:cNvGraphicFramePr>
            <a:graphicFrameLocks noGrp="1"/>
          </p:cNvGraphicFramePr>
          <p:nvPr/>
        </p:nvGraphicFramePr>
        <p:xfrm>
          <a:off x="5715000" y="1664208"/>
          <a:ext cx="3108960" cy="2029968"/>
        </p:xfrm>
        <a:graphic>
          <a:graphicData uri="http://schemas.openxmlformats.org/drawingml/2006/table">
            <a:tbl>
              <a:tblPr firstRow="1" bandRow="0">
                <a:tableStyleId>{5C22544A-7EE6-4342-B048-85BDC9FD1C3A}</a:tableStyleId>
              </a:tblPr>
              <a:tblGrid>
                <a:gridCol w="960120"/>
                <a:gridCol w="594360"/>
                <a:gridCol w="777240"/>
                <a:gridCol w="777240"/>
              </a:tblGrid>
              <a:tr h="338328">
                <a:tc>
                  <a:txBody>
                    <a:bodyPr wrap="square"/>
                    <a:lstStyle/>
                    <a:p>
                      <a:r>
                        <a:rPr sz="1100" b="1">
                          <a:solidFill>
                            <a:srgbClr val="FFFFFF"/>
                          </a:solidFill>
                          <a:latin typeface="Calibri"/>
                        </a:rPr>
                        <a:t>Patient</a:t>
                      </a:r>
                    </a:p>
                  </a:txBody>
                  <a:tcPr marL="54864" marR="54864" marT="27432" marB="27432" anchor="ctr">
                    <a:solidFill>
                      <a:srgbClr val="8C1515"/>
                    </a:solidFill>
                  </a:tcPr>
                </a:tc>
                <a:tc>
                  <a:txBody>
                    <a:bodyPr wrap="square"/>
                    <a:lstStyle/>
                    <a:p>
                      <a:r>
                        <a:rPr sz="1100" b="1">
                          <a:solidFill>
                            <a:srgbClr val="FFFFFF"/>
                          </a:solidFill>
                          <a:latin typeface="Calibri"/>
                        </a:rPr>
                        <a:t>E₃ (kPa)</a:t>
                      </a:r>
                    </a:p>
                  </a:txBody>
                  <a:tcPr marL="54864" marR="54864" marT="27432" marB="27432" anchor="ctr">
                    <a:solidFill>
                      <a:srgbClr val="8C1515"/>
                    </a:solidFill>
                  </a:tcPr>
                </a:tc>
                <a:tc>
                  <a:txBody>
                    <a:bodyPr wrap="square"/>
                    <a:lstStyle/>
                    <a:p>
                      <a:r>
                        <a:rPr sz="1100" b="1">
                          <a:solidFill>
                            <a:srgbClr val="FFFFFF"/>
                          </a:solidFill>
                          <a:latin typeface="Calibri"/>
                        </a:rPr>
                        <a:t>Mean</a:t>
                      </a:r>
                    </a:p>
                  </a:txBody>
                  <a:tcPr marL="54864" marR="54864" marT="27432" marB="27432" anchor="ctr">
                    <a:solidFill>
                      <a:srgbClr val="8C1515"/>
                    </a:solidFill>
                  </a:tcPr>
                </a:tc>
                <a:tc>
                  <a:txBody>
                    <a:bodyPr wrap="square"/>
                    <a:lstStyle/>
                    <a:p>
                      <a:r>
                        <a:rPr sz="1100" b="1">
                          <a:solidFill>
                            <a:srgbClr val="FFFFFF"/>
                          </a:solidFill>
                          <a:latin typeface="Calibri"/>
                        </a:rPr>
                        <a:t>RPA split</a:t>
                      </a:r>
                    </a:p>
                  </a:txBody>
                  <a:tcPr marL="54864" marR="54864" marT="27432" marB="27432" anchor="ctr">
                    <a:solidFill>
                      <a:srgbClr val="8C1515"/>
                    </a:solidFill>
                  </a:tcPr>
                </a:tc>
              </a:tr>
              <a:tr h="338328">
                <a:tc>
                  <a:txBody>
                    <a:bodyPr wrap="square"/>
                    <a:lstStyle/>
                    <a:p>
                      <a:r>
                        <a:rPr sz="1100" b="0">
                          <a:solidFill>
                            <a:srgbClr val="2E2D29"/>
                          </a:solidFill>
                          <a:latin typeface="Calibri"/>
                        </a:rPr>
                        <a:t>TST-STAN-1</a:t>
                      </a:r>
                    </a:p>
                  </a:txBody>
                  <a:tcPr marL="54864" marR="54864" marT="27432" marB="27432" anchor="ctr">
                    <a:solidFill>
                      <a:srgbClr val="FFFFFF"/>
                    </a:solidFill>
                  </a:tcPr>
                </a:tc>
                <a:tc>
                  <a:txBody>
                    <a:bodyPr wrap="square"/>
                    <a:lstStyle/>
                    <a:p>
                      <a:r>
                        <a:rPr sz="1100" b="0">
                          <a:solidFill>
                            <a:srgbClr val="2E2D29"/>
                          </a:solidFill>
                          <a:latin typeface="Calibri"/>
                        </a:rPr>
                        <a:t>7.9</a:t>
                      </a:r>
                    </a:p>
                  </a:txBody>
                  <a:tcPr marL="54864" marR="54864" marT="27432" marB="27432" anchor="ctr">
                    <a:solidFill>
                      <a:srgbClr val="FFFFFF"/>
                    </a:solidFill>
                  </a:tcPr>
                </a:tc>
                <a:tc>
                  <a:txBody>
                    <a:bodyPr wrap="square"/>
                    <a:lstStyle/>
                    <a:p>
                      <a:r>
                        <a:rPr sz="1100" b="0">
                          <a:solidFill>
                            <a:srgbClr val="2E2D29"/>
                          </a:solidFill>
                          <a:latin typeface="Calibri"/>
                        </a:rPr>
                        <a:t>20.9 / 23</a:t>
                      </a:r>
                    </a:p>
                  </a:txBody>
                  <a:tcPr marL="54864" marR="54864" marT="27432" marB="27432" anchor="ctr">
                    <a:solidFill>
                      <a:srgbClr val="FFFFFF"/>
                    </a:solidFill>
                  </a:tcPr>
                </a:tc>
                <a:tc>
                  <a:txBody>
                    <a:bodyPr wrap="square"/>
                    <a:lstStyle/>
                    <a:p>
                      <a:r>
                        <a:rPr sz="1100" b="0">
                          <a:solidFill>
                            <a:srgbClr val="2E2D29"/>
                          </a:solidFill>
                          <a:latin typeface="Calibri"/>
                        </a:rPr>
                        <a:t>0.69 / 0.71</a:t>
                      </a:r>
                    </a:p>
                  </a:txBody>
                  <a:tcPr marL="54864" marR="54864" marT="27432" marB="27432" anchor="ctr">
                    <a:solidFill>
                      <a:srgbClr val="FFFFFF"/>
                    </a:solidFill>
                  </a:tcPr>
                </a:tc>
              </a:tr>
              <a:tr h="338328">
                <a:tc>
                  <a:txBody>
                    <a:bodyPr wrap="square"/>
                    <a:lstStyle/>
                    <a:p>
                      <a:r>
                        <a:rPr sz="1100" b="0">
                          <a:solidFill>
                            <a:srgbClr val="2E2D29"/>
                          </a:solidFill>
                          <a:latin typeface="Calibri"/>
                        </a:rPr>
                        <a:t>TST-STAN-2</a:t>
                      </a:r>
                    </a:p>
                  </a:txBody>
                  <a:tcPr marL="54864" marR="54864" marT="27432" marB="27432" anchor="ctr">
                    <a:solidFill>
                      <a:srgbClr val="F2F1F0"/>
                    </a:solidFill>
                  </a:tcPr>
                </a:tc>
                <a:tc>
                  <a:txBody>
                    <a:bodyPr wrap="square"/>
                    <a:lstStyle/>
                    <a:p>
                      <a:r>
                        <a:rPr sz="1100" b="0">
                          <a:solidFill>
                            <a:srgbClr val="2E2D29"/>
                          </a:solidFill>
                          <a:latin typeface="Calibri"/>
                        </a:rPr>
                        <a:t>11.5</a:t>
                      </a:r>
                    </a:p>
                  </a:txBody>
                  <a:tcPr marL="54864" marR="54864" marT="27432" marB="27432" anchor="ctr">
                    <a:solidFill>
                      <a:srgbClr val="F2F1F0"/>
                    </a:solidFill>
                  </a:tcPr>
                </a:tc>
                <a:tc>
                  <a:txBody>
                    <a:bodyPr wrap="square"/>
                    <a:lstStyle/>
                    <a:p>
                      <a:r>
                        <a:rPr sz="1100" b="0">
                          <a:solidFill>
                            <a:srgbClr val="2E2D29"/>
                          </a:solidFill>
                          <a:latin typeface="Calibri"/>
                        </a:rPr>
                        <a:t>25.0 / 26</a:t>
                      </a:r>
                    </a:p>
                  </a:txBody>
                  <a:tcPr marL="54864" marR="54864" marT="27432" marB="27432" anchor="ctr">
                    <a:solidFill>
                      <a:srgbClr val="F2F1F0"/>
                    </a:solidFill>
                  </a:tcPr>
                </a:tc>
                <a:tc>
                  <a:txBody>
                    <a:bodyPr wrap="square"/>
                    <a:lstStyle/>
                    <a:p>
                      <a:r>
                        <a:rPr sz="1100" b="0">
                          <a:solidFill>
                            <a:srgbClr val="2E2D29"/>
                          </a:solidFill>
                          <a:latin typeface="Calibri"/>
                        </a:rPr>
                        <a:t>0.80 / 0.76</a:t>
                      </a:r>
                    </a:p>
                  </a:txBody>
                  <a:tcPr marL="54864" marR="54864" marT="27432" marB="27432" anchor="ctr">
                    <a:solidFill>
                      <a:srgbClr val="F2F1F0"/>
                    </a:solidFill>
                  </a:tcPr>
                </a:tc>
              </a:tr>
              <a:tr h="338328">
                <a:tc>
                  <a:txBody>
                    <a:bodyPr wrap="square"/>
                    <a:lstStyle/>
                    <a:p>
                      <a:r>
                        <a:rPr sz="1100" b="0">
                          <a:solidFill>
                            <a:srgbClr val="2E2D29"/>
                          </a:solidFill>
                          <a:latin typeface="Calibri"/>
                        </a:rPr>
                        <a:t>TST-STAN-3</a:t>
                      </a:r>
                    </a:p>
                  </a:txBody>
                  <a:tcPr marL="54864" marR="54864" marT="27432" marB="27432" anchor="ctr">
                    <a:solidFill>
                      <a:srgbClr val="FFFFFF"/>
                    </a:solidFill>
                  </a:tcPr>
                </a:tc>
                <a:tc>
                  <a:txBody>
                    <a:bodyPr wrap="square"/>
                    <a:lstStyle/>
                    <a:p>
                      <a:r>
                        <a:rPr sz="1100" b="0">
                          <a:solidFill>
                            <a:srgbClr val="2E2D29"/>
                          </a:solidFill>
                          <a:latin typeface="Calibri"/>
                        </a:rPr>
                        <a:t>81.1</a:t>
                      </a:r>
                    </a:p>
                  </a:txBody>
                  <a:tcPr marL="54864" marR="54864" marT="27432" marB="27432" anchor="ctr">
                    <a:solidFill>
                      <a:srgbClr val="FFFFFF"/>
                    </a:solidFill>
                  </a:tcPr>
                </a:tc>
                <a:tc>
                  <a:txBody>
                    <a:bodyPr wrap="square"/>
                    <a:lstStyle/>
                    <a:p>
                      <a:r>
                        <a:rPr sz="1100" b="0">
                          <a:solidFill>
                            <a:srgbClr val="2E2D29"/>
                          </a:solidFill>
                          <a:latin typeface="Calibri"/>
                        </a:rPr>
                        <a:t>29.7 / 32</a:t>
                      </a:r>
                    </a:p>
                  </a:txBody>
                  <a:tcPr marL="54864" marR="54864" marT="27432" marB="27432" anchor="ctr">
                    <a:solidFill>
                      <a:srgbClr val="FFFFFF"/>
                    </a:solidFill>
                  </a:tcPr>
                </a:tc>
                <a:tc>
                  <a:txBody>
                    <a:bodyPr wrap="square"/>
                    <a:lstStyle/>
                    <a:p>
                      <a:r>
                        <a:rPr sz="1100" b="0">
                          <a:solidFill>
                            <a:srgbClr val="2E2D29"/>
                          </a:solidFill>
                          <a:latin typeface="Calibri"/>
                        </a:rPr>
                        <a:t>0.45 / 0.45</a:t>
                      </a:r>
                    </a:p>
                  </a:txBody>
                  <a:tcPr marL="54864" marR="54864" marT="27432" marB="27432" anchor="ctr">
                    <a:solidFill>
                      <a:srgbClr val="FFFFFF"/>
                    </a:solidFill>
                  </a:tcPr>
                </a:tc>
              </a:tr>
              <a:tr h="338328">
                <a:tc>
                  <a:txBody>
                    <a:bodyPr wrap="square"/>
                    <a:lstStyle/>
                    <a:p>
                      <a:r>
                        <a:rPr sz="1100" b="0">
                          <a:solidFill>
                            <a:srgbClr val="2E2D29"/>
                          </a:solidFill>
                          <a:latin typeface="Calibri"/>
                        </a:rPr>
                        <a:t>TST-STAN-5</a:t>
                      </a:r>
                    </a:p>
                  </a:txBody>
                  <a:tcPr marL="54864" marR="54864" marT="27432" marB="27432" anchor="ctr">
                    <a:solidFill>
                      <a:srgbClr val="F2F1F0"/>
                    </a:solidFill>
                  </a:tcPr>
                </a:tc>
                <a:tc>
                  <a:txBody>
                    <a:bodyPr wrap="square"/>
                    <a:lstStyle/>
                    <a:p>
                      <a:r>
                        <a:rPr sz="1100" b="0">
                          <a:solidFill>
                            <a:srgbClr val="2E2D29"/>
                          </a:solidFill>
                          <a:latin typeface="Calibri"/>
                        </a:rPr>
                        <a:t>8.4</a:t>
                      </a:r>
                    </a:p>
                  </a:txBody>
                  <a:tcPr marL="54864" marR="54864" marT="27432" marB="27432" anchor="ctr">
                    <a:solidFill>
                      <a:srgbClr val="F2F1F0"/>
                    </a:solidFill>
                  </a:tcPr>
                </a:tc>
                <a:tc>
                  <a:txBody>
                    <a:bodyPr wrap="square"/>
                    <a:lstStyle/>
                    <a:p>
                      <a:r>
                        <a:rPr sz="1100" b="0">
                          <a:solidFill>
                            <a:srgbClr val="2E2D29"/>
                          </a:solidFill>
                          <a:latin typeface="Calibri"/>
                        </a:rPr>
                        <a:t>15.8 / 16</a:t>
                      </a:r>
                    </a:p>
                  </a:txBody>
                  <a:tcPr marL="54864" marR="54864" marT="27432" marB="27432" anchor="ctr">
                    <a:solidFill>
                      <a:srgbClr val="F2F1F0"/>
                    </a:solidFill>
                  </a:tcPr>
                </a:tc>
                <a:tc>
                  <a:txBody>
                    <a:bodyPr wrap="square"/>
                    <a:lstStyle/>
                    <a:p>
                      <a:r>
                        <a:rPr sz="1100" b="0">
                          <a:solidFill>
                            <a:srgbClr val="2E2D29"/>
                          </a:solidFill>
                          <a:latin typeface="Calibri"/>
                        </a:rPr>
                        <a:t>0.89 / 0.87</a:t>
                      </a:r>
                    </a:p>
                  </a:txBody>
                  <a:tcPr marL="54864" marR="54864" marT="27432" marB="27432" anchor="ctr">
                    <a:solidFill>
                      <a:srgbClr val="F2F1F0"/>
                    </a:solidFill>
                  </a:tcPr>
                </a:tc>
              </a:tr>
              <a:tr h="338328">
                <a:tc>
                  <a:txBody>
                    <a:bodyPr wrap="square"/>
                    <a:lstStyle/>
                    <a:p>
                      <a:r>
                        <a:rPr sz="1100" b="0">
                          <a:solidFill>
                            <a:srgbClr val="2E2D29"/>
                          </a:solidFill>
                          <a:latin typeface="Calibri"/>
                        </a:rPr>
                        <a:t>TST-STAN-9</a:t>
                      </a:r>
                    </a:p>
                  </a:txBody>
                  <a:tcPr marL="54864" marR="54864" marT="27432" marB="27432" anchor="ctr">
                    <a:solidFill>
                      <a:srgbClr val="FFFFFF"/>
                    </a:solidFill>
                  </a:tcPr>
                </a:tc>
                <a:tc>
                  <a:txBody>
                    <a:bodyPr wrap="square"/>
                    <a:lstStyle/>
                    <a:p>
                      <a:r>
                        <a:rPr sz="1100" b="0">
                          <a:solidFill>
                            <a:srgbClr val="2E2D29"/>
                          </a:solidFill>
                          <a:latin typeface="Calibri"/>
                        </a:rPr>
                        <a:t>152.7</a:t>
                      </a:r>
                    </a:p>
                  </a:txBody>
                  <a:tcPr marL="54864" marR="54864" marT="27432" marB="27432" anchor="ctr">
                    <a:solidFill>
                      <a:srgbClr val="FFFFFF"/>
                    </a:solidFill>
                  </a:tcPr>
                </a:tc>
                <a:tc>
                  <a:txBody>
                    <a:bodyPr wrap="square"/>
                    <a:lstStyle/>
                    <a:p>
                      <a:r>
                        <a:rPr sz="1100" b="0">
                          <a:solidFill>
                            <a:srgbClr val="2E2D29"/>
                          </a:solidFill>
                          <a:latin typeface="Calibri"/>
                        </a:rPr>
                        <a:t>14.5 / 15</a:t>
                      </a:r>
                    </a:p>
                  </a:txBody>
                  <a:tcPr marL="54864" marR="54864" marT="27432" marB="27432" anchor="ctr">
                    <a:solidFill>
                      <a:srgbClr val="FFFFFF"/>
                    </a:solidFill>
                  </a:tcPr>
                </a:tc>
                <a:tc>
                  <a:txBody>
                    <a:bodyPr wrap="square"/>
                    <a:lstStyle/>
                    <a:p>
                      <a:r>
                        <a:rPr sz="1100" b="0">
                          <a:solidFill>
                            <a:srgbClr val="2E2D29"/>
                          </a:solidFill>
                          <a:latin typeface="Calibri"/>
                        </a:rPr>
                        <a:t>0.88 / 0.90</a:t>
                      </a:r>
                    </a:p>
                  </a:txBody>
                  <a:tcPr marL="54864" marR="54864" marT="27432" marB="27432" anchor="ctr">
                    <a:solidFill>
                      <a:srgbClr val="FFFFFF"/>
                    </a:solidFill>
                  </a:tcPr>
                </a:tc>
              </a:tr>
            </a:tbl>
          </a:graphicData>
        </a:graphic>
      </p:graphicFrame>
      <p:sp>
        <p:nvSpPr>
          <p:cNvPr id="15" name="S3_result_table_note"/>
          <p:cNvSpPr txBox="1"/>
          <p:nvPr/>
        </p:nvSpPr>
        <p:spPr>
          <a:xfrm>
            <a:off x="5715000" y="3749039"/>
            <a:ext cx="3108960" cy="868680"/>
          </a:xfrm>
          <a:prstGeom prst="rect">
            <a:avLst/>
          </a:prstGeom>
          <a:noFill/>
        </p:spPr>
        <p:txBody>
          <a:bodyPr wrap="square" lIns="18288" rIns="18288" tIns="18288" bIns="18288" anchor="t">
            <a:noAutofit/>
          </a:bodyPr>
          <a:lstStyle/>
          <a:p>
            <a:pPr algn="l"/>
            <a:r>
              <a:rPr sz="1100" b="0" i="0">
                <a:solidFill>
                  <a:srgbClr val="6B6965"/>
                </a:solidFill>
                <a:latin typeface="Calibri"/>
              </a:rPr>
              <a:t>Iteration 3, model / catheter. E₃: corrected wall modulus. Mean in mmHg.</a:t>
            </a:r>
          </a:p>
          <a:p>
            <a:pPr algn="l"/>
            <a:r>
              <a:rPr sz="1100" b="0" i="0">
                <a:solidFill>
                  <a:srgbClr val="007C92"/>
                </a:solidFill>
                <a:latin typeface="Calibri"/>
              </a:rPr>
              <a:t>Catheter values from the clinical targets slide.</a:t>
            </a:r>
          </a:p>
        </p:txBody>
      </p:sp>
      <p:sp>
        <p:nvSpPr>
          <p:cNvPr id="16" name="S3_result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Iteration 1 ran up to 22 mmHg wide; after the wall correction every pulse is within 2.6 mmHg.</a:t>
            </a:r>
          </a:p>
        </p:txBody>
      </p:sp>
      <p:sp>
        <p:nvSpPr>
          <p:cNvPr id="17" name="S3_result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Pulse pressure = systolic − diastolic. Iterations 1, 2: svz runs/tst-stan-* iteration_decision.json; iteration 3: svz docs/preop_protocol_v1/README.md (frozen 25 Oct 2026), results/elaw_compare*.json.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Why the pipeline moved to deformable walls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32_text_Rigid_wall_simulations"/>
          <p:cNvSpPr txBox="1"/>
          <p:nvPr/>
        </p:nvSpPr>
        <p:spPr>
          <a:xfrm>
            <a:off x="320040" y="1389888"/>
            <a:ext cx="8503920" cy="658368"/>
          </a:xfrm>
          <a:prstGeom prst="rect">
            <a:avLst/>
          </a:prstGeom>
          <a:noFill/>
        </p:spPr>
        <p:txBody>
          <a:bodyPr wrap="square" lIns="27432" tIns="0" rIns="27432" bIns="0">
            <a:spAutoFit/>
          </a:bodyPr>
          <a:lstStyle/>
          <a:p>
            <a:pPr>
              <a:spcAft>
                <a:spcPts val="600"/>
              </a:spcAft>
            </a:pPr>
            <a:r>
              <a:rPr sz="1100">
                <a:solidFill>
                  <a:srgbClr val="8C1515"/>
                </a:solidFill>
                <a:latin typeface="Calibri"/>
              </a:rPr>
              <a:t>• </a:t>
            </a:r>
            <a:r>
              <a:rPr sz="1100">
                <a:solidFill>
                  <a:srgbClr val="2E2D29"/>
                </a:solidFill>
                <a:latin typeface="Calibri"/>
              </a:rPr>
              <a:t>Rigid-wall simulations produced a systolic pressure drop across the model large enough that no boundary condition could satisfy both systolic and diastolic targets</a:t>
            </a:r>
          </a:p>
          <a:p>
            <a:pPr>
              <a:spcAft>
                <a:spcPts val="600"/>
              </a:spcAft>
            </a:pPr>
            <a:r>
              <a:rPr sz="1100">
                <a:solidFill>
                  <a:srgbClr val="8C1515"/>
                </a:solidFill>
                <a:latin typeface="Calibri"/>
              </a:rPr>
              <a:t>• </a:t>
            </a:r>
            <a:r>
              <a:rPr sz="1100">
                <a:solidFill>
                  <a:srgbClr val="2E2D29"/>
                </a:solidFill>
                <a:latin typeface="Calibri"/>
              </a:rPr>
              <a:t>Poiseuille scaling gives an inverse fourth-power dependence on radius, so even modest systolic distension should reduce viscous dissipation substantially</a:t>
            </a:r>
          </a:p>
        </p:txBody>
      </p:sp>
      <p:pic>
        <p:nvPicPr>
          <p:cNvPr id="13" name="S32_picture" descr="rigid_mpa_pressure.png"/>
          <p:cNvPicPr>
            <a:picLocks noChangeAspect="1"/>
          </p:cNvPicPr>
          <p:nvPr/>
        </p:nvPicPr>
        <p:blipFill>
          <a:blip r:embed="rId2"/>
          <a:stretch>
            <a:fillRect/>
          </a:stretch>
        </p:blipFill>
        <p:spPr>
          <a:xfrm>
            <a:off x="444499" y="2139696"/>
            <a:ext cx="3820160" cy="2148840"/>
          </a:xfrm>
          <a:prstGeom prst="rect">
            <a:avLst/>
          </a:prstGeom>
        </p:spPr>
      </p:pic>
      <p:sp>
        <p:nvSpPr>
          <p:cNvPr id="14" name="S32_text_Rigid_wall_MPA"/>
          <p:cNvSpPr txBox="1"/>
          <p:nvPr/>
        </p:nvSpPr>
        <p:spPr>
          <a:xfrm>
            <a:off x="320040" y="4325112"/>
            <a:ext cx="4069080" cy="201168"/>
          </a:xfrm>
          <a:prstGeom prst="rect">
            <a:avLst/>
          </a:prstGeom>
          <a:noFill/>
        </p:spPr>
        <p:txBody>
          <a:bodyPr wrap="square" lIns="27432" tIns="0" rIns="27432" bIns="0" anchor="t">
            <a:spAutoFit/>
          </a:bodyPr>
          <a:lstStyle/>
          <a:p>
            <a:pPr algn="ctr"/>
            <a:r>
              <a:rPr sz="1100" b="0" i="1">
                <a:solidFill>
                  <a:srgbClr val="6B6965"/>
                </a:solidFill>
                <a:latin typeface="Calibri"/>
              </a:rPr>
              <a:t>Rigid wall: MPA pressure</a:t>
            </a:r>
          </a:p>
        </p:txBody>
      </p:sp>
      <p:pic>
        <p:nvPicPr>
          <p:cNvPr id="15" name="S32_picture_2" descr="cmm_mpa_pressure.png"/>
          <p:cNvPicPr>
            <a:picLocks noChangeAspect="1"/>
          </p:cNvPicPr>
          <p:nvPr/>
        </p:nvPicPr>
        <p:blipFill>
          <a:blip r:embed="rId3"/>
          <a:stretch>
            <a:fillRect/>
          </a:stretch>
        </p:blipFill>
        <p:spPr>
          <a:xfrm>
            <a:off x="4879340" y="2139696"/>
            <a:ext cx="3820160" cy="2148840"/>
          </a:xfrm>
          <a:prstGeom prst="rect">
            <a:avLst/>
          </a:prstGeom>
        </p:spPr>
      </p:pic>
      <p:sp>
        <p:nvSpPr>
          <p:cNvPr id="16" name="S32_text_CMM_deformable_wall"/>
          <p:cNvSpPr txBox="1"/>
          <p:nvPr/>
        </p:nvSpPr>
        <p:spPr>
          <a:xfrm>
            <a:off x="4754880" y="4325112"/>
            <a:ext cx="4069080" cy="201168"/>
          </a:xfrm>
          <a:prstGeom prst="rect">
            <a:avLst/>
          </a:prstGeom>
          <a:noFill/>
        </p:spPr>
        <p:txBody>
          <a:bodyPr wrap="square" lIns="27432" tIns="0" rIns="27432" bIns="0" anchor="t">
            <a:spAutoFit/>
          </a:bodyPr>
          <a:lstStyle/>
          <a:p>
            <a:pPr algn="ctr"/>
            <a:r>
              <a:rPr sz="1100" b="0" i="1">
                <a:solidFill>
                  <a:srgbClr val="6B6965"/>
                </a:solidFill>
                <a:latin typeface="Calibri"/>
              </a:rPr>
              <a:t>CMM deformable wall: MPA pressure</a:t>
            </a:r>
          </a:p>
        </p:txBody>
      </p:sp>
      <p:sp>
        <p:nvSpPr>
          <p:cNvPr id="17" name="S32_shape"/>
          <p:cNvSpPr/>
          <p:nvPr/>
        </p:nvSpPr>
        <p:spPr>
          <a:xfrm>
            <a:off x="320040" y="475488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32_text_Deformable_wall_lowered"/>
          <p:cNvSpPr txBox="1"/>
          <p:nvPr/>
        </p:nvSpPr>
        <p:spPr>
          <a:xfrm>
            <a:off x="429768" y="4754880"/>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Deformable wall lowered the modelled systolic pressure drop and is now the pipeline default, not a side study.</a:t>
            </a:r>
          </a:p>
        </p:txBody>
      </p:sp>
      <p:sp>
        <p:nvSpPr>
          <p:cNvPr id="19" name="S32_text_Comparison_performed_on"/>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Comparison performed on TST-STAN-5; rigid case 19.4 mmHg vs. CMM 16 mmHg at matched inflow.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Path to publication: Stage 3</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graphicFrame>
        <p:nvGraphicFramePr>
          <p:cNvPr id="12" name="S3_path_table"/>
          <p:cNvGraphicFramePr>
            <a:graphicFrameLocks noGrp="1"/>
          </p:cNvGraphicFramePr>
          <p:nvPr/>
        </p:nvGraphicFramePr>
        <p:xfrm>
          <a:off x="320040" y="1417320"/>
          <a:ext cx="8503920" cy="2816352"/>
        </p:xfrm>
        <a:graphic>
          <a:graphicData uri="http://schemas.openxmlformats.org/drawingml/2006/table">
            <a:tbl>
              <a:tblPr firstRow="1" bandRow="0">
                <a:tableStyleId>{5C22544A-7EE6-4342-B048-85BDC9FD1C3A}</a:tableStyleId>
              </a:tblPr>
              <a:tblGrid>
                <a:gridCol w="4572000"/>
                <a:gridCol w="1325880"/>
                <a:gridCol w="2606040"/>
              </a:tblGrid>
              <a:tr h="402336">
                <a:tc>
                  <a:txBody>
                    <a:bodyPr wrap="square"/>
                    <a:lstStyle/>
                    <a:p>
                      <a:r>
                        <a:rPr sz="1300" b="1">
                          <a:solidFill>
                            <a:srgbClr val="FFFFFF"/>
                          </a:solidFill>
                          <a:latin typeface="Calibri"/>
                        </a:rPr>
                        <a:t>Action item</a:t>
                      </a:r>
                    </a:p>
                  </a:txBody>
                  <a:tcPr marL="54864" marR="54864" marT="27432" marB="27432" anchor="ctr">
                    <a:solidFill>
                      <a:srgbClr val="8C1515"/>
                    </a:solidFill>
                  </a:tcPr>
                </a:tc>
                <a:tc>
                  <a:txBody>
                    <a:bodyPr wrap="square"/>
                    <a:lstStyle/>
                    <a:p>
                      <a:r>
                        <a:rPr sz="1300" b="1">
                          <a:solidFill>
                            <a:srgbClr val="FFFFFF"/>
                          </a:solidFill>
                          <a:latin typeface="Calibri"/>
                        </a:rPr>
                        <a:t>Status</a:t>
                      </a:r>
                    </a:p>
                  </a:txBody>
                  <a:tcPr marL="54864" marR="54864" marT="27432" marB="27432" anchor="ctr">
                    <a:solidFill>
                      <a:srgbClr val="8C1515"/>
                    </a:solidFill>
                  </a:tcPr>
                </a:tc>
                <a:tc>
                  <a:txBody>
                    <a:bodyPr wrap="square"/>
                    <a:lstStyle/>
                    <a:p>
                      <a:r>
                        <a:rPr sz="1300" b="1">
                          <a:solidFill>
                            <a:srgbClr val="FFFFFF"/>
                          </a:solidFill>
                          <a:latin typeface="Calibri"/>
                        </a:rPr>
                        <a:t>What it gates</a:t>
                      </a:r>
                    </a:p>
                  </a:txBody>
                  <a:tcPr marL="54864" marR="54864" marT="27432" marB="27432" anchor="ctr">
                    <a:solidFill>
                      <a:srgbClr val="8C1515"/>
                    </a:solidFill>
                  </a:tcPr>
                </a:tc>
              </a:tr>
              <a:tr h="402336">
                <a:tc>
                  <a:txBody>
                    <a:bodyPr wrap="square"/>
                    <a:lstStyle/>
                    <a:p>
                      <a:r>
                        <a:rPr sz="1300" b="0">
                          <a:solidFill>
                            <a:srgbClr val="2E2D29"/>
                          </a:solidFill>
                          <a:latin typeface="Calibri"/>
                        </a:rPr>
                        <a:t>Roll out stiffness-scaled damping (Rule A)</a:t>
                      </a:r>
                    </a:p>
                  </a:txBody>
                  <a:tcPr marL="54864" marR="54864" marT="27432" marB="27432" anchor="ctr">
                    <a:solidFill>
                      <a:srgbClr val="FFFFFF"/>
                    </a:solidFill>
                  </a:tcPr>
                </a:tc>
                <a:tc>
                  <a:txBody>
                    <a:bodyPr wrap="square"/>
                    <a:lstStyle/>
                    <a:p>
                      <a:r>
                        <a:rPr sz="1300" b="1">
                          <a:solidFill>
                            <a:srgbClr val="279989"/>
                          </a:solidFill>
                          <a:latin typeface="Calibri"/>
                        </a:rPr>
                        <a:t>Done (21 Oct)</a:t>
                      </a:r>
                    </a:p>
                  </a:txBody>
                  <a:tcPr marL="54864" marR="54864" marT="27432" marB="27432" anchor="ctr">
                    <a:solidFill>
                      <a:srgbClr val="DCEFEC"/>
                    </a:solidFill>
                  </a:tcPr>
                </a:tc>
                <a:tc>
                  <a:txBody>
                    <a:bodyPr wrap="square"/>
                    <a:lstStyle/>
                    <a:p>
                      <a:r>
                        <a:rPr sz="1300" b="0">
                          <a:solidFill>
                            <a:srgbClr val="6B6965"/>
                          </a:solidFill>
                          <a:latin typeface="Calibri"/>
                        </a:rPr>
                        <a:t>3D pulse pressure</a:t>
                      </a:r>
                    </a:p>
                  </a:txBody>
                  <a:tcPr marL="54864" marR="54864" marT="27432" marB="27432" anchor="ctr">
                    <a:solidFill>
                      <a:srgbClr val="FFFFFF"/>
                    </a:solidFill>
                  </a:tcPr>
                </a:tc>
              </a:tr>
              <a:tr h="402336">
                <a:tc>
                  <a:txBody>
                    <a:bodyPr wrap="square"/>
                    <a:lstStyle/>
                    <a:p>
                      <a:r>
                        <a:rPr sz="1300" b="0">
                          <a:solidFill>
                            <a:srgbClr val="2E2D29"/>
                          </a:solidFill>
                          <a:latin typeface="Calibri"/>
                        </a:rPr>
                        <a:t>Close the 3D pulse in all five (E-law wall, iteration 3)</a:t>
                      </a:r>
                    </a:p>
                  </a:txBody>
                  <a:tcPr marL="54864" marR="54864" marT="27432" marB="27432" anchor="ctr">
                    <a:solidFill>
                      <a:srgbClr val="FFFFFF"/>
                    </a:solidFill>
                  </a:tcPr>
                </a:tc>
                <a:tc>
                  <a:txBody>
                    <a:bodyPr wrap="square"/>
                    <a:lstStyle/>
                    <a:p>
                      <a:r>
                        <a:rPr sz="1300" b="1">
                          <a:solidFill>
                            <a:srgbClr val="279989"/>
                          </a:solidFill>
                          <a:latin typeface="Calibri"/>
                        </a:rPr>
                        <a:t>Done (23 Oct)</a:t>
                      </a:r>
                    </a:p>
                  </a:txBody>
                  <a:tcPr marL="54864" marR="54864" marT="27432" marB="27432" anchor="ctr">
                    <a:solidFill>
                      <a:srgbClr val="DCEFEC"/>
                    </a:solidFill>
                  </a:tcPr>
                </a:tc>
                <a:tc>
                  <a:txBody>
                    <a:bodyPr wrap="square"/>
                    <a:lstStyle/>
                    <a:p>
                      <a:r>
                        <a:rPr sz="1300" b="0">
                          <a:solidFill>
                            <a:srgbClr val="6B6965"/>
                          </a:solidFill>
                          <a:latin typeface="Calibri"/>
                        </a:rPr>
                        <a:t>Stage 3 validation</a:t>
                      </a:r>
                    </a:p>
                  </a:txBody>
                  <a:tcPr marL="54864" marR="54864" marT="27432" marB="27432" anchor="ctr">
                    <a:solidFill>
                      <a:srgbClr val="FFFFFF"/>
                    </a:solidFill>
                  </a:tcPr>
                </a:tc>
              </a:tr>
              <a:tr h="402336">
                <a:tc>
                  <a:txBody>
                    <a:bodyPr wrap="square"/>
                    <a:lstStyle/>
                    <a:p>
                      <a:r>
                        <a:rPr sz="1300" b="0">
                          <a:solidFill>
                            <a:srgbClr val="2E2D29"/>
                          </a:solidFill>
                          <a:latin typeface="Calibri"/>
                        </a:rPr>
                        <a:t>Pre-op hand-off carries iteration-3 E, damping and matched 0D</a:t>
                      </a:r>
                    </a:p>
                  </a:txBody>
                  <a:tcPr marL="54864" marR="54864" marT="27432" marB="27432" anchor="ctr">
                    <a:solidFill>
                      <a:srgbClr val="FFFFFF"/>
                    </a:solidFill>
                  </a:tcPr>
                </a:tc>
                <a:tc>
                  <a:txBody>
                    <a:bodyPr wrap="square"/>
                    <a:lstStyle/>
                    <a:p>
                      <a:r>
                        <a:rPr sz="1300" b="1">
                          <a:solidFill>
                            <a:srgbClr val="279989"/>
                          </a:solidFill>
                          <a:latin typeface="Calibri"/>
                        </a:rPr>
                        <a:t>Done (26 Oct)</a:t>
                      </a:r>
                    </a:p>
                  </a:txBody>
                  <a:tcPr marL="54864" marR="54864" marT="27432" marB="27432" anchor="ctr">
                    <a:solidFill>
                      <a:srgbClr val="DCEFEC"/>
                    </a:solidFill>
                  </a:tcPr>
                </a:tc>
                <a:tc>
                  <a:txBody>
                    <a:bodyPr wrap="square"/>
                    <a:lstStyle/>
                    <a:p>
                      <a:r>
                        <a:rPr sz="1300" b="0">
                          <a:solidFill>
                            <a:srgbClr val="6B6965"/>
                          </a:solidFill>
                          <a:latin typeface="Calibri"/>
                        </a:rPr>
                        <a:t>Stage 4 post-op runs</a:t>
                      </a:r>
                    </a:p>
                  </a:txBody>
                  <a:tcPr marL="54864" marR="54864" marT="27432" marB="27432" anchor="ctr">
                    <a:solidFill>
                      <a:srgbClr val="FFFFFF"/>
                    </a:solidFill>
                  </a:tcPr>
                </a:tc>
              </a:tr>
              <a:tr h="402336">
                <a:tc>
                  <a:txBody>
                    <a:bodyPr wrap="square"/>
                    <a:lstStyle/>
                    <a:p>
                      <a:r>
                        <a:rPr sz="1300" b="0">
                          <a:solidFill>
                            <a:srgbClr val="2E2D29"/>
                          </a:solidFill>
                          <a:latin typeface="Calibri"/>
                        </a:rPr>
                        <a:t>Final runs on the boundary-layer mesh; check tuned BCs transfer</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Publication numbers</a:t>
                      </a:r>
                    </a:p>
                  </a:txBody>
                  <a:tcPr marL="54864" marR="54864" marT="27432" marB="27432" anchor="ctr">
                    <a:solidFill>
                      <a:srgbClr val="FFFFFF"/>
                    </a:solidFill>
                  </a:tcPr>
                </a:tc>
              </a:tr>
              <a:tr h="402336">
                <a:tc>
                  <a:txBody>
                    <a:bodyPr wrap="square"/>
                    <a:lstStyle/>
                    <a:p>
                      <a:r>
                        <a:rPr sz="1300" b="0">
                          <a:solidFill>
                            <a:srgbClr val="2E2D29"/>
                          </a:solidFill>
                          <a:latin typeface="Calibri"/>
                        </a:rPr>
                        <a:t>Wall E is effective (8 to 153 kPa at h = 0.2 cm): compare with distensibility</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Wall claims in the paper</a:t>
                      </a:r>
                    </a:p>
                  </a:txBody>
                  <a:tcPr marL="54864" marR="54864" marT="27432" marB="27432" anchor="ctr">
                    <a:solidFill>
                      <a:srgbClr val="FFFFFF"/>
                    </a:solidFill>
                  </a:tcPr>
                </a:tc>
              </a:tr>
              <a:tr h="402336">
                <a:tc>
                  <a:txBody>
                    <a:bodyPr wrap="square"/>
                    <a:lstStyle/>
                    <a:p>
                      <a:r>
                        <a:rPr sz="1300" b="0">
                          <a:solidFill>
                            <a:srgbClr val="2E2D29"/>
                          </a:solidFill>
                          <a:latin typeface="Calibri"/>
                        </a:rPr>
                        <a:t>Wall Eh/r = 5×10⁴ moves ~120% of proximal volume (TST-STAN-5)</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CMM small-strain validity</a:t>
                      </a:r>
                    </a:p>
                  </a:txBody>
                  <a:tcPr marL="54864" marR="54864" marT="27432" marB="27432" anchor="ctr">
                    <a:solidFill>
                      <a:srgbClr val="FFFFFF"/>
                    </a:solidFill>
                  </a:tcPr>
                </a:tc>
              </a:tr>
            </a:tbl>
          </a:graphicData>
        </a:graphic>
      </p:graphicFrame>
      <p:sp>
        <p:nvSpPr>
          <p:cNvPr id="13" name="S3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Stage 3 needs the boundary-layer runs and the tuned-BC transfer check before it is validated.</a:t>
            </a:r>
          </a:p>
        </p:txBody>
      </p:sp>
      <p:sp>
        <p:nvSpPr>
          <p:cNvPr id="14" name="S3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 docs/preop_protocol_v1/README.md (frozen 25 Oct 2026) (Known limitations); svzt-agent docs/TUNING_MODEL.md §10; svz config/patients.yaml (c₁).</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ext Placeholder 1"/>
          <p:cNvSpPr>
            <a:spLocks noGrp="1"/>
          </p:cNvSpPr>
          <p:nvPr>
            <p:ph type="body" idx="1"/>
          </p:nvPr>
        </p:nvSpPr>
        <p:spPr>
          <a:xfrm>
            <a:off x="1362456" y="2971800"/>
            <a:ext cx="6400800" cy="658368"/>
          </a:xfrm>
        </p:spPr>
        <p:txBody>
          <a:bodyPr wrap="square" lIns="0" rIns="0"/>
          <a:lstStyle/>
          <a:p>
            <a:r>
              <a:rPr sz="1300">
                <a:solidFill>
                  <a:srgbClr val="FFFFFF"/>
                </a:solidFill>
                <a:latin typeface="Calibri"/>
              </a:rPr>
              <a:t>Virtual stenting of the segmented anatomy, simulated with the pre-operative boundary conditions unchanged.</a:t>
            </a:r>
          </a:p>
        </p:txBody>
      </p:sp>
      <p:sp>
        <p:nvSpPr>
          <p:cNvPr id="4" name="Title 2"/>
          <p:cNvSpPr>
            <a:spLocks noGrp="1"/>
          </p:cNvSpPr>
          <p:nvPr>
            <p:ph type="ctrTitle"/>
          </p:nvPr>
        </p:nvSpPr>
        <p:spPr>
          <a:xfrm>
            <a:off x="1362456" y="1874519"/>
            <a:ext cx="7479792" cy="1005840"/>
          </a:xfrm>
        </p:spPr>
        <p:txBody>
          <a:bodyPr lIns="0" rIns="0" anchor="b"/>
          <a:lstStyle/>
          <a:p>
            <a:r>
              <a:rPr sz="3200">
                <a:solidFill>
                  <a:srgbClr val="FFFFFF"/>
                </a:solidFill>
                <a:latin typeface="Georgia"/>
              </a:rPr>
              <a:t>Post-operative Simulation</a:t>
            </a:r>
          </a:p>
        </p:txBody>
      </p:sp>
      <p:sp>
        <p:nvSpPr>
          <p:cNvPr id="5" name="S34_text_STAGE_4_OF"/>
          <p:cNvSpPr txBox="1"/>
          <p:nvPr/>
        </p:nvSpPr>
        <p:spPr>
          <a:xfrm>
            <a:off x="1362456" y="1517904"/>
            <a:ext cx="7479792" cy="256032"/>
          </a:xfrm>
          <a:prstGeom prst="rect">
            <a:avLst/>
          </a:prstGeom>
          <a:noFill/>
        </p:spPr>
        <p:txBody>
          <a:bodyPr wrap="square" lIns="27432" tIns="0" rIns="27432" bIns="0" anchor="t">
            <a:spAutoFit/>
          </a:bodyPr>
          <a:lstStyle/>
          <a:p>
            <a:pPr algn="l"/>
            <a:r>
              <a:rPr sz="1100" b="1" i="0">
                <a:solidFill>
                  <a:srgbClr val="FFFFFF"/>
                </a:solidFill>
                <a:latin typeface="Calibri"/>
              </a:rPr>
              <a:t>STAGE 4 OF 7</a:t>
            </a:r>
          </a:p>
        </p:txBody>
      </p:sp>
      <p:sp>
        <p:nvSpPr>
          <p:cNvPr id="6" name="Ribbon_seg1"/>
          <p:cNvSpPr/>
          <p:nvPr/>
        </p:nvSpPr>
        <p:spPr>
          <a:xfrm>
            <a:off x="13624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1</a:t>
            </a:r>
          </a:p>
          <a:p>
            <a:pPr algn="ctr"/>
            <a:r>
              <a:rPr sz="1100" b="0">
                <a:solidFill>
                  <a:srgbClr val="FFFFFF"/>
                </a:solidFill>
                <a:latin typeface="Calibri"/>
              </a:rPr>
              <a:t>Inputs</a:t>
            </a:r>
          </a:p>
        </p:txBody>
      </p:sp>
      <p:sp>
        <p:nvSpPr>
          <p:cNvPr id="7" name="Ribbon_seg2"/>
          <p:cNvSpPr/>
          <p:nvPr/>
        </p:nvSpPr>
        <p:spPr>
          <a:xfrm>
            <a:off x="22873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2</a:t>
            </a:r>
          </a:p>
          <a:p>
            <a:pPr algn="ctr"/>
            <a:r>
              <a:rPr sz="1100" b="0">
                <a:solidFill>
                  <a:srgbClr val="FFFFFF"/>
                </a:solidFill>
                <a:latin typeface="Calibri"/>
              </a:rPr>
              <a:t>BC Tuning</a:t>
            </a:r>
          </a:p>
        </p:txBody>
      </p:sp>
      <p:sp>
        <p:nvSpPr>
          <p:cNvPr id="8" name="Ribbon_seg3"/>
          <p:cNvSpPr/>
          <p:nvPr/>
        </p:nvSpPr>
        <p:spPr>
          <a:xfrm>
            <a:off x="32121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3</a:t>
            </a:r>
          </a:p>
          <a:p>
            <a:pPr algn="ctr"/>
            <a:r>
              <a:rPr sz="1100" b="0">
                <a:solidFill>
                  <a:srgbClr val="FFFFFF"/>
                </a:solidFill>
                <a:latin typeface="Calibri"/>
              </a:rPr>
              <a:t>Pre-op Sim</a:t>
            </a:r>
          </a:p>
        </p:txBody>
      </p:sp>
      <p:sp>
        <p:nvSpPr>
          <p:cNvPr id="9" name="Ribbon_seg4"/>
          <p:cNvSpPr/>
          <p:nvPr/>
        </p:nvSpPr>
        <p:spPr>
          <a:xfrm>
            <a:off x="4137006" y="4041648"/>
            <a:ext cx="869986"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1">
                <a:solidFill>
                  <a:srgbClr val="007C92"/>
                </a:solidFill>
                <a:latin typeface="Calibri"/>
              </a:rPr>
              <a:t>4</a:t>
            </a:r>
          </a:p>
          <a:p>
            <a:pPr algn="ctr"/>
            <a:r>
              <a:rPr sz="1100" b="1">
                <a:solidFill>
                  <a:srgbClr val="007C92"/>
                </a:solidFill>
                <a:latin typeface="Calibri"/>
              </a:rPr>
              <a:t>Post-op Sim</a:t>
            </a:r>
          </a:p>
        </p:txBody>
      </p:sp>
      <p:sp>
        <p:nvSpPr>
          <p:cNvPr id="10" name="Ribbon_seg5"/>
          <p:cNvSpPr/>
          <p:nvPr/>
        </p:nvSpPr>
        <p:spPr>
          <a:xfrm>
            <a:off x="50618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5</a:t>
            </a:r>
          </a:p>
          <a:p>
            <a:pPr algn="ctr"/>
            <a:r>
              <a:rPr sz="1100" b="0">
                <a:solidFill>
                  <a:srgbClr val="FFFFFF"/>
                </a:solidFill>
                <a:latin typeface="Calibri"/>
              </a:rPr>
              <a:t>Adaptation</a:t>
            </a:r>
          </a:p>
        </p:txBody>
      </p:sp>
      <p:sp>
        <p:nvSpPr>
          <p:cNvPr id="11" name="Ribbon_seg6"/>
          <p:cNvSpPr/>
          <p:nvPr/>
        </p:nvSpPr>
        <p:spPr>
          <a:xfrm>
            <a:off x="598670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6</a:t>
            </a:r>
          </a:p>
          <a:p>
            <a:pPr algn="ctr"/>
            <a:r>
              <a:rPr sz="1100" b="0">
                <a:solidFill>
                  <a:srgbClr val="FFFFFF"/>
                </a:solidFill>
                <a:latin typeface="Calibri"/>
              </a:rPr>
              <a:t>Adapted Sim</a:t>
            </a:r>
          </a:p>
        </p:txBody>
      </p:sp>
      <p:sp>
        <p:nvSpPr>
          <p:cNvPr id="12" name="Ribbon_seg7"/>
          <p:cNvSpPr/>
          <p:nvPr/>
        </p:nvSpPr>
        <p:spPr>
          <a:xfrm>
            <a:off x="69115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7</a:t>
            </a:r>
          </a:p>
          <a:p>
            <a:pPr algn="ctr"/>
            <a:r>
              <a:rPr sz="1100" b="0">
                <a:solidFill>
                  <a:srgbClr val="FFFFFF"/>
                </a:solidFill>
                <a:latin typeface="Calibri"/>
              </a:rPr>
              <a:t>Metrics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Fixed BCs isolate what the stent itself changes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4_motivation_preop_geom"/>
          <p:cNvSpPr/>
          <p:nvPr/>
        </p:nvSpPr>
        <p:spPr>
          <a:xfrm>
            <a:off x="320040" y="1554480"/>
            <a:ext cx="1554480" cy="7772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2E2D29"/>
                </a:solidFill>
                <a:latin typeface="Calibri"/>
              </a:rPr>
              <a:t>Pre-op geometry</a:t>
            </a:r>
          </a:p>
        </p:txBody>
      </p:sp>
      <p:sp>
        <p:nvSpPr>
          <p:cNvPr id="13" name="S4_motivation_cath_report"/>
          <p:cNvSpPr/>
          <p:nvPr/>
        </p:nvSpPr>
        <p:spPr>
          <a:xfrm>
            <a:off x="320040" y="2606040"/>
            <a:ext cx="1554480" cy="777240"/>
          </a:xfrm>
          <a:prstGeom prst="rect">
            <a:avLst/>
          </a:prstGeom>
          <a:solidFill>
            <a:srgbClr val="007C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Stent size, length</a:t>
            </a:r>
          </a:p>
          <a:p>
            <a:pPr algn="ctr"/>
            <a:r>
              <a:rPr sz="1100" b="0" i="0">
                <a:solidFill>
                  <a:srgbClr val="FFFFFF"/>
                </a:solidFill>
                <a:latin typeface="Calibri"/>
              </a:rPr>
              <a:t>cath report</a:t>
            </a:r>
          </a:p>
        </p:txBody>
      </p:sp>
      <p:sp>
        <p:nvSpPr>
          <p:cNvPr id="14" name="S4_motivation_sdfstent"/>
          <p:cNvSpPr/>
          <p:nvPr/>
        </p:nvSpPr>
        <p:spPr>
          <a:xfrm>
            <a:off x="2240280" y="2057400"/>
            <a:ext cx="1463040" cy="86868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SDFStent</a:t>
            </a:r>
          </a:p>
          <a:p>
            <a:pPr algn="ctr"/>
            <a:r>
              <a:rPr sz="1100" b="0" i="0">
                <a:solidFill>
                  <a:srgbClr val="FFFFFF"/>
                </a:solidFill>
                <a:latin typeface="Calibri"/>
              </a:rPr>
              <a:t>virtual stenting</a:t>
            </a:r>
          </a:p>
        </p:txBody>
      </p:sp>
      <p:sp>
        <p:nvSpPr>
          <p:cNvPr id="15" name="S4_motivation_postop_geom"/>
          <p:cNvSpPr/>
          <p:nvPr/>
        </p:nvSpPr>
        <p:spPr>
          <a:xfrm>
            <a:off x="4069080" y="2057400"/>
            <a:ext cx="1463040" cy="8686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2E2D29"/>
                </a:solidFill>
                <a:latin typeface="Calibri"/>
              </a:rPr>
              <a:t>Post-op geometry</a:t>
            </a:r>
          </a:p>
        </p:txBody>
      </p:sp>
      <p:sp>
        <p:nvSpPr>
          <p:cNvPr id="16" name="S4_motivation_run"/>
          <p:cNvSpPr/>
          <p:nvPr/>
        </p:nvSpPr>
        <p:spPr>
          <a:xfrm>
            <a:off x="5897880" y="2057400"/>
            <a:ext cx="1325880" cy="86868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3D run</a:t>
            </a:r>
          </a:p>
          <a:p>
            <a:pPr algn="ctr"/>
            <a:r>
              <a:rPr sz="1100" b="0" i="0">
                <a:solidFill>
                  <a:srgbClr val="FFFFFF"/>
                </a:solidFill>
                <a:latin typeface="Calibri"/>
              </a:rPr>
              <a:t>same BCs</a:t>
            </a:r>
          </a:p>
        </p:txBody>
      </p:sp>
      <p:sp>
        <p:nvSpPr>
          <p:cNvPr id="17" name="S4_motivation_acute"/>
          <p:cNvSpPr/>
          <p:nvPr/>
        </p:nvSpPr>
        <p:spPr>
          <a:xfrm>
            <a:off x="7543800" y="1920240"/>
            <a:ext cx="1280160" cy="11430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8C1515"/>
                </a:solidFill>
                <a:latin typeface="Calibri"/>
              </a:rPr>
              <a:t>Acute change</a:t>
            </a:r>
          </a:p>
          <a:p>
            <a:pPr algn="ctr"/>
            <a:r>
              <a:rPr sz="1100" b="0" i="0">
                <a:solidFill>
                  <a:srgbClr val="2E2D29"/>
                </a:solidFill>
                <a:latin typeface="Calibri"/>
              </a:rPr>
              <a:t>from geometry only</a:t>
            </a:r>
          </a:p>
        </p:txBody>
      </p:sp>
      <p:cxnSp>
        <p:nvCxnSpPr>
          <p:cNvPr id="18" name="S4_motivation_arrow_geom"/>
          <p:cNvCxnSpPr>
            <a:stCxn id="12" idx="3"/>
            <a:endCxn id="14" idx="1"/>
          </p:cNvCxnSpPr>
          <p:nvPr/>
        </p:nvCxnSpPr>
        <p:spPr>
          <a:xfrm>
            <a:off x="1874520" y="1943100"/>
            <a:ext cx="365760" cy="54864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S4_motivation_arrow_cath"/>
          <p:cNvCxnSpPr>
            <a:stCxn id="13" idx="3"/>
            <a:endCxn id="14" idx="1"/>
          </p:cNvCxnSpPr>
          <p:nvPr/>
        </p:nvCxnSpPr>
        <p:spPr>
          <a:xfrm flipV="1">
            <a:off x="1874520" y="2491740"/>
            <a:ext cx="365760" cy="50292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S4_motivation_arrow_sdf"/>
          <p:cNvCxnSpPr>
            <a:stCxn id="14" idx="3"/>
            <a:endCxn id="15" idx="1"/>
          </p:cNvCxnSpPr>
          <p:nvPr/>
        </p:nvCxnSpPr>
        <p:spPr>
          <a:xfrm flipV="1">
            <a:off x="3703320" y="2491740"/>
            <a:ext cx="36576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S4_motivation_arrow_post"/>
          <p:cNvCxnSpPr>
            <a:stCxn id="15" idx="3"/>
            <a:endCxn id="16" idx="1"/>
          </p:cNvCxnSpPr>
          <p:nvPr/>
        </p:nvCxnSpPr>
        <p:spPr>
          <a:xfrm flipV="1">
            <a:off x="5532120" y="2491740"/>
            <a:ext cx="36576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S4_motivation_arrow_out"/>
          <p:cNvCxnSpPr>
            <a:stCxn id="16" idx="3"/>
            <a:endCxn id="17" idx="1"/>
          </p:cNvCxnSpPr>
          <p:nvPr/>
        </p:nvCxnSpPr>
        <p:spPr>
          <a:xfrm flipV="1">
            <a:off x="7223760" y="2491740"/>
            <a:ext cx="32004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4_motivation_fixed_card"/>
          <p:cNvSpPr/>
          <p:nvPr/>
        </p:nvSpPr>
        <p:spPr>
          <a:xfrm>
            <a:off x="2240280" y="3566160"/>
            <a:ext cx="6583680" cy="9144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noAutofit/>
          </a:bodyPr>
          <a:lstStyle/>
          <a:p>
            <a:pPr algn="l"/>
            <a:r>
              <a:rPr sz="1400" b="1" i="0">
                <a:solidFill>
                  <a:srgbClr val="8C1515"/>
                </a:solidFill>
                <a:latin typeface="Calibri"/>
              </a:rPr>
              <a:t>Unchanged from the selected pre-op iteration</a:t>
            </a:r>
          </a:p>
          <a:p>
            <a:pPr algn="l"/>
            <a:r>
              <a:rPr sz="1300" b="0" i="0">
                <a:solidFill>
                  <a:srgbClr val="2E2D29"/>
                </a:solidFill>
                <a:latin typeface="Calibri"/>
              </a:rPr>
              <a:t>calibrated 0D model, coupler surfaces, outlet mapping, wall E and damping</a:t>
            </a:r>
          </a:p>
        </p:txBody>
      </p:sp>
      <p:sp>
        <p:nvSpPr>
          <p:cNvPr id="24" name="S4_motivation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Any acute change in pressure or flow split comes from the stent geometry, not the boundary conditions.</a:t>
            </a:r>
          </a:p>
        </p:txBody>
      </p:sp>
      <p:sp>
        <p:nvSpPr>
          <p:cNvPr id="25" name="S4_motivation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PIPELINE_BRIEF post-operative geometry; svzt-agent docs/PATIENT_DATA_CONTRACT.md (post-op mesh input), docs/TUNING_MODEL.md section 8 item 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Do nominal stent sizes overshoot the post-op split?</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4_question_chart_label"/>
          <p:cNvSpPr txBox="1"/>
          <p:nvPr/>
        </p:nvSpPr>
        <p:spPr>
          <a:xfrm>
            <a:off x="320040" y="1389888"/>
            <a:ext cx="5120640" cy="274320"/>
          </a:xfrm>
          <a:prstGeom prst="rect">
            <a:avLst/>
          </a:prstGeom>
          <a:noFill/>
        </p:spPr>
        <p:txBody>
          <a:bodyPr wrap="square" lIns="73152" rIns="73152" anchor="t">
            <a:noAutofit/>
          </a:bodyPr>
          <a:lstStyle/>
          <a:p>
            <a:pPr algn="l"/>
            <a:r>
              <a:rPr sz="1400" b="1" i="0">
                <a:solidFill>
                  <a:srgbClr val="2E2D29"/>
                </a:solidFill>
                <a:latin typeface="Calibri"/>
              </a:rPr>
              <a:t>Resistance of the stented segment vs the nominal stent</a:t>
            </a:r>
          </a:p>
        </p:txBody>
      </p:sp>
      <p:graphicFrame>
        <p:nvGraphicFramePr>
          <p:cNvPr id="13" name="S4_question_resistance_chart"/>
          <p:cNvGraphicFramePr>
            <a:graphicFrameLocks noGrp="1"/>
          </p:cNvGraphicFramePr>
          <p:nvPr/>
        </p:nvGraphicFramePr>
        <p:xfrm>
          <a:off x="320040" y="1664208"/>
          <a:ext cx="5120640" cy="2514600"/>
        </p:xfrm>
        <a:graphic>
          <a:graphicData uri="http://schemas.openxmlformats.org/drawingml/2006/chart">
            <c:chart xmlns:c="http://schemas.openxmlformats.org/drawingml/2006/chart" r:id="rId2"/>
          </a:graphicData>
        </a:graphic>
      </p:graphicFrame>
      <p:sp>
        <p:nvSpPr>
          <p:cNvPr id="14" name="S4_question_poiseuille_note"/>
          <p:cNvSpPr txBox="1"/>
          <p:nvPr/>
        </p:nvSpPr>
        <p:spPr>
          <a:xfrm>
            <a:off x="320040" y="4206240"/>
            <a:ext cx="5120640" cy="411480"/>
          </a:xfrm>
          <a:prstGeom prst="rect">
            <a:avLst/>
          </a:prstGeom>
          <a:noFill/>
        </p:spPr>
        <p:txBody>
          <a:bodyPr wrap="square" lIns="18288" rIns="18288" tIns="18288" bIns="18288" anchor="t">
            <a:noAutofit/>
          </a:bodyPr>
          <a:lstStyle/>
          <a:p>
            <a:pPr algn="l"/>
            <a:r>
              <a:rPr sz="1200" b="0" i="0">
                <a:solidFill>
                  <a:srgbClr val="6B6965"/>
                </a:solidFill>
                <a:latin typeface="Calibri"/>
              </a:rPr>
              <a:t>Poiseuille flow: resistance scales with diameter⁻⁴, so a 20% narrower stent has 2.4× the resistance.</a:t>
            </a:r>
          </a:p>
        </p:txBody>
      </p:sp>
      <p:sp>
        <p:nvSpPr>
          <p:cNvPr id="15" name="S4_question_answer_card"/>
          <p:cNvSpPr/>
          <p:nvPr/>
        </p:nvSpPr>
        <p:spPr>
          <a:xfrm>
            <a:off x="5669280" y="1554480"/>
            <a:ext cx="3154680" cy="30175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l"/>
            <a:r>
              <a:rPr sz="1100" b="1" i="0">
                <a:solidFill>
                  <a:srgbClr val="6B6965"/>
                </a:solidFill>
                <a:latin typeface="Calibri"/>
              </a:rPr>
              <a:t>Answer</a:t>
            </a:r>
          </a:p>
          <a:p>
            <a:pPr algn="l"/>
            <a:r>
              <a:rPr sz="2400" b="1" i="0">
                <a:solidFill>
                  <a:srgbClr val="E98300"/>
                </a:solidFill>
                <a:latin typeface="Calibri"/>
              </a:rPr>
              <a:t>Open</a:t>
            </a:r>
          </a:p>
          <a:p>
            <a:pPr algn="l">
              <a:spcBef>
                <a:spcPts val="600"/>
              </a:spcBef>
            </a:pPr>
            <a:r>
              <a:rPr sz="1400" b="0" i="0">
                <a:solidFill>
                  <a:srgbClr val="2E2D29"/>
                </a:solidFill>
                <a:latin typeface="Calibri"/>
              </a:rPr>
              <a:t>Some simulated post-op splits exceed the measured ones (May runs, earlier BCs).</a:t>
            </a:r>
          </a:p>
          <a:p>
            <a:pPr algn="l">
              <a:spcBef>
                <a:spcPts val="600"/>
              </a:spcBef>
            </a:pPr>
            <a:r>
              <a:rPr sz="1400" b="0" i="0">
                <a:solidFill>
                  <a:srgbClr val="2E2D29"/>
                </a:solidFill>
                <a:latin typeface="Calibri"/>
              </a:rPr>
              <a:t>Deployed stents may open to about 0.8× nominal; to be checked on the post-op angiograms.</a:t>
            </a:r>
          </a:p>
        </p:txBody>
      </p:sp>
      <p:sp>
        <p:nvSpPr>
          <p:cNvPr id="16" name="S4_question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Simulated stents use the nominal size from the cath report; if real stents open less, the model overshoots.</a:t>
            </a:r>
          </a:p>
        </p:txBody>
      </p:sp>
      <p:sp>
        <p:nvSpPr>
          <p:cNvPr id="17" name="S4_question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Illustration only: R ∝ d⁻⁴ for the stented segment alone. Stent sizes from the catheterization report (cohort slide). Open item from PIPELINE_BRIEF.</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Virtual stenting with signed distance fields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37_shape"/>
          <p:cNvSpPr/>
          <p:nvPr/>
        </p:nvSpPr>
        <p:spPr>
          <a:xfrm>
            <a:off x="320040" y="1408176"/>
            <a:ext cx="4160520" cy="157276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37_text_Method"/>
          <p:cNvSpPr txBox="1"/>
          <p:nvPr/>
        </p:nvSpPr>
        <p:spPr>
          <a:xfrm>
            <a:off x="448056" y="1508760"/>
            <a:ext cx="3904487" cy="219456"/>
          </a:xfrm>
          <a:prstGeom prst="rect">
            <a:avLst/>
          </a:prstGeom>
          <a:noFill/>
        </p:spPr>
        <p:txBody>
          <a:bodyPr wrap="square" lIns="27432" tIns="0" rIns="27432" bIns="0" anchor="t">
            <a:spAutoFit/>
          </a:bodyPr>
          <a:lstStyle/>
          <a:p>
            <a:pPr algn="l"/>
            <a:r>
              <a:rPr sz="1400" b="1" i="0">
                <a:solidFill>
                  <a:srgbClr val="8C1515"/>
                </a:solidFill>
                <a:latin typeface="Calibri"/>
              </a:rPr>
              <a:t>Method</a:t>
            </a:r>
          </a:p>
        </p:txBody>
      </p:sp>
      <p:sp>
        <p:nvSpPr>
          <p:cNvPr id="14" name="S37_text_The_stented_segment"/>
          <p:cNvSpPr txBox="1"/>
          <p:nvPr/>
        </p:nvSpPr>
        <p:spPr>
          <a:xfrm>
            <a:off x="448056" y="1783080"/>
            <a:ext cx="3904487" cy="1161288"/>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The stented segment is imposed as a signed distance field on the segmented lumen</a:t>
            </a:r>
          </a:p>
          <a:p>
            <a:pPr>
              <a:spcAft>
                <a:spcPts val="350"/>
              </a:spcAft>
            </a:pPr>
            <a:r>
              <a:rPr sz="1100">
                <a:solidFill>
                  <a:srgbClr val="8C1515"/>
                </a:solidFill>
                <a:latin typeface="Calibri"/>
              </a:rPr>
              <a:t>• </a:t>
            </a:r>
            <a:r>
              <a:rPr sz="1100">
                <a:solidFill>
                  <a:srgbClr val="2E2D29"/>
                </a:solidFill>
                <a:latin typeface="Calibri"/>
              </a:rPr>
              <a:t>Stent diameter and length are read directly from the catheterization report</a:t>
            </a:r>
          </a:p>
          <a:p>
            <a:pPr>
              <a:spcAft>
                <a:spcPts val="350"/>
              </a:spcAft>
            </a:pPr>
            <a:r>
              <a:rPr sz="1100">
                <a:solidFill>
                  <a:srgbClr val="8C1515"/>
                </a:solidFill>
                <a:latin typeface="Calibri"/>
              </a:rPr>
              <a:t>• </a:t>
            </a:r>
            <a:r>
              <a:rPr sz="1100">
                <a:solidFill>
                  <a:srgbClr val="2E2D29"/>
                </a:solidFill>
                <a:latin typeface="Calibri"/>
              </a:rPr>
              <a:t>Produces a watertight post-operative solid without re-segmentation</a:t>
            </a:r>
          </a:p>
        </p:txBody>
      </p:sp>
      <p:sp>
        <p:nvSpPr>
          <p:cNvPr id="15" name="S37_shape_2"/>
          <p:cNvSpPr/>
          <p:nvPr/>
        </p:nvSpPr>
        <p:spPr>
          <a:xfrm>
            <a:off x="320040" y="3108960"/>
            <a:ext cx="4160520" cy="157276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37_text_Why_it_matters"/>
          <p:cNvSpPr txBox="1"/>
          <p:nvPr/>
        </p:nvSpPr>
        <p:spPr>
          <a:xfrm>
            <a:off x="448056" y="3209544"/>
            <a:ext cx="3904487" cy="219456"/>
          </a:xfrm>
          <a:prstGeom prst="rect">
            <a:avLst/>
          </a:prstGeom>
          <a:noFill/>
        </p:spPr>
        <p:txBody>
          <a:bodyPr wrap="square" lIns="27432" tIns="0" rIns="27432" bIns="0" anchor="t">
            <a:spAutoFit/>
          </a:bodyPr>
          <a:lstStyle/>
          <a:p>
            <a:pPr algn="l"/>
            <a:r>
              <a:rPr sz="1400" b="1" i="0">
                <a:solidFill>
                  <a:srgbClr val="8C1515"/>
                </a:solidFill>
                <a:latin typeface="Calibri"/>
              </a:rPr>
              <a:t>Why it matters for this pipeline</a:t>
            </a:r>
          </a:p>
        </p:txBody>
      </p:sp>
      <p:sp>
        <p:nvSpPr>
          <p:cNvPr id="17" name="S37_text_The_post_operative"/>
          <p:cNvSpPr txBox="1"/>
          <p:nvPr/>
        </p:nvSpPr>
        <p:spPr>
          <a:xfrm>
            <a:off x="448056" y="3483863"/>
            <a:ext cx="3904487" cy="1161288"/>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The post-operative geometry is reproducible and traceable to the clinical record</a:t>
            </a:r>
          </a:p>
          <a:p>
            <a:pPr>
              <a:spcAft>
                <a:spcPts val="350"/>
              </a:spcAft>
            </a:pPr>
            <a:r>
              <a:rPr sz="1100">
                <a:solidFill>
                  <a:srgbClr val="8C1515"/>
                </a:solidFill>
                <a:latin typeface="Calibri"/>
              </a:rPr>
              <a:t>• </a:t>
            </a:r>
            <a:r>
              <a:rPr sz="1100">
                <a:solidFill>
                  <a:srgbClr val="2E2D29"/>
                </a:solidFill>
                <a:latin typeface="Calibri"/>
              </a:rPr>
              <a:t>The same procedure will support hypothetical stent sizes for treatment planning</a:t>
            </a:r>
          </a:p>
        </p:txBody>
      </p:sp>
      <p:sp>
        <p:nvSpPr>
          <p:cNvPr id="18" name="S37_shape_3"/>
          <p:cNvSpPr/>
          <p:nvPr/>
        </p:nvSpPr>
        <p:spPr>
          <a:xfrm>
            <a:off x="4846320" y="1408176"/>
            <a:ext cx="3977639" cy="3273552"/>
          </a:xfrm>
          <a:prstGeom prst="rect">
            <a:avLst/>
          </a:prstGeom>
          <a:solidFill>
            <a:srgbClr val="F2F1F0"/>
          </a:solidFill>
          <a:ln w="1270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37_text_FIGURE_PLACEHOLDER_SDFStent"/>
          <p:cNvSpPr txBox="1"/>
          <p:nvPr/>
        </p:nvSpPr>
        <p:spPr>
          <a:xfrm>
            <a:off x="4956048" y="1408176"/>
            <a:ext cx="3758183" cy="3273552"/>
          </a:xfrm>
          <a:prstGeom prst="rect">
            <a:avLst/>
          </a:prstGeom>
          <a:noFill/>
        </p:spPr>
        <p:txBody>
          <a:bodyPr wrap="square" tIns="0" bIns="0" anchor="ctr">
            <a:spAutoFit/>
          </a:bodyPr>
          <a:lstStyle/>
          <a:p>
            <a:pPr algn="ctr">
              <a:spcAft>
                <a:spcPts val="300"/>
              </a:spcAft>
            </a:pPr>
            <a:r>
              <a:rPr sz="1100" b="1" i="0">
                <a:solidFill>
                  <a:srgbClr val="E98300"/>
                </a:solidFill>
                <a:latin typeface="Calibri"/>
              </a:rPr>
              <a:t>FIGURE PLACEHOLDER</a:t>
            </a:r>
          </a:p>
          <a:p>
            <a:pPr algn="ctr">
              <a:spcAft>
                <a:spcPts val="300"/>
              </a:spcAft>
            </a:pPr>
            <a:r>
              <a:rPr sz="1100" b="1" i="0">
                <a:solidFill>
                  <a:srgbClr val="6B6965"/>
                </a:solidFill>
                <a:latin typeface="Calibri"/>
              </a:rPr>
              <a:t>SDFStent method figure</a:t>
            </a:r>
          </a:p>
          <a:p>
            <a:pPr algn="ctr">
              <a:spcAft>
                <a:spcPts val="300"/>
              </a:spcAft>
            </a:pPr>
            <a:r>
              <a:rPr sz="1100" b="0" i="1">
                <a:solidFill>
                  <a:srgbClr val="6B6965"/>
                </a:solidFill>
                <a:latin typeface="Calibri"/>
              </a:rPr>
              <a:t>Drop in the schematic from the SDFStent manuscript</a:t>
            </a:r>
          </a:p>
        </p:txBody>
      </p:sp>
      <p:sp>
        <p:nvSpPr>
          <p:cNvPr id="20" name="S37_shape_4"/>
          <p:cNvSpPr/>
          <p:nvPr/>
        </p:nvSpPr>
        <p:spPr>
          <a:xfrm>
            <a:off x="320040" y="4828032"/>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37_text_Post_op_BCs"/>
          <p:cNvSpPr txBox="1"/>
          <p:nvPr/>
        </p:nvSpPr>
        <p:spPr>
          <a:xfrm>
            <a:off x="429768" y="4828032"/>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Post-op BCs are the tuned pre-op ones, unchanged: only the geometry differs.</a:t>
            </a:r>
          </a:p>
        </p:txBody>
      </p:sp>
      <p:sp>
        <p:nvSpPr>
          <p:cNvPr id="22" name="S37_text_SDFStent_manuscript_on"/>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SDFStent: manuscript on arXiv, accepted for publication.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Acute post-operative response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pic>
        <p:nvPicPr>
          <p:cNvPr id="12" name="S38_picture" descr="acutegeom_T1.png"/>
          <p:cNvPicPr>
            <a:picLocks noChangeAspect="1"/>
          </p:cNvPicPr>
          <p:nvPr/>
        </p:nvPicPr>
        <p:blipFill>
          <a:blip r:embed="rId2"/>
          <a:stretch>
            <a:fillRect/>
          </a:stretch>
        </p:blipFill>
        <p:spPr>
          <a:xfrm>
            <a:off x="320040" y="1816890"/>
            <a:ext cx="2016252" cy="929075"/>
          </a:xfrm>
          <a:prstGeom prst="rect">
            <a:avLst/>
          </a:prstGeom>
        </p:spPr>
      </p:pic>
      <p:sp>
        <p:nvSpPr>
          <p:cNvPr id="13" name="S38_text_TST_STAN_1"/>
          <p:cNvSpPr txBox="1"/>
          <p:nvPr/>
        </p:nvSpPr>
        <p:spPr>
          <a:xfrm>
            <a:off x="320040" y="3209544"/>
            <a:ext cx="2016252" cy="201168"/>
          </a:xfrm>
          <a:prstGeom prst="rect">
            <a:avLst/>
          </a:prstGeom>
          <a:noFill/>
        </p:spPr>
        <p:txBody>
          <a:bodyPr wrap="square" lIns="27432" tIns="0" rIns="27432" bIns="0" anchor="t">
            <a:spAutoFit/>
          </a:bodyPr>
          <a:lstStyle/>
          <a:p>
            <a:pPr algn="ctr"/>
            <a:r>
              <a:rPr sz="1100" b="0" i="1">
                <a:solidFill>
                  <a:srgbClr val="6B6965"/>
                </a:solidFill>
                <a:latin typeface="Calibri"/>
              </a:rPr>
              <a:t>TST-STAN-1</a:t>
            </a:r>
          </a:p>
        </p:txBody>
      </p:sp>
      <p:pic>
        <p:nvPicPr>
          <p:cNvPr id="14" name="S38_picture_2" descr="acutegeom_T2.png"/>
          <p:cNvPicPr>
            <a:picLocks noChangeAspect="1"/>
          </p:cNvPicPr>
          <p:nvPr/>
        </p:nvPicPr>
        <p:blipFill>
          <a:blip r:embed="rId3"/>
          <a:stretch>
            <a:fillRect/>
          </a:stretch>
        </p:blipFill>
        <p:spPr>
          <a:xfrm>
            <a:off x="2482596" y="1816890"/>
            <a:ext cx="2016252" cy="929075"/>
          </a:xfrm>
          <a:prstGeom prst="rect">
            <a:avLst/>
          </a:prstGeom>
        </p:spPr>
      </p:pic>
      <p:sp>
        <p:nvSpPr>
          <p:cNvPr id="15" name="S38_text_TST_STAN_2"/>
          <p:cNvSpPr txBox="1"/>
          <p:nvPr/>
        </p:nvSpPr>
        <p:spPr>
          <a:xfrm>
            <a:off x="2482596" y="3209544"/>
            <a:ext cx="2016252" cy="201168"/>
          </a:xfrm>
          <a:prstGeom prst="rect">
            <a:avLst/>
          </a:prstGeom>
          <a:noFill/>
        </p:spPr>
        <p:txBody>
          <a:bodyPr wrap="square" lIns="27432" tIns="0" rIns="27432" bIns="0" anchor="t">
            <a:spAutoFit/>
          </a:bodyPr>
          <a:lstStyle/>
          <a:p>
            <a:pPr algn="ctr"/>
            <a:r>
              <a:rPr sz="1100" b="0" i="1">
                <a:solidFill>
                  <a:srgbClr val="6B6965"/>
                </a:solidFill>
                <a:latin typeface="Calibri"/>
              </a:rPr>
              <a:t>TST-STAN-2</a:t>
            </a:r>
          </a:p>
        </p:txBody>
      </p:sp>
      <p:pic>
        <p:nvPicPr>
          <p:cNvPr id="16" name="S38_picture_3" descr="acutegeom_T3.png"/>
          <p:cNvPicPr>
            <a:picLocks noChangeAspect="1"/>
          </p:cNvPicPr>
          <p:nvPr/>
        </p:nvPicPr>
        <p:blipFill>
          <a:blip r:embed="rId4"/>
          <a:stretch>
            <a:fillRect/>
          </a:stretch>
        </p:blipFill>
        <p:spPr>
          <a:xfrm>
            <a:off x="4645152" y="1816890"/>
            <a:ext cx="2016252" cy="929075"/>
          </a:xfrm>
          <a:prstGeom prst="rect">
            <a:avLst/>
          </a:prstGeom>
        </p:spPr>
      </p:pic>
      <p:sp>
        <p:nvSpPr>
          <p:cNvPr id="17" name="S38_text_TST_STAN_3"/>
          <p:cNvSpPr txBox="1"/>
          <p:nvPr/>
        </p:nvSpPr>
        <p:spPr>
          <a:xfrm>
            <a:off x="4645152" y="3209544"/>
            <a:ext cx="2016252" cy="201168"/>
          </a:xfrm>
          <a:prstGeom prst="rect">
            <a:avLst/>
          </a:prstGeom>
          <a:noFill/>
        </p:spPr>
        <p:txBody>
          <a:bodyPr wrap="square" lIns="27432" tIns="0" rIns="27432" bIns="0" anchor="t">
            <a:spAutoFit/>
          </a:bodyPr>
          <a:lstStyle/>
          <a:p>
            <a:pPr algn="ctr"/>
            <a:r>
              <a:rPr sz="1100" b="0" i="1">
                <a:solidFill>
                  <a:srgbClr val="6B6965"/>
                </a:solidFill>
                <a:latin typeface="Calibri"/>
              </a:rPr>
              <a:t>TST-STAN-3</a:t>
            </a:r>
          </a:p>
        </p:txBody>
      </p:sp>
      <p:pic>
        <p:nvPicPr>
          <p:cNvPr id="18" name="S38_picture_4" descr="acutegeom_T9.png"/>
          <p:cNvPicPr>
            <a:picLocks noChangeAspect="1"/>
          </p:cNvPicPr>
          <p:nvPr/>
        </p:nvPicPr>
        <p:blipFill>
          <a:blip r:embed="rId5"/>
          <a:stretch>
            <a:fillRect/>
          </a:stretch>
        </p:blipFill>
        <p:spPr>
          <a:xfrm>
            <a:off x="6807708" y="1816890"/>
            <a:ext cx="2016252" cy="929075"/>
          </a:xfrm>
          <a:prstGeom prst="rect">
            <a:avLst/>
          </a:prstGeom>
        </p:spPr>
      </p:pic>
      <p:sp>
        <p:nvSpPr>
          <p:cNvPr id="19" name="S38_text_TST_STAN_9"/>
          <p:cNvSpPr txBox="1"/>
          <p:nvPr/>
        </p:nvSpPr>
        <p:spPr>
          <a:xfrm>
            <a:off x="6807708" y="3209544"/>
            <a:ext cx="2016252" cy="201168"/>
          </a:xfrm>
          <a:prstGeom prst="rect">
            <a:avLst/>
          </a:prstGeom>
          <a:noFill/>
        </p:spPr>
        <p:txBody>
          <a:bodyPr wrap="square" lIns="27432" tIns="0" rIns="27432" bIns="0" anchor="t">
            <a:spAutoFit/>
          </a:bodyPr>
          <a:lstStyle/>
          <a:p>
            <a:pPr algn="ctr"/>
            <a:r>
              <a:rPr sz="1100" b="0" i="1">
                <a:solidFill>
                  <a:srgbClr val="6B6965"/>
                </a:solidFill>
                <a:latin typeface="Calibri"/>
              </a:rPr>
              <a:t>TST-STAN-9</a:t>
            </a:r>
          </a:p>
        </p:txBody>
      </p:sp>
      <p:sp>
        <p:nvSpPr>
          <p:cNvPr id="20" name="S38_text_Pre_operative_calibrated"/>
          <p:cNvSpPr txBox="1"/>
          <p:nvPr/>
        </p:nvSpPr>
        <p:spPr>
          <a:xfrm>
            <a:off x="320040" y="3493008"/>
            <a:ext cx="8503920" cy="201168"/>
          </a:xfrm>
          <a:prstGeom prst="rect">
            <a:avLst/>
          </a:prstGeom>
          <a:noFill/>
        </p:spPr>
        <p:txBody>
          <a:bodyPr wrap="square" lIns="27432" tIns="0" rIns="27432" bIns="0" anchor="t">
            <a:spAutoFit/>
          </a:bodyPr>
          <a:lstStyle/>
          <a:p>
            <a:pPr algn="ctr"/>
            <a:r>
              <a:rPr sz="1100" b="0" i="1">
                <a:solidFill>
                  <a:srgbClr val="6B6965"/>
                </a:solidFill>
                <a:latin typeface="Calibri"/>
              </a:rPr>
              <a:t>Pre-operative calibrated geometry (left of each pair) and the virtually stented geometry with boundary conditions held fixed (right).</a:t>
            </a:r>
          </a:p>
        </p:txBody>
      </p:sp>
      <p:sp>
        <p:nvSpPr>
          <p:cNvPr id="21" name="S38_shape"/>
          <p:cNvSpPr/>
          <p:nvPr/>
        </p:nvSpPr>
        <p:spPr>
          <a:xfrm>
            <a:off x="320040" y="3803904"/>
            <a:ext cx="4160520" cy="93268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38_text_What_this_isolates"/>
          <p:cNvSpPr txBox="1"/>
          <p:nvPr/>
        </p:nvSpPr>
        <p:spPr>
          <a:xfrm>
            <a:off x="448056" y="3904488"/>
            <a:ext cx="3904487" cy="219456"/>
          </a:xfrm>
          <a:prstGeom prst="rect">
            <a:avLst/>
          </a:prstGeom>
          <a:noFill/>
        </p:spPr>
        <p:txBody>
          <a:bodyPr wrap="square" lIns="27432" tIns="0" rIns="27432" bIns="0" anchor="t">
            <a:spAutoFit/>
          </a:bodyPr>
          <a:lstStyle/>
          <a:p>
            <a:pPr algn="l"/>
            <a:r>
              <a:rPr sz="1400" b="1" i="0">
                <a:solidFill>
                  <a:srgbClr val="8C1515"/>
                </a:solidFill>
                <a:latin typeface="Calibri"/>
              </a:rPr>
              <a:t>What this isolates</a:t>
            </a:r>
          </a:p>
        </p:txBody>
      </p:sp>
      <p:sp>
        <p:nvSpPr>
          <p:cNvPr id="23" name="S38_text_The_pressure_and"/>
          <p:cNvSpPr txBox="1"/>
          <p:nvPr/>
        </p:nvSpPr>
        <p:spPr>
          <a:xfrm>
            <a:off x="448056" y="4178808"/>
            <a:ext cx="3904487" cy="521208"/>
          </a:xfrm>
          <a:prstGeom prst="rect">
            <a:avLst/>
          </a:prstGeom>
          <a:noFill/>
        </p:spPr>
        <p:txBody>
          <a:bodyPr wrap="square" lIns="27432" tIns="0" rIns="27432" bIns="0">
            <a:spAutoFit/>
          </a:bodyPr>
          <a:lstStyle/>
          <a:p>
            <a:pPr>
              <a:spcAft>
                <a:spcPts val="350"/>
              </a:spcAft>
            </a:pPr>
            <a:r>
              <a:rPr sz="1100">
                <a:solidFill>
                  <a:srgbClr val="8C1515"/>
                </a:solidFill>
                <a:latin typeface="Calibri"/>
              </a:rPr>
              <a:t>• </a:t>
            </a:r>
            <a:r>
              <a:rPr sz="1100">
                <a:solidFill>
                  <a:srgbClr val="2E2D29"/>
                </a:solidFill>
                <a:latin typeface="Calibri"/>
              </a:rPr>
              <a:t>The pressure and flow change attributable purely to the geometric intervention</a:t>
            </a:r>
          </a:p>
        </p:txBody>
      </p:sp>
      <p:sp>
        <p:nvSpPr>
          <p:cNvPr id="24" name="S38_shape_2"/>
          <p:cNvSpPr/>
          <p:nvPr/>
        </p:nvSpPr>
        <p:spPr>
          <a:xfrm>
            <a:off x="4663440" y="3803904"/>
            <a:ext cx="4160520" cy="93268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38_text_What_it_cannot"/>
          <p:cNvSpPr txBox="1"/>
          <p:nvPr/>
        </p:nvSpPr>
        <p:spPr>
          <a:xfrm>
            <a:off x="4791455" y="3904488"/>
            <a:ext cx="3904487" cy="219456"/>
          </a:xfrm>
          <a:prstGeom prst="rect">
            <a:avLst/>
          </a:prstGeom>
          <a:noFill/>
        </p:spPr>
        <p:txBody>
          <a:bodyPr wrap="square" lIns="27432" tIns="0" rIns="27432" bIns="0" anchor="t">
            <a:spAutoFit/>
          </a:bodyPr>
          <a:lstStyle/>
          <a:p>
            <a:pPr algn="l"/>
            <a:r>
              <a:rPr sz="1400" b="1" i="0">
                <a:solidFill>
                  <a:srgbClr val="E98300"/>
                </a:solidFill>
                <a:latin typeface="Calibri"/>
              </a:rPr>
              <a:t>What it cannot reach</a:t>
            </a:r>
          </a:p>
        </p:txBody>
      </p:sp>
      <p:sp>
        <p:nvSpPr>
          <p:cNvPr id="26" name="S38_text_The_measured_post"/>
          <p:cNvSpPr txBox="1"/>
          <p:nvPr/>
        </p:nvSpPr>
        <p:spPr>
          <a:xfrm>
            <a:off x="4791455" y="4178808"/>
            <a:ext cx="3904487" cy="521208"/>
          </a:xfrm>
          <a:prstGeom prst="rect">
            <a:avLst/>
          </a:prstGeom>
          <a:noFill/>
        </p:spPr>
        <p:txBody>
          <a:bodyPr wrap="square" lIns="27432" tIns="0" rIns="27432" bIns="0">
            <a:spAutoFit/>
          </a:bodyPr>
          <a:lstStyle/>
          <a:p>
            <a:pPr>
              <a:spcAft>
                <a:spcPts val="350"/>
              </a:spcAft>
            </a:pPr>
            <a:r>
              <a:rPr sz="1100">
                <a:solidFill>
                  <a:srgbClr val="E98300"/>
                </a:solidFill>
                <a:latin typeface="Calibri"/>
              </a:rPr>
              <a:t>• </a:t>
            </a:r>
            <a:r>
              <a:rPr sz="1100">
                <a:solidFill>
                  <a:srgbClr val="2E2D29"/>
                </a:solidFill>
                <a:latin typeface="Calibri"/>
              </a:rPr>
              <a:t>The measured post-operative flow split, which reflects a remodelled distal bed</a:t>
            </a:r>
          </a:p>
        </p:txBody>
      </p:sp>
      <p:sp>
        <p:nvSpPr>
          <p:cNvPr id="27" name="S38_shape_3"/>
          <p:cNvSpPr/>
          <p:nvPr/>
        </p:nvSpPr>
        <p:spPr>
          <a:xfrm>
            <a:off x="320040" y="484632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38_text_This_acute_state"/>
          <p:cNvSpPr txBox="1"/>
          <p:nvPr/>
        </p:nvSpPr>
        <p:spPr>
          <a:xfrm>
            <a:off x="429768" y="4846320"/>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This acute state is the perturbation that drives Stage 5.</a:t>
            </a:r>
          </a:p>
        </p:txBody>
      </p:sp>
      <p:sp>
        <p:nvSpPr>
          <p:cNvPr id="29" name="S4_55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Renders from the May 2026 runs on the earlier BCs; not yet rerun under the tied model.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Pre- and post-operative resistance maps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pic>
        <p:nvPicPr>
          <p:cNvPr id="12" name="S39_picture" descr="resmap_T1.png"/>
          <p:cNvPicPr>
            <a:picLocks noChangeAspect="1"/>
          </p:cNvPicPr>
          <p:nvPr/>
        </p:nvPicPr>
        <p:blipFill>
          <a:blip r:embed="rId2"/>
          <a:stretch>
            <a:fillRect/>
          </a:stretch>
        </p:blipFill>
        <p:spPr>
          <a:xfrm>
            <a:off x="320040" y="1870480"/>
            <a:ext cx="2016252" cy="1187655"/>
          </a:xfrm>
          <a:prstGeom prst="rect">
            <a:avLst/>
          </a:prstGeom>
        </p:spPr>
      </p:pic>
      <p:sp>
        <p:nvSpPr>
          <p:cNvPr id="13" name="S39_text_TST_STAN_1"/>
          <p:cNvSpPr txBox="1"/>
          <p:nvPr/>
        </p:nvSpPr>
        <p:spPr>
          <a:xfrm>
            <a:off x="320040" y="3575304"/>
            <a:ext cx="2016252" cy="201168"/>
          </a:xfrm>
          <a:prstGeom prst="rect">
            <a:avLst/>
          </a:prstGeom>
          <a:noFill/>
        </p:spPr>
        <p:txBody>
          <a:bodyPr wrap="square" lIns="27432" tIns="0" rIns="27432" bIns="0" anchor="t">
            <a:spAutoFit/>
          </a:bodyPr>
          <a:lstStyle/>
          <a:p>
            <a:pPr algn="ctr"/>
            <a:r>
              <a:rPr sz="1100" b="0" i="1">
                <a:solidFill>
                  <a:srgbClr val="6B6965"/>
                </a:solidFill>
                <a:latin typeface="Calibri"/>
              </a:rPr>
              <a:t>TST-STAN-1</a:t>
            </a:r>
          </a:p>
        </p:txBody>
      </p:sp>
      <p:pic>
        <p:nvPicPr>
          <p:cNvPr id="14" name="S39_picture_2" descr="resmap_T2.png"/>
          <p:cNvPicPr>
            <a:picLocks noChangeAspect="1"/>
          </p:cNvPicPr>
          <p:nvPr/>
        </p:nvPicPr>
        <p:blipFill>
          <a:blip r:embed="rId3"/>
          <a:stretch>
            <a:fillRect/>
          </a:stretch>
        </p:blipFill>
        <p:spPr>
          <a:xfrm>
            <a:off x="2482596" y="1870480"/>
            <a:ext cx="2016252" cy="1187655"/>
          </a:xfrm>
          <a:prstGeom prst="rect">
            <a:avLst/>
          </a:prstGeom>
        </p:spPr>
      </p:pic>
      <p:sp>
        <p:nvSpPr>
          <p:cNvPr id="15" name="S39_text_TST_STAN_2"/>
          <p:cNvSpPr txBox="1"/>
          <p:nvPr/>
        </p:nvSpPr>
        <p:spPr>
          <a:xfrm>
            <a:off x="2482596" y="3575304"/>
            <a:ext cx="2016252" cy="201168"/>
          </a:xfrm>
          <a:prstGeom prst="rect">
            <a:avLst/>
          </a:prstGeom>
          <a:noFill/>
        </p:spPr>
        <p:txBody>
          <a:bodyPr wrap="square" lIns="27432" tIns="0" rIns="27432" bIns="0" anchor="t">
            <a:spAutoFit/>
          </a:bodyPr>
          <a:lstStyle/>
          <a:p>
            <a:pPr algn="ctr"/>
            <a:r>
              <a:rPr sz="1100" b="0" i="1">
                <a:solidFill>
                  <a:srgbClr val="6B6965"/>
                </a:solidFill>
                <a:latin typeface="Calibri"/>
              </a:rPr>
              <a:t>TST-STAN-2</a:t>
            </a:r>
          </a:p>
        </p:txBody>
      </p:sp>
      <p:pic>
        <p:nvPicPr>
          <p:cNvPr id="16" name="S39_picture_3" descr="resmap_T3.png"/>
          <p:cNvPicPr>
            <a:picLocks noChangeAspect="1"/>
          </p:cNvPicPr>
          <p:nvPr/>
        </p:nvPicPr>
        <p:blipFill>
          <a:blip r:embed="rId4"/>
          <a:stretch>
            <a:fillRect/>
          </a:stretch>
        </p:blipFill>
        <p:spPr>
          <a:xfrm>
            <a:off x="4645152" y="1870480"/>
            <a:ext cx="2016252" cy="1187655"/>
          </a:xfrm>
          <a:prstGeom prst="rect">
            <a:avLst/>
          </a:prstGeom>
        </p:spPr>
      </p:pic>
      <p:sp>
        <p:nvSpPr>
          <p:cNvPr id="17" name="S39_text_TST_STAN_3"/>
          <p:cNvSpPr txBox="1"/>
          <p:nvPr/>
        </p:nvSpPr>
        <p:spPr>
          <a:xfrm>
            <a:off x="4645152" y="3575304"/>
            <a:ext cx="2016252" cy="201168"/>
          </a:xfrm>
          <a:prstGeom prst="rect">
            <a:avLst/>
          </a:prstGeom>
          <a:noFill/>
        </p:spPr>
        <p:txBody>
          <a:bodyPr wrap="square" lIns="27432" tIns="0" rIns="27432" bIns="0" anchor="t">
            <a:spAutoFit/>
          </a:bodyPr>
          <a:lstStyle/>
          <a:p>
            <a:pPr algn="ctr"/>
            <a:r>
              <a:rPr sz="1100" b="0" i="1">
                <a:solidFill>
                  <a:srgbClr val="6B6965"/>
                </a:solidFill>
                <a:latin typeface="Calibri"/>
              </a:rPr>
              <a:t>TST-STAN-3</a:t>
            </a:r>
          </a:p>
        </p:txBody>
      </p:sp>
      <p:pic>
        <p:nvPicPr>
          <p:cNvPr id="18" name="S39_picture_4" descr="resmap_T9.png"/>
          <p:cNvPicPr>
            <a:picLocks noChangeAspect="1"/>
          </p:cNvPicPr>
          <p:nvPr/>
        </p:nvPicPr>
        <p:blipFill>
          <a:blip r:embed="rId5"/>
          <a:stretch>
            <a:fillRect/>
          </a:stretch>
        </p:blipFill>
        <p:spPr>
          <a:xfrm>
            <a:off x="6807708" y="1870480"/>
            <a:ext cx="2016252" cy="1187655"/>
          </a:xfrm>
          <a:prstGeom prst="rect">
            <a:avLst/>
          </a:prstGeom>
        </p:spPr>
      </p:pic>
      <p:sp>
        <p:nvSpPr>
          <p:cNvPr id="19" name="S39_text_TST_STAN_9"/>
          <p:cNvSpPr txBox="1"/>
          <p:nvPr/>
        </p:nvSpPr>
        <p:spPr>
          <a:xfrm>
            <a:off x="6807708" y="3575304"/>
            <a:ext cx="2016252" cy="201168"/>
          </a:xfrm>
          <a:prstGeom prst="rect">
            <a:avLst/>
          </a:prstGeom>
          <a:noFill/>
        </p:spPr>
        <p:txBody>
          <a:bodyPr wrap="square" lIns="27432" tIns="0" rIns="27432" bIns="0" anchor="t">
            <a:spAutoFit/>
          </a:bodyPr>
          <a:lstStyle/>
          <a:p>
            <a:pPr algn="ctr"/>
            <a:r>
              <a:rPr sz="1100" b="0" i="1">
                <a:solidFill>
                  <a:srgbClr val="6B6965"/>
                </a:solidFill>
                <a:latin typeface="Calibri"/>
              </a:rPr>
              <a:t>TST-STAN-9</a:t>
            </a:r>
          </a:p>
        </p:txBody>
      </p:sp>
      <p:sp>
        <p:nvSpPr>
          <p:cNvPr id="20" name="S39_text_Systolic_resistance_is"/>
          <p:cNvSpPr txBox="1"/>
          <p:nvPr/>
        </p:nvSpPr>
        <p:spPr>
          <a:xfrm>
            <a:off x="320040" y="3895344"/>
            <a:ext cx="8503920" cy="822960"/>
          </a:xfrm>
          <a:prstGeom prst="rect">
            <a:avLst/>
          </a:prstGeom>
          <a:noFill/>
        </p:spPr>
        <p:txBody>
          <a:bodyPr wrap="square" lIns="27432" tIns="0" rIns="27432" bIns="0">
            <a:spAutoFit/>
          </a:bodyPr>
          <a:lstStyle/>
          <a:p>
            <a:pPr>
              <a:spcAft>
                <a:spcPts val="600"/>
              </a:spcAft>
            </a:pPr>
            <a:r>
              <a:rPr sz="1100">
                <a:solidFill>
                  <a:srgbClr val="8C1515"/>
                </a:solidFill>
                <a:latin typeface="Calibri"/>
              </a:rPr>
              <a:t>• </a:t>
            </a:r>
            <a:r>
              <a:rPr sz="1100">
                <a:solidFill>
                  <a:srgbClr val="2E2D29"/>
                </a:solidFill>
                <a:latin typeface="Calibri"/>
              </a:rPr>
              <a:t>Systolic resistance is mapped along the tree so the intervention's effect can be localized rather than read only at the MPA</a:t>
            </a:r>
          </a:p>
          <a:p>
            <a:pPr>
              <a:spcAft>
                <a:spcPts val="600"/>
              </a:spcAft>
            </a:pPr>
            <a:r>
              <a:rPr sz="1100">
                <a:solidFill>
                  <a:srgbClr val="8C1515"/>
                </a:solidFill>
                <a:latin typeface="Calibri"/>
              </a:rPr>
              <a:t>• The pre- to post-operative change in branch resistance is what the Stage 5 territory update uses</a:t>
            </a:r>
          </a:p>
        </p:txBody>
      </p:sp>
      <p:sp>
        <p:nvSpPr>
          <p:cNvPr id="21" name="S39_shape"/>
          <p:cNvSpPr/>
          <p:nvPr/>
        </p:nvSpPr>
        <p:spPr>
          <a:xfrm>
            <a:off x="320040" y="484632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39_text_Resistance_maps_are"/>
          <p:cNvSpPr txBox="1"/>
          <p:nvPr/>
        </p:nvSpPr>
        <p:spPr>
          <a:xfrm>
            <a:off x="429768" y="4846320"/>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Resistance maps are the bridge between the 3D result and the adaptation driver.</a:t>
            </a:r>
          </a:p>
        </p:txBody>
      </p:sp>
      <p:sp>
        <p:nvSpPr>
          <p:cNvPr id="23" name="S4_56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Renders from the May 2026 runs on the earlier BCs; not yet rerun under the tied model.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Path to publication: Stage 4</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graphicFrame>
        <p:nvGraphicFramePr>
          <p:cNvPr id="12" name="S4_path_table"/>
          <p:cNvGraphicFramePr>
            <a:graphicFrameLocks noGrp="1"/>
          </p:cNvGraphicFramePr>
          <p:nvPr/>
        </p:nvGraphicFramePr>
        <p:xfrm>
          <a:off x="320040" y="1417320"/>
          <a:ext cx="8503920" cy="2414016"/>
        </p:xfrm>
        <a:graphic>
          <a:graphicData uri="http://schemas.openxmlformats.org/drawingml/2006/table">
            <a:tbl>
              <a:tblPr firstRow="1" bandRow="0">
                <a:tableStyleId>{5C22544A-7EE6-4342-B048-85BDC9FD1C3A}</a:tableStyleId>
              </a:tblPr>
              <a:tblGrid>
                <a:gridCol w="4572000"/>
                <a:gridCol w="1325880"/>
                <a:gridCol w="2606040"/>
              </a:tblGrid>
              <a:tr h="402336">
                <a:tc>
                  <a:txBody>
                    <a:bodyPr wrap="square"/>
                    <a:lstStyle/>
                    <a:p>
                      <a:r>
                        <a:rPr sz="1300" b="1">
                          <a:solidFill>
                            <a:srgbClr val="FFFFFF"/>
                          </a:solidFill>
                          <a:latin typeface="Calibri"/>
                        </a:rPr>
                        <a:t>Action item</a:t>
                      </a:r>
                    </a:p>
                  </a:txBody>
                  <a:tcPr marL="54864" marR="54864" marT="27432" marB="27432" anchor="ctr">
                    <a:solidFill>
                      <a:srgbClr val="8C1515"/>
                    </a:solidFill>
                  </a:tcPr>
                </a:tc>
                <a:tc>
                  <a:txBody>
                    <a:bodyPr wrap="square"/>
                    <a:lstStyle/>
                    <a:p>
                      <a:r>
                        <a:rPr sz="1300" b="1">
                          <a:solidFill>
                            <a:srgbClr val="FFFFFF"/>
                          </a:solidFill>
                          <a:latin typeface="Calibri"/>
                        </a:rPr>
                        <a:t>Status</a:t>
                      </a:r>
                    </a:p>
                  </a:txBody>
                  <a:tcPr marL="54864" marR="54864" marT="27432" marB="27432" anchor="ctr">
                    <a:solidFill>
                      <a:srgbClr val="8C1515"/>
                    </a:solidFill>
                  </a:tcPr>
                </a:tc>
                <a:tc>
                  <a:txBody>
                    <a:bodyPr wrap="square"/>
                    <a:lstStyle/>
                    <a:p>
                      <a:r>
                        <a:rPr sz="1300" b="1">
                          <a:solidFill>
                            <a:srgbClr val="FFFFFF"/>
                          </a:solidFill>
                          <a:latin typeface="Calibri"/>
                        </a:rPr>
                        <a:t>What it gates</a:t>
                      </a:r>
                    </a:p>
                  </a:txBody>
                  <a:tcPr marL="54864" marR="54864" marT="27432" marB="27432" anchor="ctr">
                    <a:solidFill>
                      <a:srgbClr val="8C1515"/>
                    </a:solidFill>
                  </a:tcPr>
                </a:tc>
              </a:tr>
              <a:tr h="402336">
                <a:tc>
                  <a:txBody>
                    <a:bodyPr wrap="square"/>
                    <a:lstStyle/>
                    <a:p>
                      <a:r>
                        <a:rPr sz="1300" b="0">
                          <a:solidFill>
                            <a:srgbClr val="2E2D29"/>
                          </a:solidFill>
                          <a:latin typeface="Calibri"/>
                        </a:rPr>
                        <a:t>Post-op runs under the current BCs (latest are May, earlier BCs)</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Stage 5 inputs</a:t>
                      </a:r>
                    </a:p>
                  </a:txBody>
                  <a:tcPr marL="54864" marR="54864" marT="27432" marB="27432" anchor="ctr">
                    <a:solidFill>
                      <a:srgbClr val="FFFFFF"/>
                    </a:solidFill>
                  </a:tcPr>
                </a:tc>
              </a:tr>
              <a:tr h="402336">
                <a:tc>
                  <a:txBody>
                    <a:bodyPr wrap="square"/>
                    <a:lstStyle/>
                    <a:p>
                      <a:r>
                        <a:rPr sz="1300" b="0">
                          <a:solidFill>
                            <a:srgbClr val="2E2D29"/>
                          </a:solidFill>
                          <a:latin typeface="Calibri"/>
                        </a:rPr>
                        <a:t>Check stent diameters against post-op angiography</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Post-op flow split</a:t>
                      </a:r>
                    </a:p>
                  </a:txBody>
                  <a:tcPr marL="54864" marR="54864" marT="27432" marB="27432" anchor="ctr">
                    <a:solidFill>
                      <a:srgbClr val="FFFFFF"/>
                    </a:solidFill>
                  </a:tcPr>
                </a:tc>
              </a:tr>
              <a:tr h="402336">
                <a:tc>
                  <a:txBody>
                    <a:bodyPr wrap="square"/>
                    <a:lstStyle/>
                    <a:p>
                      <a:r>
                        <a:rPr sz="1300" b="0">
                          <a:solidFill>
                            <a:srgbClr val="2E2D29"/>
                          </a:solidFill>
                          <a:latin typeface="Calibri"/>
                        </a:rPr>
                        <a:t>Confirm the post-op coupler pairs BCs to the mapped caps</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Stage 5 adaptation run</a:t>
                      </a:r>
                    </a:p>
                  </a:txBody>
                  <a:tcPr marL="54864" marR="54864" marT="27432" marB="27432" anchor="ctr">
                    <a:solidFill>
                      <a:srgbClr val="FFFFFF"/>
                    </a:solidFill>
                  </a:tcPr>
                </a:tc>
              </a:tr>
              <a:tr h="402336">
                <a:tc>
                  <a:txBody>
                    <a:bodyPr wrap="square"/>
                    <a:lstStyle/>
                    <a:p>
                      <a:r>
                        <a:rPr sz="1300" b="0">
                          <a:solidFill>
                            <a:srgbClr val="2E2D29"/>
                          </a:solidFill>
                          <a:latin typeface="Calibri"/>
                        </a:rPr>
                        <a:t>Boundary-layer meshes for the post-op geometries</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Final post-op numbers</a:t>
                      </a:r>
                    </a:p>
                  </a:txBody>
                  <a:tcPr marL="54864" marR="54864" marT="27432" marB="27432" anchor="ctr">
                    <a:solidFill>
                      <a:srgbClr val="FFFFFF"/>
                    </a:solidFill>
                  </a:tcPr>
                </a:tc>
              </a:tr>
              <a:tr h="402336">
                <a:tc>
                  <a:txBody>
                    <a:bodyPr wrap="square"/>
                    <a:lstStyle/>
                    <a:p>
                      <a:r>
                        <a:rPr sz="1300" b="0">
                          <a:solidFill>
                            <a:srgbClr val="2E2D29"/>
                          </a:solidFill>
                          <a:latin typeface="Calibri"/>
                        </a:rPr>
                        <a:t>SDFStent method figure for this deck</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Stage 4 method slide</a:t>
                      </a:r>
                    </a:p>
                  </a:txBody>
                  <a:tcPr marL="54864" marR="54864" marT="27432" marB="27432" anchor="ctr">
                    <a:solidFill>
                      <a:srgbClr val="FFFFFF"/>
                    </a:solidFill>
                  </a:tcPr>
                </a:tc>
              </a:tr>
            </a:tbl>
          </a:graphicData>
        </a:graphic>
      </p:graphicFrame>
      <p:sp>
        <p:nvSpPr>
          <p:cNvPr id="13" name="S4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Stage 4 waits on a selected pre-op iteration; the stent-size check can run in parallel.</a:t>
            </a:r>
          </a:p>
        </p:txBody>
      </p:sp>
      <p:sp>
        <p:nvSpPr>
          <p:cNvPr id="14" name="S4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 runs (postop submitted 15 to 26 May 2026, none since); svzt-agent docs/TUNING_MODEL.md section 8 item 5; PIPELINE_BRIEF open items.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ext Placeholder 1"/>
          <p:cNvSpPr>
            <a:spLocks noGrp="1"/>
          </p:cNvSpPr>
          <p:nvPr>
            <p:ph type="body" idx="1"/>
          </p:nvPr>
        </p:nvSpPr>
        <p:spPr>
          <a:xfrm>
            <a:off x="1362456" y="2971800"/>
            <a:ext cx="6400800" cy="658368"/>
          </a:xfrm>
        </p:spPr>
        <p:txBody>
          <a:bodyPr wrap="square" lIns="0" rIns="0"/>
          <a:lstStyle/>
          <a:p>
            <a:r>
              <a:rPr sz="1300">
                <a:solidFill>
                  <a:srgbClr val="FFFFFF"/>
                </a:solidFill>
                <a:latin typeface="Calibri"/>
              </a:rPr>
              <a:t>Integrating the structured trees to a new homeostatic state under the post-operative hemodynamic perturbation.</a:t>
            </a:r>
          </a:p>
        </p:txBody>
      </p:sp>
      <p:sp>
        <p:nvSpPr>
          <p:cNvPr id="4" name="Title 2"/>
          <p:cNvSpPr>
            <a:spLocks noGrp="1"/>
          </p:cNvSpPr>
          <p:nvPr>
            <p:ph type="ctrTitle"/>
          </p:nvPr>
        </p:nvSpPr>
        <p:spPr>
          <a:xfrm>
            <a:off x="1362456" y="1874519"/>
            <a:ext cx="7479792" cy="1005840"/>
          </a:xfrm>
        </p:spPr>
        <p:txBody>
          <a:bodyPr lIns="0" rIns="0" anchor="b"/>
          <a:lstStyle/>
          <a:p>
            <a:r>
              <a:rPr sz="3200">
                <a:solidFill>
                  <a:srgbClr val="FFFFFF"/>
                </a:solidFill>
                <a:latin typeface="Georgia"/>
              </a:rPr>
              <a:t>Microvascular Adaptation</a:t>
            </a:r>
          </a:p>
        </p:txBody>
      </p:sp>
      <p:sp>
        <p:nvSpPr>
          <p:cNvPr id="5" name="S41_text_STAGE_5_OF"/>
          <p:cNvSpPr txBox="1"/>
          <p:nvPr/>
        </p:nvSpPr>
        <p:spPr>
          <a:xfrm>
            <a:off x="1362456" y="1517904"/>
            <a:ext cx="7479792" cy="256032"/>
          </a:xfrm>
          <a:prstGeom prst="rect">
            <a:avLst/>
          </a:prstGeom>
          <a:noFill/>
        </p:spPr>
        <p:txBody>
          <a:bodyPr wrap="square" lIns="27432" tIns="0" rIns="27432" bIns="0" anchor="t">
            <a:spAutoFit/>
          </a:bodyPr>
          <a:lstStyle/>
          <a:p>
            <a:pPr algn="l"/>
            <a:r>
              <a:rPr sz="1100" b="1" i="0">
                <a:solidFill>
                  <a:srgbClr val="FFFFFF"/>
                </a:solidFill>
                <a:latin typeface="Calibri"/>
              </a:rPr>
              <a:t>STAGE 5 OF 7</a:t>
            </a:r>
          </a:p>
        </p:txBody>
      </p:sp>
      <p:sp>
        <p:nvSpPr>
          <p:cNvPr id="6" name="Ribbon_seg1"/>
          <p:cNvSpPr/>
          <p:nvPr/>
        </p:nvSpPr>
        <p:spPr>
          <a:xfrm>
            <a:off x="13624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1</a:t>
            </a:r>
          </a:p>
          <a:p>
            <a:pPr algn="ctr"/>
            <a:r>
              <a:rPr sz="1100" b="0">
                <a:solidFill>
                  <a:srgbClr val="FFFFFF"/>
                </a:solidFill>
                <a:latin typeface="Calibri"/>
              </a:rPr>
              <a:t>Inputs</a:t>
            </a:r>
          </a:p>
        </p:txBody>
      </p:sp>
      <p:sp>
        <p:nvSpPr>
          <p:cNvPr id="7" name="Ribbon_seg2"/>
          <p:cNvSpPr/>
          <p:nvPr/>
        </p:nvSpPr>
        <p:spPr>
          <a:xfrm>
            <a:off x="22873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2</a:t>
            </a:r>
          </a:p>
          <a:p>
            <a:pPr algn="ctr"/>
            <a:r>
              <a:rPr sz="1100" b="0">
                <a:solidFill>
                  <a:srgbClr val="FFFFFF"/>
                </a:solidFill>
                <a:latin typeface="Calibri"/>
              </a:rPr>
              <a:t>BC Tuning</a:t>
            </a:r>
          </a:p>
        </p:txBody>
      </p:sp>
      <p:sp>
        <p:nvSpPr>
          <p:cNvPr id="8" name="Ribbon_seg3"/>
          <p:cNvSpPr/>
          <p:nvPr/>
        </p:nvSpPr>
        <p:spPr>
          <a:xfrm>
            <a:off x="32121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3</a:t>
            </a:r>
          </a:p>
          <a:p>
            <a:pPr algn="ctr"/>
            <a:r>
              <a:rPr sz="1100" b="0">
                <a:solidFill>
                  <a:srgbClr val="FFFFFF"/>
                </a:solidFill>
                <a:latin typeface="Calibri"/>
              </a:rPr>
              <a:t>Pre-op Sim</a:t>
            </a:r>
          </a:p>
        </p:txBody>
      </p:sp>
      <p:sp>
        <p:nvSpPr>
          <p:cNvPr id="9" name="Ribbon_seg4"/>
          <p:cNvSpPr/>
          <p:nvPr/>
        </p:nvSpPr>
        <p:spPr>
          <a:xfrm>
            <a:off x="41370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4</a:t>
            </a:r>
          </a:p>
          <a:p>
            <a:pPr algn="ctr"/>
            <a:r>
              <a:rPr sz="1100" b="0">
                <a:solidFill>
                  <a:srgbClr val="FFFFFF"/>
                </a:solidFill>
                <a:latin typeface="Calibri"/>
              </a:rPr>
              <a:t>Post-op Sim</a:t>
            </a:r>
          </a:p>
        </p:txBody>
      </p:sp>
      <p:sp>
        <p:nvSpPr>
          <p:cNvPr id="10" name="Ribbon_seg5"/>
          <p:cNvSpPr/>
          <p:nvPr/>
        </p:nvSpPr>
        <p:spPr>
          <a:xfrm>
            <a:off x="5061857" y="4041648"/>
            <a:ext cx="869986"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1">
                <a:solidFill>
                  <a:srgbClr val="007C92"/>
                </a:solidFill>
                <a:latin typeface="Calibri"/>
              </a:rPr>
              <a:t>5</a:t>
            </a:r>
          </a:p>
          <a:p>
            <a:pPr algn="ctr"/>
            <a:r>
              <a:rPr sz="1100" b="1">
                <a:solidFill>
                  <a:srgbClr val="007C92"/>
                </a:solidFill>
                <a:latin typeface="Calibri"/>
              </a:rPr>
              <a:t>Adaptation</a:t>
            </a:r>
          </a:p>
        </p:txBody>
      </p:sp>
      <p:sp>
        <p:nvSpPr>
          <p:cNvPr id="11" name="Ribbon_seg6"/>
          <p:cNvSpPr/>
          <p:nvPr/>
        </p:nvSpPr>
        <p:spPr>
          <a:xfrm>
            <a:off x="598670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6</a:t>
            </a:r>
          </a:p>
          <a:p>
            <a:pPr algn="ctr"/>
            <a:r>
              <a:rPr sz="1100" b="0">
                <a:solidFill>
                  <a:srgbClr val="FFFFFF"/>
                </a:solidFill>
                <a:latin typeface="Calibri"/>
              </a:rPr>
              <a:t>Adapted Sim</a:t>
            </a:r>
          </a:p>
        </p:txBody>
      </p:sp>
      <p:sp>
        <p:nvSpPr>
          <p:cNvPr id="12" name="Ribbon_seg7"/>
          <p:cNvSpPr/>
          <p:nvPr/>
        </p:nvSpPr>
        <p:spPr>
          <a:xfrm>
            <a:off x="69115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7</a:t>
            </a:r>
          </a:p>
          <a:p>
            <a:pPr algn="ctr"/>
            <a:r>
              <a:rPr sz="1100" b="0">
                <a:solidFill>
                  <a:srgbClr val="FFFFFF"/>
                </a:solidFill>
                <a:latin typeface="Calibri"/>
              </a:rPr>
              <a:t>Metrics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The mechanobiological premise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42_shape"/>
          <p:cNvSpPr/>
          <p:nvPr/>
        </p:nvSpPr>
        <p:spPr>
          <a:xfrm>
            <a:off x="320040" y="1426464"/>
            <a:ext cx="1961388" cy="107899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42_text_Stenosis_relieved"/>
          <p:cNvSpPr txBox="1"/>
          <p:nvPr/>
        </p:nvSpPr>
        <p:spPr>
          <a:xfrm>
            <a:off x="411479" y="1536192"/>
            <a:ext cx="1778508" cy="237744"/>
          </a:xfrm>
          <a:prstGeom prst="rect">
            <a:avLst/>
          </a:prstGeom>
          <a:noFill/>
        </p:spPr>
        <p:txBody>
          <a:bodyPr wrap="square" lIns="27432" tIns="0" rIns="27432" bIns="0" anchor="t">
            <a:spAutoFit/>
          </a:bodyPr>
          <a:lstStyle/>
          <a:p>
            <a:pPr algn="l"/>
            <a:r>
              <a:rPr sz="1400" b="1" i="0">
                <a:solidFill>
                  <a:srgbClr val="8C1515"/>
                </a:solidFill>
                <a:latin typeface="Calibri"/>
              </a:rPr>
              <a:t>Stenosis relieved</a:t>
            </a:r>
          </a:p>
        </p:txBody>
      </p:sp>
      <p:sp>
        <p:nvSpPr>
          <p:cNvPr id="14" name="S42_text_Flow_to_the"/>
          <p:cNvSpPr txBox="1"/>
          <p:nvPr/>
        </p:nvSpPr>
        <p:spPr>
          <a:xfrm>
            <a:off x="411479" y="1810512"/>
            <a:ext cx="1778508" cy="621792"/>
          </a:xfrm>
          <a:prstGeom prst="rect">
            <a:avLst/>
          </a:prstGeom>
          <a:noFill/>
        </p:spPr>
        <p:txBody>
          <a:bodyPr wrap="square" lIns="27432" tIns="0" rIns="27432" bIns="0" anchor="t">
            <a:spAutoFit/>
          </a:bodyPr>
          <a:lstStyle/>
          <a:p>
            <a:pPr algn="l">
              <a:lnSpc>
                <a:spcPct val="112000"/>
              </a:lnSpc>
            </a:pPr>
            <a:r>
              <a:rPr sz="1100" b="0" i="0">
                <a:solidFill>
                  <a:srgbClr val="2E2D29"/>
                </a:solidFill>
                <a:latin typeface="Calibri"/>
              </a:rPr>
              <a:t>Flow to the downstream bed increases</a:t>
            </a:r>
          </a:p>
        </p:txBody>
      </p:sp>
      <p:sp>
        <p:nvSpPr>
          <p:cNvPr id="15" name="S42_shape_2"/>
          <p:cNvSpPr/>
          <p:nvPr/>
        </p:nvSpPr>
        <p:spPr>
          <a:xfrm>
            <a:off x="2308860" y="1883664"/>
            <a:ext cx="164592" cy="164592"/>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42_shape_3"/>
          <p:cNvSpPr/>
          <p:nvPr/>
        </p:nvSpPr>
        <p:spPr>
          <a:xfrm>
            <a:off x="2500884" y="1426464"/>
            <a:ext cx="1961388" cy="107899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42_text_Shear_rises"/>
          <p:cNvSpPr txBox="1"/>
          <p:nvPr/>
        </p:nvSpPr>
        <p:spPr>
          <a:xfrm>
            <a:off x="2592324" y="1536192"/>
            <a:ext cx="1778508" cy="237744"/>
          </a:xfrm>
          <a:prstGeom prst="rect">
            <a:avLst/>
          </a:prstGeom>
          <a:noFill/>
        </p:spPr>
        <p:txBody>
          <a:bodyPr wrap="square" lIns="27432" tIns="0" rIns="27432" bIns="0" anchor="t">
            <a:spAutoFit/>
          </a:bodyPr>
          <a:lstStyle/>
          <a:p>
            <a:pPr algn="l"/>
            <a:r>
              <a:rPr sz="1400" b="1" i="0">
                <a:solidFill>
                  <a:srgbClr val="8C1515"/>
                </a:solidFill>
                <a:latin typeface="Calibri"/>
              </a:rPr>
              <a:t>Shear rises</a:t>
            </a:r>
          </a:p>
        </p:txBody>
      </p:sp>
      <p:sp>
        <p:nvSpPr>
          <p:cNvPr id="18" name="S42_text_4_Q_r"/>
          <p:cNvSpPr txBox="1"/>
          <p:nvPr/>
        </p:nvSpPr>
        <p:spPr>
          <a:xfrm>
            <a:off x="2592324" y="1810512"/>
            <a:ext cx="1778508" cy="621792"/>
          </a:xfrm>
          <a:prstGeom prst="rect">
            <a:avLst/>
          </a:prstGeom>
          <a:noFill/>
        </p:spPr>
        <p:txBody>
          <a:bodyPr wrap="square" lIns="27432" tIns="0" rIns="27432" bIns="0" anchor="t">
            <a:spAutoFit/>
          </a:bodyPr>
          <a:lstStyle/>
          <a:p>
            <a:pPr algn="l">
              <a:lnSpc>
                <a:spcPct val="112000"/>
              </a:lnSpc>
            </a:pPr>
            <a:r>
              <a:rPr sz="1100" b="0" i="0">
                <a:solidFill>
                  <a:srgbClr val="2E2D29"/>
                </a:solidFill>
                <a:latin typeface="Calibri"/>
              </a:rPr>
              <a:t>τ = 4μQ / πr³ exceeds its homeostatic value</a:t>
            </a:r>
          </a:p>
        </p:txBody>
      </p:sp>
      <p:sp>
        <p:nvSpPr>
          <p:cNvPr id="19" name="S42_shape_4"/>
          <p:cNvSpPr/>
          <p:nvPr/>
        </p:nvSpPr>
        <p:spPr>
          <a:xfrm>
            <a:off x="4489704" y="1883664"/>
            <a:ext cx="164592" cy="164592"/>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42_shape_5"/>
          <p:cNvSpPr/>
          <p:nvPr/>
        </p:nvSpPr>
        <p:spPr>
          <a:xfrm>
            <a:off x="4681727" y="1426464"/>
            <a:ext cx="1961388" cy="107899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42_text_Vessels_dilate"/>
          <p:cNvSpPr txBox="1"/>
          <p:nvPr/>
        </p:nvSpPr>
        <p:spPr>
          <a:xfrm>
            <a:off x="4773167" y="1536192"/>
            <a:ext cx="1778508" cy="237744"/>
          </a:xfrm>
          <a:prstGeom prst="rect">
            <a:avLst/>
          </a:prstGeom>
          <a:noFill/>
        </p:spPr>
        <p:txBody>
          <a:bodyPr wrap="square" lIns="27432" tIns="0" rIns="27432" bIns="0" anchor="t">
            <a:spAutoFit/>
          </a:bodyPr>
          <a:lstStyle/>
          <a:p>
            <a:pPr algn="l"/>
            <a:r>
              <a:rPr sz="1400" b="1" i="0">
                <a:solidFill>
                  <a:srgbClr val="8C1515"/>
                </a:solidFill>
                <a:latin typeface="Calibri"/>
              </a:rPr>
              <a:t>Vessels dilate</a:t>
            </a:r>
          </a:p>
        </p:txBody>
      </p:sp>
      <p:sp>
        <p:nvSpPr>
          <p:cNvPr id="22" name="S42_text_Radius_increases_to"/>
          <p:cNvSpPr txBox="1"/>
          <p:nvPr/>
        </p:nvSpPr>
        <p:spPr>
          <a:xfrm>
            <a:off x="4773167" y="1810512"/>
            <a:ext cx="1778508" cy="621792"/>
          </a:xfrm>
          <a:prstGeom prst="rect">
            <a:avLst/>
          </a:prstGeom>
          <a:noFill/>
        </p:spPr>
        <p:txBody>
          <a:bodyPr wrap="square" lIns="27432" tIns="0" rIns="27432" bIns="0" anchor="t">
            <a:spAutoFit/>
          </a:bodyPr>
          <a:lstStyle/>
          <a:p>
            <a:pPr algn="l">
              <a:lnSpc>
                <a:spcPct val="112000"/>
              </a:lnSpc>
            </a:pPr>
            <a:r>
              <a:rPr sz="1100" b="0" i="0">
                <a:solidFill>
                  <a:srgbClr val="2E2D29"/>
                </a:solidFill>
                <a:latin typeface="Calibri"/>
              </a:rPr>
              <a:t>Radius increases to restore basal shear</a:t>
            </a:r>
          </a:p>
        </p:txBody>
      </p:sp>
      <p:sp>
        <p:nvSpPr>
          <p:cNvPr id="23" name="S42_shape_6"/>
          <p:cNvSpPr/>
          <p:nvPr/>
        </p:nvSpPr>
        <p:spPr>
          <a:xfrm>
            <a:off x="6670547" y="1883664"/>
            <a:ext cx="164592" cy="164592"/>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42_shape_7"/>
          <p:cNvSpPr/>
          <p:nvPr/>
        </p:nvSpPr>
        <p:spPr>
          <a:xfrm>
            <a:off x="6862571" y="1426464"/>
            <a:ext cx="1961388" cy="107899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42_text_Resistance_falls"/>
          <p:cNvSpPr txBox="1"/>
          <p:nvPr/>
        </p:nvSpPr>
        <p:spPr>
          <a:xfrm>
            <a:off x="6954011" y="1536192"/>
            <a:ext cx="1778508" cy="237744"/>
          </a:xfrm>
          <a:prstGeom prst="rect">
            <a:avLst/>
          </a:prstGeom>
          <a:noFill/>
        </p:spPr>
        <p:txBody>
          <a:bodyPr wrap="square" lIns="27432" tIns="0" rIns="27432" bIns="0" anchor="t">
            <a:spAutoFit/>
          </a:bodyPr>
          <a:lstStyle/>
          <a:p>
            <a:pPr algn="l"/>
            <a:r>
              <a:rPr sz="1400" b="1" i="0">
                <a:solidFill>
                  <a:srgbClr val="8C1515"/>
                </a:solidFill>
                <a:latin typeface="Calibri"/>
              </a:rPr>
              <a:t>Resistance falls</a:t>
            </a:r>
          </a:p>
        </p:txBody>
      </p:sp>
      <p:sp>
        <p:nvSpPr>
          <p:cNvPr id="26" name="S42_text_Flow_split_shifts"/>
          <p:cNvSpPr txBox="1"/>
          <p:nvPr/>
        </p:nvSpPr>
        <p:spPr>
          <a:xfrm>
            <a:off x="6954011" y="1810512"/>
            <a:ext cx="1778508" cy="621792"/>
          </a:xfrm>
          <a:prstGeom prst="rect">
            <a:avLst/>
          </a:prstGeom>
          <a:noFill/>
        </p:spPr>
        <p:txBody>
          <a:bodyPr wrap="square" lIns="27432" tIns="0" rIns="27432" bIns="0" anchor="t">
            <a:spAutoFit/>
          </a:bodyPr>
          <a:lstStyle/>
          <a:p>
            <a:pPr algn="l">
              <a:lnSpc>
                <a:spcPct val="112000"/>
              </a:lnSpc>
            </a:pPr>
            <a:r>
              <a:rPr sz="1100" b="0" i="0">
                <a:solidFill>
                  <a:srgbClr val="2E2D29"/>
                </a:solidFill>
                <a:latin typeface="Calibri"/>
              </a:rPr>
              <a:t>Flow split shifts further toward the treated side</a:t>
            </a:r>
          </a:p>
        </p:txBody>
      </p:sp>
      <p:sp>
        <p:nvSpPr>
          <p:cNvPr id="27" name="S42_text_Wall_stress_provides"/>
          <p:cNvSpPr txBox="1"/>
          <p:nvPr/>
        </p:nvSpPr>
        <p:spPr>
          <a:xfrm>
            <a:off x="320040" y="2688336"/>
            <a:ext cx="8503920" cy="615553"/>
          </a:xfrm>
          <a:prstGeom prst="rect">
            <a:avLst/>
          </a:prstGeom>
          <a:noFill/>
        </p:spPr>
        <p:txBody>
          <a:bodyPr wrap="square" lIns="27432" tIns="0" rIns="27432" bIns="0">
            <a:spAutoFit/>
          </a:bodyPr>
          <a:lstStyle/>
          <a:p>
            <a:pPr>
              <a:spcAft>
                <a:spcPts val="600"/>
              </a:spcAft>
            </a:pPr>
            <a:r>
              <a:rPr sz="1100" dirty="0">
                <a:solidFill>
                  <a:srgbClr val="8C1515"/>
                </a:solidFill>
                <a:latin typeface="Calibri"/>
              </a:rPr>
              <a:t>• </a:t>
            </a:r>
            <a:r>
              <a:rPr sz="1100" dirty="0">
                <a:solidFill>
                  <a:srgbClr val="2E2D29"/>
                </a:solidFill>
                <a:latin typeface="Calibri"/>
              </a:rPr>
              <a:t>Wall stress provides a second stimulus: </a:t>
            </a:r>
            <a:r>
              <a:rPr sz="1100" dirty="0" err="1">
                <a:solidFill>
                  <a:srgbClr val="2E2D29"/>
                </a:solidFill>
                <a:latin typeface="Calibri"/>
              </a:rPr>
              <a:t>σ</a:t>
            </a:r>
            <a:r>
              <a:rPr sz="1100" dirty="0">
                <a:solidFill>
                  <a:srgbClr val="2E2D29"/>
                </a:solidFill>
                <a:latin typeface="Calibri"/>
              </a:rPr>
              <a:t> = P r / h, which drives wall thickness as well as radius</a:t>
            </a:r>
          </a:p>
          <a:p>
            <a:pPr>
              <a:spcAft>
                <a:spcPts val="600"/>
              </a:spcAft>
            </a:pPr>
            <a:r>
              <a:rPr sz="1100" dirty="0">
                <a:solidFill>
                  <a:srgbClr val="8C1515"/>
                </a:solidFill>
                <a:latin typeface="Calibri"/>
              </a:rPr>
              <a:t>• </a:t>
            </a:r>
            <a:r>
              <a:rPr sz="1100" dirty="0">
                <a:solidFill>
                  <a:srgbClr val="2E2D29"/>
                </a:solidFill>
                <a:latin typeface="Calibri"/>
              </a:rPr>
              <a:t>Adapting both r and h gives a system with a stable fixed point, which pure shear-driven adaptation lacks</a:t>
            </a:r>
          </a:p>
          <a:p>
            <a:pPr>
              <a:spcAft>
                <a:spcPts val="600"/>
              </a:spcAft>
            </a:pPr>
            <a:r>
              <a:rPr sz="1100" dirty="0">
                <a:solidFill>
                  <a:srgbClr val="8C1515"/>
                </a:solidFill>
                <a:latin typeface="Calibri"/>
              </a:rPr>
              <a:t>• </a:t>
            </a:r>
            <a:r>
              <a:rPr sz="1100" dirty="0">
                <a:solidFill>
                  <a:srgbClr val="2E2D29"/>
                </a:solidFill>
                <a:latin typeface="Calibri"/>
              </a:rPr>
              <a:t>Prior work </a:t>
            </a:r>
            <a:r>
              <a:rPr lang="en-US" sz="1100" dirty="0">
                <a:solidFill>
                  <a:srgbClr val="2E2D29"/>
                </a:solidFill>
                <a:latin typeface="Calibri"/>
              </a:rPr>
              <a:t>(Yang et al. 2016) </a:t>
            </a:r>
            <a:r>
              <a:rPr sz="1100" dirty="0">
                <a:solidFill>
                  <a:srgbClr val="2E2D29"/>
                </a:solidFill>
                <a:latin typeface="Calibri"/>
              </a:rPr>
              <a:t>showed adaptive boundary conditions reduce error against lung perfusion data relative to fixed BCs</a:t>
            </a:r>
          </a:p>
        </p:txBody>
      </p:sp>
      <p:pic>
        <p:nvPicPr>
          <p:cNvPr id="28" name="S42_picture" descr="multiscale_body.png"/>
          <p:cNvPicPr>
            <a:picLocks noChangeAspect="1"/>
          </p:cNvPicPr>
          <p:nvPr/>
        </p:nvPicPr>
        <p:blipFill>
          <a:blip r:embed="rId2"/>
          <a:stretch>
            <a:fillRect/>
          </a:stretch>
        </p:blipFill>
        <p:spPr>
          <a:xfrm>
            <a:off x="320040" y="3487282"/>
            <a:ext cx="2485240" cy="1739668"/>
          </a:xfrm>
          <a:prstGeom prst="rect">
            <a:avLst/>
          </a:prstGeom>
        </p:spPr>
      </p:pic>
      <p:sp>
        <p:nvSpPr>
          <p:cNvPr id="29" name="S42_text_The_adapted_state"/>
          <p:cNvSpPr txBox="1"/>
          <p:nvPr/>
        </p:nvSpPr>
        <p:spPr>
          <a:xfrm>
            <a:off x="2377440" y="3877056"/>
            <a:ext cx="3657600" cy="960120"/>
          </a:xfrm>
          <a:prstGeom prst="rect">
            <a:avLst/>
          </a:prstGeom>
          <a:noFill/>
        </p:spPr>
        <p:txBody>
          <a:bodyPr wrap="square" lIns="27432" tIns="0" rIns="27432" bIns="0" anchor="ctr">
            <a:spAutoFit/>
          </a:bodyPr>
          <a:lstStyle/>
          <a:p>
            <a:pPr algn="l"/>
            <a:r>
              <a:rPr sz="1100" b="1" i="0">
                <a:solidFill>
                  <a:srgbClr val="8C1515"/>
                </a:solidFill>
                <a:latin typeface="Calibri"/>
              </a:rPr>
              <a:t>The adapted state, not the acute state, is what the post-operative catheter and perfusion study measure.</a:t>
            </a:r>
          </a:p>
        </p:txBody>
      </p:sp>
      <p:sp>
        <p:nvSpPr>
          <p:cNvPr id="30" name="S42_text_Kamiya_et_al"/>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Kamiya et al., AJP Heart (1980); Pries et al., AJP Heart (1992); Yang et al., Biomech Model Mechanobiol (2016).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Do gains fitted on some patients predict the rest?</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5_question_fit_1"/>
          <p:cNvSpPr/>
          <p:nvPr/>
        </p:nvSpPr>
        <p:spPr>
          <a:xfrm>
            <a:off x="320040" y="1554480"/>
            <a:ext cx="1325880" cy="45720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FFFFFF"/>
                </a:solidFill>
                <a:latin typeface="Calibri"/>
              </a:rPr>
              <a:t>Patient A</a:t>
            </a:r>
          </a:p>
        </p:txBody>
      </p:sp>
      <p:sp>
        <p:nvSpPr>
          <p:cNvPr id="13" name="S5_question_fit_2"/>
          <p:cNvSpPr/>
          <p:nvPr/>
        </p:nvSpPr>
        <p:spPr>
          <a:xfrm>
            <a:off x="320040" y="2121408"/>
            <a:ext cx="1325880" cy="45720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FFFFFF"/>
                </a:solidFill>
                <a:latin typeface="Calibri"/>
              </a:rPr>
              <a:t>Patient B</a:t>
            </a:r>
          </a:p>
        </p:txBody>
      </p:sp>
      <p:sp>
        <p:nvSpPr>
          <p:cNvPr id="14" name="S5_question_fit_3"/>
          <p:cNvSpPr/>
          <p:nvPr/>
        </p:nvSpPr>
        <p:spPr>
          <a:xfrm>
            <a:off x="320040" y="2688336"/>
            <a:ext cx="1325880" cy="45720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FFFFFF"/>
                </a:solidFill>
                <a:latin typeface="Calibri"/>
              </a:rPr>
              <a:t>Patient C</a:t>
            </a:r>
          </a:p>
        </p:txBody>
      </p:sp>
      <p:sp>
        <p:nvSpPr>
          <p:cNvPr id="15" name="S5_question_gains"/>
          <p:cNvSpPr/>
          <p:nvPr/>
        </p:nvSpPr>
        <p:spPr>
          <a:xfrm>
            <a:off x="2057400" y="1920240"/>
            <a:ext cx="1325880" cy="914400"/>
          </a:xfrm>
          <a:prstGeom prst="rect">
            <a:avLst/>
          </a:prstGeom>
          <a:solidFill>
            <a:srgbClr val="2E2D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FFFFFF"/>
                </a:solidFill>
                <a:latin typeface="Calibri"/>
              </a:rPr>
              <a:t>Gains</a:t>
            </a:r>
          </a:p>
          <a:p>
            <a:pPr algn="ctr"/>
            <a:r>
              <a:rPr sz="1100" b="0" i="0">
                <a:solidFill>
                  <a:srgbClr val="FFFFFF"/>
                </a:solidFill>
                <a:latin typeface="Calibri"/>
              </a:rPr>
              <a:t>fitted once</a:t>
            </a:r>
          </a:p>
        </p:txBody>
      </p:sp>
      <p:cxnSp>
        <p:nvCxnSpPr>
          <p:cNvPr id="16" name="S5_question_fit_arrow_1"/>
          <p:cNvCxnSpPr>
            <a:stCxn id="12" idx="3"/>
            <a:endCxn id="15" idx="1"/>
          </p:cNvCxnSpPr>
          <p:nvPr/>
        </p:nvCxnSpPr>
        <p:spPr>
          <a:xfrm>
            <a:off x="1645920" y="1783080"/>
            <a:ext cx="411480" cy="59436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S5_question_fit_arrow_2"/>
          <p:cNvCxnSpPr>
            <a:stCxn id="13" idx="3"/>
            <a:endCxn id="15" idx="1"/>
          </p:cNvCxnSpPr>
          <p:nvPr/>
        </p:nvCxnSpPr>
        <p:spPr>
          <a:xfrm>
            <a:off x="1645920" y="2350008"/>
            <a:ext cx="411480" cy="27432"/>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S5_question_fit_arrow_3"/>
          <p:cNvCxnSpPr>
            <a:stCxn id="14" idx="3"/>
            <a:endCxn id="15" idx="1"/>
          </p:cNvCxnSpPr>
          <p:nvPr/>
        </p:nvCxnSpPr>
        <p:spPr>
          <a:xfrm flipV="1">
            <a:off x="1645920" y="2377440"/>
            <a:ext cx="411480" cy="539496"/>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5_question_held_1"/>
          <p:cNvSpPr/>
          <p:nvPr/>
        </p:nvSpPr>
        <p:spPr>
          <a:xfrm>
            <a:off x="3794760" y="1737360"/>
            <a:ext cx="1325880" cy="502920"/>
          </a:xfrm>
          <a:prstGeom prst="rect">
            <a:avLst/>
          </a:prstGeom>
          <a:solidFill>
            <a:srgbClr val="FFFFFF"/>
          </a:solidFill>
          <a:ln w="1270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8C1515"/>
                </a:solidFill>
                <a:latin typeface="Calibri"/>
              </a:rPr>
              <a:t>Patient D</a:t>
            </a:r>
          </a:p>
        </p:txBody>
      </p:sp>
      <p:cxnSp>
        <p:nvCxnSpPr>
          <p:cNvPr id="20" name="S5_question_held_arrow_1"/>
          <p:cNvCxnSpPr>
            <a:stCxn id="15" idx="3"/>
            <a:endCxn id="19" idx="1"/>
          </p:cNvCxnSpPr>
          <p:nvPr/>
        </p:nvCxnSpPr>
        <p:spPr>
          <a:xfrm flipV="1">
            <a:off x="3383280" y="1988820"/>
            <a:ext cx="411480" cy="38862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5_question_held_2"/>
          <p:cNvSpPr/>
          <p:nvPr/>
        </p:nvSpPr>
        <p:spPr>
          <a:xfrm>
            <a:off x="3794760" y="2468880"/>
            <a:ext cx="1325880" cy="502920"/>
          </a:xfrm>
          <a:prstGeom prst="rect">
            <a:avLst/>
          </a:prstGeom>
          <a:solidFill>
            <a:srgbClr val="FFFFFF"/>
          </a:solidFill>
          <a:ln w="1270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8C1515"/>
                </a:solidFill>
                <a:latin typeface="Calibri"/>
              </a:rPr>
              <a:t>Patient E</a:t>
            </a:r>
          </a:p>
        </p:txBody>
      </p:sp>
      <p:cxnSp>
        <p:nvCxnSpPr>
          <p:cNvPr id="22" name="S5_question_held_arrow_2"/>
          <p:cNvCxnSpPr>
            <a:stCxn id="15" idx="3"/>
            <a:endCxn id="21" idx="1"/>
          </p:cNvCxnSpPr>
          <p:nvPr/>
        </p:nvCxnSpPr>
        <p:spPr>
          <a:xfrm>
            <a:off x="3383280" y="2377440"/>
            <a:ext cx="411480" cy="34290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5_question_clinical"/>
          <p:cNvSpPr/>
          <p:nvPr/>
        </p:nvSpPr>
        <p:spPr>
          <a:xfrm>
            <a:off x="3794760" y="3429000"/>
            <a:ext cx="1325880" cy="822960"/>
          </a:xfrm>
          <a:prstGeom prst="rect">
            <a:avLst/>
          </a:prstGeom>
          <a:solidFill>
            <a:srgbClr val="007C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FFFFFF"/>
                </a:solidFill>
                <a:latin typeface="Calibri"/>
              </a:rPr>
              <a:t>Post-op scan + cath</a:t>
            </a:r>
          </a:p>
        </p:txBody>
      </p:sp>
      <p:cxnSp>
        <p:nvCxnSpPr>
          <p:cNvPr id="24" name="S5_question_compare_arrow"/>
          <p:cNvCxnSpPr>
            <a:stCxn id="23" idx="0"/>
            <a:endCxn id="21" idx="2"/>
          </p:cNvCxnSpPr>
          <p:nvPr/>
        </p:nvCxnSpPr>
        <p:spPr>
          <a:xfrm flipH="1" flipV="1">
            <a:off x="4457700" y="2971800"/>
            <a:ext cx="0" cy="457200"/>
          </a:xfrm>
          <a:prstGeom prst="line">
            <a:avLst/>
          </a:prstGeom>
          <a:ln w="19050">
            <a:solidFill>
              <a:srgbClr val="007C9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S5_question_gains_def"/>
          <p:cNvSpPr/>
          <p:nvPr/>
        </p:nvSpPr>
        <p:spPr>
          <a:xfrm>
            <a:off x="320040" y="3429000"/>
            <a:ext cx="3246120" cy="10972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noAutofit/>
          </a:bodyPr>
          <a:lstStyle/>
          <a:p>
            <a:pPr algn="l"/>
            <a:r>
              <a:rPr sz="1300" b="0" i="0">
                <a:solidFill>
                  <a:srgbClr val="2E2D29"/>
                </a:solidFill>
                <a:latin typeface="Calibri"/>
              </a:rPr>
              <a:t>Gains: how strongly the trees respond to changes in flow (shear) and pressure (wall stress).</a:t>
            </a:r>
          </a:p>
        </p:txBody>
      </p:sp>
      <p:sp>
        <p:nvSpPr>
          <p:cNvPr id="26" name="S5_question_answer_card"/>
          <p:cNvSpPr/>
          <p:nvPr/>
        </p:nvSpPr>
        <p:spPr>
          <a:xfrm>
            <a:off x="5486400" y="1554480"/>
            <a:ext cx="3337560" cy="30175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l"/>
            <a:r>
              <a:rPr sz="1100" b="1" i="0">
                <a:solidFill>
                  <a:srgbClr val="6B6965"/>
                </a:solidFill>
                <a:latin typeface="Calibri"/>
              </a:rPr>
              <a:t>Answer</a:t>
            </a:r>
          </a:p>
          <a:p>
            <a:pPr algn="l"/>
            <a:r>
              <a:rPr sz="2400" b="1" i="0">
                <a:solidFill>
                  <a:srgbClr val="E98300"/>
                </a:solidFill>
                <a:latin typeface="Calibri"/>
              </a:rPr>
              <a:t>Open</a:t>
            </a:r>
          </a:p>
          <a:p>
            <a:pPr algn="l">
              <a:spcBef>
                <a:spcPts val="600"/>
              </a:spcBef>
            </a:pPr>
            <a:r>
              <a:rPr sz="1400" b="0" i="0">
                <a:solidFill>
                  <a:srgbClr val="2E2D29"/>
                </a:solidFill>
                <a:latin typeface="Calibri"/>
              </a:rPr>
              <a:t>No adaptation run uses the current BCs yet.</a:t>
            </a:r>
          </a:p>
          <a:p>
            <a:pPr algn="l">
              <a:spcBef>
                <a:spcPts val="600"/>
              </a:spcBef>
            </a:pPr>
            <a:r>
              <a:rPr sz="1400" b="0" i="0">
                <a:solidFill>
                  <a:srgbClr val="2E2D29"/>
                </a:solidFill>
                <a:latin typeface="Calibri"/>
              </a:rPr>
              <a:t>Which patients fit the gains and which are held out is not decided.</a:t>
            </a:r>
          </a:p>
        </p:txBody>
      </p:sp>
      <p:sp>
        <p:nvSpPr>
          <p:cNvPr id="27" name="S5_question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Only agreement on held-out patients makes the adapted result a prediction rather than a calibration.</a:t>
            </a:r>
          </a:p>
        </p:txBody>
      </p:sp>
      <p:sp>
        <p:nvSpPr>
          <p:cNvPr id="28" name="S5_question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PIPELINE_BRIEF adaptation (unchanged intent); svZeroDTrees docs/interface.md (wss_gain, ims_gain, compliance_gain).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What changed: one tree per side to per-cap trees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sp>
        <p:nvSpPr>
          <p:cNvPr id="12" name="S5_changed_prev_card"/>
          <p:cNvSpPr/>
          <p:nvPr/>
        </p:nvSpPr>
        <p:spPr>
          <a:xfrm>
            <a:off x="320040" y="1417320"/>
            <a:ext cx="3383280" cy="26060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13" name="S5_changed_prev_head"/>
          <p:cNvSpPr txBox="1"/>
          <p:nvPr/>
        </p:nvSpPr>
        <p:spPr>
          <a:xfrm>
            <a:off x="457200" y="1481328"/>
            <a:ext cx="3108960" cy="292608"/>
          </a:xfrm>
          <a:prstGeom prst="rect">
            <a:avLst/>
          </a:prstGeom>
          <a:noFill/>
        </p:spPr>
        <p:txBody>
          <a:bodyPr wrap="square" lIns="73152" rIns="73152" anchor="t">
            <a:noAutofit/>
          </a:bodyPr>
          <a:lstStyle/>
          <a:p>
            <a:pPr algn="l"/>
            <a:r>
              <a:rPr sz="1400" b="1" i="0">
                <a:solidFill>
                  <a:srgbClr val="6B6965"/>
                </a:solidFill>
                <a:latin typeface="Calibri"/>
              </a:rPr>
              <a:t>Previous: M1 / M3</a:t>
            </a:r>
          </a:p>
        </p:txBody>
      </p:sp>
      <p:sp>
        <p:nvSpPr>
          <p:cNvPr id="14" name="S5_changed_prev_lpa"/>
          <p:cNvSpPr/>
          <p:nvPr/>
        </p:nvSpPr>
        <p:spPr>
          <a:xfrm>
            <a:off x="502920" y="1828800"/>
            <a:ext cx="13716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6B6965"/>
                </a:solidFill>
                <a:latin typeface="Calibri"/>
              </a:rPr>
              <a:t>LPA tree</a:t>
            </a:r>
          </a:p>
        </p:txBody>
      </p:sp>
      <p:sp>
        <p:nvSpPr>
          <p:cNvPr id="15" name="S5_changed_prev_rpa"/>
          <p:cNvSpPr/>
          <p:nvPr/>
        </p:nvSpPr>
        <p:spPr>
          <a:xfrm>
            <a:off x="2057400" y="1828800"/>
            <a:ext cx="13716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6B6965"/>
                </a:solidFill>
                <a:latin typeface="Calibri"/>
              </a:rPr>
              <a:t>RPA tree</a:t>
            </a:r>
          </a:p>
        </p:txBody>
      </p:sp>
      <p:sp>
        <p:nvSpPr>
          <p:cNvPr id="16" name="S5_changed_prev_text"/>
          <p:cNvSpPr txBox="1"/>
          <p:nvPr/>
        </p:nvSpPr>
        <p:spPr>
          <a:xfrm>
            <a:off x="457200" y="2331720"/>
            <a:ext cx="3108960" cy="1645920"/>
          </a:xfrm>
          <a:prstGeom prst="rect">
            <a:avLst/>
          </a:prstGeom>
          <a:noFill/>
        </p:spPr>
        <p:txBody>
          <a:bodyPr wrap="square" lIns="73152" rIns="73152" anchor="t">
            <a:noAutofit/>
          </a:bodyPr>
          <a:lstStyle/>
          <a:p>
            <a:pPr algn="l"/>
            <a:r>
              <a:rPr sz="1300" b="0" i="0">
                <a:solidFill>
                  <a:srgbClr val="6B6965"/>
                </a:solidFill>
                <a:latin typeface="Calibri"/>
              </a:rPr>
              <a:t>Shear (CWSS) or shear plus wall stress (CWSS-IMS) on one tree per side of the reduced RRI model.</a:t>
            </a:r>
          </a:p>
          <a:p>
            <a:pPr algn="l">
              <a:spcBef>
                <a:spcPts val="600"/>
              </a:spcBef>
            </a:pPr>
            <a:r>
              <a:rPr sz="1300" b="0" i="0">
                <a:solidFill>
                  <a:srgbClr val="6B6965"/>
                </a:solidFill>
                <a:latin typeface="Calibri"/>
              </a:rPr>
              <a:t>Refuses per-cap models; adapted radii never reached the 3D run.</a:t>
            </a:r>
          </a:p>
        </p:txBody>
      </p:sp>
      <p:sp>
        <p:nvSpPr>
          <p:cNvPr id="17" name="S5_changed_trigger"/>
          <p:cNvSpPr/>
          <p:nvPr/>
        </p:nvSpPr>
        <p:spPr>
          <a:xfrm>
            <a:off x="3840480" y="1874519"/>
            <a:ext cx="1463040" cy="1463040"/>
          </a:xfrm>
          <a:prstGeom prst="roundRect">
            <a:avLst/>
          </a:prstGeom>
          <a:solidFill>
            <a:srgbClr val="FFFFFF"/>
          </a:solidFill>
          <a:ln w="1270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2E2D29"/>
                </a:solidFill>
                <a:latin typeface="Calibri"/>
              </a:rPr>
              <a:t>Can adaptation act on the per-cap trees that tuning now exports?</a:t>
            </a:r>
          </a:p>
        </p:txBody>
      </p:sp>
      <p:sp>
        <p:nvSpPr>
          <p:cNvPr id="18" name="S5_changed_curr_card"/>
          <p:cNvSpPr/>
          <p:nvPr/>
        </p:nvSpPr>
        <p:spPr>
          <a:xfrm>
            <a:off x="5440680" y="1417320"/>
            <a:ext cx="3383280" cy="2606040"/>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19" name="S5_changed_curr_head"/>
          <p:cNvSpPr txBox="1"/>
          <p:nvPr/>
        </p:nvSpPr>
        <p:spPr>
          <a:xfrm>
            <a:off x="5577840" y="1481328"/>
            <a:ext cx="3108960" cy="292608"/>
          </a:xfrm>
          <a:prstGeom prst="rect">
            <a:avLst/>
          </a:prstGeom>
          <a:noFill/>
        </p:spPr>
        <p:txBody>
          <a:bodyPr wrap="square" lIns="73152" rIns="73152" anchor="t">
            <a:noAutofit/>
          </a:bodyPr>
          <a:lstStyle/>
          <a:p>
            <a:pPr algn="l"/>
            <a:r>
              <a:rPr sz="1400" b="1" i="0">
                <a:solidFill>
                  <a:srgbClr val="8C1515"/>
                </a:solidFill>
                <a:latin typeface="Calibri"/>
              </a:rPr>
              <a:t>Current code default: M2</a:t>
            </a:r>
          </a:p>
        </p:txBody>
      </p:sp>
      <p:sp>
        <p:nvSpPr>
          <p:cNvPr id="20" name="S5_changed_equation"/>
          <p:cNvSpPr/>
          <p:nvPr/>
        </p:nvSpPr>
        <p:spPr>
          <a:xfrm>
            <a:off x="5577840" y="1828800"/>
            <a:ext cx="31089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l"/>
            <a:r>
              <a:rPr sz="1500" b="0" i="0">
                <a:solidFill>
                  <a:srgbClr val="2E2D29"/>
                </a:solidFill>
                <a:latin typeface="Calibri"/>
              </a:rPr>
              <a:t>scale = (Q</a:t>
            </a:r>
            <a:r>
              <a:rPr sz="1500" b="0" i="0" baseline="-25000">
                <a:solidFill>
                  <a:srgbClr val="2E2D29"/>
                </a:solidFill>
                <a:latin typeface="Calibri"/>
              </a:rPr>
              <a:t>post</a:t>
            </a:r>
            <a:r>
              <a:rPr sz="1500" b="0" i="0">
                <a:solidFill>
                  <a:srgbClr val="2E2D29"/>
                </a:solidFill>
                <a:latin typeface="Calibri"/>
              </a:rPr>
              <a:t>/Q</a:t>
            </a:r>
            <a:r>
              <a:rPr sz="1500" b="0" i="0" baseline="-25000">
                <a:solidFill>
                  <a:srgbClr val="2E2D29"/>
                </a:solidFill>
                <a:latin typeface="Calibri"/>
              </a:rPr>
              <a:t>pre</a:t>
            </a:r>
            <a:r>
              <a:rPr sz="1500" b="0" i="0">
                <a:solidFill>
                  <a:srgbClr val="2E2D29"/>
                </a:solidFill>
                <a:latin typeface="Calibri"/>
              </a:rPr>
              <a:t>)</a:t>
            </a:r>
            <a:r>
              <a:rPr sz="1500" b="0" i="0" baseline="30000">
                <a:solidFill>
                  <a:srgbClr val="2E2D29"/>
                </a:solidFill>
                <a:latin typeface="Calibri"/>
              </a:rPr>
              <a:t>g_wss/3</a:t>
            </a:r>
            <a:r>
              <a:rPr sz="1500" b="0" i="0">
                <a:solidFill>
                  <a:srgbClr val="2E2D29"/>
                </a:solidFill>
                <a:latin typeface="Calibri"/>
              </a:rPr>
              <a:t> (R</a:t>
            </a:r>
            <a:r>
              <a:rPr sz="1500" b="0" i="0" baseline="-25000">
                <a:solidFill>
                  <a:srgbClr val="2E2D29"/>
                </a:solidFill>
                <a:latin typeface="Calibri"/>
              </a:rPr>
              <a:t>post</a:t>
            </a:r>
            <a:r>
              <a:rPr sz="1500" b="0" i="0">
                <a:solidFill>
                  <a:srgbClr val="2E2D29"/>
                </a:solidFill>
                <a:latin typeface="Calibri"/>
              </a:rPr>
              <a:t>/R</a:t>
            </a:r>
            <a:r>
              <a:rPr sz="1500" b="0" i="0" baseline="-25000">
                <a:solidFill>
                  <a:srgbClr val="2E2D29"/>
                </a:solidFill>
                <a:latin typeface="Calibri"/>
              </a:rPr>
              <a:t>pre</a:t>
            </a:r>
            <a:r>
              <a:rPr sz="1500" b="0" i="0">
                <a:solidFill>
                  <a:srgbClr val="2E2D29"/>
                </a:solidFill>
                <a:latin typeface="Calibri"/>
              </a:rPr>
              <a:t>)</a:t>
            </a:r>
            <a:r>
              <a:rPr sz="1500" b="0" i="0" baseline="30000">
                <a:solidFill>
                  <a:srgbClr val="2E2D29"/>
                </a:solidFill>
                <a:latin typeface="Calibri"/>
              </a:rPr>
              <a:t>g_ims/4</a:t>
            </a:r>
          </a:p>
        </p:txBody>
      </p:sp>
      <p:sp>
        <p:nvSpPr>
          <p:cNvPr id="21" name="S5_changed_curr_text"/>
          <p:cNvSpPr txBox="1"/>
          <p:nvPr/>
        </p:nvSpPr>
        <p:spPr>
          <a:xfrm>
            <a:off x="5577840" y="2395728"/>
            <a:ext cx="3108960" cy="1600200"/>
          </a:xfrm>
          <a:prstGeom prst="rect">
            <a:avLst/>
          </a:prstGeom>
          <a:noFill/>
        </p:spPr>
        <p:txBody>
          <a:bodyPr wrap="square" lIns="73152" rIns="73152" anchor="t">
            <a:noAutofit/>
          </a:bodyPr>
          <a:lstStyle/>
          <a:p>
            <a:pPr algn="l"/>
            <a:r>
              <a:rPr sz="1200" b="0" i="0">
                <a:solidFill>
                  <a:srgbClr val="2E2D29"/>
                </a:solidFill>
                <a:latin typeface="Calibri"/>
              </a:rPr>
              <a:t>Q flow and R resistance of the LPA or RPA territory from 3D; g gains. Every tuned per-cap tree on that side is scaled; caps paired by the outlet mapping.</a:t>
            </a:r>
          </a:p>
        </p:txBody>
      </p:sp>
      <p:sp>
        <p:nvSpPr>
          <p:cNvPr id="22" name="S5_changed_planned_line"/>
          <p:cNvSpPr/>
          <p:nvPr/>
        </p:nvSpPr>
        <p:spPr>
          <a:xfrm>
            <a:off x="320040" y="4133087"/>
            <a:ext cx="8503920" cy="475488"/>
          </a:xfrm>
          <a:prstGeom prst="rect">
            <a:avLst/>
          </a:prstGeom>
          <a:solidFill>
            <a:srgbClr val="FFFFFF"/>
          </a:solidFill>
          <a:ln w="12700">
            <a:solidFill>
              <a:srgbClr val="E98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noAutofit/>
          </a:bodyPr>
          <a:lstStyle/>
          <a:p>
            <a:pPr algn="l"/>
            <a:r>
              <a:rPr sz="1400" b="1" i="0">
                <a:solidFill>
                  <a:srgbClr val="E98300"/>
                </a:solidFill>
                <a:latin typeface="Calibri"/>
              </a:rPr>
              <a:t>Planned, not started:  </a:t>
            </a:r>
            <a:r>
              <a:rPr sz="1400" b="0" i="0">
                <a:solidFill>
                  <a:srgbClr val="2E2D29"/>
                </a:solidFill>
                <a:latin typeface="Calibri"/>
              </a:rPr>
              <a:t>rebuild adaptation on full 0D pre- and post-op models.</a:t>
            </a:r>
          </a:p>
        </p:txBody>
      </p:sp>
      <p:sp>
        <p:nvSpPr>
          <p:cNvPr id="23" name="S5_changed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M2 is the only option that adapts the trees the 3D run actually uses.</a:t>
            </a:r>
          </a:p>
        </p:txBody>
      </p:sp>
      <p:sp>
        <p:nvSpPr>
          <p:cNvPr id="24" name="S5_changed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svZeroDTrees docs/interface.md (Adaptation), adaptation/workflow.py:318-330 (f2ec7ff); svzt-agent docs/TUNING_MODEL.md section 8 item 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Path to publication: Stage 5</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IN DEVELOPMENT</a:t>
            </a:r>
          </a:p>
        </p:txBody>
      </p:sp>
      <p:graphicFrame>
        <p:nvGraphicFramePr>
          <p:cNvPr id="12" name="S5_path_table"/>
          <p:cNvGraphicFramePr>
            <a:graphicFrameLocks noGrp="1"/>
          </p:cNvGraphicFramePr>
          <p:nvPr/>
        </p:nvGraphicFramePr>
        <p:xfrm>
          <a:off x="320040" y="1417320"/>
          <a:ext cx="8503920" cy="2011680"/>
        </p:xfrm>
        <a:graphic>
          <a:graphicData uri="http://schemas.openxmlformats.org/drawingml/2006/table">
            <a:tbl>
              <a:tblPr firstRow="1" bandRow="0">
                <a:tableStyleId>{5C22544A-7EE6-4342-B048-85BDC9FD1C3A}</a:tableStyleId>
              </a:tblPr>
              <a:tblGrid>
                <a:gridCol w="4572000"/>
                <a:gridCol w="1325880"/>
                <a:gridCol w="2606040"/>
              </a:tblGrid>
              <a:tr h="402336">
                <a:tc>
                  <a:txBody>
                    <a:bodyPr wrap="square"/>
                    <a:lstStyle/>
                    <a:p>
                      <a:r>
                        <a:rPr sz="1300" b="1">
                          <a:solidFill>
                            <a:srgbClr val="FFFFFF"/>
                          </a:solidFill>
                          <a:latin typeface="Calibri"/>
                        </a:rPr>
                        <a:t>Action item</a:t>
                      </a:r>
                    </a:p>
                  </a:txBody>
                  <a:tcPr marL="54864" marR="54864" marT="27432" marB="27432" anchor="ctr">
                    <a:solidFill>
                      <a:srgbClr val="8C1515"/>
                    </a:solidFill>
                  </a:tcPr>
                </a:tc>
                <a:tc>
                  <a:txBody>
                    <a:bodyPr wrap="square"/>
                    <a:lstStyle/>
                    <a:p>
                      <a:r>
                        <a:rPr sz="1300" b="1">
                          <a:solidFill>
                            <a:srgbClr val="FFFFFF"/>
                          </a:solidFill>
                          <a:latin typeface="Calibri"/>
                        </a:rPr>
                        <a:t>Status</a:t>
                      </a:r>
                    </a:p>
                  </a:txBody>
                  <a:tcPr marL="54864" marR="54864" marT="27432" marB="27432" anchor="ctr">
                    <a:solidFill>
                      <a:srgbClr val="8C1515"/>
                    </a:solidFill>
                  </a:tcPr>
                </a:tc>
                <a:tc>
                  <a:txBody>
                    <a:bodyPr wrap="square"/>
                    <a:lstStyle/>
                    <a:p>
                      <a:r>
                        <a:rPr sz="1300" b="1">
                          <a:solidFill>
                            <a:srgbClr val="FFFFFF"/>
                          </a:solidFill>
                          <a:latin typeface="Calibri"/>
                        </a:rPr>
                        <a:t>What it gates</a:t>
                      </a:r>
                    </a:p>
                  </a:txBody>
                  <a:tcPr marL="54864" marR="54864" marT="27432" marB="27432" anchor="ctr">
                    <a:solidFill>
                      <a:srgbClr val="8C1515"/>
                    </a:solidFill>
                  </a:tcPr>
                </a:tc>
              </a:tr>
              <a:tr h="402336">
                <a:tc>
                  <a:txBody>
                    <a:bodyPr wrap="square"/>
                    <a:lstStyle/>
                    <a:p>
                      <a:r>
                        <a:rPr sz="1300" b="0">
                          <a:solidFill>
                            <a:srgbClr val="2E2D29"/>
                          </a:solidFill>
                          <a:latin typeface="Calibri"/>
                        </a:rPr>
                        <a:t>Rebuild adaptation on full 0D pre- and post-op models</a:t>
                      </a:r>
                    </a:p>
                  </a:txBody>
                  <a:tcPr marL="54864" marR="54864" marT="27432" marB="27432" anchor="ctr">
                    <a:solidFill>
                      <a:srgbClr val="FFFFFF"/>
                    </a:solidFill>
                  </a:tcPr>
                </a:tc>
                <a:tc>
                  <a:txBody>
                    <a:bodyPr wrap="square"/>
                    <a:lstStyle/>
                    <a:p>
                      <a:r>
                        <a:rPr sz="1300" b="1">
                          <a:solidFill>
                            <a:srgbClr val="6B6965"/>
                          </a:solidFill>
                          <a:latin typeface="Calibri"/>
                        </a:rPr>
                        <a:t>Planned</a:t>
                      </a:r>
                    </a:p>
                  </a:txBody>
                  <a:tcPr marL="54864" marR="54864" marT="27432" marB="27432" anchor="ctr">
                    <a:solidFill>
                      <a:srgbClr val="F2F1F0"/>
                    </a:solidFill>
                  </a:tcPr>
                </a:tc>
                <a:tc>
                  <a:txBody>
                    <a:bodyPr wrap="square"/>
                    <a:lstStyle/>
                    <a:p>
                      <a:r>
                        <a:rPr sz="1300" b="0">
                          <a:solidFill>
                            <a:srgbClr val="6B6965"/>
                          </a:solidFill>
                          <a:latin typeface="Calibri"/>
                        </a:rPr>
                        <a:t>Stage 6 adapted runs</a:t>
                      </a:r>
                    </a:p>
                  </a:txBody>
                  <a:tcPr marL="54864" marR="54864" marT="27432" marB="27432" anchor="ctr">
                    <a:solidFill>
                      <a:srgbClr val="FFFFFF"/>
                    </a:solidFill>
                  </a:tcPr>
                </a:tc>
              </a:tr>
              <a:tr h="402336">
                <a:tc>
                  <a:txBody>
                    <a:bodyPr wrap="square"/>
                    <a:lstStyle/>
                    <a:p>
                      <a:r>
                        <a:rPr sz="1300" b="0">
                          <a:solidFill>
                            <a:srgbClr val="2E2D29"/>
                          </a:solidFill>
                          <a:latin typeface="Calibri"/>
                        </a:rPr>
                        <a:t>Decide per-cap vs territory stimulus for M2</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Adaptation method</a:t>
                      </a:r>
                    </a:p>
                  </a:txBody>
                  <a:tcPr marL="54864" marR="54864" marT="27432" marB="27432" anchor="ctr">
                    <a:solidFill>
                      <a:srgbClr val="FFFFFF"/>
                    </a:solidFill>
                  </a:tcPr>
                </a:tc>
              </a:tr>
              <a:tr h="402336">
                <a:tc>
                  <a:txBody>
                    <a:bodyPr wrap="square"/>
                    <a:lstStyle/>
                    <a:p>
                      <a:r>
                        <a:rPr sz="1300" b="0">
                          <a:solidFill>
                            <a:srgbClr val="2E2D29"/>
                          </a:solidFill>
                          <a:latin typeface="Calibri"/>
                        </a:rPr>
                        <a:t>Run adaptation on the cohort under the current BCs</a:t>
                      </a:r>
                    </a:p>
                  </a:txBody>
                  <a:tcPr marL="54864" marR="54864" marT="27432" marB="27432" anchor="ctr">
                    <a:solidFill>
                      <a:srgbClr val="FFFFFF"/>
                    </a:solidFill>
                  </a:tcPr>
                </a:tc>
                <a:tc>
                  <a:txBody>
                    <a:bodyPr wrap="square"/>
                    <a:lstStyle/>
                    <a:p>
                      <a:r>
                        <a:rPr sz="1300" b="1">
                          <a:solidFill>
                            <a:srgbClr val="8C1515"/>
                          </a:solidFill>
                          <a:latin typeface="Calibri"/>
                        </a:rPr>
                        <a:t>Blocked</a:t>
                      </a:r>
                    </a:p>
                  </a:txBody>
                  <a:tcPr marL="54864" marR="54864" marT="27432" marB="27432" anchor="ctr">
                    <a:solidFill>
                      <a:srgbClr val="F3DCDC"/>
                    </a:solidFill>
                  </a:tcPr>
                </a:tc>
                <a:tc>
                  <a:txBody>
                    <a:bodyPr wrap="square"/>
                    <a:lstStyle/>
                    <a:p>
                      <a:r>
                        <a:rPr sz="1300" b="0">
                          <a:solidFill>
                            <a:srgbClr val="6B6965"/>
                          </a:solidFill>
                          <a:latin typeface="Calibri"/>
                        </a:rPr>
                        <a:t>Stage 6; needs Stage 4 runs</a:t>
                      </a:r>
                    </a:p>
                  </a:txBody>
                  <a:tcPr marL="54864" marR="54864" marT="27432" marB="27432" anchor="ctr">
                    <a:solidFill>
                      <a:srgbClr val="FFFFFF"/>
                    </a:solidFill>
                  </a:tcPr>
                </a:tc>
              </a:tr>
              <a:tr h="402336">
                <a:tc>
                  <a:txBody>
                    <a:bodyPr wrap="square"/>
                    <a:lstStyle/>
                    <a:p>
                      <a:r>
                        <a:rPr sz="1300" b="0">
                          <a:solidFill>
                            <a:srgbClr val="2E2D29"/>
                          </a:solidFill>
                          <a:latin typeface="Calibri"/>
                        </a:rPr>
                        <a:t>Choose fit and held-out patients, then identify the gains</a:t>
                      </a:r>
                    </a:p>
                  </a:txBody>
                  <a:tcPr marL="54864" marR="54864" marT="27432" marB="27432" anchor="ctr">
                    <a:solidFill>
                      <a:srgbClr val="FFFFFF"/>
                    </a:solidFill>
                  </a:tcPr>
                </a:tc>
                <a:tc>
                  <a:txBody>
                    <a:bodyPr wrap="square"/>
                    <a:lstStyle/>
                    <a:p>
                      <a:r>
                        <a:rPr sz="1300" b="1">
                          <a:solidFill>
                            <a:srgbClr val="2E2D29"/>
                          </a:solidFill>
                          <a:latin typeface="Calibri"/>
                        </a:rPr>
                        <a:t>Open</a:t>
                      </a:r>
                    </a:p>
                  </a:txBody>
                  <a:tcPr marL="54864" marR="54864" marT="27432" marB="27432" anchor="ctr">
                    <a:solidFill>
                      <a:srgbClr val="FFFFFF"/>
                    </a:solidFill>
                  </a:tcPr>
                </a:tc>
                <a:tc>
                  <a:txBody>
                    <a:bodyPr wrap="square"/>
                    <a:lstStyle/>
                    <a:p>
                      <a:r>
                        <a:rPr sz="1300" b="0">
                          <a:solidFill>
                            <a:srgbClr val="6B6965"/>
                          </a:solidFill>
                          <a:latin typeface="Calibri"/>
                        </a:rPr>
                        <a:t>Prediction claim in Stage 7</a:t>
                      </a:r>
                    </a:p>
                  </a:txBody>
                  <a:tcPr marL="54864" marR="54864" marT="27432" marB="27432" anchor="ctr">
                    <a:solidFill>
                      <a:srgbClr val="FFFFFF"/>
                    </a:solidFill>
                  </a:tcPr>
                </a:tc>
              </a:tr>
            </a:tbl>
          </a:graphicData>
        </a:graphic>
      </p:graphicFrame>
      <p:sp>
        <p:nvSpPr>
          <p:cNvPr id="13" name="S5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Stage 5 restarts once post-op runs exist under the current BCs and the rebuild is designed.</a:t>
            </a:r>
          </a:p>
        </p:txBody>
      </p:sp>
      <p:sp>
        <p:nvSpPr>
          <p:cNvPr id="14" name="S5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svzt-agent docs/TUNING_MODEL.md section 8 item 5; svZeroDTrees docs/pulmonary_tuning_model.md section 7; svz runs (last adaptation runs Jun 2026).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ext Placeholder 1"/>
          <p:cNvSpPr>
            <a:spLocks noGrp="1"/>
          </p:cNvSpPr>
          <p:nvPr>
            <p:ph type="body" idx="1"/>
          </p:nvPr>
        </p:nvSpPr>
        <p:spPr>
          <a:xfrm>
            <a:off x="1362456" y="2971800"/>
            <a:ext cx="6400800" cy="658368"/>
          </a:xfrm>
        </p:spPr>
        <p:txBody>
          <a:bodyPr wrap="square" lIns="0" rIns="0"/>
          <a:lstStyle/>
          <a:p>
            <a:r>
              <a:rPr sz="1300">
                <a:solidFill>
                  <a:srgbClr val="FFFFFF"/>
                </a:solidFill>
                <a:latin typeface="Calibri"/>
              </a:rPr>
              <a:t>Re-running the deformable-wall 3D model with the adapted structured-tree impedances.</a:t>
            </a:r>
          </a:p>
        </p:txBody>
      </p:sp>
      <p:sp>
        <p:nvSpPr>
          <p:cNvPr id="4" name="Title 2"/>
          <p:cNvSpPr>
            <a:spLocks noGrp="1"/>
          </p:cNvSpPr>
          <p:nvPr>
            <p:ph type="ctrTitle"/>
          </p:nvPr>
        </p:nvSpPr>
        <p:spPr>
          <a:xfrm>
            <a:off x="1362456" y="1874519"/>
            <a:ext cx="7479792" cy="1005840"/>
          </a:xfrm>
        </p:spPr>
        <p:txBody>
          <a:bodyPr lIns="0" rIns="0" anchor="b"/>
          <a:lstStyle/>
          <a:p>
            <a:r>
              <a:rPr sz="3200">
                <a:solidFill>
                  <a:srgbClr val="FFFFFF"/>
                </a:solidFill>
                <a:latin typeface="Georgia"/>
              </a:rPr>
              <a:t>Adapted Simulation</a:t>
            </a:r>
          </a:p>
        </p:txBody>
      </p:sp>
      <p:sp>
        <p:nvSpPr>
          <p:cNvPr id="5" name="S46_text_STAGE_6_OF"/>
          <p:cNvSpPr txBox="1"/>
          <p:nvPr/>
        </p:nvSpPr>
        <p:spPr>
          <a:xfrm>
            <a:off x="1362456" y="1517904"/>
            <a:ext cx="7479792" cy="256032"/>
          </a:xfrm>
          <a:prstGeom prst="rect">
            <a:avLst/>
          </a:prstGeom>
          <a:noFill/>
        </p:spPr>
        <p:txBody>
          <a:bodyPr wrap="square" lIns="27432" tIns="0" rIns="27432" bIns="0" anchor="t">
            <a:spAutoFit/>
          </a:bodyPr>
          <a:lstStyle/>
          <a:p>
            <a:pPr algn="l"/>
            <a:r>
              <a:rPr sz="1100" b="1" i="0">
                <a:solidFill>
                  <a:srgbClr val="FFFFFF"/>
                </a:solidFill>
                <a:latin typeface="Calibri"/>
              </a:rPr>
              <a:t>STAGE 6 OF 7</a:t>
            </a:r>
          </a:p>
        </p:txBody>
      </p:sp>
      <p:sp>
        <p:nvSpPr>
          <p:cNvPr id="6" name="Ribbon_seg1"/>
          <p:cNvSpPr/>
          <p:nvPr/>
        </p:nvSpPr>
        <p:spPr>
          <a:xfrm>
            <a:off x="13624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1</a:t>
            </a:r>
          </a:p>
          <a:p>
            <a:pPr algn="ctr"/>
            <a:r>
              <a:rPr sz="1100" b="0">
                <a:solidFill>
                  <a:srgbClr val="FFFFFF"/>
                </a:solidFill>
                <a:latin typeface="Calibri"/>
              </a:rPr>
              <a:t>Inputs</a:t>
            </a:r>
          </a:p>
        </p:txBody>
      </p:sp>
      <p:sp>
        <p:nvSpPr>
          <p:cNvPr id="7" name="Ribbon_seg2"/>
          <p:cNvSpPr/>
          <p:nvPr/>
        </p:nvSpPr>
        <p:spPr>
          <a:xfrm>
            <a:off x="22873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2</a:t>
            </a:r>
          </a:p>
          <a:p>
            <a:pPr algn="ctr"/>
            <a:r>
              <a:rPr sz="1100" b="0">
                <a:solidFill>
                  <a:srgbClr val="FFFFFF"/>
                </a:solidFill>
                <a:latin typeface="Calibri"/>
              </a:rPr>
              <a:t>BC Tuning</a:t>
            </a:r>
          </a:p>
        </p:txBody>
      </p:sp>
      <p:sp>
        <p:nvSpPr>
          <p:cNvPr id="8" name="Ribbon_seg3"/>
          <p:cNvSpPr/>
          <p:nvPr/>
        </p:nvSpPr>
        <p:spPr>
          <a:xfrm>
            <a:off x="32121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3</a:t>
            </a:r>
          </a:p>
          <a:p>
            <a:pPr algn="ctr"/>
            <a:r>
              <a:rPr sz="1100" b="0">
                <a:solidFill>
                  <a:srgbClr val="FFFFFF"/>
                </a:solidFill>
                <a:latin typeface="Calibri"/>
              </a:rPr>
              <a:t>Pre-op Sim</a:t>
            </a:r>
          </a:p>
        </p:txBody>
      </p:sp>
      <p:sp>
        <p:nvSpPr>
          <p:cNvPr id="9" name="Ribbon_seg4"/>
          <p:cNvSpPr/>
          <p:nvPr/>
        </p:nvSpPr>
        <p:spPr>
          <a:xfrm>
            <a:off x="41370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4</a:t>
            </a:r>
          </a:p>
          <a:p>
            <a:pPr algn="ctr"/>
            <a:r>
              <a:rPr sz="1100" b="0">
                <a:solidFill>
                  <a:srgbClr val="FFFFFF"/>
                </a:solidFill>
                <a:latin typeface="Calibri"/>
              </a:rPr>
              <a:t>Post-op Sim</a:t>
            </a:r>
          </a:p>
        </p:txBody>
      </p:sp>
      <p:sp>
        <p:nvSpPr>
          <p:cNvPr id="10" name="Ribbon_seg5"/>
          <p:cNvSpPr/>
          <p:nvPr/>
        </p:nvSpPr>
        <p:spPr>
          <a:xfrm>
            <a:off x="50618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5</a:t>
            </a:r>
          </a:p>
          <a:p>
            <a:pPr algn="ctr"/>
            <a:r>
              <a:rPr sz="1100" b="0">
                <a:solidFill>
                  <a:srgbClr val="FFFFFF"/>
                </a:solidFill>
                <a:latin typeface="Calibri"/>
              </a:rPr>
              <a:t>Adaptation</a:t>
            </a:r>
          </a:p>
        </p:txBody>
      </p:sp>
      <p:sp>
        <p:nvSpPr>
          <p:cNvPr id="11" name="Ribbon_seg6"/>
          <p:cNvSpPr/>
          <p:nvPr/>
        </p:nvSpPr>
        <p:spPr>
          <a:xfrm>
            <a:off x="5986707" y="4041648"/>
            <a:ext cx="869986"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1">
                <a:solidFill>
                  <a:srgbClr val="007C92"/>
                </a:solidFill>
                <a:latin typeface="Calibri"/>
              </a:rPr>
              <a:t>6</a:t>
            </a:r>
          </a:p>
          <a:p>
            <a:pPr algn="ctr"/>
            <a:r>
              <a:rPr sz="1100" b="1">
                <a:solidFill>
                  <a:srgbClr val="007C92"/>
                </a:solidFill>
                <a:latin typeface="Calibri"/>
              </a:rPr>
              <a:t>Adapted Sim</a:t>
            </a:r>
          </a:p>
        </p:txBody>
      </p:sp>
      <p:sp>
        <p:nvSpPr>
          <p:cNvPr id="12" name="Ribbon_seg7"/>
          <p:cNvSpPr/>
          <p:nvPr/>
        </p:nvSpPr>
        <p:spPr>
          <a:xfrm>
            <a:off x="69115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7</a:t>
            </a:r>
          </a:p>
          <a:p>
            <a:pPr algn="ctr"/>
            <a:r>
              <a:rPr sz="1100" b="0">
                <a:solidFill>
                  <a:srgbClr val="FFFFFF"/>
                </a:solidFill>
                <a:latin typeface="Calibri"/>
              </a:rPr>
              <a:t>Metrics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Applying the adapted boundary conditions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6B6965"/>
          </a:solidFill>
          <a:ln w="7620">
            <a:solidFill>
              <a:srgbClr val="6B6965"/>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PLANNED</a:t>
            </a:r>
          </a:p>
        </p:txBody>
      </p:sp>
      <p:sp>
        <p:nvSpPr>
          <p:cNvPr id="12" name="S47_shape"/>
          <p:cNvSpPr/>
          <p:nvPr/>
        </p:nvSpPr>
        <p:spPr>
          <a:xfrm>
            <a:off x="320040" y="1408176"/>
            <a:ext cx="1975104" cy="11887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47_shape_2"/>
          <p:cNvSpPr/>
          <p:nvPr/>
        </p:nvSpPr>
        <p:spPr>
          <a:xfrm>
            <a:off x="320040" y="1408176"/>
            <a:ext cx="1975104" cy="256032"/>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47_text_Adapted_trees"/>
          <p:cNvSpPr txBox="1"/>
          <p:nvPr/>
        </p:nvSpPr>
        <p:spPr>
          <a:xfrm>
            <a:off x="320040" y="1408176"/>
            <a:ext cx="1975104" cy="256032"/>
          </a:xfrm>
          <a:prstGeom prst="rect">
            <a:avLst/>
          </a:prstGeom>
          <a:noFill/>
        </p:spPr>
        <p:txBody>
          <a:bodyPr wrap="square" lIns="27432" tIns="0" rIns="27432" bIns="0" anchor="ctr">
            <a:spAutoFit/>
          </a:bodyPr>
          <a:lstStyle/>
          <a:p>
            <a:pPr algn="ctr"/>
            <a:r>
              <a:rPr sz="1100" b="1" i="0">
                <a:solidFill>
                  <a:srgbClr val="FFFFFF"/>
                </a:solidFill>
                <a:latin typeface="Calibri"/>
              </a:rPr>
              <a:t>Adapted trees</a:t>
            </a:r>
          </a:p>
        </p:txBody>
      </p:sp>
      <p:sp>
        <p:nvSpPr>
          <p:cNvPr id="15" name="S47_text_Adapted_per_cap"/>
          <p:cNvSpPr txBox="1"/>
          <p:nvPr/>
        </p:nvSpPr>
        <p:spPr>
          <a:xfrm>
            <a:off x="411479" y="1773936"/>
            <a:ext cx="1792224" cy="749808"/>
          </a:xfrm>
          <a:prstGeom prst="rect">
            <a:avLst/>
          </a:prstGeom>
          <a:noFill/>
        </p:spPr>
        <p:txBody>
          <a:bodyPr wrap="square" lIns="27432" tIns="0" rIns="27432" bIns="0" anchor="t">
            <a:spAutoFit/>
          </a:bodyPr>
          <a:lstStyle/>
          <a:p>
            <a:pPr algn="l">
              <a:lnSpc>
                <a:spcPct val="112000"/>
              </a:lnSpc>
            </a:pPr>
            <a:r>
              <a:rPr sz="1100" b="0" i="0">
                <a:solidFill>
                  <a:srgbClr val="2E2D29"/>
                </a:solidFill>
                <a:latin typeface="Calibri"/>
              </a:rPr>
              <a:t>Adapted per-cap trees,</a:t>
            </a:r>
          </a:p>
          <a:p>
            <a:pPr algn="l">
              <a:lnSpc>
                <a:spcPct val="112000"/>
              </a:lnSpc>
            </a:pPr>
            <a:r>
              <a:rPr sz="1100" b="0" i="0">
                <a:solidFill>
                  <a:srgbClr val="2E2D29"/>
                </a:solidFill>
                <a:latin typeface="Calibri"/>
              </a:rPr>
              <a:t>diameters scaled per side</a:t>
            </a:r>
          </a:p>
        </p:txBody>
      </p:sp>
      <p:sp>
        <p:nvSpPr>
          <p:cNvPr id="16" name="S47_shape_3"/>
          <p:cNvSpPr/>
          <p:nvPr/>
        </p:nvSpPr>
        <p:spPr>
          <a:xfrm>
            <a:off x="2313432" y="1920240"/>
            <a:ext cx="155448" cy="164592"/>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47_shape_4"/>
          <p:cNvSpPr/>
          <p:nvPr/>
        </p:nvSpPr>
        <p:spPr>
          <a:xfrm>
            <a:off x="2496312" y="1408176"/>
            <a:ext cx="1975104" cy="11887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47_shape_5"/>
          <p:cNvSpPr/>
          <p:nvPr/>
        </p:nvSpPr>
        <p:spPr>
          <a:xfrm>
            <a:off x="2496312" y="1408176"/>
            <a:ext cx="1975104" cy="256032"/>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47_text_Recompute_impedance"/>
          <p:cNvSpPr txBox="1"/>
          <p:nvPr/>
        </p:nvSpPr>
        <p:spPr>
          <a:xfrm>
            <a:off x="2496312" y="1408176"/>
            <a:ext cx="1975104" cy="256032"/>
          </a:xfrm>
          <a:prstGeom prst="rect">
            <a:avLst/>
          </a:prstGeom>
          <a:noFill/>
        </p:spPr>
        <p:txBody>
          <a:bodyPr wrap="square" lIns="27432" tIns="0" rIns="27432" bIns="0" anchor="ctr">
            <a:spAutoFit/>
          </a:bodyPr>
          <a:lstStyle/>
          <a:p>
            <a:pPr algn="ctr"/>
            <a:r>
              <a:rPr sz="1100" b="1" i="0">
                <a:solidFill>
                  <a:srgbClr val="FFFFFF"/>
                </a:solidFill>
                <a:latin typeface="Calibri"/>
              </a:rPr>
              <a:t>Recompute impedance</a:t>
            </a:r>
          </a:p>
        </p:txBody>
      </p:sp>
      <p:sp>
        <p:nvSpPr>
          <p:cNvPr id="20" name="S47_text_Each_adapted_tree"/>
          <p:cNvSpPr txBox="1"/>
          <p:nvPr/>
        </p:nvSpPr>
        <p:spPr>
          <a:xfrm>
            <a:off x="2587752" y="1773936"/>
            <a:ext cx="1792224" cy="749808"/>
          </a:xfrm>
          <a:prstGeom prst="rect">
            <a:avLst/>
          </a:prstGeom>
          <a:noFill/>
        </p:spPr>
        <p:txBody>
          <a:bodyPr wrap="square" lIns="27432" tIns="0" rIns="27432" bIns="0" anchor="t">
            <a:spAutoFit/>
          </a:bodyPr>
          <a:lstStyle/>
          <a:p>
            <a:pPr algn="l">
              <a:lnSpc>
                <a:spcPct val="112000"/>
              </a:lnSpc>
            </a:pPr>
            <a:r>
              <a:rPr sz="1100" b="0" i="0">
                <a:solidFill>
                  <a:srgbClr val="2E2D29"/>
                </a:solidFill>
                <a:latin typeface="Calibri"/>
              </a:rPr>
              <a:t>Each adapted tree gives</a:t>
            </a:r>
          </a:p>
          <a:p>
            <a:pPr algn="l">
              <a:lnSpc>
                <a:spcPct val="112000"/>
              </a:lnSpc>
            </a:pPr>
            <a:r>
              <a:rPr sz="1100" b="0" i="0">
                <a:solidFill>
                  <a:srgbClr val="2E2D29"/>
                </a:solidFill>
                <a:latin typeface="Calibri"/>
              </a:rPr>
              <a:t>its own outlet impedance</a:t>
            </a:r>
          </a:p>
        </p:txBody>
      </p:sp>
      <p:sp>
        <p:nvSpPr>
          <p:cNvPr id="21" name="S47_shape_6"/>
          <p:cNvSpPr/>
          <p:nvPr/>
        </p:nvSpPr>
        <p:spPr>
          <a:xfrm>
            <a:off x="4489704" y="1920240"/>
            <a:ext cx="155448" cy="164592"/>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S47_shape_7"/>
          <p:cNvSpPr/>
          <p:nvPr/>
        </p:nvSpPr>
        <p:spPr>
          <a:xfrm>
            <a:off x="4672584" y="1408176"/>
            <a:ext cx="1975104" cy="11887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47_shape_8"/>
          <p:cNvSpPr/>
          <p:nvPr/>
        </p:nvSpPr>
        <p:spPr>
          <a:xfrm>
            <a:off x="4672584" y="1408176"/>
            <a:ext cx="1975104" cy="256032"/>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47_text_Run_3D"/>
          <p:cNvSpPr txBox="1"/>
          <p:nvPr/>
        </p:nvSpPr>
        <p:spPr>
          <a:xfrm>
            <a:off x="4672584" y="1408176"/>
            <a:ext cx="1975104" cy="256032"/>
          </a:xfrm>
          <a:prstGeom prst="rect">
            <a:avLst/>
          </a:prstGeom>
          <a:noFill/>
        </p:spPr>
        <p:txBody>
          <a:bodyPr wrap="square" lIns="27432" tIns="0" rIns="27432" bIns="0" anchor="ctr">
            <a:spAutoFit/>
          </a:bodyPr>
          <a:lstStyle/>
          <a:p>
            <a:pPr algn="ctr"/>
            <a:r>
              <a:rPr sz="1100" b="1" i="0">
                <a:solidFill>
                  <a:srgbClr val="FFFFFF"/>
                </a:solidFill>
                <a:latin typeface="Calibri"/>
              </a:rPr>
              <a:t>Run 3D</a:t>
            </a:r>
          </a:p>
        </p:txBody>
      </p:sp>
      <p:sp>
        <p:nvSpPr>
          <p:cNvPr id="25" name="S47_text_Same_CMM_setup"/>
          <p:cNvSpPr txBox="1"/>
          <p:nvPr/>
        </p:nvSpPr>
        <p:spPr>
          <a:xfrm>
            <a:off x="4764024" y="1773936"/>
            <a:ext cx="1792224" cy="749808"/>
          </a:xfrm>
          <a:prstGeom prst="rect">
            <a:avLst/>
          </a:prstGeom>
          <a:noFill/>
        </p:spPr>
        <p:txBody>
          <a:bodyPr wrap="square" lIns="27432" tIns="0" rIns="27432" bIns="0" anchor="t">
            <a:spAutoFit/>
          </a:bodyPr>
          <a:lstStyle/>
          <a:p>
            <a:pPr algn="l">
              <a:lnSpc>
                <a:spcPct val="112000"/>
              </a:lnSpc>
            </a:pPr>
            <a:r>
              <a:rPr sz="1100" b="0" i="0">
                <a:solidFill>
                  <a:srgbClr val="2E2D29"/>
                </a:solidFill>
                <a:latin typeface="Calibri"/>
              </a:rPr>
              <a:t>Same CMM setup,</a:t>
            </a:r>
          </a:p>
          <a:p>
            <a:pPr algn="l">
              <a:lnSpc>
                <a:spcPct val="112000"/>
              </a:lnSpc>
            </a:pPr>
            <a:r>
              <a:rPr sz="1100" b="0" i="0">
                <a:solidFill>
                  <a:srgbClr val="2E2D29"/>
                </a:solidFill>
                <a:latin typeface="Calibri"/>
              </a:rPr>
              <a:t>post-operative geometry</a:t>
            </a:r>
          </a:p>
        </p:txBody>
      </p:sp>
      <p:sp>
        <p:nvSpPr>
          <p:cNvPr id="26" name="S47_shape_9"/>
          <p:cNvSpPr/>
          <p:nvPr/>
        </p:nvSpPr>
        <p:spPr>
          <a:xfrm>
            <a:off x="6665976" y="1920240"/>
            <a:ext cx="155448" cy="164592"/>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47_shape_10"/>
          <p:cNvSpPr/>
          <p:nvPr/>
        </p:nvSpPr>
        <p:spPr>
          <a:xfrm>
            <a:off x="6848856" y="1408176"/>
            <a:ext cx="1975104" cy="11887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47_shape_11"/>
          <p:cNvSpPr/>
          <p:nvPr/>
        </p:nvSpPr>
        <p:spPr>
          <a:xfrm>
            <a:off x="6848856" y="1408176"/>
            <a:ext cx="1975104" cy="256032"/>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47_text_Extract"/>
          <p:cNvSpPr txBox="1"/>
          <p:nvPr/>
        </p:nvSpPr>
        <p:spPr>
          <a:xfrm>
            <a:off x="6848856" y="1408176"/>
            <a:ext cx="1975104" cy="256032"/>
          </a:xfrm>
          <a:prstGeom prst="rect">
            <a:avLst/>
          </a:prstGeom>
          <a:noFill/>
        </p:spPr>
        <p:txBody>
          <a:bodyPr wrap="square" lIns="27432" tIns="0" rIns="27432" bIns="0" anchor="ctr">
            <a:spAutoFit/>
          </a:bodyPr>
          <a:lstStyle/>
          <a:p>
            <a:pPr algn="ctr"/>
            <a:r>
              <a:rPr sz="1100" b="1" i="0">
                <a:solidFill>
                  <a:srgbClr val="FFFFFF"/>
                </a:solidFill>
                <a:latin typeface="Calibri"/>
              </a:rPr>
              <a:t>Extract</a:t>
            </a:r>
          </a:p>
        </p:txBody>
      </p:sp>
      <p:sp>
        <p:nvSpPr>
          <p:cNvPr id="30" name="S47_text_Pressure_flow_split"/>
          <p:cNvSpPr txBox="1"/>
          <p:nvPr/>
        </p:nvSpPr>
        <p:spPr>
          <a:xfrm>
            <a:off x="6940296" y="1773936"/>
            <a:ext cx="1792224" cy="749808"/>
          </a:xfrm>
          <a:prstGeom prst="rect">
            <a:avLst/>
          </a:prstGeom>
          <a:noFill/>
        </p:spPr>
        <p:txBody>
          <a:bodyPr wrap="square" lIns="27432" tIns="0" rIns="27432" bIns="0" anchor="t">
            <a:spAutoFit/>
          </a:bodyPr>
          <a:lstStyle/>
          <a:p>
            <a:pPr algn="l">
              <a:lnSpc>
                <a:spcPct val="112000"/>
              </a:lnSpc>
            </a:pPr>
            <a:r>
              <a:rPr sz="1100" b="0" i="0">
                <a:solidFill>
                  <a:srgbClr val="2E2D29"/>
                </a:solidFill>
                <a:latin typeface="Calibri"/>
              </a:rPr>
              <a:t>Pressure, flow split, PVR,</a:t>
            </a:r>
          </a:p>
          <a:p>
            <a:pPr algn="l">
              <a:lnSpc>
                <a:spcPct val="112000"/>
              </a:lnSpc>
            </a:pPr>
            <a:r>
              <a:rPr sz="1100" b="0" i="0">
                <a:solidFill>
                  <a:srgbClr val="2E2D29"/>
                </a:solidFill>
                <a:latin typeface="Calibri"/>
              </a:rPr>
              <a:t>wall shear stress</a:t>
            </a:r>
          </a:p>
        </p:txBody>
      </p:sp>
      <p:sp>
        <p:nvSpPr>
          <p:cNvPr id="31" name="S47_shape_12"/>
          <p:cNvSpPr/>
          <p:nvPr/>
        </p:nvSpPr>
        <p:spPr>
          <a:xfrm>
            <a:off x="320040" y="2743200"/>
            <a:ext cx="5394960" cy="1975104"/>
          </a:xfrm>
          <a:prstGeom prst="rect">
            <a:avLst/>
          </a:prstGeom>
          <a:solidFill>
            <a:srgbClr val="F2F1F0"/>
          </a:solidFill>
          <a:ln w="1270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S47_text_FIGURE_PLACEHOLDER_Adapted"/>
          <p:cNvSpPr txBox="1"/>
          <p:nvPr/>
        </p:nvSpPr>
        <p:spPr>
          <a:xfrm>
            <a:off x="429768" y="2743200"/>
            <a:ext cx="5175504" cy="1975104"/>
          </a:xfrm>
          <a:prstGeom prst="rect">
            <a:avLst/>
          </a:prstGeom>
          <a:noFill/>
        </p:spPr>
        <p:txBody>
          <a:bodyPr wrap="square" tIns="0" bIns="0" anchor="ctr">
            <a:spAutoFit/>
          </a:bodyPr>
          <a:lstStyle/>
          <a:p>
            <a:pPr algn="ctr">
              <a:spcAft>
                <a:spcPts val="300"/>
              </a:spcAft>
            </a:pPr>
            <a:r>
              <a:rPr sz="1100" b="1" i="0">
                <a:solidFill>
                  <a:srgbClr val="E98300"/>
                </a:solidFill>
                <a:latin typeface="Calibri"/>
              </a:rPr>
              <a:t>FIGURE PLACEHOLDER</a:t>
            </a:r>
          </a:p>
          <a:p>
            <a:pPr algn="ctr">
              <a:spcAft>
                <a:spcPts val="300"/>
              </a:spcAft>
            </a:pPr>
            <a:r>
              <a:rPr sz="1100" b="1" i="0">
                <a:solidFill>
                  <a:srgbClr val="6B6965"/>
                </a:solidFill>
                <a:latin typeface="Calibri"/>
              </a:rPr>
              <a:t>Adapted 3D result</a:t>
            </a:r>
          </a:p>
          <a:p>
            <a:pPr algn="ctr">
              <a:spcAft>
                <a:spcPts val="300"/>
              </a:spcAft>
            </a:pPr>
            <a:r>
              <a:rPr sz="1100" b="0" i="1">
                <a:solidFill>
                  <a:srgbClr val="6B6965"/>
                </a:solidFill>
                <a:latin typeface="Calibri"/>
              </a:rPr>
              <a:t>Pre-op / acute post-op / adapted comparison, per patient</a:t>
            </a:r>
          </a:p>
        </p:txBody>
      </p:sp>
      <p:sp>
        <p:nvSpPr>
          <p:cNvPr id="33" name="S47_shape_13"/>
          <p:cNvSpPr/>
          <p:nvPr/>
        </p:nvSpPr>
        <p:spPr>
          <a:xfrm>
            <a:off x="5897880" y="2743200"/>
            <a:ext cx="2926080" cy="197510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S47_text_Prerequisites"/>
          <p:cNvSpPr txBox="1"/>
          <p:nvPr/>
        </p:nvSpPr>
        <p:spPr>
          <a:xfrm>
            <a:off x="6025896" y="2843784"/>
            <a:ext cx="1527048" cy="219456"/>
          </a:xfrm>
          <a:prstGeom prst="rect">
            <a:avLst/>
          </a:prstGeom>
          <a:noFill/>
        </p:spPr>
        <p:txBody>
          <a:bodyPr wrap="square" lIns="27432" tIns="0" rIns="27432" bIns="0" anchor="t">
            <a:spAutoFit/>
          </a:bodyPr>
          <a:lstStyle/>
          <a:p>
            <a:pPr algn="l"/>
            <a:r>
              <a:rPr sz="1400" b="1" i="0">
                <a:solidFill>
                  <a:srgbClr val="E98300"/>
                </a:solidFill>
                <a:latin typeface="Calibri"/>
              </a:rPr>
              <a:t>Prerequisites</a:t>
            </a:r>
          </a:p>
        </p:txBody>
      </p:sp>
      <p:sp>
        <p:nvSpPr>
          <p:cNvPr id="35" name="S47_shape_14"/>
          <p:cNvSpPr/>
          <p:nvPr/>
        </p:nvSpPr>
        <p:spPr>
          <a:xfrm>
            <a:off x="7580376" y="2852927"/>
            <a:ext cx="1097280" cy="173736"/>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S47_text_PLANNED"/>
          <p:cNvSpPr txBox="1"/>
          <p:nvPr/>
        </p:nvSpPr>
        <p:spPr>
          <a:xfrm>
            <a:off x="7580376" y="2852927"/>
            <a:ext cx="1097280" cy="173736"/>
          </a:xfrm>
          <a:prstGeom prst="rect">
            <a:avLst/>
          </a:prstGeom>
          <a:noFill/>
        </p:spPr>
        <p:txBody>
          <a:bodyPr wrap="square" lIns="18288" tIns="0" rIns="18288" bIns="0" anchor="ctr">
            <a:spAutoFit/>
          </a:bodyPr>
          <a:lstStyle/>
          <a:p>
            <a:pPr algn="ctr"/>
            <a:r>
              <a:rPr sz="1100" b="1">
                <a:solidFill>
                  <a:srgbClr val="6B6965"/>
                </a:solidFill>
                <a:latin typeface="Calibri"/>
              </a:rPr>
              <a:t>PLANNED</a:t>
            </a:r>
          </a:p>
        </p:txBody>
      </p:sp>
      <p:sp>
        <p:nvSpPr>
          <p:cNvPr id="37" name="S47_text_Post_op_runs"/>
          <p:cNvSpPr txBox="1"/>
          <p:nvPr/>
        </p:nvSpPr>
        <p:spPr>
          <a:xfrm>
            <a:off x="6025896" y="3118103"/>
            <a:ext cx="2670048" cy="1563624"/>
          </a:xfrm>
          <a:prstGeom prst="rect">
            <a:avLst/>
          </a:prstGeom>
          <a:noFill/>
        </p:spPr>
        <p:txBody>
          <a:bodyPr wrap="square" lIns="27432" tIns="0" rIns="27432" bIns="0">
            <a:spAutoFit/>
          </a:bodyPr>
          <a:lstStyle/>
          <a:p>
            <a:pPr>
              <a:spcAft>
                <a:spcPts val="350"/>
              </a:spcAft>
            </a:pPr>
            <a:r>
              <a:rPr sz="1100">
                <a:solidFill>
                  <a:srgbClr val="E98300"/>
                </a:solidFill>
                <a:latin typeface="Calibri"/>
              </a:rPr>
              <a:t>• Post-op runs under the current BCs (Stage 4)</a:t>
            </a:r>
          </a:p>
          <a:p>
            <a:r>
              <a:rPr sz="1100">
                <a:solidFill>
                  <a:srgbClr val="E98300"/>
                </a:solidFill>
                <a:latin typeface="Calibri"/>
              </a:rPr>
              <a:t>• Adaptation rebuilt and gains identified (Stage 5)</a:t>
            </a:r>
          </a:p>
          <a:p>
            <a:r>
              <a:rPr sz="1100">
                <a:solidFill>
                  <a:srgbClr val="E98300"/>
                </a:solidFill>
                <a:latin typeface="Calibri"/>
              </a:rPr>
              <a:t>• Boundary-layer meshes for the post-op geometries</a:t>
            </a:r>
          </a:p>
        </p:txBody>
      </p:sp>
      <p:sp>
        <p:nvSpPr>
          <p:cNvPr id="38" name="S47_shape_15"/>
          <p:cNvSpPr/>
          <p:nvPr/>
        </p:nvSpPr>
        <p:spPr>
          <a:xfrm>
            <a:off x="320040" y="4864608"/>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S47_text_This_is_the"/>
          <p:cNvSpPr txBox="1"/>
          <p:nvPr/>
        </p:nvSpPr>
        <p:spPr>
          <a:xfrm>
            <a:off x="429768" y="4864608"/>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This is the near-term gate: nothing in Stage 7 can be reported until Stage 6 runs.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ext Placeholder 1"/>
          <p:cNvSpPr>
            <a:spLocks noGrp="1"/>
          </p:cNvSpPr>
          <p:nvPr>
            <p:ph type="body" idx="1"/>
          </p:nvPr>
        </p:nvSpPr>
        <p:spPr>
          <a:xfrm>
            <a:off x="1362456" y="2971800"/>
            <a:ext cx="6400800" cy="658368"/>
          </a:xfrm>
        </p:spPr>
        <p:txBody>
          <a:bodyPr wrap="square" lIns="0" rIns="0"/>
          <a:lstStyle/>
          <a:p>
            <a:r>
              <a:rPr sz="1300">
                <a:solidFill>
                  <a:srgbClr val="FFFFFF"/>
                </a:solidFill>
                <a:latin typeface="Calibri"/>
              </a:rPr>
              <a:t>Comparing the adapted simulation against the post-operative measurements held back from tuning.</a:t>
            </a:r>
          </a:p>
        </p:txBody>
      </p:sp>
      <p:sp>
        <p:nvSpPr>
          <p:cNvPr id="4" name="Title 2"/>
          <p:cNvSpPr>
            <a:spLocks noGrp="1"/>
          </p:cNvSpPr>
          <p:nvPr>
            <p:ph type="ctrTitle"/>
          </p:nvPr>
        </p:nvSpPr>
        <p:spPr>
          <a:xfrm>
            <a:off x="1362456" y="1874519"/>
            <a:ext cx="7479792" cy="1005840"/>
          </a:xfrm>
        </p:spPr>
        <p:txBody>
          <a:bodyPr lIns="0" rIns="0" anchor="b"/>
          <a:lstStyle/>
          <a:p>
            <a:r>
              <a:rPr sz="3200">
                <a:solidFill>
                  <a:srgbClr val="FFFFFF"/>
                </a:solidFill>
                <a:latin typeface="Georgia"/>
              </a:rPr>
              <a:t>Metric Extraction</a:t>
            </a:r>
          </a:p>
        </p:txBody>
      </p:sp>
      <p:sp>
        <p:nvSpPr>
          <p:cNvPr id="5" name="S48_text_STAGE_7_OF"/>
          <p:cNvSpPr txBox="1"/>
          <p:nvPr/>
        </p:nvSpPr>
        <p:spPr>
          <a:xfrm>
            <a:off x="1362456" y="1517904"/>
            <a:ext cx="7479792" cy="256032"/>
          </a:xfrm>
          <a:prstGeom prst="rect">
            <a:avLst/>
          </a:prstGeom>
          <a:noFill/>
        </p:spPr>
        <p:txBody>
          <a:bodyPr wrap="square" lIns="27432" tIns="0" rIns="27432" bIns="0" anchor="t">
            <a:spAutoFit/>
          </a:bodyPr>
          <a:lstStyle/>
          <a:p>
            <a:pPr algn="l"/>
            <a:r>
              <a:rPr sz="1100" b="1" i="0">
                <a:solidFill>
                  <a:srgbClr val="FFFFFF"/>
                </a:solidFill>
                <a:latin typeface="Calibri"/>
              </a:rPr>
              <a:t>STAGE 7 OF 7</a:t>
            </a:r>
          </a:p>
        </p:txBody>
      </p:sp>
      <p:sp>
        <p:nvSpPr>
          <p:cNvPr id="6" name="Ribbon_seg1"/>
          <p:cNvSpPr/>
          <p:nvPr/>
        </p:nvSpPr>
        <p:spPr>
          <a:xfrm>
            <a:off x="13624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1</a:t>
            </a:r>
          </a:p>
          <a:p>
            <a:pPr algn="ctr"/>
            <a:r>
              <a:rPr sz="1100" b="0">
                <a:solidFill>
                  <a:srgbClr val="FFFFFF"/>
                </a:solidFill>
                <a:latin typeface="Calibri"/>
              </a:rPr>
              <a:t>Inputs</a:t>
            </a:r>
          </a:p>
        </p:txBody>
      </p:sp>
      <p:sp>
        <p:nvSpPr>
          <p:cNvPr id="7" name="Ribbon_seg2"/>
          <p:cNvSpPr/>
          <p:nvPr/>
        </p:nvSpPr>
        <p:spPr>
          <a:xfrm>
            <a:off x="22873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2</a:t>
            </a:r>
          </a:p>
          <a:p>
            <a:pPr algn="ctr"/>
            <a:r>
              <a:rPr sz="1100" b="0">
                <a:solidFill>
                  <a:srgbClr val="FFFFFF"/>
                </a:solidFill>
                <a:latin typeface="Calibri"/>
              </a:rPr>
              <a:t>BC Tuning</a:t>
            </a:r>
          </a:p>
        </p:txBody>
      </p:sp>
      <p:sp>
        <p:nvSpPr>
          <p:cNvPr id="8" name="Ribbon_seg3"/>
          <p:cNvSpPr/>
          <p:nvPr/>
        </p:nvSpPr>
        <p:spPr>
          <a:xfrm>
            <a:off x="321215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3</a:t>
            </a:r>
          </a:p>
          <a:p>
            <a:pPr algn="ctr"/>
            <a:r>
              <a:rPr sz="1100" b="0">
                <a:solidFill>
                  <a:srgbClr val="FFFFFF"/>
                </a:solidFill>
                <a:latin typeface="Calibri"/>
              </a:rPr>
              <a:t>Pre-op Sim</a:t>
            </a:r>
          </a:p>
        </p:txBody>
      </p:sp>
      <p:sp>
        <p:nvSpPr>
          <p:cNvPr id="9" name="Ribbon_seg4"/>
          <p:cNvSpPr/>
          <p:nvPr/>
        </p:nvSpPr>
        <p:spPr>
          <a:xfrm>
            <a:off x="4137006"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4</a:t>
            </a:r>
          </a:p>
          <a:p>
            <a:pPr algn="ctr"/>
            <a:r>
              <a:rPr sz="1100" b="0">
                <a:solidFill>
                  <a:srgbClr val="FFFFFF"/>
                </a:solidFill>
                <a:latin typeface="Calibri"/>
              </a:rPr>
              <a:t>Post-op Sim</a:t>
            </a:r>
          </a:p>
        </p:txBody>
      </p:sp>
      <p:sp>
        <p:nvSpPr>
          <p:cNvPr id="10" name="Ribbon_seg5"/>
          <p:cNvSpPr/>
          <p:nvPr/>
        </p:nvSpPr>
        <p:spPr>
          <a:xfrm>
            <a:off x="506185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5</a:t>
            </a:r>
          </a:p>
          <a:p>
            <a:pPr algn="ctr"/>
            <a:r>
              <a:rPr sz="1100" b="0">
                <a:solidFill>
                  <a:srgbClr val="FFFFFF"/>
                </a:solidFill>
                <a:latin typeface="Calibri"/>
              </a:rPr>
              <a:t>Adaptation</a:t>
            </a:r>
          </a:p>
        </p:txBody>
      </p:sp>
      <p:sp>
        <p:nvSpPr>
          <p:cNvPr id="11" name="Ribbon_seg6"/>
          <p:cNvSpPr/>
          <p:nvPr/>
        </p:nvSpPr>
        <p:spPr>
          <a:xfrm>
            <a:off x="5986707" y="4041648"/>
            <a:ext cx="869986" cy="457200"/>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0">
                <a:solidFill>
                  <a:srgbClr val="FFFFFF"/>
                </a:solidFill>
                <a:latin typeface="Calibri"/>
              </a:rPr>
              <a:t>6</a:t>
            </a:r>
          </a:p>
          <a:p>
            <a:pPr algn="ctr"/>
            <a:r>
              <a:rPr sz="1100" b="0">
                <a:solidFill>
                  <a:srgbClr val="FFFFFF"/>
                </a:solidFill>
                <a:latin typeface="Calibri"/>
              </a:rPr>
              <a:t>Adapted Sim</a:t>
            </a:r>
          </a:p>
        </p:txBody>
      </p:sp>
      <p:sp>
        <p:nvSpPr>
          <p:cNvPr id="12" name="Ribbon_seg7"/>
          <p:cNvSpPr/>
          <p:nvPr/>
        </p:nvSpPr>
        <p:spPr>
          <a:xfrm>
            <a:off x="6911557" y="4041648"/>
            <a:ext cx="869986"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1100" b="1">
                <a:solidFill>
                  <a:srgbClr val="007C92"/>
                </a:solidFill>
                <a:latin typeface="Calibri"/>
              </a:rPr>
              <a:t>7</a:t>
            </a:r>
          </a:p>
          <a:p>
            <a:pPr algn="ctr"/>
            <a:r>
              <a:rPr sz="1100" b="1">
                <a:solidFill>
                  <a:srgbClr val="007C92"/>
                </a:solidFill>
                <a:latin typeface="Calibri"/>
              </a:rPr>
              <a:t>Metrics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Metrics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7  Metrics</a:t>
            </a:r>
          </a:p>
        </p:txBody>
      </p:sp>
      <p:sp>
        <p:nvSpPr>
          <p:cNvPr id="11" name="Status_badge"/>
          <p:cNvSpPr/>
          <p:nvPr/>
        </p:nvSpPr>
        <p:spPr>
          <a:xfrm>
            <a:off x="7013447" y="950976"/>
            <a:ext cx="1810512" cy="237744"/>
          </a:xfrm>
          <a:prstGeom prst="rect">
            <a:avLst/>
          </a:prstGeom>
          <a:solidFill>
            <a:srgbClr val="6B6965"/>
          </a:solidFill>
          <a:ln w="7620">
            <a:solidFill>
              <a:srgbClr val="6B6965"/>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PLANNED</a:t>
            </a:r>
          </a:p>
        </p:txBody>
      </p:sp>
      <p:sp>
        <p:nvSpPr>
          <p:cNvPr id="12" name="S49_text_Lobar_perfusion_is"/>
          <p:cNvSpPr txBox="1"/>
          <p:nvPr/>
        </p:nvSpPr>
        <p:spPr>
          <a:xfrm>
            <a:off x="320040" y="4224528"/>
            <a:ext cx="8503920" cy="219456"/>
          </a:xfrm>
          <a:prstGeom prst="rect">
            <a:avLst/>
          </a:prstGeom>
          <a:noFill/>
        </p:spPr>
        <p:txBody>
          <a:bodyPr wrap="square" lIns="27432" tIns="0" rIns="27432" bIns="0" anchor="t">
            <a:spAutoFit/>
          </a:bodyPr>
          <a:lstStyle/>
          <a:p>
            <a:pPr algn="l"/>
            <a:r>
              <a:rPr sz="1100" b="0" i="1">
                <a:solidFill>
                  <a:srgbClr val="6B6965"/>
                </a:solidFill>
                <a:latin typeface="Calibri"/>
              </a:rPr>
              <a:t>Lobar perfusion is explicitly out of scope for this publication.</a:t>
            </a:r>
          </a:p>
        </p:txBody>
      </p:sp>
      <p:sp>
        <p:nvSpPr>
          <p:cNvPr id="13" name="S49_shape"/>
          <p:cNvSpPr/>
          <p:nvPr/>
        </p:nvSpPr>
        <p:spPr>
          <a:xfrm>
            <a:off x="320040" y="452628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49_text_Two_clinically_measured"/>
          <p:cNvSpPr txBox="1"/>
          <p:nvPr/>
        </p:nvSpPr>
        <p:spPr>
          <a:xfrm>
            <a:off x="429768" y="4526280"/>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Two clinically measured endpoints carry the validation; the rest explain the mechanism.</a:t>
            </a:r>
          </a:p>
        </p:txBody>
      </p:sp>
      <p:graphicFrame>
        <p:nvGraphicFramePr>
          <p:cNvPr id="15" name="S7_metrics_table"/>
          <p:cNvGraphicFramePr>
            <a:graphicFrameLocks noGrp="1"/>
          </p:cNvGraphicFramePr>
          <p:nvPr/>
        </p:nvGraphicFramePr>
        <p:xfrm>
          <a:off x="320040" y="1426464"/>
          <a:ext cx="8503918" cy="2560313"/>
        </p:xfrm>
        <a:graphic>
          <a:graphicData uri="http://schemas.openxmlformats.org/drawingml/2006/table">
            <a:tbl>
              <a:tblPr firstRow="1" bandRow="0">
                <a:tableStyleId>{5C22544A-7EE6-4342-B048-85BDC9FD1C3A}</a:tableStyleId>
              </a:tblPr>
              <a:tblGrid>
                <a:gridCol w="2011679"/>
                <a:gridCol w="2743200"/>
                <a:gridCol w="2331719"/>
                <a:gridCol w="1417320"/>
              </a:tblGrid>
              <a:tr h="365759">
                <a:tc>
                  <a:txBody>
                    <a:bodyPr wrap="square"/>
                    <a:lstStyle/>
                    <a:p>
                      <a:r>
                        <a:rPr sz="1200" b="1">
                          <a:solidFill>
                            <a:srgbClr val="FFFFFF"/>
                          </a:solidFill>
                          <a:latin typeface="Calibri"/>
                        </a:rPr>
                        <a:t>Metric</a:t>
                      </a:r>
                    </a:p>
                  </a:txBody>
                  <a:tcPr marL="54864" marR="54864" marT="27432" marB="27432" anchor="ctr">
                    <a:solidFill>
                      <a:srgbClr val="8C1515"/>
                    </a:solidFill>
                  </a:tcPr>
                </a:tc>
                <a:tc>
                  <a:txBody>
                    <a:bodyPr wrap="square"/>
                    <a:lstStyle/>
                    <a:p>
                      <a:r>
                        <a:rPr sz="1200" b="1">
                          <a:solidFill>
                            <a:srgbClr val="FFFFFF"/>
                          </a:solidFill>
                          <a:latin typeface="Calibri"/>
                        </a:rPr>
                        <a:t>Definition</a:t>
                      </a:r>
                    </a:p>
                  </a:txBody>
                  <a:tcPr marL="54864" marR="54864" marT="27432" marB="27432" anchor="ctr">
                    <a:solidFill>
                      <a:srgbClr val="8C1515"/>
                    </a:solidFill>
                  </a:tcPr>
                </a:tc>
                <a:tc>
                  <a:txBody>
                    <a:bodyPr wrap="square"/>
                    <a:lstStyle/>
                    <a:p>
                      <a:r>
                        <a:rPr sz="1200" b="1">
                          <a:solidFill>
                            <a:srgbClr val="FFFFFF"/>
                          </a:solidFill>
                          <a:latin typeface="Calibri"/>
                        </a:rPr>
                        <a:t>Compared against</a:t>
                      </a:r>
                    </a:p>
                  </a:txBody>
                  <a:tcPr marL="54864" marR="54864" marT="27432" marB="27432" anchor="ctr">
                    <a:solidFill>
                      <a:srgbClr val="8C1515"/>
                    </a:solidFill>
                  </a:tcPr>
                </a:tc>
                <a:tc>
                  <a:txBody>
                    <a:bodyPr wrap="square"/>
                    <a:lstStyle/>
                    <a:p>
                      <a:r>
                        <a:rPr sz="1200" b="1">
                          <a:solidFill>
                            <a:srgbClr val="FFFFFF"/>
                          </a:solidFill>
                          <a:latin typeface="Calibri"/>
                        </a:rPr>
                        <a:t>Role</a:t>
                      </a:r>
                    </a:p>
                  </a:txBody>
                  <a:tcPr marL="54864" marR="54864" marT="27432" marB="27432" anchor="ctr">
                    <a:solidFill>
                      <a:srgbClr val="8C1515"/>
                    </a:solidFill>
                  </a:tcPr>
                </a:tc>
              </a:tr>
              <a:tr h="365759">
                <a:tc>
                  <a:txBody>
                    <a:bodyPr wrap="square"/>
                    <a:lstStyle/>
                    <a:p>
                      <a:r>
                        <a:rPr sz="1200" b="1">
                          <a:solidFill>
                            <a:srgbClr val="2E2D29"/>
                          </a:solidFill>
                          <a:latin typeface="Calibri"/>
                        </a:rPr>
                        <a:t>RPA / LPA flow split</a:t>
                      </a:r>
                    </a:p>
                  </a:txBody>
                  <a:tcPr marL="54864" marR="54864" marT="27432" marB="27432" anchor="ctr">
                    <a:solidFill>
                      <a:srgbClr val="FFFFFF"/>
                    </a:solidFill>
                  </a:tcPr>
                </a:tc>
                <a:tc>
                  <a:txBody>
                    <a:bodyPr wrap="square"/>
                    <a:lstStyle/>
                    <a:p>
                      <a:r>
                        <a:rPr sz="1200" b="0">
                          <a:solidFill>
                            <a:srgbClr val="6B6965"/>
                          </a:solidFill>
                          <a:latin typeface="Calibri"/>
                        </a:rPr>
                        <a:t>Cycle-mean flow fraction to each lung</a:t>
                      </a:r>
                    </a:p>
                  </a:txBody>
                  <a:tcPr marL="54864" marR="54864" marT="27432" marB="27432" anchor="ctr">
                    <a:solidFill>
                      <a:srgbClr val="FFFFFF"/>
                    </a:solidFill>
                  </a:tcPr>
                </a:tc>
                <a:tc>
                  <a:txBody>
                    <a:bodyPr wrap="square"/>
                    <a:lstStyle/>
                    <a:p>
                      <a:r>
                        <a:rPr sz="1200" b="0">
                          <a:solidFill>
                            <a:srgbClr val="6B6965"/>
                          </a:solidFill>
                          <a:latin typeface="Calibri"/>
                        </a:rPr>
                        <a:t>Post-operative lung perfusion scan</a:t>
                      </a:r>
                    </a:p>
                  </a:txBody>
                  <a:tcPr marL="54864" marR="54864" marT="27432" marB="27432" anchor="ctr">
                    <a:solidFill>
                      <a:srgbClr val="FFFFFF"/>
                    </a:solidFill>
                  </a:tcPr>
                </a:tc>
                <a:tc>
                  <a:txBody>
                    <a:bodyPr wrap="square"/>
                    <a:lstStyle/>
                    <a:p>
                      <a:r>
                        <a:rPr sz="1200" b="0">
                          <a:solidFill>
                            <a:srgbClr val="6B6965"/>
                          </a:solidFill>
                          <a:latin typeface="Calibri"/>
                        </a:rPr>
                        <a:t>Primary endpoint</a:t>
                      </a:r>
                    </a:p>
                  </a:txBody>
                  <a:tcPr marL="54864" marR="54864" marT="27432" marB="27432" anchor="ctr">
                    <a:solidFill>
                      <a:srgbClr val="FFFFFF"/>
                    </a:solidFill>
                  </a:tcPr>
                </a:tc>
              </a:tr>
              <a:tr h="365759">
                <a:tc>
                  <a:txBody>
                    <a:bodyPr wrap="square"/>
                    <a:lstStyle/>
                    <a:p>
                      <a:r>
                        <a:rPr sz="1200" b="1">
                          <a:solidFill>
                            <a:srgbClr val="2E2D29"/>
                          </a:solidFill>
                          <a:latin typeface="Calibri"/>
                        </a:rPr>
                        <a:t>MPA pressure</a:t>
                      </a:r>
                    </a:p>
                  </a:txBody>
                  <a:tcPr marL="54864" marR="54864" marT="27432" marB="27432" anchor="ctr">
                    <a:solidFill>
                      <a:srgbClr val="F2F1F0"/>
                    </a:solidFill>
                  </a:tcPr>
                </a:tc>
                <a:tc>
                  <a:txBody>
                    <a:bodyPr wrap="square"/>
                    <a:lstStyle/>
                    <a:p>
                      <a:r>
                        <a:rPr sz="1200" b="0">
                          <a:solidFill>
                            <a:srgbClr val="6B6965"/>
                          </a:solidFill>
                          <a:latin typeface="Calibri"/>
                        </a:rPr>
                        <a:t>Systolic, diastolic and mean at the MPA</a:t>
                      </a:r>
                    </a:p>
                  </a:txBody>
                  <a:tcPr marL="54864" marR="54864" marT="27432" marB="27432" anchor="ctr">
                    <a:solidFill>
                      <a:srgbClr val="F2F1F0"/>
                    </a:solidFill>
                  </a:tcPr>
                </a:tc>
                <a:tc>
                  <a:txBody>
                    <a:bodyPr wrap="square"/>
                    <a:lstStyle/>
                    <a:p>
                      <a:r>
                        <a:rPr sz="1200" b="0">
                          <a:solidFill>
                            <a:srgbClr val="6B6965"/>
                          </a:solidFill>
                          <a:latin typeface="Calibri"/>
                        </a:rPr>
                        <a:t>Post-operative catheterization</a:t>
                      </a:r>
                    </a:p>
                  </a:txBody>
                  <a:tcPr marL="54864" marR="54864" marT="27432" marB="27432" anchor="ctr">
                    <a:solidFill>
                      <a:srgbClr val="F2F1F0"/>
                    </a:solidFill>
                  </a:tcPr>
                </a:tc>
                <a:tc>
                  <a:txBody>
                    <a:bodyPr wrap="square"/>
                    <a:lstStyle/>
                    <a:p>
                      <a:r>
                        <a:rPr sz="1200" b="0">
                          <a:solidFill>
                            <a:srgbClr val="6B6965"/>
                          </a:solidFill>
                          <a:latin typeface="Calibri"/>
                        </a:rPr>
                        <a:t>Primary endpoint</a:t>
                      </a:r>
                    </a:p>
                  </a:txBody>
                  <a:tcPr marL="54864" marR="54864" marT="27432" marB="27432" anchor="ctr">
                    <a:solidFill>
                      <a:srgbClr val="F2F1F0"/>
                    </a:solidFill>
                  </a:tcPr>
                </a:tc>
              </a:tr>
              <a:tr h="365759">
                <a:tc>
                  <a:txBody>
                    <a:bodyPr wrap="square"/>
                    <a:lstStyle/>
                    <a:p>
                      <a:r>
                        <a:rPr sz="1200" b="1">
                          <a:solidFill>
                            <a:srgbClr val="2E2D29"/>
                          </a:solidFill>
                          <a:latin typeface="Calibri"/>
                        </a:rPr>
                        <a:t>Pulmonary vascular resistance</a:t>
                      </a:r>
                    </a:p>
                  </a:txBody>
                  <a:tcPr marL="54864" marR="54864" marT="27432" marB="27432" anchor="ctr">
                    <a:solidFill>
                      <a:srgbClr val="FFFFFF"/>
                    </a:solidFill>
                  </a:tcPr>
                </a:tc>
                <a:tc>
                  <a:txBody>
                    <a:bodyPr wrap="square"/>
                    <a:lstStyle/>
                    <a:p>
                      <a:r>
                        <a:rPr sz="1200" b="0">
                          <a:solidFill>
                            <a:srgbClr val="6B6965"/>
                          </a:solidFill>
                          <a:latin typeface="Calibri"/>
                        </a:rPr>
                        <a:t>(mean MPA − PCWP) / cardiac output</a:t>
                      </a:r>
                    </a:p>
                  </a:txBody>
                  <a:tcPr marL="54864" marR="54864" marT="27432" marB="27432" anchor="ctr">
                    <a:solidFill>
                      <a:srgbClr val="FFFFFF"/>
                    </a:solidFill>
                  </a:tcPr>
                </a:tc>
                <a:tc>
                  <a:txBody>
                    <a:bodyPr wrap="square"/>
                    <a:lstStyle/>
                    <a:p>
                      <a:r>
                        <a:rPr sz="1200" b="0">
                          <a:solidFill>
                            <a:srgbClr val="6B6965"/>
                          </a:solidFill>
                          <a:latin typeface="Calibri"/>
                        </a:rPr>
                        <a:t>Catheter-derived PVR</a:t>
                      </a:r>
                    </a:p>
                  </a:txBody>
                  <a:tcPr marL="54864" marR="54864" marT="27432" marB="27432" anchor="ctr">
                    <a:solidFill>
                      <a:srgbClr val="FFFFFF"/>
                    </a:solidFill>
                  </a:tcPr>
                </a:tc>
                <a:tc>
                  <a:txBody>
                    <a:bodyPr wrap="square"/>
                    <a:lstStyle/>
                    <a:p>
                      <a:r>
                        <a:rPr sz="1200" b="0">
                          <a:solidFill>
                            <a:srgbClr val="6B6965"/>
                          </a:solidFill>
                          <a:latin typeface="Calibri"/>
                        </a:rPr>
                        <a:t>Secondary</a:t>
                      </a:r>
                    </a:p>
                  </a:txBody>
                  <a:tcPr marL="54864" marR="54864" marT="27432" marB="27432" anchor="ctr">
                    <a:solidFill>
                      <a:srgbClr val="FFFFFF"/>
                    </a:solidFill>
                  </a:tcPr>
                </a:tc>
              </a:tr>
              <a:tr h="365759">
                <a:tc>
                  <a:txBody>
                    <a:bodyPr wrap="square"/>
                    <a:lstStyle/>
                    <a:p>
                      <a:r>
                        <a:rPr sz="1200" b="1">
                          <a:solidFill>
                            <a:srgbClr val="2E2D29"/>
                          </a:solidFill>
                          <a:latin typeface="Calibri"/>
                        </a:rPr>
                        <a:t>Stenosis pressure drop</a:t>
                      </a:r>
                    </a:p>
                  </a:txBody>
                  <a:tcPr marL="54864" marR="54864" marT="27432" marB="27432" anchor="ctr">
                    <a:solidFill>
                      <a:srgbClr val="F2F1F0"/>
                    </a:solidFill>
                  </a:tcPr>
                </a:tc>
                <a:tc>
                  <a:txBody>
                    <a:bodyPr wrap="square"/>
                    <a:lstStyle/>
                    <a:p>
                      <a:r>
                        <a:rPr sz="1200" b="0">
                          <a:solidFill>
                            <a:srgbClr val="6B6965"/>
                          </a:solidFill>
                          <a:latin typeface="Calibri"/>
                        </a:rPr>
                        <a:t>Gradient across the treated segment</a:t>
                      </a:r>
                    </a:p>
                  </a:txBody>
                  <a:tcPr marL="54864" marR="54864" marT="27432" marB="27432" anchor="ctr">
                    <a:solidFill>
                      <a:srgbClr val="F2F1F0"/>
                    </a:solidFill>
                  </a:tcPr>
                </a:tc>
                <a:tc>
                  <a:txBody>
                    <a:bodyPr wrap="square"/>
                    <a:lstStyle/>
                    <a:p>
                      <a:r>
                        <a:rPr sz="1200" b="0">
                          <a:solidFill>
                            <a:srgbClr val="6B6965"/>
                          </a:solidFill>
                          <a:latin typeface="Calibri"/>
                        </a:rPr>
                        <a:t>Catheter pull-back gradient</a:t>
                      </a:r>
                    </a:p>
                  </a:txBody>
                  <a:tcPr marL="54864" marR="54864" marT="27432" marB="27432" anchor="ctr">
                    <a:solidFill>
                      <a:srgbClr val="F2F1F0"/>
                    </a:solidFill>
                  </a:tcPr>
                </a:tc>
                <a:tc>
                  <a:txBody>
                    <a:bodyPr wrap="square"/>
                    <a:lstStyle/>
                    <a:p>
                      <a:r>
                        <a:rPr sz="1200" b="0">
                          <a:solidFill>
                            <a:srgbClr val="6B6965"/>
                          </a:solidFill>
                          <a:latin typeface="Calibri"/>
                        </a:rPr>
                        <a:t>Secondary</a:t>
                      </a:r>
                    </a:p>
                  </a:txBody>
                  <a:tcPr marL="54864" marR="54864" marT="27432" marB="27432" anchor="ctr">
                    <a:solidFill>
                      <a:srgbClr val="F2F1F0"/>
                    </a:solidFill>
                  </a:tcPr>
                </a:tc>
              </a:tr>
              <a:tr h="365759">
                <a:tc>
                  <a:txBody>
                    <a:bodyPr wrap="square"/>
                    <a:lstStyle/>
                    <a:p>
                      <a:r>
                        <a:rPr sz="1200" b="1">
                          <a:solidFill>
                            <a:srgbClr val="2E2D29"/>
                          </a:solidFill>
                          <a:latin typeface="Calibri"/>
                        </a:rPr>
                        <a:t>Wall shear stress</a:t>
                      </a:r>
                    </a:p>
                  </a:txBody>
                  <a:tcPr marL="54864" marR="54864" marT="27432" marB="27432" anchor="ctr">
                    <a:solidFill>
                      <a:srgbClr val="FFFFFF"/>
                    </a:solidFill>
                  </a:tcPr>
                </a:tc>
                <a:tc>
                  <a:txBody>
                    <a:bodyPr wrap="square"/>
                    <a:lstStyle/>
                    <a:p>
                      <a:r>
                        <a:rPr sz="1200" b="0">
                          <a:solidFill>
                            <a:srgbClr val="6B6965"/>
                          </a:solidFill>
                          <a:latin typeface="Calibri"/>
                        </a:rPr>
                        <a:t>Time-averaged WSS on the 3D wall</a:t>
                      </a:r>
                    </a:p>
                  </a:txBody>
                  <a:tcPr marL="54864" marR="54864" marT="27432" marB="27432" anchor="ctr">
                    <a:solidFill>
                      <a:srgbClr val="FFFFFF"/>
                    </a:solidFill>
                  </a:tcPr>
                </a:tc>
                <a:tc>
                  <a:txBody>
                    <a:bodyPr wrap="square"/>
                    <a:lstStyle/>
                    <a:p>
                      <a:r>
                        <a:rPr sz="1200" b="0">
                          <a:solidFill>
                            <a:srgbClr val="6B6965"/>
                          </a:solidFill>
                          <a:latin typeface="Calibri"/>
                        </a:rPr>
                        <a:t>No direct measurement</a:t>
                      </a:r>
                    </a:p>
                  </a:txBody>
                  <a:tcPr marL="54864" marR="54864" marT="27432" marB="27432" anchor="ctr">
                    <a:solidFill>
                      <a:srgbClr val="FFFFFF"/>
                    </a:solidFill>
                  </a:tcPr>
                </a:tc>
                <a:tc>
                  <a:txBody>
                    <a:bodyPr wrap="square"/>
                    <a:lstStyle/>
                    <a:p>
                      <a:r>
                        <a:rPr sz="1200" b="0">
                          <a:solidFill>
                            <a:srgbClr val="6B6965"/>
                          </a:solidFill>
                          <a:latin typeface="Calibri"/>
                        </a:rPr>
                        <a:t>Mechanistic</a:t>
                      </a:r>
                    </a:p>
                  </a:txBody>
                  <a:tcPr marL="54864" marR="54864" marT="27432" marB="27432" anchor="ctr">
                    <a:solidFill>
                      <a:srgbClr val="FFFFFF"/>
                    </a:solidFill>
                  </a:tcPr>
                </a:tc>
              </a:tr>
              <a:tr h="365759">
                <a:tc>
                  <a:txBody>
                    <a:bodyPr wrap="square"/>
                    <a:lstStyle/>
                    <a:p>
                      <a:r>
                        <a:rPr sz="1200" b="1">
                          <a:solidFill>
                            <a:srgbClr val="2E2D29"/>
                          </a:solidFill>
                          <a:latin typeface="Calibri"/>
                        </a:rPr>
                        <a:t>Intra-tree Q, P, WSS</a:t>
                      </a:r>
                    </a:p>
                  </a:txBody>
                  <a:tcPr marL="54864" marR="54864" marT="27432" marB="27432" anchor="ctr">
                    <a:solidFill>
                      <a:srgbClr val="F2F1F0"/>
                    </a:solidFill>
                  </a:tcPr>
                </a:tc>
                <a:tc>
                  <a:txBody>
                    <a:bodyPr wrap="square"/>
                    <a:lstStyle/>
                    <a:p>
                      <a:r>
                        <a:rPr sz="1200" b="0">
                          <a:solidFill>
                            <a:srgbClr val="6B6965"/>
                          </a:solidFill>
                          <a:latin typeface="Calibri"/>
                        </a:rPr>
                        <a:t>Distributions by generation within the trees</a:t>
                      </a:r>
                    </a:p>
                  </a:txBody>
                  <a:tcPr marL="54864" marR="54864" marT="27432" marB="27432" anchor="ctr">
                    <a:solidFill>
                      <a:srgbClr val="F2F1F0"/>
                    </a:solidFill>
                  </a:tcPr>
                </a:tc>
                <a:tc>
                  <a:txBody>
                    <a:bodyPr wrap="square"/>
                    <a:lstStyle/>
                    <a:p>
                      <a:r>
                        <a:rPr sz="1200" b="0">
                          <a:solidFill>
                            <a:srgbClr val="6B6965"/>
                          </a:solidFill>
                          <a:latin typeface="Calibri"/>
                        </a:rPr>
                        <a:t>No direct measurement</a:t>
                      </a:r>
                    </a:p>
                  </a:txBody>
                  <a:tcPr marL="54864" marR="54864" marT="27432" marB="27432" anchor="ctr">
                    <a:solidFill>
                      <a:srgbClr val="F2F1F0"/>
                    </a:solidFill>
                  </a:tcPr>
                </a:tc>
                <a:tc>
                  <a:txBody>
                    <a:bodyPr wrap="square"/>
                    <a:lstStyle/>
                    <a:p>
                      <a:r>
                        <a:rPr sz="1200" b="0">
                          <a:solidFill>
                            <a:srgbClr val="6B6965"/>
                          </a:solidFill>
                          <a:latin typeface="Calibri"/>
                        </a:rPr>
                        <a:t>Mechanistic</a:t>
                      </a:r>
                    </a:p>
                  </a:txBody>
                  <a:tcPr marL="54864" marR="54864" marT="27432" marB="27432" anchor="ctr">
                    <a:solidFill>
                      <a:srgbClr val="F2F1F0"/>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What counts as success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7  Metrics</a:t>
            </a:r>
          </a:p>
        </p:txBody>
      </p:sp>
      <p:sp>
        <p:nvSpPr>
          <p:cNvPr id="11" name="Status_badge"/>
          <p:cNvSpPr/>
          <p:nvPr/>
        </p:nvSpPr>
        <p:spPr>
          <a:xfrm>
            <a:off x="7013447" y="950976"/>
            <a:ext cx="1810512" cy="237744"/>
          </a:xfrm>
          <a:prstGeom prst="rect">
            <a:avLst/>
          </a:prstGeom>
          <a:solidFill>
            <a:srgbClr val="6B6965"/>
          </a:solidFill>
          <a:ln w="7620">
            <a:solidFill>
              <a:srgbClr val="6B6965"/>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FFFFFF"/>
                </a:solidFill>
                <a:latin typeface="Calibri"/>
              </a:rPr>
              <a:t>PLANNED</a:t>
            </a:r>
          </a:p>
        </p:txBody>
      </p:sp>
      <p:sp>
        <p:nvSpPr>
          <p:cNvPr id="12" name="S50_shape"/>
          <p:cNvSpPr/>
          <p:nvPr/>
        </p:nvSpPr>
        <p:spPr>
          <a:xfrm>
            <a:off x="320040" y="1408176"/>
            <a:ext cx="2688336" cy="13167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50_shape_2"/>
          <p:cNvSpPr/>
          <p:nvPr/>
        </p:nvSpPr>
        <p:spPr>
          <a:xfrm>
            <a:off x="320040" y="1408176"/>
            <a:ext cx="2688336" cy="274320"/>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50_text_Baseline"/>
          <p:cNvSpPr txBox="1"/>
          <p:nvPr/>
        </p:nvSpPr>
        <p:spPr>
          <a:xfrm>
            <a:off x="320040" y="1408176"/>
            <a:ext cx="2688336" cy="274320"/>
          </a:xfrm>
          <a:prstGeom prst="rect">
            <a:avLst/>
          </a:prstGeom>
          <a:noFill/>
        </p:spPr>
        <p:txBody>
          <a:bodyPr wrap="square" lIns="27432" tIns="0" rIns="27432" bIns="0" anchor="ctr">
            <a:spAutoFit/>
          </a:bodyPr>
          <a:lstStyle/>
          <a:p>
            <a:pPr algn="ctr"/>
            <a:r>
              <a:rPr sz="1100" b="1" i="0">
                <a:solidFill>
                  <a:srgbClr val="FFFFFF"/>
                </a:solidFill>
                <a:latin typeface="Calibri"/>
              </a:rPr>
              <a:t>Baseline</a:t>
            </a:r>
          </a:p>
        </p:txBody>
      </p:sp>
      <p:sp>
        <p:nvSpPr>
          <p:cNvPr id="15" name="S50_text_Acute_post_operative"/>
          <p:cNvSpPr txBox="1"/>
          <p:nvPr/>
        </p:nvSpPr>
        <p:spPr>
          <a:xfrm>
            <a:off x="429768" y="1792224"/>
            <a:ext cx="2468880" cy="841248"/>
          </a:xfrm>
          <a:prstGeom prst="rect">
            <a:avLst/>
          </a:prstGeom>
          <a:noFill/>
        </p:spPr>
        <p:txBody>
          <a:bodyPr wrap="square" lIns="27432" tIns="0" rIns="27432" bIns="0" anchor="t">
            <a:spAutoFit/>
          </a:bodyPr>
          <a:lstStyle/>
          <a:p>
            <a:pPr algn="l">
              <a:lnSpc>
                <a:spcPct val="115000"/>
              </a:lnSpc>
            </a:pPr>
            <a:r>
              <a:rPr sz="1100" b="0" i="0">
                <a:solidFill>
                  <a:srgbClr val="2E2D29"/>
                </a:solidFill>
                <a:latin typeface="Calibri"/>
              </a:rPr>
              <a:t>Acute post-operative simulation with unchanged pre-operative boundary conditions</a:t>
            </a:r>
          </a:p>
        </p:txBody>
      </p:sp>
      <p:sp>
        <p:nvSpPr>
          <p:cNvPr id="16" name="S50_shape_3"/>
          <p:cNvSpPr/>
          <p:nvPr/>
        </p:nvSpPr>
        <p:spPr>
          <a:xfrm>
            <a:off x="3227832" y="1408176"/>
            <a:ext cx="2688336" cy="13167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50_shape_4"/>
          <p:cNvSpPr/>
          <p:nvPr/>
        </p:nvSpPr>
        <p:spPr>
          <a:xfrm>
            <a:off x="3227832" y="1408176"/>
            <a:ext cx="2688336" cy="274320"/>
          </a:xfrm>
          <a:prstGeom prst="rect">
            <a:avLst/>
          </a:prstGeom>
          <a:solidFill>
            <a:srgbClr val="007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50_text_Comparison"/>
          <p:cNvSpPr txBox="1"/>
          <p:nvPr/>
        </p:nvSpPr>
        <p:spPr>
          <a:xfrm>
            <a:off x="3227832" y="1408176"/>
            <a:ext cx="2688336" cy="274320"/>
          </a:xfrm>
          <a:prstGeom prst="rect">
            <a:avLst/>
          </a:prstGeom>
          <a:noFill/>
        </p:spPr>
        <p:txBody>
          <a:bodyPr wrap="square" lIns="27432" tIns="0" rIns="27432" bIns="0" anchor="ctr">
            <a:spAutoFit/>
          </a:bodyPr>
          <a:lstStyle/>
          <a:p>
            <a:pPr algn="ctr"/>
            <a:r>
              <a:rPr sz="1100" b="1" i="0">
                <a:solidFill>
                  <a:srgbClr val="FFFFFF"/>
                </a:solidFill>
                <a:latin typeface="Calibri"/>
              </a:rPr>
              <a:t>Comparison</a:t>
            </a:r>
          </a:p>
        </p:txBody>
      </p:sp>
      <p:sp>
        <p:nvSpPr>
          <p:cNvPr id="19" name="S50_text_CWSS_adaptation_with"/>
          <p:cNvSpPr txBox="1"/>
          <p:nvPr/>
        </p:nvSpPr>
        <p:spPr>
          <a:xfrm>
            <a:off x="3337560" y="1792224"/>
            <a:ext cx="2468880" cy="841248"/>
          </a:xfrm>
          <a:prstGeom prst="rect">
            <a:avLst/>
          </a:prstGeom>
          <a:noFill/>
        </p:spPr>
        <p:txBody>
          <a:bodyPr wrap="square" lIns="27432" tIns="0" rIns="27432" bIns="0" anchor="t">
            <a:spAutoFit/>
          </a:bodyPr>
          <a:lstStyle/>
          <a:p>
            <a:pPr algn="l">
              <a:lnSpc>
                <a:spcPct val="115000"/>
              </a:lnSpc>
            </a:pPr>
            <a:r>
              <a:rPr sz="1100" b="0" i="0">
                <a:solidFill>
                  <a:srgbClr val="2E2D29"/>
                </a:solidFill>
                <a:latin typeface="Calibri"/>
              </a:rPr>
              <a:t>CWSS adaptation with swept terminal resistance</a:t>
            </a:r>
          </a:p>
        </p:txBody>
      </p:sp>
      <p:sp>
        <p:nvSpPr>
          <p:cNvPr id="20" name="S50_shape_5"/>
          <p:cNvSpPr/>
          <p:nvPr/>
        </p:nvSpPr>
        <p:spPr>
          <a:xfrm>
            <a:off x="6135623" y="1408176"/>
            <a:ext cx="2688336" cy="13167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50_shape_6"/>
          <p:cNvSpPr/>
          <p:nvPr/>
        </p:nvSpPr>
        <p:spPr>
          <a:xfrm>
            <a:off x="6135623" y="1408176"/>
            <a:ext cx="2688336" cy="27432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50_text_Proposed"/>
          <p:cNvSpPr txBox="1"/>
          <p:nvPr/>
        </p:nvSpPr>
        <p:spPr>
          <a:xfrm>
            <a:off x="6135623" y="1408176"/>
            <a:ext cx="2688336" cy="274320"/>
          </a:xfrm>
          <a:prstGeom prst="rect">
            <a:avLst/>
          </a:prstGeom>
          <a:noFill/>
        </p:spPr>
        <p:txBody>
          <a:bodyPr wrap="square" lIns="27432" tIns="0" rIns="27432" bIns="0" anchor="ctr">
            <a:spAutoFit/>
          </a:bodyPr>
          <a:lstStyle/>
          <a:p>
            <a:pPr algn="ctr"/>
            <a:r>
              <a:rPr sz="1100" b="1" i="0">
                <a:solidFill>
                  <a:srgbClr val="FFFFFF"/>
                </a:solidFill>
                <a:latin typeface="Calibri"/>
              </a:rPr>
              <a:t>Proposed</a:t>
            </a:r>
          </a:p>
        </p:txBody>
      </p:sp>
      <p:sp>
        <p:nvSpPr>
          <p:cNvPr id="23" name="S50_text_Adapted_trees_with"/>
          <p:cNvSpPr txBox="1"/>
          <p:nvPr/>
        </p:nvSpPr>
        <p:spPr>
          <a:xfrm>
            <a:off x="6245351" y="1792224"/>
            <a:ext cx="2468880" cy="841248"/>
          </a:xfrm>
          <a:prstGeom prst="rect">
            <a:avLst/>
          </a:prstGeom>
          <a:noFill/>
        </p:spPr>
        <p:txBody>
          <a:bodyPr wrap="square" lIns="27432" tIns="0" rIns="27432" bIns="0" anchor="t">
            <a:spAutoFit/>
          </a:bodyPr>
          <a:lstStyle/>
          <a:p>
            <a:pPr algn="l">
              <a:lnSpc>
                <a:spcPct val="115000"/>
              </a:lnSpc>
            </a:pPr>
            <a:r>
              <a:rPr sz="1100" b="0" i="0">
                <a:solidFill>
                  <a:srgbClr val="2E2D29"/>
                </a:solidFill>
                <a:latin typeface="Calibri"/>
              </a:rPr>
              <a:t>Adapted trees with cross-validated gains</a:t>
            </a:r>
          </a:p>
        </p:txBody>
      </p:sp>
      <p:sp>
        <p:nvSpPr>
          <p:cNvPr id="24" name="S50_text_The_claim_is"/>
          <p:cNvSpPr txBox="1"/>
          <p:nvPr/>
        </p:nvSpPr>
        <p:spPr>
          <a:xfrm>
            <a:off x="320040" y="2871216"/>
            <a:ext cx="8503920" cy="1371600"/>
          </a:xfrm>
          <a:prstGeom prst="rect">
            <a:avLst/>
          </a:prstGeom>
          <a:noFill/>
        </p:spPr>
        <p:txBody>
          <a:bodyPr wrap="square" lIns="27432" tIns="0" rIns="27432" bIns="0">
            <a:spAutoFit/>
          </a:bodyPr>
          <a:lstStyle/>
          <a:p>
            <a:pPr>
              <a:spcAft>
                <a:spcPts val="700"/>
              </a:spcAft>
            </a:pPr>
            <a:r>
              <a:rPr sz="1100">
                <a:solidFill>
                  <a:srgbClr val="8C1515"/>
                </a:solidFill>
                <a:latin typeface="Calibri"/>
              </a:rPr>
              <a:t>• The claim is that adaptation with generalized gains reduces error against post-operative perfusion split relative to both the acute baseline and the comparison arm</a:t>
            </a:r>
          </a:p>
          <a:p>
            <a:pPr>
              <a:spcAft>
                <a:spcPts val="700"/>
              </a:spcAft>
            </a:pPr>
            <a:r>
              <a:rPr sz="1100">
                <a:solidFill>
                  <a:srgbClr val="8C1515"/>
                </a:solidFill>
                <a:latin typeface="Calibri"/>
              </a:rPr>
              <a:t>• </a:t>
            </a:r>
            <a:r>
              <a:rPr sz="1100">
                <a:solidFill>
                  <a:srgbClr val="2E2D29"/>
                </a:solidFill>
                <a:latin typeface="Calibri"/>
              </a:rPr>
              <a:t>Held-out error is reported separately from fitted error; with five patients the training-set composition is itself reported</a:t>
            </a:r>
          </a:p>
          <a:p>
            <a:pPr>
              <a:spcAft>
                <a:spcPts val="700"/>
              </a:spcAft>
            </a:pPr>
            <a:r>
              <a:rPr sz="1100">
                <a:solidFill>
                  <a:srgbClr val="8C1515"/>
                </a:solidFill>
                <a:latin typeface="Calibri"/>
              </a:rPr>
              <a:t>• </a:t>
            </a:r>
            <a:r>
              <a:rPr sz="1100">
                <a:solidFill>
                  <a:srgbClr val="2E2D29"/>
                </a:solidFill>
                <a:latin typeface="Calibri"/>
              </a:rPr>
              <a:t>A negative result is publishable: if adaptation does not beat the acute baseline out of sample, that is a finding about the model class</a:t>
            </a:r>
          </a:p>
        </p:txBody>
      </p:sp>
      <p:sp>
        <p:nvSpPr>
          <p:cNvPr id="25" name="S50_shape_7"/>
          <p:cNvSpPr/>
          <p:nvPr/>
        </p:nvSpPr>
        <p:spPr>
          <a:xfrm>
            <a:off x="320040" y="4443984"/>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S50_text_Success_is_defined"/>
          <p:cNvSpPr txBox="1"/>
          <p:nvPr/>
        </p:nvSpPr>
        <p:spPr>
          <a:xfrm>
            <a:off x="429768" y="4443984"/>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Success is defined before the adapted simulations run: that is deliberate.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Roadmap: what is changing across the pipeline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graphicFrame>
        <p:nvGraphicFramePr>
          <p:cNvPr id="11" name="Roadmap_table"/>
          <p:cNvGraphicFramePr>
            <a:graphicFrameLocks noGrp="1"/>
          </p:cNvGraphicFramePr>
          <p:nvPr/>
        </p:nvGraphicFramePr>
        <p:xfrm>
          <a:off x="320040" y="1389888"/>
          <a:ext cx="8503920" cy="3744468"/>
        </p:xfrm>
        <a:graphic>
          <a:graphicData uri="http://schemas.openxmlformats.org/drawingml/2006/table">
            <a:tbl>
              <a:tblPr firstRow="1" bandRow="0">
                <a:tableStyleId>{5C22544A-7EE6-4342-B048-85BDC9FD1C3A}</a:tableStyleId>
              </a:tblPr>
              <a:tblGrid>
                <a:gridCol w="1143000"/>
                <a:gridCol w="3246120"/>
                <a:gridCol w="2880360"/>
                <a:gridCol w="1234440"/>
              </a:tblGrid>
              <a:tr h="288036">
                <a:tc>
                  <a:txBody>
                    <a:bodyPr wrap="square"/>
                    <a:lstStyle/>
                    <a:p>
                      <a:r>
                        <a:rPr sz="1100" b="1">
                          <a:solidFill>
                            <a:srgbClr val="FFFFFF"/>
                          </a:solidFill>
                          <a:latin typeface="Calibri"/>
                        </a:rPr>
                        <a:t>Stage</a:t>
                      </a:r>
                    </a:p>
                  </a:txBody>
                  <a:tcPr marL="54864" marR="54864" marT="27432" marB="27432" anchor="ctr">
                    <a:solidFill>
                      <a:srgbClr val="8C1515"/>
                    </a:solidFill>
                  </a:tcPr>
                </a:tc>
                <a:tc>
                  <a:txBody>
                    <a:bodyPr wrap="square"/>
                    <a:lstStyle/>
                    <a:p>
                      <a:r>
                        <a:rPr sz="1100" b="1">
                          <a:solidFill>
                            <a:srgbClr val="FFFFFF"/>
                          </a:solidFill>
                          <a:latin typeface="Calibri"/>
                        </a:rPr>
                        <a:t>Change</a:t>
                      </a:r>
                    </a:p>
                  </a:txBody>
                  <a:tcPr marL="54864" marR="54864" marT="27432" marB="27432" anchor="ctr">
                    <a:solidFill>
                      <a:srgbClr val="8C1515"/>
                    </a:solidFill>
                  </a:tcPr>
                </a:tc>
                <a:tc>
                  <a:txBody>
                    <a:bodyPr wrap="square"/>
                    <a:lstStyle/>
                    <a:p>
                      <a:r>
                        <a:rPr sz="1100" b="1">
                          <a:solidFill>
                            <a:srgbClr val="FFFFFF"/>
                          </a:solidFill>
                          <a:latin typeface="Calibri"/>
                        </a:rPr>
                        <a:t>Why</a:t>
                      </a:r>
                    </a:p>
                  </a:txBody>
                  <a:tcPr marL="54864" marR="54864" marT="27432" marB="27432" anchor="ctr">
                    <a:solidFill>
                      <a:srgbClr val="8C1515"/>
                    </a:solidFill>
                  </a:tcPr>
                </a:tc>
                <a:tc>
                  <a:txBody>
                    <a:bodyPr wrap="square"/>
                    <a:lstStyle/>
                    <a:p>
                      <a:r>
                        <a:rPr sz="1100" b="1">
                          <a:solidFill>
                            <a:srgbClr val="FFFFFF"/>
                          </a:solidFill>
                          <a:latin typeface="Calibri"/>
                        </a:rPr>
                        <a:t>Status</a:t>
                      </a:r>
                    </a:p>
                  </a:txBody>
                  <a:tcPr marL="54864" marR="54864" marT="27432" marB="27432" anchor="ctr">
                    <a:solidFill>
                      <a:srgbClr val="8C1515"/>
                    </a:solidFill>
                  </a:tcPr>
                </a:tc>
              </a:tr>
              <a:tr h="288036">
                <a:tc>
                  <a:txBody>
                    <a:bodyPr wrap="square"/>
                    <a:lstStyle/>
                    <a:p>
                      <a:r>
                        <a:rPr sz="1100" b="0">
                          <a:solidFill>
                            <a:srgbClr val="2E2D29"/>
                          </a:solidFill>
                          <a:latin typeface="Calibri"/>
                        </a:rPr>
                        <a:t>2  BC Tuning</a:t>
                      </a:r>
                    </a:p>
                  </a:txBody>
                  <a:tcPr marL="54864" marR="54864" marT="27432" marB="27432" anchor="ctr">
                    <a:solidFill>
                      <a:srgbClr val="FFFFFF"/>
                    </a:solidFill>
                  </a:tcPr>
                </a:tc>
                <a:tc>
                  <a:txBody>
                    <a:bodyPr wrap="square"/>
                    <a:lstStyle/>
                    <a:p>
                      <a:r>
                        <a:rPr sz="1100" b="0">
                          <a:solidFill>
                            <a:srgbClr val="2E2D29"/>
                          </a:solidFill>
                          <a:latin typeface="Calibri"/>
                        </a:rPr>
                        <a:t>Full branched 0D + svZeroDCalibrator replace two-branch RRI</a:t>
                      </a:r>
                    </a:p>
                  </a:txBody>
                  <a:tcPr marL="54864" marR="54864" marT="27432" marB="27432" anchor="ctr">
                    <a:solidFill>
                      <a:srgbClr val="FFFFFF"/>
                    </a:solidFill>
                  </a:tcPr>
                </a:tc>
                <a:tc>
                  <a:txBody>
                    <a:bodyPr wrap="square"/>
                    <a:lstStyle/>
                    <a:p>
                      <a:r>
                        <a:rPr sz="1100" b="0">
                          <a:solidFill>
                            <a:srgbClr val="2E2D29"/>
                          </a:solidFill>
                          <a:latin typeface="Calibri"/>
                        </a:rPr>
                        <a:t>One tree per outlet for 3D coupling and adaptation</a:t>
                      </a:r>
                    </a:p>
                  </a:txBody>
                  <a:tcPr marL="54864" marR="54864" marT="27432" marB="27432" anchor="ctr">
                    <a:solidFill>
                      <a:srgbClr val="FFFFFF"/>
                    </a:solidFill>
                  </a:tcPr>
                </a:tc>
                <a:tc>
                  <a:txBody>
                    <a:bodyPr wrap="square"/>
                    <a:lstStyle/>
                    <a:p>
                      <a:r>
                        <a:rPr sz="1100" b="1">
                          <a:solidFill>
                            <a:srgbClr val="279989"/>
                          </a:solidFill>
                          <a:latin typeface="Calibri"/>
                        </a:rPr>
                        <a:t>Done</a:t>
                      </a:r>
                    </a:p>
                  </a:txBody>
                  <a:tcPr marL="54864" marR="54864" marT="27432" marB="27432" anchor="ctr">
                    <a:solidFill>
                      <a:srgbClr val="DCEFEC"/>
                    </a:solidFill>
                  </a:tcPr>
                </a:tc>
              </a:tr>
              <a:tr h="288036">
                <a:tc>
                  <a:txBody>
                    <a:bodyPr wrap="square"/>
                    <a:lstStyle/>
                    <a:p>
                      <a:r>
                        <a:rPr sz="1100" b="0">
                          <a:solidFill>
                            <a:srgbClr val="2E2D29"/>
                          </a:solidFill>
                          <a:latin typeface="Calibri"/>
                        </a:rPr>
                        <a:t>2  BC Tuning</a:t>
                      </a:r>
                    </a:p>
                  </a:txBody>
                  <a:tcPr marL="54864" marR="54864" marT="27432" marB="27432" anchor="ctr">
                    <a:solidFill>
                      <a:srgbClr val="F2F1F0"/>
                    </a:solidFill>
                  </a:tcPr>
                </a:tc>
                <a:tc>
                  <a:txBody>
                    <a:bodyPr wrap="square"/>
                    <a:lstStyle/>
                    <a:p>
                      <a:r>
                        <a:rPr sz="1100" b="0">
                          <a:solidFill>
                            <a:srgbClr val="2E2D29"/>
                          </a:solidFill>
                          <a:latin typeface="Calibri"/>
                        </a:rPr>
                        <a:t>Tied stiffness multiplier for proximal wall and trees</a:t>
                      </a:r>
                    </a:p>
                  </a:txBody>
                  <a:tcPr marL="54864" marR="54864" marT="27432" marB="27432" anchor="ctr">
                    <a:solidFill>
                      <a:srgbClr val="F2F1F0"/>
                    </a:solidFill>
                  </a:tcPr>
                </a:tc>
                <a:tc>
                  <a:txBody>
                    <a:bodyPr wrap="square"/>
                    <a:lstStyle/>
                    <a:p>
                      <a:r>
                        <a:rPr sz="1100" b="0">
                          <a:solidFill>
                            <a:srgbClr val="2E2D29"/>
                          </a:solidFill>
                          <a:latin typeface="Calibri"/>
                        </a:rPr>
                        <a:t>The two stiffnesses are identifiable only together</a:t>
                      </a:r>
                    </a:p>
                  </a:txBody>
                  <a:tcPr marL="54864" marR="54864" marT="27432" marB="27432" anchor="ctr">
                    <a:solidFill>
                      <a:srgbClr val="F2F1F0"/>
                    </a:solidFill>
                  </a:tcPr>
                </a:tc>
                <a:tc>
                  <a:txBody>
                    <a:bodyPr wrap="square"/>
                    <a:lstStyle/>
                    <a:p>
                      <a:r>
                        <a:rPr sz="1100" b="1">
                          <a:solidFill>
                            <a:srgbClr val="279989"/>
                          </a:solidFill>
                          <a:latin typeface="Calibri"/>
                        </a:rPr>
                        <a:t>Done</a:t>
                      </a:r>
                    </a:p>
                  </a:txBody>
                  <a:tcPr marL="54864" marR="54864" marT="27432" marB="27432" anchor="ctr">
                    <a:solidFill>
                      <a:srgbClr val="DCEFEC"/>
                    </a:solidFill>
                  </a:tcPr>
                </a:tc>
              </a:tr>
              <a:tr h="288036">
                <a:tc>
                  <a:txBody>
                    <a:bodyPr wrap="square"/>
                    <a:lstStyle/>
                    <a:p>
                      <a:r>
                        <a:rPr sz="1100" b="0">
                          <a:solidFill>
                            <a:srgbClr val="2E2D29"/>
                          </a:solidFill>
                          <a:latin typeface="Calibri"/>
                        </a:rPr>
                        <a:t>2  BC Tuning</a:t>
                      </a:r>
                    </a:p>
                  </a:txBody>
                  <a:tcPr marL="54864" marR="54864" marT="27432" marB="27432" anchor="ctr">
                    <a:solidFill>
                      <a:srgbClr val="FFFFFF"/>
                    </a:solidFill>
                  </a:tcPr>
                </a:tc>
                <a:tc>
                  <a:txBody>
                    <a:bodyPr wrap="square"/>
                    <a:lstStyle/>
                    <a:p>
                      <a:r>
                        <a:rPr sz="1100" b="0">
                          <a:solidFill>
                            <a:srgbClr val="2E2D29"/>
                          </a:solidFill>
                          <a:latin typeface="Calibri"/>
                        </a:rPr>
                        <a:t>E-law wall correction after iteration 2</a:t>
                      </a:r>
                    </a:p>
                  </a:txBody>
                  <a:tcPr marL="54864" marR="54864" marT="27432" marB="27432" anchor="ctr">
                    <a:solidFill>
                      <a:srgbClr val="FFFFFF"/>
                    </a:solidFill>
                  </a:tcPr>
                </a:tc>
                <a:tc>
                  <a:txBody>
                    <a:bodyPr wrap="square"/>
                    <a:lstStyle/>
                    <a:p>
                      <a:r>
                        <a:rPr sz="1100" b="0">
                          <a:solidFill>
                            <a:srgbClr val="2E2D29"/>
                          </a:solidFill>
                          <a:latin typeface="Calibri"/>
                        </a:rPr>
                        <a:t>3D wall held 60 to 75% of the 0D compliance</a:t>
                      </a:r>
                    </a:p>
                  </a:txBody>
                  <a:tcPr marL="54864" marR="54864" marT="27432" marB="27432" anchor="ctr">
                    <a:solidFill>
                      <a:srgbClr val="FFFFFF"/>
                    </a:solidFill>
                  </a:tcPr>
                </a:tc>
                <a:tc>
                  <a:txBody>
                    <a:bodyPr wrap="square"/>
                    <a:lstStyle/>
                    <a:p>
                      <a:r>
                        <a:rPr sz="1100" b="1">
                          <a:solidFill>
                            <a:srgbClr val="279989"/>
                          </a:solidFill>
                          <a:latin typeface="Calibri"/>
                        </a:rPr>
                        <a:t>Done (23 Oct)</a:t>
                      </a:r>
                    </a:p>
                  </a:txBody>
                  <a:tcPr marL="54864" marR="54864" marT="27432" marB="27432" anchor="ctr">
                    <a:solidFill>
                      <a:srgbClr val="DCEFEC"/>
                    </a:solidFill>
                  </a:tcPr>
                </a:tc>
              </a:tr>
              <a:tr h="288036">
                <a:tc>
                  <a:txBody>
                    <a:bodyPr wrap="square"/>
                    <a:lstStyle/>
                    <a:p>
                      <a:r>
                        <a:rPr sz="1100" b="0">
                          <a:solidFill>
                            <a:srgbClr val="2E2D29"/>
                          </a:solidFill>
                          <a:latin typeface="Calibri"/>
                        </a:rPr>
                        <a:t>2  BC Tuning</a:t>
                      </a:r>
                    </a:p>
                  </a:txBody>
                  <a:tcPr marL="54864" marR="54864" marT="27432" marB="27432" anchor="ctr">
                    <a:solidFill>
                      <a:srgbClr val="F2F1F0"/>
                    </a:solidFill>
                  </a:tcPr>
                </a:tc>
                <a:tc>
                  <a:txBody>
                    <a:bodyPr wrap="square"/>
                    <a:lstStyle/>
                    <a:p>
                      <a:r>
                        <a:rPr sz="1100" b="0">
                          <a:solidFill>
                            <a:srgbClr val="2E2D29"/>
                          </a:solidFill>
                          <a:latin typeface="Calibri"/>
                        </a:rPr>
                        <a:t>Pre-op tuning protocol v1 frozen</a:t>
                      </a:r>
                    </a:p>
                  </a:txBody>
                  <a:tcPr marL="54864" marR="54864" marT="27432" marB="27432" anchor="ctr">
                    <a:solidFill>
                      <a:srgbClr val="F2F1F0"/>
                    </a:solidFill>
                  </a:tcPr>
                </a:tc>
                <a:tc>
                  <a:txBody>
                    <a:bodyPr wrap="square"/>
                    <a:lstStyle/>
                    <a:p>
                      <a:r>
                        <a:rPr sz="1100" b="0">
                          <a:solidFill>
                            <a:srgbClr val="2E2D29"/>
                          </a:solidFill>
                          <a:latin typeface="Calibri"/>
                        </a:rPr>
                        <a:t>Same steps for every paper run</a:t>
                      </a:r>
                    </a:p>
                  </a:txBody>
                  <a:tcPr marL="54864" marR="54864" marT="27432" marB="27432" anchor="ctr">
                    <a:solidFill>
                      <a:srgbClr val="F2F1F0"/>
                    </a:solidFill>
                  </a:tcPr>
                </a:tc>
                <a:tc>
                  <a:txBody>
                    <a:bodyPr wrap="square"/>
                    <a:lstStyle/>
                    <a:p>
                      <a:r>
                        <a:rPr sz="1100" b="1">
                          <a:solidFill>
                            <a:srgbClr val="279989"/>
                          </a:solidFill>
                          <a:latin typeface="Calibri"/>
                        </a:rPr>
                        <a:t>Done (25 Oct)</a:t>
                      </a:r>
                    </a:p>
                  </a:txBody>
                  <a:tcPr marL="54864" marR="54864" marT="27432" marB="27432" anchor="ctr">
                    <a:solidFill>
                      <a:srgbClr val="DCEFEC"/>
                    </a:solidFill>
                  </a:tcPr>
                </a:tc>
              </a:tr>
              <a:tr h="288036">
                <a:tc>
                  <a:txBody>
                    <a:bodyPr wrap="square"/>
                    <a:lstStyle/>
                    <a:p>
                      <a:r>
                        <a:rPr sz="1100" b="0">
                          <a:solidFill>
                            <a:srgbClr val="2E2D29"/>
                          </a:solidFill>
                          <a:latin typeface="Calibri"/>
                        </a:rPr>
                        <a:t>2  BC Tuning</a:t>
                      </a:r>
                    </a:p>
                  </a:txBody>
                  <a:tcPr marL="54864" marR="54864" marT="27432" marB="27432" anchor="ctr">
                    <a:solidFill>
                      <a:srgbClr val="FFFFFF"/>
                    </a:solidFill>
                  </a:tcPr>
                </a:tc>
                <a:tc>
                  <a:txBody>
                    <a:bodyPr wrap="square"/>
                    <a:lstStyle/>
                    <a:p>
                      <a:r>
                        <a:rPr sz="1100" b="0">
                          <a:solidFill>
                            <a:srgbClr val="2E2D29"/>
                          </a:solidFill>
                          <a:latin typeface="Calibri"/>
                        </a:rPr>
                        <a:t>Wall correction inside svzt-agent, with 0D refit</a:t>
                      </a:r>
                    </a:p>
                  </a:txBody>
                  <a:tcPr marL="54864" marR="54864" marT="27432" marB="27432" anchor="ctr">
                    <a:solidFill>
                      <a:srgbClr val="FFFFFF"/>
                    </a:solidFill>
                  </a:tcPr>
                </a:tc>
                <a:tc>
                  <a:txBody>
                    <a:bodyPr wrap="square"/>
                    <a:lstStyle/>
                    <a:p>
                      <a:r>
                        <a:rPr sz="1100" b="0">
                          <a:solidFill>
                            <a:srgbClr val="2E2D29"/>
                          </a:solidFill>
                          <a:latin typeface="Calibri"/>
                        </a:rPr>
                        <a:t>v1 ran it by script; matched 0D refit added</a:t>
                      </a:r>
                    </a:p>
                  </a:txBody>
                  <a:tcPr marL="54864" marR="54864" marT="27432" marB="27432" anchor="ctr">
                    <a:solidFill>
                      <a:srgbClr val="FFFFFF"/>
                    </a:solidFill>
                  </a:tcPr>
                </a:tc>
                <a:tc>
                  <a:txBody>
                    <a:bodyPr wrap="square"/>
                    <a:lstStyle/>
                    <a:p>
                      <a:r>
                        <a:rPr sz="1100" b="1">
                          <a:solidFill>
                            <a:srgbClr val="279989"/>
                          </a:solidFill>
                          <a:latin typeface="Calibri"/>
                        </a:rPr>
                        <a:t>Done (26 Oct)</a:t>
                      </a:r>
                    </a:p>
                  </a:txBody>
                  <a:tcPr marL="54864" marR="54864" marT="27432" marB="27432" anchor="ctr">
                    <a:solidFill>
                      <a:srgbClr val="DCEFEC"/>
                    </a:solidFill>
                  </a:tcPr>
                </a:tc>
              </a:tr>
              <a:tr h="288036">
                <a:tc>
                  <a:txBody>
                    <a:bodyPr wrap="square"/>
                    <a:lstStyle/>
                    <a:p>
                      <a:r>
                        <a:rPr sz="1100" b="0">
                          <a:solidFill>
                            <a:srgbClr val="2E2D29"/>
                          </a:solidFill>
                          <a:latin typeface="Calibri"/>
                        </a:rPr>
                        <a:t>3  Pre-op Sim</a:t>
                      </a:r>
                    </a:p>
                  </a:txBody>
                  <a:tcPr marL="54864" marR="54864" marT="27432" marB="27432" anchor="ctr">
                    <a:solidFill>
                      <a:srgbClr val="F2F1F0"/>
                    </a:solidFill>
                  </a:tcPr>
                </a:tc>
                <a:tc>
                  <a:txBody>
                    <a:bodyPr wrap="square"/>
                    <a:lstStyle/>
                    <a:p>
                      <a:r>
                        <a:rPr sz="1100" b="0">
                          <a:solidFill>
                            <a:srgbClr val="2E2D29"/>
                          </a:solidFill>
                          <a:latin typeface="Calibri"/>
                        </a:rPr>
                        <a:t>Wall damping scaled to wall stiffness</a:t>
                      </a:r>
                    </a:p>
                  </a:txBody>
                  <a:tcPr marL="54864" marR="54864" marT="27432" marB="27432" anchor="ctr">
                    <a:solidFill>
                      <a:srgbClr val="F2F1F0"/>
                    </a:solidFill>
                  </a:tcPr>
                </a:tc>
                <a:tc>
                  <a:txBody>
                    <a:bodyPr wrap="square"/>
                    <a:lstStyle/>
                    <a:p>
                      <a:r>
                        <a:rPr sz="1100" b="0">
                          <a:solidFill>
                            <a:srgbClr val="2E2D29"/>
                          </a:solidFill>
                          <a:latin typeface="Calibri"/>
                        </a:rPr>
                        <a:t>3D pulse pressure too wide</a:t>
                      </a:r>
                    </a:p>
                  </a:txBody>
                  <a:tcPr marL="54864" marR="54864" marT="27432" marB="27432" anchor="ctr">
                    <a:solidFill>
                      <a:srgbClr val="F2F1F0"/>
                    </a:solidFill>
                  </a:tcPr>
                </a:tc>
                <a:tc>
                  <a:txBody>
                    <a:bodyPr wrap="square"/>
                    <a:lstStyle/>
                    <a:p>
                      <a:r>
                        <a:rPr sz="1100" b="1">
                          <a:solidFill>
                            <a:srgbClr val="279989"/>
                          </a:solidFill>
                          <a:latin typeface="Calibri"/>
                        </a:rPr>
                        <a:t>Done (21 Oct)</a:t>
                      </a:r>
                    </a:p>
                  </a:txBody>
                  <a:tcPr marL="54864" marR="54864" marT="27432" marB="27432" anchor="ctr">
                    <a:solidFill>
                      <a:srgbClr val="DCEFEC"/>
                    </a:solidFill>
                  </a:tcPr>
                </a:tc>
              </a:tr>
              <a:tr h="288036">
                <a:tc>
                  <a:txBody>
                    <a:bodyPr wrap="square"/>
                    <a:lstStyle/>
                    <a:p>
                      <a:r>
                        <a:rPr sz="1100" b="0">
                          <a:solidFill>
                            <a:srgbClr val="2E2D29"/>
                          </a:solidFill>
                          <a:latin typeface="Calibri"/>
                        </a:rPr>
                        <a:t>3  Pre-op Sim</a:t>
                      </a:r>
                    </a:p>
                  </a:txBody>
                  <a:tcPr marL="54864" marR="54864" marT="27432" marB="27432" anchor="ctr">
                    <a:solidFill>
                      <a:srgbClr val="F2F1F0"/>
                    </a:solidFill>
                  </a:tcPr>
                </a:tc>
                <a:tc>
                  <a:txBody>
                    <a:bodyPr wrap="square"/>
                    <a:lstStyle/>
                    <a:p>
                      <a:r>
                        <a:rPr sz="1100" b="0">
                          <a:solidFill>
                            <a:srgbClr val="2E2D29"/>
                          </a:solidFill>
                          <a:latin typeface="Calibri"/>
                        </a:rPr>
                        <a:t>Final runs on the boundary-layer mesh</a:t>
                      </a:r>
                    </a:p>
                  </a:txBody>
                  <a:tcPr marL="54864" marR="54864" marT="27432" marB="27432" anchor="ctr">
                    <a:solidFill>
                      <a:srgbClr val="F2F1F0"/>
                    </a:solidFill>
                  </a:tcPr>
                </a:tc>
                <a:tc>
                  <a:txBody>
                    <a:bodyPr wrap="square"/>
                    <a:lstStyle/>
                    <a:p>
                      <a:r>
                        <a:rPr sz="1100" b="0">
                          <a:solidFill>
                            <a:srgbClr val="2E2D29"/>
                          </a:solidFill>
                          <a:latin typeface="Calibri"/>
                        </a:rPr>
                        <a:t>Tuned BCs are mesh-conditional</a:t>
                      </a:r>
                    </a:p>
                  </a:txBody>
                  <a:tcPr marL="54864" marR="54864" marT="27432" marB="27432" anchor="ctr">
                    <a:solidFill>
                      <a:srgbClr val="F2F1F0"/>
                    </a:solidFill>
                  </a:tcPr>
                </a:tc>
                <a:tc>
                  <a:txBody>
                    <a:bodyPr wrap="square"/>
                    <a:lstStyle/>
                    <a:p>
                      <a:r>
                        <a:rPr sz="1100" b="1">
                          <a:solidFill>
                            <a:srgbClr val="2E2D29"/>
                          </a:solidFill>
                          <a:latin typeface="Calibri"/>
                        </a:rPr>
                        <a:t>Open</a:t>
                      </a:r>
                    </a:p>
                  </a:txBody>
                  <a:tcPr marL="54864" marR="54864" marT="27432" marB="27432" anchor="ctr">
                    <a:solidFill>
                      <a:srgbClr val="FFFFFF"/>
                    </a:solidFill>
                  </a:tcPr>
                </a:tc>
              </a:tr>
              <a:tr h="288036">
                <a:tc>
                  <a:txBody>
                    <a:bodyPr wrap="square"/>
                    <a:lstStyle/>
                    <a:p>
                      <a:r>
                        <a:rPr sz="1100" b="0">
                          <a:solidFill>
                            <a:srgbClr val="2E2D29"/>
                          </a:solidFill>
                          <a:latin typeface="Calibri"/>
                        </a:rPr>
                        <a:t>4  Post-op Sim</a:t>
                      </a:r>
                    </a:p>
                  </a:txBody>
                  <a:tcPr marL="54864" marR="54864" marT="27432" marB="27432" anchor="ctr">
                    <a:solidFill>
                      <a:srgbClr val="FFFFFF"/>
                    </a:solidFill>
                  </a:tcPr>
                </a:tc>
                <a:tc>
                  <a:txBody>
                    <a:bodyPr wrap="square"/>
                    <a:lstStyle/>
                    <a:p>
                      <a:r>
                        <a:rPr sz="1100" b="0">
                          <a:solidFill>
                            <a:srgbClr val="2E2D29"/>
                          </a:solidFill>
                          <a:latin typeface="Calibri"/>
                        </a:rPr>
                        <a:t>Check stent diameters against angiography</a:t>
                      </a:r>
                    </a:p>
                  </a:txBody>
                  <a:tcPr marL="54864" marR="54864" marT="27432" marB="27432" anchor="ctr">
                    <a:solidFill>
                      <a:srgbClr val="FFFFFF"/>
                    </a:solidFill>
                  </a:tcPr>
                </a:tc>
                <a:tc>
                  <a:txBody>
                    <a:bodyPr wrap="square"/>
                    <a:lstStyle/>
                    <a:p>
                      <a:r>
                        <a:rPr sz="1100" b="0">
                          <a:solidFill>
                            <a:srgbClr val="2E2D29"/>
                          </a:solidFill>
                          <a:latin typeface="Calibri"/>
                        </a:rPr>
                        <a:t>Simulated post-op split overshoots</a:t>
                      </a:r>
                    </a:p>
                  </a:txBody>
                  <a:tcPr marL="54864" marR="54864" marT="27432" marB="27432" anchor="ctr">
                    <a:solidFill>
                      <a:srgbClr val="FFFFFF"/>
                    </a:solidFill>
                  </a:tcPr>
                </a:tc>
                <a:tc>
                  <a:txBody>
                    <a:bodyPr wrap="square"/>
                    <a:lstStyle/>
                    <a:p>
                      <a:r>
                        <a:rPr sz="1100" b="1">
                          <a:solidFill>
                            <a:srgbClr val="2E2D29"/>
                          </a:solidFill>
                          <a:latin typeface="Calibri"/>
                        </a:rPr>
                        <a:t>Open</a:t>
                      </a:r>
                    </a:p>
                  </a:txBody>
                  <a:tcPr marL="54864" marR="54864" marT="27432" marB="27432" anchor="ctr">
                    <a:solidFill>
                      <a:srgbClr val="FFFFFF"/>
                    </a:solidFill>
                  </a:tcPr>
                </a:tc>
              </a:tr>
              <a:tr h="288036">
                <a:tc>
                  <a:txBody>
                    <a:bodyPr wrap="square"/>
                    <a:lstStyle/>
                    <a:p>
                      <a:r>
                        <a:rPr sz="1100" b="0">
                          <a:solidFill>
                            <a:srgbClr val="2E2D29"/>
                          </a:solidFill>
                          <a:latin typeface="Calibri"/>
                        </a:rPr>
                        <a:t>5  Adaptation</a:t>
                      </a:r>
                    </a:p>
                  </a:txBody>
                  <a:tcPr marL="54864" marR="54864" marT="27432" marB="27432" anchor="ctr">
                    <a:solidFill>
                      <a:srgbClr val="F2F1F0"/>
                    </a:solidFill>
                  </a:tcPr>
                </a:tc>
                <a:tc>
                  <a:txBody>
                    <a:bodyPr wrap="square"/>
                    <a:lstStyle/>
                    <a:p>
                      <a:r>
                        <a:rPr sz="1100" b="0">
                          <a:solidFill>
                            <a:srgbClr val="2E2D29"/>
                          </a:solidFill>
                          <a:latin typeface="Calibri"/>
                        </a:rPr>
                        <a:t>Rebuild on full 0D pre- and post-op models</a:t>
                      </a:r>
                    </a:p>
                  </a:txBody>
                  <a:tcPr marL="54864" marR="54864" marT="27432" marB="27432" anchor="ctr">
                    <a:solidFill>
                      <a:srgbClr val="F2F1F0"/>
                    </a:solidFill>
                  </a:tcPr>
                </a:tc>
                <a:tc>
                  <a:txBody>
                    <a:bodyPr wrap="square"/>
                    <a:lstStyle/>
                    <a:p>
                      <a:r>
                        <a:rPr sz="1100" b="0">
                          <a:solidFill>
                            <a:srgbClr val="2E2D29"/>
                          </a:solidFill>
                          <a:latin typeface="Calibri"/>
                        </a:rPr>
                        <a:t>M1/M3 cannot take per-cap trees</a:t>
                      </a:r>
                    </a:p>
                  </a:txBody>
                  <a:tcPr marL="54864" marR="54864" marT="27432" marB="27432" anchor="ctr">
                    <a:solidFill>
                      <a:srgbClr val="F2F1F0"/>
                    </a:solidFill>
                  </a:tcPr>
                </a:tc>
                <a:tc>
                  <a:txBody>
                    <a:bodyPr wrap="square"/>
                    <a:lstStyle/>
                    <a:p>
                      <a:r>
                        <a:rPr sz="1100" b="1">
                          <a:solidFill>
                            <a:srgbClr val="6B6965"/>
                          </a:solidFill>
                          <a:latin typeface="Calibri"/>
                        </a:rPr>
                        <a:t>Planned</a:t>
                      </a:r>
                    </a:p>
                  </a:txBody>
                  <a:tcPr marL="54864" marR="54864" marT="27432" marB="27432" anchor="ctr">
                    <a:solidFill>
                      <a:srgbClr val="F2F1F0"/>
                    </a:solidFill>
                  </a:tcPr>
                </a:tc>
              </a:tr>
              <a:tr h="288036">
                <a:tc>
                  <a:txBody>
                    <a:bodyPr wrap="square"/>
                    <a:lstStyle/>
                    <a:p>
                      <a:r>
                        <a:rPr sz="1100" b="0">
                          <a:solidFill>
                            <a:srgbClr val="2E2D29"/>
                          </a:solidFill>
                          <a:latin typeface="Calibri"/>
                        </a:rPr>
                        <a:t>5  Adaptation</a:t>
                      </a:r>
                    </a:p>
                  </a:txBody>
                  <a:tcPr marL="54864" marR="54864" marT="27432" marB="27432" anchor="ctr">
                    <a:solidFill>
                      <a:srgbClr val="FFFFFF"/>
                    </a:solidFill>
                  </a:tcPr>
                </a:tc>
                <a:tc>
                  <a:txBody>
                    <a:bodyPr wrap="square"/>
                    <a:lstStyle/>
                    <a:p>
                      <a:r>
                        <a:rPr sz="1100" b="0">
                          <a:solidFill>
                            <a:srgbClr val="2E2D29"/>
                          </a:solidFill>
                          <a:latin typeface="Calibri"/>
                        </a:rPr>
                        <a:t>Gains by cross-validation across the cohort</a:t>
                      </a:r>
                    </a:p>
                  </a:txBody>
                  <a:tcPr marL="54864" marR="54864" marT="27432" marB="27432" anchor="ctr">
                    <a:solidFill>
                      <a:srgbClr val="FFFFFF"/>
                    </a:solidFill>
                  </a:tcPr>
                </a:tc>
                <a:tc>
                  <a:txBody>
                    <a:bodyPr wrap="square"/>
                    <a:lstStyle/>
                    <a:p>
                      <a:r>
                        <a:rPr sz="1100" b="0">
                          <a:solidFill>
                            <a:srgbClr val="2E2D29"/>
                          </a:solidFill>
                          <a:latin typeface="Calibri"/>
                        </a:rPr>
                        <a:t>Prediction, not calibration</a:t>
                      </a:r>
                    </a:p>
                  </a:txBody>
                  <a:tcPr marL="54864" marR="54864" marT="27432" marB="27432" anchor="ctr">
                    <a:solidFill>
                      <a:srgbClr val="FFFFFF"/>
                    </a:solidFill>
                  </a:tcPr>
                </a:tc>
                <a:tc>
                  <a:txBody>
                    <a:bodyPr wrap="square"/>
                    <a:lstStyle/>
                    <a:p>
                      <a:r>
                        <a:rPr sz="1100" b="1">
                          <a:solidFill>
                            <a:srgbClr val="6B6965"/>
                          </a:solidFill>
                          <a:latin typeface="Calibri"/>
                        </a:rPr>
                        <a:t>Planned</a:t>
                      </a:r>
                    </a:p>
                  </a:txBody>
                  <a:tcPr marL="54864" marR="54864" marT="27432" marB="27432" anchor="ctr">
                    <a:solidFill>
                      <a:srgbClr val="F2F1F0"/>
                    </a:solidFill>
                  </a:tcPr>
                </a:tc>
              </a:tr>
              <a:tr h="288036">
                <a:tc>
                  <a:txBody>
                    <a:bodyPr wrap="square"/>
                    <a:lstStyle/>
                    <a:p>
                      <a:r>
                        <a:rPr sz="1100" b="0">
                          <a:solidFill>
                            <a:srgbClr val="2E2D29"/>
                          </a:solidFill>
                          <a:latin typeface="Calibri"/>
                        </a:rPr>
                        <a:t>6  Adapted Sim</a:t>
                      </a:r>
                    </a:p>
                  </a:txBody>
                  <a:tcPr marL="54864" marR="54864" marT="27432" marB="27432" anchor="ctr">
                    <a:solidFill>
                      <a:srgbClr val="F2F1F0"/>
                    </a:solidFill>
                  </a:tcPr>
                </a:tc>
                <a:tc>
                  <a:txBody>
                    <a:bodyPr wrap="square"/>
                    <a:lstStyle/>
                    <a:p>
                      <a:r>
                        <a:rPr sz="1100" b="0">
                          <a:solidFill>
                            <a:srgbClr val="2E2D29"/>
                          </a:solidFill>
                          <a:latin typeface="Calibri"/>
                        </a:rPr>
                        <a:t>Adapted BCs through 3D for all patients</a:t>
                      </a:r>
                    </a:p>
                  </a:txBody>
                  <a:tcPr marL="54864" marR="54864" marT="27432" marB="27432" anchor="ctr">
                    <a:solidFill>
                      <a:srgbClr val="F2F1F0"/>
                    </a:solidFill>
                  </a:tcPr>
                </a:tc>
                <a:tc>
                  <a:txBody>
                    <a:bodyPr wrap="square"/>
                    <a:lstStyle/>
                    <a:p>
                      <a:r>
                        <a:rPr sz="1100" b="0">
                          <a:solidFill>
                            <a:srgbClr val="2E2D29"/>
                          </a:solidFill>
                          <a:latin typeface="Calibri"/>
                        </a:rPr>
                        <a:t>Gate on every Stage 7 metric</a:t>
                      </a:r>
                    </a:p>
                  </a:txBody>
                  <a:tcPr marL="54864" marR="54864" marT="27432" marB="27432" anchor="ctr">
                    <a:solidFill>
                      <a:srgbClr val="F2F1F0"/>
                    </a:solidFill>
                  </a:tcPr>
                </a:tc>
                <a:tc>
                  <a:txBody>
                    <a:bodyPr wrap="square"/>
                    <a:lstStyle/>
                    <a:p>
                      <a:r>
                        <a:rPr sz="1100" b="1">
                          <a:solidFill>
                            <a:srgbClr val="6B6965"/>
                          </a:solidFill>
                          <a:latin typeface="Calibri"/>
                        </a:rPr>
                        <a:t>Planned</a:t>
                      </a:r>
                    </a:p>
                  </a:txBody>
                  <a:tcPr marL="54864" marR="54864" marT="27432" marB="27432" anchor="ctr">
                    <a:solidFill>
                      <a:srgbClr val="F2F1F0"/>
                    </a:solidFill>
                  </a:tcPr>
                </a:tc>
              </a:tr>
              <a:tr h="288036">
                <a:tc>
                  <a:txBody>
                    <a:bodyPr wrap="square"/>
                    <a:lstStyle/>
                    <a:p>
                      <a:r>
                        <a:rPr sz="1100" b="0">
                          <a:solidFill>
                            <a:srgbClr val="2E2D29"/>
                          </a:solidFill>
                          <a:latin typeface="Calibri"/>
                        </a:rPr>
                        <a:t>Future</a:t>
                      </a:r>
                    </a:p>
                  </a:txBody>
                  <a:tcPr marL="54864" marR="54864" marT="27432" marB="27432" anchor="ctr">
                    <a:solidFill>
                      <a:srgbClr val="FFFFFF"/>
                    </a:solidFill>
                  </a:tcPr>
                </a:tc>
                <a:tc>
                  <a:txBody>
                    <a:bodyPr wrap="square"/>
                    <a:lstStyle/>
                    <a:p>
                      <a:r>
                        <a:rPr sz="1100" b="0">
                          <a:solidFill>
                            <a:srgbClr val="2E2D29"/>
                          </a:solidFill>
                          <a:latin typeface="Calibri"/>
                        </a:rPr>
                        <a:t>Pries-Secomb adaptation</a:t>
                      </a:r>
                    </a:p>
                  </a:txBody>
                  <a:tcPr marL="54864" marR="54864" marT="27432" marB="27432" anchor="ctr">
                    <a:solidFill>
                      <a:srgbClr val="FFFFFF"/>
                    </a:solidFill>
                  </a:tcPr>
                </a:tc>
                <a:tc>
                  <a:txBody>
                    <a:bodyPr wrap="square"/>
                    <a:lstStyle/>
                    <a:p>
                      <a:r>
                        <a:rPr sz="1100" b="0">
                          <a:solidFill>
                            <a:srgbClr val="2E2D29"/>
                          </a:solidFill>
                          <a:latin typeface="Calibri"/>
                        </a:rPr>
                        <a:t>Richer stimulus; identification unresolved</a:t>
                      </a:r>
                    </a:p>
                  </a:txBody>
                  <a:tcPr marL="54864" marR="54864" marT="27432" marB="27432" anchor="ctr">
                    <a:solidFill>
                      <a:srgbClr val="FFFFFF"/>
                    </a:solidFill>
                  </a:tcPr>
                </a:tc>
                <a:tc>
                  <a:txBody>
                    <a:bodyPr wrap="square"/>
                    <a:lstStyle/>
                    <a:p>
                      <a:r>
                        <a:rPr sz="1100" b="0">
                          <a:solidFill>
                            <a:srgbClr val="6B6965"/>
                          </a:solidFill>
                          <a:latin typeface="Calibri"/>
                        </a:rPr>
                        <a:t>Deferred</a:t>
                      </a:r>
                    </a:p>
                  </a:txBody>
                  <a:tcPr marL="54864" marR="54864" marT="27432" marB="27432" anchor="ctr">
                    <a:solidFill>
                      <a:srgbClr val="FFFFFF"/>
                    </a:solidFill>
                  </a:tcPr>
                </a:tc>
              </a:tr>
            </a:tbl>
          </a:graphicData>
        </a:graphic>
      </p:graphicFrame>
      <p:sp>
        <p:nvSpPr>
          <p:cNvPr id="12" name="Roadmap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Updated 26 Oct 2026 against svz docs/preop_protocol_v1/README.md, svz runs manifests, svzt-agent 389c580 + local edits and svz config. Keep in sync with the path-to-publication slides.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Software stack and deck maintenance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52_text_Components"/>
          <p:cNvSpPr txBox="1"/>
          <p:nvPr/>
        </p:nvSpPr>
        <p:spPr>
          <a:xfrm>
            <a:off x="320040" y="1426464"/>
            <a:ext cx="4160520" cy="201168"/>
          </a:xfrm>
          <a:prstGeom prst="rect">
            <a:avLst/>
          </a:prstGeom>
          <a:noFill/>
        </p:spPr>
        <p:txBody>
          <a:bodyPr wrap="square" lIns="27432" tIns="0" rIns="27432" bIns="0" anchor="t">
            <a:spAutoFit/>
          </a:bodyPr>
          <a:lstStyle/>
          <a:p>
            <a:pPr algn="l"/>
            <a:r>
              <a:rPr sz="1400" b="1" i="0">
                <a:solidFill>
                  <a:srgbClr val="8C1515"/>
                </a:solidFill>
                <a:latin typeface="Calibri"/>
              </a:rPr>
              <a:t>Components</a:t>
            </a:r>
          </a:p>
        </p:txBody>
      </p:sp>
      <p:sp>
        <p:nvSpPr>
          <p:cNvPr id="12" name="S52_shape"/>
          <p:cNvSpPr/>
          <p:nvPr/>
        </p:nvSpPr>
        <p:spPr>
          <a:xfrm>
            <a:off x="320040" y="3328416"/>
            <a:ext cx="4160520" cy="138988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52_text_Performance_work_already"/>
          <p:cNvSpPr txBox="1"/>
          <p:nvPr/>
        </p:nvSpPr>
        <p:spPr>
          <a:xfrm>
            <a:off x="448056" y="3401568"/>
            <a:ext cx="3904487" cy="219456"/>
          </a:xfrm>
          <a:prstGeom prst="rect">
            <a:avLst/>
          </a:prstGeom>
          <a:noFill/>
        </p:spPr>
        <p:txBody>
          <a:bodyPr wrap="square" lIns="27432" tIns="0" rIns="27432" bIns="0" anchor="t">
            <a:spAutoFit/>
          </a:bodyPr>
          <a:lstStyle/>
          <a:p>
            <a:pPr algn="l"/>
            <a:r>
              <a:rPr sz="1400" b="1" i="0">
                <a:solidFill>
                  <a:srgbClr val="279989"/>
                </a:solidFill>
                <a:latin typeface="Calibri"/>
              </a:rPr>
              <a:t>Performance work already done</a:t>
            </a:r>
          </a:p>
        </p:txBody>
      </p:sp>
      <p:sp>
        <p:nvSpPr>
          <p:cNvPr id="14" name="S52_text_Vectorized_tree_representation"/>
          <p:cNvSpPr txBox="1"/>
          <p:nvPr/>
        </p:nvSpPr>
        <p:spPr>
          <a:xfrm>
            <a:off x="448056" y="3657600"/>
            <a:ext cx="3904487" cy="1005840"/>
          </a:xfrm>
          <a:prstGeom prst="rect">
            <a:avLst/>
          </a:prstGeom>
          <a:noFill/>
        </p:spPr>
        <p:txBody>
          <a:bodyPr wrap="square" lIns="27432" tIns="0" rIns="27432" bIns="0">
            <a:spAutoFit/>
          </a:bodyPr>
          <a:lstStyle/>
          <a:p>
            <a:pPr>
              <a:spcAft>
                <a:spcPts val="350"/>
              </a:spcAft>
            </a:pPr>
            <a:r>
              <a:rPr sz="1100">
                <a:solidFill>
                  <a:srgbClr val="279989"/>
                </a:solidFill>
                <a:latin typeface="Calibri"/>
              </a:rPr>
              <a:t>• </a:t>
            </a:r>
            <a:r>
              <a:rPr sz="1100">
                <a:solidFill>
                  <a:srgbClr val="2E2D29"/>
                </a:solidFill>
                <a:latin typeface="Calibri"/>
              </a:rPr>
              <a:t>Vectorized tree representation replaced per-object traversal</a:t>
            </a:r>
          </a:p>
          <a:p>
            <a:pPr>
              <a:spcAft>
                <a:spcPts val="350"/>
              </a:spcAft>
            </a:pPr>
            <a:r>
              <a:rPr sz="1100">
                <a:solidFill>
                  <a:srgbClr val="279989"/>
                </a:solidFill>
                <a:latin typeface="Calibri"/>
              </a:rPr>
              <a:t>• </a:t>
            </a:r>
            <a:r>
              <a:rPr sz="1100">
                <a:solidFill>
                  <a:srgbClr val="2E2D29"/>
                </a:solidFill>
                <a:latin typeface="Calibri"/>
              </a:rPr>
              <a:t>Roughly hundred-fold speed-up in impedance computation</a:t>
            </a:r>
          </a:p>
          <a:p>
            <a:pPr>
              <a:spcAft>
                <a:spcPts val="350"/>
              </a:spcAft>
            </a:pPr>
            <a:r>
              <a:rPr sz="1100">
                <a:solidFill>
                  <a:srgbClr val="279989"/>
                </a:solidFill>
                <a:latin typeface="Calibri"/>
              </a:rPr>
              <a:t>• </a:t>
            </a:r>
            <a:r>
              <a:rPr sz="1100">
                <a:solidFill>
                  <a:srgbClr val="2E2D29"/>
                </a:solidFill>
                <a:latin typeface="Calibri"/>
              </a:rPr>
              <a:t>Parallelized tree construction across processes</a:t>
            </a:r>
          </a:p>
        </p:txBody>
      </p:sp>
      <p:sp>
        <p:nvSpPr>
          <p:cNvPr id="15" name="S52_text_Every_content_slide"/>
          <p:cNvSpPr txBox="1"/>
          <p:nvPr/>
        </p:nvSpPr>
        <p:spPr>
          <a:xfrm>
            <a:off x="4846320" y="1481328"/>
            <a:ext cx="3977639" cy="3108960"/>
          </a:xfrm>
          <a:prstGeom prst="rect">
            <a:avLst/>
          </a:prstGeom>
          <a:noFill/>
        </p:spPr>
        <p:txBody>
          <a:bodyPr wrap="square" lIns="27432" tIns="0" rIns="27432" bIns="0">
            <a:spAutoFit/>
          </a:bodyPr>
          <a:lstStyle/>
          <a:p>
            <a:pPr>
              <a:spcAft>
                <a:spcPts val="800"/>
              </a:spcAft>
            </a:pPr>
            <a:r>
              <a:rPr sz="1100">
                <a:solidFill>
                  <a:srgbClr val="8C1515"/>
                </a:solidFill>
                <a:latin typeface="Calibri"/>
              </a:rPr>
              <a:t>• </a:t>
            </a:r>
            <a:r>
              <a:rPr sz="1100">
                <a:solidFill>
                  <a:srgbClr val="2E2D29"/>
                </a:solidFill>
                <a:latin typeface="Calibri"/>
              </a:rPr>
              <a:t>Every content slide carries the seven-stage tracker; the filled segment says which stage is under discussion</a:t>
            </a:r>
          </a:p>
          <a:p>
            <a:pPr>
              <a:spcAft>
                <a:spcPts val="800"/>
              </a:spcAft>
            </a:pPr>
            <a:r>
              <a:rPr sz="1100">
                <a:solidFill>
                  <a:srgbClr val="8C1515"/>
                </a:solidFill>
                <a:latin typeface="Calibri"/>
              </a:rPr>
              <a:t>• </a:t>
            </a:r>
            <a:r>
              <a:rPr sz="1100">
                <a:solidFill>
                  <a:srgbClr val="2E2D29"/>
                </a:solidFill>
                <a:latin typeface="Calibri"/>
              </a:rPr>
              <a:t>Status badges: green established, orange actively changing, grey designed but not yet run</a:t>
            </a:r>
          </a:p>
          <a:p>
            <a:pPr>
              <a:spcAft>
                <a:spcPts val="800"/>
              </a:spcAft>
            </a:pPr>
            <a:r>
              <a:rPr sz="1100">
                <a:solidFill>
                  <a:srgbClr val="8C1515"/>
                </a:solidFill>
                <a:latin typeface="Calibri"/>
              </a:rPr>
              <a:t>• </a:t>
            </a:r>
            <a:r>
              <a:rPr sz="1100">
                <a:solidFill>
                  <a:srgbClr val="2E2D29"/>
                </a:solidFill>
                <a:latin typeface="Calibri"/>
              </a:rPr>
              <a:t>Update the cohort progress table and the roadmap table each cycle - those two carry all the state</a:t>
            </a:r>
          </a:p>
          <a:p>
            <a:pPr>
              <a:spcAft>
                <a:spcPts val="800"/>
              </a:spcAft>
            </a:pPr>
            <a:r>
              <a:rPr sz="1100">
                <a:solidFill>
                  <a:srgbClr val="8C1515"/>
                </a:solidFill>
                <a:latin typeface="Calibri"/>
              </a:rPr>
              <a:t>• </a:t>
            </a:r>
            <a:r>
              <a:rPr sz="1100">
                <a:solidFill>
                  <a:srgbClr val="2E2D29"/>
                </a:solidFill>
                <a:latin typeface="Calibri"/>
              </a:rPr>
              <a:t>Figure placeholders are marked in orange; replace the shape and delete the label</a:t>
            </a:r>
          </a:p>
          <a:p>
            <a:pPr>
              <a:spcAft>
                <a:spcPts val="800"/>
              </a:spcAft>
            </a:pPr>
            <a:r>
              <a:rPr sz="1100">
                <a:solidFill>
                  <a:srgbClr val="8C1515"/>
                </a:solidFill>
                <a:latin typeface="Calibri"/>
              </a:rPr>
              <a:t>• </a:t>
            </a:r>
            <a:r>
              <a:rPr sz="1100">
                <a:solidFill>
                  <a:srgbClr val="2E2D29"/>
                </a:solidFill>
                <a:latin typeface="Calibri"/>
              </a:rPr>
              <a:t>Layouts, fonts and colours come from the Stanford template master, so new slides inherit them</a:t>
            </a:r>
          </a:p>
          <a:p>
            <a:pPr>
              <a:spcAft>
                <a:spcPts val="800"/>
              </a:spcAft>
            </a:pPr>
            <a:r>
              <a:rPr sz="1100">
                <a:solidFill>
                  <a:srgbClr val="8C1515"/>
                </a:solidFill>
                <a:latin typeface="Calibri"/>
              </a:rPr>
              <a:t>• </a:t>
            </a:r>
            <a:r>
              <a:rPr sz="1100">
                <a:solidFill>
                  <a:srgbClr val="2E2D29"/>
                </a:solidFill>
                <a:latin typeface="Calibri"/>
              </a:rPr>
              <a:t>Record version or commit hashes alongside every result set that goes into the paper</a:t>
            </a:r>
          </a:p>
        </p:txBody>
      </p:sp>
      <p:sp>
        <p:nvSpPr>
          <p:cNvPr id="16" name="S52_shape_2"/>
          <p:cNvSpPr/>
          <p:nvPr/>
        </p:nvSpPr>
        <p:spPr>
          <a:xfrm>
            <a:off x="320040" y="4828032"/>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52_text_This_deck_is"/>
          <p:cNvSpPr txBox="1"/>
          <p:nvPr/>
        </p:nvSpPr>
        <p:spPr>
          <a:xfrm>
            <a:off x="429768" y="4828032"/>
            <a:ext cx="8284464" cy="310896"/>
          </a:xfrm>
          <a:prstGeom prst="rect">
            <a:avLst/>
          </a:prstGeom>
          <a:noFill/>
        </p:spPr>
        <p:txBody>
          <a:bodyPr wrap="square" lIns="27432" tIns="0" rIns="27432" bIns="0" anchor="ctr">
            <a:spAutoFit/>
          </a:bodyPr>
          <a:lstStyle/>
          <a:p>
            <a:pPr algn="l"/>
            <a:r>
              <a:rPr sz="1400" b="1" i="0">
                <a:solidFill>
                  <a:srgbClr val="8C1515"/>
                </a:solidFill>
                <a:latin typeface="Calibri"/>
              </a:rPr>
              <a:t>This deck is the source of truth: change it here first, then propagate to talks and figures.</a:t>
            </a:r>
          </a:p>
        </p:txBody>
      </p:sp>
      <p:graphicFrame>
        <p:nvGraphicFramePr>
          <p:cNvPr id="18" name="Software_components_table"/>
          <p:cNvGraphicFramePr>
            <a:graphicFrameLocks noGrp="1"/>
          </p:cNvGraphicFramePr>
          <p:nvPr/>
        </p:nvGraphicFramePr>
        <p:xfrm>
          <a:off x="320040" y="1700784"/>
          <a:ext cx="4160519" cy="1572763"/>
        </p:xfrm>
        <a:graphic>
          <a:graphicData uri="http://schemas.openxmlformats.org/drawingml/2006/table">
            <a:tbl>
              <a:tblPr firstRow="0" bandRow="0">
                <a:tableStyleId>{5C22544A-7EE6-4342-B048-85BDC9FD1C3A}</a:tableStyleId>
              </a:tblPr>
              <a:tblGrid>
                <a:gridCol w="1362455"/>
                <a:gridCol w="2798064"/>
              </a:tblGrid>
              <a:tr h="292608">
                <a:tc>
                  <a:txBody>
                    <a:bodyPr wrap="square"/>
                    <a:lstStyle/>
                    <a:p>
                      <a:r>
                        <a:rPr sz="1100" b="1">
                          <a:solidFill>
                            <a:srgbClr val="2E2D29"/>
                          </a:solidFill>
                          <a:latin typeface="Calibri"/>
                        </a:rPr>
                        <a:t>SimVascular</a:t>
                      </a:r>
                    </a:p>
                  </a:txBody>
                  <a:tcPr marL="54864" marR="54864" marT="27432" marB="27432" anchor="ctr">
                    <a:solidFill>
                      <a:srgbClr val="F2F1F0"/>
                    </a:solidFill>
                  </a:tcPr>
                </a:tc>
                <a:tc>
                  <a:txBody>
                    <a:bodyPr wrap="square"/>
                    <a:lstStyle/>
                    <a:p>
                      <a:r>
                        <a:rPr sz="1100" b="0">
                          <a:solidFill>
                            <a:srgbClr val="6B6965"/>
                          </a:solidFill>
                          <a:latin typeface="Calibri"/>
                        </a:rPr>
                        <a:t>Segmentation, lofting, meshing</a:t>
                      </a:r>
                    </a:p>
                  </a:txBody>
                  <a:tcPr marL="54864" marR="54864" marT="27432" marB="27432" anchor="ctr">
                    <a:solidFill>
                      <a:srgbClr val="F2F1F0"/>
                    </a:solidFill>
                  </a:tcPr>
                </a:tc>
              </a:tr>
              <a:tr h="256031">
                <a:tc>
                  <a:txBody>
                    <a:bodyPr wrap="square"/>
                    <a:lstStyle/>
                    <a:p>
                      <a:r>
                        <a:rPr sz="1100" b="1">
                          <a:solidFill>
                            <a:srgbClr val="2E2D29"/>
                          </a:solidFill>
                          <a:latin typeface="Calibri"/>
                        </a:rPr>
                        <a:t>svMultiPhysics</a:t>
                      </a:r>
                    </a:p>
                  </a:txBody>
                  <a:tcPr marL="54864" marR="54864" marT="27432" marB="27432" anchor="ctr">
                    <a:solidFill>
                      <a:srgbClr val="FFFFFF"/>
                    </a:solidFill>
                  </a:tcPr>
                </a:tc>
                <a:tc>
                  <a:txBody>
                    <a:bodyPr wrap="square"/>
                    <a:lstStyle/>
                    <a:p>
                      <a:r>
                        <a:rPr sz="1100" b="0">
                          <a:solidFill>
                            <a:srgbClr val="6B6965"/>
                          </a:solidFill>
                          <a:latin typeface="Calibri"/>
                        </a:rPr>
                        <a:t>3D deformable-wall CFD (CMM)</a:t>
                      </a:r>
                    </a:p>
                  </a:txBody>
                  <a:tcPr marL="54864" marR="54864" marT="27432" marB="27432" anchor="ctr">
                    <a:solidFill>
                      <a:srgbClr val="FFFFFF"/>
                    </a:solidFill>
                  </a:tcPr>
                </a:tc>
              </a:tr>
              <a:tr h="256031">
                <a:tc>
                  <a:txBody>
                    <a:bodyPr wrap="square"/>
                    <a:lstStyle/>
                    <a:p>
                      <a:r>
                        <a:rPr sz="1100" b="1">
                          <a:solidFill>
                            <a:srgbClr val="2E2D29"/>
                          </a:solidFill>
                          <a:latin typeface="Calibri"/>
                        </a:rPr>
                        <a:t>svZeroDSolver</a:t>
                      </a:r>
                    </a:p>
                  </a:txBody>
                  <a:tcPr marL="54864" marR="54864" marT="27432" marB="27432" anchor="ctr">
                    <a:solidFill>
                      <a:srgbClr val="F2F1F0"/>
                    </a:solidFill>
                  </a:tcPr>
                </a:tc>
                <a:tc>
                  <a:txBody>
                    <a:bodyPr wrap="square"/>
                    <a:lstStyle/>
                    <a:p>
                      <a:r>
                        <a:rPr sz="1100" b="0">
                          <a:solidFill>
                            <a:srgbClr val="6B6965"/>
                          </a:solidFill>
                          <a:latin typeface="Calibri"/>
                        </a:rPr>
                        <a:t>0D solver and 3D-0D coupling</a:t>
                      </a:r>
                    </a:p>
                  </a:txBody>
                  <a:tcPr marL="54864" marR="54864" marT="27432" marB="27432" anchor="ctr">
                    <a:solidFill>
                      <a:srgbClr val="F2F1F0"/>
                    </a:solidFill>
                  </a:tcPr>
                </a:tc>
              </a:tr>
              <a:tr h="256031">
                <a:tc>
                  <a:txBody>
                    <a:bodyPr wrap="square"/>
                    <a:lstStyle/>
                    <a:p>
                      <a:r>
                        <a:rPr sz="1100" b="1">
                          <a:solidFill>
                            <a:srgbClr val="2E2D29"/>
                          </a:solidFill>
                          <a:latin typeface="Calibri"/>
                        </a:rPr>
                        <a:t>svZeroDTrees</a:t>
                      </a:r>
                    </a:p>
                  </a:txBody>
                  <a:tcPr marL="54864" marR="54864" marT="27432" marB="27432" anchor="ctr">
                    <a:solidFill>
                      <a:srgbClr val="FFFFFF"/>
                    </a:solidFill>
                  </a:tcPr>
                </a:tc>
                <a:tc>
                  <a:txBody>
                    <a:bodyPr wrap="square"/>
                    <a:lstStyle/>
                    <a:p>
                      <a:r>
                        <a:rPr sz="1100" b="0">
                          <a:solidFill>
                            <a:srgbClr val="6B6965"/>
                          </a:solidFill>
                          <a:latin typeface="Calibri"/>
                        </a:rPr>
                        <a:t>Trees, impedance, tuning, adaptation</a:t>
                      </a:r>
                    </a:p>
                  </a:txBody>
                  <a:tcPr marL="54864" marR="54864" marT="27432" marB="27432" anchor="ctr">
                    <a:solidFill>
                      <a:srgbClr val="FFFFFF"/>
                    </a:solidFill>
                  </a:tcPr>
                </a:tc>
              </a:tr>
              <a:tr h="256031">
                <a:tc>
                  <a:txBody>
                    <a:bodyPr wrap="square"/>
                    <a:lstStyle/>
                    <a:p>
                      <a:r>
                        <a:rPr sz="1100" b="1">
                          <a:solidFill>
                            <a:srgbClr val="2E2D29"/>
                          </a:solidFill>
                          <a:latin typeface="Calibri"/>
                        </a:rPr>
                        <a:t>SDFStent</a:t>
                      </a:r>
                    </a:p>
                  </a:txBody>
                  <a:tcPr marL="54864" marR="54864" marT="27432" marB="27432" anchor="ctr">
                    <a:solidFill>
                      <a:srgbClr val="F2F1F0"/>
                    </a:solidFill>
                  </a:tcPr>
                </a:tc>
                <a:tc>
                  <a:txBody>
                    <a:bodyPr wrap="square"/>
                    <a:lstStyle/>
                    <a:p>
                      <a:r>
                        <a:rPr sz="1100" b="0">
                          <a:solidFill>
                            <a:srgbClr val="6B6965"/>
                          </a:solidFill>
                          <a:latin typeface="Calibri"/>
                        </a:rPr>
                        <a:t>Signed-distance-field virtual stenting</a:t>
                      </a:r>
                    </a:p>
                  </a:txBody>
                  <a:tcPr marL="54864" marR="54864" marT="27432" marB="27432" anchor="ctr">
                    <a:solidFill>
                      <a:srgbClr val="F2F1F0"/>
                    </a:solidFill>
                  </a:tcPr>
                </a:tc>
              </a:tr>
              <a:tr h="256031">
                <a:tc>
                  <a:txBody>
                    <a:bodyPr wrap="square"/>
                    <a:lstStyle/>
                    <a:p>
                      <a:r>
                        <a:rPr sz="1100" b="1">
                          <a:solidFill>
                            <a:srgbClr val="2E2D29"/>
                          </a:solidFill>
                          <a:latin typeface="Calibri"/>
                        </a:rPr>
                        <a:t>svZeroDCalibrator</a:t>
                      </a:r>
                    </a:p>
                  </a:txBody>
                  <a:tcPr marL="54864" marR="54864" marT="27432" marB="27432" anchor="ctr">
                    <a:solidFill>
                      <a:srgbClr val="FFFFFF"/>
                    </a:solidFill>
                  </a:tcPr>
                </a:tc>
                <a:tc>
                  <a:txBody>
                    <a:bodyPr wrap="square"/>
                    <a:lstStyle/>
                    <a:p>
                      <a:r>
                        <a:rPr sz="1100" b="0">
                          <a:solidFill>
                            <a:srgbClr val="6B6965"/>
                          </a:solidFill>
                          <a:latin typeface="Calibri"/>
                        </a:rPr>
                        <a:t>In use: centerline 0D calibration</a:t>
                      </a:r>
                    </a:p>
                  </a:txBody>
                  <a:tcPr marL="54864" marR="54864" marT="27432" marB="27432" anchor="ctr">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le 2"/>
          <p:cNvSpPr>
            <a:spLocks noGrp="1"/>
          </p:cNvSpPr>
          <p:nvPr>
            <p:ph type="ctrTitle"/>
          </p:nvPr>
        </p:nvSpPr>
        <p:spPr/>
        <p:txBody>
          <a:bodyPr/>
          <a:lstStyle/>
          <a:p>
            <a:r>
              <a:t>Archive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ρ test on TST-STAN-3: the correction overshoots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6B6965"/>
                </a:solidFill>
                <a:latin typeface="Calibri"/>
              </a:rPr>
              <a:t>ARCHIVED</a:t>
            </a:r>
          </a:p>
        </p:txBody>
      </p:sp>
      <p:sp>
        <p:nvSpPr>
          <p:cNvPr id="12" name="S2_rho_test_chart_label"/>
          <p:cNvSpPr txBox="1"/>
          <p:nvPr/>
        </p:nvSpPr>
        <p:spPr>
          <a:xfrm>
            <a:off x="320040" y="1389888"/>
            <a:ext cx="4160520" cy="274320"/>
          </a:xfrm>
          <a:prstGeom prst="rect">
            <a:avLst/>
          </a:prstGeom>
          <a:noFill/>
        </p:spPr>
        <p:txBody>
          <a:bodyPr wrap="square" lIns="0" rIns="0" tIns="0" bIns="0" anchor="t">
            <a:noAutofit/>
          </a:bodyPr>
          <a:lstStyle/>
          <a:p>
            <a:pPr algn="l"/>
            <a:r>
              <a:rPr sz="1300" b="1" i="0">
                <a:solidFill>
                  <a:srgbClr val="2E2D29"/>
                </a:solidFill>
                <a:latin typeface="Calibri"/>
              </a:rPr>
              <a:t>3D pulse pressure minus target (mmHg)</a:t>
            </a:r>
          </a:p>
        </p:txBody>
      </p:sp>
      <p:graphicFrame>
        <p:nvGraphicFramePr>
          <p:cNvPr id="13" name="S2_rho_test_pulse_chart"/>
          <p:cNvGraphicFramePr>
            <a:graphicFrameLocks noGrp="1"/>
          </p:cNvGraphicFramePr>
          <p:nvPr/>
        </p:nvGraphicFramePr>
        <p:xfrm>
          <a:off x="320040" y="1682496"/>
          <a:ext cx="4160520" cy="2331720"/>
        </p:xfrm>
        <a:graphic>
          <a:graphicData uri="http://schemas.openxmlformats.org/drawingml/2006/chart">
            <c:chart xmlns:c="http://schemas.openxmlformats.org/drawingml/2006/chart" r:id="rId2"/>
          </a:graphicData>
        </a:graphic>
      </p:graphicFrame>
      <p:sp>
        <p:nvSpPr>
          <p:cNvPr id="14" name="S2_rho_test_ab_legend"/>
          <p:cNvSpPr txBox="1"/>
          <p:nvPr/>
        </p:nvSpPr>
        <p:spPr>
          <a:xfrm>
            <a:off x="320040" y="4041648"/>
            <a:ext cx="4160520" cy="566928"/>
          </a:xfrm>
          <a:prstGeom prst="rect">
            <a:avLst/>
          </a:prstGeom>
          <a:noFill/>
        </p:spPr>
        <p:txBody>
          <a:bodyPr wrap="square" lIns="18288" rIns="18288" tIns="18288" bIns="18288" anchor="t">
            <a:noAutofit/>
          </a:bodyPr>
          <a:lstStyle/>
          <a:p>
            <a:pPr algn="l"/>
            <a:r>
              <a:rPr sz="1100" b="0" i="0">
                <a:solidFill>
                  <a:srgbClr val="6B6965"/>
                </a:solidFill>
                <a:latin typeface="Calibri"/>
              </a:rPr>
              <a:t>A: ρ from the iteration-1 calibrated 0D model.  B: ρ from the iteration-2 3D result.</a:t>
            </a:r>
          </a:p>
        </p:txBody>
      </p:sp>
      <p:graphicFrame>
        <p:nvGraphicFramePr>
          <p:cNvPr id="15" name="S2_rho_test_table"/>
          <p:cNvGraphicFramePr>
            <a:graphicFrameLocks noGrp="1"/>
          </p:cNvGraphicFramePr>
          <p:nvPr/>
        </p:nvGraphicFramePr>
        <p:xfrm>
          <a:off x="4663440" y="1417320"/>
          <a:ext cx="4160520" cy="1920240"/>
        </p:xfrm>
        <a:graphic>
          <a:graphicData uri="http://schemas.openxmlformats.org/drawingml/2006/table">
            <a:tbl>
              <a:tblPr firstRow="1" bandRow="0">
                <a:tableStyleId>{5C22544A-7EE6-4342-B048-85BDC9FD1C3A}</a:tableStyleId>
              </a:tblPr>
              <a:tblGrid>
                <a:gridCol w="1417320"/>
                <a:gridCol w="502920"/>
                <a:gridCol w="502920"/>
                <a:gridCol w="594360"/>
                <a:gridCol w="594360"/>
                <a:gridCol w="548640"/>
              </a:tblGrid>
              <a:tr h="320040">
                <a:tc>
                  <a:txBody>
                    <a:bodyPr wrap="square"/>
                    <a:lstStyle/>
                    <a:p>
                      <a:r>
                        <a:rPr sz="1100" b="1">
                          <a:solidFill>
                            <a:srgbClr val="FFFFFF"/>
                          </a:solidFill>
                          <a:latin typeface="Calibri"/>
                        </a:rPr>
                        <a:t>TST-STAN-3</a:t>
                      </a:r>
                    </a:p>
                  </a:txBody>
                  <a:tcPr marL="54864" marR="54864" marT="27432" marB="27432" anchor="ctr">
                    <a:solidFill>
                      <a:srgbClr val="8C1515"/>
                    </a:solidFill>
                  </a:tcPr>
                </a:tc>
                <a:tc>
                  <a:txBody>
                    <a:bodyPr wrap="square"/>
                    <a:lstStyle/>
                    <a:p>
                      <a:r>
                        <a:rPr sz="1100" b="1">
                          <a:solidFill>
                            <a:srgbClr val="FFFFFF"/>
                          </a:solidFill>
                          <a:latin typeface="Calibri"/>
                        </a:rPr>
                        <a:t>Sys</a:t>
                      </a:r>
                    </a:p>
                  </a:txBody>
                  <a:tcPr marL="54864" marR="54864" marT="27432" marB="27432" anchor="ctr">
                    <a:solidFill>
                      <a:srgbClr val="8C1515"/>
                    </a:solidFill>
                  </a:tcPr>
                </a:tc>
                <a:tc>
                  <a:txBody>
                    <a:bodyPr wrap="square"/>
                    <a:lstStyle/>
                    <a:p>
                      <a:r>
                        <a:rPr sz="1100" b="1">
                          <a:solidFill>
                            <a:srgbClr val="FFFFFF"/>
                          </a:solidFill>
                          <a:latin typeface="Calibri"/>
                        </a:rPr>
                        <a:t>Dia</a:t>
                      </a:r>
                    </a:p>
                  </a:txBody>
                  <a:tcPr marL="54864" marR="54864" marT="27432" marB="27432" anchor="ctr">
                    <a:solidFill>
                      <a:srgbClr val="8C1515"/>
                    </a:solidFill>
                  </a:tcPr>
                </a:tc>
                <a:tc>
                  <a:txBody>
                    <a:bodyPr wrap="square"/>
                    <a:lstStyle/>
                    <a:p>
                      <a:r>
                        <a:rPr sz="1100" b="1">
                          <a:solidFill>
                            <a:srgbClr val="FFFFFF"/>
                          </a:solidFill>
                          <a:latin typeface="Calibri"/>
                        </a:rPr>
                        <a:t>Mean</a:t>
                      </a:r>
                    </a:p>
                  </a:txBody>
                  <a:tcPr marL="54864" marR="54864" marT="27432" marB="27432" anchor="ctr">
                    <a:solidFill>
                      <a:srgbClr val="8C1515"/>
                    </a:solidFill>
                  </a:tcPr>
                </a:tc>
                <a:tc>
                  <a:txBody>
                    <a:bodyPr wrap="square"/>
                    <a:lstStyle/>
                    <a:p>
                      <a:r>
                        <a:rPr sz="1100" b="1">
                          <a:solidFill>
                            <a:srgbClr val="FFFFFF"/>
                          </a:solidFill>
                          <a:latin typeface="Calibri"/>
                        </a:rPr>
                        <a:t>Pulse</a:t>
                      </a:r>
                    </a:p>
                  </a:txBody>
                  <a:tcPr marL="54864" marR="54864" marT="27432" marB="27432" anchor="ctr">
                    <a:solidFill>
                      <a:srgbClr val="8C1515"/>
                    </a:solidFill>
                  </a:tcPr>
                </a:tc>
                <a:tc>
                  <a:txBody>
                    <a:bodyPr wrap="square"/>
                    <a:lstStyle/>
                    <a:p>
                      <a:r>
                        <a:rPr sz="1100" b="1">
                          <a:solidFill>
                            <a:srgbClr val="FFFFFF"/>
                          </a:solidFill>
                          <a:latin typeface="Calibri"/>
                        </a:rPr>
                        <a:t>Split</a:t>
                      </a:r>
                    </a:p>
                  </a:txBody>
                  <a:tcPr marL="54864" marR="54864" marT="27432" marB="27432" anchor="ctr">
                    <a:solidFill>
                      <a:srgbClr val="8C1515"/>
                    </a:solidFill>
                  </a:tcPr>
                </a:tc>
              </a:tr>
              <a:tr h="320040">
                <a:tc>
                  <a:txBody>
                    <a:bodyPr wrap="square"/>
                    <a:lstStyle/>
                    <a:p>
                      <a:r>
                        <a:rPr sz="1100" b="0">
                          <a:solidFill>
                            <a:srgbClr val="007C92"/>
                          </a:solidFill>
                          <a:latin typeface="Calibri"/>
                        </a:rPr>
                        <a:t>Target (cath)</a:t>
                      </a:r>
                    </a:p>
                  </a:txBody>
                  <a:tcPr marL="54864" marR="54864" marT="27432" marB="27432" anchor="ctr">
                    <a:solidFill>
                      <a:srgbClr val="FFFFFF"/>
                    </a:solidFill>
                  </a:tcPr>
                </a:tc>
                <a:tc>
                  <a:txBody>
                    <a:bodyPr wrap="square"/>
                    <a:lstStyle/>
                    <a:p>
                      <a:r>
                        <a:rPr sz="1100" b="0">
                          <a:solidFill>
                            <a:srgbClr val="007C92"/>
                          </a:solidFill>
                          <a:latin typeface="Calibri"/>
                        </a:rPr>
                        <a:t>67</a:t>
                      </a:r>
                    </a:p>
                  </a:txBody>
                  <a:tcPr marL="54864" marR="54864" marT="27432" marB="27432" anchor="ctr">
                    <a:solidFill>
                      <a:srgbClr val="FFFFFF"/>
                    </a:solidFill>
                  </a:tcPr>
                </a:tc>
                <a:tc>
                  <a:txBody>
                    <a:bodyPr wrap="square"/>
                    <a:lstStyle/>
                    <a:p>
                      <a:r>
                        <a:rPr sz="1100" b="0">
                          <a:solidFill>
                            <a:srgbClr val="007C92"/>
                          </a:solidFill>
                          <a:latin typeface="Calibri"/>
                        </a:rPr>
                        <a:t>9</a:t>
                      </a:r>
                    </a:p>
                  </a:txBody>
                  <a:tcPr marL="54864" marR="54864" marT="27432" marB="27432" anchor="ctr">
                    <a:solidFill>
                      <a:srgbClr val="FFFFFF"/>
                    </a:solidFill>
                  </a:tcPr>
                </a:tc>
                <a:tc>
                  <a:txBody>
                    <a:bodyPr wrap="square"/>
                    <a:lstStyle/>
                    <a:p>
                      <a:r>
                        <a:rPr sz="1100" b="0">
                          <a:solidFill>
                            <a:srgbClr val="007C92"/>
                          </a:solidFill>
                          <a:latin typeface="Calibri"/>
                        </a:rPr>
                        <a:t>32</a:t>
                      </a:r>
                    </a:p>
                  </a:txBody>
                  <a:tcPr marL="54864" marR="54864" marT="27432" marB="27432" anchor="ctr">
                    <a:solidFill>
                      <a:srgbClr val="FFFFFF"/>
                    </a:solidFill>
                  </a:tcPr>
                </a:tc>
                <a:tc>
                  <a:txBody>
                    <a:bodyPr wrap="square"/>
                    <a:lstStyle/>
                    <a:p>
                      <a:r>
                        <a:rPr sz="1100" b="0">
                          <a:solidFill>
                            <a:srgbClr val="007C92"/>
                          </a:solidFill>
                          <a:latin typeface="Calibri"/>
                        </a:rPr>
                        <a:t>58</a:t>
                      </a:r>
                    </a:p>
                  </a:txBody>
                  <a:tcPr marL="54864" marR="54864" marT="27432" marB="27432" anchor="ctr">
                    <a:solidFill>
                      <a:srgbClr val="FFFFFF"/>
                    </a:solidFill>
                  </a:tcPr>
                </a:tc>
                <a:tc>
                  <a:txBody>
                    <a:bodyPr wrap="square"/>
                    <a:lstStyle/>
                    <a:p>
                      <a:r>
                        <a:rPr sz="1100" b="0">
                          <a:solidFill>
                            <a:srgbClr val="007C92"/>
                          </a:solidFill>
                          <a:latin typeface="Calibri"/>
                        </a:rPr>
                        <a:t>0.446</a:t>
                      </a:r>
                    </a:p>
                  </a:txBody>
                  <a:tcPr marL="54864" marR="54864" marT="27432" marB="27432" anchor="ctr">
                    <a:solidFill>
                      <a:srgbClr val="FFFFFF"/>
                    </a:solidFill>
                  </a:tcPr>
                </a:tc>
              </a:tr>
              <a:tr h="320040">
                <a:tc>
                  <a:txBody>
                    <a:bodyPr wrap="square"/>
                    <a:lstStyle/>
                    <a:p>
                      <a:r>
                        <a:rPr sz="1100" b="1">
                          <a:solidFill>
                            <a:srgbClr val="8C1515"/>
                          </a:solidFill>
                          <a:latin typeface="Calibri"/>
                        </a:rPr>
                        <a:t>0D fit, iter. 2</a:t>
                      </a:r>
                    </a:p>
                  </a:txBody>
                  <a:tcPr marL="54864" marR="54864" marT="27432" marB="27432" anchor="ctr">
                    <a:solidFill>
                      <a:srgbClr val="F2F1F0"/>
                    </a:solidFill>
                  </a:tcPr>
                </a:tc>
                <a:tc>
                  <a:txBody>
                    <a:bodyPr wrap="square"/>
                    <a:lstStyle/>
                    <a:p>
                      <a:r>
                        <a:rPr sz="1100" b="0">
                          <a:solidFill>
                            <a:srgbClr val="2E2D29"/>
                          </a:solidFill>
                          <a:latin typeface="Calibri"/>
                        </a:rPr>
                        <a:t>66.3</a:t>
                      </a:r>
                    </a:p>
                  </a:txBody>
                  <a:tcPr marL="54864" marR="54864" marT="27432" marB="27432" anchor="ctr">
                    <a:solidFill>
                      <a:srgbClr val="F2F1F0"/>
                    </a:solidFill>
                  </a:tcPr>
                </a:tc>
                <a:tc>
                  <a:txBody>
                    <a:bodyPr wrap="square"/>
                    <a:lstStyle/>
                    <a:p>
                      <a:r>
                        <a:rPr sz="1100" b="0">
                          <a:solidFill>
                            <a:srgbClr val="2E2D29"/>
                          </a:solidFill>
                          <a:latin typeface="Calibri"/>
                        </a:rPr>
                        <a:t>8.6</a:t>
                      </a:r>
                    </a:p>
                  </a:txBody>
                  <a:tcPr marL="54864" marR="54864" marT="27432" marB="27432" anchor="ctr">
                    <a:solidFill>
                      <a:srgbClr val="F2F1F0"/>
                    </a:solidFill>
                  </a:tcPr>
                </a:tc>
                <a:tc>
                  <a:txBody>
                    <a:bodyPr wrap="square"/>
                    <a:lstStyle/>
                    <a:p>
                      <a:r>
                        <a:rPr sz="1100" b="0">
                          <a:solidFill>
                            <a:srgbClr val="2E2D29"/>
                          </a:solidFill>
                          <a:latin typeface="Calibri"/>
                        </a:rPr>
                        <a:t>31.0</a:t>
                      </a:r>
                    </a:p>
                  </a:txBody>
                  <a:tcPr marL="54864" marR="54864" marT="27432" marB="27432" anchor="ctr">
                    <a:solidFill>
                      <a:srgbClr val="F2F1F0"/>
                    </a:solidFill>
                  </a:tcPr>
                </a:tc>
                <a:tc>
                  <a:txBody>
                    <a:bodyPr wrap="square"/>
                    <a:lstStyle/>
                    <a:p>
                      <a:r>
                        <a:rPr sz="1100" b="1">
                          <a:solidFill>
                            <a:srgbClr val="2E2D29"/>
                          </a:solidFill>
                          <a:latin typeface="Calibri"/>
                        </a:rPr>
                        <a:t>57.7</a:t>
                      </a:r>
                    </a:p>
                  </a:txBody>
                  <a:tcPr marL="54864" marR="54864" marT="27432" marB="27432" anchor="ctr">
                    <a:solidFill>
                      <a:srgbClr val="F2F1F0"/>
                    </a:solidFill>
                  </a:tcPr>
                </a:tc>
                <a:tc>
                  <a:txBody>
                    <a:bodyPr wrap="square"/>
                    <a:lstStyle/>
                    <a:p>
                      <a:r>
                        <a:rPr sz="1100" b="0">
                          <a:solidFill>
                            <a:srgbClr val="2E2D29"/>
                          </a:solidFill>
                          <a:latin typeface="Calibri"/>
                        </a:rPr>
                        <a:t>0.454</a:t>
                      </a:r>
                    </a:p>
                  </a:txBody>
                  <a:tcPr marL="54864" marR="54864" marT="27432" marB="27432" anchor="ctr">
                    <a:solidFill>
                      <a:srgbClr val="F2F1F0"/>
                    </a:solidFill>
                  </a:tcPr>
                </a:tc>
              </a:tr>
              <a:tr h="320040">
                <a:tc>
                  <a:txBody>
                    <a:bodyPr wrap="square"/>
                    <a:lstStyle/>
                    <a:p>
                      <a:r>
                        <a:rPr sz="1100" b="0">
                          <a:solidFill>
                            <a:srgbClr val="2E2D29"/>
                          </a:solidFill>
                          <a:latin typeface="Calibri"/>
                        </a:rPr>
                        <a:t>3D, no correction</a:t>
                      </a:r>
                    </a:p>
                  </a:txBody>
                  <a:tcPr marL="54864" marR="54864" marT="27432" marB="27432" anchor="ctr">
                    <a:solidFill>
                      <a:srgbClr val="FFFFFF"/>
                    </a:solidFill>
                  </a:tcPr>
                </a:tc>
                <a:tc>
                  <a:txBody>
                    <a:bodyPr wrap="square"/>
                    <a:lstStyle/>
                    <a:p>
                      <a:r>
                        <a:rPr sz="1100" b="1">
                          <a:solidFill>
                            <a:srgbClr val="8C1515"/>
                          </a:solidFill>
                          <a:latin typeface="Calibri"/>
                        </a:rPr>
                        <a:t>73.5</a:t>
                      </a:r>
                    </a:p>
                  </a:txBody>
                  <a:tcPr marL="54864" marR="54864" marT="27432" marB="27432" anchor="ctr">
                    <a:solidFill>
                      <a:srgbClr val="FFFFFF"/>
                    </a:solidFill>
                  </a:tcPr>
                </a:tc>
                <a:tc>
                  <a:txBody>
                    <a:bodyPr wrap="square"/>
                    <a:lstStyle/>
                    <a:p>
                      <a:r>
                        <a:rPr sz="1100" b="0">
                          <a:solidFill>
                            <a:srgbClr val="2E2D29"/>
                          </a:solidFill>
                          <a:latin typeface="Calibri"/>
                        </a:rPr>
                        <a:t>7.7</a:t>
                      </a:r>
                    </a:p>
                  </a:txBody>
                  <a:tcPr marL="54864" marR="54864" marT="27432" marB="27432" anchor="ctr">
                    <a:solidFill>
                      <a:srgbClr val="FFFFFF"/>
                    </a:solidFill>
                  </a:tcPr>
                </a:tc>
                <a:tc>
                  <a:txBody>
                    <a:bodyPr wrap="square"/>
                    <a:lstStyle/>
                    <a:p>
                      <a:r>
                        <a:rPr sz="1100" b="0">
                          <a:solidFill>
                            <a:srgbClr val="2E2D29"/>
                          </a:solidFill>
                          <a:latin typeface="Calibri"/>
                        </a:rPr>
                        <a:t>29.9</a:t>
                      </a:r>
                    </a:p>
                  </a:txBody>
                  <a:tcPr marL="54864" marR="54864" marT="27432" marB="27432" anchor="ctr">
                    <a:solidFill>
                      <a:srgbClr val="FFFFFF"/>
                    </a:solidFill>
                  </a:tcPr>
                </a:tc>
                <a:tc>
                  <a:txBody>
                    <a:bodyPr wrap="square"/>
                    <a:lstStyle/>
                    <a:p>
                      <a:r>
                        <a:rPr sz="1100" b="1">
                          <a:solidFill>
                            <a:srgbClr val="2E2D29"/>
                          </a:solidFill>
                          <a:latin typeface="Calibri"/>
                        </a:rPr>
                        <a:t>65.8</a:t>
                      </a:r>
                    </a:p>
                  </a:txBody>
                  <a:tcPr marL="54864" marR="54864" marT="27432" marB="27432" anchor="ctr">
                    <a:solidFill>
                      <a:srgbClr val="FFFFFF"/>
                    </a:solidFill>
                  </a:tcPr>
                </a:tc>
                <a:tc>
                  <a:txBody>
                    <a:bodyPr wrap="square"/>
                    <a:lstStyle/>
                    <a:p>
                      <a:r>
                        <a:rPr sz="1100" b="0">
                          <a:solidFill>
                            <a:srgbClr val="2E2D29"/>
                          </a:solidFill>
                          <a:latin typeface="Calibri"/>
                        </a:rPr>
                        <a:t>0.448</a:t>
                      </a:r>
                    </a:p>
                  </a:txBody>
                  <a:tcPr marL="54864" marR="54864" marT="27432" marB="27432" anchor="ctr">
                    <a:solidFill>
                      <a:srgbClr val="FFFFFF"/>
                    </a:solidFill>
                  </a:tcPr>
                </a:tc>
              </a:tr>
              <a:tr h="320040">
                <a:tc>
                  <a:txBody>
                    <a:bodyPr wrap="square"/>
                    <a:lstStyle/>
                    <a:p>
                      <a:r>
                        <a:rPr sz="1100" b="0">
                          <a:solidFill>
                            <a:srgbClr val="2E2D29"/>
                          </a:solidFill>
                          <a:latin typeface="Calibri"/>
                        </a:rPr>
                        <a:t>A: E × 0.605</a:t>
                      </a:r>
                    </a:p>
                  </a:txBody>
                  <a:tcPr marL="54864" marR="54864" marT="27432" marB="27432" anchor="ctr">
                    <a:solidFill>
                      <a:srgbClr val="F2F1F0"/>
                    </a:solidFill>
                  </a:tcPr>
                </a:tc>
                <a:tc>
                  <a:txBody>
                    <a:bodyPr wrap="square"/>
                    <a:lstStyle/>
                    <a:p>
                      <a:r>
                        <a:rPr sz="1100" b="1">
                          <a:solidFill>
                            <a:srgbClr val="8C1515"/>
                          </a:solidFill>
                          <a:latin typeface="Calibri"/>
                        </a:rPr>
                        <a:t>61.1</a:t>
                      </a:r>
                    </a:p>
                  </a:txBody>
                  <a:tcPr marL="54864" marR="54864" marT="27432" marB="27432" anchor="ctr">
                    <a:solidFill>
                      <a:srgbClr val="F2F1F0"/>
                    </a:solidFill>
                  </a:tcPr>
                </a:tc>
                <a:tc>
                  <a:txBody>
                    <a:bodyPr wrap="square"/>
                    <a:lstStyle/>
                    <a:p>
                      <a:r>
                        <a:rPr sz="1100" b="0">
                          <a:solidFill>
                            <a:srgbClr val="2E2D29"/>
                          </a:solidFill>
                          <a:latin typeface="Calibri"/>
                        </a:rPr>
                        <a:t>9.8</a:t>
                      </a:r>
                    </a:p>
                  </a:txBody>
                  <a:tcPr marL="54864" marR="54864" marT="27432" marB="27432" anchor="ctr">
                    <a:solidFill>
                      <a:srgbClr val="F2F1F0"/>
                    </a:solidFill>
                  </a:tcPr>
                </a:tc>
                <a:tc>
                  <a:txBody>
                    <a:bodyPr wrap="square"/>
                    <a:lstStyle/>
                    <a:p>
                      <a:r>
                        <a:rPr sz="1100" b="0">
                          <a:solidFill>
                            <a:srgbClr val="2E2D29"/>
                          </a:solidFill>
                          <a:latin typeface="Calibri"/>
                        </a:rPr>
                        <a:t>29.3</a:t>
                      </a:r>
                    </a:p>
                  </a:txBody>
                  <a:tcPr marL="54864" marR="54864" marT="27432" marB="27432" anchor="ctr">
                    <a:solidFill>
                      <a:srgbClr val="F2F1F0"/>
                    </a:solidFill>
                  </a:tcPr>
                </a:tc>
                <a:tc>
                  <a:txBody>
                    <a:bodyPr wrap="square"/>
                    <a:lstStyle/>
                    <a:p>
                      <a:r>
                        <a:rPr sz="1100" b="1">
                          <a:solidFill>
                            <a:srgbClr val="2E2D29"/>
                          </a:solidFill>
                          <a:latin typeface="Calibri"/>
                        </a:rPr>
                        <a:t>51.3</a:t>
                      </a:r>
                    </a:p>
                  </a:txBody>
                  <a:tcPr marL="54864" marR="54864" marT="27432" marB="27432" anchor="ctr">
                    <a:solidFill>
                      <a:srgbClr val="F2F1F0"/>
                    </a:solidFill>
                  </a:tcPr>
                </a:tc>
                <a:tc>
                  <a:txBody>
                    <a:bodyPr wrap="square"/>
                    <a:lstStyle/>
                    <a:p>
                      <a:r>
                        <a:rPr sz="1100" b="0">
                          <a:solidFill>
                            <a:srgbClr val="2E2D29"/>
                          </a:solidFill>
                          <a:latin typeface="Calibri"/>
                        </a:rPr>
                        <a:t>0.445</a:t>
                      </a:r>
                    </a:p>
                  </a:txBody>
                  <a:tcPr marL="54864" marR="54864" marT="27432" marB="27432" anchor="ctr">
                    <a:solidFill>
                      <a:srgbClr val="F2F1F0"/>
                    </a:solidFill>
                  </a:tcPr>
                </a:tc>
              </a:tr>
              <a:tr h="320040">
                <a:tc>
                  <a:txBody>
                    <a:bodyPr wrap="square"/>
                    <a:lstStyle/>
                    <a:p>
                      <a:r>
                        <a:rPr sz="1100" b="0">
                          <a:solidFill>
                            <a:srgbClr val="2E2D29"/>
                          </a:solidFill>
                          <a:latin typeface="Calibri"/>
                        </a:rPr>
                        <a:t>B: E × 0.633</a:t>
                      </a:r>
                    </a:p>
                  </a:txBody>
                  <a:tcPr marL="54864" marR="54864" marT="27432" marB="27432" anchor="ctr">
                    <a:solidFill>
                      <a:srgbClr val="FFFFFF"/>
                    </a:solidFill>
                  </a:tcPr>
                </a:tc>
                <a:tc>
                  <a:txBody>
                    <a:bodyPr wrap="square"/>
                    <a:lstStyle/>
                    <a:p>
                      <a:r>
                        <a:rPr sz="1100" b="1">
                          <a:solidFill>
                            <a:srgbClr val="8C1515"/>
                          </a:solidFill>
                          <a:latin typeface="Calibri"/>
                        </a:rPr>
                        <a:t>62.2</a:t>
                      </a:r>
                    </a:p>
                  </a:txBody>
                  <a:tcPr marL="54864" marR="54864" marT="27432" marB="27432" anchor="ctr">
                    <a:solidFill>
                      <a:srgbClr val="FFFFFF"/>
                    </a:solidFill>
                  </a:tcPr>
                </a:tc>
                <a:tc>
                  <a:txBody>
                    <a:bodyPr wrap="square"/>
                    <a:lstStyle/>
                    <a:p>
                      <a:r>
                        <a:rPr sz="1100" b="0">
                          <a:solidFill>
                            <a:srgbClr val="2E2D29"/>
                          </a:solidFill>
                          <a:latin typeface="Calibri"/>
                        </a:rPr>
                        <a:t>9.5</a:t>
                      </a:r>
                    </a:p>
                  </a:txBody>
                  <a:tcPr marL="54864" marR="54864" marT="27432" marB="27432" anchor="ctr">
                    <a:solidFill>
                      <a:srgbClr val="FFFFFF"/>
                    </a:solidFill>
                  </a:tcPr>
                </a:tc>
                <a:tc>
                  <a:txBody>
                    <a:bodyPr wrap="square"/>
                    <a:lstStyle/>
                    <a:p>
                      <a:r>
                        <a:rPr sz="1100" b="0">
                          <a:solidFill>
                            <a:srgbClr val="2E2D29"/>
                          </a:solidFill>
                          <a:latin typeface="Calibri"/>
                        </a:rPr>
                        <a:t>29.4</a:t>
                      </a:r>
                    </a:p>
                  </a:txBody>
                  <a:tcPr marL="54864" marR="54864" marT="27432" marB="27432" anchor="ctr">
                    <a:solidFill>
                      <a:srgbClr val="FFFFFF"/>
                    </a:solidFill>
                  </a:tcPr>
                </a:tc>
                <a:tc>
                  <a:txBody>
                    <a:bodyPr wrap="square"/>
                    <a:lstStyle/>
                    <a:p>
                      <a:r>
                        <a:rPr sz="1100" b="1">
                          <a:solidFill>
                            <a:srgbClr val="2E2D29"/>
                          </a:solidFill>
                          <a:latin typeface="Calibri"/>
                        </a:rPr>
                        <a:t>52.6</a:t>
                      </a:r>
                    </a:p>
                  </a:txBody>
                  <a:tcPr marL="54864" marR="54864" marT="27432" marB="27432" anchor="ctr">
                    <a:solidFill>
                      <a:srgbClr val="FFFFFF"/>
                    </a:solidFill>
                  </a:tcPr>
                </a:tc>
                <a:tc>
                  <a:txBody>
                    <a:bodyPr wrap="square"/>
                    <a:lstStyle/>
                    <a:p>
                      <a:r>
                        <a:rPr sz="1100" b="0">
                          <a:solidFill>
                            <a:srgbClr val="2E2D29"/>
                          </a:solidFill>
                          <a:latin typeface="Calibri"/>
                        </a:rPr>
                        <a:t>0.445</a:t>
                      </a:r>
                    </a:p>
                  </a:txBody>
                  <a:tcPr marL="54864" marR="54864" marT="27432" marB="27432" anchor="ctr">
                    <a:solidFill>
                      <a:srgbClr val="FFFFFF"/>
                    </a:solidFill>
                  </a:tcPr>
                </a:tc>
              </a:tr>
            </a:tbl>
          </a:graphicData>
        </a:graphic>
      </p:graphicFrame>
      <p:sp>
        <p:nvSpPr>
          <p:cNvPr id="16" name="S2_rho_test_answer_card"/>
          <p:cNvSpPr/>
          <p:nvPr/>
        </p:nvSpPr>
        <p:spPr>
          <a:xfrm>
            <a:off x="4663440" y="3429000"/>
            <a:ext cx="4160520" cy="117957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l"/>
            <a:r>
              <a:rPr sz="1100" b="1" i="0">
                <a:solidFill>
                  <a:srgbClr val="6B6965"/>
                </a:solidFill>
                <a:latin typeface="Calibri"/>
              </a:rPr>
              <a:t>Answer</a:t>
            </a:r>
          </a:p>
          <a:p>
            <a:pPr algn="l"/>
            <a:r>
              <a:rPr sz="2400" b="1" i="0">
                <a:solidFill>
                  <a:srgbClr val="E98300"/>
                </a:solidFill>
                <a:latin typeface="Calibri"/>
              </a:rPr>
              <a:t>Overshoots</a:t>
            </a:r>
          </a:p>
          <a:p>
            <a:pPr algn="l">
              <a:spcBef>
                <a:spcPts val="200"/>
              </a:spcBef>
            </a:pPr>
            <a:r>
              <a:rPr sz="1200" b="0" i="0">
                <a:solidFill>
                  <a:srgbClr val="2E2D29"/>
                </a:solidFill>
                <a:latin typeface="Calibri"/>
              </a:rPr>
              <a:t>Both corrections leave the pulse 5 to 7 mmHg too narrow and systolic 5 to 6 mmHg low; split unchanged.</a:t>
            </a:r>
          </a:p>
        </p:txBody>
      </p:sp>
      <p:sp>
        <p:nvSpPr>
          <p:cNvPr id="17" name="S2_rho_test_takeaway"/>
          <p:cNvSpPr/>
          <p:nvPr/>
        </p:nvSpPr>
        <p:spPr>
          <a:xfrm>
            <a:off x="320040" y="4718304"/>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Softening the 3D wall moves the pulse the right way, but both ρ estimates are too strong for TST-STAN-3.</a:t>
            </a:r>
          </a:p>
        </p:txBody>
      </p:sp>
      <p:sp>
        <p:nvSpPr>
          <p:cNvPr id="18" name="S2_rho_test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Archived 2026-10-25. Replaced by: Does one wall rule close the 3D pulse in all five?. Reason: The ρ correction was superseded by the E law used in protocol v1..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BC tuning status: 0D fits, the 3D pulse runs wide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6B6965"/>
                </a:solidFill>
                <a:latin typeface="Calibri"/>
              </a:rPr>
              <a:t>ARCHIVED</a:t>
            </a:r>
          </a:p>
        </p:txBody>
      </p:sp>
      <p:graphicFrame>
        <p:nvGraphicFramePr>
          <p:cNvPr id="12" name="S2_status_table"/>
          <p:cNvGraphicFramePr>
            <a:graphicFrameLocks noGrp="1"/>
          </p:cNvGraphicFramePr>
          <p:nvPr/>
        </p:nvGraphicFramePr>
        <p:xfrm>
          <a:off x="320040" y="1389888"/>
          <a:ext cx="8503920" cy="1664208"/>
        </p:xfrm>
        <a:graphic>
          <a:graphicData uri="http://schemas.openxmlformats.org/drawingml/2006/table">
            <a:tbl>
              <a:tblPr firstRow="1" bandRow="0">
                <a:tableStyleId>{5C22544A-7EE6-4342-B048-85BDC9FD1C3A}</a:tableStyleId>
              </a:tblPr>
              <a:tblGrid>
                <a:gridCol w="868680"/>
                <a:gridCol w="1188720"/>
                <a:gridCol w="1600200"/>
                <a:gridCol w="1783080"/>
                <a:gridCol w="1463040"/>
                <a:gridCol w="1051560"/>
                <a:gridCol w="548640"/>
              </a:tblGrid>
              <a:tr h="292608">
                <a:tc>
                  <a:txBody>
                    <a:bodyPr wrap="square"/>
                    <a:lstStyle/>
                    <a:p>
                      <a:r>
                        <a:rPr sz="1100" b="1">
                          <a:solidFill>
                            <a:srgbClr val="FFFFFF"/>
                          </a:solidFill>
                          <a:latin typeface="Calibri"/>
                        </a:rPr>
                        <a:t>Patient</a:t>
                      </a:r>
                    </a:p>
                  </a:txBody>
                  <a:tcPr marL="54864" marR="54864" marT="27432" marB="27432" anchor="ctr">
                    <a:solidFill>
                      <a:srgbClr val="8C1515"/>
                    </a:solidFill>
                  </a:tcPr>
                </a:tc>
                <a:tc>
                  <a:txBody>
                    <a:bodyPr wrap="square"/>
                    <a:lstStyle/>
                    <a:p>
                      <a:r>
                        <a:rPr sz="1100" b="1">
                          <a:solidFill>
                            <a:srgbClr val="FFFFFF"/>
                          </a:solidFill>
                          <a:latin typeface="Calibri"/>
                        </a:rPr>
                        <a:t>Target (cath)</a:t>
                      </a:r>
                    </a:p>
                  </a:txBody>
                  <a:tcPr marL="54864" marR="54864" marT="27432" marB="27432" anchor="ctr">
                    <a:solidFill>
                      <a:srgbClr val="8C1515"/>
                    </a:solidFill>
                  </a:tcPr>
                </a:tc>
                <a:tc>
                  <a:txBody>
                    <a:bodyPr wrap="square"/>
                    <a:lstStyle/>
                    <a:p>
                      <a:r>
                        <a:rPr sz="1100" b="1">
                          <a:solidFill>
                            <a:srgbClr val="FFFFFF"/>
                          </a:solidFill>
                          <a:latin typeface="Calibri"/>
                        </a:rPr>
                        <a:t>0D fit, iter. 2</a:t>
                      </a:r>
                    </a:p>
                  </a:txBody>
                  <a:tcPr marL="54864" marR="54864" marT="27432" marB="27432" anchor="ctr">
                    <a:solidFill>
                      <a:srgbClr val="8C1515"/>
                    </a:solidFill>
                  </a:tcPr>
                </a:tc>
                <a:tc>
                  <a:txBody>
                    <a:bodyPr wrap="square"/>
                    <a:lstStyle/>
                    <a:p>
                      <a:r>
                        <a:rPr sz="1100" b="1">
                          <a:solidFill>
                            <a:srgbClr val="FFFFFF"/>
                          </a:solidFill>
                          <a:latin typeface="Calibri"/>
                        </a:rPr>
                        <a:t>3D, iter. 2</a:t>
                      </a:r>
                    </a:p>
                  </a:txBody>
                  <a:tcPr marL="54864" marR="54864" marT="27432" marB="27432" anchor="ctr">
                    <a:solidFill>
                      <a:srgbClr val="8C1515"/>
                    </a:solidFill>
                  </a:tcPr>
                </a:tc>
                <a:tc>
                  <a:txBody>
                    <a:bodyPr wrap="square"/>
                    <a:lstStyle/>
                    <a:p>
                      <a:r>
                        <a:rPr sz="1100" b="1">
                          <a:solidFill>
                            <a:srgbClr val="FFFFFF"/>
                          </a:solidFill>
                          <a:latin typeface="Calibri"/>
                        </a:rPr>
                        <a:t>3D, iter. 1</a:t>
                      </a:r>
                    </a:p>
                  </a:txBody>
                  <a:tcPr marL="54864" marR="54864" marT="27432" marB="27432" anchor="ctr">
                    <a:solidFill>
                      <a:srgbClr val="8C1515"/>
                    </a:solidFill>
                  </a:tcPr>
                </a:tc>
                <a:tc>
                  <a:txBody>
                    <a:bodyPr wrap="square"/>
                    <a:lstStyle/>
                    <a:p>
                      <a:r>
                        <a:rPr sz="1100" b="1">
                          <a:solidFill>
                            <a:srgbClr val="FFFFFF"/>
                          </a:solidFill>
                          <a:latin typeface="Calibri"/>
                        </a:rPr>
                        <a:t>3D − 0D pulse</a:t>
                      </a:r>
                    </a:p>
                  </a:txBody>
                  <a:tcPr marL="54864" marR="54864" marT="27432" marB="27432" anchor="ctr">
                    <a:solidFill>
                      <a:srgbClr val="8C1515"/>
                    </a:solidFill>
                  </a:tcPr>
                </a:tc>
                <a:tc>
                  <a:txBody>
                    <a:bodyPr wrap="square"/>
                    <a:lstStyle/>
                    <a:p>
                      <a:r>
                        <a:rPr sz="1100" b="1">
                          <a:solidFill>
                            <a:srgbClr val="FFFFFF"/>
                          </a:solidFill>
                          <a:latin typeface="Calibri"/>
                        </a:rPr>
                        <a:t>ρ</a:t>
                      </a:r>
                    </a:p>
                  </a:txBody>
                  <a:tcPr marL="54864" marR="54864" marT="27432" marB="27432" anchor="ctr">
                    <a:solidFill>
                      <a:srgbClr val="8C1515"/>
                    </a:solidFill>
                  </a:tcPr>
                </a:tc>
              </a:tr>
              <a:tr h="274320">
                <a:tc>
                  <a:txBody>
                    <a:bodyPr wrap="square"/>
                    <a:lstStyle/>
                    <a:p>
                      <a:r>
                        <a:rPr sz="1100" b="1">
                          <a:solidFill>
                            <a:srgbClr val="2E2D29"/>
                          </a:solidFill>
                          <a:latin typeface="Calibri"/>
                        </a:rPr>
                        <a:t>TST-STAN-5</a:t>
                      </a:r>
                    </a:p>
                  </a:txBody>
                  <a:tcPr marL="54864" marR="54864" marT="27432" marB="27432" anchor="ctr">
                    <a:solidFill>
                      <a:srgbClr val="FFFFFF"/>
                    </a:solidFill>
                  </a:tcPr>
                </a:tc>
                <a:tc>
                  <a:txBody>
                    <a:bodyPr wrap="square"/>
                    <a:lstStyle/>
                    <a:p>
                      <a:r>
                        <a:rPr sz="1100" b="0">
                          <a:solidFill>
                            <a:srgbClr val="007C92"/>
                          </a:solidFill>
                          <a:latin typeface="Calibri"/>
                        </a:rPr>
                        <a:t>34 / 3 / 16, 0.87</a:t>
                      </a:r>
                    </a:p>
                  </a:txBody>
                  <a:tcPr marL="54864" marR="54864" marT="27432" marB="27432" anchor="ctr">
                    <a:solidFill>
                      <a:srgbClr val="FFFFFF"/>
                    </a:solidFill>
                  </a:tcPr>
                </a:tc>
                <a:tc>
                  <a:txBody>
                    <a:bodyPr wrap="square"/>
                    <a:lstStyle/>
                    <a:p>
                      <a:r>
                        <a:rPr sz="1100" b="1">
                          <a:solidFill>
                            <a:srgbClr val="8C1515"/>
                          </a:solidFill>
                          <a:latin typeface="Calibri"/>
                        </a:rPr>
                        <a:t>33.6 / 1.3 / 15.4, 0.871</a:t>
                      </a:r>
                    </a:p>
                  </a:txBody>
                  <a:tcPr marL="54864" marR="54864" marT="27432" marB="27432" anchor="ctr">
                    <a:solidFill>
                      <a:srgbClr val="FFFFFF"/>
                    </a:solidFill>
                  </a:tcPr>
                </a:tc>
                <a:tc>
                  <a:txBody>
                    <a:bodyPr wrap="square"/>
                    <a:lstStyle/>
                    <a:p>
                      <a:r>
                        <a:rPr sz="1100" b="1">
                          <a:solidFill>
                            <a:srgbClr val="279989"/>
                          </a:solidFill>
                          <a:latin typeface="Calibri"/>
                        </a:rPr>
                        <a:t>34.8 / 2.9 / 15.9, 0.89  ✓</a:t>
                      </a:r>
                    </a:p>
                  </a:txBody>
                  <a:tcPr marL="54864" marR="54864" marT="27432" marB="27432" anchor="ctr">
                    <a:solidFill>
                      <a:srgbClr val="DCEFEC"/>
                    </a:solidFill>
                  </a:tcPr>
                </a:tc>
                <a:tc>
                  <a:txBody>
                    <a:bodyPr wrap="square"/>
                    <a:lstStyle/>
                    <a:p>
                      <a:r>
                        <a:rPr sz="1100" b="0">
                          <a:solidFill>
                            <a:srgbClr val="6B6965"/>
                          </a:solidFill>
                          <a:latin typeface="Calibri"/>
                        </a:rPr>
                        <a:t>34.8 / 2.8 / 15.8, 0.895</a:t>
                      </a:r>
                    </a:p>
                  </a:txBody>
                  <a:tcPr marL="54864" marR="54864" marT="27432" marB="27432" anchor="ctr">
                    <a:solidFill>
                      <a:srgbClr val="FFFFFF"/>
                    </a:solidFill>
                  </a:tcPr>
                </a:tc>
                <a:tc>
                  <a:txBody>
                    <a:bodyPr wrap="square"/>
                    <a:lstStyle/>
                    <a:p>
                      <a:r>
                        <a:rPr sz="1100" b="0">
                          <a:solidFill>
                            <a:srgbClr val="2E2D29"/>
                          </a:solidFill>
                          <a:latin typeface="Calibri"/>
                        </a:rPr>
                        <a:t>+1.5</a:t>
                      </a:r>
                    </a:p>
                  </a:txBody>
                  <a:tcPr marL="54864" marR="54864" marT="27432" marB="27432" anchor="ctr">
                    <a:solidFill>
                      <a:srgbClr val="FFFFFF"/>
                    </a:solidFill>
                  </a:tcPr>
                </a:tc>
                <a:tc>
                  <a:txBody>
                    <a:bodyPr wrap="square"/>
                    <a:lstStyle/>
                    <a:p>
                      <a:r>
                        <a:rPr sz="1100" b="0">
                          <a:solidFill>
                            <a:srgbClr val="2E2D29"/>
                          </a:solidFill>
                          <a:latin typeface="Calibri"/>
                        </a:rPr>
                        <a:t>≈ 1</a:t>
                      </a:r>
                    </a:p>
                  </a:txBody>
                  <a:tcPr marL="54864" marR="54864" marT="27432" marB="27432" anchor="ctr">
                    <a:solidFill>
                      <a:srgbClr val="FFFFFF"/>
                    </a:solidFill>
                  </a:tcPr>
                </a:tc>
              </a:tr>
              <a:tr h="274320">
                <a:tc>
                  <a:txBody>
                    <a:bodyPr wrap="square"/>
                    <a:lstStyle/>
                    <a:p>
                      <a:r>
                        <a:rPr sz="1100" b="1">
                          <a:solidFill>
                            <a:srgbClr val="2E2D29"/>
                          </a:solidFill>
                          <a:latin typeface="Calibri"/>
                        </a:rPr>
                        <a:t>TST-STAN-9</a:t>
                      </a:r>
                    </a:p>
                  </a:txBody>
                  <a:tcPr marL="54864" marR="54864" marT="27432" marB="27432" anchor="ctr">
                    <a:solidFill>
                      <a:srgbClr val="F2F1F0"/>
                    </a:solidFill>
                  </a:tcPr>
                </a:tc>
                <a:tc>
                  <a:txBody>
                    <a:bodyPr wrap="square"/>
                    <a:lstStyle/>
                    <a:p>
                      <a:r>
                        <a:rPr sz="1100" b="0">
                          <a:solidFill>
                            <a:srgbClr val="007C92"/>
                          </a:solidFill>
                          <a:latin typeface="Calibri"/>
                        </a:rPr>
                        <a:t>29 / 5 / 15, 0.903</a:t>
                      </a:r>
                    </a:p>
                  </a:txBody>
                  <a:tcPr marL="54864" marR="54864" marT="27432" marB="27432" anchor="ctr">
                    <a:solidFill>
                      <a:srgbClr val="F2F1F0"/>
                    </a:solidFill>
                  </a:tcPr>
                </a:tc>
                <a:tc>
                  <a:txBody>
                    <a:bodyPr wrap="square"/>
                    <a:lstStyle/>
                    <a:p>
                      <a:r>
                        <a:rPr sz="1100" b="1">
                          <a:solidFill>
                            <a:srgbClr val="8C1515"/>
                          </a:solidFill>
                          <a:latin typeface="Calibri"/>
                        </a:rPr>
                        <a:t>28.2 / 5.1 / 13.7, 0.885</a:t>
                      </a:r>
                    </a:p>
                  </a:txBody>
                  <a:tcPr marL="54864" marR="54864" marT="27432" marB="27432" anchor="ctr">
                    <a:solidFill>
                      <a:srgbClr val="F2F1F0"/>
                    </a:solidFill>
                  </a:tcPr>
                </a:tc>
                <a:tc>
                  <a:txBody>
                    <a:bodyPr wrap="square"/>
                    <a:lstStyle/>
                    <a:p>
                      <a:r>
                        <a:rPr sz="1100" b="0">
                          <a:solidFill>
                            <a:srgbClr val="2E2D29"/>
                          </a:solidFill>
                          <a:latin typeface="Calibri"/>
                        </a:rPr>
                        <a:t>32.0 / 4.3 / 14.7, 0.88</a:t>
                      </a:r>
                    </a:p>
                  </a:txBody>
                  <a:tcPr marL="54864" marR="54864" marT="27432" marB="27432" anchor="ctr">
                    <a:solidFill>
                      <a:srgbClr val="F2F1F0"/>
                    </a:solidFill>
                  </a:tcPr>
                </a:tc>
                <a:tc>
                  <a:txBody>
                    <a:bodyPr wrap="square"/>
                    <a:lstStyle/>
                    <a:p>
                      <a:r>
                        <a:rPr sz="1100" b="0">
                          <a:solidFill>
                            <a:srgbClr val="6B6965"/>
                          </a:solidFill>
                          <a:latin typeface="Calibri"/>
                        </a:rPr>
                        <a:t>30.9 / 4.9 / 15.2, 0.88</a:t>
                      </a:r>
                    </a:p>
                  </a:txBody>
                  <a:tcPr marL="54864" marR="54864" marT="27432" marB="27432" anchor="ctr">
                    <a:solidFill>
                      <a:srgbClr val="F2F1F0"/>
                    </a:solidFill>
                  </a:tcPr>
                </a:tc>
                <a:tc>
                  <a:txBody>
                    <a:bodyPr wrap="square"/>
                    <a:lstStyle/>
                    <a:p>
                      <a:r>
                        <a:rPr sz="1100" b="0">
                          <a:solidFill>
                            <a:srgbClr val="2E2D29"/>
                          </a:solidFill>
                          <a:latin typeface="Calibri"/>
                        </a:rPr>
                        <a:t>+4.6</a:t>
                      </a:r>
                    </a:p>
                  </a:txBody>
                  <a:tcPr marL="54864" marR="54864" marT="27432" marB="27432" anchor="ctr">
                    <a:solidFill>
                      <a:srgbClr val="F2F1F0"/>
                    </a:solidFill>
                  </a:tcPr>
                </a:tc>
                <a:tc>
                  <a:txBody>
                    <a:bodyPr wrap="square"/>
                    <a:lstStyle/>
                    <a:p>
                      <a:r>
                        <a:rPr sz="1100" b="0">
                          <a:solidFill>
                            <a:srgbClr val="2E2D29"/>
                          </a:solidFill>
                          <a:latin typeface="Calibri"/>
                        </a:rPr>
                        <a:t>0.67</a:t>
                      </a:r>
                    </a:p>
                  </a:txBody>
                  <a:tcPr marL="54864" marR="54864" marT="27432" marB="27432" anchor="ctr">
                    <a:solidFill>
                      <a:srgbClr val="F2F1F0"/>
                    </a:solidFill>
                  </a:tcPr>
                </a:tc>
              </a:tr>
              <a:tr h="274320">
                <a:tc>
                  <a:txBody>
                    <a:bodyPr wrap="square"/>
                    <a:lstStyle/>
                    <a:p>
                      <a:r>
                        <a:rPr sz="1100" b="1">
                          <a:solidFill>
                            <a:srgbClr val="2E2D29"/>
                          </a:solidFill>
                          <a:latin typeface="Calibri"/>
                        </a:rPr>
                        <a:t>TST-STAN-1</a:t>
                      </a:r>
                    </a:p>
                  </a:txBody>
                  <a:tcPr marL="54864" marR="54864" marT="27432" marB="27432" anchor="ctr">
                    <a:solidFill>
                      <a:srgbClr val="FFFFFF"/>
                    </a:solidFill>
                  </a:tcPr>
                </a:tc>
                <a:tc>
                  <a:txBody>
                    <a:bodyPr wrap="square"/>
                    <a:lstStyle/>
                    <a:p>
                      <a:r>
                        <a:rPr sz="1100" b="0">
                          <a:solidFill>
                            <a:srgbClr val="007C92"/>
                          </a:solidFill>
                          <a:latin typeface="Calibri"/>
                        </a:rPr>
                        <a:t>38 / 10 / 23, 0.71</a:t>
                      </a:r>
                    </a:p>
                  </a:txBody>
                  <a:tcPr marL="54864" marR="54864" marT="27432" marB="27432" anchor="ctr">
                    <a:solidFill>
                      <a:srgbClr val="FFFFFF"/>
                    </a:solidFill>
                  </a:tcPr>
                </a:tc>
                <a:tc>
                  <a:txBody>
                    <a:bodyPr wrap="square"/>
                    <a:lstStyle/>
                    <a:p>
                      <a:r>
                        <a:rPr sz="1100" b="1">
                          <a:solidFill>
                            <a:srgbClr val="8C1515"/>
                          </a:solidFill>
                          <a:latin typeface="Calibri"/>
                        </a:rPr>
                        <a:t>37.9 / 8.4 / 21.0, 0.694</a:t>
                      </a:r>
                    </a:p>
                  </a:txBody>
                  <a:tcPr marL="54864" marR="54864" marT="27432" marB="27432" anchor="ctr">
                    <a:solidFill>
                      <a:srgbClr val="FFFFFF"/>
                    </a:solidFill>
                  </a:tcPr>
                </a:tc>
                <a:tc>
                  <a:txBody>
                    <a:bodyPr wrap="square"/>
                    <a:lstStyle/>
                    <a:p>
                      <a:r>
                        <a:rPr sz="1100" b="0">
                          <a:solidFill>
                            <a:srgbClr val="2E2D29"/>
                          </a:solidFill>
                          <a:latin typeface="Calibri"/>
                        </a:rPr>
                        <a:t>42.4 / 6.4 / 21.2, 0.69</a:t>
                      </a:r>
                    </a:p>
                  </a:txBody>
                  <a:tcPr marL="54864" marR="54864" marT="27432" marB="27432" anchor="ctr">
                    <a:solidFill>
                      <a:srgbClr val="FFFFFF"/>
                    </a:solidFill>
                  </a:tcPr>
                </a:tc>
                <a:tc>
                  <a:txBody>
                    <a:bodyPr wrap="square"/>
                    <a:lstStyle/>
                    <a:p>
                      <a:r>
                        <a:rPr sz="1100" b="0">
                          <a:solidFill>
                            <a:srgbClr val="6B6965"/>
                          </a:solidFill>
                          <a:latin typeface="Calibri"/>
                        </a:rPr>
                        <a:t>42.2 / 6.4 / 21.2, 0.68</a:t>
                      </a:r>
                    </a:p>
                  </a:txBody>
                  <a:tcPr marL="54864" marR="54864" marT="27432" marB="27432" anchor="ctr">
                    <a:solidFill>
                      <a:srgbClr val="FFFFFF"/>
                    </a:solidFill>
                  </a:tcPr>
                </a:tc>
                <a:tc>
                  <a:txBody>
                    <a:bodyPr wrap="square"/>
                    <a:lstStyle/>
                    <a:p>
                      <a:r>
                        <a:rPr sz="1100" b="0">
                          <a:solidFill>
                            <a:srgbClr val="2E2D29"/>
                          </a:solidFill>
                          <a:latin typeface="Calibri"/>
                        </a:rPr>
                        <a:t>+6.6</a:t>
                      </a:r>
                    </a:p>
                  </a:txBody>
                  <a:tcPr marL="54864" marR="54864" marT="27432" marB="27432" anchor="ctr">
                    <a:solidFill>
                      <a:srgbClr val="FFFFFF"/>
                    </a:solidFill>
                  </a:tcPr>
                </a:tc>
                <a:tc>
                  <a:txBody>
                    <a:bodyPr wrap="square"/>
                    <a:lstStyle/>
                    <a:p>
                      <a:r>
                        <a:rPr sz="1100" b="0">
                          <a:solidFill>
                            <a:srgbClr val="2E2D29"/>
                          </a:solidFill>
                          <a:latin typeface="Calibri"/>
                        </a:rPr>
                        <a:t>0.77</a:t>
                      </a:r>
                    </a:p>
                  </a:txBody>
                  <a:tcPr marL="54864" marR="54864" marT="27432" marB="27432" anchor="ctr">
                    <a:solidFill>
                      <a:srgbClr val="FFFFFF"/>
                    </a:solidFill>
                  </a:tcPr>
                </a:tc>
              </a:tr>
              <a:tr h="274320">
                <a:tc>
                  <a:txBody>
                    <a:bodyPr wrap="square"/>
                    <a:lstStyle/>
                    <a:p>
                      <a:r>
                        <a:rPr sz="1100" b="1">
                          <a:solidFill>
                            <a:srgbClr val="2E2D29"/>
                          </a:solidFill>
                          <a:latin typeface="Calibri"/>
                        </a:rPr>
                        <a:t>TST-STAN-3</a:t>
                      </a:r>
                    </a:p>
                  </a:txBody>
                  <a:tcPr marL="54864" marR="54864" marT="27432" marB="27432" anchor="ctr">
                    <a:solidFill>
                      <a:srgbClr val="F2F1F0"/>
                    </a:solidFill>
                  </a:tcPr>
                </a:tc>
                <a:tc>
                  <a:txBody>
                    <a:bodyPr wrap="square"/>
                    <a:lstStyle/>
                    <a:p>
                      <a:r>
                        <a:rPr sz="1100" b="0">
                          <a:solidFill>
                            <a:srgbClr val="007C92"/>
                          </a:solidFill>
                          <a:latin typeface="Calibri"/>
                        </a:rPr>
                        <a:t>67 / 9 / 32, 0.446</a:t>
                      </a:r>
                    </a:p>
                  </a:txBody>
                  <a:tcPr marL="54864" marR="54864" marT="27432" marB="27432" anchor="ctr">
                    <a:solidFill>
                      <a:srgbClr val="F2F1F0"/>
                    </a:solidFill>
                  </a:tcPr>
                </a:tc>
                <a:tc>
                  <a:txBody>
                    <a:bodyPr wrap="square"/>
                    <a:lstStyle/>
                    <a:p>
                      <a:r>
                        <a:rPr sz="1100" b="1">
                          <a:solidFill>
                            <a:srgbClr val="8C1515"/>
                          </a:solidFill>
                          <a:latin typeface="Calibri"/>
                        </a:rPr>
                        <a:t>66.3 / 8.6 / 31.0, 0.454</a:t>
                      </a:r>
                    </a:p>
                  </a:txBody>
                  <a:tcPr marL="54864" marR="54864" marT="27432" marB="27432" anchor="ctr">
                    <a:solidFill>
                      <a:srgbClr val="F2F1F0"/>
                    </a:solidFill>
                  </a:tcPr>
                </a:tc>
                <a:tc>
                  <a:txBody>
                    <a:bodyPr wrap="square"/>
                    <a:lstStyle/>
                    <a:p>
                      <a:r>
                        <a:rPr sz="1100" b="0">
                          <a:solidFill>
                            <a:srgbClr val="2E2D29"/>
                          </a:solidFill>
                          <a:latin typeface="Calibri"/>
                        </a:rPr>
                        <a:t>73.5 / 7.7 / 29.9, 0.45</a:t>
                      </a:r>
                    </a:p>
                  </a:txBody>
                  <a:tcPr marL="54864" marR="54864" marT="27432" marB="27432" anchor="ctr">
                    <a:solidFill>
                      <a:srgbClr val="F2F1F0"/>
                    </a:solidFill>
                  </a:tcPr>
                </a:tc>
                <a:tc>
                  <a:txBody>
                    <a:bodyPr wrap="square"/>
                    <a:lstStyle/>
                    <a:p>
                      <a:r>
                        <a:rPr sz="1100" b="0">
                          <a:solidFill>
                            <a:srgbClr val="6B6965"/>
                          </a:solidFill>
                          <a:latin typeface="Calibri"/>
                        </a:rPr>
                        <a:t>88.4 / 8.0 / 34.4, 0.50</a:t>
                      </a:r>
                    </a:p>
                  </a:txBody>
                  <a:tcPr marL="54864" marR="54864" marT="27432" marB="27432" anchor="ctr">
                    <a:solidFill>
                      <a:srgbClr val="F2F1F0"/>
                    </a:solidFill>
                  </a:tcPr>
                </a:tc>
                <a:tc>
                  <a:txBody>
                    <a:bodyPr wrap="square"/>
                    <a:lstStyle/>
                    <a:p>
                      <a:r>
                        <a:rPr sz="1100" b="0">
                          <a:solidFill>
                            <a:srgbClr val="2E2D29"/>
                          </a:solidFill>
                          <a:latin typeface="Calibri"/>
                        </a:rPr>
                        <a:t>+8.1</a:t>
                      </a:r>
                    </a:p>
                  </a:txBody>
                  <a:tcPr marL="54864" marR="54864" marT="27432" marB="27432" anchor="ctr">
                    <a:solidFill>
                      <a:srgbClr val="F2F1F0"/>
                    </a:solidFill>
                  </a:tcPr>
                </a:tc>
                <a:tc>
                  <a:txBody>
                    <a:bodyPr wrap="square"/>
                    <a:lstStyle/>
                    <a:p>
                      <a:r>
                        <a:rPr sz="1100" b="0">
                          <a:solidFill>
                            <a:srgbClr val="2E2D29"/>
                          </a:solidFill>
                          <a:latin typeface="Calibri"/>
                        </a:rPr>
                        <a:t>0.63</a:t>
                      </a:r>
                    </a:p>
                  </a:txBody>
                  <a:tcPr marL="54864" marR="54864" marT="27432" marB="27432" anchor="ctr">
                    <a:solidFill>
                      <a:srgbClr val="F2F1F0"/>
                    </a:solidFill>
                  </a:tcPr>
                </a:tc>
              </a:tr>
              <a:tr h="274320">
                <a:tc>
                  <a:txBody>
                    <a:bodyPr wrap="square"/>
                    <a:lstStyle/>
                    <a:p>
                      <a:r>
                        <a:rPr sz="1100" b="1">
                          <a:solidFill>
                            <a:srgbClr val="2E2D29"/>
                          </a:solidFill>
                          <a:latin typeface="Calibri"/>
                        </a:rPr>
                        <a:t>TST-STAN-2</a:t>
                      </a:r>
                    </a:p>
                  </a:txBody>
                  <a:tcPr marL="54864" marR="54864" marT="27432" marB="27432" anchor="ctr">
                    <a:solidFill>
                      <a:srgbClr val="FFFFFF"/>
                    </a:solidFill>
                  </a:tcPr>
                </a:tc>
                <a:tc>
                  <a:txBody>
                    <a:bodyPr wrap="square"/>
                    <a:lstStyle/>
                    <a:p>
                      <a:r>
                        <a:rPr sz="1100" b="0">
                          <a:solidFill>
                            <a:srgbClr val="007C92"/>
                          </a:solidFill>
                          <a:latin typeface="Calibri"/>
                        </a:rPr>
                        <a:t>44 / 14 / 26, 0.762</a:t>
                      </a:r>
                    </a:p>
                  </a:txBody>
                  <a:tcPr marL="54864" marR="54864" marT="27432" marB="27432" anchor="ctr">
                    <a:solidFill>
                      <a:srgbClr val="FFFFFF"/>
                    </a:solidFill>
                  </a:tcPr>
                </a:tc>
                <a:tc>
                  <a:txBody>
                    <a:bodyPr wrap="square"/>
                    <a:lstStyle/>
                    <a:p>
                      <a:r>
                        <a:rPr sz="1100" b="1">
                          <a:solidFill>
                            <a:srgbClr val="8C1515"/>
                          </a:solidFill>
                          <a:latin typeface="Calibri"/>
                        </a:rPr>
                        <a:t>44.8 / 14.2 / 26.3, 0.779</a:t>
                      </a:r>
                    </a:p>
                  </a:txBody>
                  <a:tcPr marL="54864" marR="54864" marT="27432" marB="27432" anchor="ctr">
                    <a:solidFill>
                      <a:srgbClr val="FFFFFF"/>
                    </a:solidFill>
                  </a:tcPr>
                </a:tc>
                <a:tc>
                  <a:txBody>
                    <a:bodyPr wrap="square"/>
                    <a:lstStyle/>
                    <a:p>
                      <a:r>
                        <a:rPr sz="1100" b="0">
                          <a:solidFill>
                            <a:srgbClr val="2E2D29"/>
                          </a:solidFill>
                          <a:latin typeface="Calibri"/>
                        </a:rPr>
                        <a:t>50.5 / 12.4 / 25.6, 0.79</a:t>
                      </a:r>
                    </a:p>
                  </a:txBody>
                  <a:tcPr marL="54864" marR="54864" marT="27432" marB="27432" anchor="ctr">
                    <a:solidFill>
                      <a:srgbClr val="FFFFFF"/>
                    </a:solidFill>
                  </a:tcPr>
                </a:tc>
                <a:tc>
                  <a:txBody>
                    <a:bodyPr wrap="square"/>
                    <a:lstStyle/>
                    <a:p>
                      <a:r>
                        <a:rPr sz="1100" b="0">
                          <a:solidFill>
                            <a:srgbClr val="6B6965"/>
                          </a:solidFill>
                          <a:latin typeface="Calibri"/>
                        </a:rPr>
                        <a:t>62.5 / 11.8 / 27.5, 0.68</a:t>
                      </a:r>
                    </a:p>
                  </a:txBody>
                  <a:tcPr marL="54864" marR="54864" marT="27432" marB="27432" anchor="ctr">
                    <a:solidFill>
                      <a:srgbClr val="FFFFFF"/>
                    </a:solidFill>
                  </a:tcPr>
                </a:tc>
                <a:tc>
                  <a:txBody>
                    <a:bodyPr wrap="square"/>
                    <a:lstStyle/>
                    <a:p>
                      <a:r>
                        <a:rPr sz="1100" b="0">
                          <a:solidFill>
                            <a:srgbClr val="2E2D29"/>
                          </a:solidFill>
                          <a:latin typeface="Calibri"/>
                        </a:rPr>
                        <a:t>+7.4</a:t>
                      </a:r>
                    </a:p>
                  </a:txBody>
                  <a:tcPr marL="54864" marR="54864" marT="27432" marB="27432" anchor="ctr">
                    <a:solidFill>
                      <a:srgbClr val="FFFFFF"/>
                    </a:solidFill>
                  </a:tcPr>
                </a:tc>
                <a:tc>
                  <a:txBody>
                    <a:bodyPr wrap="square"/>
                    <a:lstStyle/>
                    <a:p>
                      <a:r>
                        <a:rPr sz="1100" b="0">
                          <a:solidFill>
                            <a:srgbClr val="2E2D29"/>
                          </a:solidFill>
                          <a:latin typeface="Calibri"/>
                        </a:rPr>
                        <a:t>0.58</a:t>
                      </a:r>
                    </a:p>
                  </a:txBody>
                  <a:tcPr marL="54864" marR="54864" marT="27432" marB="27432" anchor="ctr">
                    <a:solidFill>
                      <a:srgbClr val="FFFFFF"/>
                    </a:solidFill>
                  </a:tcPr>
                </a:tc>
              </a:tr>
            </a:tbl>
          </a:graphicData>
        </a:graphic>
      </p:graphicFrame>
      <p:sp>
        <p:nvSpPr>
          <p:cNvPr id="13" name="S2_status_chart_label"/>
          <p:cNvSpPr txBox="1"/>
          <p:nvPr/>
        </p:nvSpPr>
        <p:spPr>
          <a:xfrm>
            <a:off x="320040" y="3163824"/>
            <a:ext cx="4983480" cy="256032"/>
          </a:xfrm>
          <a:prstGeom prst="rect">
            <a:avLst/>
          </a:prstGeom>
          <a:noFill/>
        </p:spPr>
        <p:txBody>
          <a:bodyPr wrap="square" lIns="0" rIns="0" tIns="0" bIns="0" anchor="t">
            <a:noAutofit/>
          </a:bodyPr>
          <a:lstStyle/>
          <a:p>
            <a:pPr algn="l"/>
            <a:r>
              <a:rPr sz="1300" b="1" i="0">
                <a:solidFill>
                  <a:srgbClr val="2E2D29"/>
                </a:solidFill>
                <a:latin typeface="Calibri"/>
              </a:rPr>
              <a:t>Worst miss against the catheter, iteration 2 (in σ)</a:t>
            </a:r>
          </a:p>
        </p:txBody>
      </p:sp>
      <p:graphicFrame>
        <p:nvGraphicFramePr>
          <p:cNvPr id="14" name="S2_status_miss_chart"/>
          <p:cNvGraphicFramePr>
            <a:graphicFrameLocks noGrp="1"/>
          </p:cNvGraphicFramePr>
          <p:nvPr/>
        </p:nvGraphicFramePr>
        <p:xfrm>
          <a:off x="320040" y="3419856"/>
          <a:ext cx="4983480" cy="1261872"/>
        </p:xfrm>
        <a:graphic>
          <a:graphicData uri="http://schemas.openxmlformats.org/drawingml/2006/chart">
            <c:chart xmlns:c="http://schemas.openxmlformats.org/drawingml/2006/chart" r:id="rId2"/>
          </a:graphicData>
        </a:graphic>
      </p:graphicFrame>
      <p:sp>
        <p:nvSpPr>
          <p:cNvPr id="15" name="S2_status_rho_card"/>
          <p:cNvSpPr/>
          <p:nvPr/>
        </p:nvSpPr>
        <p:spPr>
          <a:xfrm>
            <a:off x="5440680" y="3200400"/>
            <a:ext cx="3383280" cy="1463040"/>
          </a:xfrm>
          <a:prstGeom prst="rect">
            <a:avLst/>
          </a:prstGeom>
          <a:solidFill>
            <a:srgbClr val="FFFFFF"/>
          </a:solidFill>
          <a:ln w="12700">
            <a:solidFill>
              <a:srgbClr val="E9830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noAutofit/>
          </a:bodyPr>
          <a:lstStyle/>
          <a:p>
            <a:pPr algn="l"/>
            <a:r>
              <a:rPr sz="1400" b="1" i="0">
                <a:solidFill>
                  <a:srgbClr val="E98300"/>
                </a:solidFill>
                <a:latin typeface="Calibri"/>
              </a:rPr>
              <a:t>Next: wall correction ρ</a:t>
            </a:r>
          </a:p>
          <a:p>
            <a:pPr algn="l">
              <a:spcBef>
                <a:spcPts val="300"/>
              </a:spcBef>
            </a:pPr>
            <a:r>
              <a:rPr sz="1200" b="0" i="0">
                <a:solidFill>
                  <a:srgbClr val="2E2D29"/>
                </a:solidFill>
                <a:latin typeface="Calibri"/>
              </a:rPr>
              <a:t>Tested on TST-STAN-3 (next slide): overshoots. ρ multiplies the 3D wall modulus E; ρ &lt; 1 softens the wall so the 3D pulse matches the 0D fit.</a:t>
            </a:r>
          </a:p>
          <a:p>
            <a:pPr algn="l">
              <a:spcBef>
                <a:spcPts val="300"/>
              </a:spcBef>
            </a:pPr>
            <a:r>
              <a:rPr sz="1200" b="0" i="0">
                <a:solidFill>
                  <a:srgbClr val="6B6965"/>
                </a:solidFill>
                <a:latin typeface="Calibri"/>
              </a:rPr>
              <a:t>Largest correction: TST-STAN-2 (ρ = 0.58).</a:t>
            </a:r>
          </a:p>
        </p:txBody>
      </p:sp>
      <p:sp>
        <p:nvSpPr>
          <p:cNvPr id="16" name="S2_status_takeaway"/>
          <p:cNvSpPr/>
          <p:nvPr/>
        </p:nvSpPr>
        <p:spPr>
          <a:xfrm>
            <a:off x="320040" y="4736592"/>
            <a:ext cx="8503920" cy="3657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0D fits all five within 1σ; outside TST-STAN-5, the 3D run widens the pulse by 5 to 8 mmHg.</a:t>
            </a:r>
          </a:p>
        </p:txBody>
      </p:sp>
      <p:sp>
        <p:nvSpPr>
          <p:cNvPr id="17" name="S2_status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Archived 2026-10-25. Replaced by: Final pre-op fit: every pressure within 2.6 mmHg. Reason: Iteration-2 status superseded by the frozen protocol v1 result (iteration 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What changed: two-branch RRI to full branched 0D</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700" b="1">
                <a:solidFill>
                  <a:srgbClr val="6B6965"/>
                </a:solidFill>
                <a:latin typeface="Calibri"/>
              </a:rPr>
              <a:t>ARCHIVED</a:t>
            </a:r>
          </a:p>
        </p:txBody>
      </p:sp>
      <p:sp>
        <p:nvSpPr>
          <p:cNvPr id="12" name="S2_changed_prev_card"/>
          <p:cNvSpPr/>
          <p:nvPr/>
        </p:nvSpPr>
        <p:spPr>
          <a:xfrm>
            <a:off x="320040" y="1417320"/>
            <a:ext cx="3383280" cy="31546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13" name="S2_changed_prev_head"/>
          <p:cNvSpPr txBox="1"/>
          <p:nvPr/>
        </p:nvSpPr>
        <p:spPr>
          <a:xfrm>
            <a:off x="457200" y="1481328"/>
            <a:ext cx="3108960" cy="292608"/>
          </a:xfrm>
          <a:prstGeom prst="rect">
            <a:avLst/>
          </a:prstGeom>
          <a:noFill/>
        </p:spPr>
        <p:txBody>
          <a:bodyPr wrap="square" lIns="73152" rIns="73152" anchor="t">
            <a:noAutofit/>
          </a:bodyPr>
          <a:lstStyle/>
          <a:p>
            <a:pPr algn="l"/>
            <a:r>
              <a:rPr sz="1400" b="1" i="0">
                <a:solidFill>
                  <a:srgbClr val="6B6965"/>
                </a:solidFill>
                <a:latin typeface="Calibri"/>
              </a:rPr>
              <a:t>Previous: two-branch RRI</a:t>
            </a:r>
          </a:p>
        </p:txBody>
      </p:sp>
      <p:sp>
        <p:nvSpPr>
          <p:cNvPr id="14" name="S2_changed_prev_mpa"/>
          <p:cNvSpPr/>
          <p:nvPr/>
        </p:nvSpPr>
        <p:spPr>
          <a:xfrm>
            <a:off x="502920" y="2331720"/>
            <a:ext cx="6858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6B6965"/>
                </a:solidFill>
                <a:latin typeface="Calibri"/>
              </a:rPr>
              <a:t>MPA</a:t>
            </a:r>
          </a:p>
        </p:txBody>
      </p:sp>
      <p:sp>
        <p:nvSpPr>
          <p:cNvPr id="15" name="S2_changed_prev_lpa"/>
          <p:cNvSpPr/>
          <p:nvPr/>
        </p:nvSpPr>
        <p:spPr>
          <a:xfrm>
            <a:off x="1417320" y="1874519"/>
            <a:ext cx="10972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6B6965"/>
                </a:solidFill>
                <a:latin typeface="Calibri"/>
              </a:rPr>
              <a:t>LPA leg</a:t>
            </a:r>
          </a:p>
        </p:txBody>
      </p:sp>
      <p:sp>
        <p:nvSpPr>
          <p:cNvPr id="16" name="S2_changed_prev_rpa"/>
          <p:cNvSpPr/>
          <p:nvPr/>
        </p:nvSpPr>
        <p:spPr>
          <a:xfrm>
            <a:off x="1417320" y="2834640"/>
            <a:ext cx="10972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6B6965"/>
                </a:solidFill>
                <a:latin typeface="Calibri"/>
              </a:rPr>
              <a:t>RPA leg</a:t>
            </a:r>
          </a:p>
        </p:txBody>
      </p:sp>
      <p:sp>
        <p:nvSpPr>
          <p:cNvPr id="17" name="S2_changed_prev_tree_l"/>
          <p:cNvSpPr/>
          <p:nvPr/>
        </p:nvSpPr>
        <p:spPr>
          <a:xfrm>
            <a:off x="2743200" y="1874519"/>
            <a:ext cx="8229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0" i="0">
                <a:solidFill>
                  <a:srgbClr val="6B6965"/>
                </a:solidFill>
                <a:latin typeface="Calibri"/>
              </a:rPr>
              <a:t>1 tree</a:t>
            </a:r>
          </a:p>
        </p:txBody>
      </p:sp>
      <p:sp>
        <p:nvSpPr>
          <p:cNvPr id="18" name="S2_changed_prev_tree_r"/>
          <p:cNvSpPr/>
          <p:nvPr/>
        </p:nvSpPr>
        <p:spPr>
          <a:xfrm>
            <a:off x="2743200" y="2834640"/>
            <a:ext cx="8229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0" i="0">
                <a:solidFill>
                  <a:srgbClr val="6B6965"/>
                </a:solidFill>
                <a:latin typeface="Calibri"/>
              </a:rPr>
              <a:t>1 tree</a:t>
            </a:r>
          </a:p>
        </p:txBody>
      </p:sp>
      <p:cxnSp>
        <p:nvCxnSpPr>
          <p:cNvPr id="19" name="S2_changed_prev_a1"/>
          <p:cNvCxnSpPr>
            <a:stCxn id="14" idx="0"/>
            <a:endCxn id="15" idx="1"/>
          </p:cNvCxnSpPr>
          <p:nvPr/>
        </p:nvCxnSpPr>
        <p:spPr>
          <a:xfrm flipV="1">
            <a:off x="845820" y="2103119"/>
            <a:ext cx="571500" cy="228601"/>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S2_changed_prev_a2"/>
          <p:cNvCxnSpPr>
            <a:stCxn id="14" idx="2"/>
            <a:endCxn id="16" idx="1"/>
          </p:cNvCxnSpPr>
          <p:nvPr/>
        </p:nvCxnSpPr>
        <p:spPr>
          <a:xfrm>
            <a:off x="845820" y="2834640"/>
            <a:ext cx="571500" cy="22860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S2_changed_prev_a3"/>
          <p:cNvCxnSpPr>
            <a:stCxn id="15" idx="3"/>
            <a:endCxn id="17" idx="1"/>
          </p:cNvCxnSpPr>
          <p:nvPr/>
        </p:nvCxnSpPr>
        <p:spPr>
          <a:xfrm flipV="1">
            <a:off x="2514600" y="2103119"/>
            <a:ext cx="22860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S2_changed_prev_a4"/>
          <p:cNvCxnSpPr>
            <a:stCxn id="16" idx="3"/>
            <a:endCxn id="18" idx="1"/>
          </p:cNvCxnSpPr>
          <p:nvPr/>
        </p:nvCxnSpPr>
        <p:spPr>
          <a:xfrm flipV="1">
            <a:off x="2514600" y="3063240"/>
            <a:ext cx="22860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2_changed_prev_text"/>
          <p:cNvSpPr txBox="1"/>
          <p:nvPr/>
        </p:nvSpPr>
        <p:spPr>
          <a:xfrm>
            <a:off x="457200" y="3474720"/>
            <a:ext cx="3108960" cy="1051560"/>
          </a:xfrm>
          <a:prstGeom prst="rect">
            <a:avLst/>
          </a:prstGeom>
          <a:noFill/>
        </p:spPr>
        <p:txBody>
          <a:bodyPr wrap="square" lIns="73152" rIns="73152" anchor="t">
            <a:noAutofit/>
          </a:bodyPr>
          <a:lstStyle/>
          <a:p>
            <a:pPr algn="l"/>
            <a:r>
              <a:rPr sz="1300" b="0" i="0">
                <a:solidFill>
                  <a:srgbClr val="6B6965"/>
                </a:solidFill>
                <a:latin typeface="Calibri"/>
              </a:rPr>
              <a:t>Each side lumped into one leg (R, nonlinear R, L) with one tree, so trees could not map to individual 3D outlets.</a:t>
            </a:r>
          </a:p>
        </p:txBody>
      </p:sp>
      <p:sp>
        <p:nvSpPr>
          <p:cNvPr id="24" name="S2_changed_trigger"/>
          <p:cNvSpPr/>
          <p:nvPr/>
        </p:nvSpPr>
        <p:spPr>
          <a:xfrm>
            <a:off x="3840480" y="2103120"/>
            <a:ext cx="1463040" cy="1463040"/>
          </a:xfrm>
          <a:prstGeom prst="roundRect">
            <a:avLst/>
          </a:prstGeom>
          <a:solidFill>
            <a:srgbClr val="FFFFFF"/>
          </a:solidFill>
          <a:ln w="1270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400" b="1" i="0">
                <a:solidFill>
                  <a:srgbClr val="2E2D29"/>
                </a:solidFill>
                <a:latin typeface="Calibri"/>
              </a:rPr>
              <a:t>Can the 0D model give every 3D outlet its own tuned tree?</a:t>
            </a:r>
          </a:p>
        </p:txBody>
      </p:sp>
      <p:sp>
        <p:nvSpPr>
          <p:cNvPr id="25" name="S2_changed_curr_card"/>
          <p:cNvSpPr/>
          <p:nvPr/>
        </p:nvSpPr>
        <p:spPr>
          <a:xfrm>
            <a:off x="5440680" y="1417320"/>
            <a:ext cx="3383280" cy="3154680"/>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r>
              <a:rPr sz="1400" b="0" i="0">
                <a:solidFill>
                  <a:srgbClr val="2E2D29"/>
                </a:solidFill>
                <a:latin typeface="Calibri"/>
              </a:rPr>
              <a:t/>
            </a:r>
          </a:p>
        </p:txBody>
      </p:sp>
      <p:sp>
        <p:nvSpPr>
          <p:cNvPr id="26" name="S2_changed_curr_head"/>
          <p:cNvSpPr txBox="1"/>
          <p:nvPr/>
        </p:nvSpPr>
        <p:spPr>
          <a:xfrm>
            <a:off x="5577840" y="1481328"/>
            <a:ext cx="3108960" cy="292608"/>
          </a:xfrm>
          <a:prstGeom prst="rect">
            <a:avLst/>
          </a:prstGeom>
          <a:noFill/>
        </p:spPr>
        <p:txBody>
          <a:bodyPr wrap="square" lIns="73152" rIns="73152" anchor="t">
            <a:noAutofit/>
          </a:bodyPr>
          <a:lstStyle/>
          <a:p>
            <a:pPr algn="l"/>
            <a:r>
              <a:rPr sz="1400" b="1" i="0">
                <a:solidFill>
                  <a:srgbClr val="8C1515"/>
                </a:solidFill>
                <a:latin typeface="Calibri"/>
              </a:rPr>
              <a:t>Current: full branched 0D</a:t>
            </a:r>
          </a:p>
        </p:txBody>
      </p:sp>
      <p:sp>
        <p:nvSpPr>
          <p:cNvPr id="27" name="S2_changed_curr_network"/>
          <p:cNvSpPr/>
          <p:nvPr/>
        </p:nvSpPr>
        <p:spPr>
          <a:xfrm>
            <a:off x="5623560" y="1874519"/>
            <a:ext cx="3017520" cy="50292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r>
              <a:rPr sz="1200" b="1" i="0">
                <a:solidFill>
                  <a:srgbClr val="FFFFFF"/>
                </a:solidFill>
                <a:latin typeface="Calibri"/>
              </a:rPr>
              <a:t>Branched network along the 3D centerline</a:t>
            </a:r>
          </a:p>
        </p:txBody>
      </p:sp>
      <p:sp>
        <p:nvSpPr>
          <p:cNvPr id="28" name="S2_changed_curr_tree_1"/>
          <p:cNvSpPr/>
          <p:nvPr/>
        </p:nvSpPr>
        <p:spPr>
          <a:xfrm>
            <a:off x="5669280" y="269748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400" b="1" i="0">
                <a:solidFill>
                  <a:srgbClr val="8C1515"/>
                </a:solidFill>
                <a:latin typeface="Calibri"/>
              </a:rPr>
              <a:t>T</a:t>
            </a:r>
          </a:p>
        </p:txBody>
      </p:sp>
      <p:cxnSp>
        <p:nvCxnSpPr>
          <p:cNvPr id="29" name="S2_changed_curr_arrow_1"/>
          <p:cNvCxnSpPr>
            <a:stCxn id="27" idx="2"/>
            <a:endCxn id="28" idx="0"/>
          </p:cNvCxnSpPr>
          <p:nvPr/>
        </p:nvCxnSpPr>
        <p:spPr>
          <a:xfrm flipH="1">
            <a:off x="5861304" y="2377439"/>
            <a:ext cx="1271016" cy="320041"/>
          </a:xfrm>
          <a:prstGeom prst="line">
            <a:avLst/>
          </a:prstGeom>
          <a:ln w="12700">
            <a:solidFill>
              <a:srgbClr val="8C151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S2_changed_curr_tree_2"/>
          <p:cNvSpPr/>
          <p:nvPr/>
        </p:nvSpPr>
        <p:spPr>
          <a:xfrm>
            <a:off x="6181344" y="269748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400" b="1" i="0">
                <a:solidFill>
                  <a:srgbClr val="8C1515"/>
                </a:solidFill>
                <a:latin typeface="Calibri"/>
              </a:rPr>
              <a:t>T</a:t>
            </a:r>
          </a:p>
        </p:txBody>
      </p:sp>
      <p:cxnSp>
        <p:nvCxnSpPr>
          <p:cNvPr id="31" name="S2_changed_curr_arrow_2"/>
          <p:cNvCxnSpPr>
            <a:stCxn id="27" idx="2"/>
            <a:endCxn id="30" idx="0"/>
          </p:cNvCxnSpPr>
          <p:nvPr/>
        </p:nvCxnSpPr>
        <p:spPr>
          <a:xfrm flipH="1">
            <a:off x="6373368" y="2377439"/>
            <a:ext cx="758952" cy="320041"/>
          </a:xfrm>
          <a:prstGeom prst="line">
            <a:avLst/>
          </a:prstGeom>
          <a:ln w="12700">
            <a:solidFill>
              <a:srgbClr val="8C151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S2_changed_curr_tree_3"/>
          <p:cNvSpPr/>
          <p:nvPr/>
        </p:nvSpPr>
        <p:spPr>
          <a:xfrm>
            <a:off x="6693408" y="269748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400" b="1" i="0">
                <a:solidFill>
                  <a:srgbClr val="8C1515"/>
                </a:solidFill>
                <a:latin typeface="Calibri"/>
              </a:rPr>
              <a:t>T</a:t>
            </a:r>
          </a:p>
        </p:txBody>
      </p:sp>
      <p:cxnSp>
        <p:nvCxnSpPr>
          <p:cNvPr id="33" name="S2_changed_curr_arrow_3"/>
          <p:cNvCxnSpPr>
            <a:stCxn id="27" idx="2"/>
            <a:endCxn id="32" idx="0"/>
          </p:cNvCxnSpPr>
          <p:nvPr/>
        </p:nvCxnSpPr>
        <p:spPr>
          <a:xfrm flipH="1">
            <a:off x="6885432" y="2377439"/>
            <a:ext cx="246888" cy="320041"/>
          </a:xfrm>
          <a:prstGeom prst="line">
            <a:avLst/>
          </a:prstGeom>
          <a:ln w="12700">
            <a:solidFill>
              <a:srgbClr val="8C151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S2_changed_curr_tree_4"/>
          <p:cNvSpPr/>
          <p:nvPr/>
        </p:nvSpPr>
        <p:spPr>
          <a:xfrm>
            <a:off x="7205472" y="269748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400" b="1" i="0">
                <a:solidFill>
                  <a:srgbClr val="8C1515"/>
                </a:solidFill>
                <a:latin typeface="Calibri"/>
              </a:rPr>
              <a:t>T</a:t>
            </a:r>
          </a:p>
        </p:txBody>
      </p:sp>
      <p:cxnSp>
        <p:nvCxnSpPr>
          <p:cNvPr id="35" name="S2_changed_curr_arrow_4"/>
          <p:cNvCxnSpPr>
            <a:stCxn id="27" idx="2"/>
            <a:endCxn id="34" idx="0"/>
          </p:cNvCxnSpPr>
          <p:nvPr/>
        </p:nvCxnSpPr>
        <p:spPr>
          <a:xfrm>
            <a:off x="7132320" y="2377439"/>
            <a:ext cx="265176" cy="320041"/>
          </a:xfrm>
          <a:prstGeom prst="line">
            <a:avLst/>
          </a:prstGeom>
          <a:ln w="12700">
            <a:solidFill>
              <a:srgbClr val="8C151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S2_changed_curr_tree_5"/>
          <p:cNvSpPr/>
          <p:nvPr/>
        </p:nvSpPr>
        <p:spPr>
          <a:xfrm>
            <a:off x="7717536" y="269748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400" b="1" i="0">
                <a:solidFill>
                  <a:srgbClr val="8C1515"/>
                </a:solidFill>
                <a:latin typeface="Calibri"/>
              </a:rPr>
              <a:t>T</a:t>
            </a:r>
          </a:p>
        </p:txBody>
      </p:sp>
      <p:cxnSp>
        <p:nvCxnSpPr>
          <p:cNvPr id="37" name="S2_changed_curr_arrow_5"/>
          <p:cNvCxnSpPr>
            <a:stCxn id="27" idx="2"/>
            <a:endCxn id="36" idx="0"/>
          </p:cNvCxnSpPr>
          <p:nvPr/>
        </p:nvCxnSpPr>
        <p:spPr>
          <a:xfrm>
            <a:off x="7132320" y="2377439"/>
            <a:ext cx="777240" cy="320041"/>
          </a:xfrm>
          <a:prstGeom prst="line">
            <a:avLst/>
          </a:prstGeom>
          <a:ln w="12700">
            <a:solidFill>
              <a:srgbClr val="8C151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S2_changed_curr_tree_6"/>
          <p:cNvSpPr/>
          <p:nvPr/>
        </p:nvSpPr>
        <p:spPr>
          <a:xfrm>
            <a:off x="8229600" y="269748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400" b="1" i="0">
                <a:solidFill>
                  <a:srgbClr val="8C1515"/>
                </a:solidFill>
                <a:latin typeface="Calibri"/>
              </a:rPr>
              <a:t>T</a:t>
            </a:r>
          </a:p>
        </p:txBody>
      </p:sp>
      <p:cxnSp>
        <p:nvCxnSpPr>
          <p:cNvPr id="39" name="S2_changed_curr_arrow_6"/>
          <p:cNvCxnSpPr>
            <a:stCxn id="27" idx="2"/>
            <a:endCxn id="38" idx="0"/>
          </p:cNvCxnSpPr>
          <p:nvPr/>
        </p:nvCxnSpPr>
        <p:spPr>
          <a:xfrm>
            <a:off x="7132320" y="2377439"/>
            <a:ext cx="1289304" cy="320041"/>
          </a:xfrm>
          <a:prstGeom prst="line">
            <a:avLst/>
          </a:prstGeom>
          <a:ln w="12700">
            <a:solidFill>
              <a:srgbClr val="8C151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S2_changed_curr_tree_label"/>
          <p:cNvSpPr txBox="1"/>
          <p:nvPr/>
        </p:nvSpPr>
        <p:spPr>
          <a:xfrm>
            <a:off x="5577840" y="3154680"/>
            <a:ext cx="3108960" cy="274320"/>
          </a:xfrm>
          <a:prstGeom prst="rect">
            <a:avLst/>
          </a:prstGeom>
          <a:noFill/>
        </p:spPr>
        <p:txBody>
          <a:bodyPr wrap="square" lIns="73152" rIns="73152" anchor="t">
            <a:noAutofit/>
          </a:bodyPr>
          <a:lstStyle/>
          <a:p>
            <a:pPr algn="ctr"/>
            <a:r>
              <a:rPr sz="1100" b="0" i="0">
                <a:solidFill>
                  <a:srgbClr val="8C1515"/>
                </a:solidFill>
                <a:latin typeface="Calibri"/>
              </a:rPr>
              <a:t>one tree per outlet cap</a:t>
            </a:r>
          </a:p>
        </p:txBody>
      </p:sp>
      <p:sp>
        <p:nvSpPr>
          <p:cNvPr id="41" name="S2_changed_curr_text"/>
          <p:cNvSpPr txBox="1"/>
          <p:nvPr/>
        </p:nvSpPr>
        <p:spPr>
          <a:xfrm>
            <a:off x="5577840" y="3474720"/>
            <a:ext cx="3108960" cy="1051560"/>
          </a:xfrm>
          <a:prstGeom prst="rect">
            <a:avLst/>
          </a:prstGeom>
          <a:noFill/>
        </p:spPr>
        <p:txBody>
          <a:bodyPr wrap="square" lIns="73152" rIns="73152" anchor="t">
            <a:noAutofit/>
          </a:bodyPr>
          <a:lstStyle/>
          <a:p>
            <a:pPr algn="l"/>
            <a:r>
              <a:rPr sz="1300" b="0" i="0">
                <a:solidFill>
                  <a:srgbClr val="2E2D29"/>
                </a:solidFill>
                <a:latin typeface="Calibri"/>
              </a:rPr>
              <a:t>Seeded by learnedZeroD, refit to 3D by svZeroDCalibrator; caps mapped through the centerline.</a:t>
            </a:r>
          </a:p>
        </p:txBody>
      </p:sp>
      <p:sp>
        <p:nvSpPr>
          <p:cNvPr id="42" name="S2_changed_evidence_line"/>
          <p:cNvSpPr txBox="1"/>
          <p:nvPr/>
        </p:nvSpPr>
        <p:spPr>
          <a:xfrm>
            <a:off x="320040" y="4626864"/>
            <a:ext cx="8503920" cy="256032"/>
          </a:xfrm>
          <a:prstGeom prst="rect">
            <a:avLst/>
          </a:prstGeom>
          <a:noFill/>
        </p:spPr>
        <p:txBody>
          <a:bodyPr wrap="square" lIns="0" rIns="0" tIns="0" bIns="0" anchor="ctr">
            <a:noAutofit/>
          </a:bodyPr>
          <a:lstStyle/>
          <a:p>
            <a:pPr algn="l"/>
            <a:r>
              <a:rPr sz="1100" b="0" i="0">
                <a:solidFill>
                  <a:srgbClr val="6B6965"/>
                </a:solidFill>
                <a:latin typeface="Calibri"/>
              </a:rPr>
              <a:t>TST-STAN-5 pressure RMSE vs 3D: RRI 1.42, full model 1.58 mmHg.   Planned: chi-squared 3D iteration gate.</a:t>
            </a:r>
          </a:p>
        </p:txBody>
      </p:sp>
      <p:sp>
        <p:nvSpPr>
          <p:cNvPr id="43" name="S2_changed_takeaway"/>
          <p:cNvSpPr/>
          <p:nvPr/>
        </p:nvSpPr>
        <p:spPr>
          <a:xfrm>
            <a:off x="320040" y="4901184"/>
            <a:ext cx="8503920" cy="34747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noAutofit/>
          </a:bodyPr>
          <a:lstStyle/>
          <a:p>
            <a:pPr algn="l"/>
            <a:r>
              <a:rPr sz="1400" b="1" i="0">
                <a:solidFill>
                  <a:srgbClr val="8C1515"/>
                </a:solidFill>
                <a:latin typeface="Calibri"/>
              </a:rPr>
              <a:t>Same pressure accuracy as RRI, plus one tree per outlet, which per-cap 3D coupling and adaptation need.</a:t>
            </a:r>
          </a:p>
        </p:txBody>
      </p:sp>
      <p:sp>
        <p:nvSpPr>
          <p:cNvPr id="44" name="S2_changed_footnote"/>
          <p:cNvSpPr txBox="1"/>
          <p:nvPr/>
        </p:nvSpPr>
        <p:spPr>
          <a:xfrm>
            <a:off x="2011680" y="5358384"/>
            <a:ext cx="6812280" cy="237744"/>
          </a:xfrm>
          <a:prstGeom prst="rect">
            <a:avLst/>
          </a:prstGeom>
          <a:noFill/>
        </p:spPr>
        <p:txBody>
          <a:bodyPr wrap="square" lIns="0" rIns="0" tIns="0" bIns="0" anchor="ctr">
            <a:noAutofit/>
          </a:bodyPr>
          <a:lstStyle/>
          <a:p>
            <a:pPr algn="l"/>
            <a:r>
              <a:rPr sz="700" b="0" i="1">
                <a:solidFill>
                  <a:srgbClr val="6B6965"/>
                </a:solidFill>
                <a:latin typeface="Calibri"/>
              </a:rPr>
              <a:t>Archived 2026-10-25. Replaced by: What changed: hand-picked iteration to protocol v1. Reason: Two steps back: protocol v1 is now the newest Stage 2 change; RRI noted on the new slide..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Constraints added or changed with the tied multiplier</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316736"/>
            <a:ext cx="4754880" cy="219456"/>
          </a:xfrm>
          <a:prstGeom prst="rect">
            <a:avLst/>
          </a:prstGeom>
          <a:noFill/>
        </p:spPr>
        <p:txBody>
          <a:bodyPr wrap="square" lIns="0" rIns="0" tIns="0" bIns="0" anchor="t">
            <a:spAutoFit/>
          </a:bodyPr>
          <a:lstStyle/>
          <a:p>
            <a:pPr algn="l"/>
            <a:r>
              <a:rPr sz="1000" b="1" i="0">
                <a:solidFill>
                  <a:srgbClr val="8C1515"/>
                </a:solidFill>
                <a:latin typeface="Calibri"/>
              </a:rPr>
              <a:t>Resistance-side options on top of tied s (TST-STAN-3, χ²)</a:t>
            </a:r>
          </a:p>
        </p:txBody>
      </p:sp>
      <p:graphicFrame>
        <p:nvGraphicFramePr>
          <p:cNvPr id="13" name="Chart 19"/>
          <p:cNvGraphicFramePr>
            <a:graphicFrameLocks noGrp="1"/>
          </p:cNvGraphicFramePr>
          <p:nvPr/>
        </p:nvGraphicFramePr>
        <p:xfrm>
          <a:off x="320040" y="1554480"/>
          <a:ext cx="4754880" cy="2286000"/>
        </p:xfrm>
        <a:graphic>
          <a:graphicData uri="http://schemas.openxmlformats.org/drawingml/2006/chart">
            <c:chart xmlns:c="http://schemas.openxmlformats.org/drawingml/2006/chart" r:id="rId2"/>
          </a:graphicData>
        </a:graphic>
      </p:graphicFrame>
      <p:sp>
        <p:nvSpPr>
          <p:cNvPr id="14" name="TextBox 20"/>
          <p:cNvSpPr txBox="1"/>
          <p:nvPr/>
        </p:nvSpPr>
        <p:spPr>
          <a:xfrm>
            <a:off x="320040" y="3858768"/>
            <a:ext cx="4754880" cy="731520"/>
          </a:xfrm>
          <a:prstGeom prst="rect">
            <a:avLst/>
          </a:prstGeom>
          <a:noFill/>
        </p:spPr>
        <p:txBody>
          <a:bodyPr wrap="square" lIns="0" rIns="0" tIns="0" bIns="0" anchor="t">
            <a:spAutoFit/>
          </a:bodyPr>
          <a:lstStyle/>
          <a:p>
            <a:pPr algn="l">
              <a:spcAft>
                <a:spcPts val="100"/>
              </a:spcAft>
            </a:pPr>
            <a:r>
              <a:rPr sz="750" b="0" i="0">
                <a:solidFill>
                  <a:srgbClr val="2E2D29"/>
                </a:solidFill>
                <a:latin typeface="Calibri"/>
              </a:rPr>
              <a:t>• ξ ≥ 2.1: rpa ξ lands at 2.17, inside the bound; measured pulmonary ξ 2.1–2.6 (Miles 2025)</a:t>
            </a:r>
          </a:p>
          <a:p>
            <a:pPr algn="l">
              <a:spcAft>
                <a:spcPts val="100"/>
              </a:spcAft>
            </a:pPr>
            <a:r>
              <a:rPr sz="750" b="0" i="0">
                <a:solidFill>
                  <a:srgbClr val="2E2D29"/>
                </a:solidFill>
                <a:latin typeface="Calibri"/>
              </a:rPr>
              <a:t>• l_rr 20 fits but is not morphometric; a free l_rr is not identifiable (14 and 20 both fit)</a:t>
            </a:r>
          </a:p>
          <a:p>
            <a:pPr algn="l">
              <a:spcAft>
                <a:spcPts val="100"/>
              </a:spcAft>
            </a:pPr>
            <a:r>
              <a:rPr sz="750" b="0" i="0">
                <a:solidFill>
                  <a:srgbClr val="2E2D29"/>
                </a:solidFill>
                <a:latin typeface="Calibri"/>
              </a:rPr>
              <a:t>• s stays 6.6–8.2 under every resistance change</a:t>
            </a:r>
          </a:p>
        </p:txBody>
      </p:sp>
      <p:sp>
        <p:nvSpPr>
          <p:cNvPr id="15" name="TextBox 21"/>
          <p:cNvSpPr txBox="1"/>
          <p:nvPr/>
        </p:nvSpPr>
        <p:spPr>
          <a:xfrm>
            <a:off x="5257800" y="1316736"/>
            <a:ext cx="3566160" cy="219456"/>
          </a:xfrm>
          <a:prstGeom prst="rect">
            <a:avLst/>
          </a:prstGeom>
          <a:noFill/>
        </p:spPr>
        <p:txBody>
          <a:bodyPr wrap="square" lIns="0" rIns="0" tIns="0" bIns="0" anchor="t">
            <a:spAutoFit/>
          </a:bodyPr>
          <a:lstStyle/>
          <a:p>
            <a:pPr algn="l"/>
            <a:r>
              <a:rPr sz="1000" b="1" i="0">
                <a:solidFill>
                  <a:srgbClr val="8C1515"/>
                </a:solidFill>
                <a:latin typeface="Calibri"/>
              </a:rPr>
              <a:t>What the config now enforces</a:t>
            </a:r>
          </a:p>
        </p:txBody>
      </p:sp>
      <p:sp>
        <p:nvSpPr>
          <p:cNvPr id="16" name="Rectangle 22"/>
          <p:cNvSpPr/>
          <p:nvPr/>
        </p:nvSpPr>
        <p:spPr>
          <a:xfrm>
            <a:off x="5257800" y="1591056"/>
            <a:ext cx="3566160" cy="4572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7" name="Rounded Rectangle 23"/>
          <p:cNvSpPr/>
          <p:nvPr/>
        </p:nvSpPr>
        <p:spPr>
          <a:xfrm>
            <a:off x="5330952" y="1719072"/>
            <a:ext cx="685800" cy="201168"/>
          </a:xfrm>
          <a:prstGeom prst="roundRect">
            <a:avLst>
              <a:gd name="adj" fmla="val 30000"/>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CHANGED</a:t>
            </a:r>
          </a:p>
        </p:txBody>
      </p:sp>
      <p:sp>
        <p:nvSpPr>
          <p:cNvPr id="18" name="TextBox 24"/>
          <p:cNvSpPr txBox="1"/>
          <p:nvPr/>
        </p:nvSpPr>
        <p:spPr>
          <a:xfrm>
            <a:off x="6099048" y="1618488"/>
            <a:ext cx="2651760" cy="420624"/>
          </a:xfrm>
          <a:prstGeom prst="rect">
            <a:avLst/>
          </a:prstGeom>
          <a:noFill/>
        </p:spPr>
        <p:txBody>
          <a:bodyPr wrap="square" lIns="0" rIns="0" tIns="0" bIns="0" anchor="ctr">
            <a:spAutoFit/>
          </a:bodyPr>
          <a:lstStyle/>
          <a:p>
            <a:pPr algn="l"/>
            <a:r>
              <a:rPr sz="800" b="1" i="0">
                <a:solidFill>
                  <a:srgbClr val="2E2D29"/>
                </a:solidFill>
                <a:latin typeface="Calibri"/>
              </a:rPr>
              <a:t>ξ lower bound 2.33 → 2.1</a:t>
            </a:r>
          </a:p>
          <a:p>
            <a:pPr algn="l"/>
            <a:r>
              <a:rPr sz="700" b="0" i="0">
                <a:solidFill>
                  <a:srgbClr val="6B6965"/>
                </a:solidFill>
                <a:latin typeface="Calibri"/>
              </a:rPr>
              <a:t>inactive for TST-STAN-5 (ξ at 3)</a:t>
            </a:r>
          </a:p>
        </p:txBody>
      </p:sp>
      <p:sp>
        <p:nvSpPr>
          <p:cNvPr id="19" name="Rectangle 25"/>
          <p:cNvSpPr/>
          <p:nvPr/>
        </p:nvSpPr>
        <p:spPr>
          <a:xfrm>
            <a:off x="5257800" y="2093976"/>
            <a:ext cx="35661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Rounded Rectangle 26"/>
          <p:cNvSpPr/>
          <p:nvPr/>
        </p:nvSpPr>
        <p:spPr>
          <a:xfrm>
            <a:off x="5330952" y="2221992"/>
            <a:ext cx="685800" cy="201168"/>
          </a:xfrm>
          <a:prstGeom prst="roundRect">
            <a:avLst>
              <a:gd name="adj" fmla="val 30000"/>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CHANGED</a:t>
            </a:r>
          </a:p>
        </p:txBody>
      </p:sp>
      <p:sp>
        <p:nvSpPr>
          <p:cNvPr id="21" name="TextBox 27"/>
          <p:cNvSpPr txBox="1"/>
          <p:nvPr/>
        </p:nvSpPr>
        <p:spPr>
          <a:xfrm>
            <a:off x="6099048" y="2121408"/>
            <a:ext cx="2651760" cy="420624"/>
          </a:xfrm>
          <a:prstGeom prst="rect">
            <a:avLst/>
          </a:prstGeom>
          <a:noFill/>
        </p:spPr>
        <p:txBody>
          <a:bodyPr wrap="square" lIns="0" rIns="0" tIns="0" bIns="0" anchor="ctr">
            <a:spAutoFit/>
          </a:bodyPr>
          <a:lstStyle/>
          <a:p>
            <a:pPr algn="l"/>
            <a:r>
              <a:rPr sz="800" b="1" i="0">
                <a:solidFill>
                  <a:srgbClr val="2E2D29"/>
                </a:solidFill>
                <a:latin typeface="Calibri"/>
              </a:rPr>
              <a:t>k₃: free [5×10⁴, 4×10⁵] → s·10⁵</a:t>
            </a:r>
          </a:p>
          <a:p>
            <a:pPr algn="l"/>
            <a:r>
              <a:rPr sz="700" b="0" i="0">
                <a:solidFill>
                  <a:srgbClr val="6B6965"/>
                </a:solidFill>
                <a:latin typeface="Calibri"/>
              </a:rPr>
              <a:t>no comp.k3 entry allowed next to s</a:t>
            </a:r>
          </a:p>
        </p:txBody>
      </p:sp>
      <p:sp>
        <p:nvSpPr>
          <p:cNvPr id="22" name="Rectangle 28"/>
          <p:cNvSpPr/>
          <p:nvPr/>
        </p:nvSpPr>
        <p:spPr>
          <a:xfrm>
            <a:off x="5257800" y="2596896"/>
            <a:ext cx="3566160" cy="4572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3" name="Rounded Rectangle 29"/>
          <p:cNvSpPr/>
          <p:nvPr/>
        </p:nvSpPr>
        <p:spPr>
          <a:xfrm>
            <a:off x="5330952" y="2724912"/>
            <a:ext cx="685800" cy="201168"/>
          </a:xfrm>
          <a:prstGeom prst="roundRect">
            <a:avLst>
              <a:gd name="adj" fmla="val 30000"/>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CHANGED</a:t>
            </a:r>
          </a:p>
        </p:txBody>
      </p:sp>
      <p:sp>
        <p:nvSpPr>
          <p:cNvPr id="24" name="TextBox 30"/>
          <p:cNvSpPr txBox="1"/>
          <p:nvPr/>
        </p:nvSpPr>
        <p:spPr>
          <a:xfrm>
            <a:off x="6099048" y="2624327"/>
            <a:ext cx="2651760" cy="420624"/>
          </a:xfrm>
          <a:prstGeom prst="rect">
            <a:avLst/>
          </a:prstGeom>
          <a:noFill/>
        </p:spPr>
        <p:txBody>
          <a:bodyPr wrap="square" lIns="0" rIns="0" tIns="0" bIns="0" anchor="ctr">
            <a:spAutoFit/>
          </a:bodyPr>
          <a:lstStyle/>
          <a:p>
            <a:pPr algn="l"/>
            <a:r>
              <a:rPr sz="800" b="1" i="0">
                <a:solidFill>
                  <a:srgbClr val="2E2D29"/>
                </a:solidFill>
                <a:latin typeface="Calibri"/>
              </a:rPr>
              <a:t>Proximal Eh/r: 5×10⁴ → s·5×10⁴</a:t>
            </a:r>
          </a:p>
          <a:p>
            <a:pPr algn="l"/>
            <a:r>
              <a:rPr sz="700" b="0" i="0">
                <a:solidFill>
                  <a:srgbClr val="6B6965"/>
                </a:solidFill>
                <a:latin typeface="Calibri"/>
              </a:rPr>
              <a:t>calibrated C overwritten at the tuned s</a:t>
            </a:r>
          </a:p>
        </p:txBody>
      </p:sp>
      <p:sp>
        <p:nvSpPr>
          <p:cNvPr id="25" name="Rectangle 31"/>
          <p:cNvSpPr/>
          <p:nvPr/>
        </p:nvSpPr>
        <p:spPr>
          <a:xfrm>
            <a:off x="5257800" y="3099816"/>
            <a:ext cx="35661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6" name="Rounded Rectangle 32"/>
          <p:cNvSpPr/>
          <p:nvPr/>
        </p:nvSpPr>
        <p:spPr>
          <a:xfrm>
            <a:off x="5330952" y="3227832"/>
            <a:ext cx="685800" cy="201168"/>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ADDED</a:t>
            </a:r>
          </a:p>
        </p:txBody>
      </p:sp>
      <p:sp>
        <p:nvSpPr>
          <p:cNvPr id="27" name="TextBox 33"/>
          <p:cNvSpPr txBox="1"/>
          <p:nvPr/>
        </p:nvSpPr>
        <p:spPr>
          <a:xfrm>
            <a:off x="6099048" y="3127248"/>
            <a:ext cx="2651760" cy="420624"/>
          </a:xfrm>
          <a:prstGeom prst="rect">
            <a:avLst/>
          </a:prstGeom>
          <a:noFill/>
        </p:spPr>
        <p:txBody>
          <a:bodyPr wrap="square" lIns="0" rIns="0" tIns="0" bIns="0" anchor="ctr">
            <a:spAutoFit/>
          </a:bodyPr>
          <a:lstStyle/>
          <a:p>
            <a:pPr algn="l"/>
            <a:r>
              <a:rPr sz="800" b="1" i="0">
                <a:solidFill>
                  <a:srgbClr val="2E2D29"/>
                </a:solidFill>
                <a:latin typeface="Calibri"/>
              </a:rPr>
              <a:t>s ∈ [0.5, 20], log, s &gt; 0</a:t>
            </a:r>
          </a:p>
          <a:p>
            <a:pPr algn="l"/>
            <a:r>
              <a:rPr sz="700" b="0" i="0">
                <a:solidFill>
                  <a:srgbClr val="6B6965"/>
                </a:solidFill>
                <a:latin typeface="Calibri"/>
              </a:rPr>
              <a:t>init 1; seeds the next iteration</a:t>
            </a:r>
          </a:p>
        </p:txBody>
      </p:sp>
      <p:sp>
        <p:nvSpPr>
          <p:cNvPr id="28" name="Rectangle 34"/>
          <p:cNvSpPr/>
          <p:nvPr/>
        </p:nvSpPr>
        <p:spPr>
          <a:xfrm>
            <a:off x="5257800" y="3602736"/>
            <a:ext cx="3566160" cy="4572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9" name="Rounded Rectangle 35"/>
          <p:cNvSpPr/>
          <p:nvPr/>
        </p:nvSpPr>
        <p:spPr>
          <a:xfrm>
            <a:off x="5330952" y="3730752"/>
            <a:ext cx="685800" cy="201168"/>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ADDED</a:t>
            </a:r>
          </a:p>
        </p:txBody>
      </p:sp>
      <p:sp>
        <p:nvSpPr>
          <p:cNvPr id="30" name="TextBox 36"/>
          <p:cNvSpPr txBox="1"/>
          <p:nvPr/>
        </p:nvSpPr>
        <p:spPr>
          <a:xfrm>
            <a:off x="6099048" y="3630168"/>
            <a:ext cx="2651760" cy="420624"/>
          </a:xfrm>
          <a:prstGeom prst="rect">
            <a:avLst/>
          </a:prstGeom>
          <a:noFill/>
        </p:spPr>
        <p:txBody>
          <a:bodyPr wrap="square" lIns="0" rIns="0" tIns="0" bIns="0" anchor="ctr">
            <a:spAutoFit/>
          </a:bodyPr>
          <a:lstStyle/>
          <a:p>
            <a:pPr algn="l"/>
            <a:r>
              <a:rPr sz="800" b="1" i="0">
                <a:solidFill>
                  <a:srgbClr val="2E2D29"/>
                </a:solidFill>
                <a:latin typeface="Calibri"/>
              </a:rPr>
              <a:t>tied_k3_ref ⇔ stiffness_scale</a:t>
            </a:r>
          </a:p>
          <a:p>
            <a:pPr algn="l"/>
            <a:r>
              <a:rPr sz="700" b="0" i="0">
                <a:solidFill>
                  <a:srgbClr val="6B6965"/>
                </a:solidFill>
                <a:latin typeface="Calibri"/>
              </a:rPr>
              <a:t>Olufsen model only; RRI iterations refused</a:t>
            </a:r>
          </a:p>
        </p:txBody>
      </p:sp>
      <p:sp>
        <p:nvSpPr>
          <p:cNvPr id="31" name="Rectangle 37"/>
          <p:cNvSpPr/>
          <p:nvPr/>
        </p:nvSpPr>
        <p:spPr>
          <a:xfrm>
            <a:off x="5257800" y="4105656"/>
            <a:ext cx="35661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2" name="Rounded Rectangle 38"/>
          <p:cNvSpPr/>
          <p:nvPr/>
        </p:nvSpPr>
        <p:spPr>
          <a:xfrm>
            <a:off x="5330952" y="4233672"/>
            <a:ext cx="685800" cy="201168"/>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ADDED</a:t>
            </a:r>
          </a:p>
        </p:txBody>
      </p:sp>
      <p:sp>
        <p:nvSpPr>
          <p:cNvPr id="33" name="TextBox 39"/>
          <p:cNvSpPr txBox="1"/>
          <p:nvPr/>
        </p:nvSpPr>
        <p:spPr>
          <a:xfrm>
            <a:off x="6099048" y="4133088"/>
            <a:ext cx="2651760" cy="420624"/>
          </a:xfrm>
          <a:prstGeom prst="rect">
            <a:avLst/>
          </a:prstGeom>
          <a:noFill/>
        </p:spPr>
        <p:txBody>
          <a:bodyPr wrap="square" lIns="0" rIns="0" tIns="0" bIns="0" anchor="ctr">
            <a:spAutoFit/>
          </a:bodyPr>
          <a:lstStyle/>
          <a:p>
            <a:pPr algn="l"/>
            <a:r>
              <a:rPr sz="800" b="1" i="0">
                <a:solidFill>
                  <a:srgbClr val="2E2D29"/>
                </a:solidFill>
                <a:latin typeface="Calibri"/>
              </a:rPr>
              <a:t>3D E must follow s</a:t>
            </a:r>
          </a:p>
          <a:p>
            <a:pPr algn="l"/>
            <a:r>
              <a:rPr sz="700" b="0" i="0">
                <a:solidFill>
                  <a:srgbClr val="6B6965"/>
                </a:solidFill>
                <a:latin typeface="Calibri"/>
              </a:rPr>
              <a:t>fixed numeric E with s warns</a:t>
            </a:r>
          </a:p>
        </p:txBody>
      </p:sp>
      <p:sp>
        <p:nvSpPr>
          <p:cNvPr id="34"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5" name="TextBox 41"/>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Neither change was fitted on TST-STAN-1, -2, -5 or -9 before adoption: check parameters_at_bounds and the SV/PP bracket.</a:t>
            </a:r>
          </a:p>
        </p:txBody>
      </p:sp>
      <p:sp>
        <p:nvSpPr>
          <p:cNvPr id="36" name="TextBox 42"/>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Can proximal and tree stiffness be tuned apart?. Reason: Constraint changes folded into the question slide.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TST-STAN-5 fit: within error except diastolic</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316736"/>
            <a:ext cx="4480560" cy="219456"/>
          </a:xfrm>
          <a:prstGeom prst="rect">
            <a:avLst/>
          </a:prstGeom>
          <a:noFill/>
        </p:spPr>
        <p:txBody>
          <a:bodyPr wrap="square" lIns="0" rIns="0" tIns="0" bIns="0" anchor="t">
            <a:spAutoFit/>
          </a:bodyPr>
          <a:lstStyle/>
          <a:p>
            <a:pPr algn="l"/>
            <a:r>
              <a:rPr sz="1000" b="1" i="0">
                <a:solidFill>
                  <a:srgbClr val="8C1515"/>
                </a:solidFill>
                <a:latin typeface="Calibri"/>
              </a:rPr>
              <a:t>Published MPA pressure (mmHg), final model vs catheter</a:t>
            </a:r>
          </a:p>
        </p:txBody>
      </p:sp>
      <p:graphicFrame>
        <p:nvGraphicFramePr>
          <p:cNvPr id="13" name="Chart 19"/>
          <p:cNvGraphicFramePr>
            <a:graphicFrameLocks noGrp="1"/>
          </p:cNvGraphicFramePr>
          <p:nvPr/>
        </p:nvGraphicFramePr>
        <p:xfrm>
          <a:off x="320040" y="1554480"/>
          <a:ext cx="4480560" cy="2560320"/>
        </p:xfrm>
        <a:graphic>
          <a:graphicData uri="http://schemas.openxmlformats.org/drawingml/2006/chart">
            <c:chart xmlns:c="http://schemas.openxmlformats.org/drawingml/2006/chart" r:id="rId3"/>
          </a:graphicData>
        </a:graphic>
      </p:graphicFrame>
      <p:sp>
        <p:nvSpPr>
          <p:cNvPr id="14" name="TextBox 20"/>
          <p:cNvSpPr txBox="1"/>
          <p:nvPr/>
        </p:nvSpPr>
        <p:spPr>
          <a:xfrm>
            <a:off x="320040" y="4114800"/>
            <a:ext cx="4480560" cy="182880"/>
          </a:xfrm>
          <a:prstGeom prst="rect">
            <a:avLst/>
          </a:prstGeom>
          <a:noFill/>
        </p:spPr>
        <p:txBody>
          <a:bodyPr wrap="square" lIns="0" rIns="0" tIns="0" bIns="0" anchor="t">
            <a:spAutoFit/>
          </a:bodyPr>
          <a:lstStyle/>
          <a:p>
            <a:pPr algn="l"/>
            <a:r>
              <a:rPr sz="750" b="0" i="0">
                <a:solidFill>
                  <a:srgbClr val="6B6965"/>
                </a:solidFill>
                <a:latin typeface="Calibri"/>
              </a:rPr>
              <a:t>Error vs target: sys +2.8 · dia −7.7 · mean −1.4 mmHg (σ = 2)</a:t>
            </a:r>
          </a:p>
        </p:txBody>
      </p:sp>
      <p:sp>
        <p:nvSpPr>
          <p:cNvPr id="15" name="Rectangle 21"/>
          <p:cNvSpPr/>
          <p:nvPr/>
        </p:nvSpPr>
        <p:spPr>
          <a:xfrm>
            <a:off x="5029200" y="1316736"/>
            <a:ext cx="3794760" cy="157276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6" name="TextBox 22"/>
          <p:cNvSpPr txBox="1"/>
          <p:nvPr/>
        </p:nvSpPr>
        <p:spPr>
          <a:xfrm>
            <a:off x="5138928" y="1371600"/>
            <a:ext cx="3575304" cy="219456"/>
          </a:xfrm>
          <a:prstGeom prst="rect">
            <a:avLst/>
          </a:prstGeom>
          <a:noFill/>
        </p:spPr>
        <p:txBody>
          <a:bodyPr wrap="square" lIns="0" rIns="0" tIns="0" bIns="0" anchor="t">
            <a:spAutoFit/>
          </a:bodyPr>
          <a:lstStyle/>
          <a:p>
            <a:pPr algn="l"/>
            <a:r>
              <a:rPr sz="1000" b="1" i="0">
                <a:solidFill>
                  <a:srgbClr val="8C1515"/>
                </a:solidFill>
                <a:latin typeface="Calibri"/>
              </a:rPr>
              <a:t>Fitted parameters sit on their bounds</a:t>
            </a:r>
          </a:p>
        </p:txBody>
      </p:sp>
      <p:sp>
        <p:nvSpPr>
          <p:cNvPr id="17" name="TextBox 23"/>
          <p:cNvSpPr txBox="1"/>
          <p:nvPr/>
        </p:nvSpPr>
        <p:spPr>
          <a:xfrm>
            <a:off x="5138928" y="1627632"/>
            <a:ext cx="566928" cy="201168"/>
          </a:xfrm>
          <a:prstGeom prst="rect">
            <a:avLst/>
          </a:prstGeom>
          <a:noFill/>
        </p:spPr>
        <p:txBody>
          <a:bodyPr wrap="square" lIns="0" rIns="0" tIns="0" bIns="0" anchor="ctr">
            <a:spAutoFit/>
          </a:bodyPr>
          <a:lstStyle/>
          <a:p>
            <a:pPr algn="l"/>
            <a:r>
              <a:rPr sz="800" b="1" i="0">
                <a:solidFill>
                  <a:srgbClr val="2E2D29"/>
                </a:solidFill>
                <a:latin typeface="Calibri"/>
              </a:rPr>
              <a:t>ξ L / R</a:t>
            </a:r>
          </a:p>
        </p:txBody>
      </p:sp>
      <p:sp>
        <p:nvSpPr>
          <p:cNvPr id="18" name="Rectangle 24"/>
          <p:cNvSpPr/>
          <p:nvPr/>
        </p:nvSpPr>
        <p:spPr>
          <a:xfrm>
            <a:off x="5715000" y="1700784"/>
            <a:ext cx="2103120" cy="5486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9" name="Oval 25"/>
          <p:cNvSpPr/>
          <p:nvPr/>
        </p:nvSpPr>
        <p:spPr>
          <a:xfrm>
            <a:off x="7754112" y="1664208"/>
            <a:ext cx="128016" cy="128016"/>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Oval 26"/>
          <p:cNvSpPr/>
          <p:nvPr/>
        </p:nvSpPr>
        <p:spPr>
          <a:xfrm>
            <a:off x="7754112" y="1664208"/>
            <a:ext cx="128016" cy="128016"/>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1" name="TextBox 27"/>
          <p:cNvSpPr txBox="1"/>
          <p:nvPr/>
        </p:nvSpPr>
        <p:spPr>
          <a:xfrm>
            <a:off x="5532120" y="1792224"/>
            <a:ext cx="365760" cy="146304"/>
          </a:xfrm>
          <a:prstGeom prst="rect">
            <a:avLst/>
          </a:prstGeom>
          <a:noFill/>
        </p:spPr>
        <p:txBody>
          <a:bodyPr wrap="square" lIns="0" rIns="0" tIns="0" bIns="0" anchor="t">
            <a:spAutoFit/>
          </a:bodyPr>
          <a:lstStyle/>
          <a:p>
            <a:pPr algn="ctr"/>
            <a:r>
              <a:rPr sz="650" b="0" i="0">
                <a:solidFill>
                  <a:srgbClr val="6B6965"/>
                </a:solidFill>
                <a:latin typeface="Calibri"/>
              </a:rPr>
              <a:t>2.33</a:t>
            </a:r>
          </a:p>
        </p:txBody>
      </p:sp>
      <p:sp>
        <p:nvSpPr>
          <p:cNvPr id="22" name="TextBox 28"/>
          <p:cNvSpPr txBox="1"/>
          <p:nvPr/>
        </p:nvSpPr>
        <p:spPr>
          <a:xfrm>
            <a:off x="7589520" y="1792224"/>
            <a:ext cx="457200" cy="146304"/>
          </a:xfrm>
          <a:prstGeom prst="rect">
            <a:avLst/>
          </a:prstGeom>
          <a:noFill/>
        </p:spPr>
        <p:txBody>
          <a:bodyPr wrap="square" lIns="0" rIns="0" tIns="0" bIns="0" anchor="t">
            <a:spAutoFit/>
          </a:bodyPr>
          <a:lstStyle/>
          <a:p>
            <a:pPr algn="ctr"/>
            <a:r>
              <a:rPr sz="650" b="0" i="0">
                <a:solidFill>
                  <a:srgbClr val="6B6965"/>
                </a:solidFill>
                <a:latin typeface="Calibri"/>
              </a:rPr>
              <a:t>3.0</a:t>
            </a:r>
          </a:p>
        </p:txBody>
      </p:sp>
      <p:sp>
        <p:nvSpPr>
          <p:cNvPr id="23" name="TextBox 29"/>
          <p:cNvSpPr txBox="1"/>
          <p:nvPr/>
        </p:nvSpPr>
        <p:spPr>
          <a:xfrm>
            <a:off x="7927848" y="1627632"/>
            <a:ext cx="804672" cy="201168"/>
          </a:xfrm>
          <a:prstGeom prst="rect">
            <a:avLst/>
          </a:prstGeom>
          <a:noFill/>
        </p:spPr>
        <p:txBody>
          <a:bodyPr wrap="square" lIns="0" rIns="0" tIns="0" bIns="0" anchor="ctr">
            <a:spAutoFit/>
          </a:bodyPr>
          <a:lstStyle/>
          <a:p>
            <a:pPr algn="l"/>
            <a:r>
              <a:rPr sz="800" b="1" i="0">
                <a:solidFill>
                  <a:srgbClr val="8C1515"/>
                </a:solidFill>
                <a:latin typeface="Calibri"/>
              </a:rPr>
              <a:t>3.00 / 3.00</a:t>
            </a:r>
          </a:p>
        </p:txBody>
      </p:sp>
      <p:sp>
        <p:nvSpPr>
          <p:cNvPr id="24" name="TextBox 30"/>
          <p:cNvSpPr txBox="1"/>
          <p:nvPr/>
        </p:nvSpPr>
        <p:spPr>
          <a:xfrm>
            <a:off x="5138928" y="2011680"/>
            <a:ext cx="566928" cy="201168"/>
          </a:xfrm>
          <a:prstGeom prst="rect">
            <a:avLst/>
          </a:prstGeom>
          <a:noFill/>
        </p:spPr>
        <p:txBody>
          <a:bodyPr wrap="square" lIns="0" rIns="0" tIns="0" bIns="0" anchor="ctr">
            <a:spAutoFit/>
          </a:bodyPr>
          <a:lstStyle/>
          <a:p>
            <a:pPr algn="l"/>
            <a:r>
              <a:rPr sz="800" b="1" i="0">
                <a:solidFill>
                  <a:srgbClr val="2E2D29"/>
                </a:solidFill>
                <a:latin typeface="Calibri"/>
              </a:rPr>
              <a:t>η L / R</a:t>
            </a:r>
          </a:p>
        </p:txBody>
      </p:sp>
      <p:sp>
        <p:nvSpPr>
          <p:cNvPr id="25" name="Rectangle 31"/>
          <p:cNvSpPr/>
          <p:nvPr/>
        </p:nvSpPr>
        <p:spPr>
          <a:xfrm>
            <a:off x="5715000" y="2084832"/>
            <a:ext cx="2103120" cy="5486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6" name="Oval 32"/>
          <p:cNvSpPr/>
          <p:nvPr/>
        </p:nvSpPr>
        <p:spPr>
          <a:xfrm>
            <a:off x="7754112" y="2048256"/>
            <a:ext cx="128016" cy="128016"/>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7" name="Oval 33"/>
          <p:cNvSpPr/>
          <p:nvPr/>
        </p:nvSpPr>
        <p:spPr>
          <a:xfrm>
            <a:off x="7648956" y="2048256"/>
            <a:ext cx="128016" cy="128016"/>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8" name="TextBox 34"/>
          <p:cNvSpPr txBox="1"/>
          <p:nvPr/>
        </p:nvSpPr>
        <p:spPr>
          <a:xfrm>
            <a:off x="5532120" y="2176272"/>
            <a:ext cx="365760" cy="146304"/>
          </a:xfrm>
          <a:prstGeom prst="rect">
            <a:avLst/>
          </a:prstGeom>
          <a:noFill/>
        </p:spPr>
        <p:txBody>
          <a:bodyPr wrap="square" lIns="0" rIns="0" tIns="0" bIns="0" anchor="t">
            <a:spAutoFit/>
          </a:bodyPr>
          <a:lstStyle/>
          <a:p>
            <a:pPr algn="ctr"/>
            <a:r>
              <a:rPr sz="650" b="0" i="0">
                <a:solidFill>
                  <a:srgbClr val="6B6965"/>
                </a:solidFill>
                <a:latin typeface="Calibri"/>
              </a:rPr>
              <a:t>0.3</a:t>
            </a:r>
          </a:p>
        </p:txBody>
      </p:sp>
      <p:sp>
        <p:nvSpPr>
          <p:cNvPr id="29" name="TextBox 35"/>
          <p:cNvSpPr txBox="1"/>
          <p:nvPr/>
        </p:nvSpPr>
        <p:spPr>
          <a:xfrm>
            <a:off x="7589520" y="2176272"/>
            <a:ext cx="457200" cy="146304"/>
          </a:xfrm>
          <a:prstGeom prst="rect">
            <a:avLst/>
          </a:prstGeom>
          <a:noFill/>
        </p:spPr>
        <p:txBody>
          <a:bodyPr wrap="square" lIns="0" rIns="0" tIns="0" bIns="0" anchor="t">
            <a:spAutoFit/>
          </a:bodyPr>
          <a:lstStyle/>
          <a:p>
            <a:pPr algn="ctr"/>
            <a:r>
              <a:rPr sz="650" b="0" i="0">
                <a:solidFill>
                  <a:srgbClr val="6B6965"/>
                </a:solidFill>
                <a:latin typeface="Calibri"/>
              </a:rPr>
              <a:t>1.0</a:t>
            </a:r>
          </a:p>
        </p:txBody>
      </p:sp>
      <p:sp>
        <p:nvSpPr>
          <p:cNvPr id="30" name="TextBox 36"/>
          <p:cNvSpPr txBox="1"/>
          <p:nvPr/>
        </p:nvSpPr>
        <p:spPr>
          <a:xfrm>
            <a:off x="7927848" y="2011680"/>
            <a:ext cx="804672" cy="201168"/>
          </a:xfrm>
          <a:prstGeom prst="rect">
            <a:avLst/>
          </a:prstGeom>
          <a:noFill/>
        </p:spPr>
        <p:txBody>
          <a:bodyPr wrap="square" lIns="0" rIns="0" tIns="0" bIns="0" anchor="ctr">
            <a:spAutoFit/>
          </a:bodyPr>
          <a:lstStyle/>
          <a:p>
            <a:pPr algn="l"/>
            <a:r>
              <a:rPr sz="800" b="1" i="0">
                <a:solidFill>
                  <a:srgbClr val="8C1515"/>
                </a:solidFill>
                <a:latin typeface="Calibri"/>
              </a:rPr>
              <a:t>1.00 / 0.97</a:t>
            </a:r>
          </a:p>
        </p:txBody>
      </p:sp>
      <p:sp>
        <p:nvSpPr>
          <p:cNvPr id="31" name="TextBox 37"/>
          <p:cNvSpPr txBox="1"/>
          <p:nvPr/>
        </p:nvSpPr>
        <p:spPr>
          <a:xfrm>
            <a:off x="5138928" y="2395728"/>
            <a:ext cx="566928" cy="201168"/>
          </a:xfrm>
          <a:prstGeom prst="rect">
            <a:avLst/>
          </a:prstGeom>
          <a:noFill/>
        </p:spPr>
        <p:txBody>
          <a:bodyPr wrap="square" lIns="0" rIns="0" tIns="0" bIns="0" anchor="ctr">
            <a:spAutoFit/>
          </a:bodyPr>
          <a:lstStyle/>
          <a:p>
            <a:pPr algn="l"/>
            <a:r>
              <a:rPr sz="800" b="1" i="0">
                <a:solidFill>
                  <a:srgbClr val="2E2D29"/>
                </a:solidFill>
                <a:latin typeface="Calibri"/>
              </a:rPr>
              <a:t>k₃</a:t>
            </a:r>
          </a:p>
        </p:txBody>
      </p:sp>
      <p:sp>
        <p:nvSpPr>
          <p:cNvPr id="32" name="Rectangle 38"/>
          <p:cNvSpPr/>
          <p:nvPr/>
        </p:nvSpPr>
        <p:spPr>
          <a:xfrm>
            <a:off x="5715000" y="2468880"/>
            <a:ext cx="2103120" cy="5486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3" name="Oval 39"/>
          <p:cNvSpPr/>
          <p:nvPr/>
        </p:nvSpPr>
        <p:spPr>
          <a:xfrm>
            <a:off x="5650992" y="2432304"/>
            <a:ext cx="128016" cy="128016"/>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4" name="TextBox 40"/>
          <p:cNvSpPr txBox="1"/>
          <p:nvPr/>
        </p:nvSpPr>
        <p:spPr>
          <a:xfrm>
            <a:off x="5532120" y="2560320"/>
            <a:ext cx="365760" cy="146304"/>
          </a:xfrm>
          <a:prstGeom prst="rect">
            <a:avLst/>
          </a:prstGeom>
          <a:noFill/>
        </p:spPr>
        <p:txBody>
          <a:bodyPr wrap="square" lIns="0" rIns="0" tIns="0" bIns="0" anchor="t">
            <a:spAutoFit/>
          </a:bodyPr>
          <a:lstStyle/>
          <a:p>
            <a:pPr algn="ctr"/>
            <a:r>
              <a:rPr sz="650" b="0" i="0">
                <a:solidFill>
                  <a:srgbClr val="6B6965"/>
                </a:solidFill>
                <a:latin typeface="Calibri"/>
              </a:rPr>
              <a:t>5×10⁴</a:t>
            </a:r>
          </a:p>
        </p:txBody>
      </p:sp>
      <p:sp>
        <p:nvSpPr>
          <p:cNvPr id="35" name="TextBox 41"/>
          <p:cNvSpPr txBox="1"/>
          <p:nvPr/>
        </p:nvSpPr>
        <p:spPr>
          <a:xfrm>
            <a:off x="7589520" y="2560320"/>
            <a:ext cx="457200" cy="146304"/>
          </a:xfrm>
          <a:prstGeom prst="rect">
            <a:avLst/>
          </a:prstGeom>
          <a:noFill/>
        </p:spPr>
        <p:txBody>
          <a:bodyPr wrap="square" lIns="0" rIns="0" tIns="0" bIns="0" anchor="t">
            <a:spAutoFit/>
          </a:bodyPr>
          <a:lstStyle/>
          <a:p>
            <a:pPr algn="ctr"/>
            <a:r>
              <a:rPr sz="650" b="0" i="0">
                <a:solidFill>
                  <a:srgbClr val="6B6965"/>
                </a:solidFill>
                <a:latin typeface="Calibri"/>
              </a:rPr>
              <a:t>4×10⁵</a:t>
            </a:r>
          </a:p>
        </p:txBody>
      </p:sp>
      <p:sp>
        <p:nvSpPr>
          <p:cNvPr id="36" name="TextBox 42"/>
          <p:cNvSpPr txBox="1"/>
          <p:nvPr/>
        </p:nvSpPr>
        <p:spPr>
          <a:xfrm>
            <a:off x="7927848" y="2395728"/>
            <a:ext cx="804672" cy="201168"/>
          </a:xfrm>
          <a:prstGeom prst="rect">
            <a:avLst/>
          </a:prstGeom>
          <a:noFill/>
        </p:spPr>
        <p:txBody>
          <a:bodyPr wrap="square" lIns="0" rIns="0" tIns="0" bIns="0" anchor="ctr">
            <a:spAutoFit/>
          </a:bodyPr>
          <a:lstStyle/>
          <a:p>
            <a:pPr algn="l"/>
            <a:r>
              <a:rPr sz="800" b="1" i="0">
                <a:solidFill>
                  <a:srgbClr val="8C1515"/>
                </a:solidFill>
                <a:latin typeface="Calibri"/>
              </a:rPr>
              <a:t>5.0×10⁴</a:t>
            </a:r>
          </a:p>
        </p:txBody>
      </p:sp>
      <p:sp>
        <p:nvSpPr>
          <p:cNvPr id="37" name="Rectangle 43"/>
          <p:cNvSpPr/>
          <p:nvPr/>
        </p:nvSpPr>
        <p:spPr>
          <a:xfrm>
            <a:off x="5029200" y="2980944"/>
            <a:ext cx="1234440" cy="113385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8" name="TextBox 44"/>
          <p:cNvSpPr txBox="1"/>
          <p:nvPr/>
        </p:nvSpPr>
        <p:spPr>
          <a:xfrm>
            <a:off x="5102352" y="3035808"/>
            <a:ext cx="1088136" cy="438912"/>
          </a:xfrm>
          <a:prstGeom prst="rect">
            <a:avLst/>
          </a:prstGeom>
          <a:noFill/>
        </p:spPr>
        <p:txBody>
          <a:bodyPr wrap="square" lIns="0" rIns="0" tIns="0" bIns="0" anchor="ctr">
            <a:spAutoFit/>
          </a:bodyPr>
          <a:lstStyle/>
          <a:p>
            <a:pPr algn="ctr"/>
            <a:r>
              <a:rPr sz="2000" b="1" i="0">
                <a:solidFill>
                  <a:srgbClr val="8C1515"/>
                </a:solidFill>
                <a:latin typeface="Calibri"/>
              </a:rPr>
              <a:t>17.2</a:t>
            </a:r>
          </a:p>
        </p:txBody>
      </p:sp>
      <p:sp>
        <p:nvSpPr>
          <p:cNvPr id="39" name="TextBox 45"/>
          <p:cNvSpPr txBox="1"/>
          <p:nvPr/>
        </p:nvSpPr>
        <p:spPr>
          <a:xfrm>
            <a:off x="5102352" y="3493008"/>
            <a:ext cx="1088136" cy="566928"/>
          </a:xfrm>
          <a:prstGeom prst="rect">
            <a:avLst/>
          </a:prstGeom>
          <a:noFill/>
        </p:spPr>
        <p:txBody>
          <a:bodyPr wrap="square" lIns="0" rIns="0" tIns="0" bIns="0" anchor="t">
            <a:spAutoFit/>
          </a:bodyPr>
          <a:lstStyle/>
          <a:p>
            <a:pPr algn="ctr"/>
            <a:r>
              <a:rPr sz="750" b="0" i="0">
                <a:solidFill>
                  <a:srgbClr val="2E2D29"/>
                </a:solidFill>
                <a:latin typeface="Calibri"/>
              </a:rPr>
              <a:t>χ²; diastolic is 14.7 of it</a:t>
            </a:r>
          </a:p>
        </p:txBody>
      </p:sp>
      <p:sp>
        <p:nvSpPr>
          <p:cNvPr id="40" name="Rectangle 46"/>
          <p:cNvSpPr/>
          <p:nvPr/>
        </p:nvSpPr>
        <p:spPr>
          <a:xfrm>
            <a:off x="6309360" y="2980944"/>
            <a:ext cx="1234440" cy="113385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1" name="TextBox 47"/>
          <p:cNvSpPr txBox="1"/>
          <p:nvPr/>
        </p:nvSpPr>
        <p:spPr>
          <a:xfrm>
            <a:off x="6382512" y="3035808"/>
            <a:ext cx="1088136" cy="438912"/>
          </a:xfrm>
          <a:prstGeom prst="rect">
            <a:avLst/>
          </a:prstGeom>
          <a:noFill/>
        </p:spPr>
        <p:txBody>
          <a:bodyPr wrap="square" lIns="0" rIns="0" tIns="0" bIns="0" anchor="ctr">
            <a:spAutoFit/>
          </a:bodyPr>
          <a:lstStyle/>
          <a:p>
            <a:pPr algn="ctr"/>
            <a:r>
              <a:rPr sz="2000" b="1" i="0">
                <a:solidFill>
                  <a:srgbClr val="279989"/>
                </a:solidFill>
                <a:latin typeface="Calibri"/>
              </a:rPr>
              <a:t>0.875</a:t>
            </a:r>
          </a:p>
        </p:txBody>
      </p:sp>
      <p:sp>
        <p:nvSpPr>
          <p:cNvPr id="42" name="TextBox 48"/>
          <p:cNvSpPr txBox="1"/>
          <p:nvPr/>
        </p:nvSpPr>
        <p:spPr>
          <a:xfrm>
            <a:off x="6382512" y="3493008"/>
            <a:ext cx="1088136" cy="566928"/>
          </a:xfrm>
          <a:prstGeom prst="rect">
            <a:avLst/>
          </a:prstGeom>
          <a:noFill/>
        </p:spPr>
        <p:txBody>
          <a:bodyPr wrap="square" lIns="0" rIns="0" tIns="0" bIns="0" anchor="t">
            <a:spAutoFit/>
          </a:bodyPr>
          <a:lstStyle/>
          <a:p>
            <a:pPr algn="ctr"/>
            <a:r>
              <a:rPr sz="750" b="0" i="0">
                <a:solidFill>
                  <a:srgbClr val="2E2D29"/>
                </a:solidFill>
                <a:latin typeface="Calibri"/>
              </a:rPr>
              <a:t>RPA split vs 0.87 target</a:t>
            </a:r>
          </a:p>
        </p:txBody>
      </p:sp>
      <p:sp>
        <p:nvSpPr>
          <p:cNvPr id="43" name="Rectangle 49"/>
          <p:cNvSpPr/>
          <p:nvPr/>
        </p:nvSpPr>
        <p:spPr>
          <a:xfrm>
            <a:off x="7589520" y="2980944"/>
            <a:ext cx="1234440" cy="113385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4" name="TextBox 50"/>
          <p:cNvSpPr txBox="1"/>
          <p:nvPr/>
        </p:nvSpPr>
        <p:spPr>
          <a:xfrm>
            <a:off x="7662672" y="3035808"/>
            <a:ext cx="1088136" cy="438912"/>
          </a:xfrm>
          <a:prstGeom prst="rect">
            <a:avLst/>
          </a:prstGeom>
          <a:noFill/>
        </p:spPr>
        <p:txBody>
          <a:bodyPr wrap="square" lIns="0" rIns="0" tIns="0" bIns="0" anchor="ctr">
            <a:spAutoFit/>
          </a:bodyPr>
          <a:lstStyle/>
          <a:p>
            <a:pPr algn="ctr"/>
            <a:r>
              <a:rPr sz="2000" b="1" i="0">
                <a:solidFill>
                  <a:srgbClr val="E98300"/>
                </a:solidFill>
                <a:latin typeface="Calibri"/>
              </a:rPr>
              <a:t>1.81</a:t>
            </a:r>
          </a:p>
        </p:txBody>
      </p:sp>
      <p:sp>
        <p:nvSpPr>
          <p:cNvPr id="45" name="TextBox 51"/>
          <p:cNvSpPr txBox="1"/>
          <p:nvPr/>
        </p:nvSpPr>
        <p:spPr>
          <a:xfrm>
            <a:off x="7662672" y="3493008"/>
            <a:ext cx="1088136" cy="566928"/>
          </a:xfrm>
          <a:prstGeom prst="rect">
            <a:avLst/>
          </a:prstGeom>
          <a:noFill/>
        </p:spPr>
        <p:txBody>
          <a:bodyPr wrap="square" lIns="0" rIns="0" tIns="0" bIns="0" anchor="t">
            <a:spAutoFit/>
          </a:bodyPr>
          <a:lstStyle/>
          <a:p>
            <a:pPr algn="ctr"/>
            <a:r>
              <a:rPr sz="750" b="0" i="0">
                <a:solidFill>
                  <a:srgbClr val="2E2D29"/>
                </a:solidFill>
                <a:latin typeface="Calibri"/>
              </a:rPr>
              <a:t>mL/mmHg total C; SV/PP 0.77–1.44</a:t>
            </a:r>
          </a:p>
        </p:txBody>
      </p:sp>
      <p:sp>
        <p:nvSpPr>
          <p:cNvPr id="46" name="TextBox 52"/>
          <p:cNvSpPr txBox="1"/>
          <p:nvPr/>
        </p:nvSpPr>
        <p:spPr>
          <a:xfrm>
            <a:off x="320040" y="4315968"/>
            <a:ext cx="914400" cy="329184"/>
          </a:xfrm>
          <a:prstGeom prst="rect">
            <a:avLst/>
          </a:prstGeom>
          <a:noFill/>
        </p:spPr>
        <p:txBody>
          <a:bodyPr wrap="square" lIns="0" rIns="0" tIns="0" bIns="0" anchor="ctr">
            <a:spAutoFit/>
          </a:bodyPr>
          <a:lstStyle/>
          <a:p>
            <a:pPr algn="l"/>
            <a:r>
              <a:rPr sz="900" b="1" i="0">
                <a:solidFill>
                  <a:srgbClr val="8C1515"/>
                </a:solidFill>
                <a:latin typeface="Calibri"/>
              </a:rPr>
              <a:t>k₃ choice</a:t>
            </a:r>
          </a:p>
          <a:p>
            <a:pPr algn="l"/>
            <a:r>
              <a:rPr sz="700" b="0" i="0">
                <a:solidFill>
                  <a:srgbClr val="6B6965"/>
                </a:solidFill>
                <a:latin typeface="Calibri"/>
              </a:rPr>
              <a:t>superseded</a:t>
            </a:r>
          </a:p>
        </p:txBody>
      </p:sp>
      <p:sp>
        <p:nvSpPr>
          <p:cNvPr id="47" name="Rounded Rectangle 53"/>
          <p:cNvSpPr/>
          <p:nvPr/>
        </p:nvSpPr>
        <p:spPr>
          <a:xfrm>
            <a:off x="1280160" y="4315968"/>
            <a:ext cx="3703320" cy="329184"/>
          </a:xfrm>
          <a:prstGeom prst="roundRect">
            <a:avLst>
              <a:gd name="adj" fmla="val 30000"/>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800" b="1" i="0">
                <a:solidFill>
                  <a:srgbClr val="8C1515"/>
                </a:solidFill>
                <a:latin typeface="Calibri"/>
              </a:rPr>
              <a:t>16 Oct: k₃ = s·10⁵  </a:t>
            </a:r>
            <a:r>
              <a:rPr sz="750" b="0" i="0">
                <a:solidFill>
                  <a:srgbClr val="2E2D29"/>
                </a:solidFill>
                <a:latin typeface="Calibri"/>
              </a:rPr>
              <a:t>tied to the proximal wall (slide 44)</a:t>
            </a:r>
          </a:p>
        </p:txBody>
      </p:sp>
      <p:sp>
        <p:nvSpPr>
          <p:cNvPr id="48" name="Rounded Rectangle 54"/>
          <p:cNvSpPr/>
          <p:nvPr/>
        </p:nvSpPr>
        <p:spPr>
          <a:xfrm>
            <a:off x="5074920" y="4315968"/>
            <a:ext cx="3749039" cy="329184"/>
          </a:xfrm>
          <a:prstGeom prst="roundRect">
            <a:avLst>
              <a:gd name="adj" fmla="val 30000"/>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800" b="1" i="0">
                <a:solidFill>
                  <a:srgbClr val="2E2D29"/>
                </a:solidFill>
                <a:latin typeface="Calibri"/>
              </a:rPr>
              <a:t>Not yet refit  </a:t>
            </a:r>
            <a:r>
              <a:rPr sz="750" b="0" i="0">
                <a:solidFill>
                  <a:srgbClr val="6B6965"/>
                </a:solidFill>
                <a:latin typeface="Calibri"/>
              </a:rPr>
              <a:t>TST-STAN-5 under the tied model and ξ ≥ 2.1</a:t>
            </a:r>
          </a:p>
        </p:txBody>
      </p:sp>
      <p:sp>
        <p:nvSpPr>
          <p:cNvPr id="49"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0" name="TextBox 56"/>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Systolic, mean and split are within measurement error; diastolic stays ~8 mmHg low (3.8σ) under 54% regurgitation.</a:t>
            </a:r>
          </a:p>
        </p:txBody>
      </p:sp>
      <p:sp>
        <p:nvSpPr>
          <p:cNvPr id="51" name="TextBox 57"/>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Calibrated seeds improved, none within tolerance. Reason: 5 Oct fit with free k3, superseded by the tied-model cohort runs of 21 Oct.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Final model: Option 1 with tied stiffness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316736"/>
            <a:ext cx="1817370" cy="512064"/>
          </a:xfrm>
          <a:prstGeom prst="rect">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50" b="1" i="0">
                <a:solidFill>
                  <a:srgbClr val="2E2D29"/>
                </a:solidFill>
                <a:latin typeface="Calibri"/>
              </a:rPr>
              <a:t>Inflow Q(t)</a:t>
            </a:r>
          </a:p>
          <a:p>
            <a:pPr algn="ctr"/>
            <a:r>
              <a:rPr sz="750" b="0" i="0">
                <a:solidFill>
                  <a:srgbClr val="6B6965"/>
                </a:solidFill>
                <a:latin typeface="Calibri"/>
              </a:rPr>
              <a:t>patient MRI, prescribed</a:t>
            </a:r>
          </a:p>
        </p:txBody>
      </p:sp>
      <p:cxnSp>
        <p:nvCxnSpPr>
          <p:cNvPr id="13" name="Connector 19"/>
          <p:cNvCxnSpPr/>
          <p:nvPr/>
        </p:nvCxnSpPr>
        <p:spPr>
          <a:xfrm>
            <a:off x="2183130" y="1572768"/>
            <a:ext cx="32004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20"/>
          <p:cNvSpPr/>
          <p:nvPr/>
        </p:nvSpPr>
        <p:spPr>
          <a:xfrm>
            <a:off x="2548890" y="1316736"/>
            <a:ext cx="1817370" cy="51206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50" b="1" i="0">
                <a:solidFill>
                  <a:srgbClr val="FFFFFF"/>
                </a:solidFill>
                <a:latin typeface="Calibri"/>
              </a:rPr>
              <a:t>Proximal 0D seed</a:t>
            </a:r>
          </a:p>
          <a:p>
            <a:pPr algn="ctr"/>
            <a:r>
              <a:rPr sz="750" b="0" i="0">
                <a:solidFill>
                  <a:srgbClr val="FFFFFF"/>
                </a:solidFill>
                <a:latin typeface="Calibri"/>
              </a:rPr>
              <a:t>learned / calibrated · Eh/r = s·5×10⁴</a:t>
            </a:r>
          </a:p>
        </p:txBody>
      </p:sp>
      <p:cxnSp>
        <p:nvCxnSpPr>
          <p:cNvPr id="15" name="Connector 21"/>
          <p:cNvCxnSpPr/>
          <p:nvPr/>
        </p:nvCxnSpPr>
        <p:spPr>
          <a:xfrm>
            <a:off x="4411980" y="1572768"/>
            <a:ext cx="32004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22"/>
          <p:cNvSpPr/>
          <p:nvPr/>
        </p:nvSpPr>
        <p:spPr>
          <a:xfrm>
            <a:off x="4777740" y="1316736"/>
            <a:ext cx="1817370" cy="51206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50" b="1" i="0">
                <a:solidFill>
                  <a:srgbClr val="FFFFFF"/>
                </a:solidFill>
                <a:latin typeface="Calibri"/>
              </a:rPr>
              <a:t>23 structured trees</a:t>
            </a:r>
          </a:p>
          <a:p>
            <a:pPr algn="ctr"/>
            <a:r>
              <a:rPr sz="750" b="0" i="0">
                <a:solidFill>
                  <a:srgbClr val="FFFFFF"/>
                </a:solidFill>
                <a:latin typeface="Calibri"/>
              </a:rPr>
              <a:t>one per cap · k₃ = s·10⁵</a:t>
            </a:r>
          </a:p>
        </p:txBody>
      </p:sp>
      <p:cxnSp>
        <p:nvCxnSpPr>
          <p:cNvPr id="17" name="Connector 23"/>
          <p:cNvCxnSpPr/>
          <p:nvPr/>
        </p:nvCxnSpPr>
        <p:spPr>
          <a:xfrm>
            <a:off x="6640830" y="1572768"/>
            <a:ext cx="32004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24"/>
          <p:cNvSpPr/>
          <p:nvPr/>
        </p:nvSpPr>
        <p:spPr>
          <a:xfrm>
            <a:off x="7006590" y="1316736"/>
            <a:ext cx="1817370" cy="51206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50" b="1" i="0">
                <a:solidFill>
                  <a:srgbClr val="FFFFFF"/>
                </a:solidFill>
                <a:latin typeface="Calibri"/>
              </a:rPr>
              <a:t>Outlet pressure Pd</a:t>
            </a:r>
          </a:p>
          <a:p>
            <a:pPr algn="ctr"/>
            <a:r>
              <a:rPr sz="750" b="0" i="0">
                <a:solidFill>
                  <a:srgbClr val="FFFFFF"/>
                </a:solidFill>
                <a:latin typeface="Calibri"/>
              </a:rPr>
              <a:t>per patient (slide 43)</a:t>
            </a:r>
          </a:p>
        </p:txBody>
      </p:sp>
      <p:sp>
        <p:nvSpPr>
          <p:cNvPr id="19" name="Rectangle 25"/>
          <p:cNvSpPr/>
          <p:nvPr/>
        </p:nvSpPr>
        <p:spPr>
          <a:xfrm>
            <a:off x="320040" y="1901952"/>
            <a:ext cx="109728" cy="10972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TextBox 26"/>
          <p:cNvSpPr txBox="1"/>
          <p:nvPr/>
        </p:nvSpPr>
        <p:spPr>
          <a:xfrm>
            <a:off x="475488" y="1874519"/>
            <a:ext cx="2743200" cy="164592"/>
          </a:xfrm>
          <a:prstGeom prst="rect">
            <a:avLst/>
          </a:prstGeom>
          <a:noFill/>
        </p:spPr>
        <p:txBody>
          <a:bodyPr wrap="square" lIns="0" rIns="0" tIns="0" bIns="0" anchor="t">
            <a:spAutoFit/>
          </a:bodyPr>
          <a:lstStyle/>
          <a:p>
            <a:pPr algn="l"/>
            <a:r>
              <a:rPr sz="700" b="0" i="0">
                <a:solidFill>
                  <a:srgbClr val="6B6965"/>
                </a:solidFill>
                <a:latin typeface="Calibri"/>
              </a:rPr>
              <a:t>new relative to the earlier pipeline</a:t>
            </a:r>
          </a:p>
        </p:txBody>
      </p:sp>
      <p:sp>
        <p:nvSpPr>
          <p:cNvPr id="21" name="TextBox 27"/>
          <p:cNvSpPr txBox="1"/>
          <p:nvPr/>
        </p:nvSpPr>
        <p:spPr>
          <a:xfrm>
            <a:off x="320040" y="2103120"/>
            <a:ext cx="5120640" cy="219456"/>
          </a:xfrm>
          <a:prstGeom prst="rect">
            <a:avLst/>
          </a:prstGeom>
          <a:noFill/>
        </p:spPr>
        <p:txBody>
          <a:bodyPr wrap="square" lIns="0" rIns="0" tIns="0" bIns="0" anchor="t">
            <a:spAutoFit/>
          </a:bodyPr>
          <a:lstStyle/>
          <a:p>
            <a:pPr algn="l"/>
            <a:r>
              <a:rPr sz="1000" b="1" i="0">
                <a:solidFill>
                  <a:srgbClr val="8C1515"/>
                </a:solidFill>
                <a:latin typeface="Calibri"/>
              </a:rPr>
              <a:t>What changed from the earlier Stage 2 settings</a:t>
            </a:r>
          </a:p>
        </p:txBody>
      </p:sp>
      <p:sp>
        <p:nvSpPr>
          <p:cNvPr id="22" name="TextBox 28"/>
          <p:cNvSpPr txBox="1"/>
          <p:nvPr/>
        </p:nvSpPr>
        <p:spPr>
          <a:xfrm>
            <a:off x="1554480" y="2331720"/>
            <a:ext cx="1874519" cy="164592"/>
          </a:xfrm>
          <a:prstGeom prst="rect">
            <a:avLst/>
          </a:prstGeom>
          <a:noFill/>
        </p:spPr>
        <p:txBody>
          <a:bodyPr wrap="square" lIns="0" rIns="0" tIns="0" bIns="0" anchor="t">
            <a:spAutoFit/>
          </a:bodyPr>
          <a:lstStyle/>
          <a:p>
            <a:pPr algn="ctr"/>
            <a:r>
              <a:rPr sz="800" b="1" i="0">
                <a:solidFill>
                  <a:srgbClr val="6B6965"/>
                </a:solidFill>
                <a:latin typeface="Calibri"/>
              </a:rPr>
              <a:t>Earlier</a:t>
            </a:r>
          </a:p>
        </p:txBody>
      </p:sp>
      <p:sp>
        <p:nvSpPr>
          <p:cNvPr id="23" name="TextBox 29"/>
          <p:cNvSpPr txBox="1"/>
          <p:nvPr/>
        </p:nvSpPr>
        <p:spPr>
          <a:xfrm>
            <a:off x="3474720" y="2331720"/>
            <a:ext cx="1874519" cy="164592"/>
          </a:xfrm>
          <a:prstGeom prst="rect">
            <a:avLst/>
          </a:prstGeom>
          <a:noFill/>
        </p:spPr>
        <p:txBody>
          <a:bodyPr wrap="square" lIns="0" rIns="0" tIns="0" bIns="0" anchor="t">
            <a:spAutoFit/>
          </a:bodyPr>
          <a:lstStyle/>
          <a:p>
            <a:pPr algn="ctr"/>
            <a:r>
              <a:rPr sz="800" b="1" i="0">
                <a:solidFill>
                  <a:srgbClr val="8C1515"/>
                </a:solidFill>
                <a:latin typeface="Calibri"/>
              </a:rPr>
              <a:t>Now</a:t>
            </a:r>
          </a:p>
        </p:txBody>
      </p:sp>
      <p:sp>
        <p:nvSpPr>
          <p:cNvPr id="24" name="TextBox 30"/>
          <p:cNvSpPr txBox="1"/>
          <p:nvPr/>
        </p:nvSpPr>
        <p:spPr>
          <a:xfrm>
            <a:off x="320040" y="2523744"/>
            <a:ext cx="1188720" cy="256032"/>
          </a:xfrm>
          <a:prstGeom prst="rect">
            <a:avLst/>
          </a:prstGeom>
          <a:noFill/>
        </p:spPr>
        <p:txBody>
          <a:bodyPr wrap="square" lIns="0" rIns="0" tIns="0" bIns="0" anchor="ctr">
            <a:spAutoFit/>
          </a:bodyPr>
          <a:lstStyle/>
          <a:p>
            <a:pPr algn="l"/>
            <a:r>
              <a:rPr sz="800" b="1" i="0">
                <a:solidFill>
                  <a:srgbClr val="2E2D29"/>
                </a:solidFill>
                <a:latin typeface="Calibri"/>
              </a:rPr>
              <a:t>Tree stiffness</a:t>
            </a:r>
          </a:p>
        </p:txBody>
      </p:sp>
      <p:sp>
        <p:nvSpPr>
          <p:cNvPr id="25" name="Rectangle 31"/>
          <p:cNvSpPr/>
          <p:nvPr/>
        </p:nvSpPr>
        <p:spPr>
          <a:xfrm>
            <a:off x="1554480" y="2523744"/>
            <a:ext cx="1874519" cy="2560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0" i="0">
                <a:solidFill>
                  <a:srgbClr val="6B6965"/>
                </a:solidFill>
                <a:latin typeface="Calibri"/>
              </a:rPr>
              <a:t>k₁ 2×10⁷, k₃ 0, k₂ tuned</a:t>
            </a:r>
          </a:p>
        </p:txBody>
      </p:sp>
      <p:sp>
        <p:nvSpPr>
          <p:cNvPr id="26" name="Rectangle 32"/>
          <p:cNvSpPr/>
          <p:nvPr/>
        </p:nvSpPr>
        <p:spPr>
          <a:xfrm>
            <a:off x="3474720" y="2523744"/>
            <a:ext cx="1874519" cy="25603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1" i="0">
                <a:solidFill>
                  <a:srgbClr val="8C1515"/>
                </a:solidFill>
                <a:latin typeface="Calibri"/>
              </a:rPr>
              <a:t>k₁ 2.6×10⁵, k₂ −14, k₃ = s·10⁵</a:t>
            </a:r>
          </a:p>
        </p:txBody>
      </p:sp>
      <p:sp>
        <p:nvSpPr>
          <p:cNvPr id="27" name="TextBox 33"/>
          <p:cNvSpPr txBox="1"/>
          <p:nvPr/>
        </p:nvSpPr>
        <p:spPr>
          <a:xfrm>
            <a:off x="320040" y="2798063"/>
            <a:ext cx="1188720" cy="256032"/>
          </a:xfrm>
          <a:prstGeom prst="rect">
            <a:avLst/>
          </a:prstGeom>
          <a:noFill/>
        </p:spPr>
        <p:txBody>
          <a:bodyPr wrap="square" lIns="0" rIns="0" tIns="0" bIns="0" anchor="ctr">
            <a:spAutoFit/>
          </a:bodyPr>
          <a:lstStyle/>
          <a:p>
            <a:pPr algn="l"/>
            <a:r>
              <a:rPr sz="800" b="1" i="0">
                <a:solidFill>
                  <a:srgbClr val="2E2D29"/>
                </a:solidFill>
                <a:latin typeface="Calibri"/>
              </a:rPr>
              <a:t>Proximal wall</a:t>
            </a:r>
          </a:p>
        </p:txBody>
      </p:sp>
      <p:sp>
        <p:nvSpPr>
          <p:cNvPr id="28" name="Rectangle 34"/>
          <p:cNvSpPr/>
          <p:nvPr/>
        </p:nvSpPr>
        <p:spPr>
          <a:xfrm>
            <a:off x="1554480" y="2798063"/>
            <a:ext cx="1874519" cy="2560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0" i="0">
                <a:solidFill>
                  <a:srgbClr val="6B6965"/>
                </a:solidFill>
                <a:latin typeface="Calibri"/>
              </a:rPr>
              <a:t>rigid, C = 0</a:t>
            </a:r>
          </a:p>
        </p:txBody>
      </p:sp>
      <p:sp>
        <p:nvSpPr>
          <p:cNvPr id="29" name="Rectangle 35"/>
          <p:cNvSpPr/>
          <p:nvPr/>
        </p:nvSpPr>
        <p:spPr>
          <a:xfrm>
            <a:off x="3474720" y="2798063"/>
            <a:ext cx="1874519" cy="25603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1" i="0">
                <a:solidFill>
                  <a:srgbClr val="8C1515"/>
                </a:solidFill>
                <a:latin typeface="Calibri"/>
              </a:rPr>
              <a:t>Eh/r = s·5×10⁴, tied to k₃</a:t>
            </a:r>
          </a:p>
        </p:txBody>
      </p:sp>
      <p:sp>
        <p:nvSpPr>
          <p:cNvPr id="30" name="TextBox 36"/>
          <p:cNvSpPr txBox="1"/>
          <p:nvPr/>
        </p:nvSpPr>
        <p:spPr>
          <a:xfrm>
            <a:off x="320040" y="3072384"/>
            <a:ext cx="1188720" cy="256032"/>
          </a:xfrm>
          <a:prstGeom prst="rect">
            <a:avLst/>
          </a:prstGeom>
          <a:noFill/>
        </p:spPr>
        <p:txBody>
          <a:bodyPr wrap="square" lIns="0" rIns="0" tIns="0" bIns="0" anchor="ctr">
            <a:spAutoFit/>
          </a:bodyPr>
          <a:lstStyle/>
          <a:p>
            <a:pPr algn="l"/>
            <a:r>
              <a:rPr sz="800" b="1" i="0">
                <a:solidFill>
                  <a:srgbClr val="2E2D29"/>
                </a:solidFill>
                <a:latin typeface="Calibri"/>
              </a:rPr>
              <a:t>3D wall</a:t>
            </a:r>
          </a:p>
        </p:txBody>
      </p:sp>
      <p:sp>
        <p:nvSpPr>
          <p:cNvPr id="31" name="Rectangle 37"/>
          <p:cNvSpPr/>
          <p:nvPr/>
        </p:nvSpPr>
        <p:spPr>
          <a:xfrm>
            <a:off x="1554480" y="3072384"/>
            <a:ext cx="1874519" cy="2560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0" i="0">
                <a:solidFill>
                  <a:srgbClr val="6B6965"/>
                </a:solidFill>
                <a:latin typeface="Calibri"/>
              </a:rPr>
              <a:t>E 2.5×10⁶, c 10⁴</a:t>
            </a:r>
          </a:p>
        </p:txBody>
      </p:sp>
      <p:sp>
        <p:nvSpPr>
          <p:cNvPr id="32" name="Rectangle 38"/>
          <p:cNvSpPr/>
          <p:nvPr/>
        </p:nvSpPr>
        <p:spPr>
          <a:xfrm>
            <a:off x="3474720" y="3072384"/>
            <a:ext cx="1874519" cy="25603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1" i="0">
                <a:solidFill>
                  <a:srgbClr val="8C1515"/>
                </a:solidFill>
                <a:latin typeface="Calibri"/>
              </a:rPr>
              <a:t>E matched per patient; stiffness-scaled c</a:t>
            </a:r>
          </a:p>
        </p:txBody>
      </p:sp>
      <p:sp>
        <p:nvSpPr>
          <p:cNvPr id="33" name="TextBox 39"/>
          <p:cNvSpPr txBox="1"/>
          <p:nvPr/>
        </p:nvSpPr>
        <p:spPr>
          <a:xfrm>
            <a:off x="320040" y="3346704"/>
            <a:ext cx="1188720" cy="256032"/>
          </a:xfrm>
          <a:prstGeom prst="rect">
            <a:avLst/>
          </a:prstGeom>
          <a:noFill/>
        </p:spPr>
        <p:txBody>
          <a:bodyPr wrap="square" lIns="0" rIns="0" tIns="0" bIns="0" anchor="ctr">
            <a:spAutoFit/>
          </a:bodyPr>
          <a:lstStyle/>
          <a:p>
            <a:pPr algn="l"/>
            <a:r>
              <a:rPr sz="800" b="1" i="0">
                <a:solidFill>
                  <a:srgbClr val="2E2D29"/>
                </a:solidFill>
                <a:latin typeface="Calibri"/>
              </a:rPr>
              <a:t>Tree outlet P</a:t>
            </a:r>
          </a:p>
        </p:txBody>
      </p:sp>
      <p:sp>
        <p:nvSpPr>
          <p:cNvPr id="34" name="Rectangle 40"/>
          <p:cNvSpPr/>
          <p:nvPr/>
        </p:nvSpPr>
        <p:spPr>
          <a:xfrm>
            <a:off x="1554480" y="3346704"/>
            <a:ext cx="1874519" cy="2560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0" i="0">
                <a:solidFill>
                  <a:srgbClr val="6B6965"/>
                </a:solidFill>
                <a:latin typeface="Calibri"/>
              </a:rPr>
              <a:t>PCWP, clamped to diastolic</a:t>
            </a:r>
          </a:p>
        </p:txBody>
      </p:sp>
      <p:sp>
        <p:nvSpPr>
          <p:cNvPr id="35" name="Rectangle 41"/>
          <p:cNvSpPr/>
          <p:nvPr/>
        </p:nvSpPr>
        <p:spPr>
          <a:xfrm>
            <a:off x="3474720" y="3346704"/>
            <a:ext cx="1874519" cy="25603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1" i="0">
                <a:solidFill>
                  <a:srgbClr val="8C1515"/>
                </a:solidFill>
                <a:latin typeface="Calibri"/>
              </a:rPr>
              <a:t>per-patient policy</a:t>
            </a:r>
          </a:p>
        </p:txBody>
      </p:sp>
      <p:sp>
        <p:nvSpPr>
          <p:cNvPr id="36" name="TextBox 42"/>
          <p:cNvSpPr txBox="1"/>
          <p:nvPr/>
        </p:nvSpPr>
        <p:spPr>
          <a:xfrm>
            <a:off x="320040" y="3621024"/>
            <a:ext cx="1188720" cy="256032"/>
          </a:xfrm>
          <a:prstGeom prst="rect">
            <a:avLst/>
          </a:prstGeom>
          <a:noFill/>
        </p:spPr>
        <p:txBody>
          <a:bodyPr wrap="square" lIns="0" rIns="0" tIns="0" bIns="0" anchor="ctr">
            <a:spAutoFit/>
          </a:bodyPr>
          <a:lstStyle/>
          <a:p>
            <a:pPr algn="l"/>
            <a:r>
              <a:rPr sz="800" b="1" i="0">
                <a:solidFill>
                  <a:srgbClr val="2E2D29"/>
                </a:solidFill>
                <a:latin typeface="Calibri"/>
              </a:rPr>
              <a:t>Tree diameters</a:t>
            </a:r>
          </a:p>
        </p:txBody>
      </p:sp>
      <p:sp>
        <p:nvSpPr>
          <p:cNvPr id="37" name="Rectangle 43"/>
          <p:cNvSpPr/>
          <p:nvPr/>
        </p:nvSpPr>
        <p:spPr>
          <a:xfrm>
            <a:off x="1554480" y="3621024"/>
            <a:ext cx="1874519" cy="2560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0" i="0">
                <a:solidFill>
                  <a:srgbClr val="6B6965"/>
                </a:solidFill>
                <a:latin typeface="Calibri"/>
              </a:rPr>
              <a:t>s = 0.1 toward side mean</a:t>
            </a:r>
          </a:p>
        </p:txBody>
      </p:sp>
      <p:sp>
        <p:nvSpPr>
          <p:cNvPr id="38" name="Rectangle 44"/>
          <p:cNvSpPr/>
          <p:nvPr/>
        </p:nvSpPr>
        <p:spPr>
          <a:xfrm>
            <a:off x="3474720" y="3621024"/>
            <a:ext cx="1874519" cy="25603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1" i="0">
                <a:solidFill>
                  <a:srgbClr val="8C1515"/>
                </a:solidFill>
                <a:latin typeface="Calibri"/>
              </a:rPr>
              <a:t>measured cap d (s = 1.0)</a:t>
            </a:r>
          </a:p>
        </p:txBody>
      </p:sp>
      <p:sp>
        <p:nvSpPr>
          <p:cNvPr id="39" name="TextBox 45"/>
          <p:cNvSpPr txBox="1"/>
          <p:nvPr/>
        </p:nvSpPr>
        <p:spPr>
          <a:xfrm>
            <a:off x="320040" y="3895344"/>
            <a:ext cx="1188720" cy="256032"/>
          </a:xfrm>
          <a:prstGeom prst="rect">
            <a:avLst/>
          </a:prstGeom>
          <a:noFill/>
        </p:spPr>
        <p:txBody>
          <a:bodyPr wrap="square" lIns="0" rIns="0" tIns="0" bIns="0" anchor="ctr">
            <a:spAutoFit/>
          </a:bodyPr>
          <a:lstStyle/>
          <a:p>
            <a:pPr algn="l"/>
            <a:r>
              <a:rPr sz="800" b="1" i="0">
                <a:solidFill>
                  <a:srgbClr val="2E2D29"/>
                </a:solidFill>
                <a:latin typeface="Calibri"/>
              </a:rPr>
              <a:t>Morphometry</a:t>
            </a:r>
          </a:p>
        </p:txBody>
      </p:sp>
      <p:sp>
        <p:nvSpPr>
          <p:cNvPr id="40" name="Rectangle 46"/>
          <p:cNvSpPr/>
          <p:nvPr/>
        </p:nvSpPr>
        <p:spPr>
          <a:xfrm>
            <a:off x="1554480" y="3895344"/>
            <a:ext cx="1874519" cy="2560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0" i="0">
                <a:solidFill>
                  <a:srgbClr val="6B6965"/>
                </a:solidFill>
                <a:latin typeface="Calibri"/>
              </a:rPr>
              <a:t>ξ free, up to 6</a:t>
            </a:r>
          </a:p>
        </p:txBody>
      </p:sp>
      <p:sp>
        <p:nvSpPr>
          <p:cNvPr id="41" name="Rectangle 47"/>
          <p:cNvSpPr/>
          <p:nvPr/>
        </p:nvSpPr>
        <p:spPr>
          <a:xfrm>
            <a:off x="3474720" y="3895344"/>
            <a:ext cx="1874519" cy="25603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1" i="0">
                <a:solidFill>
                  <a:srgbClr val="8C1515"/>
                </a:solidFill>
                <a:latin typeface="Calibri"/>
              </a:rPr>
              <a:t>ξ ∈ [2.1, 3], η ∈ [0.3, 1]</a:t>
            </a:r>
          </a:p>
        </p:txBody>
      </p:sp>
      <p:sp>
        <p:nvSpPr>
          <p:cNvPr id="42" name="TextBox 48"/>
          <p:cNvSpPr txBox="1"/>
          <p:nvPr/>
        </p:nvSpPr>
        <p:spPr>
          <a:xfrm>
            <a:off x="320040" y="4169664"/>
            <a:ext cx="1188720" cy="256032"/>
          </a:xfrm>
          <a:prstGeom prst="rect">
            <a:avLst/>
          </a:prstGeom>
          <a:noFill/>
        </p:spPr>
        <p:txBody>
          <a:bodyPr wrap="square" lIns="0" rIns="0" tIns="0" bIns="0" anchor="ctr">
            <a:spAutoFit/>
          </a:bodyPr>
          <a:lstStyle/>
          <a:p>
            <a:pPr algn="l"/>
            <a:r>
              <a:rPr sz="800" b="1" i="0">
                <a:solidFill>
                  <a:srgbClr val="2E2D29"/>
                </a:solidFill>
                <a:latin typeface="Calibri"/>
              </a:rPr>
              <a:t>Objective</a:t>
            </a:r>
          </a:p>
        </p:txBody>
      </p:sp>
      <p:sp>
        <p:nvSpPr>
          <p:cNvPr id="43" name="Rectangle 49"/>
          <p:cNvSpPr/>
          <p:nvPr/>
        </p:nvSpPr>
        <p:spPr>
          <a:xfrm>
            <a:off x="1554480" y="4169664"/>
            <a:ext cx="1874519" cy="2560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0" i="0">
                <a:solidFill>
                  <a:srgbClr val="6B6965"/>
                </a:solidFill>
                <a:latin typeface="Calibri"/>
              </a:rPr>
              <a:t>relative error, 2 cycles</a:t>
            </a:r>
          </a:p>
        </p:txBody>
      </p:sp>
      <p:sp>
        <p:nvSpPr>
          <p:cNvPr id="44" name="Rectangle 50"/>
          <p:cNvSpPr/>
          <p:nvPr/>
        </p:nvSpPr>
        <p:spPr>
          <a:xfrm>
            <a:off x="3474720" y="4169664"/>
            <a:ext cx="1874519" cy="25603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1" i="0">
                <a:solidFill>
                  <a:srgbClr val="8C1515"/>
                </a:solidFill>
                <a:latin typeface="Calibri"/>
              </a:rPr>
              <a:t>χ² on a periodic cycle</a:t>
            </a:r>
          </a:p>
        </p:txBody>
      </p:sp>
      <p:sp>
        <p:nvSpPr>
          <p:cNvPr id="45" name="TextBox 51"/>
          <p:cNvSpPr txBox="1"/>
          <p:nvPr/>
        </p:nvSpPr>
        <p:spPr>
          <a:xfrm>
            <a:off x="320040" y="4443984"/>
            <a:ext cx="1188720" cy="256032"/>
          </a:xfrm>
          <a:prstGeom prst="rect">
            <a:avLst/>
          </a:prstGeom>
          <a:noFill/>
        </p:spPr>
        <p:txBody>
          <a:bodyPr wrap="square" lIns="0" rIns="0" tIns="0" bIns="0" anchor="ctr">
            <a:spAutoFit/>
          </a:bodyPr>
          <a:lstStyle/>
          <a:p>
            <a:pPr algn="l"/>
            <a:r>
              <a:rPr sz="800" b="1" i="0">
                <a:solidFill>
                  <a:srgbClr val="2E2D29"/>
                </a:solidFill>
                <a:latin typeface="Calibri"/>
              </a:rPr>
              <a:t>Optimizer</a:t>
            </a:r>
          </a:p>
        </p:txBody>
      </p:sp>
      <p:sp>
        <p:nvSpPr>
          <p:cNvPr id="46" name="Rectangle 52"/>
          <p:cNvSpPr/>
          <p:nvPr/>
        </p:nvSpPr>
        <p:spPr>
          <a:xfrm>
            <a:off x="1554480" y="4443984"/>
            <a:ext cx="1874519" cy="2560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0" i="0">
                <a:solidFill>
                  <a:srgbClr val="6B6965"/>
                </a:solidFill>
                <a:latin typeface="Calibri"/>
              </a:rPr>
              <a:t>shared trees only</a:t>
            </a:r>
          </a:p>
        </p:txBody>
      </p:sp>
      <p:sp>
        <p:nvSpPr>
          <p:cNvPr id="47" name="Rectangle 53"/>
          <p:cNvSpPr/>
          <p:nvPr/>
        </p:nvSpPr>
        <p:spPr>
          <a:xfrm>
            <a:off x="3474720" y="4443984"/>
            <a:ext cx="1874519" cy="256032"/>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50" b="1" i="0">
                <a:solidFill>
                  <a:srgbClr val="8C1515"/>
                </a:solidFill>
                <a:latin typeface="Calibri"/>
              </a:rPr>
              <a:t>shared → per-cap polish</a:t>
            </a:r>
          </a:p>
        </p:txBody>
      </p:sp>
      <p:sp>
        <p:nvSpPr>
          <p:cNvPr id="48" name="Rectangle 54"/>
          <p:cNvSpPr/>
          <p:nvPr/>
        </p:nvSpPr>
        <p:spPr>
          <a:xfrm>
            <a:off x="5623560" y="2103120"/>
            <a:ext cx="1554480" cy="60350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9" name="TextBox 55"/>
          <p:cNvSpPr txBox="1"/>
          <p:nvPr/>
        </p:nvSpPr>
        <p:spPr>
          <a:xfrm>
            <a:off x="5715000" y="2130552"/>
            <a:ext cx="457200" cy="548640"/>
          </a:xfrm>
          <a:prstGeom prst="rect">
            <a:avLst/>
          </a:prstGeom>
          <a:noFill/>
        </p:spPr>
        <p:txBody>
          <a:bodyPr wrap="square" lIns="0" rIns="0" tIns="0" bIns="0" anchor="ctr">
            <a:spAutoFit/>
          </a:bodyPr>
          <a:lstStyle/>
          <a:p>
            <a:pPr algn="l"/>
            <a:r>
              <a:rPr sz="2400" b="1" i="0">
                <a:solidFill>
                  <a:srgbClr val="8C1515"/>
                </a:solidFill>
                <a:latin typeface="Calibri"/>
              </a:rPr>
              <a:t>5</a:t>
            </a:r>
          </a:p>
        </p:txBody>
      </p:sp>
      <p:sp>
        <p:nvSpPr>
          <p:cNvPr id="50" name="TextBox 56"/>
          <p:cNvSpPr txBox="1"/>
          <p:nvPr/>
        </p:nvSpPr>
        <p:spPr>
          <a:xfrm>
            <a:off x="6172200" y="2130552"/>
            <a:ext cx="960119" cy="548640"/>
          </a:xfrm>
          <a:prstGeom prst="rect">
            <a:avLst/>
          </a:prstGeom>
          <a:noFill/>
        </p:spPr>
        <p:txBody>
          <a:bodyPr wrap="square" lIns="0" rIns="0" tIns="0" bIns="0" anchor="ctr">
            <a:spAutoFit/>
          </a:bodyPr>
          <a:lstStyle/>
          <a:p>
            <a:pPr algn="l"/>
            <a:r>
              <a:rPr sz="850" b="1" i="0">
                <a:solidFill>
                  <a:srgbClr val="2E2D29"/>
                </a:solidFill>
                <a:latin typeface="Calibri"/>
              </a:rPr>
              <a:t>tuned parameters</a:t>
            </a:r>
          </a:p>
        </p:txBody>
      </p:sp>
      <p:sp>
        <p:nvSpPr>
          <p:cNvPr id="51" name="Rectangle 57"/>
          <p:cNvSpPr/>
          <p:nvPr/>
        </p:nvSpPr>
        <p:spPr>
          <a:xfrm>
            <a:off x="7269480" y="2103120"/>
            <a:ext cx="1554480" cy="60350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2" name="TextBox 58"/>
          <p:cNvSpPr txBox="1"/>
          <p:nvPr/>
        </p:nvSpPr>
        <p:spPr>
          <a:xfrm>
            <a:off x="7360920" y="2130552"/>
            <a:ext cx="457200" cy="548640"/>
          </a:xfrm>
          <a:prstGeom prst="rect">
            <a:avLst/>
          </a:prstGeom>
          <a:noFill/>
        </p:spPr>
        <p:txBody>
          <a:bodyPr wrap="square" lIns="0" rIns="0" tIns="0" bIns="0" anchor="ctr">
            <a:spAutoFit/>
          </a:bodyPr>
          <a:lstStyle/>
          <a:p>
            <a:pPr algn="l"/>
            <a:r>
              <a:rPr sz="2400" b="1" i="0">
                <a:solidFill>
                  <a:srgbClr val="279989"/>
                </a:solidFill>
                <a:latin typeface="Calibri"/>
              </a:rPr>
              <a:t>4</a:t>
            </a:r>
          </a:p>
        </p:txBody>
      </p:sp>
      <p:sp>
        <p:nvSpPr>
          <p:cNvPr id="53" name="TextBox 59"/>
          <p:cNvSpPr txBox="1"/>
          <p:nvPr/>
        </p:nvSpPr>
        <p:spPr>
          <a:xfrm>
            <a:off x="7818120" y="2130552"/>
            <a:ext cx="960119" cy="548640"/>
          </a:xfrm>
          <a:prstGeom prst="rect">
            <a:avLst/>
          </a:prstGeom>
          <a:noFill/>
        </p:spPr>
        <p:txBody>
          <a:bodyPr wrap="square" lIns="0" rIns="0" tIns="0" bIns="0" anchor="ctr">
            <a:spAutoFit/>
          </a:bodyPr>
          <a:lstStyle/>
          <a:p>
            <a:pPr algn="l"/>
            <a:r>
              <a:rPr sz="850" b="1" i="0">
                <a:solidFill>
                  <a:srgbClr val="2E2D29"/>
                </a:solidFill>
                <a:latin typeface="Calibri"/>
              </a:rPr>
              <a:t>clinical targets</a:t>
            </a:r>
          </a:p>
        </p:txBody>
      </p:sp>
      <p:sp>
        <p:nvSpPr>
          <p:cNvPr id="54" name="Rectangle 60"/>
          <p:cNvSpPr/>
          <p:nvPr/>
        </p:nvSpPr>
        <p:spPr>
          <a:xfrm>
            <a:off x="5623560" y="2798064"/>
            <a:ext cx="1554480" cy="493776"/>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5" name="TextBox 61"/>
          <p:cNvSpPr txBox="1"/>
          <p:nvPr/>
        </p:nvSpPr>
        <p:spPr>
          <a:xfrm>
            <a:off x="5696712" y="2825496"/>
            <a:ext cx="1408176" cy="438912"/>
          </a:xfrm>
          <a:prstGeom prst="rect">
            <a:avLst/>
          </a:prstGeom>
          <a:noFill/>
        </p:spPr>
        <p:txBody>
          <a:bodyPr wrap="square" lIns="0" rIns="0" tIns="0" bIns="0" anchor="ctr">
            <a:spAutoFit/>
          </a:bodyPr>
          <a:lstStyle/>
          <a:p>
            <a:pPr algn="l"/>
            <a:r>
              <a:rPr sz="750" b="0" i="0">
                <a:solidFill>
                  <a:srgbClr val="6B6965"/>
                </a:solidFill>
                <a:latin typeface="Calibri"/>
              </a:rPr>
              <a:t>ξ, LPA and RPA</a:t>
            </a:r>
          </a:p>
          <a:p>
            <a:pPr algn="l"/>
            <a:r>
              <a:rPr sz="850" b="1" i="0">
                <a:solidFill>
                  <a:srgbClr val="8C1515"/>
                </a:solidFill>
                <a:latin typeface="Calibri"/>
              </a:rPr>
              <a:t>[2.1, 3.0]</a:t>
            </a:r>
          </a:p>
        </p:txBody>
      </p:sp>
      <p:sp>
        <p:nvSpPr>
          <p:cNvPr id="56" name="Rectangle 62"/>
          <p:cNvSpPr/>
          <p:nvPr/>
        </p:nvSpPr>
        <p:spPr>
          <a:xfrm>
            <a:off x="5623560" y="3364992"/>
            <a:ext cx="1554480" cy="493776"/>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7" name="TextBox 63"/>
          <p:cNvSpPr txBox="1"/>
          <p:nvPr/>
        </p:nvSpPr>
        <p:spPr>
          <a:xfrm>
            <a:off x="5696712" y="3392424"/>
            <a:ext cx="1408176" cy="438912"/>
          </a:xfrm>
          <a:prstGeom prst="rect">
            <a:avLst/>
          </a:prstGeom>
          <a:noFill/>
        </p:spPr>
        <p:txBody>
          <a:bodyPr wrap="square" lIns="0" rIns="0" tIns="0" bIns="0" anchor="ctr">
            <a:spAutoFit/>
          </a:bodyPr>
          <a:lstStyle/>
          <a:p>
            <a:pPr algn="l"/>
            <a:r>
              <a:rPr sz="750" b="0" i="0">
                <a:solidFill>
                  <a:srgbClr val="6B6965"/>
                </a:solidFill>
                <a:latin typeface="Calibri"/>
              </a:rPr>
              <a:t>η, LPA and RPA</a:t>
            </a:r>
          </a:p>
          <a:p>
            <a:pPr algn="l"/>
            <a:r>
              <a:rPr sz="850" b="1" i="0">
                <a:solidFill>
                  <a:srgbClr val="8C1515"/>
                </a:solidFill>
                <a:latin typeface="Calibri"/>
              </a:rPr>
              <a:t>[0.3, 1.0]</a:t>
            </a:r>
          </a:p>
        </p:txBody>
      </p:sp>
      <p:sp>
        <p:nvSpPr>
          <p:cNvPr id="58" name="Rectangle 64"/>
          <p:cNvSpPr/>
          <p:nvPr/>
        </p:nvSpPr>
        <p:spPr>
          <a:xfrm>
            <a:off x="5623560" y="3931920"/>
            <a:ext cx="1554480" cy="493776"/>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9" name="TextBox 65"/>
          <p:cNvSpPr txBox="1"/>
          <p:nvPr/>
        </p:nvSpPr>
        <p:spPr>
          <a:xfrm>
            <a:off x="5696712" y="3959352"/>
            <a:ext cx="1408176" cy="438912"/>
          </a:xfrm>
          <a:prstGeom prst="rect">
            <a:avLst/>
          </a:prstGeom>
          <a:noFill/>
        </p:spPr>
        <p:txBody>
          <a:bodyPr wrap="square" lIns="0" rIns="0" tIns="0" bIns="0" anchor="ctr">
            <a:spAutoFit/>
          </a:bodyPr>
          <a:lstStyle/>
          <a:p>
            <a:pPr algn="l"/>
            <a:r>
              <a:rPr sz="750" b="0" i="0">
                <a:solidFill>
                  <a:srgbClr val="6B6965"/>
                </a:solidFill>
                <a:latin typeface="Calibri"/>
              </a:rPr>
              <a:t>s, stiffness multiplier</a:t>
            </a:r>
          </a:p>
          <a:p>
            <a:pPr algn="l"/>
            <a:r>
              <a:rPr sz="850" b="1" i="0">
                <a:solidFill>
                  <a:srgbClr val="8C1515"/>
                </a:solidFill>
                <a:latin typeface="Calibri"/>
              </a:rPr>
              <a:t>[0.5, 20], log</a:t>
            </a:r>
          </a:p>
        </p:txBody>
      </p:sp>
      <p:sp>
        <p:nvSpPr>
          <p:cNvPr id="60" name="Rectangle 66"/>
          <p:cNvSpPr/>
          <p:nvPr/>
        </p:nvSpPr>
        <p:spPr>
          <a:xfrm>
            <a:off x="7269480" y="2798064"/>
            <a:ext cx="1554480" cy="493776"/>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1" name="TextBox 67"/>
          <p:cNvSpPr txBox="1"/>
          <p:nvPr/>
        </p:nvSpPr>
        <p:spPr>
          <a:xfrm>
            <a:off x="7342631" y="2825496"/>
            <a:ext cx="1408176" cy="438912"/>
          </a:xfrm>
          <a:prstGeom prst="rect">
            <a:avLst/>
          </a:prstGeom>
          <a:noFill/>
        </p:spPr>
        <p:txBody>
          <a:bodyPr wrap="square" lIns="0" rIns="0" tIns="0" bIns="0" anchor="ctr">
            <a:spAutoFit/>
          </a:bodyPr>
          <a:lstStyle/>
          <a:p>
            <a:pPr algn="l"/>
            <a:r>
              <a:rPr sz="750" b="0" i="0">
                <a:solidFill>
                  <a:srgbClr val="6B6965"/>
                </a:solidFill>
                <a:latin typeface="Calibri"/>
              </a:rPr>
              <a:t>MPA sys / dia / mean</a:t>
            </a:r>
          </a:p>
          <a:p>
            <a:pPr algn="l"/>
            <a:r>
              <a:rPr sz="850" b="1" i="0">
                <a:solidFill>
                  <a:srgbClr val="279989"/>
                </a:solidFill>
                <a:latin typeface="Calibri"/>
              </a:rPr>
              <a:t>catheter, σ 2 mmHg</a:t>
            </a:r>
          </a:p>
        </p:txBody>
      </p:sp>
      <p:sp>
        <p:nvSpPr>
          <p:cNvPr id="62" name="Rectangle 68"/>
          <p:cNvSpPr/>
          <p:nvPr/>
        </p:nvSpPr>
        <p:spPr>
          <a:xfrm>
            <a:off x="7269480" y="3364992"/>
            <a:ext cx="1554480" cy="493776"/>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3" name="TextBox 69"/>
          <p:cNvSpPr txBox="1"/>
          <p:nvPr/>
        </p:nvSpPr>
        <p:spPr>
          <a:xfrm>
            <a:off x="7342631" y="3392424"/>
            <a:ext cx="1408176" cy="438912"/>
          </a:xfrm>
          <a:prstGeom prst="rect">
            <a:avLst/>
          </a:prstGeom>
          <a:noFill/>
        </p:spPr>
        <p:txBody>
          <a:bodyPr wrap="square" lIns="0" rIns="0" tIns="0" bIns="0" anchor="ctr">
            <a:spAutoFit/>
          </a:bodyPr>
          <a:lstStyle/>
          <a:p>
            <a:pPr algn="l"/>
            <a:r>
              <a:rPr sz="750" b="0" i="0">
                <a:solidFill>
                  <a:srgbClr val="6B6965"/>
                </a:solidFill>
                <a:latin typeface="Calibri"/>
              </a:rPr>
              <a:t>RPA split</a:t>
            </a:r>
          </a:p>
          <a:p>
            <a:pPr algn="l"/>
            <a:r>
              <a:rPr sz="850" b="1" i="0">
                <a:solidFill>
                  <a:srgbClr val="279989"/>
                </a:solidFill>
                <a:latin typeface="Calibri"/>
              </a:rPr>
              <a:t>MRI / perfusion, σ 0.02</a:t>
            </a:r>
          </a:p>
        </p:txBody>
      </p:sp>
      <p:sp>
        <p:nvSpPr>
          <p:cNvPr id="64" name="Rectangle 70"/>
          <p:cNvSpPr/>
          <p:nvPr/>
        </p:nvSpPr>
        <p:spPr>
          <a:xfrm>
            <a:off x="7269480" y="3931920"/>
            <a:ext cx="1554480" cy="493776"/>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5" name="TextBox 71"/>
          <p:cNvSpPr txBox="1"/>
          <p:nvPr/>
        </p:nvSpPr>
        <p:spPr>
          <a:xfrm>
            <a:off x="7342631" y="3959352"/>
            <a:ext cx="1408176" cy="438912"/>
          </a:xfrm>
          <a:prstGeom prst="rect">
            <a:avLst/>
          </a:prstGeom>
          <a:noFill/>
        </p:spPr>
        <p:txBody>
          <a:bodyPr wrap="square" lIns="0" rIns="0" tIns="0" bIns="0" anchor="ctr">
            <a:spAutoFit/>
          </a:bodyPr>
          <a:lstStyle/>
          <a:p>
            <a:pPr algn="l"/>
            <a:r>
              <a:rPr sz="750" b="0" i="0">
                <a:solidFill>
                  <a:srgbClr val="6B6965"/>
                </a:solidFill>
                <a:latin typeface="Calibri"/>
              </a:rPr>
              <a:t>Validation check</a:t>
            </a:r>
          </a:p>
          <a:p>
            <a:pPr algn="l"/>
            <a:r>
              <a:rPr sz="850" b="1" i="0">
                <a:solidFill>
                  <a:srgbClr val="279989"/>
                </a:solidFill>
                <a:latin typeface="Calibri"/>
              </a:rPr>
              <a:t>C vs SV/PP bracket</a:t>
            </a:r>
          </a:p>
        </p:txBody>
      </p:sp>
      <p:sp>
        <p:nvSpPr>
          <p:cNvPr id="66"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7" name="TextBox 73"/>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svz workspace default since 16 Oct: only s and the tree morphometry are tuned.</a:t>
            </a:r>
          </a:p>
        </p:txBody>
      </p:sp>
      <p:sp>
        <p:nvSpPr>
          <p:cNvPr id="68" name="TextBox 74"/>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Fixed and tuned parameters. Reason: Duplicate of the parameters slide.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Physiological χ² fell 267 → 17; shortcuts rejected</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316736"/>
            <a:ext cx="4846320" cy="219456"/>
          </a:xfrm>
          <a:prstGeom prst="rect">
            <a:avLst/>
          </a:prstGeom>
          <a:noFill/>
        </p:spPr>
        <p:txBody>
          <a:bodyPr wrap="square" lIns="0" rIns="0" tIns="0" bIns="0" anchor="t">
            <a:spAutoFit/>
          </a:bodyPr>
          <a:lstStyle/>
          <a:p>
            <a:pPr algn="l"/>
            <a:r>
              <a:rPr sz="1000" b="1" i="0">
                <a:solidFill>
                  <a:srgbClr val="8C1515"/>
                </a:solidFill>
                <a:latin typeface="Calibri"/>
              </a:rPr>
              <a:t>Best physiological fit after each adopted change (χ², published model)</a:t>
            </a:r>
          </a:p>
        </p:txBody>
      </p:sp>
      <p:graphicFrame>
        <p:nvGraphicFramePr>
          <p:cNvPr id="13" name="Chart 19"/>
          <p:cNvGraphicFramePr>
            <a:graphicFrameLocks noGrp="1"/>
          </p:cNvGraphicFramePr>
          <p:nvPr/>
        </p:nvGraphicFramePr>
        <p:xfrm>
          <a:off x="320040" y="1572768"/>
          <a:ext cx="4846320" cy="3017520"/>
        </p:xfrm>
        <a:graphic>
          <a:graphicData uri="http://schemas.openxmlformats.org/drawingml/2006/chart">
            <c:chart xmlns:c="http://schemas.openxmlformats.org/drawingml/2006/chart" r:id="rId3"/>
          </a:graphicData>
        </a:graphic>
      </p:graphicFrame>
      <p:sp>
        <p:nvSpPr>
          <p:cNvPr id="14" name="Rectangle 20"/>
          <p:cNvSpPr/>
          <p:nvPr/>
        </p:nvSpPr>
        <p:spPr>
          <a:xfrm>
            <a:off x="5394960" y="1316736"/>
            <a:ext cx="3429000" cy="327355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5" name="TextBox 21"/>
          <p:cNvSpPr txBox="1"/>
          <p:nvPr/>
        </p:nvSpPr>
        <p:spPr>
          <a:xfrm>
            <a:off x="5522976" y="1389888"/>
            <a:ext cx="3172968" cy="237744"/>
          </a:xfrm>
          <a:prstGeom prst="rect">
            <a:avLst/>
          </a:prstGeom>
          <a:noFill/>
        </p:spPr>
        <p:txBody>
          <a:bodyPr wrap="square" lIns="0" rIns="0" tIns="0" bIns="0" anchor="t">
            <a:spAutoFit/>
          </a:bodyPr>
          <a:lstStyle/>
          <a:p>
            <a:pPr algn="l"/>
            <a:r>
              <a:rPr sz="1100" b="1" i="0">
                <a:solidFill>
                  <a:srgbClr val="8C1515"/>
                </a:solidFill>
                <a:latin typeface="Calibri"/>
              </a:rPr>
              <a:t>Shortcuts that lower χ² but were rejected</a:t>
            </a:r>
          </a:p>
        </p:txBody>
      </p:sp>
      <p:sp>
        <p:nvSpPr>
          <p:cNvPr id="16" name="Rectangle 22"/>
          <p:cNvSpPr/>
          <p:nvPr/>
        </p:nvSpPr>
        <p:spPr>
          <a:xfrm>
            <a:off x="5522976" y="1755648"/>
            <a:ext cx="749808" cy="749808"/>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600" b="1" i="0">
                <a:solidFill>
                  <a:srgbClr val="8C1515"/>
                </a:solidFill>
                <a:latin typeface="Calibri"/>
              </a:rPr>
              <a:t>2.4</a:t>
            </a:r>
          </a:p>
          <a:p>
            <a:pPr algn="ctr"/>
            <a:r>
              <a:rPr sz="750" b="1" i="0">
                <a:solidFill>
                  <a:srgbClr val="8C1515"/>
                </a:solidFill>
                <a:latin typeface="Calibri"/>
              </a:rPr>
              <a:t>χ²  ✗</a:t>
            </a:r>
          </a:p>
        </p:txBody>
      </p:sp>
      <p:sp>
        <p:nvSpPr>
          <p:cNvPr id="17" name="TextBox 23"/>
          <p:cNvSpPr txBox="1"/>
          <p:nvPr/>
        </p:nvSpPr>
        <p:spPr>
          <a:xfrm>
            <a:off x="6382512" y="1792224"/>
            <a:ext cx="2313432" cy="713232"/>
          </a:xfrm>
          <a:prstGeom prst="rect">
            <a:avLst/>
          </a:prstGeom>
          <a:noFill/>
        </p:spPr>
        <p:txBody>
          <a:bodyPr wrap="square" lIns="0" rIns="0" tIns="0" bIns="0" anchor="t">
            <a:spAutoFit/>
          </a:bodyPr>
          <a:lstStyle/>
          <a:p>
            <a:pPr algn="l"/>
            <a:r>
              <a:rPr sz="900" b="1" i="0">
                <a:solidFill>
                  <a:srgbClr val="2E2D29"/>
                </a:solidFill>
                <a:latin typeface="Calibri"/>
              </a:rPr>
              <a:t>k₃ = 0, k₂ free (old pipeline)</a:t>
            </a:r>
          </a:p>
          <a:p>
            <a:pPr algn="l"/>
            <a:r>
              <a:rPr sz="800" b="0" i="0">
                <a:solidFill>
                  <a:srgbClr val="6B6965"/>
                </a:solidFill>
                <a:latin typeface="Calibri"/>
              </a:rPr>
              <a:t>Root Eh/r 60–7,500 dyn/cm²; tree C 31–35 mL/mmHg, ~25× SV/PP</a:t>
            </a:r>
          </a:p>
        </p:txBody>
      </p:sp>
      <p:sp>
        <p:nvSpPr>
          <p:cNvPr id="18" name="Rectangle 24"/>
          <p:cNvSpPr/>
          <p:nvPr/>
        </p:nvSpPr>
        <p:spPr>
          <a:xfrm>
            <a:off x="5522976" y="2651760"/>
            <a:ext cx="749808" cy="749808"/>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600" b="1" i="0">
                <a:solidFill>
                  <a:srgbClr val="8C1515"/>
                </a:solidFill>
                <a:latin typeface="Calibri"/>
              </a:rPr>
              <a:t>2.9</a:t>
            </a:r>
          </a:p>
          <a:p>
            <a:pPr algn="ctr"/>
            <a:r>
              <a:rPr sz="750" b="1" i="0">
                <a:solidFill>
                  <a:srgbClr val="8C1515"/>
                </a:solidFill>
                <a:latin typeface="Calibri"/>
              </a:rPr>
              <a:t>χ²  ✗</a:t>
            </a:r>
          </a:p>
        </p:txBody>
      </p:sp>
      <p:sp>
        <p:nvSpPr>
          <p:cNvPr id="19" name="TextBox 25"/>
          <p:cNvSpPr txBox="1"/>
          <p:nvPr/>
        </p:nvSpPr>
        <p:spPr>
          <a:xfrm>
            <a:off x="6382512" y="2688336"/>
            <a:ext cx="2313432" cy="713232"/>
          </a:xfrm>
          <a:prstGeom prst="rect">
            <a:avLst/>
          </a:prstGeom>
          <a:noFill/>
        </p:spPr>
        <p:txBody>
          <a:bodyPr wrap="square" lIns="0" rIns="0" tIns="0" bIns="0" anchor="t">
            <a:spAutoFit/>
          </a:bodyPr>
          <a:lstStyle/>
          <a:p>
            <a:pPr algn="l"/>
            <a:r>
              <a:rPr sz="900" b="1" i="0">
                <a:solidFill>
                  <a:srgbClr val="2E2D29"/>
                </a:solidFill>
                <a:latin typeface="Calibri"/>
              </a:rPr>
              <a:t>k₃ lowered toward 0</a:t>
            </a:r>
          </a:p>
          <a:p>
            <a:pPr algn="l"/>
            <a:r>
              <a:rPr sz="800" b="0" i="0">
                <a:solidFill>
                  <a:srgbClr val="6B6965"/>
                </a:solidFill>
                <a:latin typeface="Calibri"/>
              </a:rPr>
              <a:t>One oversized cap holds 11.9 of 12.5 mL/mmHg; optimizer gap 7.3 mmHg</a:t>
            </a:r>
          </a:p>
        </p:txBody>
      </p:sp>
      <p:sp>
        <p:nvSpPr>
          <p:cNvPr id="20" name="Rectangle 26"/>
          <p:cNvSpPr/>
          <p:nvPr/>
        </p:nvSpPr>
        <p:spPr>
          <a:xfrm>
            <a:off x="5522976" y="3547872"/>
            <a:ext cx="749808" cy="749808"/>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600" b="1" i="0">
                <a:solidFill>
                  <a:srgbClr val="8C1515"/>
                </a:solidFill>
                <a:latin typeface="Calibri"/>
              </a:rPr>
              <a:t>13.5</a:t>
            </a:r>
          </a:p>
          <a:p>
            <a:pPr algn="ctr"/>
            <a:r>
              <a:rPr sz="750" b="1" i="0">
                <a:solidFill>
                  <a:srgbClr val="8C1515"/>
                </a:solidFill>
                <a:latin typeface="Calibri"/>
              </a:rPr>
              <a:t>χ²  ✗</a:t>
            </a:r>
          </a:p>
        </p:txBody>
      </p:sp>
      <p:sp>
        <p:nvSpPr>
          <p:cNvPr id="21" name="TextBox 27"/>
          <p:cNvSpPr txBox="1"/>
          <p:nvPr/>
        </p:nvSpPr>
        <p:spPr>
          <a:xfrm>
            <a:off x="6382512" y="3584448"/>
            <a:ext cx="2313432" cy="713232"/>
          </a:xfrm>
          <a:prstGeom prst="rect">
            <a:avLst/>
          </a:prstGeom>
          <a:noFill/>
        </p:spPr>
        <p:txBody>
          <a:bodyPr wrap="square" lIns="0" rIns="0" tIns="0" bIns="0" anchor="t">
            <a:spAutoFit/>
          </a:bodyPr>
          <a:lstStyle/>
          <a:p>
            <a:pPr algn="l"/>
            <a:r>
              <a:rPr sz="900" b="1" i="0">
                <a:solidFill>
                  <a:srgbClr val="2E2D29"/>
                </a:solidFill>
                <a:latin typeface="Calibri"/>
              </a:rPr>
              <a:t>ξ allowed above 3 (3.25)</a:t>
            </a:r>
          </a:p>
          <a:p>
            <a:pPr algn="l"/>
            <a:r>
              <a:rPr sz="800" b="0" i="0">
                <a:solidFill>
                  <a:srgbClr val="6B6965"/>
                </a:solidFill>
                <a:latin typeface="Calibri"/>
              </a:rPr>
              <a:t>Total C 1.90 mL/mmHg, above SV/PP ≤ 1.44; measured ξ 2.1–2.8</a:t>
            </a:r>
          </a:p>
        </p:txBody>
      </p:sp>
      <p:sp>
        <p:nvSpPr>
          <p:cNvPr id="22"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3" name="TextBox 29"/>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Each rejected shortcut buys χ² with non-physiological stiffness, implausible compliance or an artifact the optimizer never sees.</a:t>
            </a:r>
          </a:p>
        </p:txBody>
      </p:sp>
      <p:sp>
        <p:nvSpPr>
          <p:cNvPr id="24" name="TextBox 30"/>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Fixed and tuned parameters. Reason: TST-STAN-5 study history.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The missing element: proximal 0D compliance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280160"/>
            <a:ext cx="8503920" cy="219456"/>
          </a:xfrm>
          <a:prstGeom prst="rect">
            <a:avLst/>
          </a:prstGeom>
          <a:noFill/>
        </p:spPr>
        <p:txBody>
          <a:bodyPr wrap="square" lIns="0" tIns="0" rIns="0" bIns="0" anchor="ctr"/>
          <a:lstStyle/>
          <a:p>
            <a:pPr algn="l"/>
            <a:r>
              <a:rPr sz="1000" b="1" i="0">
                <a:solidFill>
                  <a:srgbClr val="8C1515"/>
                </a:solidFill>
                <a:latin typeface="Calibri"/>
              </a:rPr>
              <a:t>Two-compliance lumped check</a:t>
            </a:r>
          </a:p>
        </p:txBody>
      </p:sp>
      <p:sp>
        <p:nvSpPr>
          <p:cNvPr id="13" name="Rectangle 19"/>
          <p:cNvSpPr/>
          <p:nvPr/>
        </p:nvSpPr>
        <p:spPr>
          <a:xfrm>
            <a:off x="320040" y="1554480"/>
            <a:ext cx="1481328" cy="56692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50" b="1" i="0">
                <a:solidFill>
                  <a:srgbClr val="2E2D29"/>
                </a:solidFill>
                <a:latin typeface="Calibri"/>
              </a:rPr>
              <a:t>Inflow Q(t)</a:t>
            </a:r>
          </a:p>
          <a:p>
            <a:pPr algn="ctr"/>
            <a:r>
              <a:rPr sz="750" b="0" i="0">
                <a:solidFill>
                  <a:srgbClr val="6B6965"/>
                </a:solidFill>
                <a:latin typeface="Calibri"/>
              </a:rPr>
              <a:t>54% regurgitant</a:t>
            </a:r>
          </a:p>
        </p:txBody>
      </p:sp>
      <p:cxnSp>
        <p:nvCxnSpPr>
          <p:cNvPr id="14" name="Connector 20"/>
          <p:cNvCxnSpPr/>
          <p:nvPr/>
        </p:nvCxnSpPr>
        <p:spPr>
          <a:xfrm>
            <a:off x="1819655" y="1837943"/>
            <a:ext cx="237745"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21"/>
          <p:cNvSpPr/>
          <p:nvPr/>
        </p:nvSpPr>
        <p:spPr>
          <a:xfrm>
            <a:off x="2075688" y="1554480"/>
            <a:ext cx="1481328" cy="56692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50" b="1" i="0">
                <a:solidFill>
                  <a:srgbClr val="FFFFFF"/>
                </a:solidFill>
                <a:latin typeface="Calibri"/>
              </a:rPr>
              <a:t>C₁ proximal vessels</a:t>
            </a:r>
          </a:p>
          <a:p>
            <a:pPr algn="ctr"/>
            <a:r>
              <a:rPr sz="750" b="0" i="0">
                <a:solidFill>
                  <a:srgbClr val="FFFFFF"/>
                </a:solidFill>
                <a:latin typeface="Calibri"/>
              </a:rPr>
              <a:t>rigid in the seed today</a:t>
            </a:r>
          </a:p>
        </p:txBody>
      </p:sp>
      <p:cxnSp>
        <p:nvCxnSpPr>
          <p:cNvPr id="16" name="Connector 22"/>
          <p:cNvCxnSpPr/>
          <p:nvPr/>
        </p:nvCxnSpPr>
        <p:spPr>
          <a:xfrm>
            <a:off x="3575304" y="1837943"/>
            <a:ext cx="237744"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23"/>
          <p:cNvSpPr/>
          <p:nvPr/>
        </p:nvSpPr>
        <p:spPr>
          <a:xfrm>
            <a:off x="3831335" y="1554480"/>
            <a:ext cx="1481328" cy="56692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50" b="1" i="0">
                <a:solidFill>
                  <a:srgbClr val="2E2D29"/>
                </a:solidFill>
                <a:latin typeface="Calibri"/>
              </a:rPr>
              <a:t>R₁ ≈ 270</a:t>
            </a:r>
          </a:p>
          <a:p>
            <a:pPr algn="ctr"/>
            <a:r>
              <a:rPr sz="750" b="0" i="0">
                <a:solidFill>
                  <a:srgbClr val="6B6965"/>
                </a:solidFill>
                <a:latin typeface="Calibri"/>
              </a:rPr>
              <a:t>seed R + tree-root impedance</a:t>
            </a:r>
          </a:p>
        </p:txBody>
      </p:sp>
      <p:cxnSp>
        <p:nvCxnSpPr>
          <p:cNvPr id="18" name="Connector 24"/>
          <p:cNvCxnSpPr/>
          <p:nvPr/>
        </p:nvCxnSpPr>
        <p:spPr>
          <a:xfrm>
            <a:off x="5330951" y="1837943"/>
            <a:ext cx="237745"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25"/>
          <p:cNvSpPr/>
          <p:nvPr/>
        </p:nvSpPr>
        <p:spPr>
          <a:xfrm>
            <a:off x="5586983" y="1554480"/>
            <a:ext cx="1481328" cy="56692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50" b="1" i="0">
                <a:solidFill>
                  <a:srgbClr val="2E2D29"/>
                </a:solidFill>
                <a:latin typeface="Calibri"/>
              </a:rPr>
              <a:t>C₂ + R_d</a:t>
            </a:r>
          </a:p>
          <a:p>
            <a:pPr algn="ctr"/>
            <a:r>
              <a:rPr sz="750" b="0" i="0">
                <a:solidFill>
                  <a:srgbClr val="6B6965"/>
                </a:solidFill>
                <a:latin typeface="Calibri"/>
              </a:rPr>
              <a:t>structured trees</a:t>
            </a:r>
          </a:p>
        </p:txBody>
      </p:sp>
      <p:cxnSp>
        <p:nvCxnSpPr>
          <p:cNvPr id="20" name="Connector 26"/>
          <p:cNvCxnSpPr/>
          <p:nvPr/>
        </p:nvCxnSpPr>
        <p:spPr>
          <a:xfrm>
            <a:off x="7086599" y="1837943"/>
            <a:ext cx="237745"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7"/>
          <p:cNvSpPr/>
          <p:nvPr/>
        </p:nvSpPr>
        <p:spPr>
          <a:xfrm>
            <a:off x="7342631" y="1554480"/>
            <a:ext cx="1481328" cy="56692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50" b="1" i="0">
                <a:solidFill>
                  <a:srgbClr val="2E2D29"/>
                </a:solidFill>
                <a:latin typeface="Calibri"/>
              </a:rPr>
              <a:t>Pd = 7 mmHg</a:t>
            </a:r>
          </a:p>
          <a:p>
            <a:pPr algn="ctr"/>
            <a:r>
              <a:rPr sz="750" b="0" i="0">
                <a:solidFill>
                  <a:srgbClr val="6B6965"/>
                </a:solidFill>
                <a:latin typeface="Calibri"/>
              </a:rPr>
              <a:t>measured wedge</a:t>
            </a:r>
          </a:p>
        </p:txBody>
      </p:sp>
      <p:sp>
        <p:nvSpPr>
          <p:cNvPr id="22" name="Rectangle 28"/>
          <p:cNvSpPr/>
          <p:nvPr/>
        </p:nvSpPr>
        <p:spPr>
          <a:xfrm>
            <a:off x="320040" y="2331720"/>
            <a:ext cx="4114800" cy="225856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9"/>
          <p:cNvSpPr txBox="1"/>
          <p:nvPr/>
        </p:nvSpPr>
        <p:spPr>
          <a:xfrm>
            <a:off x="448056" y="2395728"/>
            <a:ext cx="3840480" cy="237744"/>
          </a:xfrm>
          <a:prstGeom prst="rect">
            <a:avLst/>
          </a:prstGeom>
          <a:noFill/>
        </p:spPr>
        <p:txBody>
          <a:bodyPr wrap="square" lIns="0" tIns="0" rIns="0" bIns="0" anchor="ctr"/>
          <a:lstStyle/>
          <a:p>
            <a:pPr algn="l"/>
            <a:r>
              <a:rPr sz="1100" b="1" i="0">
                <a:solidFill>
                  <a:srgbClr val="8C1515"/>
                </a:solidFill>
                <a:latin typeface="Calibri"/>
              </a:rPr>
              <a:t>Where C₁ would come from</a:t>
            </a:r>
          </a:p>
        </p:txBody>
      </p:sp>
      <p:sp>
        <p:nvSpPr>
          <p:cNvPr id="24" name="TextBox 30"/>
          <p:cNvSpPr txBox="1"/>
          <p:nvPr/>
        </p:nvSpPr>
        <p:spPr>
          <a:xfrm>
            <a:off x="448056" y="2688336"/>
            <a:ext cx="1188720" cy="457200"/>
          </a:xfrm>
          <a:prstGeom prst="rect">
            <a:avLst/>
          </a:prstGeom>
          <a:noFill/>
        </p:spPr>
        <p:txBody>
          <a:bodyPr wrap="square" lIns="0" tIns="0" rIns="0" bIns="0" anchor="ctr"/>
          <a:lstStyle/>
          <a:p>
            <a:pPr algn="l"/>
            <a:r>
              <a:rPr sz="2000" b="1" i="0">
                <a:solidFill>
                  <a:srgbClr val="8C1515"/>
                </a:solidFill>
                <a:latin typeface="Calibri"/>
              </a:rPr>
              <a:t>15.6 mL</a:t>
            </a:r>
          </a:p>
        </p:txBody>
      </p:sp>
      <p:sp>
        <p:nvSpPr>
          <p:cNvPr id="25" name="TextBox 31"/>
          <p:cNvSpPr txBox="1"/>
          <p:nvPr/>
        </p:nvSpPr>
        <p:spPr>
          <a:xfrm>
            <a:off x="1664208" y="2688336"/>
            <a:ext cx="2651760" cy="457200"/>
          </a:xfrm>
          <a:prstGeom prst="rect">
            <a:avLst/>
          </a:prstGeom>
          <a:noFill/>
        </p:spPr>
        <p:txBody>
          <a:bodyPr wrap="square" lIns="0" tIns="0" rIns="0" bIns="0" anchor="ctr"/>
          <a:lstStyle/>
          <a:p>
            <a:pPr algn="l"/>
            <a:r>
              <a:rPr sz="850" b="0" i="0">
                <a:solidFill>
                  <a:srgbClr val="2E2D29"/>
                </a:solidFill>
                <a:latin typeface="Calibri"/>
              </a:rPr>
              <a:t>lumen volume in the calibrated seed; total C ≈ 3×10⁻⁹ cm⁵/dyn (rigid)</a:t>
            </a:r>
          </a:p>
        </p:txBody>
      </p:sp>
      <p:sp>
        <p:nvSpPr>
          <p:cNvPr id="26" name="Rectangle 32"/>
          <p:cNvSpPr/>
          <p:nvPr/>
        </p:nvSpPr>
        <p:spPr>
          <a:xfrm>
            <a:off x="448056" y="3236976"/>
            <a:ext cx="3858768"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0" i="1">
                <a:solidFill>
                  <a:srgbClr val="2E2D29"/>
                </a:solidFill>
                <a:latin typeface="Cambria"/>
              </a:rPr>
              <a:t>C = 3AL / (2 · Eh/r)</a:t>
            </a:r>
            <a:r>
              <a:rPr sz="800" b="0" i="0">
                <a:solidFill>
                  <a:srgbClr val="6B6965"/>
                </a:solidFill>
                <a:latin typeface="Calibri"/>
              </a:rPr>
              <a:t>   per seed vessel</a:t>
            </a:r>
          </a:p>
        </p:txBody>
      </p:sp>
      <p:sp>
        <p:nvSpPr>
          <p:cNvPr id="27" name="TextBox 33"/>
          <p:cNvSpPr txBox="1"/>
          <p:nvPr/>
        </p:nvSpPr>
        <p:spPr>
          <a:xfrm>
            <a:off x="548640" y="3675887"/>
            <a:ext cx="2011680" cy="256032"/>
          </a:xfrm>
          <a:prstGeom prst="rect">
            <a:avLst/>
          </a:prstGeom>
          <a:noFill/>
        </p:spPr>
        <p:txBody>
          <a:bodyPr wrap="square" lIns="0" tIns="0" rIns="0" bIns="0" anchor="ctr"/>
          <a:lstStyle/>
          <a:p>
            <a:pPr algn="l"/>
            <a:r>
              <a:rPr sz="900" b="0" i="0">
                <a:solidFill>
                  <a:srgbClr val="2E2D29"/>
                </a:solidFill>
                <a:latin typeface="Calibri"/>
              </a:rPr>
              <a:t>Eh/r = 5×10⁴ dyn/cm²</a:t>
            </a:r>
          </a:p>
        </p:txBody>
      </p:sp>
      <p:sp>
        <p:nvSpPr>
          <p:cNvPr id="28" name="TextBox 34"/>
          <p:cNvSpPr txBox="1"/>
          <p:nvPr/>
        </p:nvSpPr>
        <p:spPr>
          <a:xfrm>
            <a:off x="2560320" y="3675887"/>
            <a:ext cx="1645920" cy="256032"/>
          </a:xfrm>
          <a:prstGeom prst="rect">
            <a:avLst/>
          </a:prstGeom>
          <a:noFill/>
        </p:spPr>
        <p:txBody>
          <a:bodyPr wrap="square" lIns="0" tIns="0" rIns="0" bIns="0" anchor="ctr"/>
          <a:lstStyle/>
          <a:p>
            <a:pPr algn="l"/>
            <a:r>
              <a:rPr sz="900" b="1" i="0">
                <a:solidFill>
                  <a:srgbClr val="8C1515"/>
                </a:solidFill>
                <a:latin typeface="Calibri"/>
              </a:rPr>
              <a:t>→  0.63 mL/mmHg</a:t>
            </a:r>
          </a:p>
        </p:txBody>
      </p:sp>
      <p:sp>
        <p:nvSpPr>
          <p:cNvPr id="29" name="TextBox 35"/>
          <p:cNvSpPr txBox="1"/>
          <p:nvPr/>
        </p:nvSpPr>
        <p:spPr>
          <a:xfrm>
            <a:off x="548640" y="3950207"/>
            <a:ext cx="2011680" cy="256032"/>
          </a:xfrm>
          <a:prstGeom prst="rect">
            <a:avLst/>
          </a:prstGeom>
          <a:noFill/>
        </p:spPr>
        <p:txBody>
          <a:bodyPr wrap="square" lIns="0" tIns="0" rIns="0" bIns="0" anchor="ctr"/>
          <a:lstStyle/>
          <a:p>
            <a:pPr algn="l"/>
            <a:r>
              <a:rPr sz="900" b="0" i="0">
                <a:solidFill>
                  <a:srgbClr val="2E2D29"/>
                </a:solidFill>
                <a:latin typeface="Calibri"/>
              </a:rPr>
              <a:t>Eh/r = 10⁵ dyn/cm²</a:t>
            </a:r>
          </a:p>
        </p:txBody>
      </p:sp>
      <p:sp>
        <p:nvSpPr>
          <p:cNvPr id="30" name="TextBox 36"/>
          <p:cNvSpPr txBox="1"/>
          <p:nvPr/>
        </p:nvSpPr>
        <p:spPr>
          <a:xfrm>
            <a:off x="2560320" y="3950207"/>
            <a:ext cx="1645920" cy="256032"/>
          </a:xfrm>
          <a:prstGeom prst="rect">
            <a:avLst/>
          </a:prstGeom>
          <a:noFill/>
        </p:spPr>
        <p:txBody>
          <a:bodyPr wrap="square" lIns="0" tIns="0" rIns="0" bIns="0" anchor="ctr"/>
          <a:lstStyle/>
          <a:p>
            <a:pPr algn="l"/>
            <a:r>
              <a:rPr sz="900" b="1" i="0">
                <a:solidFill>
                  <a:srgbClr val="8C1515"/>
                </a:solidFill>
                <a:latin typeface="Calibri"/>
              </a:rPr>
              <a:t>→  0.31 mL/mmHg</a:t>
            </a:r>
          </a:p>
        </p:txBody>
      </p:sp>
      <p:sp>
        <p:nvSpPr>
          <p:cNvPr id="31" name="TextBox 37"/>
          <p:cNvSpPr txBox="1"/>
          <p:nvPr/>
        </p:nvSpPr>
        <p:spPr>
          <a:xfrm>
            <a:off x="448056" y="4242816"/>
            <a:ext cx="3886200" cy="310896"/>
          </a:xfrm>
          <a:prstGeom prst="rect">
            <a:avLst/>
          </a:prstGeom>
          <a:noFill/>
        </p:spPr>
        <p:txBody>
          <a:bodyPr wrap="square" lIns="0" tIns="0" rIns="0" bIns="0" anchor="t"/>
          <a:lstStyle/>
          <a:p>
            <a:pPr algn="l"/>
            <a:r>
              <a:rPr sz="750" b="0" i="1">
                <a:solidFill>
                  <a:srgbClr val="6B6965"/>
                </a:solidFill>
                <a:latin typeface="Calibri"/>
              </a:rPr>
              <a:t>Correction: D2 was ruled out earlier using the learned seed's 1.2 mL; the calibrated seed holds 15.6 mL.</a:t>
            </a:r>
          </a:p>
        </p:txBody>
      </p:sp>
      <p:sp>
        <p:nvSpPr>
          <p:cNvPr id="32" name="TextBox 38"/>
          <p:cNvSpPr txBox="1"/>
          <p:nvPr/>
        </p:nvSpPr>
        <p:spPr>
          <a:xfrm>
            <a:off x="4663440" y="2331720"/>
            <a:ext cx="4160520" cy="219456"/>
          </a:xfrm>
          <a:prstGeom prst="rect">
            <a:avLst/>
          </a:prstGeom>
          <a:noFill/>
        </p:spPr>
        <p:txBody>
          <a:bodyPr wrap="square" lIns="0" tIns="0" rIns="0" bIns="0" anchor="ctr"/>
          <a:lstStyle/>
          <a:p>
            <a:pPr algn="l"/>
            <a:r>
              <a:rPr sz="1000" b="1" i="0">
                <a:solidFill>
                  <a:srgbClr val="8C1515"/>
                </a:solidFill>
                <a:latin typeface="Calibri"/>
              </a:rPr>
              <a:t>Best lumped fit vs proximal C₁  (R₁ = 270 dyn·s/cm⁵)</a:t>
            </a:r>
          </a:p>
        </p:txBody>
      </p:sp>
      <p:graphicFrame>
        <p:nvGraphicFramePr>
          <p:cNvPr id="33" name="Chart 39"/>
          <p:cNvGraphicFramePr>
            <a:graphicFrameLocks noGrp="1"/>
          </p:cNvGraphicFramePr>
          <p:nvPr/>
        </p:nvGraphicFramePr>
        <p:xfrm>
          <a:off x="4617720" y="2560320"/>
          <a:ext cx="425196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Box 40"/>
          <p:cNvSpPr txBox="1"/>
          <p:nvPr/>
        </p:nvSpPr>
        <p:spPr>
          <a:xfrm>
            <a:off x="4663440" y="4352544"/>
            <a:ext cx="4160520" cy="256032"/>
          </a:xfrm>
          <a:prstGeom prst="rect">
            <a:avLst/>
          </a:prstGeom>
          <a:noFill/>
        </p:spPr>
        <p:txBody>
          <a:bodyPr wrap="square" lIns="0" tIns="0" rIns="0" bIns="0" anchor="t"/>
          <a:lstStyle/>
          <a:p>
            <a:pPr algn="l"/>
            <a:r>
              <a:rPr sz="750" b="0" i="0">
                <a:solidFill>
                  <a:srgbClr val="6B6965"/>
                </a:solidFill>
                <a:latin typeface="Calibri"/>
              </a:rPr>
              <a:t>Category labels give the fitted sys / dia / mean (mmHg). Upper bound: all of C₁ sits ahead of all of R₁.</a:t>
            </a:r>
          </a:p>
        </p:txBody>
      </p:sp>
      <p:sp>
        <p:nvSpPr>
          <p:cNvPr id="35" name="Rectangle 41"/>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2"/>
          <p:cNvSpPr txBox="1"/>
          <p:nvPr/>
        </p:nvSpPr>
        <p:spPr>
          <a:xfrm>
            <a:off x="429768" y="4700016"/>
            <a:ext cx="8284464" cy="310896"/>
          </a:xfrm>
          <a:prstGeom prst="rect">
            <a:avLst/>
          </a:prstGeom>
          <a:noFill/>
        </p:spPr>
        <p:txBody>
          <a:bodyPr wrap="square" lIns="0" tIns="0" rIns="0" bIns="0" anchor="ctr"/>
          <a:lstStyle/>
          <a:p>
            <a:pPr algn="l"/>
            <a:r>
              <a:rPr sz="1000" b="1" i="0">
                <a:solidFill>
                  <a:srgbClr val="8C1515"/>
                </a:solidFill>
                <a:latin typeface="Calibri"/>
              </a:rPr>
              <a:t>0.6 mL/mmHg of proximal compliance cuts χ² from 97 to 3.8 in the lumped model: the most promising fix.</a:t>
            </a:r>
          </a:p>
        </p:txBody>
      </p:sp>
      <p:sp>
        <p:nvSpPr>
          <p:cNvPr id="37" name="TextBox 43"/>
          <p:cNvSpPr txBox="1"/>
          <p:nvPr/>
        </p:nvSpPr>
        <p:spPr>
          <a:xfrm>
            <a:off x="2011680" y="5376672"/>
            <a:ext cx="6812280" cy="201168"/>
          </a:xfrm>
          <a:prstGeom prst="rect">
            <a:avLst/>
          </a:prstGeom>
          <a:noFill/>
        </p:spPr>
        <p:txBody>
          <a:bodyPr wrap="square" lIns="0" tIns="0" rIns="0" bIns="0" anchor="ctr"/>
          <a:lstStyle/>
          <a:p>
            <a:pPr algn="l"/>
            <a:r>
              <a:rPr sz="700" b="0" i="1">
                <a:solidFill>
                  <a:srgbClr val="6B6965"/>
                </a:solidFill>
                <a:latin typeface="Calibri"/>
              </a:rPr>
              <a:t>Archived 2026-10-22. Replaced by: Fixed and tuned parameters. Reason: TST-STAN-5 study history; proximal compliance is now a fixed rule.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v1 result: literature stiffness misses the pulse pressure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316736"/>
            <a:ext cx="5303520" cy="219456"/>
          </a:xfrm>
          <a:prstGeom prst="rect">
            <a:avLst/>
          </a:prstGeom>
          <a:noFill/>
        </p:spPr>
        <p:txBody>
          <a:bodyPr wrap="square" lIns="0" tIns="0" rIns="0" bIns="0" anchor="ctr"/>
          <a:lstStyle/>
          <a:p>
            <a:pPr algn="l"/>
            <a:r>
              <a:rPr sz="1000" b="1" i="0">
                <a:solidFill>
                  <a:srgbClr val="8C1515"/>
                </a:solidFill>
                <a:latin typeface="Calibri"/>
              </a:rPr>
              <a:t>Published MPA pressure (mmHg), representative v1 cases</a:t>
            </a:r>
          </a:p>
        </p:txBody>
      </p:sp>
      <p:graphicFrame>
        <p:nvGraphicFramePr>
          <p:cNvPr id="13" name="Chart 19"/>
          <p:cNvGraphicFramePr>
            <a:graphicFrameLocks noGrp="1"/>
          </p:cNvGraphicFramePr>
          <p:nvPr/>
        </p:nvGraphicFramePr>
        <p:xfrm>
          <a:off x="274320" y="1536192"/>
          <a:ext cx="5349240" cy="3090672"/>
        </p:xfrm>
        <a:graphic>
          <a:graphicData uri="http://schemas.openxmlformats.org/drawingml/2006/chart">
            <c:chart xmlns:c="http://schemas.openxmlformats.org/drawingml/2006/chart" xmlns:r="http://schemas.openxmlformats.org/officeDocument/2006/relationships" r:id="rId3"/>
          </a:graphicData>
        </a:graphic>
      </p:graphicFrame>
      <p:sp>
        <p:nvSpPr>
          <p:cNvPr id="14" name="Rectangle 20"/>
          <p:cNvSpPr/>
          <p:nvPr/>
        </p:nvSpPr>
        <p:spPr>
          <a:xfrm>
            <a:off x="5760720" y="1316736"/>
            <a:ext cx="3063240" cy="3291840"/>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21"/>
          <p:cNvSpPr txBox="1"/>
          <p:nvPr/>
        </p:nvSpPr>
        <p:spPr>
          <a:xfrm>
            <a:off x="5888736" y="1389888"/>
            <a:ext cx="2834640" cy="256032"/>
          </a:xfrm>
          <a:prstGeom prst="rect">
            <a:avLst/>
          </a:prstGeom>
          <a:noFill/>
        </p:spPr>
        <p:txBody>
          <a:bodyPr wrap="square" lIns="0" tIns="0" rIns="0" bIns="0" anchor="ctr"/>
          <a:lstStyle/>
          <a:p>
            <a:pPr algn="l"/>
            <a:r>
              <a:rPr sz="1100" b="1" i="0">
                <a:solidFill>
                  <a:srgbClr val="8C1515"/>
                </a:solidFill>
                <a:latin typeface="Calibri"/>
              </a:rPr>
              <a:t>The automated winner was an artifact</a:t>
            </a:r>
          </a:p>
        </p:txBody>
      </p:sp>
      <p:sp>
        <p:nvSpPr>
          <p:cNvPr id="16" name="TextBox 22"/>
          <p:cNvSpPr txBox="1"/>
          <p:nvPr/>
        </p:nvSpPr>
        <p:spPr>
          <a:xfrm>
            <a:off x="5888736" y="1682496"/>
            <a:ext cx="1097280" cy="502920"/>
          </a:xfrm>
          <a:prstGeom prst="rect">
            <a:avLst/>
          </a:prstGeom>
          <a:noFill/>
        </p:spPr>
        <p:txBody>
          <a:bodyPr wrap="square" lIns="0" tIns="0" rIns="0" bIns="0" anchor="ctr"/>
          <a:lstStyle/>
          <a:p>
            <a:pPr algn="l"/>
            <a:r>
              <a:rPr sz="2200" b="1" i="0">
                <a:solidFill>
                  <a:srgbClr val="8C1515"/>
                </a:solidFill>
                <a:latin typeface="Calibri"/>
              </a:rPr>
              <a:t>23 / 23</a:t>
            </a:r>
          </a:p>
        </p:txBody>
      </p:sp>
      <p:sp>
        <p:nvSpPr>
          <p:cNvPr id="17" name="TextBox 23"/>
          <p:cNvSpPr txBox="1"/>
          <p:nvPr/>
        </p:nvSpPr>
        <p:spPr>
          <a:xfrm>
            <a:off x="7004304" y="1682496"/>
            <a:ext cx="1737360" cy="502920"/>
          </a:xfrm>
          <a:prstGeom prst="rect">
            <a:avLst/>
          </a:prstGeom>
          <a:noFill/>
        </p:spPr>
        <p:txBody>
          <a:bodyPr wrap="square" lIns="0" tIns="0" rIns="0" bIns="0" anchor="ctr"/>
          <a:lstStyle/>
          <a:p>
            <a:pPr algn="l"/>
            <a:r>
              <a:rPr sz="850" b="0" i="0">
                <a:solidFill>
                  <a:srgbClr val="2E2D29"/>
                </a:solidFill>
                <a:latin typeface="Calibri"/>
              </a:rPr>
              <a:t>published trees truncated at max_nodes = 100,000</a:t>
            </a:r>
          </a:p>
        </p:txBody>
      </p:sp>
      <p:sp>
        <p:nvSpPr>
          <p:cNvPr id="18" name="TextBox 24"/>
          <p:cNvSpPr txBox="1"/>
          <p:nvPr/>
        </p:nvSpPr>
        <p:spPr>
          <a:xfrm>
            <a:off x="5888736" y="2286000"/>
            <a:ext cx="2834640" cy="2240280"/>
          </a:xfrm>
          <a:prstGeom prst="rect">
            <a:avLst/>
          </a:prstGeom>
          <a:noFill/>
        </p:spPr>
        <p:txBody>
          <a:bodyPr wrap="square" lIns="0" tIns="0" rIns="0" bIns="0" anchor="t"/>
          <a:lstStyle/>
          <a:p>
            <a:pPr marL="128016" indent="-128016" algn="l">
              <a:spcAft>
                <a:spcPts val="500"/>
              </a:spcAft>
              <a:buClr>
                <a:srgbClr val="2E2D29"/>
              </a:buClr>
              <a:buFont typeface="Arial"/>
              <a:buChar char="•"/>
            </a:pPr>
            <a:r>
              <a:rPr sz="850" b="0" i="0">
                <a:solidFill>
                  <a:srgbClr val="2E2D29"/>
                </a:solidFill>
                <a:latin typeface="Calibri"/>
              </a:rPr>
              <a:t>Optimum ran to the bounds: ξ = 6, η = 0.9 (fix-10-0.1)</a:t>
            </a:r>
          </a:p>
          <a:p>
            <a:pPr marL="128016" indent="-128016" algn="l">
              <a:spcAft>
                <a:spcPts val="500"/>
              </a:spcAft>
              <a:buClr>
                <a:srgbClr val="2E2D29"/>
              </a:buClr>
              <a:buFont typeface="Arial"/>
              <a:buChar char="•"/>
            </a:pPr>
            <a:r>
              <a:rPr sz="850" b="0" i="0">
                <a:solidFill>
                  <a:srgbClr val="2E2D29"/>
                </a:solidFill>
                <a:latin typeface="Calibri"/>
              </a:rPr>
              <a:t>Truncation leaves zero-resistance leaves: tree R 44 vs 344 dyn·s/cm⁵ needed, mean 10 mmHg</a:t>
            </a:r>
          </a:p>
          <a:p>
            <a:pPr marL="128016" indent="-128016" algn="l">
              <a:spcAft>
                <a:spcPts val="500"/>
              </a:spcAft>
              <a:buClr>
                <a:srgbClr val="2E2D29"/>
              </a:buClr>
              <a:buFont typeface="Arial"/>
              <a:buChar char="•"/>
            </a:pPr>
            <a:r>
              <a:rPr sz="850" b="0" i="0">
                <a:solidFill>
                  <a:srgbClr val="2E2D29"/>
                </a:solidFill>
                <a:latin typeface="Calibri"/>
              </a:rPr>
              <a:t>Selection checked Eh/r but not truncation, so Phases 2–3 characterize the artifact</a:t>
            </a:r>
          </a:p>
          <a:p>
            <a:pPr marL="128016" indent="-128016" algn="l">
              <a:buClr>
                <a:srgbClr val="2E2D29"/>
              </a:buClr>
              <a:buFont typeface="Arial"/>
              <a:buChar char="•"/>
            </a:pPr>
            <a:r>
              <a:rPr sz="850" b="1" i="0">
                <a:solidFill>
                  <a:srgbClr val="8C1515"/>
                </a:solidFill>
                <a:latin typeface="Calibri"/>
              </a:rPr>
              <a:t>Phase 2–3 numbers are treated as invalid</a:t>
            </a:r>
          </a:p>
        </p:txBody>
      </p:sp>
      <p:sp>
        <p:nvSpPr>
          <p:cNvPr id="19" name="TextBox 25"/>
          <p:cNvSpPr txBox="1"/>
          <p:nvPr/>
        </p:nvSpPr>
        <p:spPr>
          <a:xfrm>
            <a:off x="5888736" y="3749039"/>
            <a:ext cx="2834640" cy="201168"/>
          </a:xfrm>
          <a:prstGeom prst="rect">
            <a:avLst/>
          </a:prstGeom>
          <a:noFill/>
        </p:spPr>
        <p:txBody>
          <a:bodyPr wrap="square" lIns="0" tIns="0" rIns="0" bIns="0" anchor="ctr"/>
          <a:lstStyle/>
          <a:p>
            <a:pPr algn="l"/>
            <a:r>
              <a:rPr sz="800" b="1" i="0">
                <a:solidFill>
                  <a:srgbClr val="8C1515"/>
                </a:solidFill>
                <a:latin typeface="Calibri"/>
              </a:rPr>
              <a:t>Total tree resistance (dyn·s/cm⁵)</a:t>
            </a:r>
          </a:p>
        </p:txBody>
      </p:sp>
      <p:sp>
        <p:nvSpPr>
          <p:cNvPr id="20" name="TextBox 26"/>
          <p:cNvSpPr txBox="1"/>
          <p:nvPr/>
        </p:nvSpPr>
        <p:spPr>
          <a:xfrm>
            <a:off x="5888736" y="4005072"/>
            <a:ext cx="731520" cy="219456"/>
          </a:xfrm>
          <a:prstGeom prst="rect">
            <a:avLst/>
          </a:prstGeom>
          <a:noFill/>
        </p:spPr>
        <p:txBody>
          <a:bodyPr wrap="square" lIns="0" tIns="0" rIns="0" bIns="0" anchor="ctr"/>
          <a:lstStyle/>
          <a:p>
            <a:pPr algn="l"/>
            <a:r>
              <a:rPr sz="800" b="0" i="0">
                <a:solidFill>
                  <a:srgbClr val="2E2D29"/>
                </a:solidFill>
                <a:latin typeface="Calibri"/>
              </a:rPr>
              <a:t>needed</a:t>
            </a:r>
          </a:p>
        </p:txBody>
      </p:sp>
      <p:sp>
        <p:nvSpPr>
          <p:cNvPr id="21" name="Rectangle 27"/>
          <p:cNvSpPr/>
          <p:nvPr/>
        </p:nvSpPr>
        <p:spPr>
          <a:xfrm>
            <a:off x="6638544" y="4032504"/>
            <a:ext cx="1691640" cy="164592"/>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8"/>
          <p:cNvSpPr txBox="1"/>
          <p:nvPr/>
        </p:nvSpPr>
        <p:spPr>
          <a:xfrm>
            <a:off x="8375904" y="4005072"/>
            <a:ext cx="411480" cy="219456"/>
          </a:xfrm>
          <a:prstGeom prst="rect">
            <a:avLst/>
          </a:prstGeom>
          <a:noFill/>
        </p:spPr>
        <p:txBody>
          <a:bodyPr wrap="square" lIns="0" tIns="0" rIns="0" bIns="0" anchor="ctr"/>
          <a:lstStyle/>
          <a:p>
            <a:pPr algn="l"/>
            <a:r>
              <a:rPr sz="800" b="1" i="0">
                <a:solidFill>
                  <a:srgbClr val="2E2D29"/>
                </a:solidFill>
                <a:latin typeface="Calibri"/>
              </a:rPr>
              <a:t>344</a:t>
            </a:r>
          </a:p>
        </p:txBody>
      </p:sp>
      <p:sp>
        <p:nvSpPr>
          <p:cNvPr id="23" name="TextBox 29"/>
          <p:cNvSpPr txBox="1"/>
          <p:nvPr/>
        </p:nvSpPr>
        <p:spPr>
          <a:xfrm>
            <a:off x="5888736" y="4279392"/>
            <a:ext cx="731520" cy="219456"/>
          </a:xfrm>
          <a:prstGeom prst="rect">
            <a:avLst/>
          </a:prstGeom>
          <a:noFill/>
        </p:spPr>
        <p:txBody>
          <a:bodyPr wrap="square" lIns="0" tIns="0" rIns="0" bIns="0" anchor="ctr"/>
          <a:lstStyle/>
          <a:p>
            <a:pPr algn="l"/>
            <a:r>
              <a:rPr sz="800" b="0" i="0">
                <a:solidFill>
                  <a:srgbClr val="2E2D29"/>
                </a:solidFill>
                <a:latin typeface="Calibri"/>
              </a:rPr>
              <a:t>fix-10-0.1</a:t>
            </a:r>
          </a:p>
        </p:txBody>
      </p:sp>
      <p:sp>
        <p:nvSpPr>
          <p:cNvPr id="24" name="Rectangle 30"/>
          <p:cNvSpPr/>
          <p:nvPr/>
        </p:nvSpPr>
        <p:spPr>
          <a:xfrm>
            <a:off x="6638544" y="4306824"/>
            <a:ext cx="216372" cy="164592"/>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31"/>
          <p:cNvSpPr txBox="1"/>
          <p:nvPr/>
        </p:nvSpPr>
        <p:spPr>
          <a:xfrm>
            <a:off x="6900636" y="4279392"/>
            <a:ext cx="411480" cy="219456"/>
          </a:xfrm>
          <a:prstGeom prst="rect">
            <a:avLst/>
          </a:prstGeom>
          <a:noFill/>
        </p:spPr>
        <p:txBody>
          <a:bodyPr wrap="square" lIns="0" tIns="0" rIns="0" bIns="0" anchor="ctr"/>
          <a:lstStyle/>
          <a:p>
            <a:pPr algn="l"/>
            <a:r>
              <a:rPr sz="800" b="1" i="0">
                <a:solidFill>
                  <a:srgbClr val="2E2D29"/>
                </a:solidFill>
                <a:latin typeface="Calibri"/>
              </a:rPr>
              <a:t>44</a:t>
            </a:r>
          </a:p>
        </p:txBody>
      </p:sp>
      <p:sp>
        <p:nvSpPr>
          <p:cNvPr id="26" name="Rectangle 32"/>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33"/>
          <p:cNvSpPr txBox="1"/>
          <p:nvPr/>
        </p:nvSpPr>
        <p:spPr>
          <a:xfrm>
            <a:off x="429768" y="4700016"/>
            <a:ext cx="8284464" cy="310896"/>
          </a:xfrm>
          <a:prstGeom prst="rect">
            <a:avLst/>
          </a:prstGeom>
          <a:noFill/>
        </p:spPr>
        <p:txBody>
          <a:bodyPr wrap="square" lIns="0" tIns="0" rIns="0" bIns="0" anchor="ctr"/>
          <a:lstStyle/>
          <a:p>
            <a:pPr algn="l"/>
            <a:r>
              <a:rPr sz="1000" b="1" i="0">
                <a:solidFill>
                  <a:srgbClr val="8C1515"/>
                </a:solidFill>
                <a:latin typeface="Calibri"/>
              </a:rPr>
              <a:t>Only k₃ = 0 comes close, by removing root impedance; fully physiological B6 misses diastolic by 28 mmHg.</a:t>
            </a:r>
          </a:p>
        </p:txBody>
      </p:sp>
      <p:sp>
        <p:nvSpPr>
          <p:cNvPr id="28" name="TextBox 34"/>
          <p:cNvSpPr txBox="1"/>
          <p:nvPr/>
        </p:nvSpPr>
        <p:spPr>
          <a:xfrm>
            <a:off x="2011680" y="5376672"/>
            <a:ext cx="6812280" cy="201168"/>
          </a:xfrm>
          <a:prstGeom prst="rect">
            <a:avLst/>
          </a:prstGeom>
          <a:noFill/>
        </p:spPr>
        <p:txBody>
          <a:bodyPr wrap="square" lIns="0" tIns="0" rIns="0" bIns="0" anchor="ctr"/>
          <a:lstStyle/>
          <a:p>
            <a:pPr algn="l"/>
            <a:r>
              <a:rPr sz="700" b="0" i="1">
                <a:solidFill>
                  <a:srgbClr val="6B6965"/>
                </a:solidFill>
                <a:latin typeface="Calibri"/>
              </a:rPr>
              <a:t>Archived 2026-10-22. Replaced by: Fixed and tuned parameters. Reason: TST-STAN-5 study history (v1 settings).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Seven experiment rounds narrowed the BC model</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Pentagon 18"/>
          <p:cNvSpPr/>
          <p:nvPr/>
        </p:nvSpPr>
        <p:spPr>
          <a:xfrm>
            <a:off x="320040" y="1335024"/>
            <a:ext cx="1261872" cy="457200"/>
          </a:xfrm>
          <a:prstGeom prst="homePlate">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45720" tIns="18288" bIns="18288" wrap="square"/>
          <a:lstStyle/>
          <a:p>
            <a:pPr algn="ctr"/>
            <a:r>
              <a:rPr sz="800" b="1" i="0">
                <a:solidFill>
                  <a:srgbClr val="2E2D29"/>
                </a:solidFill>
                <a:latin typeface="Calibri"/>
              </a:rPr>
              <a:t>R1 · v1</a:t>
            </a:r>
          </a:p>
          <a:p>
            <a:pPr algn="ctr"/>
            <a:r>
              <a:rPr sz="700" b="0" i="0">
                <a:solidFill>
                  <a:srgbClr val="6B6965"/>
                </a:solidFill>
                <a:latin typeface="Calibri"/>
              </a:rPr>
              <a:t>24–25 Sep</a:t>
            </a:r>
          </a:p>
        </p:txBody>
      </p:sp>
      <p:sp>
        <p:nvSpPr>
          <p:cNvPr id="13" name="Rectangle 19"/>
          <p:cNvSpPr/>
          <p:nvPr/>
        </p:nvSpPr>
        <p:spPr>
          <a:xfrm>
            <a:off x="320040" y="1901952"/>
            <a:ext cx="1152144" cy="22860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4" name="TextBox 20"/>
          <p:cNvSpPr txBox="1"/>
          <p:nvPr/>
        </p:nvSpPr>
        <p:spPr>
          <a:xfrm>
            <a:off x="393192" y="1965960"/>
            <a:ext cx="1005840" cy="438912"/>
          </a:xfrm>
          <a:prstGeom prst="rect">
            <a:avLst/>
          </a:prstGeom>
          <a:noFill/>
        </p:spPr>
        <p:txBody>
          <a:bodyPr wrap="square" lIns="0" rIns="0" tIns="0" bIns="0" anchor="t">
            <a:spAutoFit/>
          </a:bodyPr>
          <a:lstStyle/>
          <a:p>
            <a:pPr algn="l"/>
            <a:r>
              <a:rPr sz="800" b="1" i="0">
                <a:solidFill>
                  <a:srgbClr val="2E2D29"/>
                </a:solidFill>
                <a:latin typeface="Calibri"/>
              </a:rPr>
              <a:t>Literature trees, rigid seed</a:t>
            </a:r>
          </a:p>
        </p:txBody>
      </p:sp>
      <p:sp>
        <p:nvSpPr>
          <p:cNvPr id="15" name="TextBox 21"/>
          <p:cNvSpPr txBox="1"/>
          <p:nvPr/>
        </p:nvSpPr>
        <p:spPr>
          <a:xfrm>
            <a:off x="393192" y="2432304"/>
            <a:ext cx="1005840" cy="384048"/>
          </a:xfrm>
          <a:prstGeom prst="rect">
            <a:avLst/>
          </a:prstGeom>
          <a:noFill/>
        </p:spPr>
        <p:txBody>
          <a:bodyPr wrap="square" lIns="0" rIns="0" tIns="0" bIns="0" anchor="ctr">
            <a:spAutoFit/>
          </a:bodyPr>
          <a:lstStyle/>
          <a:p>
            <a:pPr algn="l"/>
            <a:r>
              <a:rPr sz="2000" b="1" i="0">
                <a:solidFill>
                  <a:srgbClr val="8C1515"/>
                </a:solidFill>
                <a:latin typeface="Calibri"/>
              </a:rPr>
              <a:t>299</a:t>
            </a:r>
          </a:p>
        </p:txBody>
      </p:sp>
      <p:sp>
        <p:nvSpPr>
          <p:cNvPr id="16" name="TextBox 22"/>
          <p:cNvSpPr txBox="1"/>
          <p:nvPr/>
        </p:nvSpPr>
        <p:spPr>
          <a:xfrm>
            <a:off x="393192" y="2816352"/>
            <a:ext cx="1005840" cy="182880"/>
          </a:xfrm>
          <a:prstGeom prst="rect">
            <a:avLst/>
          </a:prstGeom>
          <a:noFill/>
        </p:spPr>
        <p:txBody>
          <a:bodyPr wrap="square" lIns="0" rIns="0" tIns="0" bIns="0" anchor="t">
            <a:spAutoFit/>
          </a:bodyPr>
          <a:lstStyle/>
          <a:p>
            <a:pPr algn="l"/>
            <a:r>
              <a:rPr sz="700" b="0" i="0">
                <a:solidFill>
                  <a:srgbClr val="6B6965"/>
                </a:solidFill>
                <a:latin typeface="Calibri"/>
              </a:rPr>
              <a:t>best χ²</a:t>
            </a:r>
          </a:p>
        </p:txBody>
      </p:sp>
      <p:sp>
        <p:nvSpPr>
          <p:cNvPr id="17" name="Rounded Rectangle 23"/>
          <p:cNvSpPr/>
          <p:nvPr/>
        </p:nvSpPr>
        <p:spPr>
          <a:xfrm>
            <a:off x="393192" y="3054096"/>
            <a:ext cx="1005840" cy="219456"/>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00" b="1" i="0">
                <a:solidFill>
                  <a:srgbClr val="FFFFFF"/>
                </a:solidFill>
                <a:latin typeface="Calibri"/>
              </a:rPr>
              <a:t>✗ REJECTED</a:t>
            </a:r>
          </a:p>
        </p:txBody>
      </p:sp>
      <p:sp>
        <p:nvSpPr>
          <p:cNvPr id="18" name="TextBox 24"/>
          <p:cNvSpPr txBox="1"/>
          <p:nvPr/>
        </p:nvSpPr>
        <p:spPr>
          <a:xfrm>
            <a:off x="393192" y="3383280"/>
            <a:ext cx="1005840" cy="1143000"/>
          </a:xfrm>
          <a:prstGeom prst="rect">
            <a:avLst/>
          </a:prstGeom>
          <a:noFill/>
        </p:spPr>
        <p:txBody>
          <a:bodyPr wrap="square" lIns="0" rIns="0" tIns="0" bIns="0" anchor="t">
            <a:spAutoFit/>
          </a:bodyPr>
          <a:lstStyle/>
          <a:p>
            <a:pPr algn="l"/>
            <a:r>
              <a:rPr sz="750" b="0" i="0">
                <a:solidFill>
                  <a:srgbClr val="2E2D29"/>
                </a:solidFill>
                <a:latin typeface="Calibri"/>
              </a:rPr>
              <a:t>Diastolic −25 mmHg; free ξ exploited truncation → ξ bounded, 1M nodes</a:t>
            </a:r>
          </a:p>
        </p:txBody>
      </p:sp>
      <p:sp>
        <p:nvSpPr>
          <p:cNvPr id="19" name="Chevron 25"/>
          <p:cNvSpPr/>
          <p:nvPr/>
        </p:nvSpPr>
        <p:spPr>
          <a:xfrm>
            <a:off x="1545336" y="1335024"/>
            <a:ext cx="1261872" cy="457200"/>
          </a:xfrm>
          <a:prstGeom prst="chevron">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45720" tIns="18288" bIns="18288" wrap="square"/>
          <a:lstStyle/>
          <a:p>
            <a:pPr algn="ctr"/>
            <a:r>
              <a:rPr sz="800" b="1" i="0">
                <a:solidFill>
                  <a:srgbClr val="2E2D29"/>
                </a:solidFill>
                <a:latin typeface="Calibri"/>
              </a:rPr>
              <a:t>R2 · prox. C</a:t>
            </a:r>
          </a:p>
          <a:p>
            <a:pPr algn="ctr"/>
            <a:r>
              <a:rPr sz="700" b="0" i="0">
                <a:solidFill>
                  <a:srgbClr val="6B6965"/>
                </a:solidFill>
                <a:latin typeface="Calibri"/>
              </a:rPr>
              <a:t>25 Sep</a:t>
            </a:r>
          </a:p>
        </p:txBody>
      </p:sp>
      <p:sp>
        <p:nvSpPr>
          <p:cNvPr id="20" name="Rectangle 26"/>
          <p:cNvSpPr/>
          <p:nvPr/>
        </p:nvSpPr>
        <p:spPr>
          <a:xfrm>
            <a:off x="1545336" y="1901952"/>
            <a:ext cx="1152144" cy="22860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1" name="TextBox 27"/>
          <p:cNvSpPr txBox="1"/>
          <p:nvPr/>
        </p:nvSpPr>
        <p:spPr>
          <a:xfrm>
            <a:off x="1618488" y="1965960"/>
            <a:ext cx="1005840" cy="438912"/>
          </a:xfrm>
          <a:prstGeom prst="rect">
            <a:avLst/>
          </a:prstGeom>
          <a:noFill/>
        </p:spPr>
        <p:txBody>
          <a:bodyPr wrap="square" lIns="0" rIns="0" tIns="0" bIns="0" anchor="t">
            <a:spAutoFit/>
          </a:bodyPr>
          <a:lstStyle/>
          <a:p>
            <a:pPr algn="l"/>
            <a:r>
              <a:rPr sz="800" b="1" i="0">
                <a:solidFill>
                  <a:srgbClr val="2E2D29"/>
                </a:solidFill>
                <a:latin typeface="Calibri"/>
              </a:rPr>
              <a:t>Compliance on the seed vessels</a:t>
            </a:r>
          </a:p>
        </p:txBody>
      </p:sp>
      <p:sp>
        <p:nvSpPr>
          <p:cNvPr id="22" name="TextBox 28"/>
          <p:cNvSpPr txBox="1"/>
          <p:nvPr/>
        </p:nvSpPr>
        <p:spPr>
          <a:xfrm>
            <a:off x="1618488" y="2432304"/>
            <a:ext cx="1005840" cy="384048"/>
          </a:xfrm>
          <a:prstGeom prst="rect">
            <a:avLst/>
          </a:prstGeom>
          <a:noFill/>
        </p:spPr>
        <p:txBody>
          <a:bodyPr wrap="square" lIns="0" rIns="0" tIns="0" bIns="0" anchor="ctr">
            <a:spAutoFit/>
          </a:bodyPr>
          <a:lstStyle/>
          <a:p>
            <a:pPr algn="l"/>
            <a:r>
              <a:rPr sz="2000" b="1" i="0">
                <a:solidFill>
                  <a:srgbClr val="279989"/>
                </a:solidFill>
                <a:latin typeface="Calibri"/>
              </a:rPr>
              <a:t>33.5</a:t>
            </a:r>
          </a:p>
        </p:txBody>
      </p:sp>
      <p:sp>
        <p:nvSpPr>
          <p:cNvPr id="23" name="TextBox 29"/>
          <p:cNvSpPr txBox="1"/>
          <p:nvPr/>
        </p:nvSpPr>
        <p:spPr>
          <a:xfrm>
            <a:off x="1618488" y="2816352"/>
            <a:ext cx="1005840" cy="182880"/>
          </a:xfrm>
          <a:prstGeom prst="rect">
            <a:avLst/>
          </a:prstGeom>
          <a:noFill/>
        </p:spPr>
        <p:txBody>
          <a:bodyPr wrap="square" lIns="0" rIns="0" tIns="0" bIns="0" anchor="t">
            <a:spAutoFit/>
          </a:bodyPr>
          <a:lstStyle/>
          <a:p>
            <a:pPr algn="l"/>
            <a:r>
              <a:rPr sz="700" b="0" i="0">
                <a:solidFill>
                  <a:srgbClr val="6B6965"/>
                </a:solidFill>
                <a:latin typeface="Calibri"/>
              </a:rPr>
              <a:t>best χ²</a:t>
            </a:r>
          </a:p>
        </p:txBody>
      </p:sp>
      <p:sp>
        <p:nvSpPr>
          <p:cNvPr id="24" name="Rounded Rectangle 30"/>
          <p:cNvSpPr/>
          <p:nvPr/>
        </p:nvSpPr>
        <p:spPr>
          <a:xfrm>
            <a:off x="1618488" y="3054096"/>
            <a:ext cx="1005840" cy="219456"/>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00" b="1" i="0">
                <a:solidFill>
                  <a:srgbClr val="FFFFFF"/>
                </a:solidFill>
                <a:latin typeface="Calibri"/>
              </a:rPr>
              <a:t>✓ ADOPTED</a:t>
            </a:r>
          </a:p>
        </p:txBody>
      </p:sp>
      <p:sp>
        <p:nvSpPr>
          <p:cNvPr id="25" name="TextBox 31"/>
          <p:cNvSpPr txBox="1"/>
          <p:nvPr/>
        </p:nvSpPr>
        <p:spPr>
          <a:xfrm>
            <a:off x="1618488" y="3383280"/>
            <a:ext cx="1005840" cy="1143000"/>
          </a:xfrm>
          <a:prstGeom prst="rect">
            <a:avLst/>
          </a:prstGeom>
          <a:noFill/>
        </p:spPr>
        <p:txBody>
          <a:bodyPr wrap="square" lIns="0" rIns="0" tIns="0" bIns="0" anchor="t">
            <a:spAutoFit/>
          </a:bodyPr>
          <a:lstStyle/>
          <a:p>
            <a:pPr algn="l"/>
            <a:r>
              <a:rPr sz="750" b="0" i="0">
                <a:solidFill>
                  <a:srgbClr val="2E2D29"/>
                </a:solidFill>
                <a:latin typeface="Calibri"/>
              </a:rPr>
              <a:t>Eh/r 5×10⁴ → 0.63 mL/mmHg; χ² 267 → 33.5; likelihood objective</a:t>
            </a:r>
          </a:p>
        </p:txBody>
      </p:sp>
      <p:sp>
        <p:nvSpPr>
          <p:cNvPr id="26" name="Chevron 32"/>
          <p:cNvSpPr/>
          <p:nvPr/>
        </p:nvSpPr>
        <p:spPr>
          <a:xfrm>
            <a:off x="2770632" y="1335024"/>
            <a:ext cx="1261872" cy="457200"/>
          </a:xfrm>
          <a:prstGeom prst="chevron">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45720" tIns="18288" bIns="18288" wrap="square"/>
          <a:lstStyle/>
          <a:p>
            <a:pPr algn="ctr"/>
            <a:r>
              <a:rPr sz="800" b="1" i="0">
                <a:solidFill>
                  <a:srgbClr val="2E2D29"/>
                </a:solidFill>
                <a:latin typeface="Calibri"/>
              </a:rPr>
              <a:t>R3 · outlet P</a:t>
            </a:r>
          </a:p>
          <a:p>
            <a:pPr algn="ctr"/>
            <a:r>
              <a:rPr sz="700" b="0" i="0">
                <a:solidFill>
                  <a:srgbClr val="6B6965"/>
                </a:solidFill>
                <a:latin typeface="Calibri"/>
              </a:rPr>
              <a:t>28 Sep</a:t>
            </a:r>
          </a:p>
        </p:txBody>
      </p:sp>
      <p:sp>
        <p:nvSpPr>
          <p:cNvPr id="27" name="Rectangle 33"/>
          <p:cNvSpPr/>
          <p:nvPr/>
        </p:nvSpPr>
        <p:spPr>
          <a:xfrm>
            <a:off x="2770632" y="1901952"/>
            <a:ext cx="1152144" cy="22860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8" name="TextBox 34"/>
          <p:cNvSpPr txBox="1"/>
          <p:nvPr/>
        </p:nvSpPr>
        <p:spPr>
          <a:xfrm>
            <a:off x="2843784" y="1965960"/>
            <a:ext cx="1005840" cy="438912"/>
          </a:xfrm>
          <a:prstGeom prst="rect">
            <a:avLst/>
          </a:prstGeom>
          <a:noFill/>
        </p:spPr>
        <p:txBody>
          <a:bodyPr wrap="square" lIns="0" rIns="0" tIns="0" bIns="0" anchor="t">
            <a:spAutoFit/>
          </a:bodyPr>
          <a:lstStyle/>
          <a:p>
            <a:pPr algn="l"/>
            <a:r>
              <a:rPr sz="800" b="1" i="0">
                <a:solidFill>
                  <a:srgbClr val="2E2D29"/>
                </a:solidFill>
                <a:latin typeface="Calibri"/>
              </a:rPr>
              <a:t>Pre-capillary outlet pressure</a:t>
            </a:r>
          </a:p>
        </p:txBody>
      </p:sp>
      <p:sp>
        <p:nvSpPr>
          <p:cNvPr id="29" name="TextBox 35"/>
          <p:cNvSpPr txBox="1"/>
          <p:nvPr/>
        </p:nvSpPr>
        <p:spPr>
          <a:xfrm>
            <a:off x="2843784" y="2432304"/>
            <a:ext cx="1005840" cy="384048"/>
          </a:xfrm>
          <a:prstGeom prst="rect">
            <a:avLst/>
          </a:prstGeom>
          <a:noFill/>
        </p:spPr>
        <p:txBody>
          <a:bodyPr wrap="square" lIns="0" rIns="0" tIns="0" bIns="0" anchor="ctr">
            <a:spAutoFit/>
          </a:bodyPr>
          <a:lstStyle/>
          <a:p>
            <a:pPr algn="l"/>
            <a:r>
              <a:rPr sz="2000" b="1" i="0">
                <a:solidFill>
                  <a:srgbClr val="279989"/>
                </a:solidFill>
                <a:latin typeface="Calibri"/>
              </a:rPr>
              <a:t>17.3</a:t>
            </a:r>
          </a:p>
        </p:txBody>
      </p:sp>
      <p:sp>
        <p:nvSpPr>
          <p:cNvPr id="30" name="TextBox 36"/>
          <p:cNvSpPr txBox="1"/>
          <p:nvPr/>
        </p:nvSpPr>
        <p:spPr>
          <a:xfrm>
            <a:off x="2843784" y="2816352"/>
            <a:ext cx="1005840" cy="182880"/>
          </a:xfrm>
          <a:prstGeom prst="rect">
            <a:avLst/>
          </a:prstGeom>
          <a:noFill/>
        </p:spPr>
        <p:txBody>
          <a:bodyPr wrap="square" lIns="0" rIns="0" tIns="0" bIns="0" anchor="t">
            <a:spAutoFit/>
          </a:bodyPr>
          <a:lstStyle/>
          <a:p>
            <a:pPr algn="l"/>
            <a:r>
              <a:rPr sz="700" b="0" i="0">
                <a:solidFill>
                  <a:srgbClr val="6B6965"/>
                </a:solidFill>
                <a:latin typeface="Calibri"/>
              </a:rPr>
              <a:t>best χ²</a:t>
            </a:r>
          </a:p>
        </p:txBody>
      </p:sp>
      <p:sp>
        <p:nvSpPr>
          <p:cNvPr id="31" name="Rounded Rectangle 37"/>
          <p:cNvSpPr/>
          <p:nvPr/>
        </p:nvSpPr>
        <p:spPr>
          <a:xfrm>
            <a:off x="2843784" y="3054096"/>
            <a:ext cx="1005840" cy="219456"/>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00" b="1" i="0">
                <a:solidFill>
                  <a:srgbClr val="FFFFFF"/>
                </a:solidFill>
                <a:latin typeface="Calibri"/>
              </a:rPr>
              <a:t>✓ ADOPTED</a:t>
            </a:r>
          </a:p>
        </p:txBody>
      </p:sp>
      <p:sp>
        <p:nvSpPr>
          <p:cNvPr id="32" name="TextBox 38"/>
          <p:cNvSpPr txBox="1"/>
          <p:nvPr/>
        </p:nvSpPr>
        <p:spPr>
          <a:xfrm>
            <a:off x="2843784" y="3383280"/>
            <a:ext cx="1005840" cy="1143000"/>
          </a:xfrm>
          <a:prstGeom prst="rect">
            <a:avLst/>
          </a:prstGeom>
          <a:noFill/>
        </p:spPr>
        <p:txBody>
          <a:bodyPr wrap="square" lIns="0" rIns="0" tIns="0" bIns="0" anchor="t">
            <a:spAutoFit/>
          </a:bodyPr>
          <a:lstStyle/>
          <a:p>
            <a:pPr algn="l"/>
            <a:r>
              <a:rPr sz="750" b="0" i="0">
                <a:solidFill>
                  <a:srgbClr val="2E2D29"/>
                </a:solidFill>
                <a:latin typeface="Calibri"/>
              </a:rPr>
              <a:t>Pd 7 → 9.99 mmHg lifts mean and diastolic ~3 mmHg</a:t>
            </a:r>
          </a:p>
        </p:txBody>
      </p:sp>
      <p:sp>
        <p:nvSpPr>
          <p:cNvPr id="33" name="Chevron 39"/>
          <p:cNvSpPr/>
          <p:nvPr/>
        </p:nvSpPr>
        <p:spPr>
          <a:xfrm>
            <a:off x="3995928" y="1335024"/>
            <a:ext cx="1261872" cy="457200"/>
          </a:xfrm>
          <a:prstGeom prst="chevron">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45720" tIns="18288" bIns="18288" wrap="square"/>
          <a:lstStyle/>
          <a:p>
            <a:pPr algn="ctr"/>
            <a:r>
              <a:rPr sz="800" b="1" i="0">
                <a:solidFill>
                  <a:srgbClr val="2E2D29"/>
                </a:solidFill>
                <a:latin typeface="Calibri"/>
              </a:rPr>
              <a:t>R4 · softer</a:t>
            </a:r>
          </a:p>
          <a:p>
            <a:pPr algn="ctr"/>
            <a:r>
              <a:rPr sz="700" b="0" i="0">
                <a:solidFill>
                  <a:srgbClr val="6B6965"/>
                </a:solidFill>
                <a:latin typeface="Calibri"/>
              </a:rPr>
              <a:t>28 Sep</a:t>
            </a:r>
          </a:p>
        </p:txBody>
      </p:sp>
      <p:sp>
        <p:nvSpPr>
          <p:cNvPr id="34" name="Rectangle 40"/>
          <p:cNvSpPr/>
          <p:nvPr/>
        </p:nvSpPr>
        <p:spPr>
          <a:xfrm>
            <a:off x="3995928" y="1901952"/>
            <a:ext cx="1152144" cy="22860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5" name="TextBox 41"/>
          <p:cNvSpPr txBox="1"/>
          <p:nvPr/>
        </p:nvSpPr>
        <p:spPr>
          <a:xfrm>
            <a:off x="4069080" y="1965960"/>
            <a:ext cx="1005840" cy="438912"/>
          </a:xfrm>
          <a:prstGeom prst="rect">
            <a:avLst/>
          </a:prstGeom>
          <a:noFill/>
        </p:spPr>
        <p:txBody>
          <a:bodyPr wrap="square" lIns="0" rIns="0" tIns="0" bIns="0" anchor="t">
            <a:spAutoFit/>
          </a:bodyPr>
          <a:lstStyle/>
          <a:p>
            <a:pPr algn="l"/>
            <a:r>
              <a:rPr sz="800" b="1" i="0">
                <a:solidFill>
                  <a:srgbClr val="2E2D29"/>
                </a:solidFill>
                <a:latin typeface="Calibri"/>
              </a:rPr>
              <a:t>k₃ below range, or k₂ free</a:t>
            </a:r>
          </a:p>
        </p:txBody>
      </p:sp>
      <p:sp>
        <p:nvSpPr>
          <p:cNvPr id="36" name="TextBox 42"/>
          <p:cNvSpPr txBox="1"/>
          <p:nvPr/>
        </p:nvSpPr>
        <p:spPr>
          <a:xfrm>
            <a:off x="4069080" y="2432304"/>
            <a:ext cx="1005840" cy="384048"/>
          </a:xfrm>
          <a:prstGeom prst="rect">
            <a:avLst/>
          </a:prstGeom>
          <a:noFill/>
        </p:spPr>
        <p:txBody>
          <a:bodyPr wrap="square" lIns="0" rIns="0" tIns="0" bIns="0" anchor="ctr">
            <a:spAutoFit/>
          </a:bodyPr>
          <a:lstStyle/>
          <a:p>
            <a:pPr algn="l"/>
            <a:r>
              <a:rPr sz="2000" b="1" i="0">
                <a:solidFill>
                  <a:srgbClr val="8C1515"/>
                </a:solidFill>
                <a:latin typeface="Calibri"/>
              </a:rPr>
              <a:t>11.0</a:t>
            </a:r>
          </a:p>
        </p:txBody>
      </p:sp>
      <p:sp>
        <p:nvSpPr>
          <p:cNvPr id="37" name="TextBox 43"/>
          <p:cNvSpPr txBox="1"/>
          <p:nvPr/>
        </p:nvSpPr>
        <p:spPr>
          <a:xfrm>
            <a:off x="4069080" y="2816352"/>
            <a:ext cx="1005840" cy="182880"/>
          </a:xfrm>
          <a:prstGeom prst="rect">
            <a:avLst/>
          </a:prstGeom>
          <a:noFill/>
        </p:spPr>
        <p:txBody>
          <a:bodyPr wrap="square" lIns="0" rIns="0" tIns="0" bIns="0" anchor="t">
            <a:spAutoFit/>
          </a:bodyPr>
          <a:lstStyle/>
          <a:p>
            <a:pPr algn="l"/>
            <a:r>
              <a:rPr sz="700" b="0" i="0">
                <a:solidFill>
                  <a:srgbClr val="6B6965"/>
                </a:solidFill>
                <a:latin typeface="Calibri"/>
              </a:rPr>
              <a:t>best χ²</a:t>
            </a:r>
          </a:p>
        </p:txBody>
      </p:sp>
      <p:sp>
        <p:nvSpPr>
          <p:cNvPr id="38" name="Rounded Rectangle 44"/>
          <p:cNvSpPr/>
          <p:nvPr/>
        </p:nvSpPr>
        <p:spPr>
          <a:xfrm>
            <a:off x="4069080" y="3054096"/>
            <a:ext cx="1005840" cy="219456"/>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00" b="1" i="0">
                <a:solidFill>
                  <a:srgbClr val="FFFFFF"/>
                </a:solidFill>
                <a:latin typeface="Calibri"/>
              </a:rPr>
              <a:t>✗ REJECTED</a:t>
            </a:r>
          </a:p>
        </p:txBody>
      </p:sp>
      <p:sp>
        <p:nvSpPr>
          <p:cNvPr id="39" name="TextBox 45"/>
          <p:cNvSpPr txBox="1"/>
          <p:nvPr/>
        </p:nvSpPr>
        <p:spPr>
          <a:xfrm>
            <a:off x="4069080" y="3383280"/>
            <a:ext cx="1005840" cy="1143000"/>
          </a:xfrm>
          <a:prstGeom prst="rect">
            <a:avLst/>
          </a:prstGeom>
          <a:noFill/>
        </p:spPr>
        <p:txBody>
          <a:bodyPr wrap="square" lIns="0" rIns="0" tIns="0" bIns="0" anchor="t">
            <a:spAutoFit/>
          </a:bodyPr>
          <a:lstStyle/>
          <a:p>
            <a:pPr algn="l"/>
            <a:r>
              <a:rPr sz="750" b="0" i="0">
                <a:solidFill>
                  <a:srgbClr val="2E2D29"/>
                </a:solidFill>
                <a:latin typeface="Calibri"/>
              </a:rPr>
              <a:t>Gain from one oversized cap, or k₂ pinned at −50</a:t>
            </a:r>
          </a:p>
        </p:txBody>
      </p:sp>
      <p:sp>
        <p:nvSpPr>
          <p:cNvPr id="40" name="Chevron 46"/>
          <p:cNvSpPr/>
          <p:nvPr/>
        </p:nvSpPr>
        <p:spPr>
          <a:xfrm>
            <a:off x="5221224" y="1335024"/>
            <a:ext cx="1261872" cy="457200"/>
          </a:xfrm>
          <a:prstGeom prst="chevron">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45720" tIns="18288" bIns="18288" wrap="square"/>
          <a:lstStyle/>
          <a:p>
            <a:pPr algn="ctr"/>
            <a:r>
              <a:rPr sz="800" b="1" i="0">
                <a:solidFill>
                  <a:srgbClr val="FFFFFF"/>
                </a:solidFill>
                <a:latin typeface="Calibri"/>
              </a:rPr>
              <a:t>R5 · Option 1</a:t>
            </a:r>
          </a:p>
          <a:p>
            <a:pPr algn="ctr"/>
            <a:r>
              <a:rPr sz="700" b="0" i="0">
                <a:solidFill>
                  <a:srgbClr val="FFFFFF"/>
                </a:solidFill>
                <a:latin typeface="Calibri"/>
              </a:rPr>
              <a:t>5 Oct</a:t>
            </a:r>
          </a:p>
        </p:txBody>
      </p:sp>
      <p:sp>
        <p:nvSpPr>
          <p:cNvPr id="41" name="Rectangle 47"/>
          <p:cNvSpPr/>
          <p:nvPr/>
        </p:nvSpPr>
        <p:spPr>
          <a:xfrm>
            <a:off x="5221224" y="1901952"/>
            <a:ext cx="1152144" cy="2286000"/>
          </a:xfrm>
          <a:prstGeom prst="rect">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2" name="TextBox 48"/>
          <p:cNvSpPr txBox="1"/>
          <p:nvPr/>
        </p:nvSpPr>
        <p:spPr>
          <a:xfrm>
            <a:off x="5294376" y="1965960"/>
            <a:ext cx="1005840" cy="438912"/>
          </a:xfrm>
          <a:prstGeom prst="rect">
            <a:avLst/>
          </a:prstGeom>
          <a:noFill/>
        </p:spPr>
        <p:txBody>
          <a:bodyPr wrap="square" lIns="0" rIns="0" tIns="0" bIns="0" anchor="t">
            <a:spAutoFit/>
          </a:bodyPr>
          <a:lstStyle/>
          <a:p>
            <a:pPr algn="l"/>
            <a:r>
              <a:rPr sz="800" b="1" i="0">
                <a:solidFill>
                  <a:srgbClr val="2E2D29"/>
                </a:solidFill>
                <a:latin typeface="Calibri"/>
              </a:rPr>
              <a:t>Multi-start, polish, sensitivity</a:t>
            </a:r>
          </a:p>
        </p:txBody>
      </p:sp>
      <p:sp>
        <p:nvSpPr>
          <p:cNvPr id="43" name="TextBox 49"/>
          <p:cNvSpPr txBox="1"/>
          <p:nvPr/>
        </p:nvSpPr>
        <p:spPr>
          <a:xfrm>
            <a:off x="5294376" y="2432304"/>
            <a:ext cx="1005840" cy="384048"/>
          </a:xfrm>
          <a:prstGeom prst="rect">
            <a:avLst/>
          </a:prstGeom>
          <a:noFill/>
        </p:spPr>
        <p:txBody>
          <a:bodyPr wrap="square" lIns="0" rIns="0" tIns="0" bIns="0" anchor="ctr">
            <a:spAutoFit/>
          </a:bodyPr>
          <a:lstStyle/>
          <a:p>
            <a:pPr algn="l"/>
            <a:r>
              <a:rPr sz="2000" b="1" i="0">
                <a:solidFill>
                  <a:srgbClr val="E98300"/>
                </a:solidFill>
                <a:latin typeface="Calibri"/>
              </a:rPr>
              <a:t>17.2</a:t>
            </a:r>
          </a:p>
        </p:txBody>
      </p:sp>
      <p:sp>
        <p:nvSpPr>
          <p:cNvPr id="44" name="TextBox 50"/>
          <p:cNvSpPr txBox="1"/>
          <p:nvPr/>
        </p:nvSpPr>
        <p:spPr>
          <a:xfrm>
            <a:off x="5294376" y="2816352"/>
            <a:ext cx="1005840" cy="182880"/>
          </a:xfrm>
          <a:prstGeom prst="rect">
            <a:avLst/>
          </a:prstGeom>
          <a:noFill/>
        </p:spPr>
        <p:txBody>
          <a:bodyPr wrap="square" lIns="0" rIns="0" tIns="0" bIns="0" anchor="t">
            <a:spAutoFit/>
          </a:bodyPr>
          <a:lstStyle/>
          <a:p>
            <a:pPr algn="l"/>
            <a:r>
              <a:rPr sz="700" b="0" i="0">
                <a:solidFill>
                  <a:srgbClr val="6B6965"/>
                </a:solidFill>
                <a:latin typeface="Calibri"/>
              </a:rPr>
              <a:t>best χ²</a:t>
            </a:r>
          </a:p>
        </p:txBody>
      </p:sp>
      <p:sp>
        <p:nvSpPr>
          <p:cNvPr id="45" name="Rounded Rectangle 51"/>
          <p:cNvSpPr/>
          <p:nvPr/>
        </p:nvSpPr>
        <p:spPr>
          <a:xfrm>
            <a:off x="5294376" y="3054096"/>
            <a:ext cx="1005840" cy="219456"/>
          </a:xfrm>
          <a:prstGeom prst="roundRect">
            <a:avLst>
              <a:gd name="adj" fmla="val 30000"/>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00" b="1" i="0">
                <a:solidFill>
                  <a:srgbClr val="FFFFFF"/>
                </a:solidFill>
                <a:latin typeface="Calibri"/>
              </a:rPr>
              <a:t>FINAL</a:t>
            </a:r>
          </a:p>
        </p:txBody>
      </p:sp>
      <p:sp>
        <p:nvSpPr>
          <p:cNvPr id="46" name="TextBox 52"/>
          <p:cNvSpPr txBox="1"/>
          <p:nvPr/>
        </p:nvSpPr>
        <p:spPr>
          <a:xfrm>
            <a:off x="5294376" y="3383280"/>
            <a:ext cx="1005840" cy="1143000"/>
          </a:xfrm>
          <a:prstGeom prst="rect">
            <a:avLst/>
          </a:prstGeom>
          <a:noFill/>
        </p:spPr>
        <p:txBody>
          <a:bodyPr wrap="square" lIns="0" rIns="0" tIns="0" bIns="0" anchor="t">
            <a:spAutoFit/>
          </a:bodyPr>
          <a:lstStyle/>
          <a:p>
            <a:pPr algn="l"/>
            <a:r>
              <a:rPr sz="750" b="0" i="0">
                <a:solidFill>
                  <a:srgbClr val="2E2D29"/>
                </a:solidFill>
                <a:latin typeface="Calibri"/>
              </a:rPr>
              <a:t>7 / 8 starts agree; polish gap 0.05 mmHg; k₃ later tied to s (16 Oct)</a:t>
            </a:r>
          </a:p>
        </p:txBody>
      </p:sp>
      <p:sp>
        <p:nvSpPr>
          <p:cNvPr id="47" name="Chevron 53"/>
          <p:cNvSpPr/>
          <p:nvPr/>
        </p:nvSpPr>
        <p:spPr>
          <a:xfrm>
            <a:off x="6446520" y="1335024"/>
            <a:ext cx="1261872" cy="457200"/>
          </a:xfrm>
          <a:prstGeom prst="chevron">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45720" tIns="18288" bIns="18288" wrap="square"/>
          <a:lstStyle/>
          <a:p>
            <a:pPr algn="ctr"/>
            <a:r>
              <a:rPr sz="800" b="1" i="0">
                <a:solidFill>
                  <a:srgbClr val="2E2D29"/>
                </a:solidFill>
                <a:latin typeface="Calibri"/>
              </a:rPr>
              <a:t>R6 · ξ &gt; 3</a:t>
            </a:r>
          </a:p>
          <a:p>
            <a:pPr algn="ctr"/>
            <a:r>
              <a:rPr sz="700" b="0" i="0">
                <a:solidFill>
                  <a:srgbClr val="6B6965"/>
                </a:solidFill>
                <a:latin typeface="Calibri"/>
              </a:rPr>
              <a:t>5 Oct</a:t>
            </a:r>
          </a:p>
        </p:txBody>
      </p:sp>
      <p:sp>
        <p:nvSpPr>
          <p:cNvPr id="48" name="Rectangle 54"/>
          <p:cNvSpPr/>
          <p:nvPr/>
        </p:nvSpPr>
        <p:spPr>
          <a:xfrm>
            <a:off x="6446520" y="1901952"/>
            <a:ext cx="1152144" cy="22860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9" name="TextBox 55"/>
          <p:cNvSpPr txBox="1"/>
          <p:nvPr/>
        </p:nvSpPr>
        <p:spPr>
          <a:xfrm>
            <a:off x="6519672" y="1965960"/>
            <a:ext cx="1005840" cy="438912"/>
          </a:xfrm>
          <a:prstGeom prst="rect">
            <a:avLst/>
          </a:prstGeom>
          <a:noFill/>
        </p:spPr>
        <p:txBody>
          <a:bodyPr wrap="square" lIns="0" rIns="0" tIns="0" bIns="0" anchor="t">
            <a:spAutoFit/>
          </a:bodyPr>
          <a:lstStyle/>
          <a:p>
            <a:pPr algn="l"/>
            <a:r>
              <a:rPr sz="800" b="1" i="0">
                <a:solidFill>
                  <a:srgbClr val="2E2D29"/>
                </a:solidFill>
                <a:latin typeface="Calibri"/>
              </a:rPr>
              <a:t>ξ bound 3.25 or 3.5</a:t>
            </a:r>
          </a:p>
        </p:txBody>
      </p:sp>
      <p:sp>
        <p:nvSpPr>
          <p:cNvPr id="50" name="TextBox 56"/>
          <p:cNvSpPr txBox="1"/>
          <p:nvPr/>
        </p:nvSpPr>
        <p:spPr>
          <a:xfrm>
            <a:off x="6519672" y="2432304"/>
            <a:ext cx="1005840" cy="384048"/>
          </a:xfrm>
          <a:prstGeom prst="rect">
            <a:avLst/>
          </a:prstGeom>
          <a:noFill/>
        </p:spPr>
        <p:txBody>
          <a:bodyPr wrap="square" lIns="0" rIns="0" tIns="0" bIns="0" anchor="ctr">
            <a:spAutoFit/>
          </a:bodyPr>
          <a:lstStyle/>
          <a:p>
            <a:pPr algn="l"/>
            <a:r>
              <a:rPr sz="2000" b="1" i="0">
                <a:solidFill>
                  <a:srgbClr val="8C1515"/>
                </a:solidFill>
                <a:latin typeface="Calibri"/>
              </a:rPr>
              <a:t>13.5</a:t>
            </a:r>
          </a:p>
        </p:txBody>
      </p:sp>
      <p:sp>
        <p:nvSpPr>
          <p:cNvPr id="51" name="TextBox 57"/>
          <p:cNvSpPr txBox="1"/>
          <p:nvPr/>
        </p:nvSpPr>
        <p:spPr>
          <a:xfrm>
            <a:off x="6519672" y="2816352"/>
            <a:ext cx="1005840" cy="182880"/>
          </a:xfrm>
          <a:prstGeom prst="rect">
            <a:avLst/>
          </a:prstGeom>
          <a:noFill/>
        </p:spPr>
        <p:txBody>
          <a:bodyPr wrap="square" lIns="0" rIns="0" tIns="0" bIns="0" anchor="t">
            <a:spAutoFit/>
          </a:bodyPr>
          <a:lstStyle/>
          <a:p>
            <a:pPr algn="l"/>
            <a:r>
              <a:rPr sz="700" b="0" i="0">
                <a:solidFill>
                  <a:srgbClr val="6B6965"/>
                </a:solidFill>
                <a:latin typeface="Calibri"/>
              </a:rPr>
              <a:t>best χ²</a:t>
            </a:r>
          </a:p>
        </p:txBody>
      </p:sp>
      <p:sp>
        <p:nvSpPr>
          <p:cNvPr id="52" name="Rounded Rectangle 58"/>
          <p:cNvSpPr/>
          <p:nvPr/>
        </p:nvSpPr>
        <p:spPr>
          <a:xfrm>
            <a:off x="6519672" y="3054096"/>
            <a:ext cx="1005840" cy="219456"/>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00" b="1" i="0">
                <a:solidFill>
                  <a:srgbClr val="FFFFFF"/>
                </a:solidFill>
                <a:latin typeface="Calibri"/>
              </a:rPr>
              <a:t>✗ REJECTED</a:t>
            </a:r>
          </a:p>
        </p:txBody>
      </p:sp>
      <p:sp>
        <p:nvSpPr>
          <p:cNvPr id="53" name="TextBox 59"/>
          <p:cNvSpPr txBox="1"/>
          <p:nvPr/>
        </p:nvSpPr>
        <p:spPr>
          <a:xfrm>
            <a:off x="6519672" y="3383280"/>
            <a:ext cx="1005840" cy="1143000"/>
          </a:xfrm>
          <a:prstGeom prst="rect">
            <a:avLst/>
          </a:prstGeom>
          <a:noFill/>
        </p:spPr>
        <p:txBody>
          <a:bodyPr wrap="square" lIns="0" rIns="0" tIns="0" bIns="0" anchor="t">
            <a:spAutoFit/>
          </a:bodyPr>
          <a:lstStyle/>
          <a:p>
            <a:pPr algn="l"/>
            <a:r>
              <a:rPr sz="750" b="0" i="0">
                <a:solidFill>
                  <a:srgbClr val="2E2D29"/>
                </a:solidFill>
                <a:latin typeface="Calibri"/>
              </a:rPr>
              <a:t>C 1.90–2.72 mL/mmHg leaves SV/PP; measured ξ ≤ 2.8</a:t>
            </a:r>
          </a:p>
        </p:txBody>
      </p:sp>
      <p:sp>
        <p:nvSpPr>
          <p:cNvPr id="54" name="Chevron 60"/>
          <p:cNvSpPr/>
          <p:nvPr/>
        </p:nvSpPr>
        <p:spPr>
          <a:xfrm>
            <a:off x="7671816" y="1335024"/>
            <a:ext cx="1261872" cy="457200"/>
          </a:xfrm>
          <a:prstGeom prst="chevron">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45720" tIns="18288" bIns="18288" wrap="square"/>
          <a:lstStyle/>
          <a:p>
            <a:pPr algn="ctr"/>
            <a:r>
              <a:rPr sz="800" b="1" i="0">
                <a:solidFill>
                  <a:srgbClr val="2E2D29"/>
                </a:solidFill>
                <a:latin typeface="Calibri"/>
              </a:rPr>
              <a:t>R7 · leaf R</a:t>
            </a:r>
          </a:p>
          <a:p>
            <a:pPr algn="ctr"/>
            <a:r>
              <a:rPr sz="700" b="0" i="0">
                <a:solidFill>
                  <a:srgbClr val="6B6965"/>
                </a:solidFill>
                <a:latin typeface="Calibri"/>
              </a:rPr>
              <a:t>6 Oct</a:t>
            </a:r>
          </a:p>
        </p:txBody>
      </p:sp>
      <p:sp>
        <p:nvSpPr>
          <p:cNvPr id="55" name="Rectangle 61"/>
          <p:cNvSpPr/>
          <p:nvPr/>
        </p:nvSpPr>
        <p:spPr>
          <a:xfrm>
            <a:off x="7671816" y="1901952"/>
            <a:ext cx="1152144" cy="22860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6" name="TextBox 62"/>
          <p:cNvSpPr txBox="1"/>
          <p:nvPr/>
        </p:nvSpPr>
        <p:spPr>
          <a:xfrm>
            <a:off x="7744968" y="1965960"/>
            <a:ext cx="1005840" cy="438912"/>
          </a:xfrm>
          <a:prstGeom prst="rect">
            <a:avLst/>
          </a:prstGeom>
          <a:noFill/>
        </p:spPr>
        <p:txBody>
          <a:bodyPr wrap="square" lIns="0" rIns="0" tIns="0" bIns="0" anchor="t">
            <a:spAutoFit/>
          </a:bodyPr>
          <a:lstStyle/>
          <a:p>
            <a:pPr algn="l"/>
            <a:r>
              <a:rPr sz="800" b="1" i="0">
                <a:solidFill>
                  <a:srgbClr val="2E2D29"/>
                </a:solidFill>
                <a:latin typeface="Calibri"/>
              </a:rPr>
              <a:t>Pd = PCWP + leaf resistance</a:t>
            </a:r>
          </a:p>
        </p:txBody>
      </p:sp>
      <p:sp>
        <p:nvSpPr>
          <p:cNvPr id="57" name="TextBox 63"/>
          <p:cNvSpPr txBox="1"/>
          <p:nvPr/>
        </p:nvSpPr>
        <p:spPr>
          <a:xfrm>
            <a:off x="7744968" y="2432304"/>
            <a:ext cx="1005840" cy="384048"/>
          </a:xfrm>
          <a:prstGeom prst="rect">
            <a:avLst/>
          </a:prstGeom>
          <a:noFill/>
        </p:spPr>
        <p:txBody>
          <a:bodyPr wrap="square" lIns="0" rIns="0" tIns="0" bIns="0" anchor="ctr">
            <a:spAutoFit/>
          </a:bodyPr>
          <a:lstStyle/>
          <a:p>
            <a:pPr algn="l"/>
            <a:r>
              <a:rPr sz="2000" b="1" i="0">
                <a:solidFill>
                  <a:srgbClr val="8C1515"/>
                </a:solidFill>
                <a:latin typeface="Calibri"/>
              </a:rPr>
              <a:t>50.6</a:t>
            </a:r>
          </a:p>
        </p:txBody>
      </p:sp>
      <p:sp>
        <p:nvSpPr>
          <p:cNvPr id="58" name="TextBox 64"/>
          <p:cNvSpPr txBox="1"/>
          <p:nvPr/>
        </p:nvSpPr>
        <p:spPr>
          <a:xfrm>
            <a:off x="7744968" y="2816352"/>
            <a:ext cx="1005840" cy="182880"/>
          </a:xfrm>
          <a:prstGeom prst="rect">
            <a:avLst/>
          </a:prstGeom>
          <a:noFill/>
        </p:spPr>
        <p:txBody>
          <a:bodyPr wrap="square" lIns="0" rIns="0" tIns="0" bIns="0" anchor="t">
            <a:spAutoFit/>
          </a:bodyPr>
          <a:lstStyle/>
          <a:p>
            <a:pPr algn="l"/>
            <a:r>
              <a:rPr sz="700" b="0" i="0">
                <a:solidFill>
                  <a:srgbClr val="6B6965"/>
                </a:solidFill>
                <a:latin typeface="Calibri"/>
              </a:rPr>
              <a:t>best χ²</a:t>
            </a:r>
          </a:p>
        </p:txBody>
      </p:sp>
      <p:sp>
        <p:nvSpPr>
          <p:cNvPr id="59" name="Rounded Rectangle 65"/>
          <p:cNvSpPr/>
          <p:nvPr/>
        </p:nvSpPr>
        <p:spPr>
          <a:xfrm>
            <a:off x="7744968" y="3054096"/>
            <a:ext cx="1005840" cy="219456"/>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700" b="1" i="0">
                <a:solidFill>
                  <a:srgbClr val="FFFFFF"/>
                </a:solidFill>
                <a:latin typeface="Calibri"/>
              </a:rPr>
              <a:t>✗ REJECTED</a:t>
            </a:r>
          </a:p>
        </p:txBody>
      </p:sp>
      <p:sp>
        <p:nvSpPr>
          <p:cNvPr id="60" name="TextBox 66"/>
          <p:cNvSpPr txBox="1"/>
          <p:nvPr/>
        </p:nvSpPr>
        <p:spPr>
          <a:xfrm>
            <a:off x="7744968" y="3383280"/>
            <a:ext cx="1005840" cy="1143000"/>
          </a:xfrm>
          <a:prstGeom prst="rect">
            <a:avLst/>
          </a:prstGeom>
          <a:noFill/>
        </p:spPr>
        <p:txBody>
          <a:bodyPr wrap="square" lIns="0" rIns="0" tIns="0" bIns="0" anchor="t">
            <a:spAutoFit/>
          </a:bodyPr>
          <a:lstStyle/>
          <a:p>
            <a:pPr algn="l"/>
            <a:r>
              <a:rPr sz="750" b="0" i="0">
                <a:solidFill>
                  <a:srgbClr val="2E2D29"/>
                </a:solidFill>
                <a:latin typeface="Calibri"/>
              </a:rPr>
              <a:t>Pulse pressure rises 41 → 50 mmHg; policy kept</a:t>
            </a:r>
          </a:p>
        </p:txBody>
      </p:sp>
      <p:sp>
        <p:nvSpPr>
          <p:cNvPr id="61"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2" name="TextBox 68"/>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Two changes stuck: proximal compliance and a pre-capillary outlet pressure. Going past the literature ranges was rejected.</a:t>
            </a:r>
          </a:p>
        </p:txBody>
      </p:sp>
      <p:sp>
        <p:nvSpPr>
          <p:cNvPr id="63" name="TextBox 69"/>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Fixed and tuned parameters. Reason: TST-STAN-5 study history; its outcome is the current model.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Why a physiological tuning study for TST-STAN-5</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261872"/>
            <a:ext cx="8503920" cy="201168"/>
          </a:xfrm>
          <a:prstGeom prst="rect">
            <a:avLst/>
          </a:prstGeom>
          <a:noFill/>
        </p:spPr>
        <p:txBody>
          <a:bodyPr wrap="square" lIns="0" tIns="0" rIns="0" bIns="0" anchor="ctr"/>
          <a:lstStyle/>
          <a:p>
            <a:pPr algn="l"/>
            <a:r>
              <a:rPr sz="850" b="1" i="0">
                <a:solidFill>
                  <a:srgbClr val="8C1515"/>
                </a:solidFill>
                <a:latin typeface="Calibri"/>
              </a:rPr>
              <a:t>First full-PA tuning runs (calibrated learnedZeroD seed, 23 per-cap trees) with the earlier Stage 2 settings</a:t>
            </a:r>
          </a:p>
        </p:txBody>
      </p:sp>
      <p:sp>
        <p:nvSpPr>
          <p:cNvPr id="13" name="TextBox 19"/>
          <p:cNvSpPr txBox="1"/>
          <p:nvPr/>
        </p:nvSpPr>
        <p:spPr>
          <a:xfrm>
            <a:off x="320040" y="1536192"/>
            <a:ext cx="4937760" cy="219456"/>
          </a:xfrm>
          <a:prstGeom prst="rect">
            <a:avLst/>
          </a:prstGeom>
          <a:noFill/>
        </p:spPr>
        <p:txBody>
          <a:bodyPr wrap="square" lIns="0" tIns="0" rIns="0" bIns="0" anchor="ctr"/>
          <a:lstStyle/>
          <a:p>
            <a:pPr algn="l"/>
            <a:r>
              <a:rPr sz="1000" b="1" i="0">
                <a:solidFill>
                  <a:srgbClr val="8C1515"/>
                </a:solidFill>
                <a:latin typeface="Calibri"/>
              </a:rPr>
              <a:t>Wall stiffness along the tree: earlier fit vs literature</a:t>
            </a:r>
          </a:p>
        </p:txBody>
      </p:sp>
      <p:graphicFrame>
        <p:nvGraphicFramePr>
          <p:cNvPr id="14" name="Chart 20"/>
          <p:cNvGraphicFramePr>
            <a:graphicFrameLocks noGrp="1"/>
          </p:cNvGraphicFramePr>
          <p:nvPr/>
        </p:nvGraphicFramePr>
        <p:xfrm>
          <a:off x="274320" y="1755648"/>
          <a:ext cx="5074920" cy="2852928"/>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21"/>
          <p:cNvSpPr txBox="1"/>
          <p:nvPr/>
        </p:nvSpPr>
        <p:spPr>
          <a:xfrm>
            <a:off x="5532120" y="1536192"/>
            <a:ext cx="3291840" cy="219456"/>
          </a:xfrm>
          <a:prstGeom prst="rect">
            <a:avLst/>
          </a:prstGeom>
          <a:noFill/>
        </p:spPr>
        <p:txBody>
          <a:bodyPr wrap="square" lIns="0" tIns="0" rIns="0" bIns="0" anchor="ctr"/>
          <a:lstStyle/>
          <a:p>
            <a:pPr algn="l"/>
            <a:r>
              <a:rPr sz="1000" b="1" i="0">
                <a:solidFill>
                  <a:srgbClr val="8C1515"/>
                </a:solidFill>
                <a:latin typeface="Calibri"/>
              </a:rPr>
              <a:t>What the earlier fit implies</a:t>
            </a:r>
          </a:p>
        </p:txBody>
      </p:sp>
      <p:sp>
        <p:nvSpPr>
          <p:cNvPr id="16" name="Rectangle 25"/>
          <p:cNvSpPr/>
          <p:nvPr/>
        </p:nvSpPr>
        <p:spPr>
          <a:xfrm>
            <a:off x="5532120" y="2724912"/>
            <a:ext cx="3291840" cy="8229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6"/>
          <p:cNvSpPr txBox="1"/>
          <p:nvPr/>
        </p:nvSpPr>
        <p:spPr>
          <a:xfrm>
            <a:off x="5641848" y="2724912"/>
            <a:ext cx="1234440" cy="822960"/>
          </a:xfrm>
          <a:prstGeom prst="rect">
            <a:avLst/>
          </a:prstGeom>
          <a:noFill/>
        </p:spPr>
        <p:txBody>
          <a:bodyPr wrap="square" lIns="0" tIns="0" rIns="0" bIns="0" anchor="ctr"/>
          <a:lstStyle/>
          <a:p>
            <a:pPr algn="l"/>
            <a:r>
              <a:rPr sz="1500" b="1" i="0">
                <a:solidFill>
                  <a:srgbClr val="8C1515"/>
                </a:solidFill>
                <a:latin typeface="Calibri"/>
              </a:rPr>
              <a:t>5–49 cm/s</a:t>
            </a:r>
          </a:p>
        </p:txBody>
      </p:sp>
      <p:sp>
        <p:nvSpPr>
          <p:cNvPr id="18" name="TextBox 27"/>
          <p:cNvSpPr txBox="1"/>
          <p:nvPr/>
        </p:nvSpPr>
        <p:spPr>
          <a:xfrm>
            <a:off x="6876288" y="2724912"/>
            <a:ext cx="1874519" cy="822960"/>
          </a:xfrm>
          <a:prstGeom prst="rect">
            <a:avLst/>
          </a:prstGeom>
          <a:noFill/>
        </p:spPr>
        <p:txBody>
          <a:bodyPr wrap="square" lIns="0" tIns="0" rIns="0" bIns="0" anchor="ctr"/>
          <a:lstStyle/>
          <a:p>
            <a:pPr algn="l"/>
            <a:r>
              <a:rPr sz="850" b="0" i="0">
                <a:solidFill>
                  <a:srgbClr val="2E2D29"/>
                </a:solidFill>
                <a:latin typeface="Calibri"/>
              </a:rPr>
              <a:t>Pulse-wave speed at the tree roots; literature stiffness gives ≈ 270–300 cm/s</a:t>
            </a:r>
          </a:p>
        </p:txBody>
      </p:sp>
      <p:sp>
        <p:nvSpPr>
          <p:cNvPr id="19" name="Rectangle 28"/>
          <p:cNvSpPr/>
          <p:nvPr/>
        </p:nvSpPr>
        <p:spPr>
          <a:xfrm>
            <a:off x="5532120" y="3657600"/>
            <a:ext cx="3291840" cy="8229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9"/>
          <p:cNvSpPr txBox="1"/>
          <p:nvPr/>
        </p:nvSpPr>
        <p:spPr>
          <a:xfrm>
            <a:off x="5641848" y="3657600"/>
            <a:ext cx="1234440" cy="822960"/>
          </a:xfrm>
          <a:prstGeom prst="rect">
            <a:avLst/>
          </a:prstGeom>
          <a:noFill/>
        </p:spPr>
        <p:txBody>
          <a:bodyPr wrap="square" lIns="0" tIns="0" rIns="0" bIns="0" anchor="ctr"/>
          <a:lstStyle/>
          <a:p>
            <a:pPr algn="l"/>
            <a:r>
              <a:rPr sz="1500" b="1" i="0">
                <a:solidFill>
                  <a:srgbClr val="8C1515"/>
                </a:solidFill>
                <a:latin typeface="Calibri"/>
              </a:rPr>
              <a:t>32 mL/mmHg</a:t>
            </a:r>
          </a:p>
        </p:txBody>
      </p:sp>
      <p:sp>
        <p:nvSpPr>
          <p:cNvPr id="21" name="TextBox 30"/>
          <p:cNvSpPr txBox="1"/>
          <p:nvPr/>
        </p:nvSpPr>
        <p:spPr>
          <a:xfrm>
            <a:off x="6876288" y="3657600"/>
            <a:ext cx="1874519" cy="822960"/>
          </a:xfrm>
          <a:prstGeom prst="rect">
            <a:avLst/>
          </a:prstGeom>
          <a:noFill/>
        </p:spPr>
        <p:txBody>
          <a:bodyPr wrap="square" lIns="0" tIns="0" rIns="0" bIns="0" anchor="ctr"/>
          <a:lstStyle/>
          <a:p>
            <a:pPr algn="l"/>
            <a:r>
              <a:rPr sz="850" b="0" i="0">
                <a:solidFill>
                  <a:srgbClr val="2E2D29"/>
                </a:solidFill>
                <a:latin typeface="Calibri"/>
              </a:rPr>
              <a:t>Total tree compliance (RC 11.6 s); a lumped fit needs only ≈ 1–2 mL/mmHg (RC ≈ 0.4–0.5 s)</a:t>
            </a:r>
          </a:p>
        </p:txBody>
      </p:sp>
      <p:sp>
        <p:nvSpPr>
          <p:cNvPr id="22" name="Rectangle 31"/>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32"/>
          <p:cNvSpPr txBox="1"/>
          <p:nvPr/>
        </p:nvSpPr>
        <p:spPr>
          <a:xfrm>
            <a:off x="429768" y="4700016"/>
            <a:ext cx="8284464" cy="310896"/>
          </a:xfrm>
          <a:prstGeom prst="rect">
            <a:avLst/>
          </a:prstGeom>
          <a:noFill/>
        </p:spPr>
        <p:txBody>
          <a:bodyPr wrap="square" lIns="0" tIns="0" rIns="0" bIns="0" anchor="ctr"/>
          <a:lstStyle/>
          <a:p>
            <a:pPr algn="l"/>
            <a:r>
              <a:rPr sz="1000" b="1" i="0">
                <a:solidFill>
                  <a:srgbClr val="8C1515"/>
                </a:solidFill>
                <a:latin typeface="Calibri"/>
              </a:rPr>
              <a:t>Goal: fit within catheter error (±2 mmHg, ±0.02 split) with literature-defensible, identifiable parameters.</a:t>
            </a:r>
          </a:p>
        </p:txBody>
      </p:sp>
      <p:sp>
        <p:nvSpPr>
          <p:cNvPr id="24" name="TextBox 33"/>
          <p:cNvSpPr txBox="1"/>
          <p:nvPr/>
        </p:nvSpPr>
        <p:spPr>
          <a:xfrm>
            <a:off x="2011680" y="5376672"/>
            <a:ext cx="6812280" cy="201168"/>
          </a:xfrm>
          <a:prstGeom prst="rect">
            <a:avLst/>
          </a:prstGeom>
          <a:noFill/>
        </p:spPr>
        <p:txBody>
          <a:bodyPr wrap="square" lIns="0" tIns="0" rIns="0" bIns="0" anchor="ctr"/>
          <a:lstStyle/>
          <a:p>
            <a:pPr algn="l"/>
            <a:r>
              <a:rPr sz="700" b="0" i="1">
                <a:solidFill>
                  <a:srgbClr val="6B6965"/>
                </a:solidFill>
                <a:latin typeface="Calibri"/>
              </a:rPr>
              <a:t>Archived 2026-10-22. Replaced by: What the measurements require from the distal bed. Reason: TST-STAN-5 study history (24 Sep to 6 Oct); its outcome is the current model.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Outlet BCs are mapped 0D → 3D through the centerline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325880"/>
            <a:ext cx="3749039" cy="29260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3" name="Connector 19"/>
          <p:cNvCxnSpPr/>
          <p:nvPr/>
        </p:nvCxnSpPr>
        <p:spPr>
          <a:xfrm flipV="1">
            <a:off x="2194560" y="3154680"/>
            <a:ext cx="0" cy="685800"/>
          </a:xfrm>
          <a:prstGeom prst="line">
            <a:avLst/>
          </a:prstGeom>
          <a:ln w="38100">
            <a:solidFill>
              <a:srgbClr val="4A4845"/>
            </a:solidFill>
          </a:ln>
        </p:spPr>
        <p:style>
          <a:lnRef idx="2">
            <a:schemeClr val="accent1"/>
          </a:lnRef>
          <a:fillRef idx="0">
            <a:schemeClr val="accent1"/>
          </a:fillRef>
          <a:effectRef idx="1">
            <a:schemeClr val="accent1"/>
          </a:effectRef>
          <a:fontRef idx="minor">
            <a:schemeClr val="tx1"/>
          </a:fontRef>
        </p:style>
      </p:cxnSp>
      <p:cxnSp>
        <p:nvCxnSpPr>
          <p:cNvPr id="14" name="Connector 20"/>
          <p:cNvCxnSpPr/>
          <p:nvPr/>
        </p:nvCxnSpPr>
        <p:spPr>
          <a:xfrm flipH="1" flipV="1">
            <a:off x="1280160" y="2697480"/>
            <a:ext cx="914400" cy="457200"/>
          </a:xfrm>
          <a:prstGeom prst="line">
            <a:avLst/>
          </a:prstGeom>
          <a:ln w="31750">
            <a:solidFill>
              <a:srgbClr val="4A4845"/>
            </a:solidFill>
          </a:ln>
        </p:spPr>
        <p:style>
          <a:lnRef idx="2">
            <a:schemeClr val="accent1"/>
          </a:lnRef>
          <a:fillRef idx="0">
            <a:schemeClr val="accent1"/>
          </a:fillRef>
          <a:effectRef idx="1">
            <a:schemeClr val="accent1"/>
          </a:effectRef>
          <a:fontRef idx="minor">
            <a:schemeClr val="tx1"/>
          </a:fontRef>
        </p:style>
      </p:cxnSp>
      <p:cxnSp>
        <p:nvCxnSpPr>
          <p:cNvPr id="15" name="Connector 21"/>
          <p:cNvCxnSpPr/>
          <p:nvPr/>
        </p:nvCxnSpPr>
        <p:spPr>
          <a:xfrm flipV="1">
            <a:off x="2194560" y="2697480"/>
            <a:ext cx="914400" cy="457200"/>
          </a:xfrm>
          <a:prstGeom prst="line">
            <a:avLst/>
          </a:prstGeom>
          <a:ln w="31750">
            <a:solidFill>
              <a:srgbClr val="4A4845"/>
            </a:solidFill>
          </a:ln>
        </p:spPr>
        <p:style>
          <a:lnRef idx="2">
            <a:schemeClr val="accent1"/>
          </a:lnRef>
          <a:fillRef idx="0">
            <a:schemeClr val="accent1"/>
          </a:fillRef>
          <a:effectRef idx="1">
            <a:schemeClr val="accent1"/>
          </a:effectRef>
          <a:fontRef idx="minor">
            <a:schemeClr val="tx1"/>
          </a:fontRef>
        </p:style>
      </p:cxnSp>
      <p:cxnSp>
        <p:nvCxnSpPr>
          <p:cNvPr id="16" name="Connector 22"/>
          <p:cNvCxnSpPr/>
          <p:nvPr/>
        </p:nvCxnSpPr>
        <p:spPr>
          <a:xfrm flipH="1" flipV="1">
            <a:off x="777240" y="2148840"/>
            <a:ext cx="502920" cy="548640"/>
          </a:xfrm>
          <a:prstGeom prst="line">
            <a:avLst/>
          </a:prstGeom>
          <a:ln w="22225">
            <a:solidFill>
              <a:srgbClr val="4A4845"/>
            </a:solidFill>
          </a:ln>
        </p:spPr>
        <p:style>
          <a:lnRef idx="2">
            <a:schemeClr val="accent1"/>
          </a:lnRef>
          <a:fillRef idx="0">
            <a:schemeClr val="accent1"/>
          </a:fillRef>
          <a:effectRef idx="1">
            <a:schemeClr val="accent1"/>
          </a:effectRef>
          <a:fontRef idx="minor">
            <a:schemeClr val="tx1"/>
          </a:fontRef>
        </p:style>
      </p:cxnSp>
      <p:cxnSp>
        <p:nvCxnSpPr>
          <p:cNvPr id="17" name="Connector 23"/>
          <p:cNvCxnSpPr/>
          <p:nvPr/>
        </p:nvCxnSpPr>
        <p:spPr>
          <a:xfrm flipV="1">
            <a:off x="1280160" y="2011680"/>
            <a:ext cx="365760" cy="685800"/>
          </a:xfrm>
          <a:prstGeom prst="line">
            <a:avLst/>
          </a:prstGeom>
          <a:ln w="22225">
            <a:solidFill>
              <a:srgbClr val="4A4845"/>
            </a:solidFill>
          </a:ln>
        </p:spPr>
        <p:style>
          <a:lnRef idx="2">
            <a:schemeClr val="accent1"/>
          </a:lnRef>
          <a:fillRef idx="0">
            <a:schemeClr val="accent1"/>
          </a:fillRef>
          <a:effectRef idx="1">
            <a:schemeClr val="accent1"/>
          </a:effectRef>
          <a:fontRef idx="minor">
            <a:schemeClr val="tx1"/>
          </a:fontRef>
        </p:style>
      </p:cxnSp>
      <p:cxnSp>
        <p:nvCxnSpPr>
          <p:cNvPr id="18" name="Connector 24"/>
          <p:cNvCxnSpPr/>
          <p:nvPr/>
        </p:nvCxnSpPr>
        <p:spPr>
          <a:xfrm flipH="1" flipV="1">
            <a:off x="2743200" y="2011680"/>
            <a:ext cx="365760" cy="685800"/>
          </a:xfrm>
          <a:prstGeom prst="line">
            <a:avLst/>
          </a:prstGeom>
          <a:ln w="22225">
            <a:solidFill>
              <a:srgbClr val="4A4845"/>
            </a:solidFill>
          </a:ln>
        </p:spPr>
        <p:style>
          <a:lnRef idx="2">
            <a:schemeClr val="accent1"/>
          </a:lnRef>
          <a:fillRef idx="0">
            <a:schemeClr val="accent1"/>
          </a:fillRef>
          <a:effectRef idx="1">
            <a:schemeClr val="accent1"/>
          </a:effectRef>
          <a:fontRef idx="minor">
            <a:schemeClr val="tx1"/>
          </a:fontRef>
        </p:style>
      </p:cxnSp>
      <p:cxnSp>
        <p:nvCxnSpPr>
          <p:cNvPr id="19" name="Connector 25"/>
          <p:cNvCxnSpPr/>
          <p:nvPr/>
        </p:nvCxnSpPr>
        <p:spPr>
          <a:xfrm flipV="1">
            <a:off x="3108960" y="2148840"/>
            <a:ext cx="502920" cy="548640"/>
          </a:xfrm>
          <a:prstGeom prst="line">
            <a:avLst/>
          </a:prstGeom>
          <a:ln w="22225">
            <a:solidFill>
              <a:srgbClr val="4A4845"/>
            </a:solidFill>
          </a:ln>
        </p:spPr>
        <p:style>
          <a:lnRef idx="2">
            <a:schemeClr val="accent1"/>
          </a:lnRef>
          <a:fillRef idx="0">
            <a:schemeClr val="accent1"/>
          </a:fillRef>
          <a:effectRef idx="1">
            <a:schemeClr val="accent1"/>
          </a:effectRef>
          <a:fontRef idx="minor">
            <a:schemeClr val="tx1"/>
          </a:fontRef>
        </p:style>
      </p:cxnSp>
      <p:sp>
        <p:nvSpPr>
          <p:cNvPr id="20" name="TextBox 26"/>
          <p:cNvSpPr txBox="1"/>
          <p:nvPr/>
        </p:nvSpPr>
        <p:spPr>
          <a:xfrm>
            <a:off x="2240280" y="3429000"/>
            <a:ext cx="914400" cy="182880"/>
          </a:xfrm>
          <a:prstGeom prst="rect">
            <a:avLst/>
          </a:prstGeom>
          <a:noFill/>
        </p:spPr>
        <p:txBody>
          <a:bodyPr wrap="square" lIns="0" tIns="0" rIns="0" bIns="0" anchor="t"/>
          <a:lstStyle/>
          <a:p>
            <a:pPr algn="l"/>
            <a:r>
              <a:rPr sz="700" b="0" i="0">
                <a:solidFill>
                  <a:srgbClr val="6B6965"/>
                </a:solidFill>
                <a:latin typeface="Calibri"/>
              </a:rPr>
              <a:t>branch 0 · MPA</a:t>
            </a:r>
          </a:p>
        </p:txBody>
      </p:sp>
      <p:sp>
        <p:nvSpPr>
          <p:cNvPr id="21" name="TextBox 27"/>
          <p:cNvSpPr txBox="1"/>
          <p:nvPr/>
        </p:nvSpPr>
        <p:spPr>
          <a:xfrm>
            <a:off x="868680" y="2971800"/>
            <a:ext cx="822960" cy="182880"/>
          </a:xfrm>
          <a:prstGeom prst="rect">
            <a:avLst/>
          </a:prstGeom>
          <a:noFill/>
        </p:spPr>
        <p:txBody>
          <a:bodyPr wrap="square" lIns="0" tIns="0" rIns="0" bIns="0" anchor="t"/>
          <a:lstStyle/>
          <a:p>
            <a:pPr algn="l"/>
            <a:r>
              <a:rPr sz="700" b="0" i="0">
                <a:solidFill>
                  <a:srgbClr val="6B6965"/>
                </a:solidFill>
                <a:latin typeface="Calibri"/>
              </a:rPr>
              <a:t>branch 2 · LPA</a:t>
            </a:r>
          </a:p>
        </p:txBody>
      </p:sp>
      <p:sp>
        <p:nvSpPr>
          <p:cNvPr id="22" name="TextBox 28"/>
          <p:cNvSpPr txBox="1"/>
          <p:nvPr/>
        </p:nvSpPr>
        <p:spPr>
          <a:xfrm>
            <a:off x="2926080" y="2971800"/>
            <a:ext cx="914400" cy="182880"/>
          </a:xfrm>
          <a:prstGeom prst="rect">
            <a:avLst/>
          </a:prstGeom>
          <a:noFill/>
        </p:spPr>
        <p:txBody>
          <a:bodyPr wrap="square" lIns="0" tIns="0" rIns="0" bIns="0" anchor="t"/>
          <a:lstStyle/>
          <a:p>
            <a:pPr algn="l"/>
            <a:r>
              <a:rPr sz="700" b="0" i="0">
                <a:solidFill>
                  <a:srgbClr val="6B6965"/>
                </a:solidFill>
                <a:latin typeface="Calibri"/>
              </a:rPr>
              <a:t>branch 1 · RPA</a:t>
            </a:r>
          </a:p>
        </p:txBody>
      </p:sp>
      <p:sp>
        <p:nvSpPr>
          <p:cNvPr id="23" name="Oval 29"/>
          <p:cNvSpPr/>
          <p:nvPr/>
        </p:nvSpPr>
        <p:spPr>
          <a:xfrm>
            <a:off x="557784" y="1938528"/>
            <a:ext cx="310896" cy="310896"/>
          </a:xfrm>
          <a:prstGeom prst="ellipse">
            <a:avLst/>
          </a:prstGeom>
          <a:noFill/>
          <a:ln w="19050">
            <a:solidFill>
              <a:srgbClr val="E983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30"/>
          <p:cNvSpPr/>
          <p:nvPr/>
        </p:nvSpPr>
        <p:spPr>
          <a:xfrm>
            <a:off x="681228" y="2061972"/>
            <a:ext cx="64008" cy="64008"/>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31"/>
          <p:cNvSpPr/>
          <p:nvPr/>
        </p:nvSpPr>
        <p:spPr>
          <a:xfrm>
            <a:off x="745236" y="2116836"/>
            <a:ext cx="64008" cy="64008"/>
          </a:xfrm>
          <a:prstGeom prst="ellipse">
            <a:avLst/>
          </a:prstGeom>
          <a:solidFill>
            <a:srgbClr val="4A4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32"/>
          <p:cNvSpPr/>
          <p:nvPr/>
        </p:nvSpPr>
        <p:spPr>
          <a:xfrm>
            <a:off x="1536192" y="1783080"/>
            <a:ext cx="310896" cy="310896"/>
          </a:xfrm>
          <a:prstGeom prst="ellipse">
            <a:avLst/>
          </a:prstGeom>
          <a:noFill/>
          <a:ln w="19050">
            <a:solidFill>
              <a:srgbClr val="E983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33"/>
          <p:cNvSpPr/>
          <p:nvPr/>
        </p:nvSpPr>
        <p:spPr>
          <a:xfrm>
            <a:off x="1659636" y="1906524"/>
            <a:ext cx="64008" cy="64008"/>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34"/>
          <p:cNvSpPr/>
          <p:nvPr/>
        </p:nvSpPr>
        <p:spPr>
          <a:xfrm>
            <a:off x="1613916" y="1979676"/>
            <a:ext cx="64008" cy="64008"/>
          </a:xfrm>
          <a:prstGeom prst="ellipse">
            <a:avLst/>
          </a:prstGeom>
          <a:solidFill>
            <a:srgbClr val="4A4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35"/>
          <p:cNvSpPr/>
          <p:nvPr/>
        </p:nvSpPr>
        <p:spPr>
          <a:xfrm>
            <a:off x="2542032" y="1783080"/>
            <a:ext cx="310896" cy="310896"/>
          </a:xfrm>
          <a:prstGeom prst="ellipse">
            <a:avLst/>
          </a:prstGeom>
          <a:noFill/>
          <a:ln w="19050">
            <a:solidFill>
              <a:srgbClr val="E983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36"/>
          <p:cNvSpPr/>
          <p:nvPr/>
        </p:nvSpPr>
        <p:spPr>
          <a:xfrm>
            <a:off x="2665476" y="1906524"/>
            <a:ext cx="64008" cy="64008"/>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7"/>
          <p:cNvSpPr/>
          <p:nvPr/>
        </p:nvSpPr>
        <p:spPr>
          <a:xfrm>
            <a:off x="2711196" y="1979676"/>
            <a:ext cx="64008" cy="64008"/>
          </a:xfrm>
          <a:prstGeom prst="ellipse">
            <a:avLst/>
          </a:prstGeom>
          <a:solidFill>
            <a:srgbClr val="4A4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8"/>
          <p:cNvSpPr/>
          <p:nvPr/>
        </p:nvSpPr>
        <p:spPr>
          <a:xfrm>
            <a:off x="3520440" y="1938528"/>
            <a:ext cx="310896" cy="310896"/>
          </a:xfrm>
          <a:prstGeom prst="ellipse">
            <a:avLst/>
          </a:prstGeom>
          <a:noFill/>
          <a:ln w="19050">
            <a:solidFill>
              <a:srgbClr val="E983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9"/>
          <p:cNvSpPr/>
          <p:nvPr/>
        </p:nvSpPr>
        <p:spPr>
          <a:xfrm>
            <a:off x="3643884" y="2061972"/>
            <a:ext cx="64008" cy="64008"/>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40"/>
          <p:cNvSpPr/>
          <p:nvPr/>
        </p:nvSpPr>
        <p:spPr>
          <a:xfrm>
            <a:off x="3579876" y="2116836"/>
            <a:ext cx="64008" cy="64008"/>
          </a:xfrm>
          <a:prstGeom prst="ellipse">
            <a:avLst/>
          </a:prstGeom>
          <a:solidFill>
            <a:srgbClr val="4A4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5" name="Connector 41"/>
          <p:cNvCxnSpPr/>
          <p:nvPr/>
        </p:nvCxnSpPr>
        <p:spPr>
          <a:xfrm flipH="1">
            <a:off x="1645920" y="1938528"/>
            <a:ext cx="45720" cy="73152"/>
          </a:xfrm>
          <a:prstGeom prst="line">
            <a:avLst/>
          </a:prstGeom>
          <a:ln w="15875">
            <a:solidFill>
              <a:srgbClr val="8C1515"/>
            </a:solidFill>
            <a:prstDash val="sysDot"/>
          </a:ln>
        </p:spPr>
        <p:style>
          <a:lnRef idx="2">
            <a:schemeClr val="accent1"/>
          </a:lnRef>
          <a:fillRef idx="0">
            <a:schemeClr val="accent1"/>
          </a:fillRef>
          <a:effectRef idx="1">
            <a:schemeClr val="accent1"/>
          </a:effectRef>
          <a:fontRef idx="minor">
            <a:schemeClr val="tx1"/>
          </a:fontRef>
        </p:style>
      </p:cxnSp>
      <p:sp>
        <p:nvSpPr>
          <p:cNvPr id="36" name="TextBox 42"/>
          <p:cNvSpPr txBox="1"/>
          <p:nvPr/>
        </p:nvSpPr>
        <p:spPr>
          <a:xfrm>
            <a:off x="457200" y="3977639"/>
            <a:ext cx="3566160" cy="201168"/>
          </a:xfrm>
          <a:prstGeom prst="rect">
            <a:avLst/>
          </a:prstGeom>
          <a:noFill/>
        </p:spPr>
        <p:txBody>
          <a:bodyPr wrap="square" lIns="0" tIns="0" rIns="0" bIns="0" anchor="t"/>
          <a:lstStyle/>
          <a:p>
            <a:pPr algn="l"/>
            <a:r>
              <a:rPr sz="800" b="0" i="0">
                <a:solidFill>
                  <a:srgbClr val="E98300"/>
                </a:solidFill>
                <a:latin typeface="Calibri"/>
              </a:rPr>
              <a:t>● </a:t>
            </a:r>
            <a:r>
              <a:rPr sz="750" b="0" i="0">
                <a:solidFill>
                  <a:srgbClr val="6B6965"/>
                </a:solidFill>
                <a:latin typeface="Calibri"/>
              </a:rPr>
              <a:t>cap centroid   </a:t>
            </a:r>
            <a:r>
              <a:rPr sz="800" b="0" i="0">
                <a:solidFill>
                  <a:srgbClr val="4A4845"/>
                </a:solidFill>
                <a:latin typeface="Calibri"/>
              </a:rPr>
              <a:t>● </a:t>
            </a:r>
            <a:r>
              <a:rPr sz="750" b="0" i="0">
                <a:solidFill>
                  <a:srgbClr val="6B6965"/>
                </a:solidFill>
                <a:latin typeface="Calibri"/>
              </a:rPr>
              <a:t>centerline endpoint   </a:t>
            </a:r>
            <a:r>
              <a:rPr sz="800" b="0" i="0">
                <a:solidFill>
                  <a:srgbClr val="E98300"/>
                </a:solidFill>
                <a:latin typeface="Calibri"/>
              </a:rPr>
              <a:t>◯ </a:t>
            </a:r>
            <a:r>
              <a:rPr sz="750" b="0" i="0">
                <a:solidFill>
                  <a:srgbClr val="6B6965"/>
                </a:solidFill>
                <a:latin typeface="Calibri"/>
              </a:rPr>
              <a:t>3D cap</a:t>
            </a:r>
          </a:p>
        </p:txBody>
      </p:sp>
      <p:sp>
        <p:nvSpPr>
          <p:cNvPr id="37" name="Rounded Rectangle 43"/>
          <p:cNvSpPr/>
          <p:nvPr/>
        </p:nvSpPr>
        <p:spPr>
          <a:xfrm>
            <a:off x="777240" y="1426464"/>
            <a:ext cx="2834640" cy="274320"/>
          </a:xfrm>
          <a:prstGeom prst="roundRect">
            <a:avLst>
              <a:gd name="adj" fmla="val 12000"/>
            </a:avLst>
          </a:prstGeom>
          <a:solidFill>
            <a:srgbClr val="FFFFFF"/>
          </a:solidFill>
          <a:ln w="12700">
            <a:solidFill>
              <a:srgbClr val="8C1515"/>
            </a:solidFill>
          </a:ln>
          <a:effectLst/>
        </p:spPr>
        <p:style>
          <a:lnRef idx="1">
            <a:schemeClr val="accent1"/>
          </a:lnRef>
          <a:fillRef idx="3">
            <a:schemeClr val="accent1"/>
          </a:fillRef>
          <a:effectRef idx="2">
            <a:schemeClr val="accent1"/>
          </a:effectRef>
          <a:fontRef idx="minor">
            <a:schemeClr val="lt1"/>
          </a:fontRef>
        </p:style>
        <p:txBody>
          <a:bodyPr wrap="square" lIns="45720" tIns="0" rIns="36576" bIns="0" rtlCol="0" anchor="ctr"/>
          <a:lstStyle/>
          <a:p>
            <a:pPr algn="l"/>
            <a:r>
              <a:rPr sz="750" b="1" i="0">
                <a:solidFill>
                  <a:srgbClr val="8C1515"/>
                </a:solidFill>
                <a:latin typeface="Calibri"/>
              </a:rPr>
              <a:t>e.g. lpa_02 cap</a:t>
            </a:r>
            <a:r>
              <a:rPr sz="700" b="0" i="0">
                <a:solidFill>
                  <a:srgbClr val="2E2D29"/>
                </a:solidFill>
                <a:latin typeface="Calibri"/>
              </a:rPr>
              <a:t>  →  branch4_seg1  →  RESISTANCE_4</a:t>
            </a:r>
          </a:p>
        </p:txBody>
      </p:sp>
      <p:cxnSp>
        <p:nvCxnSpPr>
          <p:cNvPr id="38" name="Connector 44"/>
          <p:cNvCxnSpPr/>
          <p:nvPr/>
        </p:nvCxnSpPr>
        <p:spPr>
          <a:xfrm flipV="1">
            <a:off x="1691640" y="1700784"/>
            <a:ext cx="0" cy="82296"/>
          </a:xfrm>
          <a:prstGeom prst="line">
            <a:avLst/>
          </a:prstGeom>
          <a:ln w="9525">
            <a:solidFill>
              <a:srgbClr val="8C1515"/>
            </a:solidFill>
          </a:ln>
        </p:spPr>
        <p:style>
          <a:lnRef idx="2">
            <a:schemeClr val="accent1"/>
          </a:lnRef>
          <a:fillRef idx="0">
            <a:schemeClr val="accent1"/>
          </a:fillRef>
          <a:effectRef idx="1">
            <a:schemeClr val="accent1"/>
          </a:effectRef>
          <a:fontRef idx="minor">
            <a:schemeClr val="tx1"/>
          </a:fontRef>
        </p:style>
      </p:cxnSp>
      <p:sp>
        <p:nvSpPr>
          <p:cNvPr id="39" name="TextBox 45"/>
          <p:cNvSpPr txBox="1"/>
          <p:nvPr/>
        </p:nvSpPr>
        <p:spPr>
          <a:xfrm>
            <a:off x="4343400" y="1298448"/>
            <a:ext cx="4480560" cy="219456"/>
          </a:xfrm>
          <a:prstGeom prst="rect">
            <a:avLst/>
          </a:prstGeom>
          <a:noFill/>
        </p:spPr>
        <p:txBody>
          <a:bodyPr wrap="square" lIns="0" tIns="0" rIns="0" bIns="0" anchor="t"/>
          <a:lstStyle/>
          <a:p>
            <a:pPr algn="l"/>
            <a:r>
              <a:rPr sz="1000" b="1" i="0">
                <a:solidFill>
                  <a:srgbClr val="8C1515"/>
                </a:solidFill>
                <a:latin typeface="Calibri"/>
              </a:rPr>
              <a:t>Matching, per cap</a:t>
            </a:r>
          </a:p>
        </p:txBody>
      </p:sp>
      <p:sp>
        <p:nvSpPr>
          <p:cNvPr id="40" name="Oval 46"/>
          <p:cNvSpPr/>
          <p:nvPr/>
        </p:nvSpPr>
        <p:spPr>
          <a:xfrm>
            <a:off x="4352544" y="1682495"/>
            <a:ext cx="384048" cy="384048"/>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i="0">
                <a:solidFill>
                  <a:srgbClr val="FFFFFF"/>
                </a:solidFill>
                <a:latin typeface="Calibri"/>
              </a:rPr>
              <a:t>1</a:t>
            </a:r>
          </a:p>
        </p:txBody>
      </p:sp>
      <p:sp>
        <p:nvSpPr>
          <p:cNvPr id="41" name="TextBox 47"/>
          <p:cNvSpPr txBox="1"/>
          <p:nvPr/>
        </p:nvSpPr>
        <p:spPr>
          <a:xfrm>
            <a:off x="4892040" y="1645920"/>
            <a:ext cx="3931920" cy="457200"/>
          </a:xfrm>
          <a:prstGeom prst="rect">
            <a:avLst/>
          </a:prstGeom>
          <a:noFill/>
        </p:spPr>
        <p:txBody>
          <a:bodyPr wrap="square" lIns="0" tIns="0" rIns="0" bIns="0" anchor="ctr"/>
          <a:lstStyle/>
          <a:p>
            <a:pPr algn="l"/>
            <a:r>
              <a:rPr sz="1100" b="1" i="0">
                <a:solidFill>
                  <a:srgbClr val="2E2D29"/>
                </a:solidFill>
                <a:latin typeface="Calibri"/>
              </a:rPr>
              <a:t>Cap centroid</a:t>
            </a:r>
          </a:p>
          <a:p>
            <a:pPr algn="l"/>
            <a:r>
              <a:rPr sz="900" b="0" i="0">
                <a:solidFill>
                  <a:srgbClr val="6B6965"/>
                </a:solidFill>
                <a:latin typeface="Calibri"/>
              </a:rPr>
              <a:t>area-weighted centroid of the 3D cap</a:t>
            </a:r>
          </a:p>
        </p:txBody>
      </p:sp>
      <p:cxnSp>
        <p:nvCxnSpPr>
          <p:cNvPr id="42" name="Connector 48"/>
          <p:cNvCxnSpPr/>
          <p:nvPr/>
        </p:nvCxnSpPr>
        <p:spPr>
          <a:xfrm>
            <a:off x="4544568" y="2075688"/>
            <a:ext cx="0" cy="274320"/>
          </a:xfrm>
          <a:prstGeom prst="line">
            <a:avLst/>
          </a:prstGeom>
          <a:ln w="19050">
            <a:solidFill>
              <a:srgbClr val="D9D7D4"/>
            </a:solidFill>
          </a:ln>
        </p:spPr>
        <p:style>
          <a:lnRef idx="2">
            <a:schemeClr val="accent1"/>
          </a:lnRef>
          <a:fillRef idx="0">
            <a:schemeClr val="accent1"/>
          </a:fillRef>
          <a:effectRef idx="1">
            <a:schemeClr val="accent1"/>
          </a:effectRef>
          <a:fontRef idx="minor">
            <a:schemeClr val="tx1"/>
          </a:fontRef>
        </p:style>
      </p:cxnSp>
      <p:sp>
        <p:nvSpPr>
          <p:cNvPr id="43" name="Oval 49"/>
          <p:cNvSpPr/>
          <p:nvPr/>
        </p:nvSpPr>
        <p:spPr>
          <a:xfrm>
            <a:off x="4352544" y="2359152"/>
            <a:ext cx="384048" cy="384048"/>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i="0">
                <a:solidFill>
                  <a:srgbClr val="FFFFFF"/>
                </a:solidFill>
                <a:latin typeface="Calibri"/>
              </a:rPr>
              <a:t>2</a:t>
            </a:r>
          </a:p>
        </p:txBody>
      </p:sp>
      <p:sp>
        <p:nvSpPr>
          <p:cNvPr id="44" name="TextBox 50"/>
          <p:cNvSpPr txBox="1"/>
          <p:nvPr/>
        </p:nvSpPr>
        <p:spPr>
          <a:xfrm>
            <a:off x="4892040" y="2322576"/>
            <a:ext cx="3931920" cy="457200"/>
          </a:xfrm>
          <a:prstGeom prst="rect">
            <a:avLst/>
          </a:prstGeom>
          <a:noFill/>
        </p:spPr>
        <p:txBody>
          <a:bodyPr wrap="square" lIns="0" tIns="0" rIns="0" bIns="0" anchor="ctr"/>
          <a:lstStyle/>
          <a:p>
            <a:pPr algn="l"/>
            <a:r>
              <a:rPr sz="1100" b="1" i="0">
                <a:solidFill>
                  <a:srgbClr val="2E2D29"/>
                </a:solidFill>
                <a:latin typeface="Calibri"/>
              </a:rPr>
              <a:t>Nearest endpoint</a:t>
            </a:r>
          </a:p>
          <a:p>
            <a:pPr algn="l"/>
            <a:r>
              <a:rPr sz="900" b="0" i="0">
                <a:solidFill>
                  <a:srgbClr val="6B6965"/>
                </a:solidFill>
                <a:latin typeface="Calibri"/>
              </a:rPr>
              <a:t>closest centerline outlet endpoint</a:t>
            </a:r>
          </a:p>
        </p:txBody>
      </p:sp>
      <p:cxnSp>
        <p:nvCxnSpPr>
          <p:cNvPr id="45" name="Connector 51"/>
          <p:cNvCxnSpPr/>
          <p:nvPr/>
        </p:nvCxnSpPr>
        <p:spPr>
          <a:xfrm>
            <a:off x="4544568" y="2752344"/>
            <a:ext cx="0" cy="274320"/>
          </a:xfrm>
          <a:prstGeom prst="line">
            <a:avLst/>
          </a:prstGeom>
          <a:ln w="19050">
            <a:solidFill>
              <a:srgbClr val="D9D7D4"/>
            </a:solidFill>
          </a:ln>
        </p:spPr>
        <p:style>
          <a:lnRef idx="2">
            <a:schemeClr val="accent1"/>
          </a:lnRef>
          <a:fillRef idx="0">
            <a:schemeClr val="accent1"/>
          </a:fillRef>
          <a:effectRef idx="1">
            <a:schemeClr val="accent1"/>
          </a:effectRef>
          <a:fontRef idx="minor">
            <a:schemeClr val="tx1"/>
          </a:fontRef>
        </p:style>
      </p:cxnSp>
      <p:sp>
        <p:nvSpPr>
          <p:cNvPr id="46" name="Oval 52"/>
          <p:cNvSpPr/>
          <p:nvPr/>
        </p:nvSpPr>
        <p:spPr>
          <a:xfrm>
            <a:off x="4352544" y="3035808"/>
            <a:ext cx="384048" cy="384048"/>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i="0">
                <a:solidFill>
                  <a:srgbClr val="FFFFFF"/>
                </a:solidFill>
                <a:latin typeface="Calibri"/>
              </a:rPr>
              <a:t>3</a:t>
            </a:r>
          </a:p>
        </p:txBody>
      </p:sp>
      <p:sp>
        <p:nvSpPr>
          <p:cNvPr id="47" name="TextBox 53"/>
          <p:cNvSpPr txBox="1"/>
          <p:nvPr/>
        </p:nvSpPr>
        <p:spPr>
          <a:xfrm>
            <a:off x="4892040" y="2999232"/>
            <a:ext cx="3931920" cy="457200"/>
          </a:xfrm>
          <a:prstGeom prst="rect">
            <a:avLst/>
          </a:prstGeom>
          <a:noFill/>
        </p:spPr>
        <p:txBody>
          <a:bodyPr wrap="square" lIns="0" tIns="0" rIns="0" bIns="0" anchor="ctr"/>
          <a:lstStyle/>
          <a:p>
            <a:pPr algn="l"/>
            <a:r>
              <a:rPr sz="1100" b="1" i="0">
                <a:solidFill>
                  <a:srgbClr val="2E2D29"/>
                </a:solidFill>
                <a:latin typeface="Calibri"/>
              </a:rPr>
              <a:t>Branch → 0D vessel</a:t>
            </a:r>
          </a:p>
          <a:p>
            <a:pPr algn="l"/>
            <a:r>
              <a:rPr sz="900" b="0" i="0">
                <a:solidFill>
                  <a:srgbClr val="6B6965"/>
                </a:solidFill>
                <a:latin typeface="Calibri"/>
              </a:rPr>
              <a:t>BranchId N → vessel branchN_segK</a:t>
            </a:r>
          </a:p>
        </p:txBody>
      </p:sp>
      <p:cxnSp>
        <p:nvCxnSpPr>
          <p:cNvPr id="48" name="Connector 54"/>
          <p:cNvCxnSpPr/>
          <p:nvPr/>
        </p:nvCxnSpPr>
        <p:spPr>
          <a:xfrm>
            <a:off x="4544568" y="3429000"/>
            <a:ext cx="0" cy="274320"/>
          </a:xfrm>
          <a:prstGeom prst="line">
            <a:avLst/>
          </a:prstGeom>
          <a:ln w="19050">
            <a:solidFill>
              <a:srgbClr val="D9D7D4"/>
            </a:solidFill>
          </a:ln>
        </p:spPr>
        <p:style>
          <a:lnRef idx="2">
            <a:schemeClr val="accent1"/>
          </a:lnRef>
          <a:fillRef idx="0">
            <a:schemeClr val="accent1"/>
          </a:fillRef>
          <a:effectRef idx="1">
            <a:schemeClr val="accent1"/>
          </a:effectRef>
          <a:fontRef idx="minor">
            <a:schemeClr val="tx1"/>
          </a:fontRef>
        </p:style>
      </p:cxnSp>
      <p:sp>
        <p:nvSpPr>
          <p:cNvPr id="49" name="Oval 55"/>
          <p:cNvSpPr/>
          <p:nvPr/>
        </p:nvSpPr>
        <p:spPr>
          <a:xfrm>
            <a:off x="4352544" y="3712463"/>
            <a:ext cx="384048" cy="384048"/>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i="0">
                <a:solidFill>
                  <a:srgbClr val="FFFFFF"/>
                </a:solidFill>
                <a:latin typeface="Calibri"/>
              </a:rPr>
              <a:t>4</a:t>
            </a:r>
          </a:p>
        </p:txBody>
      </p:sp>
      <p:sp>
        <p:nvSpPr>
          <p:cNvPr id="50" name="TextBox 56"/>
          <p:cNvSpPr txBox="1"/>
          <p:nvPr/>
        </p:nvSpPr>
        <p:spPr>
          <a:xfrm>
            <a:off x="4892040" y="3675887"/>
            <a:ext cx="3931920" cy="457200"/>
          </a:xfrm>
          <a:prstGeom prst="rect">
            <a:avLst/>
          </a:prstGeom>
          <a:noFill/>
        </p:spPr>
        <p:txBody>
          <a:bodyPr wrap="square" lIns="0" tIns="0" rIns="0" bIns="0" anchor="ctr"/>
          <a:lstStyle/>
          <a:p>
            <a:pPr algn="l"/>
            <a:r>
              <a:rPr sz="1100" b="1" i="0">
                <a:solidFill>
                  <a:srgbClr val="2E2D29"/>
                </a:solidFill>
                <a:latin typeface="Calibri"/>
              </a:rPr>
              <a:t>Outlet BC</a:t>
            </a:r>
          </a:p>
          <a:p>
            <a:pPr algn="l"/>
            <a:r>
              <a:rPr sz="900" b="0" i="0">
                <a:solidFill>
                  <a:srgbClr val="6B6965"/>
                </a:solidFill>
                <a:latin typeface="Calibri"/>
              </a:rPr>
              <a:t>that vessel's outlet gets this cap's tree</a:t>
            </a:r>
          </a:p>
        </p:txBody>
      </p:sp>
      <p:sp>
        <p:nvSpPr>
          <p:cNvPr id="51" name="TextBox 57"/>
          <p:cNvSpPr txBox="1"/>
          <p:nvPr/>
        </p:nvSpPr>
        <p:spPr>
          <a:xfrm>
            <a:off x="320040" y="4434840"/>
            <a:ext cx="1188720" cy="566928"/>
          </a:xfrm>
          <a:prstGeom prst="rect">
            <a:avLst/>
          </a:prstGeom>
          <a:noFill/>
        </p:spPr>
        <p:txBody>
          <a:bodyPr wrap="square" lIns="0" tIns="0" rIns="0" bIns="0" anchor="ctr"/>
          <a:lstStyle/>
          <a:p>
            <a:pPr algn="l"/>
            <a:r>
              <a:rPr sz="1000" b="1" i="0">
                <a:solidFill>
                  <a:srgbClr val="8C1515"/>
                </a:solidFill>
                <a:latin typeface="Calibri"/>
              </a:rPr>
              <a:t>Tree sizing</a:t>
            </a:r>
          </a:p>
          <a:p>
            <a:pPr algn="l"/>
            <a:r>
              <a:rPr sz="800" b="0" i="0">
                <a:solidFill>
                  <a:srgbClr val="6B6965"/>
                </a:solidFill>
                <a:latin typeface="Calibri"/>
              </a:rPr>
              <a:t>at each outlet</a:t>
            </a:r>
          </a:p>
        </p:txBody>
      </p:sp>
      <p:sp>
        <p:nvSpPr>
          <p:cNvPr id="52" name="Rectangle 58"/>
          <p:cNvSpPr/>
          <p:nvPr/>
        </p:nvSpPr>
        <p:spPr>
          <a:xfrm>
            <a:off x="1554480" y="4434840"/>
            <a:ext cx="3383280" cy="56692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9"/>
          <p:cNvSpPr/>
          <p:nvPr/>
        </p:nvSpPr>
        <p:spPr>
          <a:xfrm>
            <a:off x="1691639" y="4626864"/>
            <a:ext cx="182880" cy="182880"/>
          </a:xfrm>
          <a:prstGeom prst="ellipse">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60"/>
          <p:cNvSpPr/>
          <p:nvPr/>
        </p:nvSpPr>
        <p:spPr>
          <a:xfrm>
            <a:off x="1965960" y="4626864"/>
            <a:ext cx="182880" cy="182880"/>
          </a:xfrm>
          <a:prstGeom prst="ellipse">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61"/>
          <p:cNvSpPr/>
          <p:nvPr/>
        </p:nvSpPr>
        <p:spPr>
          <a:xfrm>
            <a:off x="2240279" y="4626864"/>
            <a:ext cx="182880" cy="182880"/>
          </a:xfrm>
          <a:prstGeom prst="ellipse">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62"/>
          <p:cNvSpPr/>
          <p:nvPr/>
        </p:nvSpPr>
        <p:spPr>
          <a:xfrm>
            <a:off x="2514599" y="4626864"/>
            <a:ext cx="182880" cy="182880"/>
          </a:xfrm>
          <a:prstGeom prst="ellipse">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63"/>
          <p:cNvSpPr/>
          <p:nvPr/>
        </p:nvSpPr>
        <p:spPr>
          <a:xfrm>
            <a:off x="2788920" y="4626864"/>
            <a:ext cx="182880" cy="182880"/>
          </a:xfrm>
          <a:prstGeom prst="ellipse">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64"/>
          <p:cNvSpPr txBox="1"/>
          <p:nvPr/>
        </p:nvSpPr>
        <p:spPr>
          <a:xfrm>
            <a:off x="3200400" y="4434840"/>
            <a:ext cx="1691640" cy="566928"/>
          </a:xfrm>
          <a:prstGeom prst="rect">
            <a:avLst/>
          </a:prstGeom>
          <a:noFill/>
        </p:spPr>
        <p:txBody>
          <a:bodyPr wrap="square" lIns="0" tIns="0" rIns="45720" bIns="0" anchor="ctr"/>
          <a:lstStyle/>
          <a:p>
            <a:pPr algn="l"/>
            <a:r>
              <a:rPr sz="850" b="1" i="0">
                <a:solidFill>
                  <a:srgbClr val="2E2D29"/>
                </a:solidFill>
                <a:latin typeface="Calibri"/>
              </a:rPr>
              <a:t>Before</a:t>
            </a:r>
          </a:p>
          <a:p>
            <a:pPr algn="l"/>
            <a:r>
              <a:rPr sz="750" b="0" i="0">
                <a:solidFill>
                  <a:srgbClr val="6B6965"/>
                </a:solidFill>
                <a:latin typeface="Calibri"/>
              </a:rPr>
              <a:t>1 LPA + 1 RPA tree, mean diameter</a:t>
            </a:r>
          </a:p>
        </p:txBody>
      </p:sp>
      <p:cxnSp>
        <p:nvCxnSpPr>
          <p:cNvPr id="59" name="Connector 65"/>
          <p:cNvCxnSpPr/>
          <p:nvPr/>
        </p:nvCxnSpPr>
        <p:spPr>
          <a:xfrm>
            <a:off x="4983480" y="4718303"/>
            <a:ext cx="228600"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ectangle 66"/>
          <p:cNvSpPr/>
          <p:nvPr/>
        </p:nvSpPr>
        <p:spPr>
          <a:xfrm>
            <a:off x="5257800" y="4434840"/>
            <a:ext cx="3566160" cy="566928"/>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7"/>
          <p:cNvSpPr/>
          <p:nvPr/>
        </p:nvSpPr>
        <p:spPr>
          <a:xfrm>
            <a:off x="5440680" y="4663440"/>
            <a:ext cx="109728" cy="109728"/>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8"/>
          <p:cNvSpPr/>
          <p:nvPr/>
        </p:nvSpPr>
        <p:spPr>
          <a:xfrm>
            <a:off x="5623560" y="4581143"/>
            <a:ext cx="274320" cy="274320"/>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9"/>
          <p:cNvSpPr/>
          <p:nvPr/>
        </p:nvSpPr>
        <p:spPr>
          <a:xfrm>
            <a:off x="5971032" y="4626864"/>
            <a:ext cx="182880" cy="182880"/>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70"/>
          <p:cNvSpPr/>
          <p:nvPr/>
        </p:nvSpPr>
        <p:spPr>
          <a:xfrm>
            <a:off x="6227064" y="4553712"/>
            <a:ext cx="329184" cy="329184"/>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71"/>
          <p:cNvSpPr/>
          <p:nvPr/>
        </p:nvSpPr>
        <p:spPr>
          <a:xfrm>
            <a:off x="6629400" y="4645151"/>
            <a:ext cx="146304" cy="146304"/>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72"/>
          <p:cNvSpPr txBox="1"/>
          <p:nvPr/>
        </p:nvSpPr>
        <p:spPr>
          <a:xfrm>
            <a:off x="6858000" y="4434840"/>
            <a:ext cx="1938528" cy="566928"/>
          </a:xfrm>
          <a:prstGeom prst="rect">
            <a:avLst/>
          </a:prstGeom>
          <a:noFill/>
        </p:spPr>
        <p:txBody>
          <a:bodyPr wrap="square" lIns="0" tIns="0" rIns="45720" bIns="0" anchor="ctr"/>
          <a:lstStyle/>
          <a:p>
            <a:pPr algn="l"/>
            <a:r>
              <a:rPr sz="850" b="1" i="0">
                <a:solidFill>
                  <a:srgbClr val="8C1515"/>
                </a:solidFill>
                <a:latin typeface="Calibri"/>
              </a:rPr>
              <a:t>Now</a:t>
            </a:r>
          </a:p>
          <a:p>
            <a:pPr algn="l"/>
            <a:r>
              <a:rPr sz="750" b="0" i="0">
                <a:solidFill>
                  <a:srgbClr val="2E2D29"/>
                </a:solidFill>
                <a:latin typeface="Calibri"/>
              </a:rPr>
              <a:t>one tree per cap, d = 2√(A/π)</a:t>
            </a:r>
          </a:p>
        </p:txBody>
      </p:sp>
      <p:sp>
        <p:nvSpPr>
          <p:cNvPr id="67" name="TextBox 73"/>
          <p:cNvSpPr txBox="1"/>
          <p:nvPr/>
        </p:nvSpPr>
        <p:spPr>
          <a:xfrm>
            <a:off x="2011680" y="5376672"/>
            <a:ext cx="6812280" cy="201168"/>
          </a:xfrm>
          <a:prstGeom prst="rect">
            <a:avLst/>
          </a:prstGeom>
          <a:noFill/>
        </p:spPr>
        <p:txBody>
          <a:bodyPr wrap="square" lIns="27432" tIns="0" rIns="27432" bIns="0" anchor="t"/>
          <a:lstStyle/>
          <a:p>
            <a:pPr algn="l"/>
            <a:r>
              <a:rPr sz="700" b="0" i="1">
                <a:solidFill>
                  <a:srgbClr val="6B6965"/>
                </a:solidFill>
                <a:latin typeface="Calibri"/>
              </a:rPr>
              <a:t>Archived 2026-10-22. Replaced by: The updated tuning loop runs on the full 0D model. Reason: Detail over the Stage 2 budget; the mapping step is on the loop overview.</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learnedZeroD generates the initial full-PA seed</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261872"/>
            <a:ext cx="8503920" cy="201168"/>
          </a:xfrm>
          <a:prstGeom prst="rect">
            <a:avLst/>
          </a:prstGeom>
          <a:noFill/>
        </p:spPr>
        <p:txBody>
          <a:bodyPr wrap="square" lIns="0" tIns="0" rIns="0" bIns="0" anchor="t"/>
          <a:lstStyle/>
          <a:p>
            <a:pPr algn="l"/>
            <a:r>
              <a:rPr sz="850" b="1" i="0" dirty="0">
                <a:solidFill>
                  <a:srgbClr val="8C1515"/>
                </a:solidFill>
                <a:latin typeface="Calibri"/>
              </a:rPr>
              <a:t>Developed by Natalia Rubio</a:t>
            </a:r>
            <a:endParaRPr sz="850" b="0" i="1" dirty="0">
              <a:solidFill>
                <a:srgbClr val="6B6965"/>
              </a:solidFill>
              <a:latin typeface="Calibri"/>
            </a:endParaRPr>
          </a:p>
        </p:txBody>
      </p:sp>
      <p:sp>
        <p:nvSpPr>
          <p:cNvPr id="13" name="Rectangle 19"/>
          <p:cNvSpPr/>
          <p:nvPr/>
        </p:nvSpPr>
        <p:spPr>
          <a:xfrm>
            <a:off x="320040" y="1572768"/>
            <a:ext cx="1783080" cy="384048"/>
          </a:xfrm>
          <a:prstGeom prst="rect">
            <a:avLst/>
          </a:prstGeom>
          <a:solidFill>
            <a:srgbClr val="F2F1F0"/>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73152" tIns="18288" rIns="45720" bIns="18288" rtlCol="0" anchor="ctr"/>
          <a:lstStyle/>
          <a:p>
            <a:pPr algn="l"/>
            <a:r>
              <a:rPr sz="900" b="1" i="0">
                <a:solidFill>
                  <a:srgbClr val="2E2D29"/>
                </a:solidFill>
                <a:latin typeface="Calibri"/>
              </a:rPr>
              <a:t>Branched 0D JSON</a:t>
            </a:r>
          </a:p>
          <a:p>
            <a:pPr algn="l"/>
            <a:r>
              <a:rPr sz="700" b="0" i="0">
                <a:solidFill>
                  <a:srgbClr val="6B6965"/>
                </a:solidFill>
                <a:latin typeface="Calibri"/>
              </a:rPr>
              <a:t>SimVascular, analytic R, C, L</a:t>
            </a:r>
          </a:p>
        </p:txBody>
      </p:sp>
      <p:cxnSp>
        <p:nvCxnSpPr>
          <p:cNvPr id="14" name="Connector 20"/>
          <p:cNvCxnSpPr/>
          <p:nvPr/>
        </p:nvCxnSpPr>
        <p:spPr>
          <a:xfrm>
            <a:off x="2130552" y="1764792"/>
            <a:ext cx="265176" cy="457200"/>
          </a:xfrm>
          <a:prstGeom prst="line">
            <a:avLst/>
          </a:prstGeom>
          <a:ln w="1270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21"/>
          <p:cNvSpPr/>
          <p:nvPr/>
        </p:nvSpPr>
        <p:spPr>
          <a:xfrm>
            <a:off x="320040" y="2029967"/>
            <a:ext cx="1783080" cy="384048"/>
          </a:xfrm>
          <a:prstGeom prst="rect">
            <a:avLst/>
          </a:prstGeom>
          <a:solidFill>
            <a:srgbClr val="F2F1F0"/>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73152" tIns="18288" rIns="45720" bIns="18288" rtlCol="0" anchor="ctr"/>
          <a:lstStyle/>
          <a:p>
            <a:pPr algn="l"/>
            <a:r>
              <a:rPr sz="900" b="1" i="0">
                <a:solidFill>
                  <a:srgbClr val="2E2D29"/>
                </a:solidFill>
                <a:latin typeface="Calibri"/>
              </a:rPr>
              <a:t>centerlines.vtp</a:t>
            </a:r>
          </a:p>
          <a:p>
            <a:pPr algn="l"/>
            <a:r>
              <a:rPr sz="700" b="0" i="0">
                <a:solidFill>
                  <a:srgbClr val="6B6965"/>
                </a:solidFill>
                <a:latin typeface="Calibri"/>
              </a:rPr>
              <a:t>the geometry the seed is built on</a:t>
            </a:r>
          </a:p>
        </p:txBody>
      </p:sp>
      <p:cxnSp>
        <p:nvCxnSpPr>
          <p:cNvPr id="16" name="Connector 22"/>
          <p:cNvCxnSpPr/>
          <p:nvPr/>
        </p:nvCxnSpPr>
        <p:spPr>
          <a:xfrm>
            <a:off x="2130552" y="2221991"/>
            <a:ext cx="265176" cy="1"/>
          </a:xfrm>
          <a:prstGeom prst="line">
            <a:avLst/>
          </a:prstGeom>
          <a:ln w="1270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23"/>
          <p:cNvSpPr/>
          <p:nvPr/>
        </p:nvSpPr>
        <p:spPr>
          <a:xfrm>
            <a:off x="320040" y="2487168"/>
            <a:ext cx="1783080" cy="384048"/>
          </a:xfrm>
          <a:prstGeom prst="rect">
            <a:avLst/>
          </a:prstGeom>
          <a:solidFill>
            <a:srgbClr val="F2F1F0"/>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73152" tIns="18288" rIns="45720" bIns="18288" rtlCol="0" anchor="ctr"/>
          <a:lstStyle/>
          <a:p>
            <a:pPr algn="l"/>
            <a:r>
              <a:rPr sz="900" b="1" i="0">
                <a:solidFill>
                  <a:srgbClr val="2E2D29"/>
                </a:solidFill>
                <a:latin typeface="Calibri"/>
              </a:rPr>
              <a:t>svZeroDSolver</a:t>
            </a:r>
          </a:p>
          <a:p>
            <a:pPr algn="l"/>
            <a:r>
              <a:rPr sz="700" b="0" i="0">
                <a:solidFill>
                  <a:srgbClr val="6B6965"/>
                </a:solidFill>
                <a:latin typeface="Calibri"/>
              </a:rPr>
              <a:t>used by learnedZeroD</a:t>
            </a:r>
          </a:p>
        </p:txBody>
      </p:sp>
      <p:cxnSp>
        <p:nvCxnSpPr>
          <p:cNvPr id="18" name="Connector 24"/>
          <p:cNvCxnSpPr/>
          <p:nvPr/>
        </p:nvCxnSpPr>
        <p:spPr>
          <a:xfrm flipV="1">
            <a:off x="2130552" y="2221992"/>
            <a:ext cx="265176" cy="457199"/>
          </a:xfrm>
          <a:prstGeom prst="line">
            <a:avLst/>
          </a:prstGeom>
          <a:ln w="1270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25"/>
          <p:cNvSpPr/>
          <p:nvPr/>
        </p:nvSpPr>
        <p:spPr>
          <a:xfrm>
            <a:off x="2423160" y="1572768"/>
            <a:ext cx="2148840" cy="12984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bIns="54864" rtlCol="0" anchor="ctr"/>
          <a:lstStyle/>
          <a:p>
            <a:pPr algn="l">
              <a:spcAft>
                <a:spcPts val="100"/>
              </a:spcAft>
            </a:pPr>
            <a:r>
              <a:rPr sz="1300" b="1" i="0">
                <a:solidFill>
                  <a:srgbClr val="FFFFFF"/>
                </a:solidFill>
                <a:latin typeface="Calibri"/>
              </a:rPr>
              <a:t>learnedZeroD</a:t>
            </a:r>
          </a:p>
          <a:p>
            <a:pPr algn="l">
              <a:spcAft>
                <a:spcPts val="100"/>
              </a:spcAft>
            </a:pPr>
            <a:r>
              <a:rPr sz="850" b="0" i="0">
                <a:solidFill>
                  <a:srgbClr val="F3DADA"/>
                </a:solidFill>
                <a:latin typeface="Calibri"/>
              </a:rPr>
              <a:t>ML model predicts per-segment</a:t>
            </a:r>
          </a:p>
          <a:p>
            <a:pPr algn="l">
              <a:spcAft>
                <a:spcPts val="100"/>
              </a:spcAft>
            </a:pPr>
            <a:r>
              <a:rPr sz="850" b="1" i="0">
                <a:solidFill>
                  <a:srgbClr val="FFFFFF"/>
                </a:solidFill>
                <a:latin typeface="Calibri"/>
              </a:rPr>
              <a:t>R, C, L and junction coefficients</a:t>
            </a:r>
          </a:p>
          <a:p>
            <a:pPr algn="l">
              <a:spcAft>
                <a:spcPts val="100"/>
              </a:spcAft>
            </a:pPr>
            <a:r>
              <a:rPr sz="850" b="0" i="0">
                <a:solidFill>
                  <a:srgbClr val="F3DADA"/>
                </a:solidFill>
                <a:latin typeface="Calibri"/>
              </a:rPr>
              <a:t>from the centerline geometry</a:t>
            </a:r>
          </a:p>
        </p:txBody>
      </p:sp>
      <p:cxnSp>
        <p:nvCxnSpPr>
          <p:cNvPr id="20" name="Connector 26"/>
          <p:cNvCxnSpPr/>
          <p:nvPr/>
        </p:nvCxnSpPr>
        <p:spPr>
          <a:xfrm>
            <a:off x="4599432" y="2221992"/>
            <a:ext cx="246888"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7"/>
          <p:cNvSpPr/>
          <p:nvPr/>
        </p:nvSpPr>
        <p:spPr>
          <a:xfrm>
            <a:off x="4873752" y="1572768"/>
            <a:ext cx="1783080" cy="12984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109728" tIns="73152" rIns="73152" bIns="54864" rtlCol="0" anchor="ctr"/>
          <a:lstStyle/>
          <a:p>
            <a:pPr algn="l">
              <a:spcAft>
                <a:spcPts val="100"/>
              </a:spcAft>
            </a:pPr>
            <a:r>
              <a:rPr sz="900" b="1" i="0">
                <a:solidFill>
                  <a:srgbClr val="2E2D29"/>
                </a:solidFill>
                <a:latin typeface="Calibri"/>
              </a:rPr>
              <a:t>Topology checks</a:t>
            </a:r>
          </a:p>
          <a:p>
            <a:pPr algn="l">
              <a:spcAft>
                <a:spcPts val="100"/>
              </a:spcAft>
            </a:pPr>
            <a:r>
              <a:rPr sz="850" b="1" i="0">
                <a:solidFill>
                  <a:srgbClr val="279989"/>
                </a:solidFill>
                <a:latin typeface="Calibri"/>
              </a:rPr>
              <a:t>✓ </a:t>
            </a:r>
            <a:r>
              <a:rPr sz="800" b="0" i="0">
                <a:solidFill>
                  <a:srgbClr val="2E2D29"/>
                </a:solidFill>
                <a:latin typeface="Calibri"/>
              </a:rPr>
              <a:t>&gt; 2 outlet BCs</a:t>
            </a:r>
          </a:p>
          <a:p>
            <a:pPr algn="l">
              <a:spcAft>
                <a:spcPts val="100"/>
              </a:spcAft>
            </a:pPr>
            <a:r>
              <a:rPr sz="850" b="1" i="0">
                <a:solidFill>
                  <a:srgbClr val="279989"/>
                </a:solidFill>
                <a:latin typeface="Calibri"/>
              </a:rPr>
              <a:t>✓ </a:t>
            </a:r>
            <a:r>
              <a:rPr sz="800" b="0" i="0">
                <a:solidFill>
                  <a:srgbClr val="2E2D29"/>
                </a:solidFill>
                <a:latin typeface="Calibri"/>
              </a:rPr>
              <a:t>one vessel per outlet</a:t>
            </a:r>
          </a:p>
          <a:p>
            <a:pPr algn="l">
              <a:spcAft>
                <a:spcPts val="100"/>
              </a:spcAft>
            </a:pPr>
            <a:r>
              <a:rPr sz="850" b="1" i="0">
                <a:solidFill>
                  <a:srgbClr val="279989"/>
                </a:solidFill>
                <a:latin typeface="Calibri"/>
              </a:rPr>
              <a:t>✓ </a:t>
            </a:r>
            <a:r>
              <a:rPr sz="800" b="0" i="0">
                <a:solidFill>
                  <a:srgbClr val="2E2D29"/>
                </a:solidFill>
                <a:latin typeface="Calibri"/>
              </a:rPr>
              <a:t>unique BC names</a:t>
            </a:r>
          </a:p>
          <a:p>
            <a:pPr algn="l">
              <a:spcAft>
                <a:spcPts val="100"/>
              </a:spcAft>
            </a:pPr>
            <a:r>
              <a:rPr sz="850" b="1" i="0">
                <a:solidFill>
                  <a:srgbClr val="279989"/>
                </a:solidFill>
                <a:latin typeface="Calibri"/>
              </a:rPr>
              <a:t>✓ </a:t>
            </a:r>
            <a:r>
              <a:rPr sz="800" b="0" i="0">
                <a:solidFill>
                  <a:srgbClr val="2E2D29"/>
                </a:solidFill>
                <a:latin typeface="Calibri"/>
              </a:rPr>
              <a:t>input + solver SHA-256</a:t>
            </a:r>
          </a:p>
        </p:txBody>
      </p:sp>
      <p:cxnSp>
        <p:nvCxnSpPr>
          <p:cNvPr id="22" name="Connector 28"/>
          <p:cNvCxnSpPr/>
          <p:nvPr/>
        </p:nvCxnSpPr>
        <p:spPr>
          <a:xfrm>
            <a:off x="6684264" y="2221992"/>
            <a:ext cx="246888" cy="0"/>
          </a:xfrm>
          <a:prstGeom prst="line">
            <a:avLst/>
          </a:prstGeom>
          <a:ln w="19050">
            <a:solidFill>
              <a:srgbClr val="6B69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9"/>
          <p:cNvSpPr/>
          <p:nvPr/>
        </p:nvSpPr>
        <p:spPr>
          <a:xfrm>
            <a:off x="6958584" y="1572768"/>
            <a:ext cx="1865376" cy="1298448"/>
          </a:xfrm>
          <a:prstGeom prst="rect">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bIns="54864" rtlCol="0" anchor="ctr"/>
          <a:lstStyle/>
          <a:p>
            <a:pPr algn="l">
              <a:spcAft>
                <a:spcPts val="200"/>
              </a:spcAft>
            </a:pPr>
            <a:r>
              <a:rPr sz="1000" b="1" i="0">
                <a:solidFill>
                  <a:srgbClr val="279989"/>
                </a:solidFill>
                <a:latin typeface="Calibri"/>
              </a:rPr>
              <a:t>full_pa_zerod.json</a:t>
            </a:r>
          </a:p>
          <a:p>
            <a:pPr algn="l">
              <a:spcAft>
                <a:spcPts val="200"/>
              </a:spcAft>
            </a:pPr>
            <a:r>
              <a:rPr sz="850" b="0" i="0">
                <a:solidFill>
                  <a:srgbClr val="2E2D29"/>
                </a:solidFill>
                <a:latin typeface="Calibri"/>
              </a:rPr>
              <a:t>iteration-1 seed</a:t>
            </a:r>
          </a:p>
          <a:p>
            <a:pPr algn="l">
              <a:spcAft>
                <a:spcPts val="200"/>
              </a:spcAft>
            </a:pPr>
            <a:r>
              <a:rPr sz="800" b="0" i="0">
                <a:solidFill>
                  <a:srgbClr val="6B6965"/>
                </a:solidFill>
                <a:latin typeface="Calibri"/>
              </a:rPr>
              <a:t>full branched topology, kept through tuning</a:t>
            </a:r>
          </a:p>
        </p:txBody>
      </p:sp>
      <p:sp>
        <p:nvSpPr>
          <p:cNvPr id="24" name="TextBox 30"/>
          <p:cNvSpPr txBox="1"/>
          <p:nvPr/>
        </p:nvSpPr>
        <p:spPr>
          <a:xfrm>
            <a:off x="320040" y="3127248"/>
            <a:ext cx="4754880" cy="219456"/>
          </a:xfrm>
          <a:prstGeom prst="rect">
            <a:avLst/>
          </a:prstGeom>
          <a:noFill/>
        </p:spPr>
        <p:txBody>
          <a:bodyPr wrap="square" lIns="0" tIns="0" rIns="0" bIns="0" anchor="t"/>
          <a:lstStyle/>
          <a:p>
            <a:pPr algn="l"/>
            <a:r>
              <a:rPr sz="1000" b="1" i="0">
                <a:solidFill>
                  <a:srgbClr val="8C1515"/>
                </a:solidFill>
                <a:latin typeface="Calibri"/>
              </a:rPr>
              <a:t>RPA flow split, same fixed-resistance outlet BCs</a:t>
            </a:r>
          </a:p>
        </p:txBody>
      </p:sp>
      <p:graphicFrame>
        <p:nvGraphicFramePr>
          <p:cNvPr id="25" name="Chart 31"/>
          <p:cNvGraphicFramePr>
            <a:graphicFrameLocks noGrp="1"/>
          </p:cNvGraphicFramePr>
          <p:nvPr/>
        </p:nvGraphicFramePr>
        <p:xfrm>
          <a:off x="274320" y="3346704"/>
          <a:ext cx="4754880" cy="155448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32"/>
          <p:cNvSpPr txBox="1"/>
          <p:nvPr/>
        </p:nvSpPr>
        <p:spPr>
          <a:xfrm>
            <a:off x="320040" y="4901184"/>
            <a:ext cx="4754880" cy="201168"/>
          </a:xfrm>
          <a:prstGeom prst="rect">
            <a:avLst/>
          </a:prstGeom>
          <a:noFill/>
        </p:spPr>
        <p:txBody>
          <a:bodyPr wrap="square" lIns="0" tIns="0" rIns="0" bIns="0" anchor="t"/>
          <a:lstStyle/>
          <a:p>
            <a:pPr algn="l"/>
            <a:r>
              <a:rPr sz="800" b="0" i="1">
                <a:solidFill>
                  <a:srgbClr val="6B6965"/>
                </a:solidFill>
                <a:latin typeface="Calibri"/>
              </a:rPr>
              <a:t>Learned seed recovers 14.5 of the 23.7-point gap to 3D, with identical BCs</a:t>
            </a:r>
          </a:p>
        </p:txBody>
      </p:sp>
      <p:sp>
        <p:nvSpPr>
          <p:cNvPr id="27" name="TextBox 33"/>
          <p:cNvSpPr txBox="1"/>
          <p:nvPr/>
        </p:nvSpPr>
        <p:spPr>
          <a:xfrm>
            <a:off x="5440680" y="3127248"/>
            <a:ext cx="3383280" cy="219456"/>
          </a:xfrm>
          <a:prstGeom prst="rect">
            <a:avLst/>
          </a:prstGeom>
          <a:noFill/>
        </p:spPr>
        <p:txBody>
          <a:bodyPr wrap="square" lIns="0" tIns="0" rIns="0" bIns="0" anchor="t"/>
          <a:lstStyle/>
          <a:p>
            <a:pPr algn="l"/>
            <a:r>
              <a:rPr sz="1000" b="1" i="0">
                <a:solidFill>
                  <a:srgbClr val="8C1515"/>
                </a:solidFill>
                <a:latin typeface="Calibri"/>
              </a:rPr>
              <a:t>Seed topology</a:t>
            </a:r>
          </a:p>
        </p:txBody>
      </p:sp>
      <p:sp>
        <p:nvSpPr>
          <p:cNvPr id="28" name="Rectangle 34"/>
          <p:cNvSpPr/>
          <p:nvPr/>
        </p:nvSpPr>
        <p:spPr>
          <a:xfrm>
            <a:off x="5440680" y="3401568"/>
            <a:ext cx="1600200" cy="160020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35"/>
          <p:cNvSpPr/>
          <p:nvPr/>
        </p:nvSpPr>
        <p:spPr>
          <a:xfrm>
            <a:off x="7223760" y="3401568"/>
            <a:ext cx="1600200" cy="1600200"/>
          </a:xfrm>
          <a:prstGeom prst="rect">
            <a:avLst/>
          </a:prstGeom>
          <a:solidFill>
            <a:srgbClr val="F6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0" name="Connector 36"/>
          <p:cNvCxnSpPr/>
          <p:nvPr/>
        </p:nvCxnSpPr>
        <p:spPr>
          <a:xfrm flipV="1">
            <a:off x="6240780" y="4000500"/>
            <a:ext cx="0" cy="434340"/>
          </a:xfrm>
          <a:prstGeom prst="line">
            <a:avLst/>
          </a:prstGeom>
          <a:ln w="25400">
            <a:solidFill>
              <a:srgbClr val="6B6965"/>
            </a:solidFill>
          </a:ln>
        </p:spPr>
        <p:style>
          <a:lnRef idx="2">
            <a:schemeClr val="accent1"/>
          </a:lnRef>
          <a:fillRef idx="0">
            <a:schemeClr val="accent1"/>
          </a:fillRef>
          <a:effectRef idx="1">
            <a:schemeClr val="accent1"/>
          </a:effectRef>
          <a:fontRef idx="minor">
            <a:schemeClr val="tx1"/>
          </a:fontRef>
        </p:style>
      </p:cxnSp>
      <p:cxnSp>
        <p:nvCxnSpPr>
          <p:cNvPr id="31" name="Connector 37"/>
          <p:cNvCxnSpPr/>
          <p:nvPr/>
        </p:nvCxnSpPr>
        <p:spPr>
          <a:xfrm flipH="1" flipV="1">
            <a:off x="6046470" y="3566160"/>
            <a:ext cx="194310" cy="434340"/>
          </a:xfrm>
          <a:prstGeom prst="line">
            <a:avLst/>
          </a:prstGeom>
          <a:ln w="25400">
            <a:solidFill>
              <a:srgbClr val="6B6965"/>
            </a:solidFill>
          </a:ln>
        </p:spPr>
        <p:style>
          <a:lnRef idx="2">
            <a:schemeClr val="accent1"/>
          </a:lnRef>
          <a:fillRef idx="0">
            <a:schemeClr val="accent1"/>
          </a:fillRef>
          <a:effectRef idx="1">
            <a:schemeClr val="accent1"/>
          </a:effectRef>
          <a:fontRef idx="minor">
            <a:schemeClr val="tx1"/>
          </a:fontRef>
        </p:style>
      </p:cxnSp>
      <p:cxnSp>
        <p:nvCxnSpPr>
          <p:cNvPr id="32" name="Connector 38"/>
          <p:cNvCxnSpPr/>
          <p:nvPr/>
        </p:nvCxnSpPr>
        <p:spPr>
          <a:xfrm flipV="1">
            <a:off x="6240780" y="3566160"/>
            <a:ext cx="194310" cy="434340"/>
          </a:xfrm>
          <a:prstGeom prst="line">
            <a:avLst/>
          </a:prstGeom>
          <a:ln w="25400">
            <a:solidFill>
              <a:srgbClr val="6B6965"/>
            </a:solidFill>
          </a:ln>
        </p:spPr>
        <p:style>
          <a:lnRef idx="2">
            <a:schemeClr val="accent1"/>
          </a:lnRef>
          <a:fillRef idx="0">
            <a:schemeClr val="accent1"/>
          </a:fillRef>
          <a:effectRef idx="1">
            <a:schemeClr val="accent1"/>
          </a:effectRef>
          <a:fontRef idx="minor">
            <a:schemeClr val="tx1"/>
          </a:fontRef>
        </p:style>
      </p:cxnSp>
      <p:cxnSp>
        <p:nvCxnSpPr>
          <p:cNvPr id="33" name="Connector 39"/>
          <p:cNvCxnSpPr/>
          <p:nvPr/>
        </p:nvCxnSpPr>
        <p:spPr>
          <a:xfrm flipV="1">
            <a:off x="8023860" y="4261103"/>
            <a:ext cx="0" cy="173737"/>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34" name="Connector 40"/>
          <p:cNvCxnSpPr/>
          <p:nvPr/>
        </p:nvCxnSpPr>
        <p:spPr>
          <a:xfrm flipH="1" flipV="1">
            <a:off x="7715250" y="4087367"/>
            <a:ext cx="308610"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35" name="Connector 41"/>
          <p:cNvCxnSpPr/>
          <p:nvPr/>
        </p:nvCxnSpPr>
        <p:spPr>
          <a:xfrm flipH="1" flipV="1">
            <a:off x="7560945" y="3913631"/>
            <a:ext cx="154305"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36" name="Connector 42"/>
          <p:cNvCxnSpPr/>
          <p:nvPr/>
        </p:nvCxnSpPr>
        <p:spPr>
          <a:xfrm flipH="1" flipV="1">
            <a:off x="7483792" y="3739895"/>
            <a:ext cx="77153"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37" name="Connector 43"/>
          <p:cNvCxnSpPr/>
          <p:nvPr/>
        </p:nvCxnSpPr>
        <p:spPr>
          <a:xfrm flipH="1" flipV="1">
            <a:off x="7445216"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38" name="Connector 44"/>
          <p:cNvCxnSpPr/>
          <p:nvPr/>
        </p:nvCxnSpPr>
        <p:spPr>
          <a:xfrm flipV="1">
            <a:off x="7483792"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39" name="Connector 45"/>
          <p:cNvCxnSpPr/>
          <p:nvPr/>
        </p:nvCxnSpPr>
        <p:spPr>
          <a:xfrm flipV="1">
            <a:off x="7560945" y="3739895"/>
            <a:ext cx="77152"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0" name="Connector 46"/>
          <p:cNvCxnSpPr/>
          <p:nvPr/>
        </p:nvCxnSpPr>
        <p:spPr>
          <a:xfrm flipH="1" flipV="1">
            <a:off x="7599521"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1" name="Connector 47"/>
          <p:cNvCxnSpPr/>
          <p:nvPr/>
        </p:nvCxnSpPr>
        <p:spPr>
          <a:xfrm flipV="1">
            <a:off x="7638097"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2" name="Connector 48"/>
          <p:cNvCxnSpPr/>
          <p:nvPr/>
        </p:nvCxnSpPr>
        <p:spPr>
          <a:xfrm flipV="1">
            <a:off x="7715250" y="3913631"/>
            <a:ext cx="154304"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3" name="Connector 49"/>
          <p:cNvCxnSpPr/>
          <p:nvPr/>
        </p:nvCxnSpPr>
        <p:spPr>
          <a:xfrm flipH="1" flipV="1">
            <a:off x="7792402" y="3739895"/>
            <a:ext cx="77152"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4" name="Connector 50"/>
          <p:cNvCxnSpPr/>
          <p:nvPr/>
        </p:nvCxnSpPr>
        <p:spPr>
          <a:xfrm flipH="1" flipV="1">
            <a:off x="7753826"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5" name="Connector 51"/>
          <p:cNvCxnSpPr/>
          <p:nvPr/>
        </p:nvCxnSpPr>
        <p:spPr>
          <a:xfrm flipV="1">
            <a:off x="7792402"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6" name="Connector 52"/>
          <p:cNvCxnSpPr/>
          <p:nvPr/>
        </p:nvCxnSpPr>
        <p:spPr>
          <a:xfrm flipV="1">
            <a:off x="7869554" y="3739895"/>
            <a:ext cx="77153"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7" name="Connector 53"/>
          <p:cNvCxnSpPr/>
          <p:nvPr/>
        </p:nvCxnSpPr>
        <p:spPr>
          <a:xfrm flipH="1" flipV="1">
            <a:off x="7908131"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8" name="Connector 54"/>
          <p:cNvCxnSpPr/>
          <p:nvPr/>
        </p:nvCxnSpPr>
        <p:spPr>
          <a:xfrm flipV="1">
            <a:off x="7946707"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49" name="Connector 55"/>
          <p:cNvCxnSpPr/>
          <p:nvPr/>
        </p:nvCxnSpPr>
        <p:spPr>
          <a:xfrm flipV="1">
            <a:off x="8023860" y="4087367"/>
            <a:ext cx="308610"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0" name="Connector 56"/>
          <p:cNvCxnSpPr/>
          <p:nvPr/>
        </p:nvCxnSpPr>
        <p:spPr>
          <a:xfrm flipH="1" flipV="1">
            <a:off x="8178165" y="3913631"/>
            <a:ext cx="154305"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1" name="Connector 57"/>
          <p:cNvCxnSpPr/>
          <p:nvPr/>
        </p:nvCxnSpPr>
        <p:spPr>
          <a:xfrm flipH="1" flipV="1">
            <a:off x="8101012" y="3739895"/>
            <a:ext cx="77153"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2" name="Connector 58"/>
          <p:cNvCxnSpPr/>
          <p:nvPr/>
        </p:nvCxnSpPr>
        <p:spPr>
          <a:xfrm flipH="1" flipV="1">
            <a:off x="8062436"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3" name="Connector 59"/>
          <p:cNvCxnSpPr/>
          <p:nvPr/>
        </p:nvCxnSpPr>
        <p:spPr>
          <a:xfrm flipV="1">
            <a:off x="8101012"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4" name="Connector 60"/>
          <p:cNvCxnSpPr/>
          <p:nvPr/>
        </p:nvCxnSpPr>
        <p:spPr>
          <a:xfrm flipV="1">
            <a:off x="8178165" y="3739895"/>
            <a:ext cx="77152"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5" name="Connector 61"/>
          <p:cNvCxnSpPr/>
          <p:nvPr/>
        </p:nvCxnSpPr>
        <p:spPr>
          <a:xfrm flipH="1" flipV="1">
            <a:off x="8216741"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6" name="Connector 62"/>
          <p:cNvCxnSpPr/>
          <p:nvPr/>
        </p:nvCxnSpPr>
        <p:spPr>
          <a:xfrm flipV="1">
            <a:off x="8255317"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7" name="Connector 63"/>
          <p:cNvCxnSpPr/>
          <p:nvPr/>
        </p:nvCxnSpPr>
        <p:spPr>
          <a:xfrm flipV="1">
            <a:off x="8332470" y="3913631"/>
            <a:ext cx="154305"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8" name="Connector 64"/>
          <p:cNvCxnSpPr/>
          <p:nvPr/>
        </p:nvCxnSpPr>
        <p:spPr>
          <a:xfrm flipH="1" flipV="1">
            <a:off x="8409622" y="3739895"/>
            <a:ext cx="77153"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59" name="Connector 65"/>
          <p:cNvCxnSpPr/>
          <p:nvPr/>
        </p:nvCxnSpPr>
        <p:spPr>
          <a:xfrm flipH="1" flipV="1">
            <a:off x="8371046"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60" name="Connector 66"/>
          <p:cNvCxnSpPr/>
          <p:nvPr/>
        </p:nvCxnSpPr>
        <p:spPr>
          <a:xfrm flipV="1">
            <a:off x="8409622"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61" name="Connector 67"/>
          <p:cNvCxnSpPr/>
          <p:nvPr/>
        </p:nvCxnSpPr>
        <p:spPr>
          <a:xfrm flipV="1">
            <a:off x="8486775" y="3739895"/>
            <a:ext cx="77152"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62" name="Connector 68"/>
          <p:cNvCxnSpPr/>
          <p:nvPr/>
        </p:nvCxnSpPr>
        <p:spPr>
          <a:xfrm flipH="1" flipV="1">
            <a:off x="8525351"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cxnSp>
        <p:nvCxnSpPr>
          <p:cNvPr id="63" name="Connector 69"/>
          <p:cNvCxnSpPr/>
          <p:nvPr/>
        </p:nvCxnSpPr>
        <p:spPr>
          <a:xfrm flipV="1">
            <a:off x="8563927" y="3566159"/>
            <a:ext cx="38576" cy="173736"/>
          </a:xfrm>
          <a:prstGeom prst="line">
            <a:avLst/>
          </a:prstGeom>
          <a:ln w="12700">
            <a:solidFill>
              <a:srgbClr val="8C1515"/>
            </a:solidFill>
          </a:ln>
        </p:spPr>
        <p:style>
          <a:lnRef idx="2">
            <a:schemeClr val="accent1"/>
          </a:lnRef>
          <a:fillRef idx="0">
            <a:schemeClr val="accent1"/>
          </a:fillRef>
          <a:effectRef idx="1">
            <a:schemeClr val="accent1"/>
          </a:effectRef>
          <a:fontRef idx="minor">
            <a:schemeClr val="tx1"/>
          </a:fontRef>
        </p:style>
      </p:cxnSp>
      <p:sp>
        <p:nvSpPr>
          <p:cNvPr id="64" name="TextBox 70"/>
          <p:cNvSpPr txBox="1"/>
          <p:nvPr/>
        </p:nvSpPr>
        <p:spPr>
          <a:xfrm>
            <a:off x="5440680" y="4526280"/>
            <a:ext cx="1600200" cy="457200"/>
          </a:xfrm>
          <a:prstGeom prst="rect">
            <a:avLst/>
          </a:prstGeom>
          <a:noFill/>
        </p:spPr>
        <p:txBody>
          <a:bodyPr wrap="square" lIns="45720" tIns="0" rIns="45720" bIns="0" anchor="t"/>
          <a:lstStyle/>
          <a:p>
            <a:pPr algn="ctr"/>
            <a:r>
              <a:rPr sz="850" b="1" i="0">
                <a:solidFill>
                  <a:srgbClr val="2E2D29"/>
                </a:solidFill>
                <a:latin typeface="Calibri"/>
              </a:rPr>
              <a:t>Before</a:t>
            </a:r>
          </a:p>
          <a:p>
            <a:pPr algn="ctr"/>
            <a:r>
              <a:rPr sz="750" b="0" i="0">
                <a:solidFill>
                  <a:srgbClr val="6B6965"/>
                </a:solidFill>
                <a:latin typeface="Calibri"/>
              </a:rPr>
              <a:t>two-branch RRI, 1 LPA + 1 RPA leg</a:t>
            </a:r>
          </a:p>
        </p:txBody>
      </p:sp>
      <p:sp>
        <p:nvSpPr>
          <p:cNvPr id="65" name="TextBox 71"/>
          <p:cNvSpPr txBox="1"/>
          <p:nvPr/>
        </p:nvSpPr>
        <p:spPr>
          <a:xfrm>
            <a:off x="7223760" y="4526280"/>
            <a:ext cx="1600200" cy="457200"/>
          </a:xfrm>
          <a:prstGeom prst="rect">
            <a:avLst/>
          </a:prstGeom>
          <a:noFill/>
        </p:spPr>
        <p:txBody>
          <a:bodyPr wrap="square" lIns="45720" tIns="0" rIns="45720" bIns="0" anchor="t"/>
          <a:lstStyle/>
          <a:p>
            <a:pPr algn="ctr"/>
            <a:r>
              <a:rPr sz="850" b="1" i="0">
                <a:solidFill>
                  <a:srgbClr val="8C1515"/>
                </a:solidFill>
                <a:latin typeface="Calibri"/>
              </a:rPr>
              <a:t>Now</a:t>
            </a:r>
          </a:p>
          <a:p>
            <a:pPr algn="ctr"/>
            <a:r>
              <a:rPr sz="750" b="0" i="0">
                <a:solidFill>
                  <a:srgbClr val="6B6965"/>
                </a:solidFill>
                <a:latin typeface="Calibri"/>
              </a:rPr>
              <a:t>full branched network, every outlet</a:t>
            </a:r>
          </a:p>
        </p:txBody>
      </p:sp>
      <p:sp>
        <p:nvSpPr>
          <p:cNvPr id="66" name="TextBox 72"/>
          <p:cNvSpPr txBox="1"/>
          <p:nvPr/>
        </p:nvSpPr>
        <p:spPr>
          <a:xfrm>
            <a:off x="2011680" y="5376672"/>
            <a:ext cx="6812280" cy="201168"/>
          </a:xfrm>
          <a:prstGeom prst="rect">
            <a:avLst/>
          </a:prstGeom>
          <a:noFill/>
        </p:spPr>
        <p:txBody>
          <a:bodyPr wrap="square" lIns="27432" tIns="0" rIns="27432" bIns="0" anchor="t"/>
          <a:lstStyle/>
          <a:p>
            <a:pPr algn="l"/>
            <a:r>
              <a:rPr sz="700" b="0" i="1">
                <a:solidFill>
                  <a:srgbClr val="6B6965"/>
                </a:solidFill>
                <a:latin typeface="Calibri"/>
              </a:rPr>
              <a:t>Archived 2026-10-22. Replaced by: The updated tuning loop runs on the full 0D model. Reason: Detail over the Stage 2 budget; the seed step is on the loop overview.</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Where each 0D representation lands against 3D</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Shape 400"/>
          <p:cNvSpPr/>
          <p:nvPr/>
        </p:nvSpPr>
        <p:spPr>
          <a:xfrm>
            <a:off x="320040" y="1426464"/>
            <a:ext cx="8503920" cy="32918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hape 401"/>
          <p:cNvSpPr txBox="1"/>
          <p:nvPr/>
        </p:nvSpPr>
        <p:spPr>
          <a:xfrm>
            <a:off x="374904" y="1426464"/>
            <a:ext cx="2368296" cy="329184"/>
          </a:xfrm>
          <a:prstGeom prst="rect">
            <a:avLst/>
          </a:prstGeom>
          <a:noFill/>
        </p:spPr>
        <p:txBody>
          <a:bodyPr wrap="square" lIns="27432" tIns="0" rIns="27432" bIns="0" anchor="ctr">
            <a:spAutoFit/>
          </a:bodyPr>
          <a:lstStyle/>
          <a:p>
            <a:pPr algn="l"/>
            <a:r>
              <a:rPr sz="800" b="1" i="0">
                <a:solidFill>
                  <a:srgbClr val="FFFFFF"/>
                </a:solidFill>
                <a:latin typeface="Calibri"/>
              </a:rPr>
              <a:t>0D model</a:t>
            </a:r>
          </a:p>
        </p:txBody>
      </p:sp>
      <p:sp>
        <p:nvSpPr>
          <p:cNvPr id="14" name="Shape 402"/>
          <p:cNvSpPr txBox="1"/>
          <p:nvPr/>
        </p:nvSpPr>
        <p:spPr>
          <a:xfrm>
            <a:off x="2798064" y="1426464"/>
            <a:ext cx="1636776" cy="329184"/>
          </a:xfrm>
          <a:prstGeom prst="rect">
            <a:avLst/>
          </a:prstGeom>
          <a:noFill/>
        </p:spPr>
        <p:txBody>
          <a:bodyPr wrap="square" lIns="27432" tIns="0" rIns="27432" bIns="0" anchor="ctr">
            <a:spAutoFit/>
          </a:bodyPr>
          <a:lstStyle/>
          <a:p>
            <a:pPr algn="l"/>
            <a:r>
              <a:rPr sz="800" b="1" i="0">
                <a:solidFill>
                  <a:srgbClr val="FFFFFF"/>
                </a:solidFill>
                <a:latin typeface="Calibri"/>
              </a:rPr>
              <a:t>Outlet BCs</a:t>
            </a:r>
          </a:p>
        </p:txBody>
      </p:sp>
      <p:sp>
        <p:nvSpPr>
          <p:cNvPr id="15" name="Shape 403"/>
          <p:cNvSpPr txBox="1"/>
          <p:nvPr/>
        </p:nvSpPr>
        <p:spPr>
          <a:xfrm>
            <a:off x="4489704" y="1426464"/>
            <a:ext cx="1865376" cy="329184"/>
          </a:xfrm>
          <a:prstGeom prst="rect">
            <a:avLst/>
          </a:prstGeom>
          <a:noFill/>
        </p:spPr>
        <p:txBody>
          <a:bodyPr wrap="square" lIns="27432" tIns="0" rIns="27432" bIns="0" anchor="ctr">
            <a:spAutoFit/>
          </a:bodyPr>
          <a:lstStyle/>
          <a:p>
            <a:pPr algn="l"/>
            <a:r>
              <a:rPr sz="800" b="1" i="0">
                <a:solidFill>
                  <a:srgbClr val="FFFFFF"/>
                </a:solidFill>
                <a:latin typeface="Calibri"/>
              </a:rPr>
              <a:t>MPA sys / dia / mean (mmHg)</a:t>
            </a:r>
          </a:p>
        </p:txBody>
      </p:sp>
      <p:sp>
        <p:nvSpPr>
          <p:cNvPr id="16" name="Shape 404"/>
          <p:cNvSpPr txBox="1"/>
          <p:nvPr/>
        </p:nvSpPr>
        <p:spPr>
          <a:xfrm>
            <a:off x="6409944" y="1426464"/>
            <a:ext cx="1316736" cy="329184"/>
          </a:xfrm>
          <a:prstGeom prst="rect">
            <a:avLst/>
          </a:prstGeom>
          <a:noFill/>
        </p:spPr>
        <p:txBody>
          <a:bodyPr wrap="square" lIns="27432" tIns="0" rIns="27432" bIns="0" anchor="ctr">
            <a:spAutoFit/>
          </a:bodyPr>
          <a:lstStyle/>
          <a:p>
            <a:pPr algn="l"/>
            <a:r>
              <a:rPr sz="800" b="1" i="0">
                <a:solidFill>
                  <a:srgbClr val="FFFFFF"/>
                </a:solidFill>
                <a:latin typeface="Calibri"/>
              </a:rPr>
              <a:t>RPA split (Δ)</a:t>
            </a:r>
          </a:p>
        </p:txBody>
      </p:sp>
      <p:sp>
        <p:nvSpPr>
          <p:cNvPr id="17" name="Shape 405"/>
          <p:cNvSpPr txBox="1"/>
          <p:nvPr/>
        </p:nvSpPr>
        <p:spPr>
          <a:xfrm>
            <a:off x="7781544" y="1426464"/>
            <a:ext cx="1042416" cy="329184"/>
          </a:xfrm>
          <a:prstGeom prst="rect">
            <a:avLst/>
          </a:prstGeom>
          <a:noFill/>
        </p:spPr>
        <p:txBody>
          <a:bodyPr wrap="square" lIns="27432" tIns="0" rIns="27432" bIns="0" anchor="ctr">
            <a:spAutoFit/>
          </a:bodyPr>
          <a:lstStyle/>
          <a:p>
            <a:pPr algn="l"/>
            <a:r>
              <a:rPr sz="800" b="1" i="0">
                <a:solidFill>
                  <a:srgbClr val="FFFFFF"/>
                </a:solidFill>
                <a:latin typeface="Calibri"/>
              </a:rPr>
              <a:t>RMSE (mmHg)</a:t>
            </a:r>
          </a:p>
        </p:txBody>
      </p:sp>
      <p:sp>
        <p:nvSpPr>
          <p:cNvPr id="18" name="Shape 406"/>
          <p:cNvSpPr/>
          <p:nvPr/>
        </p:nvSpPr>
        <p:spPr>
          <a:xfrm>
            <a:off x="320040" y="1755648"/>
            <a:ext cx="8503920" cy="2743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hape 407"/>
          <p:cNvSpPr txBox="1"/>
          <p:nvPr/>
        </p:nvSpPr>
        <p:spPr>
          <a:xfrm>
            <a:off x="374904" y="1755648"/>
            <a:ext cx="2368296" cy="274320"/>
          </a:xfrm>
          <a:prstGeom prst="rect">
            <a:avLst/>
          </a:prstGeom>
          <a:noFill/>
        </p:spPr>
        <p:txBody>
          <a:bodyPr wrap="square" lIns="27432" tIns="0" rIns="27432" bIns="0" anchor="ctr">
            <a:spAutoFit/>
          </a:bodyPr>
          <a:lstStyle/>
          <a:p>
            <a:pPr algn="l"/>
            <a:r>
              <a:rPr sz="800" b="1" i="0">
                <a:solidFill>
                  <a:srgbClr val="2E2D29"/>
                </a:solidFill>
                <a:latin typeface="Calibri"/>
              </a:rPr>
              <a:t>3D reference</a:t>
            </a:r>
          </a:p>
        </p:txBody>
      </p:sp>
      <p:sp>
        <p:nvSpPr>
          <p:cNvPr id="20" name="Shape 408"/>
          <p:cNvSpPr txBox="1"/>
          <p:nvPr/>
        </p:nvSpPr>
        <p:spPr>
          <a:xfrm>
            <a:off x="2798064" y="1755648"/>
            <a:ext cx="1636776" cy="274320"/>
          </a:xfrm>
          <a:prstGeom prst="rect">
            <a:avLst/>
          </a:prstGeom>
          <a:noFill/>
        </p:spPr>
        <p:txBody>
          <a:bodyPr wrap="square" lIns="27432" tIns="0" rIns="27432" bIns="0" anchor="ctr">
            <a:spAutoFit/>
          </a:bodyPr>
          <a:lstStyle/>
          <a:p>
            <a:pPr algn="l"/>
            <a:r>
              <a:rPr sz="800" b="1" i="0">
                <a:solidFill>
                  <a:srgbClr val="2E2D29"/>
                </a:solidFill>
                <a:latin typeface="Calibri"/>
              </a:rPr>
              <a:t>—</a:t>
            </a:r>
          </a:p>
        </p:txBody>
      </p:sp>
      <p:sp>
        <p:nvSpPr>
          <p:cNvPr id="21" name="Shape 409"/>
          <p:cNvSpPr txBox="1"/>
          <p:nvPr/>
        </p:nvSpPr>
        <p:spPr>
          <a:xfrm>
            <a:off x="4489704" y="1755648"/>
            <a:ext cx="1865376" cy="274320"/>
          </a:xfrm>
          <a:prstGeom prst="rect">
            <a:avLst/>
          </a:prstGeom>
          <a:noFill/>
        </p:spPr>
        <p:txBody>
          <a:bodyPr wrap="square" lIns="27432" tIns="0" rIns="27432" bIns="0" anchor="ctr">
            <a:spAutoFit/>
          </a:bodyPr>
          <a:lstStyle/>
          <a:p>
            <a:pPr algn="l"/>
            <a:r>
              <a:rPr sz="800" b="1" i="0">
                <a:solidFill>
                  <a:srgbClr val="2E2D29"/>
                </a:solidFill>
                <a:latin typeface="Calibri"/>
              </a:rPr>
              <a:t>33.88 / 1.65 / 13.59</a:t>
            </a:r>
          </a:p>
        </p:txBody>
      </p:sp>
      <p:sp>
        <p:nvSpPr>
          <p:cNvPr id="22" name="Shape 410"/>
          <p:cNvSpPr txBox="1"/>
          <p:nvPr/>
        </p:nvSpPr>
        <p:spPr>
          <a:xfrm>
            <a:off x="6409944" y="1755648"/>
            <a:ext cx="1316736" cy="274320"/>
          </a:xfrm>
          <a:prstGeom prst="rect">
            <a:avLst/>
          </a:prstGeom>
          <a:noFill/>
        </p:spPr>
        <p:txBody>
          <a:bodyPr wrap="square" lIns="27432" tIns="0" rIns="27432" bIns="0" anchor="ctr">
            <a:spAutoFit/>
          </a:bodyPr>
          <a:lstStyle/>
          <a:p>
            <a:pPr algn="l"/>
            <a:r>
              <a:rPr sz="800" b="1" i="0">
                <a:solidFill>
                  <a:srgbClr val="2E2D29"/>
                </a:solidFill>
                <a:latin typeface="Calibri"/>
              </a:rPr>
              <a:t>87.69%</a:t>
            </a:r>
          </a:p>
        </p:txBody>
      </p:sp>
      <p:sp>
        <p:nvSpPr>
          <p:cNvPr id="23" name="Shape 411"/>
          <p:cNvSpPr txBox="1"/>
          <p:nvPr/>
        </p:nvSpPr>
        <p:spPr>
          <a:xfrm>
            <a:off x="7781544" y="1755648"/>
            <a:ext cx="1042416" cy="274320"/>
          </a:xfrm>
          <a:prstGeom prst="rect">
            <a:avLst/>
          </a:prstGeom>
          <a:noFill/>
        </p:spPr>
        <p:txBody>
          <a:bodyPr wrap="square" lIns="27432" tIns="0" rIns="27432" bIns="0" anchor="ctr">
            <a:spAutoFit/>
          </a:bodyPr>
          <a:lstStyle/>
          <a:p>
            <a:pPr algn="l"/>
            <a:r>
              <a:rPr sz="800" b="1" i="0">
                <a:solidFill>
                  <a:srgbClr val="2E2D29"/>
                </a:solidFill>
                <a:latin typeface="Calibri"/>
              </a:rPr>
              <a:t>—</a:t>
            </a:r>
          </a:p>
        </p:txBody>
      </p:sp>
      <p:sp>
        <p:nvSpPr>
          <p:cNvPr id="24" name="Shape 412"/>
          <p:cNvSpPr txBox="1"/>
          <p:nvPr/>
        </p:nvSpPr>
        <p:spPr>
          <a:xfrm>
            <a:off x="374904" y="2029968"/>
            <a:ext cx="2368296" cy="274320"/>
          </a:xfrm>
          <a:prstGeom prst="rect">
            <a:avLst/>
          </a:prstGeom>
          <a:noFill/>
        </p:spPr>
        <p:txBody>
          <a:bodyPr wrap="square" lIns="27432" tIns="0" rIns="27432" bIns="0" anchor="ctr">
            <a:spAutoFit/>
          </a:bodyPr>
          <a:lstStyle/>
          <a:p>
            <a:pPr algn="l"/>
            <a:r>
              <a:rPr sz="800" b="1" i="0">
                <a:solidFill>
                  <a:srgbClr val="2E2D29"/>
                </a:solidFill>
                <a:latin typeface="Calibri"/>
              </a:rPr>
              <a:t>Full baseline</a:t>
            </a:r>
          </a:p>
        </p:txBody>
      </p:sp>
      <p:sp>
        <p:nvSpPr>
          <p:cNvPr id="25" name="Shape 413"/>
          <p:cNvSpPr txBox="1"/>
          <p:nvPr/>
        </p:nvSpPr>
        <p:spPr>
          <a:xfrm>
            <a:off x="2798064" y="2029968"/>
            <a:ext cx="1636776" cy="274320"/>
          </a:xfrm>
          <a:prstGeom prst="rect">
            <a:avLst/>
          </a:prstGeom>
          <a:noFill/>
        </p:spPr>
        <p:txBody>
          <a:bodyPr wrap="square" lIns="27432" tIns="0" rIns="27432" bIns="0" anchor="ctr">
            <a:spAutoFit/>
          </a:bodyPr>
          <a:lstStyle/>
          <a:p>
            <a:pPr algn="l"/>
            <a:r>
              <a:rPr sz="800" b="0" i="0">
                <a:solidFill>
                  <a:srgbClr val="6B6965"/>
                </a:solidFill>
                <a:latin typeface="Calibri"/>
              </a:rPr>
              <a:t>Fixed resistance</a:t>
            </a:r>
          </a:p>
        </p:txBody>
      </p:sp>
      <p:sp>
        <p:nvSpPr>
          <p:cNvPr id="26" name="Shape 414"/>
          <p:cNvSpPr txBox="1"/>
          <p:nvPr/>
        </p:nvSpPr>
        <p:spPr>
          <a:xfrm>
            <a:off x="4489704" y="2029968"/>
            <a:ext cx="1865376" cy="274320"/>
          </a:xfrm>
          <a:prstGeom prst="rect">
            <a:avLst/>
          </a:prstGeom>
          <a:noFill/>
        </p:spPr>
        <p:txBody>
          <a:bodyPr wrap="square" lIns="27432" tIns="0" rIns="27432" bIns="0" anchor="ctr">
            <a:spAutoFit/>
          </a:bodyPr>
          <a:lstStyle/>
          <a:p>
            <a:pPr algn="l"/>
            <a:r>
              <a:rPr sz="800" b="0" i="0">
                <a:solidFill>
                  <a:srgbClr val="6B6965"/>
                </a:solidFill>
                <a:latin typeface="Calibri"/>
              </a:rPr>
              <a:t>7.64 / −5.71 / 1.01</a:t>
            </a:r>
          </a:p>
        </p:txBody>
      </p:sp>
      <p:sp>
        <p:nvSpPr>
          <p:cNvPr id="27" name="Shape 415"/>
          <p:cNvSpPr txBox="1"/>
          <p:nvPr/>
        </p:nvSpPr>
        <p:spPr>
          <a:xfrm>
            <a:off x="6409944" y="2029968"/>
            <a:ext cx="1316736" cy="274320"/>
          </a:xfrm>
          <a:prstGeom prst="rect">
            <a:avLst/>
          </a:prstGeom>
          <a:noFill/>
        </p:spPr>
        <p:txBody>
          <a:bodyPr wrap="square" lIns="27432" tIns="0" rIns="27432" bIns="0" anchor="ctr">
            <a:spAutoFit/>
          </a:bodyPr>
          <a:lstStyle/>
          <a:p>
            <a:pPr algn="l"/>
            <a:r>
              <a:rPr sz="800" b="0" i="0">
                <a:solidFill>
                  <a:srgbClr val="6B6965"/>
                </a:solidFill>
                <a:latin typeface="Calibri"/>
              </a:rPr>
              <a:t>63.96% (−23.7)</a:t>
            </a:r>
          </a:p>
        </p:txBody>
      </p:sp>
      <p:sp>
        <p:nvSpPr>
          <p:cNvPr id="28" name="Shape 416"/>
          <p:cNvSpPr txBox="1"/>
          <p:nvPr/>
        </p:nvSpPr>
        <p:spPr>
          <a:xfrm>
            <a:off x="7781544" y="2029968"/>
            <a:ext cx="1042416" cy="274320"/>
          </a:xfrm>
          <a:prstGeom prst="rect">
            <a:avLst/>
          </a:prstGeom>
          <a:noFill/>
        </p:spPr>
        <p:txBody>
          <a:bodyPr wrap="square" lIns="27432" tIns="0" rIns="27432" bIns="0" anchor="ctr">
            <a:spAutoFit/>
          </a:bodyPr>
          <a:lstStyle/>
          <a:p>
            <a:pPr algn="l"/>
            <a:r>
              <a:rPr sz="800" b="0" i="0">
                <a:solidFill>
                  <a:srgbClr val="6B6965"/>
                </a:solidFill>
                <a:latin typeface="Calibri"/>
              </a:rPr>
              <a:t>17.33</a:t>
            </a:r>
          </a:p>
        </p:txBody>
      </p:sp>
      <p:sp>
        <p:nvSpPr>
          <p:cNvPr id="29" name="Shape 417"/>
          <p:cNvSpPr/>
          <p:nvPr/>
        </p:nvSpPr>
        <p:spPr>
          <a:xfrm>
            <a:off x="320040" y="2304288"/>
            <a:ext cx="8503920" cy="2743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Shape 418"/>
          <p:cNvSpPr txBox="1"/>
          <p:nvPr/>
        </p:nvSpPr>
        <p:spPr>
          <a:xfrm>
            <a:off x="374904" y="2304288"/>
            <a:ext cx="2368296" cy="274320"/>
          </a:xfrm>
          <a:prstGeom prst="rect">
            <a:avLst/>
          </a:prstGeom>
          <a:noFill/>
        </p:spPr>
        <p:txBody>
          <a:bodyPr wrap="square" lIns="27432" tIns="0" rIns="27432" bIns="0" anchor="ctr">
            <a:spAutoFit/>
          </a:bodyPr>
          <a:lstStyle/>
          <a:p>
            <a:pPr algn="l"/>
            <a:r>
              <a:rPr sz="800" b="1" i="0">
                <a:solidFill>
                  <a:srgbClr val="2E2D29"/>
                </a:solidFill>
                <a:latin typeface="Calibri"/>
              </a:rPr>
              <a:t>Full learned</a:t>
            </a:r>
          </a:p>
        </p:txBody>
      </p:sp>
      <p:sp>
        <p:nvSpPr>
          <p:cNvPr id="31" name="Shape 419"/>
          <p:cNvSpPr txBox="1"/>
          <p:nvPr/>
        </p:nvSpPr>
        <p:spPr>
          <a:xfrm>
            <a:off x="2798064" y="2304288"/>
            <a:ext cx="1636776" cy="274320"/>
          </a:xfrm>
          <a:prstGeom prst="rect">
            <a:avLst/>
          </a:prstGeom>
          <a:noFill/>
        </p:spPr>
        <p:txBody>
          <a:bodyPr wrap="square" lIns="27432" tIns="0" rIns="27432" bIns="0" anchor="ctr">
            <a:spAutoFit/>
          </a:bodyPr>
          <a:lstStyle/>
          <a:p>
            <a:pPr algn="l"/>
            <a:r>
              <a:rPr sz="800" b="0" i="0">
                <a:solidFill>
                  <a:srgbClr val="6B6965"/>
                </a:solidFill>
                <a:latin typeface="Calibri"/>
              </a:rPr>
              <a:t>Fixed resistance</a:t>
            </a:r>
          </a:p>
        </p:txBody>
      </p:sp>
      <p:sp>
        <p:nvSpPr>
          <p:cNvPr id="32" name="Shape 420"/>
          <p:cNvSpPr txBox="1"/>
          <p:nvPr/>
        </p:nvSpPr>
        <p:spPr>
          <a:xfrm>
            <a:off x="4489704" y="2304288"/>
            <a:ext cx="1865376" cy="274320"/>
          </a:xfrm>
          <a:prstGeom prst="rect">
            <a:avLst/>
          </a:prstGeom>
          <a:noFill/>
        </p:spPr>
        <p:txBody>
          <a:bodyPr wrap="square" lIns="27432" tIns="0" rIns="27432" bIns="0" anchor="ctr">
            <a:spAutoFit/>
          </a:bodyPr>
          <a:lstStyle/>
          <a:p>
            <a:pPr algn="l"/>
            <a:r>
              <a:rPr sz="800" b="0" i="0">
                <a:solidFill>
                  <a:srgbClr val="6B6965"/>
                </a:solidFill>
                <a:latin typeface="Calibri"/>
              </a:rPr>
              <a:t>13.84 / −11.90 / 1.65</a:t>
            </a:r>
          </a:p>
        </p:txBody>
      </p:sp>
      <p:sp>
        <p:nvSpPr>
          <p:cNvPr id="33" name="Shape 421"/>
          <p:cNvSpPr txBox="1"/>
          <p:nvPr/>
        </p:nvSpPr>
        <p:spPr>
          <a:xfrm>
            <a:off x="6409944" y="2304288"/>
            <a:ext cx="1316736" cy="274320"/>
          </a:xfrm>
          <a:prstGeom prst="rect">
            <a:avLst/>
          </a:prstGeom>
          <a:noFill/>
        </p:spPr>
        <p:txBody>
          <a:bodyPr wrap="square" lIns="27432" tIns="0" rIns="27432" bIns="0" anchor="ctr">
            <a:spAutoFit/>
          </a:bodyPr>
          <a:lstStyle/>
          <a:p>
            <a:pPr algn="l"/>
            <a:r>
              <a:rPr sz="800" b="0" i="0">
                <a:solidFill>
                  <a:srgbClr val="6B6965"/>
                </a:solidFill>
                <a:latin typeface="Calibri"/>
              </a:rPr>
              <a:t>78.49% (−9.2)</a:t>
            </a:r>
          </a:p>
        </p:txBody>
      </p:sp>
      <p:sp>
        <p:nvSpPr>
          <p:cNvPr id="34" name="Shape 422"/>
          <p:cNvSpPr txBox="1"/>
          <p:nvPr/>
        </p:nvSpPr>
        <p:spPr>
          <a:xfrm>
            <a:off x="7781544" y="2304288"/>
            <a:ext cx="1042416" cy="274320"/>
          </a:xfrm>
          <a:prstGeom prst="rect">
            <a:avLst/>
          </a:prstGeom>
          <a:noFill/>
        </p:spPr>
        <p:txBody>
          <a:bodyPr wrap="square" lIns="27432" tIns="0" rIns="27432" bIns="0" anchor="ctr">
            <a:spAutoFit/>
          </a:bodyPr>
          <a:lstStyle/>
          <a:p>
            <a:pPr algn="l"/>
            <a:r>
              <a:rPr sz="800" b="0" i="0">
                <a:solidFill>
                  <a:srgbClr val="6B6965"/>
                </a:solidFill>
                <a:latin typeface="Calibri"/>
              </a:rPr>
              <a:t>15.58</a:t>
            </a:r>
          </a:p>
        </p:txBody>
      </p:sp>
      <p:sp>
        <p:nvSpPr>
          <p:cNvPr id="35" name="Shape 423"/>
          <p:cNvSpPr txBox="1"/>
          <p:nvPr/>
        </p:nvSpPr>
        <p:spPr>
          <a:xfrm>
            <a:off x="374904" y="2578608"/>
            <a:ext cx="2368296" cy="274320"/>
          </a:xfrm>
          <a:prstGeom prst="rect">
            <a:avLst/>
          </a:prstGeom>
          <a:noFill/>
        </p:spPr>
        <p:txBody>
          <a:bodyPr wrap="square" lIns="27432" tIns="0" rIns="27432" bIns="0" anchor="ctr">
            <a:spAutoFit/>
          </a:bodyPr>
          <a:lstStyle/>
          <a:p>
            <a:pPr algn="l"/>
            <a:r>
              <a:rPr sz="800" b="1" i="0">
                <a:solidFill>
                  <a:srgbClr val="2E2D29"/>
                </a:solidFill>
                <a:latin typeface="Calibri"/>
              </a:rPr>
              <a:t>Full baseline, calibrated</a:t>
            </a:r>
          </a:p>
        </p:txBody>
      </p:sp>
      <p:sp>
        <p:nvSpPr>
          <p:cNvPr id="36" name="Shape 424"/>
          <p:cNvSpPr txBox="1"/>
          <p:nvPr/>
        </p:nvSpPr>
        <p:spPr>
          <a:xfrm>
            <a:off x="2798064" y="2578608"/>
            <a:ext cx="1636776" cy="274320"/>
          </a:xfrm>
          <a:prstGeom prst="rect">
            <a:avLst/>
          </a:prstGeom>
          <a:noFill/>
        </p:spPr>
        <p:txBody>
          <a:bodyPr wrap="square" lIns="27432" tIns="0" rIns="27432" bIns="0" anchor="ctr">
            <a:spAutoFit/>
          </a:bodyPr>
          <a:lstStyle/>
          <a:p>
            <a:pPr algn="l"/>
            <a:r>
              <a:rPr sz="800" b="0" i="0">
                <a:solidFill>
                  <a:srgbClr val="6B6965"/>
                </a:solidFill>
                <a:latin typeface="Calibri"/>
              </a:rPr>
              <a:t>Fixed resistance</a:t>
            </a:r>
          </a:p>
        </p:txBody>
      </p:sp>
      <p:sp>
        <p:nvSpPr>
          <p:cNvPr id="37" name="Shape 425"/>
          <p:cNvSpPr txBox="1"/>
          <p:nvPr/>
        </p:nvSpPr>
        <p:spPr>
          <a:xfrm>
            <a:off x="4489704" y="2578608"/>
            <a:ext cx="1865376" cy="274320"/>
          </a:xfrm>
          <a:prstGeom prst="rect">
            <a:avLst/>
          </a:prstGeom>
          <a:noFill/>
        </p:spPr>
        <p:txBody>
          <a:bodyPr wrap="square" lIns="27432" tIns="0" rIns="27432" bIns="0" anchor="ctr">
            <a:spAutoFit/>
          </a:bodyPr>
          <a:lstStyle/>
          <a:p>
            <a:pPr algn="l"/>
            <a:r>
              <a:rPr sz="800" b="0" i="0">
                <a:solidFill>
                  <a:srgbClr val="6B6965"/>
                </a:solidFill>
                <a:latin typeface="Calibri"/>
              </a:rPr>
              <a:t>14.91 / −10.64 / 2.14</a:t>
            </a:r>
          </a:p>
        </p:txBody>
      </p:sp>
      <p:sp>
        <p:nvSpPr>
          <p:cNvPr id="38" name="Shape 426"/>
          <p:cNvSpPr txBox="1"/>
          <p:nvPr/>
        </p:nvSpPr>
        <p:spPr>
          <a:xfrm>
            <a:off x="6409944" y="2578608"/>
            <a:ext cx="1316736" cy="274320"/>
          </a:xfrm>
          <a:prstGeom prst="rect">
            <a:avLst/>
          </a:prstGeom>
          <a:noFill/>
        </p:spPr>
        <p:txBody>
          <a:bodyPr wrap="square" lIns="27432" tIns="0" rIns="27432" bIns="0" anchor="ctr">
            <a:spAutoFit/>
          </a:bodyPr>
          <a:lstStyle/>
          <a:p>
            <a:pPr algn="l"/>
            <a:r>
              <a:rPr sz="800" b="0" i="0">
                <a:solidFill>
                  <a:srgbClr val="6B6965"/>
                </a:solidFill>
                <a:latin typeface="Calibri"/>
              </a:rPr>
              <a:t>82.68% (−5.0)</a:t>
            </a:r>
          </a:p>
        </p:txBody>
      </p:sp>
      <p:sp>
        <p:nvSpPr>
          <p:cNvPr id="39" name="Shape 427"/>
          <p:cNvSpPr txBox="1"/>
          <p:nvPr/>
        </p:nvSpPr>
        <p:spPr>
          <a:xfrm>
            <a:off x="7781544" y="2578608"/>
            <a:ext cx="1042416" cy="274320"/>
          </a:xfrm>
          <a:prstGeom prst="rect">
            <a:avLst/>
          </a:prstGeom>
          <a:noFill/>
        </p:spPr>
        <p:txBody>
          <a:bodyPr wrap="square" lIns="27432" tIns="0" rIns="27432" bIns="0" anchor="ctr">
            <a:spAutoFit/>
          </a:bodyPr>
          <a:lstStyle/>
          <a:p>
            <a:pPr algn="l"/>
            <a:r>
              <a:rPr sz="800" b="0" i="0">
                <a:solidFill>
                  <a:srgbClr val="6B6965"/>
                </a:solidFill>
                <a:latin typeface="Calibri"/>
              </a:rPr>
              <a:t>14.63</a:t>
            </a:r>
          </a:p>
        </p:txBody>
      </p:sp>
      <p:sp>
        <p:nvSpPr>
          <p:cNvPr id="40" name="Shape 428"/>
          <p:cNvSpPr/>
          <p:nvPr/>
        </p:nvSpPr>
        <p:spPr>
          <a:xfrm>
            <a:off x="320040" y="2852928"/>
            <a:ext cx="8503920" cy="2743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hape 429"/>
          <p:cNvSpPr txBox="1"/>
          <p:nvPr/>
        </p:nvSpPr>
        <p:spPr>
          <a:xfrm>
            <a:off x="374904" y="2852928"/>
            <a:ext cx="2368296" cy="274320"/>
          </a:xfrm>
          <a:prstGeom prst="rect">
            <a:avLst/>
          </a:prstGeom>
          <a:noFill/>
        </p:spPr>
        <p:txBody>
          <a:bodyPr wrap="square" lIns="27432" tIns="0" rIns="27432" bIns="0" anchor="ctr">
            <a:spAutoFit/>
          </a:bodyPr>
          <a:lstStyle/>
          <a:p>
            <a:pPr algn="l"/>
            <a:r>
              <a:rPr sz="800" b="1" i="0" dirty="0">
                <a:solidFill>
                  <a:srgbClr val="2E2D29"/>
                </a:solidFill>
                <a:latin typeface="Calibri"/>
              </a:rPr>
              <a:t>Reduced two-branch RRI</a:t>
            </a:r>
          </a:p>
        </p:txBody>
      </p:sp>
      <p:sp>
        <p:nvSpPr>
          <p:cNvPr id="42" name="Shape 430"/>
          <p:cNvSpPr txBox="1"/>
          <p:nvPr/>
        </p:nvSpPr>
        <p:spPr>
          <a:xfrm>
            <a:off x="2798064" y="2852928"/>
            <a:ext cx="1636776" cy="274320"/>
          </a:xfrm>
          <a:prstGeom prst="rect">
            <a:avLst/>
          </a:prstGeom>
          <a:noFill/>
        </p:spPr>
        <p:txBody>
          <a:bodyPr wrap="square" lIns="27432" tIns="0" rIns="27432" bIns="0" anchor="ctr">
            <a:spAutoFit/>
          </a:bodyPr>
          <a:lstStyle/>
          <a:p>
            <a:pPr algn="l"/>
            <a:r>
              <a:rPr sz="800" b="1" i="0" dirty="0">
                <a:solidFill>
                  <a:srgbClr val="2E2D29"/>
                </a:solidFill>
                <a:latin typeface="Calibri"/>
              </a:rPr>
              <a:t>Tuned tree impedance</a:t>
            </a:r>
          </a:p>
        </p:txBody>
      </p:sp>
      <p:sp>
        <p:nvSpPr>
          <p:cNvPr id="43" name="Shape 431"/>
          <p:cNvSpPr txBox="1"/>
          <p:nvPr/>
        </p:nvSpPr>
        <p:spPr>
          <a:xfrm>
            <a:off x="4489704" y="2852928"/>
            <a:ext cx="1865376" cy="274320"/>
          </a:xfrm>
          <a:prstGeom prst="rect">
            <a:avLst/>
          </a:prstGeom>
          <a:noFill/>
        </p:spPr>
        <p:txBody>
          <a:bodyPr wrap="square" lIns="27432" tIns="0" rIns="27432" bIns="0" anchor="ctr">
            <a:spAutoFit/>
          </a:bodyPr>
          <a:lstStyle/>
          <a:p>
            <a:pPr algn="l"/>
            <a:r>
              <a:rPr sz="800" b="1" i="0" dirty="0">
                <a:solidFill>
                  <a:srgbClr val="2E2D29"/>
                </a:solidFill>
                <a:latin typeface="Calibri"/>
              </a:rPr>
              <a:t>33.38 / 3.33 / 15.79</a:t>
            </a:r>
          </a:p>
        </p:txBody>
      </p:sp>
      <p:sp>
        <p:nvSpPr>
          <p:cNvPr id="44" name="Shape 432"/>
          <p:cNvSpPr txBox="1"/>
          <p:nvPr/>
        </p:nvSpPr>
        <p:spPr>
          <a:xfrm>
            <a:off x="6409944" y="2852928"/>
            <a:ext cx="1316736" cy="274320"/>
          </a:xfrm>
          <a:prstGeom prst="rect">
            <a:avLst/>
          </a:prstGeom>
          <a:noFill/>
        </p:spPr>
        <p:txBody>
          <a:bodyPr wrap="square" lIns="27432" tIns="0" rIns="27432" bIns="0" anchor="ctr">
            <a:spAutoFit/>
          </a:bodyPr>
          <a:lstStyle/>
          <a:p>
            <a:pPr algn="l"/>
            <a:r>
              <a:rPr sz="800" b="1" i="0">
                <a:solidFill>
                  <a:srgbClr val="2E2D29"/>
                </a:solidFill>
                <a:latin typeface="Calibri"/>
              </a:rPr>
              <a:t>88.94% (+1.2)</a:t>
            </a:r>
          </a:p>
        </p:txBody>
      </p:sp>
      <p:sp>
        <p:nvSpPr>
          <p:cNvPr id="45" name="Shape 433"/>
          <p:cNvSpPr txBox="1"/>
          <p:nvPr/>
        </p:nvSpPr>
        <p:spPr>
          <a:xfrm>
            <a:off x="7781544" y="2852928"/>
            <a:ext cx="1042416" cy="274320"/>
          </a:xfrm>
          <a:prstGeom prst="rect">
            <a:avLst/>
          </a:prstGeom>
          <a:noFill/>
        </p:spPr>
        <p:txBody>
          <a:bodyPr wrap="square" lIns="27432" tIns="0" rIns="27432" bIns="0" anchor="ctr">
            <a:spAutoFit/>
          </a:bodyPr>
          <a:lstStyle/>
          <a:p>
            <a:pPr algn="l"/>
            <a:r>
              <a:rPr sz="800" b="1" i="0">
                <a:solidFill>
                  <a:srgbClr val="279989"/>
                </a:solidFill>
                <a:latin typeface="Calibri"/>
              </a:rPr>
              <a:t>1.62</a:t>
            </a:r>
          </a:p>
        </p:txBody>
      </p:sp>
      <p:sp>
        <p:nvSpPr>
          <p:cNvPr id="46" name="Shape 434"/>
          <p:cNvSpPr txBox="1"/>
          <p:nvPr/>
        </p:nvSpPr>
        <p:spPr>
          <a:xfrm>
            <a:off x="374904" y="3127248"/>
            <a:ext cx="2368296" cy="274320"/>
          </a:xfrm>
          <a:prstGeom prst="rect">
            <a:avLst/>
          </a:prstGeom>
          <a:noFill/>
        </p:spPr>
        <p:txBody>
          <a:bodyPr wrap="square" lIns="27432" tIns="0" rIns="27432" bIns="0" anchor="ctr">
            <a:spAutoFit/>
          </a:bodyPr>
          <a:lstStyle/>
          <a:p>
            <a:pPr algn="l"/>
            <a:r>
              <a:rPr sz="800" b="1" i="0">
                <a:solidFill>
                  <a:srgbClr val="2E2D29"/>
                </a:solidFill>
                <a:latin typeface="Calibri"/>
              </a:rPr>
              <a:t>Full baseline</a:t>
            </a:r>
          </a:p>
        </p:txBody>
      </p:sp>
      <p:sp>
        <p:nvSpPr>
          <p:cNvPr id="47" name="Shape 435"/>
          <p:cNvSpPr txBox="1"/>
          <p:nvPr/>
        </p:nvSpPr>
        <p:spPr>
          <a:xfrm>
            <a:off x="2798064" y="3127248"/>
            <a:ext cx="1636776" cy="274320"/>
          </a:xfrm>
          <a:prstGeom prst="rect">
            <a:avLst/>
          </a:prstGeom>
          <a:noFill/>
        </p:spPr>
        <p:txBody>
          <a:bodyPr wrap="square" lIns="27432" tIns="0" rIns="27432" bIns="0" anchor="ctr">
            <a:spAutoFit/>
          </a:bodyPr>
          <a:lstStyle/>
          <a:p>
            <a:pPr algn="l"/>
            <a:r>
              <a:rPr sz="800" b="0" i="0">
                <a:solidFill>
                  <a:srgbClr val="6B6965"/>
                </a:solidFill>
                <a:latin typeface="Calibri"/>
              </a:rPr>
              <a:t>Direct RRI impedance</a:t>
            </a:r>
          </a:p>
        </p:txBody>
      </p:sp>
      <p:sp>
        <p:nvSpPr>
          <p:cNvPr id="48" name="Shape 436"/>
          <p:cNvSpPr txBox="1"/>
          <p:nvPr/>
        </p:nvSpPr>
        <p:spPr>
          <a:xfrm>
            <a:off x="4489704" y="3127248"/>
            <a:ext cx="1865376" cy="274320"/>
          </a:xfrm>
          <a:prstGeom prst="rect">
            <a:avLst/>
          </a:prstGeom>
          <a:noFill/>
        </p:spPr>
        <p:txBody>
          <a:bodyPr wrap="square" lIns="27432" tIns="0" rIns="27432" bIns="0" anchor="ctr">
            <a:spAutoFit/>
          </a:bodyPr>
          <a:lstStyle/>
          <a:p>
            <a:pPr algn="l"/>
            <a:r>
              <a:rPr sz="800" b="0" i="0">
                <a:solidFill>
                  <a:srgbClr val="6B6965"/>
                </a:solidFill>
                <a:latin typeface="Calibri"/>
              </a:rPr>
              <a:t>22.38 / 1.42 / 10.95</a:t>
            </a:r>
          </a:p>
        </p:txBody>
      </p:sp>
      <p:sp>
        <p:nvSpPr>
          <p:cNvPr id="49" name="Shape 437"/>
          <p:cNvSpPr txBox="1"/>
          <p:nvPr/>
        </p:nvSpPr>
        <p:spPr>
          <a:xfrm>
            <a:off x="6409944" y="3127248"/>
            <a:ext cx="1316736" cy="274320"/>
          </a:xfrm>
          <a:prstGeom prst="rect">
            <a:avLst/>
          </a:prstGeom>
          <a:noFill/>
        </p:spPr>
        <p:txBody>
          <a:bodyPr wrap="square" lIns="27432" tIns="0" rIns="27432" bIns="0" anchor="ctr">
            <a:spAutoFit/>
          </a:bodyPr>
          <a:lstStyle/>
          <a:p>
            <a:pPr algn="l"/>
            <a:r>
              <a:rPr sz="800" b="0" i="0">
                <a:solidFill>
                  <a:srgbClr val="6B6965"/>
                </a:solidFill>
                <a:latin typeface="Calibri"/>
              </a:rPr>
              <a:t>62.15% (−25.5)</a:t>
            </a:r>
          </a:p>
        </p:txBody>
      </p:sp>
      <p:sp>
        <p:nvSpPr>
          <p:cNvPr id="50" name="Shape 438"/>
          <p:cNvSpPr txBox="1"/>
          <p:nvPr/>
        </p:nvSpPr>
        <p:spPr>
          <a:xfrm>
            <a:off x="7781544" y="3127248"/>
            <a:ext cx="1042416" cy="274320"/>
          </a:xfrm>
          <a:prstGeom prst="rect">
            <a:avLst/>
          </a:prstGeom>
          <a:noFill/>
        </p:spPr>
        <p:txBody>
          <a:bodyPr wrap="square" lIns="27432" tIns="0" rIns="27432" bIns="0" anchor="ctr">
            <a:spAutoFit/>
          </a:bodyPr>
          <a:lstStyle/>
          <a:p>
            <a:pPr algn="l"/>
            <a:r>
              <a:rPr sz="800" b="0" i="0">
                <a:solidFill>
                  <a:srgbClr val="6B6965"/>
                </a:solidFill>
                <a:latin typeface="Calibri"/>
              </a:rPr>
              <a:t>6.81</a:t>
            </a:r>
          </a:p>
        </p:txBody>
      </p:sp>
      <p:sp>
        <p:nvSpPr>
          <p:cNvPr id="51" name="Shape 439"/>
          <p:cNvSpPr/>
          <p:nvPr/>
        </p:nvSpPr>
        <p:spPr>
          <a:xfrm>
            <a:off x="320040" y="3401568"/>
            <a:ext cx="8503920" cy="2743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hape 440"/>
          <p:cNvSpPr txBox="1"/>
          <p:nvPr/>
        </p:nvSpPr>
        <p:spPr>
          <a:xfrm>
            <a:off x="374904" y="3401568"/>
            <a:ext cx="2368296" cy="274320"/>
          </a:xfrm>
          <a:prstGeom prst="rect">
            <a:avLst/>
          </a:prstGeom>
          <a:noFill/>
        </p:spPr>
        <p:txBody>
          <a:bodyPr wrap="square" lIns="27432" tIns="0" rIns="27432" bIns="0" anchor="ctr">
            <a:spAutoFit/>
          </a:bodyPr>
          <a:lstStyle/>
          <a:p>
            <a:pPr algn="l"/>
            <a:r>
              <a:rPr sz="800" b="1" i="0">
                <a:solidFill>
                  <a:srgbClr val="2E2D29"/>
                </a:solidFill>
                <a:latin typeface="Calibri"/>
              </a:rPr>
              <a:t>Full learned</a:t>
            </a:r>
          </a:p>
        </p:txBody>
      </p:sp>
      <p:sp>
        <p:nvSpPr>
          <p:cNvPr id="53" name="Shape 441"/>
          <p:cNvSpPr txBox="1"/>
          <p:nvPr/>
        </p:nvSpPr>
        <p:spPr>
          <a:xfrm>
            <a:off x="2798064" y="3401568"/>
            <a:ext cx="1636776" cy="274320"/>
          </a:xfrm>
          <a:prstGeom prst="rect">
            <a:avLst/>
          </a:prstGeom>
          <a:noFill/>
        </p:spPr>
        <p:txBody>
          <a:bodyPr wrap="square" lIns="27432" tIns="0" rIns="27432" bIns="0" anchor="ctr">
            <a:spAutoFit/>
          </a:bodyPr>
          <a:lstStyle/>
          <a:p>
            <a:pPr algn="l"/>
            <a:r>
              <a:rPr sz="800" b="0" i="0">
                <a:solidFill>
                  <a:srgbClr val="6B6965"/>
                </a:solidFill>
                <a:latin typeface="Calibri"/>
              </a:rPr>
              <a:t>Direct RRI impedance</a:t>
            </a:r>
          </a:p>
        </p:txBody>
      </p:sp>
      <p:sp>
        <p:nvSpPr>
          <p:cNvPr id="54" name="Shape 442"/>
          <p:cNvSpPr txBox="1"/>
          <p:nvPr/>
        </p:nvSpPr>
        <p:spPr>
          <a:xfrm>
            <a:off x="4489704" y="3401568"/>
            <a:ext cx="1865376" cy="274320"/>
          </a:xfrm>
          <a:prstGeom prst="rect">
            <a:avLst/>
          </a:prstGeom>
          <a:noFill/>
        </p:spPr>
        <p:txBody>
          <a:bodyPr wrap="square" lIns="27432" tIns="0" rIns="27432" bIns="0" anchor="ctr">
            <a:spAutoFit/>
          </a:bodyPr>
          <a:lstStyle/>
          <a:p>
            <a:pPr algn="l"/>
            <a:r>
              <a:rPr sz="800" b="0" i="0">
                <a:solidFill>
                  <a:srgbClr val="6B6965"/>
                </a:solidFill>
                <a:latin typeface="Calibri"/>
              </a:rPr>
              <a:t>23.51 / 2.29 / 11.82</a:t>
            </a:r>
          </a:p>
        </p:txBody>
      </p:sp>
      <p:sp>
        <p:nvSpPr>
          <p:cNvPr id="55" name="Shape 443"/>
          <p:cNvSpPr txBox="1"/>
          <p:nvPr/>
        </p:nvSpPr>
        <p:spPr>
          <a:xfrm>
            <a:off x="6409944" y="3401568"/>
            <a:ext cx="1316736" cy="274320"/>
          </a:xfrm>
          <a:prstGeom prst="rect">
            <a:avLst/>
          </a:prstGeom>
          <a:noFill/>
        </p:spPr>
        <p:txBody>
          <a:bodyPr wrap="square" lIns="27432" tIns="0" rIns="27432" bIns="0" anchor="ctr">
            <a:spAutoFit/>
          </a:bodyPr>
          <a:lstStyle/>
          <a:p>
            <a:pPr algn="l"/>
            <a:r>
              <a:rPr sz="800" b="0" i="0">
                <a:solidFill>
                  <a:srgbClr val="6B6965"/>
                </a:solidFill>
                <a:latin typeface="Calibri"/>
              </a:rPr>
              <a:t>66.94% (−20.8)</a:t>
            </a:r>
          </a:p>
        </p:txBody>
      </p:sp>
      <p:sp>
        <p:nvSpPr>
          <p:cNvPr id="56" name="Shape 444"/>
          <p:cNvSpPr txBox="1"/>
          <p:nvPr/>
        </p:nvSpPr>
        <p:spPr>
          <a:xfrm>
            <a:off x="7781544" y="3401568"/>
            <a:ext cx="1042416" cy="274320"/>
          </a:xfrm>
          <a:prstGeom prst="rect">
            <a:avLst/>
          </a:prstGeom>
          <a:noFill/>
        </p:spPr>
        <p:txBody>
          <a:bodyPr wrap="square" lIns="27432" tIns="0" rIns="27432" bIns="0" anchor="ctr">
            <a:spAutoFit/>
          </a:bodyPr>
          <a:lstStyle/>
          <a:p>
            <a:pPr algn="l"/>
            <a:r>
              <a:rPr sz="800" b="0" i="0">
                <a:solidFill>
                  <a:srgbClr val="6B6965"/>
                </a:solidFill>
                <a:latin typeface="Calibri"/>
              </a:rPr>
              <a:t>6.08</a:t>
            </a:r>
          </a:p>
        </p:txBody>
      </p:sp>
      <p:sp>
        <p:nvSpPr>
          <p:cNvPr id="57" name="Shape 445"/>
          <p:cNvSpPr txBox="1"/>
          <p:nvPr/>
        </p:nvSpPr>
        <p:spPr>
          <a:xfrm>
            <a:off x="374904" y="3675888"/>
            <a:ext cx="2368296" cy="274320"/>
          </a:xfrm>
          <a:prstGeom prst="rect">
            <a:avLst/>
          </a:prstGeom>
          <a:noFill/>
        </p:spPr>
        <p:txBody>
          <a:bodyPr wrap="square" lIns="27432" tIns="0" rIns="27432" bIns="0" anchor="ctr">
            <a:spAutoFit/>
          </a:bodyPr>
          <a:lstStyle/>
          <a:p>
            <a:pPr algn="l"/>
            <a:r>
              <a:rPr sz="800" b="1" i="0">
                <a:solidFill>
                  <a:srgbClr val="2E2D29"/>
                </a:solidFill>
                <a:latin typeface="Calibri"/>
              </a:rPr>
              <a:t>Full baseline, calibrated</a:t>
            </a:r>
          </a:p>
        </p:txBody>
      </p:sp>
      <p:sp>
        <p:nvSpPr>
          <p:cNvPr id="58" name="Shape 446"/>
          <p:cNvSpPr txBox="1"/>
          <p:nvPr/>
        </p:nvSpPr>
        <p:spPr>
          <a:xfrm>
            <a:off x="2798064" y="3675888"/>
            <a:ext cx="1636776" cy="274320"/>
          </a:xfrm>
          <a:prstGeom prst="rect">
            <a:avLst/>
          </a:prstGeom>
          <a:noFill/>
        </p:spPr>
        <p:txBody>
          <a:bodyPr wrap="square" lIns="27432" tIns="0" rIns="27432" bIns="0" anchor="ctr">
            <a:spAutoFit/>
          </a:bodyPr>
          <a:lstStyle/>
          <a:p>
            <a:pPr algn="l"/>
            <a:r>
              <a:rPr sz="800" b="0" i="0">
                <a:solidFill>
                  <a:srgbClr val="6B6965"/>
                </a:solidFill>
                <a:latin typeface="Calibri"/>
              </a:rPr>
              <a:t>Direct RRI impedance</a:t>
            </a:r>
          </a:p>
        </p:txBody>
      </p:sp>
      <p:sp>
        <p:nvSpPr>
          <p:cNvPr id="59" name="Shape 447"/>
          <p:cNvSpPr txBox="1"/>
          <p:nvPr/>
        </p:nvSpPr>
        <p:spPr>
          <a:xfrm>
            <a:off x="4489704" y="3675888"/>
            <a:ext cx="1865376" cy="274320"/>
          </a:xfrm>
          <a:prstGeom prst="rect">
            <a:avLst/>
          </a:prstGeom>
          <a:noFill/>
        </p:spPr>
        <p:txBody>
          <a:bodyPr wrap="square" lIns="27432" tIns="0" rIns="27432" bIns="0" anchor="ctr">
            <a:spAutoFit/>
          </a:bodyPr>
          <a:lstStyle/>
          <a:p>
            <a:pPr algn="l"/>
            <a:r>
              <a:rPr sz="800" b="0" i="0">
                <a:solidFill>
                  <a:srgbClr val="6B6965"/>
                </a:solidFill>
                <a:latin typeface="Calibri"/>
              </a:rPr>
              <a:t>27.62 / 0.96 / 12.38</a:t>
            </a:r>
          </a:p>
        </p:txBody>
      </p:sp>
      <p:sp>
        <p:nvSpPr>
          <p:cNvPr id="60" name="Shape 448"/>
          <p:cNvSpPr txBox="1"/>
          <p:nvPr/>
        </p:nvSpPr>
        <p:spPr>
          <a:xfrm>
            <a:off x="6409944" y="3675888"/>
            <a:ext cx="1316736" cy="274320"/>
          </a:xfrm>
          <a:prstGeom prst="rect">
            <a:avLst/>
          </a:prstGeom>
          <a:noFill/>
        </p:spPr>
        <p:txBody>
          <a:bodyPr wrap="square" lIns="27432" tIns="0" rIns="27432" bIns="0" anchor="ctr">
            <a:spAutoFit/>
          </a:bodyPr>
          <a:lstStyle/>
          <a:p>
            <a:pPr algn="l"/>
            <a:r>
              <a:rPr sz="800" b="0" i="0">
                <a:solidFill>
                  <a:srgbClr val="6B6965"/>
                </a:solidFill>
                <a:latin typeface="Calibri"/>
              </a:rPr>
              <a:t>69.06% (−18.6)</a:t>
            </a:r>
          </a:p>
        </p:txBody>
      </p:sp>
      <p:sp>
        <p:nvSpPr>
          <p:cNvPr id="61" name="Shape 449"/>
          <p:cNvSpPr txBox="1"/>
          <p:nvPr/>
        </p:nvSpPr>
        <p:spPr>
          <a:xfrm>
            <a:off x="7781544" y="3675888"/>
            <a:ext cx="1042416" cy="274320"/>
          </a:xfrm>
          <a:prstGeom prst="rect">
            <a:avLst/>
          </a:prstGeom>
          <a:noFill/>
        </p:spPr>
        <p:txBody>
          <a:bodyPr wrap="square" lIns="27432" tIns="0" rIns="27432" bIns="0" anchor="ctr">
            <a:spAutoFit/>
          </a:bodyPr>
          <a:lstStyle/>
          <a:p>
            <a:pPr algn="l"/>
            <a:r>
              <a:rPr sz="800" b="0" i="0">
                <a:solidFill>
                  <a:srgbClr val="6B6965"/>
                </a:solidFill>
                <a:latin typeface="Calibri"/>
              </a:rPr>
              <a:t>3.70</a:t>
            </a:r>
          </a:p>
        </p:txBody>
      </p:sp>
      <p:sp>
        <p:nvSpPr>
          <p:cNvPr id="62" name="Shape 450"/>
          <p:cNvSpPr/>
          <p:nvPr/>
        </p:nvSpPr>
        <p:spPr>
          <a:xfrm>
            <a:off x="320040" y="3950208"/>
            <a:ext cx="8503920" cy="2743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Shape 451"/>
          <p:cNvSpPr txBox="1"/>
          <p:nvPr/>
        </p:nvSpPr>
        <p:spPr>
          <a:xfrm>
            <a:off x="374904" y="3950208"/>
            <a:ext cx="2368296" cy="274320"/>
          </a:xfrm>
          <a:prstGeom prst="rect">
            <a:avLst/>
          </a:prstGeom>
          <a:noFill/>
        </p:spPr>
        <p:txBody>
          <a:bodyPr wrap="square" lIns="27432" tIns="0" rIns="27432" bIns="0" anchor="ctr">
            <a:spAutoFit/>
          </a:bodyPr>
          <a:lstStyle/>
          <a:p>
            <a:pPr algn="l"/>
            <a:r>
              <a:rPr sz="800" b="1" i="0">
                <a:solidFill>
                  <a:srgbClr val="2E2D29"/>
                </a:solidFill>
                <a:latin typeface="Calibri"/>
              </a:rPr>
              <a:t>Full learned, calibrated</a:t>
            </a:r>
          </a:p>
        </p:txBody>
      </p:sp>
      <p:sp>
        <p:nvSpPr>
          <p:cNvPr id="64" name="Shape 452"/>
          <p:cNvSpPr txBox="1"/>
          <p:nvPr/>
        </p:nvSpPr>
        <p:spPr>
          <a:xfrm>
            <a:off x="2798064" y="3950208"/>
            <a:ext cx="1636776" cy="274320"/>
          </a:xfrm>
          <a:prstGeom prst="rect">
            <a:avLst/>
          </a:prstGeom>
          <a:noFill/>
        </p:spPr>
        <p:txBody>
          <a:bodyPr wrap="square" lIns="27432" tIns="0" rIns="27432" bIns="0" anchor="ctr">
            <a:spAutoFit/>
          </a:bodyPr>
          <a:lstStyle/>
          <a:p>
            <a:pPr algn="l"/>
            <a:r>
              <a:rPr sz="800" b="0" i="0">
                <a:solidFill>
                  <a:srgbClr val="6B6965"/>
                </a:solidFill>
                <a:latin typeface="Calibri"/>
              </a:rPr>
              <a:t>Direct RRI impedance</a:t>
            </a:r>
          </a:p>
        </p:txBody>
      </p:sp>
      <p:sp>
        <p:nvSpPr>
          <p:cNvPr id="65" name="Shape 453"/>
          <p:cNvSpPr txBox="1"/>
          <p:nvPr/>
        </p:nvSpPr>
        <p:spPr>
          <a:xfrm>
            <a:off x="4489704" y="3950208"/>
            <a:ext cx="1865376" cy="274320"/>
          </a:xfrm>
          <a:prstGeom prst="rect">
            <a:avLst/>
          </a:prstGeom>
          <a:noFill/>
        </p:spPr>
        <p:txBody>
          <a:bodyPr wrap="square" lIns="27432" tIns="0" rIns="27432" bIns="0" anchor="ctr">
            <a:spAutoFit/>
          </a:bodyPr>
          <a:lstStyle/>
          <a:p>
            <a:pPr algn="l"/>
            <a:r>
              <a:rPr sz="800" b="0" i="0">
                <a:solidFill>
                  <a:srgbClr val="6B6965"/>
                </a:solidFill>
                <a:latin typeface="Calibri"/>
              </a:rPr>
              <a:t>29.84 / 1.10 / 13.23</a:t>
            </a:r>
          </a:p>
        </p:txBody>
      </p:sp>
      <p:sp>
        <p:nvSpPr>
          <p:cNvPr id="66" name="Shape 454"/>
          <p:cNvSpPr txBox="1"/>
          <p:nvPr/>
        </p:nvSpPr>
        <p:spPr>
          <a:xfrm>
            <a:off x="6409944" y="3950208"/>
            <a:ext cx="1316736" cy="274320"/>
          </a:xfrm>
          <a:prstGeom prst="rect">
            <a:avLst/>
          </a:prstGeom>
          <a:noFill/>
        </p:spPr>
        <p:txBody>
          <a:bodyPr wrap="square" lIns="27432" tIns="0" rIns="27432" bIns="0" anchor="ctr">
            <a:spAutoFit/>
          </a:bodyPr>
          <a:lstStyle/>
          <a:p>
            <a:pPr algn="l"/>
            <a:r>
              <a:rPr sz="800" b="0" i="0">
                <a:solidFill>
                  <a:srgbClr val="6B6965"/>
                </a:solidFill>
                <a:latin typeface="Calibri"/>
              </a:rPr>
              <a:t>72.07% (−15.6)</a:t>
            </a:r>
          </a:p>
        </p:txBody>
      </p:sp>
      <p:sp>
        <p:nvSpPr>
          <p:cNvPr id="67" name="Shape 455"/>
          <p:cNvSpPr txBox="1"/>
          <p:nvPr/>
        </p:nvSpPr>
        <p:spPr>
          <a:xfrm>
            <a:off x="7781544" y="3950208"/>
            <a:ext cx="1042416" cy="274320"/>
          </a:xfrm>
          <a:prstGeom prst="rect">
            <a:avLst/>
          </a:prstGeom>
          <a:noFill/>
        </p:spPr>
        <p:txBody>
          <a:bodyPr wrap="square" lIns="27432" tIns="0" rIns="27432" bIns="0" anchor="ctr">
            <a:spAutoFit/>
          </a:bodyPr>
          <a:lstStyle/>
          <a:p>
            <a:pPr algn="l"/>
            <a:r>
              <a:rPr sz="800" b="0" i="0">
                <a:solidFill>
                  <a:srgbClr val="6B6965"/>
                </a:solidFill>
                <a:latin typeface="Calibri"/>
              </a:rPr>
              <a:t>2.36</a:t>
            </a:r>
          </a:p>
        </p:txBody>
      </p:sp>
      <p:sp>
        <p:nvSpPr>
          <p:cNvPr id="68" name="Shape 456"/>
          <p:cNvSpPr txBox="1"/>
          <p:nvPr/>
        </p:nvSpPr>
        <p:spPr>
          <a:xfrm>
            <a:off x="374904" y="4300132"/>
            <a:ext cx="2368296" cy="123111"/>
          </a:xfrm>
          <a:prstGeom prst="rect">
            <a:avLst/>
          </a:prstGeom>
          <a:noFill/>
        </p:spPr>
        <p:txBody>
          <a:bodyPr wrap="square" lIns="27432" tIns="0" rIns="27432" bIns="0" anchor="ctr">
            <a:spAutoFit/>
          </a:bodyPr>
          <a:lstStyle/>
          <a:p>
            <a:pPr algn="l"/>
            <a:r>
              <a:rPr sz="800" b="1" i="0" dirty="0">
                <a:solidFill>
                  <a:srgbClr val="2E2D29"/>
                </a:solidFill>
                <a:latin typeface="Calibri"/>
              </a:rPr>
              <a:t>Full learned, junctions calibrated</a:t>
            </a:r>
          </a:p>
        </p:txBody>
      </p:sp>
      <p:sp>
        <p:nvSpPr>
          <p:cNvPr id="69" name="Shape 457"/>
          <p:cNvSpPr txBox="1"/>
          <p:nvPr/>
        </p:nvSpPr>
        <p:spPr>
          <a:xfrm>
            <a:off x="2798064" y="4300132"/>
            <a:ext cx="1636776" cy="123111"/>
          </a:xfrm>
          <a:prstGeom prst="rect">
            <a:avLst/>
          </a:prstGeom>
          <a:noFill/>
        </p:spPr>
        <p:txBody>
          <a:bodyPr wrap="square" lIns="27432" tIns="0" rIns="27432" bIns="0" anchor="ctr">
            <a:spAutoFit/>
          </a:bodyPr>
          <a:lstStyle/>
          <a:p>
            <a:pPr algn="l"/>
            <a:r>
              <a:rPr lang="en-US" sz="800" b="1" i="0" dirty="0">
                <a:solidFill>
                  <a:schemeClr val="tx2"/>
                </a:solidFill>
                <a:latin typeface="Calibri"/>
              </a:rPr>
              <a:t>Direct RRI impedance</a:t>
            </a:r>
            <a:endParaRPr sz="800" b="1" i="0" dirty="0">
              <a:solidFill>
                <a:schemeClr val="tx2"/>
              </a:solidFill>
              <a:latin typeface="Calibri"/>
            </a:endParaRPr>
          </a:p>
        </p:txBody>
      </p:sp>
      <p:sp>
        <p:nvSpPr>
          <p:cNvPr id="70" name="Shape 458"/>
          <p:cNvSpPr txBox="1"/>
          <p:nvPr/>
        </p:nvSpPr>
        <p:spPr>
          <a:xfrm>
            <a:off x="4489704" y="4300132"/>
            <a:ext cx="1865376" cy="123111"/>
          </a:xfrm>
          <a:prstGeom prst="rect">
            <a:avLst/>
          </a:prstGeom>
          <a:noFill/>
        </p:spPr>
        <p:txBody>
          <a:bodyPr wrap="square" lIns="27432" tIns="0" rIns="27432" bIns="0" anchor="ctr">
            <a:spAutoFit/>
          </a:bodyPr>
          <a:lstStyle/>
          <a:p>
            <a:pPr algn="l"/>
            <a:r>
              <a:rPr sz="800" b="1" i="0" dirty="0">
                <a:solidFill>
                  <a:schemeClr val="tx2"/>
                </a:solidFill>
                <a:latin typeface="Calibri"/>
              </a:rPr>
              <a:t>34.09 / −1.06 / 13.88</a:t>
            </a:r>
          </a:p>
        </p:txBody>
      </p:sp>
      <p:sp>
        <p:nvSpPr>
          <p:cNvPr id="71" name="Shape 459"/>
          <p:cNvSpPr txBox="1"/>
          <p:nvPr/>
        </p:nvSpPr>
        <p:spPr>
          <a:xfrm>
            <a:off x="6409944" y="4300132"/>
            <a:ext cx="1316736" cy="123111"/>
          </a:xfrm>
          <a:prstGeom prst="rect">
            <a:avLst/>
          </a:prstGeom>
          <a:noFill/>
        </p:spPr>
        <p:txBody>
          <a:bodyPr wrap="square" lIns="27432" tIns="0" rIns="27432" bIns="0" anchor="ctr">
            <a:spAutoFit/>
          </a:bodyPr>
          <a:lstStyle/>
          <a:p>
            <a:pPr algn="l"/>
            <a:r>
              <a:rPr sz="800" b="1" i="0">
                <a:solidFill>
                  <a:schemeClr val="tx2"/>
                </a:solidFill>
                <a:latin typeface="Calibri"/>
              </a:rPr>
              <a:t>73.78% (−13.9)</a:t>
            </a:r>
          </a:p>
        </p:txBody>
      </p:sp>
      <p:sp>
        <p:nvSpPr>
          <p:cNvPr id="72" name="Shape 460"/>
          <p:cNvSpPr txBox="1"/>
          <p:nvPr/>
        </p:nvSpPr>
        <p:spPr>
          <a:xfrm>
            <a:off x="7781544" y="4224528"/>
            <a:ext cx="1042416" cy="274320"/>
          </a:xfrm>
          <a:prstGeom prst="rect">
            <a:avLst/>
          </a:prstGeom>
          <a:noFill/>
        </p:spPr>
        <p:txBody>
          <a:bodyPr wrap="square" lIns="27432" tIns="0" rIns="27432" bIns="0" anchor="ctr">
            <a:spAutoFit/>
          </a:bodyPr>
          <a:lstStyle/>
          <a:p>
            <a:pPr algn="l"/>
            <a:r>
              <a:rPr sz="800" b="1" i="0">
                <a:solidFill>
                  <a:srgbClr val="279989"/>
                </a:solidFill>
                <a:latin typeface="Calibri"/>
              </a:rPr>
              <a:t>1.58</a:t>
            </a:r>
          </a:p>
        </p:txBody>
      </p:sp>
      <p:sp>
        <p:nvSpPr>
          <p:cNvPr id="73" name="Shape 461"/>
          <p:cNvSpPr/>
          <p:nvPr/>
        </p:nvSpPr>
        <p:spPr>
          <a:xfrm>
            <a:off x="320040" y="475488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Shape 462"/>
          <p:cNvSpPr txBox="1"/>
          <p:nvPr/>
        </p:nvSpPr>
        <p:spPr>
          <a:xfrm>
            <a:off x="429768" y="4754880"/>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With calibrated junctions the learned impedance model matches the tuned two-branch RRI on pressure; the flow split still does not follow.</a:t>
            </a:r>
          </a:p>
        </p:txBody>
      </p:sp>
      <p:sp>
        <p:nvSpPr>
          <p:cNvPr id="75" name="Shape 463"/>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Archived 2026-10-22. Replaced by: What changed: two-branch RRI to full branched 0D. Reason: 0D representation comparison condensed into the what-changed slide.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Candidate 0D representations of the PA anatomy</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Shape 100"/>
          <p:cNvSpPr/>
          <p:nvPr/>
        </p:nvSpPr>
        <p:spPr>
          <a:xfrm>
            <a:off x="320040" y="1426464"/>
            <a:ext cx="8503920" cy="3840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hape 101"/>
          <p:cNvSpPr txBox="1"/>
          <p:nvPr/>
        </p:nvSpPr>
        <p:spPr>
          <a:xfrm>
            <a:off x="374904" y="1426464"/>
            <a:ext cx="1170432" cy="384048"/>
          </a:xfrm>
          <a:prstGeom prst="rect">
            <a:avLst/>
          </a:prstGeom>
          <a:noFill/>
        </p:spPr>
        <p:txBody>
          <a:bodyPr wrap="square" lIns="27432" tIns="0" rIns="27432" bIns="0" anchor="ctr">
            <a:spAutoFit/>
          </a:bodyPr>
          <a:lstStyle/>
          <a:p>
            <a:pPr algn="l"/>
            <a:r>
              <a:rPr sz="800" b="1" i="0">
                <a:solidFill>
                  <a:srgbClr val="FFFFFF"/>
                </a:solidFill>
                <a:latin typeface="Calibri"/>
              </a:rPr>
              <a:t>0D representation</a:t>
            </a:r>
          </a:p>
        </p:txBody>
      </p:sp>
      <p:sp>
        <p:nvSpPr>
          <p:cNvPr id="14" name="Shape 102"/>
          <p:cNvSpPr txBox="1"/>
          <p:nvPr/>
        </p:nvSpPr>
        <p:spPr>
          <a:xfrm>
            <a:off x="1655064" y="1426464"/>
            <a:ext cx="2240280" cy="384048"/>
          </a:xfrm>
          <a:prstGeom prst="rect">
            <a:avLst/>
          </a:prstGeom>
          <a:noFill/>
        </p:spPr>
        <p:txBody>
          <a:bodyPr wrap="square" lIns="27432" tIns="0" rIns="27432" bIns="0" anchor="ctr">
            <a:spAutoFit/>
          </a:bodyPr>
          <a:lstStyle/>
          <a:p>
            <a:pPr algn="l"/>
            <a:r>
              <a:rPr sz="800" b="1" i="0">
                <a:solidFill>
                  <a:srgbClr val="FFFFFF"/>
                </a:solidFill>
                <a:latin typeface="Calibri"/>
              </a:rPr>
              <a:t>How the network is built</a:t>
            </a:r>
          </a:p>
        </p:txBody>
      </p:sp>
      <p:sp>
        <p:nvSpPr>
          <p:cNvPr id="15" name="Shape 103"/>
          <p:cNvSpPr txBox="1"/>
          <p:nvPr/>
        </p:nvSpPr>
        <p:spPr>
          <a:xfrm>
            <a:off x="4005072" y="1426464"/>
            <a:ext cx="1481328" cy="384048"/>
          </a:xfrm>
          <a:prstGeom prst="rect">
            <a:avLst/>
          </a:prstGeom>
          <a:noFill/>
        </p:spPr>
        <p:txBody>
          <a:bodyPr wrap="square" lIns="27432" tIns="0" rIns="27432" bIns="0" anchor="ctr">
            <a:spAutoFit/>
          </a:bodyPr>
          <a:lstStyle/>
          <a:p>
            <a:pPr algn="l"/>
            <a:r>
              <a:rPr sz="800" b="1" i="0">
                <a:solidFill>
                  <a:srgbClr val="FFFFFF"/>
                </a:solidFill>
                <a:latin typeface="Calibri"/>
              </a:rPr>
              <a:t>Element values from</a:t>
            </a:r>
          </a:p>
        </p:txBody>
      </p:sp>
      <p:sp>
        <p:nvSpPr>
          <p:cNvPr id="16" name="Shape 104"/>
          <p:cNvSpPr txBox="1"/>
          <p:nvPr/>
        </p:nvSpPr>
        <p:spPr>
          <a:xfrm>
            <a:off x="5596128" y="1426464"/>
            <a:ext cx="1572768" cy="384048"/>
          </a:xfrm>
          <a:prstGeom prst="rect">
            <a:avLst/>
          </a:prstGeom>
          <a:noFill/>
        </p:spPr>
        <p:txBody>
          <a:bodyPr wrap="square" lIns="27432" tIns="0" rIns="27432" bIns="0" anchor="ctr">
            <a:spAutoFit/>
          </a:bodyPr>
          <a:lstStyle/>
          <a:p>
            <a:pPr algn="l"/>
            <a:r>
              <a:rPr sz="800" b="1" i="0">
                <a:solidFill>
                  <a:srgbClr val="FFFFFF"/>
                </a:solidFill>
                <a:latin typeface="Calibri"/>
              </a:rPr>
              <a:t>3D-0D agreement so far</a:t>
            </a:r>
          </a:p>
        </p:txBody>
      </p:sp>
      <p:sp>
        <p:nvSpPr>
          <p:cNvPr id="17" name="Shape 105"/>
          <p:cNvSpPr txBox="1"/>
          <p:nvPr/>
        </p:nvSpPr>
        <p:spPr>
          <a:xfrm>
            <a:off x="7278624" y="1426464"/>
            <a:ext cx="1490472" cy="384048"/>
          </a:xfrm>
          <a:prstGeom prst="rect">
            <a:avLst/>
          </a:prstGeom>
          <a:noFill/>
        </p:spPr>
        <p:txBody>
          <a:bodyPr wrap="square" lIns="27432" tIns="0" rIns="27432" bIns="0" anchor="ctr">
            <a:spAutoFit/>
          </a:bodyPr>
          <a:lstStyle/>
          <a:p>
            <a:pPr algn="l"/>
            <a:r>
              <a:rPr sz="800" b="1" i="0">
                <a:solidFill>
                  <a:srgbClr val="FFFFFF"/>
                </a:solidFill>
                <a:latin typeface="Calibri"/>
              </a:rPr>
              <a:t>Status</a:t>
            </a:r>
          </a:p>
        </p:txBody>
      </p:sp>
      <p:sp>
        <p:nvSpPr>
          <p:cNvPr id="18" name="Shape 106"/>
          <p:cNvSpPr/>
          <p:nvPr/>
        </p:nvSpPr>
        <p:spPr>
          <a:xfrm>
            <a:off x="320040" y="1810512"/>
            <a:ext cx="8503920" cy="5486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hape 107"/>
          <p:cNvSpPr txBox="1"/>
          <p:nvPr/>
        </p:nvSpPr>
        <p:spPr>
          <a:xfrm>
            <a:off x="374904" y="1810512"/>
            <a:ext cx="1170432" cy="548640"/>
          </a:xfrm>
          <a:prstGeom prst="rect">
            <a:avLst/>
          </a:prstGeom>
          <a:noFill/>
        </p:spPr>
        <p:txBody>
          <a:bodyPr wrap="square" lIns="27432" tIns="0" rIns="27432" bIns="0" anchor="ctr">
            <a:spAutoFit/>
          </a:bodyPr>
          <a:lstStyle/>
          <a:p>
            <a:pPr algn="l"/>
            <a:r>
              <a:rPr sz="800" b="1" i="0">
                <a:solidFill>
                  <a:srgbClr val="2E2D29"/>
                </a:solidFill>
                <a:latin typeface="Calibri"/>
              </a:rPr>
              <a:t>1  Two-branch RRI</a:t>
            </a:r>
          </a:p>
        </p:txBody>
      </p:sp>
      <p:sp>
        <p:nvSpPr>
          <p:cNvPr id="20" name="Shape 108"/>
          <p:cNvSpPr txBox="1"/>
          <p:nvPr/>
        </p:nvSpPr>
        <p:spPr>
          <a:xfrm>
            <a:off x="1655064" y="1810512"/>
            <a:ext cx="2240280" cy="548640"/>
          </a:xfrm>
          <a:prstGeom prst="rect">
            <a:avLst/>
          </a:prstGeom>
          <a:noFill/>
        </p:spPr>
        <p:txBody>
          <a:bodyPr wrap="square" lIns="27432" tIns="0" rIns="27432" bIns="0" anchor="ctr">
            <a:spAutoFit/>
          </a:bodyPr>
          <a:lstStyle/>
          <a:p>
            <a:pPr algn="l"/>
            <a:r>
              <a:rPr sz="800" b="0" i="0">
                <a:solidFill>
                  <a:srgbClr val="6B6965"/>
                </a:solidFill>
                <a:latin typeface="Calibri"/>
              </a:rPr>
              <a:t>Hand-built two-branch model: one leg per side, linear R → nonlinear R → inductor</a:t>
            </a:r>
          </a:p>
        </p:txBody>
      </p:sp>
      <p:sp>
        <p:nvSpPr>
          <p:cNvPr id="21" name="Shape 109"/>
          <p:cNvSpPr txBox="1"/>
          <p:nvPr/>
        </p:nvSpPr>
        <p:spPr>
          <a:xfrm>
            <a:off x="4005072" y="1810512"/>
            <a:ext cx="1481328" cy="548640"/>
          </a:xfrm>
          <a:prstGeom prst="rect">
            <a:avLst/>
          </a:prstGeom>
          <a:noFill/>
        </p:spPr>
        <p:txBody>
          <a:bodyPr wrap="square" lIns="27432" tIns="0" rIns="27432" bIns="0" anchor="ctr">
            <a:spAutoFit/>
          </a:bodyPr>
          <a:lstStyle/>
          <a:p>
            <a:pPr algn="l"/>
            <a:r>
              <a:rPr sz="800" b="0" i="0">
                <a:solidFill>
                  <a:srgbClr val="6B6965"/>
                </a:solidFill>
                <a:latin typeface="Calibri"/>
              </a:rPr>
              <a:t>Nonlinear R seeded from steady 3D runs at mean, systolic and diastolic flow</a:t>
            </a:r>
          </a:p>
        </p:txBody>
      </p:sp>
      <p:sp>
        <p:nvSpPr>
          <p:cNvPr id="22" name="Shape 110"/>
          <p:cNvSpPr txBox="1"/>
          <p:nvPr/>
        </p:nvSpPr>
        <p:spPr>
          <a:xfrm>
            <a:off x="5596128" y="1810512"/>
            <a:ext cx="1572768" cy="548640"/>
          </a:xfrm>
          <a:prstGeom prst="rect">
            <a:avLst/>
          </a:prstGeom>
          <a:noFill/>
        </p:spPr>
        <p:txBody>
          <a:bodyPr wrap="square" lIns="27432" tIns="0" rIns="27432" bIns="0" anchor="ctr">
            <a:spAutoFit/>
          </a:bodyPr>
          <a:lstStyle/>
          <a:p>
            <a:pPr algn="l"/>
            <a:r>
              <a:rPr sz="800" b="1" i="0">
                <a:solidFill>
                  <a:srgbClr val="E98300"/>
                </a:solidFill>
                <a:latin typeface="Calibri"/>
              </a:rPr>
              <a:t>NRMSE pending. </a:t>
            </a:r>
            <a:r>
              <a:rPr sz="800" b="0" i="0">
                <a:solidFill>
                  <a:srgbClr val="6B6965"/>
                </a:solidFill>
                <a:latin typeface="Calibri"/>
              </a:rPr>
              <a:t>Outer loop closes on global pressure and split, not a branch-level field</a:t>
            </a:r>
          </a:p>
        </p:txBody>
      </p:sp>
      <p:sp>
        <p:nvSpPr>
          <p:cNvPr id="23" name="Shape 111"/>
          <p:cNvSpPr txBox="1"/>
          <p:nvPr/>
        </p:nvSpPr>
        <p:spPr>
          <a:xfrm>
            <a:off x="7278624" y="1810512"/>
            <a:ext cx="1490472" cy="548640"/>
          </a:xfrm>
          <a:prstGeom prst="rect">
            <a:avLst/>
          </a:prstGeom>
          <a:noFill/>
        </p:spPr>
        <p:txBody>
          <a:bodyPr wrap="square" lIns="27432" tIns="0" rIns="27432" bIns="0" anchor="ctr">
            <a:spAutoFit/>
          </a:bodyPr>
          <a:lstStyle/>
          <a:p>
            <a:pPr algn="l"/>
            <a:r>
              <a:rPr sz="800" b="0" i="0">
                <a:solidFill>
                  <a:srgbClr val="6B6965"/>
                </a:solidFill>
                <a:latin typeface="Calibri"/>
              </a:rPr>
              <a:t>In use — current baseline</a:t>
            </a:r>
          </a:p>
        </p:txBody>
      </p:sp>
      <p:sp>
        <p:nvSpPr>
          <p:cNvPr id="24" name="Shape 112"/>
          <p:cNvSpPr txBox="1"/>
          <p:nvPr/>
        </p:nvSpPr>
        <p:spPr>
          <a:xfrm>
            <a:off x="374904" y="2359152"/>
            <a:ext cx="1170432" cy="548640"/>
          </a:xfrm>
          <a:prstGeom prst="rect">
            <a:avLst/>
          </a:prstGeom>
          <a:noFill/>
        </p:spPr>
        <p:txBody>
          <a:bodyPr wrap="square" lIns="27432" tIns="0" rIns="27432" bIns="0" anchor="ctr">
            <a:spAutoFit/>
          </a:bodyPr>
          <a:lstStyle/>
          <a:p>
            <a:pPr algn="l"/>
            <a:r>
              <a:rPr sz="800" b="1" i="0">
                <a:solidFill>
                  <a:srgbClr val="2E2D29"/>
                </a:solidFill>
                <a:latin typeface="Calibri"/>
              </a:rPr>
              <a:t>2  Branched 0D from geometry</a:t>
            </a:r>
          </a:p>
        </p:txBody>
      </p:sp>
      <p:sp>
        <p:nvSpPr>
          <p:cNvPr id="25" name="Shape 113"/>
          <p:cNvSpPr txBox="1"/>
          <p:nvPr/>
        </p:nvSpPr>
        <p:spPr>
          <a:xfrm>
            <a:off x="1655064" y="2359152"/>
            <a:ext cx="2240280" cy="548640"/>
          </a:xfrm>
          <a:prstGeom prst="rect">
            <a:avLst/>
          </a:prstGeom>
          <a:noFill/>
        </p:spPr>
        <p:txBody>
          <a:bodyPr wrap="square" lIns="27432" tIns="0" rIns="27432" bIns="0" anchor="ctr">
            <a:spAutoFit/>
          </a:bodyPr>
          <a:lstStyle/>
          <a:p>
            <a:pPr algn="l"/>
            <a:r>
              <a:rPr sz="800" b="0" i="0">
                <a:solidFill>
                  <a:srgbClr val="6B6965"/>
                </a:solidFill>
                <a:latin typeface="Calibri"/>
              </a:rPr>
              <a:t>Full branched network matching the 3D anatomy, generated in the SimVascular GUI</a:t>
            </a:r>
          </a:p>
        </p:txBody>
      </p:sp>
      <p:sp>
        <p:nvSpPr>
          <p:cNvPr id="26" name="Shape 114"/>
          <p:cNvSpPr txBox="1"/>
          <p:nvPr/>
        </p:nvSpPr>
        <p:spPr>
          <a:xfrm>
            <a:off x="4005072" y="2359152"/>
            <a:ext cx="1481328" cy="548640"/>
          </a:xfrm>
          <a:prstGeom prst="rect">
            <a:avLst/>
          </a:prstGeom>
          <a:noFill/>
        </p:spPr>
        <p:txBody>
          <a:bodyPr wrap="square" lIns="27432" tIns="0" rIns="27432" bIns="0" anchor="ctr">
            <a:spAutoFit/>
          </a:bodyPr>
          <a:lstStyle/>
          <a:p>
            <a:pPr algn="l"/>
            <a:r>
              <a:rPr sz="800" b="0" i="0">
                <a:solidFill>
                  <a:srgbClr val="6B6965"/>
                </a:solidFill>
                <a:latin typeface="Calibri"/>
              </a:rPr>
              <a:t>Analytic R, C, L per segment from the centerlines; no junction coefficients</a:t>
            </a:r>
          </a:p>
        </p:txBody>
      </p:sp>
      <p:sp>
        <p:nvSpPr>
          <p:cNvPr id="27" name="Shape 115"/>
          <p:cNvSpPr txBox="1"/>
          <p:nvPr/>
        </p:nvSpPr>
        <p:spPr>
          <a:xfrm>
            <a:off x="5596128" y="2359152"/>
            <a:ext cx="1572768" cy="548640"/>
          </a:xfrm>
          <a:prstGeom prst="rect">
            <a:avLst/>
          </a:prstGeom>
          <a:noFill/>
        </p:spPr>
        <p:txBody>
          <a:bodyPr wrap="square" lIns="27432" tIns="0" rIns="27432" bIns="0" anchor="ctr">
            <a:spAutoFit/>
          </a:bodyPr>
          <a:lstStyle/>
          <a:p>
            <a:pPr algn="l"/>
            <a:r>
              <a:rPr sz="800" b="0" i="0">
                <a:solidFill>
                  <a:srgbClr val="6B6965"/>
                </a:solidFill>
                <a:latin typeface="Calibri"/>
              </a:rPr>
              <a:t>TST-STAN-5: MPA pressure NRMSE 0.45, RPA split error 0.026</a:t>
            </a:r>
          </a:p>
        </p:txBody>
      </p:sp>
      <p:sp>
        <p:nvSpPr>
          <p:cNvPr id="28" name="Shape 116"/>
          <p:cNvSpPr txBox="1"/>
          <p:nvPr/>
        </p:nvSpPr>
        <p:spPr>
          <a:xfrm>
            <a:off x="7278624" y="2359152"/>
            <a:ext cx="1490472" cy="548640"/>
          </a:xfrm>
          <a:prstGeom prst="rect">
            <a:avLst/>
          </a:prstGeom>
          <a:noFill/>
        </p:spPr>
        <p:txBody>
          <a:bodyPr wrap="square" lIns="27432" tIns="0" rIns="27432" bIns="0" anchor="ctr">
            <a:spAutoFit/>
          </a:bodyPr>
          <a:lstStyle/>
          <a:p>
            <a:pPr algn="l"/>
            <a:r>
              <a:rPr sz="800" b="0" i="0">
                <a:solidFill>
                  <a:srgbClr val="6B6965"/>
                </a:solidFill>
                <a:latin typeface="Calibri"/>
              </a:rPr>
              <a:t>Generated and run on TST-STAN-5</a:t>
            </a:r>
          </a:p>
        </p:txBody>
      </p:sp>
      <p:sp>
        <p:nvSpPr>
          <p:cNvPr id="29" name="Shape 117"/>
          <p:cNvSpPr/>
          <p:nvPr/>
        </p:nvSpPr>
        <p:spPr>
          <a:xfrm>
            <a:off x="320040" y="2907792"/>
            <a:ext cx="8503920" cy="5486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Shape 118"/>
          <p:cNvSpPr txBox="1"/>
          <p:nvPr/>
        </p:nvSpPr>
        <p:spPr>
          <a:xfrm>
            <a:off x="374904" y="2907792"/>
            <a:ext cx="1170432" cy="548640"/>
          </a:xfrm>
          <a:prstGeom prst="rect">
            <a:avLst/>
          </a:prstGeom>
          <a:noFill/>
        </p:spPr>
        <p:txBody>
          <a:bodyPr wrap="square" lIns="27432" tIns="0" rIns="27432" bIns="0" anchor="ctr">
            <a:spAutoFit/>
          </a:bodyPr>
          <a:lstStyle/>
          <a:p>
            <a:pPr algn="l"/>
            <a:r>
              <a:rPr sz="800" b="1" i="0">
                <a:solidFill>
                  <a:srgbClr val="2E2D29"/>
                </a:solidFill>
                <a:latin typeface="Calibri"/>
              </a:rPr>
              <a:t>3  Learned 0D (learnedZeroD)</a:t>
            </a:r>
          </a:p>
        </p:txBody>
      </p:sp>
      <p:sp>
        <p:nvSpPr>
          <p:cNvPr id="31" name="Shape 119"/>
          <p:cNvSpPr txBox="1"/>
          <p:nvPr/>
        </p:nvSpPr>
        <p:spPr>
          <a:xfrm>
            <a:off x="1655064" y="2907792"/>
            <a:ext cx="2240280" cy="548640"/>
          </a:xfrm>
          <a:prstGeom prst="rect">
            <a:avLst/>
          </a:prstGeom>
          <a:noFill/>
        </p:spPr>
        <p:txBody>
          <a:bodyPr wrap="square" lIns="27432" tIns="0" rIns="27432" bIns="0" anchor="ctr">
            <a:spAutoFit/>
          </a:bodyPr>
          <a:lstStyle/>
          <a:p>
            <a:pPr algn="l"/>
            <a:r>
              <a:rPr sz="800" b="0" i="0">
                <a:solidFill>
                  <a:srgbClr val="6B6965"/>
                </a:solidFill>
                <a:latin typeface="Calibri"/>
              </a:rPr>
              <a:t>Same branched topology; per-segment R, C, L and junction coefficients predicted from the geometry by Natalia’s ML method</a:t>
            </a:r>
          </a:p>
        </p:txBody>
      </p:sp>
      <p:sp>
        <p:nvSpPr>
          <p:cNvPr id="32" name="Shape 120"/>
          <p:cNvSpPr txBox="1"/>
          <p:nvPr/>
        </p:nvSpPr>
        <p:spPr>
          <a:xfrm>
            <a:off x="4005072" y="2907792"/>
            <a:ext cx="1481328" cy="548640"/>
          </a:xfrm>
          <a:prstGeom prst="rect">
            <a:avLst/>
          </a:prstGeom>
          <a:noFill/>
        </p:spPr>
        <p:txBody>
          <a:bodyPr wrap="square" lIns="27432" tIns="0" rIns="27432" bIns="0" anchor="ctr">
            <a:spAutoFit/>
          </a:bodyPr>
          <a:lstStyle/>
          <a:p>
            <a:pPr algn="l"/>
            <a:r>
              <a:rPr sz="800" b="0" i="0">
                <a:solidFill>
                  <a:srgbClr val="6B6965"/>
                </a:solidFill>
                <a:latin typeface="Calibri"/>
              </a:rPr>
              <a:t>Trained ML model, no 3D solution needed</a:t>
            </a:r>
          </a:p>
        </p:txBody>
      </p:sp>
      <p:sp>
        <p:nvSpPr>
          <p:cNvPr id="33" name="Shape 121"/>
          <p:cNvSpPr txBox="1"/>
          <p:nvPr/>
        </p:nvSpPr>
        <p:spPr>
          <a:xfrm>
            <a:off x="5596128" y="2907792"/>
            <a:ext cx="1572768" cy="548640"/>
          </a:xfrm>
          <a:prstGeom prst="rect">
            <a:avLst/>
          </a:prstGeom>
          <a:noFill/>
        </p:spPr>
        <p:txBody>
          <a:bodyPr wrap="square" lIns="27432" tIns="0" rIns="27432" bIns="0" anchor="ctr">
            <a:spAutoFit/>
          </a:bodyPr>
          <a:lstStyle/>
          <a:p>
            <a:pPr algn="l"/>
            <a:r>
              <a:rPr sz="800" b="0" i="0">
                <a:solidFill>
                  <a:srgbClr val="6B6965"/>
                </a:solidFill>
                <a:latin typeface="Calibri"/>
              </a:rPr>
              <a:t>Raises RPA flow and systolic pressure relative to option 2 — the right direction</a:t>
            </a:r>
          </a:p>
        </p:txBody>
      </p:sp>
      <p:sp>
        <p:nvSpPr>
          <p:cNvPr id="34" name="Shape 122"/>
          <p:cNvSpPr txBox="1"/>
          <p:nvPr/>
        </p:nvSpPr>
        <p:spPr>
          <a:xfrm>
            <a:off x="7278624" y="2907792"/>
            <a:ext cx="1490472" cy="548640"/>
          </a:xfrm>
          <a:prstGeom prst="rect">
            <a:avLst/>
          </a:prstGeom>
          <a:noFill/>
        </p:spPr>
        <p:txBody>
          <a:bodyPr wrap="square" lIns="27432" tIns="0" rIns="27432" bIns="0" anchor="ctr">
            <a:spAutoFit/>
          </a:bodyPr>
          <a:lstStyle/>
          <a:p>
            <a:pPr algn="l"/>
            <a:r>
              <a:rPr sz="800" b="0" i="0">
                <a:solidFill>
                  <a:srgbClr val="6B6965"/>
                </a:solidFill>
                <a:latin typeface="Calibri"/>
              </a:rPr>
              <a:t>First test run on TST-STAN-5</a:t>
            </a:r>
          </a:p>
        </p:txBody>
      </p:sp>
      <p:sp>
        <p:nvSpPr>
          <p:cNvPr id="35" name="Shape 123"/>
          <p:cNvSpPr txBox="1"/>
          <p:nvPr/>
        </p:nvSpPr>
        <p:spPr>
          <a:xfrm>
            <a:off x="374904" y="3456432"/>
            <a:ext cx="1170432" cy="548640"/>
          </a:xfrm>
          <a:prstGeom prst="rect">
            <a:avLst/>
          </a:prstGeom>
          <a:noFill/>
        </p:spPr>
        <p:txBody>
          <a:bodyPr wrap="square" lIns="27432" tIns="0" rIns="27432" bIns="0" anchor="ctr">
            <a:spAutoFit/>
          </a:bodyPr>
          <a:lstStyle/>
          <a:p>
            <a:pPr algn="l"/>
            <a:r>
              <a:rPr sz="800" b="1" i="0">
                <a:solidFill>
                  <a:srgbClr val="2E2D29"/>
                </a:solidFill>
                <a:latin typeface="Calibri"/>
              </a:rPr>
              <a:t>4  Option 2 + calibrator</a:t>
            </a:r>
          </a:p>
        </p:txBody>
      </p:sp>
      <p:sp>
        <p:nvSpPr>
          <p:cNvPr id="36" name="Shape 124"/>
          <p:cNvSpPr txBox="1"/>
          <p:nvPr/>
        </p:nvSpPr>
        <p:spPr>
          <a:xfrm>
            <a:off x="1655064" y="3456432"/>
            <a:ext cx="2240280" cy="548640"/>
          </a:xfrm>
          <a:prstGeom prst="rect">
            <a:avLst/>
          </a:prstGeom>
          <a:noFill/>
        </p:spPr>
        <p:txBody>
          <a:bodyPr wrap="square" lIns="27432" tIns="0" rIns="27432" bIns="0" anchor="ctr">
            <a:spAutoFit/>
          </a:bodyPr>
          <a:lstStyle/>
          <a:p>
            <a:pPr algn="l"/>
            <a:r>
              <a:rPr sz="800" b="0" i="0">
                <a:solidFill>
                  <a:srgbClr val="6B6965"/>
                </a:solidFill>
                <a:latin typeface="Calibri"/>
              </a:rPr>
              <a:t>Option 2 network with element values re-fit to the 3D result</a:t>
            </a:r>
          </a:p>
        </p:txBody>
      </p:sp>
      <p:sp>
        <p:nvSpPr>
          <p:cNvPr id="37" name="Shape 125"/>
          <p:cNvSpPr txBox="1"/>
          <p:nvPr/>
        </p:nvSpPr>
        <p:spPr>
          <a:xfrm>
            <a:off x="4005072" y="3456432"/>
            <a:ext cx="1481328" cy="548640"/>
          </a:xfrm>
          <a:prstGeom prst="rect">
            <a:avLst/>
          </a:prstGeom>
          <a:noFill/>
        </p:spPr>
        <p:txBody>
          <a:bodyPr wrap="square" lIns="27432" tIns="0" rIns="27432" bIns="0" anchor="ctr">
            <a:spAutoFit/>
          </a:bodyPr>
          <a:lstStyle/>
          <a:p>
            <a:pPr algn="l"/>
            <a:r>
              <a:rPr sz="800" b="0" i="0">
                <a:solidFill>
                  <a:srgbClr val="6B6965"/>
                </a:solidFill>
                <a:latin typeface="Calibri"/>
              </a:rPr>
              <a:t>svZeroDCalibrator fit to the 3D pressure and flow traces; junction coefficients not included</a:t>
            </a:r>
          </a:p>
        </p:txBody>
      </p:sp>
      <p:sp>
        <p:nvSpPr>
          <p:cNvPr id="38" name="Shape 126"/>
          <p:cNvSpPr txBox="1"/>
          <p:nvPr/>
        </p:nvSpPr>
        <p:spPr>
          <a:xfrm>
            <a:off x="5596128" y="3456432"/>
            <a:ext cx="1572768" cy="548640"/>
          </a:xfrm>
          <a:prstGeom prst="rect">
            <a:avLst/>
          </a:prstGeom>
          <a:noFill/>
        </p:spPr>
        <p:txBody>
          <a:bodyPr wrap="square" lIns="27432" tIns="0" rIns="27432" bIns="0" anchor="ctr">
            <a:spAutoFit/>
          </a:bodyPr>
          <a:lstStyle/>
          <a:p>
            <a:pPr algn="l"/>
            <a:r>
              <a:rPr sz="800" b="0" i="0">
                <a:solidFill>
                  <a:srgbClr val="6B6965"/>
                </a:solidFill>
                <a:latin typeface="Calibri"/>
              </a:rPr>
              <a:t>NRMSE 0.45 → 0.37, but split error and composite score both worsen</a:t>
            </a:r>
          </a:p>
        </p:txBody>
      </p:sp>
      <p:sp>
        <p:nvSpPr>
          <p:cNvPr id="39" name="Shape 127"/>
          <p:cNvSpPr txBox="1"/>
          <p:nvPr/>
        </p:nvSpPr>
        <p:spPr>
          <a:xfrm>
            <a:off x="7278624" y="3456432"/>
            <a:ext cx="1490472" cy="548640"/>
          </a:xfrm>
          <a:prstGeom prst="rect">
            <a:avLst/>
          </a:prstGeom>
          <a:noFill/>
        </p:spPr>
        <p:txBody>
          <a:bodyPr wrap="square" lIns="27432" tIns="0" rIns="27432" bIns="0" anchor="ctr">
            <a:spAutoFit/>
          </a:bodyPr>
          <a:lstStyle/>
          <a:p>
            <a:pPr algn="l"/>
            <a:r>
              <a:rPr sz="800" b="0" i="0">
                <a:solidFill>
                  <a:srgbClr val="6B6965"/>
                </a:solidFill>
                <a:latin typeface="Calibri"/>
              </a:rPr>
              <a:t>Tried; converges without net improvement</a:t>
            </a:r>
          </a:p>
        </p:txBody>
      </p:sp>
      <p:sp>
        <p:nvSpPr>
          <p:cNvPr id="40" name="Shape 128"/>
          <p:cNvSpPr/>
          <p:nvPr/>
        </p:nvSpPr>
        <p:spPr>
          <a:xfrm>
            <a:off x="320040" y="4005072"/>
            <a:ext cx="8503920" cy="5486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hape 129"/>
          <p:cNvSpPr txBox="1"/>
          <p:nvPr/>
        </p:nvSpPr>
        <p:spPr>
          <a:xfrm>
            <a:off x="374904" y="4005072"/>
            <a:ext cx="1170432" cy="548640"/>
          </a:xfrm>
          <a:prstGeom prst="rect">
            <a:avLst/>
          </a:prstGeom>
          <a:noFill/>
        </p:spPr>
        <p:txBody>
          <a:bodyPr wrap="square" lIns="27432" tIns="0" rIns="27432" bIns="0" anchor="ctr">
            <a:spAutoFit/>
          </a:bodyPr>
          <a:lstStyle/>
          <a:p>
            <a:pPr algn="l"/>
            <a:r>
              <a:rPr sz="800" b="1" i="0">
                <a:solidFill>
                  <a:srgbClr val="2E2D29"/>
                </a:solidFill>
                <a:latin typeface="Calibri"/>
              </a:rPr>
              <a:t>5  Option 3 + calibrator</a:t>
            </a:r>
          </a:p>
        </p:txBody>
      </p:sp>
      <p:sp>
        <p:nvSpPr>
          <p:cNvPr id="42" name="Shape 130"/>
          <p:cNvSpPr txBox="1"/>
          <p:nvPr/>
        </p:nvSpPr>
        <p:spPr>
          <a:xfrm>
            <a:off x="1655064" y="4005072"/>
            <a:ext cx="2240280" cy="548640"/>
          </a:xfrm>
          <a:prstGeom prst="rect">
            <a:avLst/>
          </a:prstGeom>
          <a:noFill/>
        </p:spPr>
        <p:txBody>
          <a:bodyPr wrap="square" lIns="27432" tIns="0" rIns="27432" bIns="0" anchor="ctr">
            <a:spAutoFit/>
          </a:bodyPr>
          <a:lstStyle/>
          <a:p>
            <a:pPr algn="l"/>
            <a:r>
              <a:rPr sz="800" b="0" i="0">
                <a:solidFill>
                  <a:srgbClr val="6B6965"/>
                </a:solidFill>
                <a:latin typeface="Calibri"/>
              </a:rPr>
              <a:t>Learned network seeds the calibrator, junction coefficients included</a:t>
            </a:r>
          </a:p>
        </p:txBody>
      </p:sp>
      <p:sp>
        <p:nvSpPr>
          <p:cNvPr id="43" name="Shape 131"/>
          <p:cNvSpPr txBox="1"/>
          <p:nvPr/>
        </p:nvSpPr>
        <p:spPr>
          <a:xfrm>
            <a:off x="4005072" y="4005072"/>
            <a:ext cx="1481328" cy="548640"/>
          </a:xfrm>
          <a:prstGeom prst="rect">
            <a:avLst/>
          </a:prstGeom>
          <a:noFill/>
        </p:spPr>
        <p:txBody>
          <a:bodyPr wrap="square" lIns="27432" tIns="0" rIns="27432" bIns="0" anchor="ctr">
            <a:spAutoFit/>
          </a:bodyPr>
          <a:lstStyle/>
          <a:p>
            <a:pPr algn="l"/>
            <a:r>
              <a:rPr sz="800" b="0" i="0">
                <a:solidFill>
                  <a:srgbClr val="6B6965"/>
                </a:solidFill>
                <a:latin typeface="Calibri"/>
              </a:rPr>
              <a:t>Learned R, C, L and junction coefficients as the calibrator’s initial guess</a:t>
            </a:r>
          </a:p>
        </p:txBody>
      </p:sp>
      <p:sp>
        <p:nvSpPr>
          <p:cNvPr id="44" name="Shape 132"/>
          <p:cNvSpPr txBox="1"/>
          <p:nvPr/>
        </p:nvSpPr>
        <p:spPr>
          <a:xfrm>
            <a:off x="5596128" y="4005072"/>
            <a:ext cx="1572768" cy="548640"/>
          </a:xfrm>
          <a:prstGeom prst="rect">
            <a:avLst/>
          </a:prstGeom>
          <a:noFill/>
        </p:spPr>
        <p:txBody>
          <a:bodyPr wrap="square" lIns="27432" tIns="0" rIns="27432" bIns="0" anchor="ctr">
            <a:spAutoFit/>
          </a:bodyPr>
          <a:lstStyle/>
          <a:p>
            <a:pPr algn="l"/>
            <a:r>
              <a:rPr sz="800" b="0" i="0">
                <a:solidFill>
                  <a:srgbClr val="6B6965"/>
                </a:solidFill>
                <a:latin typeface="Calibri"/>
              </a:rPr>
              <a:t>Closest pressure match of the branched models; split 74% vs 88% (slide 30)</a:t>
            </a:r>
          </a:p>
        </p:txBody>
      </p:sp>
      <p:sp>
        <p:nvSpPr>
          <p:cNvPr id="45" name="Shape 133"/>
          <p:cNvSpPr txBox="1"/>
          <p:nvPr/>
        </p:nvSpPr>
        <p:spPr>
          <a:xfrm>
            <a:off x="7278624" y="4005072"/>
            <a:ext cx="1490472" cy="548640"/>
          </a:xfrm>
          <a:prstGeom prst="rect">
            <a:avLst/>
          </a:prstGeom>
          <a:noFill/>
        </p:spPr>
        <p:txBody>
          <a:bodyPr wrap="square" lIns="27432" tIns="0" rIns="27432" bIns="0" anchor="ctr">
            <a:spAutoFit/>
          </a:bodyPr>
          <a:lstStyle/>
          <a:p>
            <a:pPr algn="l"/>
            <a:r>
              <a:rPr sz="800" b="0" i="0">
                <a:solidFill>
                  <a:srgbClr val="6B6965"/>
                </a:solidFill>
                <a:latin typeface="Calibri"/>
              </a:rPr>
              <a:t>Tested on TST-STAN-5</a:t>
            </a:r>
          </a:p>
        </p:txBody>
      </p:sp>
      <p:sp>
        <p:nvSpPr>
          <p:cNvPr id="46" name="Shape 134"/>
          <p:cNvSpPr/>
          <p:nvPr/>
        </p:nvSpPr>
        <p:spPr>
          <a:xfrm>
            <a:off x="320040" y="475488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hape 135"/>
          <p:cNvSpPr txBox="1"/>
          <p:nvPr/>
        </p:nvSpPr>
        <p:spPr>
          <a:xfrm>
            <a:off x="429768" y="4754880"/>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The outer loop can only carry tuned BCs into 3D as faithfully as the 0D model represents the anatomy.</a:t>
            </a:r>
          </a:p>
        </p:txBody>
      </p:sp>
      <p:sp>
        <p:nvSpPr>
          <p:cNvPr id="48" name="Shape 136"/>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Archived 2026-10-22. Replaced by: What changed: two-branch RRI to full branched 0D. Reason: 0D representation comparison condensed into the what-changed slide.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2" name="">
          <a:extLst>
            <a:ext uri="{FF2B5EF4-FFF2-40B4-BE49-F238E27FC236}">
              <a16:creationId xmlns:a16="http://schemas.microsoft.com/office/drawing/2014/main" id="{938AD1AE-70D0-331D-BF7B-3029DD9E92F6}"/>
            </a:ext>
          </a:extLst>
        </p:cNvPr>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Learned 0D model against the branched baseline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Shape 216"/>
          <p:cNvSpPr txBox="1"/>
          <p:nvPr/>
        </p:nvSpPr>
        <p:spPr>
          <a:xfrm>
            <a:off x="320040" y="1389888"/>
            <a:ext cx="8503920" cy="201168"/>
          </a:xfrm>
          <a:prstGeom prst="rect">
            <a:avLst/>
          </a:prstGeom>
          <a:noFill/>
        </p:spPr>
        <p:txBody>
          <a:bodyPr wrap="square" lIns="27432" tIns="0" rIns="27432" bIns="0" anchor="t">
            <a:spAutoFit/>
          </a:bodyPr>
          <a:lstStyle/>
          <a:p>
            <a:pPr algn="l"/>
            <a:r>
              <a:rPr sz="850" b="0" i="1">
                <a:solidFill>
                  <a:srgbClr val="6B6965"/>
                </a:solidFill>
                <a:latin typeface="Calibri"/>
              </a:rPr>
              <a:t>TST-STAN-5. Both models run with the same fixed outlet BCs — 1000 dyn/cm⁵ resistance, zero distal pressure — not the tuned BCs.</a:t>
            </a:r>
          </a:p>
        </p:txBody>
      </p:sp>
      <p:sp>
        <p:nvSpPr>
          <p:cNvPr id="13" name="Shape 217"/>
          <p:cNvSpPr/>
          <p:nvPr/>
        </p:nvSpPr>
        <p:spPr>
          <a:xfrm>
            <a:off x="320040" y="1700784"/>
            <a:ext cx="8503920" cy="3840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hape 218"/>
          <p:cNvSpPr txBox="1"/>
          <p:nvPr/>
        </p:nvSpPr>
        <p:spPr>
          <a:xfrm>
            <a:off x="374904" y="1700784"/>
            <a:ext cx="2313432" cy="384048"/>
          </a:xfrm>
          <a:prstGeom prst="rect">
            <a:avLst/>
          </a:prstGeom>
          <a:noFill/>
        </p:spPr>
        <p:txBody>
          <a:bodyPr wrap="square" lIns="27432" tIns="0" rIns="27432" bIns="0" anchor="ctr">
            <a:spAutoFit/>
          </a:bodyPr>
          <a:lstStyle/>
          <a:p>
            <a:pPr algn="l"/>
            <a:r>
              <a:rPr sz="800" b="1" i="0">
                <a:solidFill>
                  <a:srgbClr val="FFFFFF"/>
                </a:solidFill>
                <a:latin typeface="Calibri"/>
              </a:rPr>
              <a:t>Final-cycle metric</a:t>
            </a:r>
          </a:p>
        </p:txBody>
      </p:sp>
      <p:sp>
        <p:nvSpPr>
          <p:cNvPr id="15" name="Shape 219"/>
          <p:cNvSpPr txBox="1"/>
          <p:nvPr/>
        </p:nvSpPr>
        <p:spPr>
          <a:xfrm>
            <a:off x="2798064" y="1700784"/>
            <a:ext cx="1673352" cy="384048"/>
          </a:xfrm>
          <a:prstGeom prst="rect">
            <a:avLst/>
          </a:prstGeom>
          <a:noFill/>
        </p:spPr>
        <p:txBody>
          <a:bodyPr wrap="square" lIns="27432" tIns="0" rIns="27432" bIns="0" anchor="ctr">
            <a:spAutoFit/>
          </a:bodyPr>
          <a:lstStyle/>
          <a:p>
            <a:pPr algn="l"/>
            <a:r>
              <a:rPr sz="800" b="1" i="0">
                <a:solidFill>
                  <a:srgbClr val="FFFFFF"/>
                </a:solidFill>
                <a:latin typeface="Calibri"/>
              </a:rPr>
              <a:t>Baseline</a:t>
            </a:r>
          </a:p>
        </p:txBody>
      </p:sp>
      <p:sp>
        <p:nvSpPr>
          <p:cNvPr id="16" name="Shape 220"/>
          <p:cNvSpPr txBox="1"/>
          <p:nvPr/>
        </p:nvSpPr>
        <p:spPr>
          <a:xfrm>
            <a:off x="4581144" y="1700784"/>
            <a:ext cx="1673352" cy="384048"/>
          </a:xfrm>
          <a:prstGeom prst="rect">
            <a:avLst/>
          </a:prstGeom>
          <a:noFill/>
        </p:spPr>
        <p:txBody>
          <a:bodyPr wrap="square" lIns="27432" tIns="0" rIns="27432" bIns="0" anchor="ctr">
            <a:spAutoFit/>
          </a:bodyPr>
          <a:lstStyle/>
          <a:p>
            <a:pPr algn="l"/>
            <a:r>
              <a:rPr sz="800" b="1" i="0">
                <a:solidFill>
                  <a:srgbClr val="FFFFFF"/>
                </a:solidFill>
                <a:latin typeface="Calibri"/>
              </a:rPr>
              <a:t>Learned</a:t>
            </a:r>
          </a:p>
        </p:txBody>
      </p:sp>
      <p:sp>
        <p:nvSpPr>
          <p:cNvPr id="17" name="Shape 221"/>
          <p:cNvSpPr txBox="1"/>
          <p:nvPr/>
        </p:nvSpPr>
        <p:spPr>
          <a:xfrm>
            <a:off x="6364224" y="1700784"/>
            <a:ext cx="2404872" cy="384048"/>
          </a:xfrm>
          <a:prstGeom prst="rect">
            <a:avLst/>
          </a:prstGeom>
          <a:noFill/>
        </p:spPr>
        <p:txBody>
          <a:bodyPr wrap="square" lIns="27432" tIns="0" rIns="27432" bIns="0" anchor="ctr">
            <a:spAutoFit/>
          </a:bodyPr>
          <a:lstStyle/>
          <a:p>
            <a:pPr algn="l"/>
            <a:r>
              <a:rPr sz="800" b="1" i="0">
                <a:solidFill>
                  <a:srgbClr val="FFFFFF"/>
                </a:solidFill>
                <a:latin typeface="Calibri"/>
              </a:rPr>
              <a:t>Clinical target</a:t>
            </a:r>
          </a:p>
        </p:txBody>
      </p:sp>
      <p:sp>
        <p:nvSpPr>
          <p:cNvPr id="18" name="Shape 222"/>
          <p:cNvSpPr/>
          <p:nvPr/>
        </p:nvSpPr>
        <p:spPr>
          <a:xfrm>
            <a:off x="320040" y="2084832"/>
            <a:ext cx="8503920" cy="3840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hape 223"/>
          <p:cNvSpPr txBox="1"/>
          <p:nvPr/>
        </p:nvSpPr>
        <p:spPr>
          <a:xfrm>
            <a:off x="374904" y="2084832"/>
            <a:ext cx="2313432" cy="384048"/>
          </a:xfrm>
          <a:prstGeom prst="rect">
            <a:avLst/>
          </a:prstGeom>
          <a:noFill/>
        </p:spPr>
        <p:txBody>
          <a:bodyPr wrap="square" lIns="27432" tIns="0" rIns="27432" bIns="0" anchor="ctr">
            <a:spAutoFit/>
          </a:bodyPr>
          <a:lstStyle/>
          <a:p>
            <a:pPr algn="l"/>
            <a:r>
              <a:rPr sz="800" b="1" i="0">
                <a:solidFill>
                  <a:srgbClr val="2E2D29"/>
                </a:solidFill>
                <a:latin typeface="Calibri"/>
              </a:rPr>
              <a:t>Mean inlet flow</a:t>
            </a:r>
          </a:p>
        </p:txBody>
      </p:sp>
      <p:sp>
        <p:nvSpPr>
          <p:cNvPr id="20" name="Shape 224"/>
          <p:cNvSpPr txBox="1"/>
          <p:nvPr/>
        </p:nvSpPr>
        <p:spPr>
          <a:xfrm>
            <a:off x="2798064" y="2084832"/>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25.782 cm³/s</a:t>
            </a:r>
          </a:p>
        </p:txBody>
      </p:sp>
      <p:sp>
        <p:nvSpPr>
          <p:cNvPr id="21" name="Shape 225"/>
          <p:cNvSpPr txBox="1"/>
          <p:nvPr/>
        </p:nvSpPr>
        <p:spPr>
          <a:xfrm>
            <a:off x="4581144" y="2084832"/>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25.782 cm³/s</a:t>
            </a:r>
          </a:p>
        </p:txBody>
      </p:sp>
      <p:sp>
        <p:nvSpPr>
          <p:cNvPr id="22" name="Shape 226"/>
          <p:cNvSpPr txBox="1"/>
          <p:nvPr/>
        </p:nvSpPr>
        <p:spPr>
          <a:xfrm>
            <a:off x="6364224" y="2084832"/>
            <a:ext cx="2404872" cy="384048"/>
          </a:xfrm>
          <a:prstGeom prst="rect">
            <a:avLst/>
          </a:prstGeom>
          <a:noFill/>
        </p:spPr>
        <p:txBody>
          <a:bodyPr wrap="square" lIns="27432" tIns="0" rIns="27432" bIns="0" anchor="ctr">
            <a:spAutoFit/>
          </a:bodyPr>
          <a:lstStyle/>
          <a:p>
            <a:pPr algn="l"/>
            <a:r>
              <a:rPr sz="800" b="0" i="0">
                <a:solidFill>
                  <a:srgbClr val="6B6965"/>
                </a:solidFill>
                <a:latin typeface="Calibri"/>
              </a:rPr>
              <a:t>—</a:t>
            </a:r>
          </a:p>
        </p:txBody>
      </p:sp>
      <p:sp>
        <p:nvSpPr>
          <p:cNvPr id="23" name="Shape 227"/>
          <p:cNvSpPr txBox="1"/>
          <p:nvPr/>
        </p:nvSpPr>
        <p:spPr>
          <a:xfrm>
            <a:off x="374904" y="2468880"/>
            <a:ext cx="2313432" cy="384048"/>
          </a:xfrm>
          <a:prstGeom prst="rect">
            <a:avLst/>
          </a:prstGeom>
          <a:noFill/>
        </p:spPr>
        <p:txBody>
          <a:bodyPr wrap="square" lIns="27432" tIns="0" rIns="27432" bIns="0" anchor="ctr">
            <a:spAutoFit/>
          </a:bodyPr>
          <a:lstStyle/>
          <a:p>
            <a:pPr algn="l"/>
            <a:r>
              <a:rPr sz="800" b="1" i="0">
                <a:solidFill>
                  <a:srgbClr val="2E2D29"/>
                </a:solidFill>
                <a:latin typeface="Calibri"/>
              </a:rPr>
              <a:t>Mean RPA split</a:t>
            </a:r>
          </a:p>
        </p:txBody>
      </p:sp>
      <p:sp>
        <p:nvSpPr>
          <p:cNvPr id="24" name="Shape 228"/>
          <p:cNvSpPr txBox="1"/>
          <p:nvPr/>
        </p:nvSpPr>
        <p:spPr>
          <a:xfrm>
            <a:off x="2798064" y="2468880"/>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64%</a:t>
            </a:r>
          </a:p>
        </p:txBody>
      </p:sp>
      <p:sp>
        <p:nvSpPr>
          <p:cNvPr id="25" name="Shape 229"/>
          <p:cNvSpPr txBox="1"/>
          <p:nvPr/>
        </p:nvSpPr>
        <p:spPr>
          <a:xfrm>
            <a:off x="4581144" y="2468880"/>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78%</a:t>
            </a:r>
          </a:p>
        </p:txBody>
      </p:sp>
      <p:sp>
        <p:nvSpPr>
          <p:cNvPr id="26" name="Shape 230"/>
          <p:cNvSpPr txBox="1"/>
          <p:nvPr/>
        </p:nvSpPr>
        <p:spPr>
          <a:xfrm>
            <a:off x="6364224" y="2468880"/>
            <a:ext cx="2404872" cy="384048"/>
          </a:xfrm>
          <a:prstGeom prst="rect">
            <a:avLst/>
          </a:prstGeom>
          <a:noFill/>
        </p:spPr>
        <p:txBody>
          <a:bodyPr wrap="square" lIns="27432" tIns="0" rIns="27432" bIns="0" anchor="ctr">
            <a:spAutoFit/>
          </a:bodyPr>
          <a:lstStyle/>
          <a:p>
            <a:pPr algn="l"/>
            <a:r>
              <a:rPr sz="800" b="0" i="0">
                <a:solidFill>
                  <a:srgbClr val="6B6965"/>
                </a:solidFill>
                <a:latin typeface="Calibri"/>
              </a:rPr>
              <a:t>83%</a:t>
            </a:r>
          </a:p>
        </p:txBody>
      </p:sp>
      <p:sp>
        <p:nvSpPr>
          <p:cNvPr id="27" name="Shape 231"/>
          <p:cNvSpPr/>
          <p:nvPr/>
        </p:nvSpPr>
        <p:spPr>
          <a:xfrm>
            <a:off x="320040" y="2852928"/>
            <a:ext cx="8503920" cy="3840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hape 232"/>
          <p:cNvSpPr txBox="1"/>
          <p:nvPr/>
        </p:nvSpPr>
        <p:spPr>
          <a:xfrm>
            <a:off x="374904" y="2852928"/>
            <a:ext cx="2313432" cy="384048"/>
          </a:xfrm>
          <a:prstGeom prst="rect">
            <a:avLst/>
          </a:prstGeom>
          <a:noFill/>
        </p:spPr>
        <p:txBody>
          <a:bodyPr wrap="square" lIns="27432" tIns="0" rIns="27432" bIns="0" anchor="ctr">
            <a:spAutoFit/>
          </a:bodyPr>
          <a:lstStyle/>
          <a:p>
            <a:pPr algn="l"/>
            <a:r>
              <a:rPr sz="800" b="1" i="0">
                <a:solidFill>
                  <a:srgbClr val="2E2D29"/>
                </a:solidFill>
                <a:latin typeface="Calibri"/>
              </a:rPr>
              <a:t>Mean inlet pressure</a:t>
            </a:r>
          </a:p>
        </p:txBody>
      </p:sp>
      <p:sp>
        <p:nvSpPr>
          <p:cNvPr id="29" name="Shape 233"/>
          <p:cNvSpPr txBox="1"/>
          <p:nvPr/>
        </p:nvSpPr>
        <p:spPr>
          <a:xfrm>
            <a:off x="2798064" y="2852928"/>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1.01 mmHg</a:t>
            </a:r>
          </a:p>
        </p:txBody>
      </p:sp>
      <p:sp>
        <p:nvSpPr>
          <p:cNvPr id="30" name="Shape 234"/>
          <p:cNvSpPr txBox="1"/>
          <p:nvPr/>
        </p:nvSpPr>
        <p:spPr>
          <a:xfrm>
            <a:off x="4581144" y="2852928"/>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1.65 mmHg</a:t>
            </a:r>
          </a:p>
        </p:txBody>
      </p:sp>
      <p:sp>
        <p:nvSpPr>
          <p:cNvPr id="31" name="Shape 235"/>
          <p:cNvSpPr txBox="1"/>
          <p:nvPr/>
        </p:nvSpPr>
        <p:spPr>
          <a:xfrm>
            <a:off x="6364224" y="2852928"/>
            <a:ext cx="2404872" cy="384048"/>
          </a:xfrm>
          <a:prstGeom prst="rect">
            <a:avLst/>
          </a:prstGeom>
          <a:noFill/>
        </p:spPr>
        <p:txBody>
          <a:bodyPr wrap="square" lIns="27432" tIns="0" rIns="27432" bIns="0" anchor="ctr">
            <a:spAutoFit/>
          </a:bodyPr>
          <a:lstStyle/>
          <a:p>
            <a:pPr algn="l"/>
            <a:r>
              <a:rPr sz="800" b="0" i="0">
                <a:solidFill>
                  <a:srgbClr val="6B6965"/>
                </a:solidFill>
                <a:latin typeface="Calibri"/>
              </a:rPr>
              <a:t>16 mmHg</a:t>
            </a:r>
          </a:p>
        </p:txBody>
      </p:sp>
      <p:sp>
        <p:nvSpPr>
          <p:cNvPr id="32" name="Shape 236"/>
          <p:cNvSpPr txBox="1"/>
          <p:nvPr/>
        </p:nvSpPr>
        <p:spPr>
          <a:xfrm>
            <a:off x="374904" y="3236976"/>
            <a:ext cx="2313432" cy="384048"/>
          </a:xfrm>
          <a:prstGeom prst="rect">
            <a:avLst/>
          </a:prstGeom>
          <a:noFill/>
        </p:spPr>
        <p:txBody>
          <a:bodyPr wrap="square" lIns="27432" tIns="0" rIns="27432" bIns="0" anchor="ctr">
            <a:spAutoFit/>
          </a:bodyPr>
          <a:lstStyle/>
          <a:p>
            <a:pPr algn="l"/>
            <a:r>
              <a:rPr sz="800" b="1" i="0">
                <a:solidFill>
                  <a:srgbClr val="2E2D29"/>
                </a:solidFill>
                <a:latin typeface="Calibri"/>
              </a:rPr>
              <a:t>Inlet-pressure range</a:t>
            </a:r>
          </a:p>
        </p:txBody>
      </p:sp>
      <p:sp>
        <p:nvSpPr>
          <p:cNvPr id="33" name="Shape 237"/>
          <p:cNvSpPr txBox="1"/>
          <p:nvPr/>
        </p:nvSpPr>
        <p:spPr>
          <a:xfrm>
            <a:off x="2798064" y="3236976"/>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−5.71 to 7.64 mmHg</a:t>
            </a:r>
          </a:p>
        </p:txBody>
      </p:sp>
      <p:sp>
        <p:nvSpPr>
          <p:cNvPr id="34" name="Shape 238"/>
          <p:cNvSpPr txBox="1"/>
          <p:nvPr/>
        </p:nvSpPr>
        <p:spPr>
          <a:xfrm>
            <a:off x="4581144" y="3236976"/>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−11.90 to 13.84 mmHg</a:t>
            </a:r>
          </a:p>
        </p:txBody>
      </p:sp>
      <p:sp>
        <p:nvSpPr>
          <p:cNvPr id="35" name="Shape 239"/>
          <p:cNvSpPr txBox="1"/>
          <p:nvPr/>
        </p:nvSpPr>
        <p:spPr>
          <a:xfrm>
            <a:off x="6364224" y="3236976"/>
            <a:ext cx="2404872" cy="384048"/>
          </a:xfrm>
          <a:prstGeom prst="rect">
            <a:avLst/>
          </a:prstGeom>
          <a:noFill/>
        </p:spPr>
        <p:txBody>
          <a:bodyPr wrap="square" lIns="27432" tIns="0" rIns="27432" bIns="0" anchor="ctr">
            <a:spAutoFit/>
          </a:bodyPr>
          <a:lstStyle/>
          <a:p>
            <a:pPr algn="l"/>
            <a:r>
              <a:rPr sz="800" b="0" i="0">
                <a:solidFill>
                  <a:srgbClr val="6B6965"/>
                </a:solidFill>
                <a:latin typeface="Calibri"/>
              </a:rPr>
              <a:t>3 to 34 mmHg</a:t>
            </a:r>
          </a:p>
        </p:txBody>
      </p:sp>
      <p:sp>
        <p:nvSpPr>
          <p:cNvPr id="36" name="Shape 240"/>
          <p:cNvSpPr/>
          <p:nvPr/>
        </p:nvSpPr>
        <p:spPr>
          <a:xfrm>
            <a:off x="320040" y="3785616"/>
            <a:ext cx="8503920" cy="8412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hape 241"/>
          <p:cNvSpPr txBox="1"/>
          <p:nvPr/>
        </p:nvSpPr>
        <p:spPr>
          <a:xfrm>
            <a:off x="448056" y="3886200"/>
            <a:ext cx="3657600" cy="219456"/>
          </a:xfrm>
          <a:prstGeom prst="rect">
            <a:avLst/>
          </a:prstGeom>
          <a:noFill/>
        </p:spPr>
        <p:txBody>
          <a:bodyPr wrap="square" lIns="27432" tIns="0" rIns="27432" bIns="0" anchor="t">
            <a:spAutoFit/>
          </a:bodyPr>
          <a:lstStyle/>
          <a:p>
            <a:pPr algn="l"/>
            <a:r>
              <a:rPr sz="1100" b="1" i="0">
                <a:solidFill>
                  <a:srgbClr val="007C92"/>
                </a:solidFill>
                <a:latin typeface="Calibri"/>
              </a:rPr>
              <a:t>How to read it</a:t>
            </a:r>
          </a:p>
        </p:txBody>
      </p:sp>
      <p:sp>
        <p:nvSpPr>
          <p:cNvPr id="38" name="Shape 242"/>
          <p:cNvSpPr txBox="1"/>
          <p:nvPr/>
        </p:nvSpPr>
        <p:spPr>
          <a:xfrm>
            <a:off x="448056" y="4151376"/>
            <a:ext cx="8247888" cy="420624"/>
          </a:xfrm>
          <a:prstGeom prst="rect">
            <a:avLst/>
          </a:prstGeom>
          <a:noFill/>
        </p:spPr>
        <p:txBody>
          <a:bodyPr wrap="square" lIns="27432" tIns="0" rIns="27432" bIns="0">
            <a:spAutoFit/>
          </a:bodyPr>
          <a:lstStyle/>
          <a:p>
            <a:pPr>
              <a:spcAft>
                <a:spcPts val="350"/>
              </a:spcAft>
            </a:pPr>
            <a:r>
              <a:rPr sz="950">
                <a:solidFill>
                  <a:srgbClr val="007C92"/>
                </a:solidFill>
                <a:latin typeface="Calibri"/>
              </a:rPr>
              <a:t>• </a:t>
            </a:r>
            <a:r>
              <a:rPr sz="950">
                <a:solidFill>
                  <a:srgbClr val="2E2D29"/>
                </a:solidFill>
                <a:latin typeface="Calibri"/>
              </a:rPr>
              <a:t>Absolute pressures sit far below the clinical values because the outlet BCs are placeholders, not tuned structured trees</a:t>
            </a:r>
          </a:p>
          <a:p>
            <a:pPr>
              <a:spcAft>
                <a:spcPts val="350"/>
              </a:spcAft>
            </a:pPr>
            <a:r>
              <a:rPr sz="950">
                <a:solidFill>
                  <a:srgbClr val="007C92"/>
                </a:solidFill>
                <a:latin typeface="Calibri"/>
              </a:rPr>
              <a:t>• </a:t>
            </a:r>
            <a:r>
              <a:rPr sz="950">
                <a:solidFill>
                  <a:srgbClr val="2E2D29"/>
                </a:solidFill>
                <a:latin typeface="Calibri"/>
              </a:rPr>
              <a:t>The comparison that matters is baseline against learned, not either against the clinical target</a:t>
            </a:r>
          </a:p>
        </p:txBody>
      </p:sp>
      <p:sp>
        <p:nvSpPr>
          <p:cNvPr id="39" name="Shape 243"/>
          <p:cNvSpPr/>
          <p:nvPr/>
        </p:nvSpPr>
        <p:spPr>
          <a:xfrm>
            <a:off x="320040" y="475488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hape 244"/>
          <p:cNvSpPr txBox="1"/>
          <p:nvPr/>
        </p:nvSpPr>
        <p:spPr>
          <a:xfrm>
            <a:off x="429768" y="4754880"/>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The learned model moves RPA flow and systolic pressure toward the clinical values.</a:t>
            </a:r>
          </a:p>
        </p:txBody>
      </p:sp>
      <p:sp>
        <p:nvSpPr>
          <p:cNvPr id="41" name="Shape 245"/>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Archived 2026-10-22. Replaced by: What changed: two-branch RRI to full branched 0D. Reason: Seed-selection study; its outcome is on the what-changed slide.</a:t>
            </a:r>
          </a:p>
        </p:txBody>
      </p:sp>
    </p:spTree>
    <p:extLst>
      <p:ext uri="{BB962C8B-B14F-4D97-AF65-F5344CB8AC3E}">
        <p14:creationId xmlns:p14="http://schemas.microsoft.com/office/powerpoint/2010/main" val="42943076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2" name="">
          <a:extLst>
            <a:ext uri="{FF2B5EF4-FFF2-40B4-BE49-F238E27FC236}">
              <a16:creationId xmlns:a16="http://schemas.microsoft.com/office/drawing/2014/main" id="{3BBA4EBC-4484-4E17-9B2C-38774CADA71C}"/>
            </a:ext>
          </a:extLst>
        </p:cNvPr>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lang="en-US" sz="2200" dirty="0">
                <a:solidFill>
                  <a:srgbClr val="8C1515"/>
                </a:solidFill>
                <a:latin typeface="Georgia"/>
              </a:rPr>
              <a:t>Calibrating the branched 0D model against the 3D result</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Shape 216"/>
          <p:cNvSpPr txBox="1"/>
          <p:nvPr/>
        </p:nvSpPr>
        <p:spPr>
          <a:xfrm>
            <a:off x="320040" y="1389888"/>
            <a:ext cx="8503920" cy="201168"/>
          </a:xfrm>
          <a:prstGeom prst="rect">
            <a:avLst/>
          </a:prstGeom>
          <a:noFill/>
        </p:spPr>
        <p:txBody>
          <a:bodyPr wrap="square" lIns="27432" tIns="0" rIns="27432" bIns="0" anchor="t">
            <a:spAutoFit/>
          </a:bodyPr>
          <a:lstStyle/>
          <a:p>
            <a:pPr algn="l"/>
            <a:r>
              <a:rPr sz="850" b="0" i="1">
                <a:solidFill>
                  <a:srgbClr val="6B6965"/>
                </a:solidFill>
                <a:latin typeface="Calibri"/>
              </a:rPr>
              <a:t>TST-STAN-5. Branched 0D model generated from the 3D model in the SimVascular GUI, then calibrated with svZeroDCalibrator.</a:t>
            </a:r>
          </a:p>
        </p:txBody>
      </p:sp>
      <p:sp>
        <p:nvSpPr>
          <p:cNvPr id="13" name="Shape 217"/>
          <p:cNvSpPr/>
          <p:nvPr/>
        </p:nvSpPr>
        <p:spPr>
          <a:xfrm>
            <a:off x="320040" y="1700784"/>
            <a:ext cx="8503920" cy="38404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hape 218"/>
          <p:cNvSpPr txBox="1"/>
          <p:nvPr/>
        </p:nvSpPr>
        <p:spPr>
          <a:xfrm>
            <a:off x="374904" y="1700784"/>
            <a:ext cx="2313432" cy="384048"/>
          </a:xfrm>
          <a:prstGeom prst="rect">
            <a:avLst/>
          </a:prstGeom>
          <a:noFill/>
        </p:spPr>
        <p:txBody>
          <a:bodyPr wrap="square" lIns="27432" tIns="0" rIns="27432" bIns="0" anchor="ctr">
            <a:spAutoFit/>
          </a:bodyPr>
          <a:lstStyle/>
          <a:p>
            <a:pPr algn="l"/>
            <a:r>
              <a:rPr sz="800" b="1" i="0">
                <a:solidFill>
                  <a:srgbClr val="FFFFFF"/>
                </a:solidFill>
                <a:latin typeface="Calibri"/>
              </a:rPr>
              <a:t>Metric</a:t>
            </a:r>
          </a:p>
        </p:txBody>
      </p:sp>
      <p:sp>
        <p:nvSpPr>
          <p:cNvPr id="15" name="Shape 219"/>
          <p:cNvSpPr txBox="1"/>
          <p:nvPr/>
        </p:nvSpPr>
        <p:spPr>
          <a:xfrm>
            <a:off x="2798064" y="1700784"/>
            <a:ext cx="1673352" cy="384048"/>
          </a:xfrm>
          <a:prstGeom prst="rect">
            <a:avLst/>
          </a:prstGeom>
          <a:noFill/>
        </p:spPr>
        <p:txBody>
          <a:bodyPr wrap="square" lIns="27432" tIns="0" rIns="27432" bIns="0" anchor="ctr">
            <a:spAutoFit/>
          </a:bodyPr>
          <a:lstStyle/>
          <a:p>
            <a:pPr algn="l"/>
            <a:r>
              <a:rPr sz="800" b="1" i="0">
                <a:solidFill>
                  <a:srgbClr val="FFFFFF"/>
                </a:solidFill>
                <a:latin typeface="Calibri"/>
              </a:rPr>
              <a:t>Baseline</a:t>
            </a:r>
          </a:p>
        </p:txBody>
      </p:sp>
      <p:sp>
        <p:nvSpPr>
          <p:cNvPr id="16" name="Shape 220"/>
          <p:cNvSpPr txBox="1"/>
          <p:nvPr/>
        </p:nvSpPr>
        <p:spPr>
          <a:xfrm>
            <a:off x="4581144" y="1700784"/>
            <a:ext cx="1673352" cy="384048"/>
          </a:xfrm>
          <a:prstGeom prst="rect">
            <a:avLst/>
          </a:prstGeom>
          <a:noFill/>
        </p:spPr>
        <p:txBody>
          <a:bodyPr wrap="square" lIns="27432" tIns="0" rIns="27432" bIns="0" anchor="ctr">
            <a:spAutoFit/>
          </a:bodyPr>
          <a:lstStyle/>
          <a:p>
            <a:pPr algn="l"/>
            <a:r>
              <a:rPr sz="800" b="1" i="0">
                <a:solidFill>
                  <a:srgbClr val="FFFFFF"/>
                </a:solidFill>
                <a:latin typeface="Calibri"/>
              </a:rPr>
              <a:t>Calibrated</a:t>
            </a:r>
          </a:p>
        </p:txBody>
      </p:sp>
      <p:sp>
        <p:nvSpPr>
          <p:cNvPr id="17" name="Shape 221"/>
          <p:cNvSpPr txBox="1"/>
          <p:nvPr/>
        </p:nvSpPr>
        <p:spPr>
          <a:xfrm>
            <a:off x="6364224" y="1700784"/>
            <a:ext cx="2404872" cy="384048"/>
          </a:xfrm>
          <a:prstGeom prst="rect">
            <a:avLst/>
          </a:prstGeom>
          <a:noFill/>
        </p:spPr>
        <p:txBody>
          <a:bodyPr wrap="square" lIns="27432" tIns="0" rIns="27432" bIns="0" anchor="ctr">
            <a:spAutoFit/>
          </a:bodyPr>
          <a:lstStyle/>
          <a:p>
            <a:pPr algn="l"/>
            <a:r>
              <a:rPr sz="800" b="1" i="0">
                <a:solidFill>
                  <a:srgbClr val="FFFFFF"/>
                </a:solidFill>
                <a:latin typeface="Calibri"/>
              </a:rPr>
              <a:t>Target</a:t>
            </a:r>
          </a:p>
        </p:txBody>
      </p:sp>
      <p:sp>
        <p:nvSpPr>
          <p:cNvPr id="18" name="Shape 222"/>
          <p:cNvSpPr/>
          <p:nvPr/>
        </p:nvSpPr>
        <p:spPr>
          <a:xfrm>
            <a:off x="320040" y="2084832"/>
            <a:ext cx="8503920" cy="3840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hape 223"/>
          <p:cNvSpPr txBox="1"/>
          <p:nvPr/>
        </p:nvSpPr>
        <p:spPr>
          <a:xfrm>
            <a:off x="374904" y="2084832"/>
            <a:ext cx="2313432" cy="384048"/>
          </a:xfrm>
          <a:prstGeom prst="rect">
            <a:avLst/>
          </a:prstGeom>
          <a:noFill/>
        </p:spPr>
        <p:txBody>
          <a:bodyPr wrap="square" lIns="27432" tIns="0" rIns="27432" bIns="0" anchor="ctr">
            <a:spAutoFit/>
          </a:bodyPr>
          <a:lstStyle/>
          <a:p>
            <a:pPr algn="l"/>
            <a:r>
              <a:rPr sz="800" b="1" i="0">
                <a:solidFill>
                  <a:srgbClr val="2E2D29"/>
                </a:solidFill>
                <a:latin typeface="Calibri"/>
              </a:rPr>
              <a:t>MPA pressure NRMSE</a:t>
            </a:r>
          </a:p>
        </p:txBody>
      </p:sp>
      <p:sp>
        <p:nvSpPr>
          <p:cNvPr id="20" name="Shape 224"/>
          <p:cNvSpPr txBox="1"/>
          <p:nvPr/>
        </p:nvSpPr>
        <p:spPr>
          <a:xfrm>
            <a:off x="2798064" y="2084832"/>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0.4504</a:t>
            </a:r>
          </a:p>
        </p:txBody>
      </p:sp>
      <p:sp>
        <p:nvSpPr>
          <p:cNvPr id="21" name="Shape 225"/>
          <p:cNvSpPr txBox="1"/>
          <p:nvPr/>
        </p:nvSpPr>
        <p:spPr>
          <a:xfrm>
            <a:off x="4581144" y="2084832"/>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0.3691</a:t>
            </a:r>
          </a:p>
        </p:txBody>
      </p:sp>
      <p:sp>
        <p:nvSpPr>
          <p:cNvPr id="22" name="Shape 226"/>
          <p:cNvSpPr txBox="1"/>
          <p:nvPr/>
        </p:nvSpPr>
        <p:spPr>
          <a:xfrm>
            <a:off x="6364224" y="2084832"/>
            <a:ext cx="2404872" cy="384048"/>
          </a:xfrm>
          <a:prstGeom prst="rect">
            <a:avLst/>
          </a:prstGeom>
          <a:noFill/>
        </p:spPr>
        <p:txBody>
          <a:bodyPr wrap="square" lIns="27432" tIns="0" rIns="27432" bIns="0" anchor="ctr">
            <a:spAutoFit/>
          </a:bodyPr>
          <a:lstStyle/>
          <a:p>
            <a:pPr algn="l"/>
            <a:r>
              <a:rPr sz="800" b="0" i="0">
                <a:solidFill>
                  <a:srgbClr val="6B6965"/>
                </a:solidFill>
                <a:latin typeface="Calibri"/>
              </a:rPr>
              <a:t>≤ 0.05</a:t>
            </a:r>
          </a:p>
        </p:txBody>
      </p:sp>
      <p:sp>
        <p:nvSpPr>
          <p:cNvPr id="23" name="Shape 227"/>
          <p:cNvSpPr txBox="1"/>
          <p:nvPr/>
        </p:nvSpPr>
        <p:spPr>
          <a:xfrm>
            <a:off x="374904" y="2468880"/>
            <a:ext cx="2313432" cy="384048"/>
          </a:xfrm>
          <a:prstGeom prst="rect">
            <a:avLst/>
          </a:prstGeom>
          <a:noFill/>
        </p:spPr>
        <p:txBody>
          <a:bodyPr wrap="square" lIns="27432" tIns="0" rIns="27432" bIns="0" anchor="ctr">
            <a:spAutoFit/>
          </a:bodyPr>
          <a:lstStyle/>
          <a:p>
            <a:pPr algn="l"/>
            <a:r>
              <a:rPr sz="800" b="1" i="0">
                <a:solidFill>
                  <a:srgbClr val="2E2D29"/>
                </a:solidFill>
                <a:latin typeface="Calibri"/>
              </a:rPr>
              <a:t>RPA split</a:t>
            </a:r>
          </a:p>
        </p:txBody>
      </p:sp>
      <p:sp>
        <p:nvSpPr>
          <p:cNvPr id="24" name="Shape 228"/>
          <p:cNvSpPr txBox="1"/>
          <p:nvPr/>
        </p:nvSpPr>
        <p:spPr>
          <a:xfrm>
            <a:off x="2798064" y="2468880"/>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64%</a:t>
            </a:r>
          </a:p>
        </p:txBody>
      </p:sp>
      <p:sp>
        <p:nvSpPr>
          <p:cNvPr id="25" name="Shape 229"/>
          <p:cNvSpPr txBox="1"/>
          <p:nvPr/>
        </p:nvSpPr>
        <p:spPr>
          <a:xfrm>
            <a:off x="4581144" y="2468880"/>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83%</a:t>
            </a:r>
          </a:p>
        </p:txBody>
      </p:sp>
      <p:sp>
        <p:nvSpPr>
          <p:cNvPr id="26" name="Shape 230"/>
          <p:cNvSpPr txBox="1"/>
          <p:nvPr/>
        </p:nvSpPr>
        <p:spPr>
          <a:xfrm>
            <a:off x="6364224" y="2468880"/>
            <a:ext cx="2404872" cy="384048"/>
          </a:xfrm>
          <a:prstGeom prst="rect">
            <a:avLst/>
          </a:prstGeom>
          <a:noFill/>
        </p:spPr>
        <p:txBody>
          <a:bodyPr wrap="square" lIns="27432" tIns="0" rIns="27432" bIns="0" anchor="ctr">
            <a:spAutoFit/>
          </a:bodyPr>
          <a:lstStyle/>
          <a:p>
            <a:pPr algn="l"/>
            <a:r>
              <a:rPr sz="800" b="0" i="0">
                <a:solidFill>
                  <a:srgbClr val="6B6965"/>
                </a:solidFill>
                <a:latin typeface="Calibri"/>
              </a:rPr>
              <a:t>88%</a:t>
            </a:r>
          </a:p>
        </p:txBody>
      </p:sp>
      <p:sp>
        <p:nvSpPr>
          <p:cNvPr id="27" name="Shape 231"/>
          <p:cNvSpPr/>
          <p:nvPr/>
        </p:nvSpPr>
        <p:spPr>
          <a:xfrm>
            <a:off x="320040" y="2852928"/>
            <a:ext cx="8503920" cy="3840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hape 232"/>
          <p:cNvSpPr txBox="1"/>
          <p:nvPr/>
        </p:nvSpPr>
        <p:spPr>
          <a:xfrm>
            <a:off x="374904" y="2852928"/>
            <a:ext cx="2313432" cy="384048"/>
          </a:xfrm>
          <a:prstGeom prst="rect">
            <a:avLst/>
          </a:prstGeom>
          <a:noFill/>
        </p:spPr>
        <p:txBody>
          <a:bodyPr wrap="square" lIns="27432" tIns="0" rIns="27432" bIns="0" anchor="ctr">
            <a:spAutoFit/>
          </a:bodyPr>
          <a:lstStyle/>
          <a:p>
            <a:pPr algn="l"/>
            <a:r>
              <a:rPr sz="800" b="1" i="0">
                <a:solidFill>
                  <a:srgbClr val="2E2D29"/>
                </a:solidFill>
                <a:latin typeface="Calibri"/>
              </a:rPr>
              <a:t>RPA split error</a:t>
            </a:r>
          </a:p>
        </p:txBody>
      </p:sp>
      <p:sp>
        <p:nvSpPr>
          <p:cNvPr id="29" name="Shape 233"/>
          <p:cNvSpPr txBox="1"/>
          <p:nvPr/>
        </p:nvSpPr>
        <p:spPr>
          <a:xfrm>
            <a:off x="2798064" y="2852928"/>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0.0258</a:t>
            </a:r>
          </a:p>
        </p:txBody>
      </p:sp>
      <p:sp>
        <p:nvSpPr>
          <p:cNvPr id="30" name="Shape 234"/>
          <p:cNvSpPr txBox="1"/>
          <p:nvPr/>
        </p:nvSpPr>
        <p:spPr>
          <a:xfrm>
            <a:off x="4581144" y="2852928"/>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0.2130</a:t>
            </a:r>
          </a:p>
        </p:txBody>
      </p:sp>
      <p:sp>
        <p:nvSpPr>
          <p:cNvPr id="31" name="Shape 235"/>
          <p:cNvSpPr txBox="1"/>
          <p:nvPr/>
        </p:nvSpPr>
        <p:spPr>
          <a:xfrm>
            <a:off x="6364224" y="2852928"/>
            <a:ext cx="2404872" cy="384048"/>
          </a:xfrm>
          <a:prstGeom prst="rect">
            <a:avLst/>
          </a:prstGeom>
          <a:noFill/>
        </p:spPr>
        <p:txBody>
          <a:bodyPr wrap="square" lIns="27432" tIns="0" rIns="27432" bIns="0" anchor="ctr">
            <a:spAutoFit/>
          </a:bodyPr>
          <a:lstStyle/>
          <a:p>
            <a:pPr algn="l"/>
            <a:r>
              <a:rPr sz="800" b="0" i="0">
                <a:solidFill>
                  <a:srgbClr val="6B6965"/>
                </a:solidFill>
                <a:latin typeface="Calibri"/>
              </a:rPr>
              <a:t>≤ 0.02</a:t>
            </a:r>
          </a:p>
        </p:txBody>
      </p:sp>
      <p:sp>
        <p:nvSpPr>
          <p:cNvPr id="32" name="Shape 236"/>
          <p:cNvSpPr txBox="1"/>
          <p:nvPr/>
        </p:nvSpPr>
        <p:spPr>
          <a:xfrm>
            <a:off x="374904" y="3236976"/>
            <a:ext cx="2313432" cy="384048"/>
          </a:xfrm>
          <a:prstGeom prst="rect">
            <a:avLst/>
          </a:prstGeom>
          <a:noFill/>
        </p:spPr>
        <p:txBody>
          <a:bodyPr wrap="square" lIns="27432" tIns="0" rIns="27432" bIns="0" anchor="ctr">
            <a:spAutoFit/>
          </a:bodyPr>
          <a:lstStyle/>
          <a:p>
            <a:pPr algn="l"/>
            <a:r>
              <a:rPr sz="800" b="1" i="0">
                <a:solidFill>
                  <a:srgbClr val="2E2D29"/>
                </a:solidFill>
                <a:latin typeface="Calibri"/>
              </a:rPr>
              <a:t>Composite score</a:t>
            </a:r>
          </a:p>
        </p:txBody>
      </p:sp>
      <p:sp>
        <p:nvSpPr>
          <p:cNvPr id="33" name="Shape 237"/>
          <p:cNvSpPr txBox="1"/>
          <p:nvPr/>
        </p:nvSpPr>
        <p:spPr>
          <a:xfrm>
            <a:off x="2798064" y="3236976"/>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82.82</a:t>
            </a:r>
          </a:p>
        </p:txBody>
      </p:sp>
      <p:sp>
        <p:nvSpPr>
          <p:cNvPr id="34" name="Shape 238"/>
          <p:cNvSpPr txBox="1"/>
          <p:nvPr/>
        </p:nvSpPr>
        <p:spPr>
          <a:xfrm>
            <a:off x="4581144" y="3236976"/>
            <a:ext cx="1673352" cy="384048"/>
          </a:xfrm>
          <a:prstGeom prst="rect">
            <a:avLst/>
          </a:prstGeom>
          <a:noFill/>
        </p:spPr>
        <p:txBody>
          <a:bodyPr wrap="square" lIns="27432" tIns="0" rIns="27432" bIns="0" anchor="ctr">
            <a:spAutoFit/>
          </a:bodyPr>
          <a:lstStyle/>
          <a:p>
            <a:pPr algn="l"/>
            <a:r>
              <a:rPr sz="800" b="0" i="0">
                <a:solidFill>
                  <a:srgbClr val="6B6965"/>
                </a:solidFill>
                <a:latin typeface="Calibri"/>
              </a:rPr>
              <a:t>167.88</a:t>
            </a:r>
          </a:p>
        </p:txBody>
      </p:sp>
      <p:sp>
        <p:nvSpPr>
          <p:cNvPr id="35" name="Shape 239"/>
          <p:cNvSpPr txBox="1"/>
          <p:nvPr/>
        </p:nvSpPr>
        <p:spPr>
          <a:xfrm>
            <a:off x="6364224" y="3236976"/>
            <a:ext cx="2404872" cy="384048"/>
          </a:xfrm>
          <a:prstGeom prst="rect">
            <a:avLst/>
          </a:prstGeom>
          <a:noFill/>
        </p:spPr>
        <p:txBody>
          <a:bodyPr wrap="square" lIns="27432" tIns="0" rIns="27432" bIns="0" anchor="ctr">
            <a:spAutoFit/>
          </a:bodyPr>
          <a:lstStyle/>
          <a:p>
            <a:pPr algn="l"/>
            <a:r>
              <a:rPr sz="800" b="0" i="0">
                <a:solidFill>
                  <a:srgbClr val="6B6965"/>
                </a:solidFill>
                <a:latin typeface="Calibri"/>
              </a:rPr>
              <a:t>Must not worsen</a:t>
            </a:r>
          </a:p>
        </p:txBody>
      </p:sp>
      <p:sp>
        <p:nvSpPr>
          <p:cNvPr id="36" name="Shape 240"/>
          <p:cNvSpPr/>
          <p:nvPr/>
        </p:nvSpPr>
        <p:spPr>
          <a:xfrm>
            <a:off x="320040" y="3785616"/>
            <a:ext cx="8503920" cy="8412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hape 241"/>
          <p:cNvSpPr txBox="1"/>
          <p:nvPr/>
        </p:nvSpPr>
        <p:spPr>
          <a:xfrm>
            <a:off x="448056" y="3886200"/>
            <a:ext cx="3657600" cy="219456"/>
          </a:xfrm>
          <a:prstGeom prst="rect">
            <a:avLst/>
          </a:prstGeom>
          <a:noFill/>
        </p:spPr>
        <p:txBody>
          <a:bodyPr wrap="square" lIns="27432" tIns="0" rIns="27432" bIns="0" anchor="t">
            <a:spAutoFit/>
          </a:bodyPr>
          <a:lstStyle/>
          <a:p>
            <a:pPr algn="l"/>
            <a:r>
              <a:rPr sz="1100" b="1" i="0">
                <a:solidFill>
                  <a:srgbClr val="E98300"/>
                </a:solidFill>
                <a:latin typeface="Calibri"/>
              </a:rPr>
              <a:t>Next steps</a:t>
            </a:r>
          </a:p>
        </p:txBody>
      </p:sp>
      <p:sp>
        <p:nvSpPr>
          <p:cNvPr id="38" name="Shape 242"/>
          <p:cNvSpPr txBox="1"/>
          <p:nvPr/>
        </p:nvSpPr>
        <p:spPr>
          <a:xfrm>
            <a:off x="448056" y="4151376"/>
            <a:ext cx="8247888" cy="420624"/>
          </a:xfrm>
          <a:prstGeom prst="rect">
            <a:avLst/>
          </a:prstGeom>
          <a:noFill/>
        </p:spPr>
        <p:txBody>
          <a:bodyPr wrap="square" lIns="27432" tIns="0" rIns="27432" bIns="0">
            <a:spAutoFit/>
          </a:bodyPr>
          <a:lstStyle/>
          <a:p>
            <a:pPr>
              <a:spcAft>
                <a:spcPts val="350"/>
              </a:spcAft>
            </a:pPr>
            <a:r>
              <a:rPr sz="950">
                <a:solidFill>
                  <a:srgbClr val="E98300"/>
                </a:solidFill>
                <a:latin typeface="Calibri"/>
              </a:rPr>
              <a:t>• </a:t>
            </a:r>
            <a:r>
              <a:rPr sz="950">
                <a:solidFill>
                  <a:srgbClr val="2E2D29"/>
                </a:solidFill>
                <a:latin typeface="Calibri"/>
              </a:rPr>
              <a:t>Calibrate the junction coefficients, which the present fit leaves out</a:t>
            </a:r>
          </a:p>
          <a:p>
            <a:pPr>
              <a:spcAft>
                <a:spcPts val="350"/>
              </a:spcAft>
            </a:pPr>
            <a:r>
              <a:rPr sz="950">
                <a:solidFill>
                  <a:srgbClr val="E98300"/>
                </a:solidFill>
                <a:latin typeface="Calibri"/>
              </a:rPr>
              <a:t>• </a:t>
            </a:r>
            <a:r>
              <a:rPr sz="950">
                <a:solidFill>
                  <a:srgbClr val="2E2D29"/>
                </a:solidFill>
                <a:latin typeface="Calibri"/>
              </a:rPr>
              <a:t>Seed the calibrator with learnedZeroD output rather than analytic values</a:t>
            </a:r>
          </a:p>
        </p:txBody>
      </p:sp>
      <p:sp>
        <p:nvSpPr>
          <p:cNvPr id="39" name="Shape 243"/>
          <p:cNvSpPr/>
          <p:nvPr/>
        </p:nvSpPr>
        <p:spPr>
          <a:xfrm>
            <a:off x="320040" y="475488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hape 244"/>
          <p:cNvSpPr txBox="1"/>
          <p:nvPr/>
        </p:nvSpPr>
        <p:spPr>
          <a:xfrm>
            <a:off x="429768" y="4754880"/>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Tuning converges, but the calibrated 0D model is no closer to the 3D result.</a:t>
            </a:r>
          </a:p>
        </p:txBody>
      </p:sp>
      <p:sp>
        <p:nvSpPr>
          <p:cNvPr id="41" name="Shape 245"/>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Archived 2026-10-22. Replaced by: svZeroDCalibrator refits the full 0D model to 3D. Reason: Exploratory calibration of the GUI branched model, superseded by the learnedZeroD seed.</a:t>
            </a:r>
          </a:p>
        </p:txBody>
      </p:sp>
    </p:spTree>
    <p:extLst>
      <p:ext uri="{BB962C8B-B14F-4D97-AF65-F5344CB8AC3E}">
        <p14:creationId xmlns:p14="http://schemas.microsoft.com/office/powerpoint/2010/main" val="3017798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Pre-operative MPA waveforms across the cohort</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pic>
        <p:nvPicPr>
          <p:cNvPr id="12" name="Picture 18" descr="preop_waveforms_cohort.png"/>
          <p:cNvPicPr>
            <a:picLocks noChangeAspect="1"/>
          </p:cNvPicPr>
          <p:nvPr/>
        </p:nvPicPr>
        <p:blipFill>
          <a:blip r:embed="rId2"/>
          <a:stretch>
            <a:fillRect/>
          </a:stretch>
        </p:blipFill>
        <p:spPr>
          <a:xfrm>
            <a:off x="1530291" y="1371600"/>
            <a:ext cx="2517257" cy="3611880"/>
          </a:xfrm>
          <a:prstGeom prst="rect">
            <a:avLst/>
          </a:prstGeom>
        </p:spPr>
      </p:pic>
      <p:sp>
        <p:nvSpPr>
          <p:cNvPr id="13" name="TextBox 19"/>
          <p:cNvSpPr txBox="1"/>
          <p:nvPr/>
        </p:nvSpPr>
        <p:spPr>
          <a:xfrm>
            <a:off x="320040" y="5020056"/>
            <a:ext cx="4937760" cy="201168"/>
          </a:xfrm>
          <a:prstGeom prst="rect">
            <a:avLst/>
          </a:prstGeom>
          <a:noFill/>
        </p:spPr>
        <p:txBody>
          <a:bodyPr wrap="square" lIns="27432" tIns="0" rIns="27432" bIns="0" anchor="t">
            <a:spAutoFit/>
          </a:bodyPr>
          <a:lstStyle/>
          <a:p>
            <a:pPr algn="ctr"/>
            <a:r>
              <a:rPr sz="850" b="0" i="1">
                <a:solidFill>
                  <a:srgbClr val="6B6965"/>
                </a:solidFill>
                <a:latin typeface="Calibri"/>
              </a:rPr>
              <a:t>Final-period MPA pressure waveforms, all patients (historical RRI-era BCs)</a:t>
            </a:r>
          </a:p>
        </p:txBody>
      </p:sp>
      <p:sp>
        <p:nvSpPr>
          <p:cNvPr id="14" name="Rectangle 20"/>
          <p:cNvSpPr/>
          <p:nvPr/>
        </p:nvSpPr>
        <p:spPr>
          <a:xfrm>
            <a:off x="5577840" y="1371600"/>
            <a:ext cx="3246120" cy="157276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21"/>
          <p:cNvSpPr txBox="1"/>
          <p:nvPr/>
        </p:nvSpPr>
        <p:spPr>
          <a:xfrm>
            <a:off x="5705855" y="1472184"/>
            <a:ext cx="2990087" cy="219456"/>
          </a:xfrm>
          <a:prstGeom prst="rect">
            <a:avLst/>
          </a:prstGeom>
          <a:noFill/>
        </p:spPr>
        <p:txBody>
          <a:bodyPr wrap="square" lIns="27432" tIns="0" rIns="27432" bIns="0" anchor="t">
            <a:spAutoFit/>
          </a:bodyPr>
          <a:lstStyle/>
          <a:p>
            <a:pPr algn="l"/>
            <a:r>
              <a:rPr sz="1100" b="1" i="0">
                <a:solidFill>
                  <a:srgbClr val="279989"/>
                </a:solidFill>
                <a:latin typeface="Calibri"/>
              </a:rPr>
              <a:t>What matches well</a:t>
            </a:r>
          </a:p>
        </p:txBody>
      </p:sp>
      <p:sp>
        <p:nvSpPr>
          <p:cNvPr id="16" name="TextBox 22"/>
          <p:cNvSpPr txBox="1"/>
          <p:nvPr/>
        </p:nvSpPr>
        <p:spPr>
          <a:xfrm>
            <a:off x="5705855" y="1746504"/>
            <a:ext cx="2990087" cy="1161288"/>
          </a:xfrm>
          <a:prstGeom prst="rect">
            <a:avLst/>
          </a:prstGeom>
          <a:noFill/>
        </p:spPr>
        <p:txBody>
          <a:bodyPr wrap="square" lIns="27432" tIns="0" rIns="27432" bIns="0">
            <a:spAutoFit/>
          </a:bodyPr>
          <a:lstStyle/>
          <a:p>
            <a:pPr>
              <a:spcAft>
                <a:spcPts val="350"/>
              </a:spcAft>
            </a:pPr>
            <a:r>
              <a:rPr sz="950">
                <a:solidFill>
                  <a:srgbClr val="279989"/>
                </a:solidFill>
                <a:latin typeface="Calibri"/>
              </a:rPr>
              <a:t>• </a:t>
            </a:r>
            <a:r>
              <a:rPr sz="950">
                <a:solidFill>
                  <a:srgbClr val="2E2D29"/>
                </a:solidFill>
                <a:latin typeface="Calibri"/>
              </a:rPr>
              <a:t>Cycle-mean pressure</a:t>
            </a:r>
          </a:p>
          <a:p>
            <a:pPr>
              <a:spcAft>
                <a:spcPts val="350"/>
              </a:spcAft>
            </a:pPr>
            <a:r>
              <a:rPr sz="950">
                <a:solidFill>
                  <a:srgbClr val="279989"/>
                </a:solidFill>
                <a:latin typeface="Calibri"/>
              </a:rPr>
              <a:t>• </a:t>
            </a:r>
            <a:r>
              <a:rPr sz="950">
                <a:solidFill>
                  <a:srgbClr val="2E2D29"/>
                </a:solidFill>
                <a:latin typeface="Calibri"/>
              </a:rPr>
              <a:t>RPA / LPA flow split</a:t>
            </a:r>
          </a:p>
          <a:p>
            <a:pPr>
              <a:spcAft>
                <a:spcPts val="350"/>
              </a:spcAft>
            </a:pPr>
            <a:r>
              <a:rPr sz="950">
                <a:solidFill>
                  <a:srgbClr val="279989"/>
                </a:solidFill>
                <a:latin typeface="Calibri"/>
              </a:rPr>
              <a:t>• </a:t>
            </a:r>
            <a:r>
              <a:rPr sz="950">
                <a:solidFill>
                  <a:srgbClr val="2E2D29"/>
                </a:solidFill>
                <a:latin typeface="Calibri"/>
              </a:rPr>
              <a:t>Overall waveform morphology</a:t>
            </a:r>
          </a:p>
        </p:txBody>
      </p:sp>
      <p:sp>
        <p:nvSpPr>
          <p:cNvPr id="17" name="Rectangle 23"/>
          <p:cNvSpPr/>
          <p:nvPr/>
        </p:nvSpPr>
        <p:spPr>
          <a:xfrm>
            <a:off x="5577840" y="3090672"/>
            <a:ext cx="3246120" cy="1874519"/>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24"/>
          <p:cNvSpPr txBox="1"/>
          <p:nvPr/>
        </p:nvSpPr>
        <p:spPr>
          <a:xfrm>
            <a:off x="5705855" y="3191256"/>
            <a:ext cx="1847087" cy="219456"/>
          </a:xfrm>
          <a:prstGeom prst="rect">
            <a:avLst/>
          </a:prstGeom>
          <a:noFill/>
        </p:spPr>
        <p:txBody>
          <a:bodyPr wrap="square" lIns="27432" tIns="0" rIns="27432" bIns="0" anchor="t">
            <a:spAutoFit/>
          </a:bodyPr>
          <a:lstStyle/>
          <a:p>
            <a:pPr algn="l"/>
            <a:r>
              <a:rPr sz="1100" b="1" i="0">
                <a:solidFill>
                  <a:srgbClr val="E98300"/>
                </a:solidFill>
                <a:latin typeface="Calibri"/>
              </a:rPr>
              <a:t>What does not</a:t>
            </a:r>
          </a:p>
        </p:txBody>
      </p:sp>
      <p:sp>
        <p:nvSpPr>
          <p:cNvPr id="19" name="Rectangle 25"/>
          <p:cNvSpPr/>
          <p:nvPr/>
        </p:nvSpPr>
        <p:spPr>
          <a:xfrm>
            <a:off x="7580375" y="3200399"/>
            <a:ext cx="1097280" cy="173736"/>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6"/>
          <p:cNvSpPr txBox="1"/>
          <p:nvPr/>
        </p:nvSpPr>
        <p:spPr>
          <a:xfrm>
            <a:off x="7580375" y="3200399"/>
            <a:ext cx="1097280" cy="173736"/>
          </a:xfrm>
          <a:prstGeom prst="rect">
            <a:avLst/>
          </a:prstGeom>
          <a:noFill/>
        </p:spPr>
        <p:txBody>
          <a:bodyPr wrap="square" lIns="18288" tIns="0" rIns="18288" bIns="0" anchor="ctr">
            <a:spAutoFit/>
          </a:bodyPr>
          <a:lstStyle/>
          <a:p>
            <a:pPr algn="ctr"/>
            <a:r>
              <a:rPr sz="600" b="1">
                <a:solidFill>
                  <a:srgbClr val="FFFFFF"/>
                </a:solidFill>
                <a:latin typeface="Calibri"/>
              </a:rPr>
              <a:t>IN DEVELOPMENT</a:t>
            </a:r>
          </a:p>
        </p:txBody>
      </p:sp>
      <p:sp>
        <p:nvSpPr>
          <p:cNvPr id="21" name="TextBox 27"/>
          <p:cNvSpPr txBox="1"/>
          <p:nvPr/>
        </p:nvSpPr>
        <p:spPr>
          <a:xfrm>
            <a:off x="5705855" y="3465575"/>
            <a:ext cx="2990087" cy="1463039"/>
          </a:xfrm>
          <a:prstGeom prst="rect">
            <a:avLst/>
          </a:prstGeom>
          <a:noFill/>
        </p:spPr>
        <p:txBody>
          <a:bodyPr wrap="square" lIns="27432" tIns="0" rIns="27432" bIns="0">
            <a:spAutoFit/>
          </a:bodyPr>
          <a:lstStyle/>
          <a:p>
            <a:pPr>
              <a:spcAft>
                <a:spcPts val="350"/>
              </a:spcAft>
            </a:pPr>
            <a:r>
              <a:rPr sz="950">
                <a:solidFill>
                  <a:srgbClr val="E98300"/>
                </a:solidFill>
                <a:latin typeface="Calibri"/>
              </a:rPr>
              <a:t>• </a:t>
            </a:r>
            <a:r>
              <a:rPr sz="950">
                <a:solidFill>
                  <a:srgbClr val="2E2D29"/>
                </a:solidFill>
                <a:latin typeface="Calibri"/>
              </a:rPr>
              <a:t>Systolic peak in patients with a large proximal pressure drop</a:t>
            </a:r>
          </a:p>
          <a:p>
            <a:pPr>
              <a:spcAft>
                <a:spcPts val="350"/>
              </a:spcAft>
            </a:pPr>
            <a:r>
              <a:rPr sz="950">
                <a:solidFill>
                  <a:srgbClr val="E98300"/>
                </a:solidFill>
                <a:latin typeface="Calibri"/>
              </a:rPr>
              <a:t>• </a:t>
            </a:r>
            <a:r>
              <a:rPr sz="950">
                <a:solidFill>
                  <a:srgbClr val="2E2D29"/>
                </a:solidFill>
                <a:latin typeface="Calibri"/>
              </a:rPr>
              <a:t>In TST-STAN-1 and -5 no parameter set satisfies systolic and diastolic targets at once</a:t>
            </a:r>
          </a:p>
          <a:p>
            <a:pPr>
              <a:spcAft>
                <a:spcPts val="350"/>
              </a:spcAft>
            </a:pPr>
            <a:r>
              <a:rPr sz="950">
                <a:solidFill>
                  <a:srgbClr val="E98300"/>
                </a:solidFill>
                <a:latin typeface="Calibri"/>
              </a:rPr>
              <a:t>• </a:t>
            </a:r>
            <a:r>
              <a:rPr sz="950">
                <a:solidFill>
                  <a:srgbClr val="2E2D29"/>
                </a:solidFill>
                <a:latin typeface="Calibri"/>
              </a:rPr>
              <a:t>This observation is what motivated moving the whole pipeline to deformable-wall CMM</a:t>
            </a:r>
          </a:p>
        </p:txBody>
      </p:sp>
      <p:sp>
        <p:nvSpPr>
          <p:cNvPr id="22"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Iteration 1: 3D pulse pressure against the catheter. Reason: RRI-era waveforms, two steps back.</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dirty="0">
                <a:solidFill>
                  <a:srgbClr val="8C1515"/>
                </a:solidFill>
                <a:latin typeface="Georgia"/>
              </a:rPr>
              <a:t>Tuned BCs reproduce the pre-operative targets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pic>
        <p:nvPicPr>
          <p:cNvPr id="12" name="Picture 18" descr="calib_scatter.png"/>
          <p:cNvPicPr>
            <a:picLocks noChangeAspect="1"/>
          </p:cNvPicPr>
          <p:nvPr/>
        </p:nvPicPr>
        <p:blipFill>
          <a:blip r:embed="rId2"/>
          <a:stretch>
            <a:fillRect/>
          </a:stretch>
        </p:blipFill>
        <p:spPr>
          <a:xfrm>
            <a:off x="701422" y="1389888"/>
            <a:ext cx="3854955" cy="3310128"/>
          </a:xfrm>
          <a:prstGeom prst="rect">
            <a:avLst/>
          </a:prstGeom>
        </p:spPr>
      </p:pic>
      <p:sp>
        <p:nvSpPr>
          <p:cNvPr id="13" name="TextBox 19"/>
          <p:cNvSpPr txBox="1"/>
          <p:nvPr/>
        </p:nvSpPr>
        <p:spPr>
          <a:xfrm>
            <a:off x="320040" y="4736592"/>
            <a:ext cx="4617720" cy="201168"/>
          </a:xfrm>
          <a:prstGeom prst="rect">
            <a:avLst/>
          </a:prstGeom>
          <a:noFill/>
        </p:spPr>
        <p:txBody>
          <a:bodyPr wrap="square" lIns="27432" tIns="0" rIns="27432" bIns="0" anchor="t">
            <a:spAutoFit/>
          </a:bodyPr>
          <a:lstStyle/>
          <a:p>
            <a:pPr algn="ctr"/>
            <a:r>
              <a:rPr sz="850" b="0" i="1">
                <a:solidFill>
                  <a:srgbClr val="6B6965"/>
                </a:solidFill>
                <a:latin typeface="Calibri"/>
              </a:rPr>
              <a:t>Calibration targets vs. simulated pre-operative values</a:t>
            </a:r>
          </a:p>
        </p:txBody>
      </p:sp>
      <p:pic>
        <p:nvPicPr>
          <p:cNvPr id="14" name="Picture 20" descr="calib_table.png"/>
          <p:cNvPicPr>
            <a:picLocks noChangeAspect="1"/>
          </p:cNvPicPr>
          <p:nvPr/>
        </p:nvPicPr>
        <p:blipFill>
          <a:blip r:embed="rId3"/>
          <a:stretch>
            <a:fillRect/>
          </a:stretch>
        </p:blipFill>
        <p:spPr>
          <a:xfrm>
            <a:off x="5120640" y="1689768"/>
            <a:ext cx="3703320" cy="1503358"/>
          </a:xfrm>
          <a:prstGeom prst="rect">
            <a:avLst/>
          </a:prstGeom>
        </p:spPr>
      </p:pic>
      <p:sp>
        <p:nvSpPr>
          <p:cNvPr id="15" name="TextBox 21"/>
          <p:cNvSpPr txBox="1"/>
          <p:nvPr/>
        </p:nvSpPr>
        <p:spPr>
          <a:xfrm>
            <a:off x="5120640" y="3529584"/>
            <a:ext cx="3703320" cy="201168"/>
          </a:xfrm>
          <a:prstGeom prst="rect">
            <a:avLst/>
          </a:prstGeom>
          <a:noFill/>
        </p:spPr>
        <p:txBody>
          <a:bodyPr wrap="square" lIns="27432" tIns="0" rIns="27432" bIns="0" anchor="t">
            <a:spAutoFit/>
          </a:bodyPr>
          <a:lstStyle/>
          <a:p>
            <a:pPr algn="ctr"/>
            <a:r>
              <a:rPr sz="850" b="0" i="1">
                <a:solidFill>
                  <a:srgbClr val="6B6965"/>
                </a:solidFill>
                <a:latin typeface="Calibri"/>
              </a:rPr>
              <a:t>Calibration quality summary by patient</a:t>
            </a:r>
          </a:p>
        </p:txBody>
      </p:sp>
      <p:sp>
        <p:nvSpPr>
          <p:cNvPr id="16" name="Rectangle 22"/>
          <p:cNvSpPr/>
          <p:nvPr/>
        </p:nvSpPr>
        <p:spPr>
          <a:xfrm>
            <a:off x="5120640" y="3749039"/>
            <a:ext cx="3703320" cy="9601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23"/>
          <p:cNvSpPr txBox="1"/>
          <p:nvPr/>
        </p:nvSpPr>
        <p:spPr>
          <a:xfrm>
            <a:off x="5248655" y="3849624"/>
            <a:ext cx="3447287" cy="219456"/>
          </a:xfrm>
          <a:prstGeom prst="rect">
            <a:avLst/>
          </a:prstGeom>
          <a:noFill/>
        </p:spPr>
        <p:txBody>
          <a:bodyPr wrap="square" lIns="27432" tIns="0" rIns="27432" bIns="0" anchor="t">
            <a:spAutoFit/>
          </a:bodyPr>
          <a:lstStyle/>
          <a:p>
            <a:pPr algn="l"/>
            <a:r>
              <a:rPr sz="1100" b="1" i="0">
                <a:solidFill>
                  <a:srgbClr val="8C1515"/>
                </a:solidFill>
                <a:latin typeface="Calibri"/>
              </a:rPr>
              <a:t>Reading the result</a:t>
            </a:r>
          </a:p>
        </p:txBody>
      </p:sp>
      <p:sp>
        <p:nvSpPr>
          <p:cNvPr id="18" name="TextBox 24"/>
          <p:cNvSpPr txBox="1"/>
          <p:nvPr/>
        </p:nvSpPr>
        <p:spPr>
          <a:xfrm>
            <a:off x="5248655" y="4123944"/>
            <a:ext cx="3447287" cy="518091"/>
          </a:xfrm>
          <a:prstGeom prst="rect">
            <a:avLst/>
          </a:prstGeom>
          <a:noFill/>
        </p:spPr>
        <p:txBody>
          <a:bodyPr wrap="square" lIns="27432" tIns="0" rIns="27432" bIns="0">
            <a:spAutoFit/>
          </a:bodyPr>
          <a:lstStyle/>
          <a:p>
            <a:pPr marL="171450" indent="-171450">
              <a:spcAft>
                <a:spcPts val="350"/>
              </a:spcAft>
              <a:buFontTx/>
              <a:buChar char="-"/>
            </a:pPr>
            <a:r>
              <a:rPr lang="en-US" sz="900" dirty="0">
                <a:solidFill>
                  <a:srgbClr val="2E2D29"/>
                </a:solidFill>
                <a:latin typeface="Calibri"/>
              </a:rPr>
              <a:t>systolic pressure calibrates reliably</a:t>
            </a:r>
          </a:p>
          <a:p>
            <a:pPr marL="171450" indent="-171450">
              <a:spcAft>
                <a:spcPts val="350"/>
              </a:spcAft>
              <a:buFontTx/>
              <a:buChar char="-"/>
            </a:pPr>
            <a:r>
              <a:rPr lang="en-US" sz="900" dirty="0">
                <a:solidFill>
                  <a:srgbClr val="2E2D29"/>
                </a:solidFill>
                <a:latin typeface="Calibri"/>
              </a:rPr>
              <a:t>mean pressure needs improvement across the board</a:t>
            </a:r>
          </a:p>
          <a:p>
            <a:pPr marL="171450" indent="-171450">
              <a:spcAft>
                <a:spcPts val="350"/>
              </a:spcAft>
              <a:buFontTx/>
              <a:buChar char="-"/>
            </a:pPr>
            <a:r>
              <a:rPr lang="en-US" sz="900" dirty="0">
                <a:solidFill>
                  <a:srgbClr val="2E2D29"/>
                </a:solidFill>
                <a:latin typeface="Calibri"/>
              </a:rPr>
              <a:t>RPA flow split mismatch in patient 2 only</a:t>
            </a:r>
          </a:p>
        </p:txBody>
      </p:sp>
      <p:sp>
        <p:nvSpPr>
          <p:cNvPr id="19" name="Rectangle 25"/>
          <p:cNvSpPr/>
          <p:nvPr/>
        </p:nvSpPr>
        <p:spPr>
          <a:xfrm>
            <a:off x="320040" y="4846320"/>
            <a:ext cx="46177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6"/>
          <p:cNvSpPr txBox="1"/>
          <p:nvPr/>
        </p:nvSpPr>
        <p:spPr>
          <a:xfrm>
            <a:off x="429768" y="4846320"/>
            <a:ext cx="4398264" cy="310896"/>
          </a:xfrm>
          <a:prstGeom prst="rect">
            <a:avLst/>
          </a:prstGeom>
          <a:noFill/>
        </p:spPr>
        <p:txBody>
          <a:bodyPr wrap="square" lIns="27432" tIns="0" rIns="27432" bIns="0" anchor="ctr">
            <a:spAutoFit/>
          </a:bodyPr>
          <a:lstStyle/>
          <a:p>
            <a:pPr algn="l"/>
            <a:r>
              <a:rPr sz="1000" b="1" i="0">
                <a:solidFill>
                  <a:srgbClr val="8C1515"/>
                </a:solidFill>
                <a:latin typeface="Calibri"/>
              </a:rPr>
              <a:t>Four of five patients calibrate; TST-STAN-2 remains open.</a:t>
            </a:r>
          </a:p>
        </p:txBody>
      </p:sp>
      <p:sp>
        <p:nvSpPr>
          <p:cNvPr id="21" name="Rectangle 28">
            <a:extLst>
              <a:ext uri="{FF2B5EF4-FFF2-40B4-BE49-F238E27FC236}">
                <a16:creationId xmlns:a16="http://schemas.microsoft.com/office/drawing/2014/main" id="{96C99220-BF3E-53BE-869D-EBD850F79844}"/>
              </a:ext>
            </a:extLst>
          </p:cNvPr>
          <p:cNvSpPr/>
          <p:nvPr/>
        </p:nvSpPr>
        <p:spPr>
          <a:xfrm>
            <a:off x="5120639" y="4844366"/>
            <a:ext cx="3703319" cy="310895"/>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9">
            <a:extLst>
              <a:ext uri="{FF2B5EF4-FFF2-40B4-BE49-F238E27FC236}">
                <a16:creationId xmlns:a16="http://schemas.microsoft.com/office/drawing/2014/main" id="{4EC75283-48B6-B593-011A-B16999F88E9E}"/>
              </a:ext>
            </a:extLst>
          </p:cNvPr>
          <p:cNvSpPr txBox="1"/>
          <p:nvPr/>
        </p:nvSpPr>
        <p:spPr>
          <a:xfrm>
            <a:off x="5120639" y="4861314"/>
            <a:ext cx="3703319" cy="276999"/>
          </a:xfrm>
          <a:prstGeom prst="rect">
            <a:avLst/>
          </a:prstGeom>
          <a:noFill/>
        </p:spPr>
        <p:txBody>
          <a:bodyPr wrap="square" lIns="18288" tIns="0" rIns="18288" bIns="0" anchor="ctr">
            <a:spAutoFit/>
          </a:bodyPr>
          <a:lstStyle/>
          <a:p>
            <a:pPr algn="ctr"/>
            <a:r>
              <a:rPr lang="en-US" sz="900" b="1" dirty="0">
                <a:solidFill>
                  <a:srgbClr val="FFFFFF"/>
                </a:solidFill>
                <a:latin typeface="Calibri"/>
              </a:rPr>
              <a:t>Historical: two-branch RRI, k₃ = 0, s = 0.1 BCs. The cohort is being re-tuned with the physiological model (slides 41–43).</a:t>
            </a:r>
            <a:endParaRPr sz="900" b="1" dirty="0">
              <a:solidFill>
                <a:srgbClr val="FFFFFF"/>
              </a:solidFill>
              <a:latin typeface="Calibri"/>
            </a:endParaRPr>
          </a:p>
        </p:txBody>
      </p:sp>
      <p:sp>
        <p:nvSpPr>
          <p:cNvPr id="23"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Iteration 1: 3D pulse pressure against the catheter. Reason: Two-branch RRI results, two steps back.</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Complete tuning pipeline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316736"/>
            <a:ext cx="2103120" cy="292608"/>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50" b="1" i="0">
                <a:solidFill>
                  <a:srgbClr val="FFFFFF"/>
                </a:solidFill>
                <a:latin typeface="Calibri"/>
              </a:rPr>
              <a:t>Patient inputs</a:t>
            </a:r>
          </a:p>
        </p:txBody>
      </p:sp>
      <p:sp>
        <p:nvSpPr>
          <p:cNvPr id="13" name="Rectangle 19"/>
          <p:cNvSpPr/>
          <p:nvPr/>
        </p:nvSpPr>
        <p:spPr>
          <a:xfrm>
            <a:off x="320040" y="1609344"/>
            <a:ext cx="2103120" cy="298094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4" name="Rectangle 20"/>
          <p:cNvSpPr/>
          <p:nvPr/>
        </p:nvSpPr>
        <p:spPr>
          <a:xfrm>
            <a:off x="429768" y="1700784"/>
            <a:ext cx="1883663"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0" i="0">
                <a:solidFill>
                  <a:srgbClr val="2E2D29"/>
                </a:solidFill>
                <a:latin typeface="Calibri"/>
              </a:rPr>
              <a:t>3D mesh + centerlines</a:t>
            </a:r>
          </a:p>
        </p:txBody>
      </p:sp>
      <p:sp>
        <p:nvSpPr>
          <p:cNvPr id="15" name="Rectangle 21"/>
          <p:cNvSpPr/>
          <p:nvPr/>
        </p:nvSpPr>
        <p:spPr>
          <a:xfrm>
            <a:off x="429768" y="2176272"/>
            <a:ext cx="1883663"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0" i="0">
                <a:solidFill>
                  <a:srgbClr val="2E2D29"/>
                </a:solidFill>
                <a:latin typeface="Calibri"/>
              </a:rPr>
              <a:t>MRI MPA inflow</a:t>
            </a:r>
          </a:p>
        </p:txBody>
      </p:sp>
      <p:sp>
        <p:nvSpPr>
          <p:cNvPr id="16" name="Rectangle 22"/>
          <p:cNvSpPr/>
          <p:nvPr/>
        </p:nvSpPr>
        <p:spPr>
          <a:xfrm>
            <a:off x="429768" y="2651760"/>
            <a:ext cx="1883663"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0" i="0">
                <a:solidFill>
                  <a:srgbClr val="2E2D29"/>
                </a:solidFill>
                <a:latin typeface="Calibri"/>
              </a:rPr>
              <a:t>Cath MPA sys / dia / mean</a:t>
            </a:r>
          </a:p>
        </p:txBody>
      </p:sp>
      <p:sp>
        <p:nvSpPr>
          <p:cNvPr id="17" name="Rectangle 23"/>
          <p:cNvSpPr/>
          <p:nvPr/>
        </p:nvSpPr>
        <p:spPr>
          <a:xfrm>
            <a:off x="429768" y="3127248"/>
            <a:ext cx="1883663"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0" i="0">
                <a:solidFill>
                  <a:srgbClr val="2E2D29"/>
                </a:solidFill>
                <a:latin typeface="Calibri"/>
              </a:rPr>
              <a:t>RPA split (perfusion)</a:t>
            </a:r>
          </a:p>
        </p:txBody>
      </p:sp>
      <p:sp>
        <p:nvSpPr>
          <p:cNvPr id="18" name="Rectangle 24"/>
          <p:cNvSpPr/>
          <p:nvPr/>
        </p:nvSpPr>
        <p:spPr>
          <a:xfrm>
            <a:off x="429768" y="3602736"/>
            <a:ext cx="1883663"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0" i="0">
                <a:solidFill>
                  <a:srgbClr val="2E2D29"/>
                </a:solidFill>
                <a:latin typeface="Calibri"/>
              </a:rPr>
              <a:t>PCWP, PR grade → Pd policy</a:t>
            </a:r>
          </a:p>
        </p:txBody>
      </p:sp>
      <p:sp>
        <p:nvSpPr>
          <p:cNvPr id="19" name="Rectangle 25"/>
          <p:cNvSpPr/>
          <p:nvPr/>
        </p:nvSpPr>
        <p:spPr>
          <a:xfrm>
            <a:off x="429768" y="4078224"/>
            <a:ext cx="1883663"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0" i="0">
                <a:solidFill>
                  <a:srgbClr val="2E2D29"/>
                </a:solidFill>
                <a:latin typeface="Calibri"/>
              </a:rPr>
              <a:t>learnedZeroD seed (it. 1)</a:t>
            </a:r>
          </a:p>
        </p:txBody>
      </p:sp>
      <p:sp>
        <p:nvSpPr>
          <p:cNvPr id="20" name="Rectangle 26"/>
          <p:cNvSpPr/>
          <p:nvPr/>
        </p:nvSpPr>
        <p:spPr>
          <a:xfrm>
            <a:off x="2697480" y="1316736"/>
            <a:ext cx="2971800" cy="29260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50" b="1" i="0">
                <a:solidFill>
                  <a:srgbClr val="FFFFFF"/>
                </a:solidFill>
                <a:latin typeface="Calibri"/>
              </a:rPr>
              <a:t>Inner loop · 0D tuning</a:t>
            </a:r>
          </a:p>
        </p:txBody>
      </p:sp>
      <p:sp>
        <p:nvSpPr>
          <p:cNvPr id="21" name="Rectangle 27"/>
          <p:cNvSpPr/>
          <p:nvPr/>
        </p:nvSpPr>
        <p:spPr>
          <a:xfrm>
            <a:off x="2697480" y="1609344"/>
            <a:ext cx="2971800" cy="298094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2" name="Rectangle 28"/>
          <p:cNvSpPr/>
          <p:nvPr/>
        </p:nvSpPr>
        <p:spPr>
          <a:xfrm>
            <a:off x="2807208" y="1700784"/>
            <a:ext cx="275234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8C1515"/>
                </a:solidFill>
                <a:latin typeface="Calibri"/>
              </a:rPr>
              <a:t>1  </a:t>
            </a:r>
            <a:r>
              <a:rPr sz="800" b="0" i="0">
                <a:solidFill>
                  <a:srgbClr val="2E2D29"/>
                </a:solidFill>
                <a:latin typeface="Calibri"/>
              </a:rPr>
              <a:t>Proximal C on seed vessels</a:t>
            </a:r>
          </a:p>
        </p:txBody>
      </p:sp>
      <p:cxnSp>
        <p:nvCxnSpPr>
          <p:cNvPr id="23" name="Connector 29"/>
          <p:cNvCxnSpPr/>
          <p:nvPr/>
        </p:nvCxnSpPr>
        <p:spPr>
          <a:xfrm>
            <a:off x="4183380" y="2084832"/>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30"/>
          <p:cNvSpPr/>
          <p:nvPr/>
        </p:nvSpPr>
        <p:spPr>
          <a:xfrm>
            <a:off x="2807208" y="2176272"/>
            <a:ext cx="275234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8C1515"/>
                </a:solidFill>
                <a:latin typeface="Calibri"/>
              </a:rPr>
              <a:t>2  </a:t>
            </a:r>
            <a:r>
              <a:rPr sz="800" b="0" i="0">
                <a:solidFill>
                  <a:srgbClr val="2E2D29"/>
                </a:solidFill>
                <a:latin typeface="Calibri"/>
              </a:rPr>
              <a:t>Map caps → 0D outlets (centerline)</a:t>
            </a:r>
          </a:p>
        </p:txBody>
      </p:sp>
      <p:cxnSp>
        <p:nvCxnSpPr>
          <p:cNvPr id="25" name="Connector 31"/>
          <p:cNvCxnSpPr/>
          <p:nvPr/>
        </p:nvCxnSpPr>
        <p:spPr>
          <a:xfrm>
            <a:off x="4183380" y="2560320"/>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32"/>
          <p:cNvSpPr/>
          <p:nvPr/>
        </p:nvSpPr>
        <p:spPr>
          <a:xfrm>
            <a:off x="2807208" y="2651760"/>
            <a:ext cx="275234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8C1515"/>
                </a:solidFill>
                <a:latin typeface="Calibri"/>
              </a:rPr>
              <a:t>3  </a:t>
            </a:r>
            <a:r>
              <a:rPr sz="800" b="0" i="0">
                <a:solidFill>
                  <a:srgbClr val="2E2D29"/>
                </a:solidFill>
                <a:latin typeface="Calibri"/>
              </a:rPr>
              <a:t>Per-cap Olufsen trees, 1M nodes</a:t>
            </a:r>
          </a:p>
        </p:txBody>
      </p:sp>
      <p:cxnSp>
        <p:nvCxnSpPr>
          <p:cNvPr id="27" name="Connector 33"/>
          <p:cNvCxnSpPr/>
          <p:nvPr/>
        </p:nvCxnSpPr>
        <p:spPr>
          <a:xfrm>
            <a:off x="4183380" y="3035808"/>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34"/>
          <p:cNvSpPr/>
          <p:nvPr/>
        </p:nvSpPr>
        <p:spPr>
          <a:xfrm>
            <a:off x="2807208" y="3127248"/>
            <a:ext cx="275234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8C1515"/>
                </a:solidFill>
                <a:latin typeface="Calibri"/>
              </a:rPr>
              <a:t>4  </a:t>
            </a:r>
            <a:r>
              <a:rPr sz="800" b="0" i="0">
                <a:solidFill>
                  <a:srgbClr val="2E2D29"/>
                </a:solidFill>
                <a:latin typeface="Calibri"/>
              </a:rPr>
              <a:t>Shared Nelder–Mead on χ², 5 params</a:t>
            </a:r>
          </a:p>
        </p:txBody>
      </p:sp>
      <p:cxnSp>
        <p:nvCxnSpPr>
          <p:cNvPr id="29" name="Connector 35"/>
          <p:cNvCxnSpPr/>
          <p:nvPr/>
        </p:nvCxnSpPr>
        <p:spPr>
          <a:xfrm>
            <a:off x="4183380" y="3511296"/>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36"/>
          <p:cNvSpPr/>
          <p:nvPr/>
        </p:nvSpPr>
        <p:spPr>
          <a:xfrm>
            <a:off x="2807208" y="3602736"/>
            <a:ext cx="275234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8C1515"/>
                </a:solidFill>
                <a:latin typeface="Calibri"/>
              </a:rPr>
              <a:t>5  </a:t>
            </a:r>
            <a:r>
              <a:rPr sz="800" b="0" i="0">
                <a:solidFill>
                  <a:srgbClr val="2E2D29"/>
                </a:solidFill>
                <a:latin typeface="Calibri"/>
              </a:rPr>
              <a:t>Per-cap polish (maxfev 100)</a:t>
            </a:r>
          </a:p>
        </p:txBody>
      </p:sp>
      <p:cxnSp>
        <p:nvCxnSpPr>
          <p:cNvPr id="31" name="Connector 37"/>
          <p:cNvCxnSpPr/>
          <p:nvPr/>
        </p:nvCxnSpPr>
        <p:spPr>
          <a:xfrm>
            <a:off x="4183380" y="3986784"/>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8"/>
          <p:cNvSpPr/>
          <p:nvPr/>
        </p:nvSpPr>
        <p:spPr>
          <a:xfrm>
            <a:off x="2807208" y="4078224"/>
            <a:ext cx="275234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8C1515"/>
                </a:solidFill>
                <a:latin typeface="Calibri"/>
              </a:rPr>
              <a:t>6  </a:t>
            </a:r>
            <a:r>
              <a:rPr sz="800" b="0" i="0">
                <a:solidFill>
                  <a:srgbClr val="2E2D29"/>
                </a:solidFill>
                <a:latin typeface="Calibri"/>
              </a:rPr>
              <a:t>Published fit + diagnostics</a:t>
            </a:r>
          </a:p>
        </p:txBody>
      </p:sp>
      <p:sp>
        <p:nvSpPr>
          <p:cNvPr id="33" name="Rectangle 39"/>
          <p:cNvSpPr/>
          <p:nvPr/>
        </p:nvSpPr>
        <p:spPr>
          <a:xfrm>
            <a:off x="5989320" y="1316736"/>
            <a:ext cx="2834640" cy="292608"/>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50" b="1" i="0">
                <a:solidFill>
                  <a:srgbClr val="FFFFFF"/>
                </a:solidFill>
                <a:latin typeface="Calibri"/>
              </a:rPr>
              <a:t>Outer loop · 3D</a:t>
            </a:r>
          </a:p>
        </p:txBody>
      </p:sp>
      <p:sp>
        <p:nvSpPr>
          <p:cNvPr id="34" name="Rectangle 40"/>
          <p:cNvSpPr/>
          <p:nvPr/>
        </p:nvSpPr>
        <p:spPr>
          <a:xfrm>
            <a:off x="5989320" y="1609344"/>
            <a:ext cx="2834640" cy="298094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5" name="Rectangle 41"/>
          <p:cNvSpPr/>
          <p:nvPr/>
        </p:nvSpPr>
        <p:spPr>
          <a:xfrm>
            <a:off x="6099048" y="1700784"/>
            <a:ext cx="261518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E98300"/>
                </a:solidFill>
                <a:latin typeface="Calibri"/>
              </a:rPr>
              <a:t>1  </a:t>
            </a:r>
            <a:r>
              <a:rPr sz="800" b="0" i="0">
                <a:solidFill>
                  <a:srgbClr val="2E2D29"/>
                </a:solidFill>
                <a:latin typeface="Calibri"/>
              </a:rPr>
              <a:t>3D CMM, wall matched to 0D C</a:t>
            </a:r>
          </a:p>
        </p:txBody>
      </p:sp>
      <p:cxnSp>
        <p:nvCxnSpPr>
          <p:cNvPr id="36" name="Connector 42"/>
          <p:cNvCxnSpPr/>
          <p:nvPr/>
        </p:nvCxnSpPr>
        <p:spPr>
          <a:xfrm>
            <a:off x="7406640" y="2084832"/>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43"/>
          <p:cNvSpPr/>
          <p:nvPr/>
        </p:nvSpPr>
        <p:spPr>
          <a:xfrm>
            <a:off x="6099048" y="2176272"/>
            <a:ext cx="261518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E98300"/>
                </a:solidFill>
                <a:latin typeface="Calibri"/>
              </a:rPr>
              <a:t>2  </a:t>
            </a:r>
            <a:r>
              <a:rPr sz="800" b="0" i="0">
                <a:solidFill>
                  <a:srgbClr val="2E2D29"/>
                </a:solidFill>
                <a:latin typeface="Calibri"/>
              </a:rPr>
              <a:t>Centerline postprocess</a:t>
            </a:r>
          </a:p>
        </p:txBody>
      </p:sp>
      <p:cxnSp>
        <p:nvCxnSpPr>
          <p:cNvPr id="38" name="Connector 44"/>
          <p:cNvCxnSpPr/>
          <p:nvPr/>
        </p:nvCxnSpPr>
        <p:spPr>
          <a:xfrm>
            <a:off x="7406640" y="2560320"/>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45"/>
          <p:cNvSpPr/>
          <p:nvPr/>
        </p:nvSpPr>
        <p:spPr>
          <a:xfrm>
            <a:off x="6099048" y="2651760"/>
            <a:ext cx="261518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E98300"/>
                </a:solidFill>
                <a:latin typeface="Calibri"/>
              </a:rPr>
              <a:t>3  </a:t>
            </a:r>
            <a:r>
              <a:rPr sz="800" b="0" i="0">
                <a:solidFill>
                  <a:srgbClr val="2E2D29"/>
                </a:solidFill>
                <a:latin typeface="Calibri"/>
              </a:rPr>
              <a:t>svZeroDCalibrator refit</a:t>
            </a:r>
          </a:p>
        </p:txBody>
      </p:sp>
      <p:cxnSp>
        <p:nvCxnSpPr>
          <p:cNvPr id="40" name="Connector 46"/>
          <p:cNvCxnSpPr/>
          <p:nvPr/>
        </p:nvCxnSpPr>
        <p:spPr>
          <a:xfrm>
            <a:off x="7406640" y="3035808"/>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ectangle 47"/>
          <p:cNvSpPr/>
          <p:nvPr/>
        </p:nvSpPr>
        <p:spPr>
          <a:xfrm>
            <a:off x="6099048" y="3127248"/>
            <a:ext cx="261518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E98300"/>
                </a:solidFill>
                <a:latin typeface="Calibri"/>
              </a:rPr>
              <a:t>4  </a:t>
            </a:r>
            <a:r>
              <a:rPr sz="800" b="0" i="0">
                <a:solidFill>
                  <a:srgbClr val="2E2D29"/>
                </a:solidFill>
                <a:latin typeface="Calibri"/>
              </a:rPr>
              <a:t>Promote seed → inner step 1</a:t>
            </a:r>
          </a:p>
        </p:txBody>
      </p:sp>
      <p:cxnSp>
        <p:nvCxnSpPr>
          <p:cNvPr id="42" name="Connector 48"/>
          <p:cNvCxnSpPr/>
          <p:nvPr/>
        </p:nvCxnSpPr>
        <p:spPr>
          <a:xfrm>
            <a:off x="7406640" y="3511296"/>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9"/>
          <p:cNvSpPr/>
          <p:nvPr/>
        </p:nvSpPr>
        <p:spPr>
          <a:xfrm>
            <a:off x="6099048" y="3602736"/>
            <a:ext cx="261518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E98300"/>
                </a:solidFill>
                <a:latin typeface="Calibri"/>
              </a:rPr>
              <a:t>5  </a:t>
            </a:r>
            <a:r>
              <a:rPr sz="800" b="0" i="0">
                <a:solidFill>
                  <a:srgbClr val="2E2D29"/>
                </a:solidFill>
                <a:latin typeface="Calibri"/>
              </a:rPr>
              <a:t>Pick preop iteration by hand</a:t>
            </a:r>
          </a:p>
        </p:txBody>
      </p:sp>
      <p:cxnSp>
        <p:nvCxnSpPr>
          <p:cNvPr id="44" name="Connector 50"/>
          <p:cNvCxnSpPr/>
          <p:nvPr/>
        </p:nvCxnSpPr>
        <p:spPr>
          <a:xfrm>
            <a:off x="7406640" y="3986784"/>
            <a:ext cx="0" cy="91440"/>
          </a:xfrm>
          <a:prstGeom prst="line">
            <a:avLst/>
          </a:prstGeom>
          <a:ln w="12700">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51"/>
          <p:cNvSpPr/>
          <p:nvPr/>
        </p:nvSpPr>
        <p:spPr>
          <a:xfrm>
            <a:off x="6099048" y="4078224"/>
            <a:ext cx="2615184" cy="384048"/>
          </a:xfrm>
          <a:prstGeom prst="rect">
            <a:avLst/>
          </a:prstGeom>
          <a:solidFill>
            <a:srgbClr val="FDEEDD"/>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800" b="1" i="0">
                <a:solidFill>
                  <a:srgbClr val="E98300"/>
                </a:solidFill>
                <a:latin typeface="Calibri"/>
              </a:rPr>
              <a:t>6  </a:t>
            </a:r>
            <a:r>
              <a:rPr sz="800" b="0" i="0">
                <a:solidFill>
                  <a:srgbClr val="2E2D29"/>
                </a:solidFill>
                <a:latin typeface="Calibri"/>
              </a:rPr>
              <a:t>→ Stages 3–4</a:t>
            </a:r>
          </a:p>
        </p:txBody>
      </p:sp>
      <p:cxnSp>
        <p:nvCxnSpPr>
          <p:cNvPr id="46" name="Connector 52"/>
          <p:cNvCxnSpPr/>
          <p:nvPr/>
        </p:nvCxnSpPr>
        <p:spPr>
          <a:xfrm>
            <a:off x="2468880" y="3099816"/>
            <a:ext cx="182880" cy="0"/>
          </a:xfrm>
          <a:prstGeom prst="line">
            <a:avLst/>
          </a:prstGeom>
          <a:ln w="22225">
            <a:solidFill>
              <a:srgbClr val="8C151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53"/>
          <p:cNvCxnSpPr/>
          <p:nvPr/>
        </p:nvCxnSpPr>
        <p:spPr>
          <a:xfrm>
            <a:off x="5715000" y="3099816"/>
            <a:ext cx="228600" cy="0"/>
          </a:xfrm>
          <a:prstGeom prst="line">
            <a:avLst/>
          </a:prstGeom>
          <a:ln w="22225">
            <a:solidFill>
              <a:srgbClr val="8C151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9" name="TextBox 55"/>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Master schematic for Stage 2: keep it in sync with slide 18 and svzt-agent docs/TUNING_MODEL.md.</a:t>
            </a:r>
          </a:p>
        </p:txBody>
      </p:sp>
      <p:sp>
        <p:nvSpPr>
          <p:cNvPr id="50" name="TextBox 56"/>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The updated tuning loop runs on the full 0D model. Reason: Duplicate schematic of the loop overview.</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Outer loop: reconciling the 0D model with 3D</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316736"/>
            <a:ext cx="1481328" cy="658368"/>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FFFFFF"/>
                </a:solidFill>
                <a:latin typeface="Calibri"/>
              </a:rPr>
              <a:t>Seed</a:t>
            </a:r>
          </a:p>
          <a:p>
            <a:pPr algn="ctr"/>
            <a:r>
              <a:rPr sz="700" b="0" i="0">
                <a:solidFill>
                  <a:srgbClr val="FFFFFF"/>
                </a:solidFill>
                <a:latin typeface="Calibri"/>
              </a:rPr>
              <a:t>it. 1: learnedZeroD + C; later: calibrated</a:t>
            </a:r>
          </a:p>
        </p:txBody>
      </p:sp>
      <p:cxnSp>
        <p:nvCxnSpPr>
          <p:cNvPr id="13" name="Connector 19"/>
          <p:cNvCxnSpPr/>
          <p:nvPr/>
        </p:nvCxnSpPr>
        <p:spPr>
          <a:xfrm>
            <a:off x="1847088" y="1645919"/>
            <a:ext cx="18288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20"/>
          <p:cNvSpPr/>
          <p:nvPr/>
        </p:nvSpPr>
        <p:spPr>
          <a:xfrm>
            <a:off x="2075688" y="1316736"/>
            <a:ext cx="1481328" cy="65836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FFFFFF"/>
                </a:solidFill>
                <a:latin typeface="Calibri"/>
              </a:rPr>
              <a:t>Tune trees</a:t>
            </a:r>
          </a:p>
          <a:p>
            <a:pPr algn="ctr"/>
            <a:r>
              <a:rPr sz="700" b="0" i="0">
                <a:solidFill>
                  <a:srgbClr val="FFFFFF"/>
                </a:solidFill>
                <a:latin typeface="Calibri"/>
              </a:rPr>
              <a:t>χ², shared → per-cap polish</a:t>
            </a:r>
          </a:p>
        </p:txBody>
      </p:sp>
      <p:cxnSp>
        <p:nvCxnSpPr>
          <p:cNvPr id="15" name="Connector 21"/>
          <p:cNvCxnSpPr/>
          <p:nvPr/>
        </p:nvCxnSpPr>
        <p:spPr>
          <a:xfrm>
            <a:off x="3602736" y="1645919"/>
            <a:ext cx="18288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22"/>
          <p:cNvSpPr/>
          <p:nvPr/>
        </p:nvSpPr>
        <p:spPr>
          <a:xfrm>
            <a:off x="3831336" y="1316736"/>
            <a:ext cx="1481328" cy="65836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FFFFFF"/>
                </a:solidFill>
                <a:latin typeface="Calibri"/>
              </a:rPr>
              <a:t>Run 3D CMM</a:t>
            </a:r>
          </a:p>
          <a:p>
            <a:pPr algn="ctr"/>
            <a:r>
              <a:rPr sz="700" b="0" i="0">
                <a:solidFill>
                  <a:srgbClr val="FFFFFF"/>
                </a:solidFill>
                <a:latin typeface="Calibri"/>
              </a:rPr>
              <a:t>E matched to 0D C; stiffness-scaled damping</a:t>
            </a:r>
          </a:p>
        </p:txBody>
      </p:sp>
      <p:cxnSp>
        <p:nvCxnSpPr>
          <p:cNvPr id="17" name="Connector 23"/>
          <p:cNvCxnSpPr/>
          <p:nvPr/>
        </p:nvCxnSpPr>
        <p:spPr>
          <a:xfrm>
            <a:off x="5358384" y="1645919"/>
            <a:ext cx="18288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24"/>
          <p:cNvSpPr/>
          <p:nvPr/>
        </p:nvSpPr>
        <p:spPr>
          <a:xfrm>
            <a:off x="5586984" y="1316736"/>
            <a:ext cx="1481328" cy="65836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FFFFFF"/>
                </a:solidFill>
                <a:latin typeface="Calibri"/>
              </a:rPr>
              <a:t>Calibrate</a:t>
            </a:r>
          </a:p>
          <a:p>
            <a:pPr algn="ctr"/>
            <a:r>
              <a:rPr sz="700" b="0" i="0">
                <a:solidFill>
                  <a:srgbClr val="FFFFFF"/>
                </a:solidFill>
                <a:latin typeface="Calibri"/>
              </a:rPr>
              <a:t>centerline postprocess → svZeroDCalibrator</a:t>
            </a:r>
          </a:p>
        </p:txBody>
      </p:sp>
      <p:cxnSp>
        <p:nvCxnSpPr>
          <p:cNvPr id="19" name="Connector 25"/>
          <p:cNvCxnSpPr/>
          <p:nvPr/>
        </p:nvCxnSpPr>
        <p:spPr>
          <a:xfrm>
            <a:off x="7114032" y="1645919"/>
            <a:ext cx="18288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26"/>
          <p:cNvSpPr/>
          <p:nvPr/>
        </p:nvSpPr>
        <p:spPr>
          <a:xfrm>
            <a:off x="7342632" y="1316736"/>
            <a:ext cx="1481328" cy="658368"/>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FFFFFF"/>
                </a:solidFill>
                <a:latin typeface="Calibri"/>
              </a:rPr>
              <a:t>Promote</a:t>
            </a:r>
          </a:p>
          <a:p>
            <a:pPr algn="ctr"/>
            <a:r>
              <a:rPr sz="700" b="0" i="0">
                <a:solidFill>
                  <a:srgbClr val="FFFFFF"/>
                </a:solidFill>
                <a:latin typeface="Calibri"/>
              </a:rPr>
              <a:t>calibrated model seeds next iteration</a:t>
            </a:r>
          </a:p>
        </p:txBody>
      </p:sp>
      <p:cxnSp>
        <p:nvCxnSpPr>
          <p:cNvPr id="21" name="Connector 27"/>
          <p:cNvCxnSpPr/>
          <p:nvPr/>
        </p:nvCxnSpPr>
        <p:spPr>
          <a:xfrm flipH="1">
            <a:off x="2816352" y="2048256"/>
            <a:ext cx="5266944" cy="0"/>
          </a:xfrm>
          <a:prstGeom prst="line">
            <a:avLst/>
          </a:prstGeom>
          <a:ln w="15875">
            <a:solidFill>
              <a:srgbClr val="E983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8"/>
          <p:cNvSpPr txBox="1"/>
          <p:nvPr/>
        </p:nvSpPr>
        <p:spPr>
          <a:xfrm>
            <a:off x="2816352" y="2075688"/>
            <a:ext cx="5266944" cy="182880"/>
          </a:xfrm>
          <a:prstGeom prst="rect">
            <a:avLst/>
          </a:prstGeom>
          <a:noFill/>
        </p:spPr>
        <p:txBody>
          <a:bodyPr wrap="square" lIns="0" rIns="0" tIns="0" bIns="0" anchor="t">
            <a:spAutoFit/>
          </a:bodyPr>
          <a:lstStyle/>
          <a:p>
            <a:pPr algn="ctr"/>
            <a:r>
              <a:rPr sz="750" b="0" i="1">
                <a:solidFill>
                  <a:srgbClr val="E98300"/>
                </a:solidFill>
                <a:latin typeface="Calibri"/>
              </a:rPr>
              <a:t>repeat up to max_iterations (5)</a:t>
            </a:r>
          </a:p>
        </p:txBody>
      </p:sp>
      <p:sp>
        <p:nvSpPr>
          <p:cNvPr id="23" name="Rectangle 29"/>
          <p:cNvSpPr/>
          <p:nvPr/>
        </p:nvSpPr>
        <p:spPr>
          <a:xfrm>
            <a:off x="320040" y="2359152"/>
            <a:ext cx="4114800" cy="22311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4" name="TextBox 30"/>
          <p:cNvSpPr txBox="1"/>
          <p:nvPr/>
        </p:nvSpPr>
        <p:spPr>
          <a:xfrm>
            <a:off x="429768" y="2414016"/>
            <a:ext cx="3931920" cy="219456"/>
          </a:xfrm>
          <a:prstGeom prst="rect">
            <a:avLst/>
          </a:prstGeom>
          <a:noFill/>
        </p:spPr>
        <p:txBody>
          <a:bodyPr wrap="square" lIns="0" rIns="0" tIns="0" bIns="0" anchor="t">
            <a:spAutoFit/>
          </a:bodyPr>
          <a:lstStyle/>
          <a:p>
            <a:pPr algn="l"/>
            <a:r>
              <a:rPr sz="1000" b="1" i="0">
                <a:solidFill>
                  <a:srgbClr val="8C1515"/>
                </a:solidFill>
                <a:latin typeface="Calibri"/>
              </a:rPr>
              <a:t>Gate and iteration choice (decided 6 Oct)</a:t>
            </a:r>
          </a:p>
        </p:txBody>
      </p:sp>
      <p:sp>
        <p:nvSpPr>
          <p:cNvPr id="25" name="TextBox 31"/>
          <p:cNvSpPr txBox="1"/>
          <p:nvPr/>
        </p:nvSpPr>
        <p:spPr>
          <a:xfrm>
            <a:off x="429768" y="2697480"/>
            <a:ext cx="1234440" cy="640080"/>
          </a:xfrm>
          <a:prstGeom prst="rect">
            <a:avLst/>
          </a:prstGeom>
          <a:noFill/>
        </p:spPr>
        <p:txBody>
          <a:bodyPr wrap="square" lIns="0" rIns="0" tIns="0" bIns="0" anchor="ctr">
            <a:spAutoFit/>
          </a:bodyPr>
          <a:lstStyle/>
          <a:p>
            <a:pPr algn="l"/>
            <a:r>
              <a:rPr sz="2400" b="1" i="0">
                <a:solidFill>
                  <a:srgbClr val="8C1515"/>
                </a:solidFill>
                <a:latin typeface="Calibri"/>
              </a:rPr>
              <a:t>3.8σ</a:t>
            </a:r>
          </a:p>
        </p:txBody>
      </p:sp>
      <p:sp>
        <p:nvSpPr>
          <p:cNvPr id="26" name="TextBox 32"/>
          <p:cNvSpPr txBox="1"/>
          <p:nvPr/>
        </p:nvSpPr>
        <p:spPr>
          <a:xfrm>
            <a:off x="1691640" y="2697480"/>
            <a:ext cx="2651760" cy="640080"/>
          </a:xfrm>
          <a:prstGeom prst="rect">
            <a:avLst/>
          </a:prstGeom>
          <a:noFill/>
        </p:spPr>
        <p:txBody>
          <a:bodyPr wrap="square" lIns="0" rIns="0" tIns="0" bIns="0" anchor="ctr">
            <a:spAutoFit/>
          </a:bodyPr>
          <a:lstStyle/>
          <a:p>
            <a:pPr algn="l"/>
            <a:r>
              <a:rPr sz="800" b="0" i="0">
                <a:solidFill>
                  <a:srgbClr val="2E2D29"/>
                </a:solidFill>
                <a:latin typeface="Calibri"/>
              </a:rPr>
              <a:t>TST-STAN-5's best diastolic miss (−7.7 mmHg): the per-metric gate cannot pass, so every iteration is not_close</a:t>
            </a:r>
          </a:p>
        </p:txBody>
      </p:sp>
      <p:sp>
        <p:nvSpPr>
          <p:cNvPr id="27" name="Rectangle 33"/>
          <p:cNvSpPr/>
          <p:nvPr/>
        </p:nvSpPr>
        <p:spPr>
          <a:xfrm>
            <a:off x="429768" y="3429000"/>
            <a:ext cx="3895344" cy="329184"/>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800" b="1" i="0">
                <a:solidFill>
                  <a:srgbClr val="2E2D29"/>
                </a:solidFill>
                <a:latin typeface="Calibri"/>
              </a:rPr>
              <a:t>svzt preop select --run-id &lt;id&gt; --iteration &lt;n&gt; --reason &lt;text&gt;</a:t>
            </a:r>
          </a:p>
        </p:txBody>
      </p:sp>
      <p:sp>
        <p:nvSpPr>
          <p:cNvPr id="28" name="TextBox 34"/>
          <p:cNvSpPr txBox="1"/>
          <p:nvPr/>
        </p:nvSpPr>
        <p:spPr>
          <a:xfrm>
            <a:off x="429768" y="3840480"/>
            <a:ext cx="3895344" cy="713232"/>
          </a:xfrm>
          <a:prstGeom prst="rect">
            <a:avLst/>
          </a:prstGeom>
          <a:noFill/>
        </p:spPr>
        <p:txBody>
          <a:bodyPr wrap="square" lIns="0" rIns="0" tIns="0" bIns="0" anchor="t">
            <a:spAutoFit/>
          </a:bodyPr>
          <a:lstStyle/>
          <a:p>
            <a:pPr algn="l">
              <a:spcAft>
                <a:spcPts val="100"/>
              </a:spcAft>
            </a:pPr>
            <a:r>
              <a:rPr sz="800" b="0" i="0">
                <a:solidFill>
                  <a:srgbClr val="2E2D29"/>
                </a:solidFill>
                <a:latin typeface="Calibri"/>
              </a:rPr>
              <a:t>• The preop iteration is picked by hand from completed 3D runs</a:t>
            </a:r>
          </a:p>
          <a:p>
            <a:pPr algn="l">
              <a:spcAft>
                <a:spcPts val="100"/>
              </a:spcAft>
            </a:pPr>
            <a:r>
              <a:rPr sz="800" b="0" i="0">
                <a:solidFill>
                  <a:srgbClr val="2E2D29"/>
                </a:solidFill>
                <a:latin typeface="Calibri"/>
              </a:rPr>
              <a:t>• The gate (or a χ²-based replacement) will be revisited</a:t>
            </a:r>
          </a:p>
          <a:p>
            <a:pPr algn="l">
              <a:spcAft>
                <a:spcPts val="100"/>
              </a:spcAft>
            </a:pPr>
            <a:r>
              <a:rPr sz="800" b="0" i="0">
                <a:solidFill>
                  <a:srgbClr val="2E2D29"/>
                </a:solidFill>
                <a:latin typeface="Calibri"/>
              </a:rPr>
              <a:t>• Start a fresh run per patient: old runs seed values outside the new bounds</a:t>
            </a:r>
          </a:p>
        </p:txBody>
      </p:sp>
      <p:sp>
        <p:nvSpPr>
          <p:cNvPr id="29" name="Rectangle 35"/>
          <p:cNvSpPr/>
          <p:nvPr/>
        </p:nvSpPr>
        <p:spPr>
          <a:xfrm>
            <a:off x="4617720" y="2359152"/>
            <a:ext cx="4206240" cy="22311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0" name="TextBox 36"/>
          <p:cNvSpPr txBox="1"/>
          <p:nvPr/>
        </p:nvSpPr>
        <p:spPr>
          <a:xfrm>
            <a:off x="4727448" y="2414016"/>
            <a:ext cx="4023360" cy="219456"/>
          </a:xfrm>
          <a:prstGeom prst="rect">
            <a:avLst/>
          </a:prstGeom>
          <a:noFill/>
        </p:spPr>
        <p:txBody>
          <a:bodyPr wrap="square" lIns="0" rIns="0" tIns="0" bIns="0" anchor="t">
            <a:spAutoFit/>
          </a:bodyPr>
          <a:lstStyle/>
          <a:p>
            <a:pPr algn="l"/>
            <a:r>
              <a:rPr sz="1000" b="1" i="0">
                <a:solidFill>
                  <a:srgbClr val="8C1515"/>
                </a:solidFill>
                <a:latin typeface="Calibri"/>
              </a:rPr>
              <a:t>Fixes from the first cohort runs (6–7 Oct)</a:t>
            </a:r>
          </a:p>
        </p:txBody>
      </p:sp>
      <p:sp>
        <p:nvSpPr>
          <p:cNvPr id="31" name="Oval 37"/>
          <p:cNvSpPr/>
          <p:nvPr/>
        </p:nvSpPr>
        <p:spPr>
          <a:xfrm>
            <a:off x="4727448" y="2734056"/>
            <a:ext cx="201168" cy="201168"/>
          </a:xfrm>
          <a:prstGeom prst="ellipse">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750" b="1" i="0">
                <a:solidFill>
                  <a:srgbClr val="FFFFFF"/>
                </a:solidFill>
                <a:latin typeface="Calibri"/>
              </a:rPr>
              <a:t>✓</a:t>
            </a:r>
          </a:p>
        </p:txBody>
      </p:sp>
      <p:sp>
        <p:nvSpPr>
          <p:cNvPr id="32" name="TextBox 38"/>
          <p:cNvSpPr txBox="1"/>
          <p:nvPr/>
        </p:nvSpPr>
        <p:spPr>
          <a:xfrm>
            <a:off x="5029200" y="2706624"/>
            <a:ext cx="3749039" cy="256032"/>
          </a:xfrm>
          <a:prstGeom prst="rect">
            <a:avLst/>
          </a:prstGeom>
          <a:noFill/>
        </p:spPr>
        <p:txBody>
          <a:bodyPr wrap="square" lIns="0" rIns="0" tIns="0" bIns="0" anchor="ctr">
            <a:spAutoFit/>
          </a:bodyPr>
          <a:lstStyle/>
          <a:p>
            <a:pPr algn="l"/>
            <a:r>
              <a:rPr sz="800" b="0" i="0">
                <a:solidFill>
                  <a:srgbClr val="2E2D29"/>
                </a:solidFill>
                <a:latin typeface="Calibri"/>
              </a:rPr>
              <a:t>Prestress: mean steady solve added for learned seeds</a:t>
            </a:r>
          </a:p>
        </p:txBody>
      </p:sp>
      <p:sp>
        <p:nvSpPr>
          <p:cNvPr id="33" name="Oval 39"/>
          <p:cNvSpPr/>
          <p:nvPr/>
        </p:nvSpPr>
        <p:spPr>
          <a:xfrm>
            <a:off x="4727448" y="3035808"/>
            <a:ext cx="201168" cy="201168"/>
          </a:xfrm>
          <a:prstGeom prst="ellipse">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750" b="1" i="0">
                <a:solidFill>
                  <a:srgbClr val="FFFFFF"/>
                </a:solidFill>
                <a:latin typeface="Calibri"/>
              </a:rPr>
              <a:t>✓</a:t>
            </a:r>
          </a:p>
        </p:txBody>
      </p:sp>
      <p:sp>
        <p:nvSpPr>
          <p:cNvPr id="34" name="TextBox 40"/>
          <p:cNvSpPr txBox="1"/>
          <p:nvPr/>
        </p:nvSpPr>
        <p:spPr>
          <a:xfrm>
            <a:off x="5029200" y="3008376"/>
            <a:ext cx="3749039" cy="256032"/>
          </a:xfrm>
          <a:prstGeom prst="rect">
            <a:avLst/>
          </a:prstGeom>
          <a:noFill/>
        </p:spPr>
        <p:txBody>
          <a:bodyPr wrap="square" lIns="0" rIns="0" tIns="0" bIns="0" anchor="ctr">
            <a:spAutoFit/>
          </a:bodyPr>
          <a:lstStyle/>
          <a:p>
            <a:pPr algn="l"/>
            <a:r>
              <a:rPr sz="800" b="0" i="0">
                <a:solidFill>
                  <a:srgbClr val="2E2D29"/>
                </a:solidFill>
                <a:latin typeface="Calibri"/>
              </a:rPr>
              <a:t>3D coupler pairs IMPEDANCE BCs to caps via the outlet mapping</a:t>
            </a:r>
          </a:p>
        </p:txBody>
      </p:sp>
      <p:sp>
        <p:nvSpPr>
          <p:cNvPr id="35" name="Oval 41"/>
          <p:cNvSpPr/>
          <p:nvPr/>
        </p:nvSpPr>
        <p:spPr>
          <a:xfrm>
            <a:off x="4727448" y="3337560"/>
            <a:ext cx="201168" cy="201168"/>
          </a:xfrm>
          <a:prstGeom prst="ellipse">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750" b="1" i="0">
                <a:solidFill>
                  <a:srgbClr val="FFFFFF"/>
                </a:solidFill>
                <a:latin typeface="Calibri"/>
              </a:rPr>
              <a:t>✓</a:t>
            </a:r>
          </a:p>
        </p:txBody>
      </p:sp>
      <p:sp>
        <p:nvSpPr>
          <p:cNvPr id="36" name="TextBox 42"/>
          <p:cNvSpPr txBox="1"/>
          <p:nvPr/>
        </p:nvSpPr>
        <p:spPr>
          <a:xfrm>
            <a:off x="5029200" y="3310128"/>
            <a:ext cx="3749039" cy="256032"/>
          </a:xfrm>
          <a:prstGeom prst="rect">
            <a:avLst/>
          </a:prstGeom>
          <a:noFill/>
        </p:spPr>
        <p:txBody>
          <a:bodyPr wrap="square" lIns="0" rIns="0" tIns="0" bIns="0" anchor="ctr">
            <a:spAutoFit/>
          </a:bodyPr>
          <a:lstStyle/>
          <a:p>
            <a:pPr algn="l"/>
            <a:r>
              <a:rPr sz="800" b="0" i="0">
                <a:solidFill>
                  <a:srgbClr val="2E2D29"/>
                </a:solidFill>
                <a:latin typeface="Calibri"/>
              </a:rPr>
              <a:t>RCR BCs named after the cap they map to</a:t>
            </a:r>
          </a:p>
        </p:txBody>
      </p:sp>
      <p:sp>
        <p:nvSpPr>
          <p:cNvPr id="37" name="Oval 43"/>
          <p:cNvSpPr/>
          <p:nvPr/>
        </p:nvSpPr>
        <p:spPr>
          <a:xfrm>
            <a:off x="4727448" y="3639312"/>
            <a:ext cx="201168" cy="201168"/>
          </a:xfrm>
          <a:prstGeom prst="ellipse">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750" b="1" i="0">
                <a:solidFill>
                  <a:srgbClr val="FFFFFF"/>
                </a:solidFill>
                <a:latin typeface="Calibri"/>
              </a:rPr>
              <a:t>✓</a:t>
            </a:r>
          </a:p>
        </p:txBody>
      </p:sp>
      <p:sp>
        <p:nvSpPr>
          <p:cNvPr id="38" name="TextBox 44"/>
          <p:cNvSpPr txBox="1"/>
          <p:nvPr/>
        </p:nvSpPr>
        <p:spPr>
          <a:xfrm>
            <a:off x="5029200" y="3611880"/>
            <a:ext cx="3749039" cy="256032"/>
          </a:xfrm>
          <a:prstGeom prst="rect">
            <a:avLst/>
          </a:prstGeom>
          <a:noFill/>
        </p:spPr>
        <p:txBody>
          <a:bodyPr wrap="square" lIns="0" rIns="0" tIns="0" bIns="0" anchor="ctr">
            <a:spAutoFit/>
          </a:bodyPr>
          <a:lstStyle/>
          <a:p>
            <a:pPr algn="l"/>
            <a:r>
              <a:rPr sz="800" b="0" i="0">
                <a:solidFill>
                  <a:srgbClr val="2E2D29"/>
                </a:solidFill>
                <a:latin typeface="Calibri"/>
              </a:rPr>
              <a:t>pyvista shim removed; mpa_pressure_vs_time.csv written again</a:t>
            </a:r>
          </a:p>
        </p:txBody>
      </p:sp>
      <p:sp>
        <p:nvSpPr>
          <p:cNvPr id="39" name="Oval 45"/>
          <p:cNvSpPr/>
          <p:nvPr/>
        </p:nvSpPr>
        <p:spPr>
          <a:xfrm>
            <a:off x="4727448" y="3941064"/>
            <a:ext cx="201168" cy="201168"/>
          </a:xfrm>
          <a:prstGeom prst="ellipse">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750" b="1" i="0">
                <a:solidFill>
                  <a:srgbClr val="FFFFFF"/>
                </a:solidFill>
                <a:latin typeface="Calibri"/>
              </a:rPr>
              <a:t>✓</a:t>
            </a:r>
          </a:p>
        </p:txBody>
      </p:sp>
      <p:sp>
        <p:nvSpPr>
          <p:cNvPr id="40" name="TextBox 46"/>
          <p:cNvSpPr txBox="1"/>
          <p:nvPr/>
        </p:nvSpPr>
        <p:spPr>
          <a:xfrm>
            <a:off x="5029200" y="3913632"/>
            <a:ext cx="3749039" cy="256032"/>
          </a:xfrm>
          <a:prstGeom prst="rect">
            <a:avLst/>
          </a:prstGeom>
          <a:noFill/>
        </p:spPr>
        <p:txBody>
          <a:bodyPr wrap="square" lIns="0" rIns="0" tIns="0" bIns="0" anchor="ctr">
            <a:spAutoFit/>
          </a:bodyPr>
          <a:lstStyle/>
          <a:p>
            <a:pPr algn="l"/>
            <a:r>
              <a:rPr sz="800" b="0" i="0">
                <a:solidFill>
                  <a:srgbClr val="2E2D29"/>
                </a:solidFill>
                <a:latin typeface="Calibri"/>
              </a:rPr>
              <a:t>Job preflight exits (code 8) on an outdated svZeroDTrees</a:t>
            </a:r>
          </a:p>
        </p:txBody>
      </p:sp>
      <p:sp>
        <p:nvSpPr>
          <p:cNvPr id="41" name="Oval 47"/>
          <p:cNvSpPr/>
          <p:nvPr/>
        </p:nvSpPr>
        <p:spPr>
          <a:xfrm>
            <a:off x="4727448" y="4242816"/>
            <a:ext cx="201168" cy="201168"/>
          </a:xfrm>
          <a:prstGeom prst="ellipse">
            <a:avLst/>
          </a:prstGeom>
          <a:solidFill>
            <a:srgbClr val="FFFFFF"/>
          </a:solidFill>
          <a:ln w="9525">
            <a:solidFill>
              <a:srgbClr val="E983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2" name="TextBox 48"/>
          <p:cNvSpPr txBox="1"/>
          <p:nvPr/>
        </p:nvSpPr>
        <p:spPr>
          <a:xfrm>
            <a:off x="5029200" y="4215384"/>
            <a:ext cx="3749039" cy="256032"/>
          </a:xfrm>
          <a:prstGeom prst="rect">
            <a:avLst/>
          </a:prstGeom>
          <a:noFill/>
        </p:spPr>
        <p:txBody>
          <a:bodyPr wrap="square" lIns="0" rIns="0" tIns="0" bIns="0" anchor="ctr">
            <a:spAutoFit/>
          </a:bodyPr>
          <a:lstStyle/>
          <a:p>
            <a:pPr algn="l"/>
            <a:r>
              <a:rPr sz="800" b="0" i="0">
                <a:solidFill>
                  <a:srgbClr val="2E2D29"/>
                </a:solidFill>
                <a:latin typeface="Calibri"/>
              </a:rPr>
              <a:t>--reuse-preop-3d: rerun post-3D steps only (uncommitted)</a:t>
            </a:r>
          </a:p>
        </p:txBody>
      </p:sp>
      <p:sp>
        <p:nvSpPr>
          <p:cNvPr id="43"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4" name="TextBox 50"/>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Each iteration costs one transient 3D run; until the gate is revisited, the preop iteration is chosen by hand.</a:t>
            </a:r>
          </a:p>
        </p:txBody>
      </p:sp>
      <p:sp>
        <p:nvSpPr>
          <p:cNvPr id="45" name="TextBox 51"/>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The updated tuning loop runs on the full 0D model. Reason: Duplicate of the loop overview; it listed --reuse-preop-3d as uncommitted (committed in affa866).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Objective: χ² likelihood replaces relative error</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316736"/>
            <a:ext cx="4754880" cy="65836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500" b="1" i="0">
                <a:solidFill>
                  <a:srgbClr val="8C1515"/>
                </a:solidFill>
                <a:latin typeface="Calibri"/>
              </a:rPr>
              <a:t>χ²  =  Σᵢ ( ( yᵢ,model − yᵢ,target ) / σᵢ )²</a:t>
            </a:r>
          </a:p>
          <a:p>
            <a:pPr algn="ctr"/>
            <a:r>
              <a:rPr sz="800" b="0" i="0">
                <a:solidFill>
                  <a:srgbClr val="6B6965"/>
                </a:solidFill>
                <a:latin typeface="Calibri"/>
              </a:rPr>
              <a:t>σ = 2 mmHg for MPA sys / dia / mean (catheter) · 0.02 for the RPA split (MRI)</a:t>
            </a:r>
          </a:p>
        </p:txBody>
      </p:sp>
      <p:sp>
        <p:nvSpPr>
          <p:cNvPr id="13" name="TextBox 19"/>
          <p:cNvSpPr txBox="1"/>
          <p:nvPr/>
        </p:nvSpPr>
        <p:spPr>
          <a:xfrm>
            <a:off x="320040" y="2103120"/>
            <a:ext cx="4754880" cy="219456"/>
          </a:xfrm>
          <a:prstGeom prst="rect">
            <a:avLst/>
          </a:prstGeom>
          <a:noFill/>
        </p:spPr>
        <p:txBody>
          <a:bodyPr wrap="square" lIns="0" rIns="0" tIns="0" bIns="0" anchor="t">
            <a:spAutoFit/>
          </a:bodyPr>
          <a:lstStyle/>
          <a:p>
            <a:pPr algn="l"/>
            <a:r>
              <a:rPr sz="1000" b="1" i="0">
                <a:solidFill>
                  <a:srgbClr val="8C1515"/>
                </a:solidFill>
                <a:latin typeface="Calibri"/>
              </a:rPr>
              <a:t>Weight on 1 mmHg of error, relative to systolic (targets 34 / 3 / 16)</a:t>
            </a:r>
          </a:p>
        </p:txBody>
      </p:sp>
      <p:graphicFrame>
        <p:nvGraphicFramePr>
          <p:cNvPr id="14" name="Chart 20"/>
          <p:cNvGraphicFramePr>
            <a:graphicFrameLocks noGrp="1"/>
          </p:cNvGraphicFramePr>
          <p:nvPr/>
        </p:nvGraphicFramePr>
        <p:xfrm>
          <a:off x="320040" y="2331720"/>
          <a:ext cx="4754880" cy="2258568"/>
        </p:xfrm>
        <a:graphic>
          <a:graphicData uri="http://schemas.openxmlformats.org/drawingml/2006/chart">
            <c:chart xmlns:c="http://schemas.openxmlformats.org/drawingml/2006/chart" r:id="rId2"/>
          </a:graphicData>
        </a:graphic>
      </p:graphicFrame>
      <p:sp>
        <p:nvSpPr>
          <p:cNvPr id="15" name="Rectangle 21"/>
          <p:cNvSpPr/>
          <p:nvPr/>
        </p:nvSpPr>
        <p:spPr>
          <a:xfrm>
            <a:off x="5303520" y="1316736"/>
            <a:ext cx="3520440" cy="327355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6" name="TextBox 22"/>
          <p:cNvSpPr txBox="1"/>
          <p:nvPr/>
        </p:nvSpPr>
        <p:spPr>
          <a:xfrm>
            <a:off x="5413248" y="1371600"/>
            <a:ext cx="3291840" cy="219456"/>
          </a:xfrm>
          <a:prstGeom prst="rect">
            <a:avLst/>
          </a:prstGeom>
          <a:noFill/>
        </p:spPr>
        <p:txBody>
          <a:bodyPr wrap="square" lIns="0" rIns="0" tIns="0" bIns="0" anchor="t">
            <a:spAutoFit/>
          </a:bodyPr>
          <a:lstStyle/>
          <a:p>
            <a:pPr algn="l"/>
            <a:r>
              <a:rPr sz="1000" b="1" i="0">
                <a:solidFill>
                  <a:srgbClr val="8C1515"/>
                </a:solidFill>
                <a:latin typeface="Calibri"/>
              </a:rPr>
              <a:t>What changed in the tuner</a:t>
            </a:r>
          </a:p>
        </p:txBody>
      </p:sp>
      <p:sp>
        <p:nvSpPr>
          <p:cNvPr id="17" name="Oval 23"/>
          <p:cNvSpPr/>
          <p:nvPr/>
        </p:nvSpPr>
        <p:spPr>
          <a:xfrm>
            <a:off x="5413248" y="1737360"/>
            <a:ext cx="237744" cy="237744"/>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800" b="1" i="0">
                <a:solidFill>
                  <a:srgbClr val="FFFFFF"/>
                </a:solidFill>
                <a:latin typeface="Calibri"/>
              </a:rPr>
              <a:t>1</a:t>
            </a:r>
          </a:p>
        </p:txBody>
      </p:sp>
      <p:sp>
        <p:nvSpPr>
          <p:cNvPr id="18" name="TextBox 24"/>
          <p:cNvSpPr txBox="1"/>
          <p:nvPr/>
        </p:nvSpPr>
        <p:spPr>
          <a:xfrm>
            <a:off x="5733288" y="1700784"/>
            <a:ext cx="3017520" cy="658368"/>
          </a:xfrm>
          <a:prstGeom prst="rect">
            <a:avLst/>
          </a:prstGeom>
          <a:noFill/>
        </p:spPr>
        <p:txBody>
          <a:bodyPr wrap="square" lIns="0" rIns="0" tIns="0" bIns="0" anchor="t">
            <a:spAutoFit/>
          </a:bodyPr>
          <a:lstStyle/>
          <a:p>
            <a:pPr algn="l"/>
            <a:r>
              <a:rPr sz="900" b="1" i="0">
                <a:solidFill>
                  <a:srgbClr val="2E2D29"/>
                </a:solidFill>
                <a:latin typeface="Calibri"/>
              </a:rPr>
              <a:t>Loss reweighting off</a:t>
            </a:r>
          </a:p>
          <a:p>
            <a:pPr algn="l"/>
            <a:r>
              <a:rPr sz="800" b="0" i="0">
                <a:solidFill>
                  <a:srgbClr val="6B6965"/>
                </a:solidFill>
                <a:latin typeface="Calibri"/>
              </a:rPr>
              <a:t>unit weights across restarts keep the loss a χ² statistic</a:t>
            </a:r>
          </a:p>
        </p:txBody>
      </p:sp>
      <p:sp>
        <p:nvSpPr>
          <p:cNvPr id="19" name="Oval 25"/>
          <p:cNvSpPr/>
          <p:nvPr/>
        </p:nvSpPr>
        <p:spPr>
          <a:xfrm>
            <a:off x="5413248" y="2450592"/>
            <a:ext cx="237744" cy="237744"/>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800" b="1" i="0">
                <a:solidFill>
                  <a:srgbClr val="FFFFFF"/>
                </a:solidFill>
                <a:latin typeface="Calibri"/>
              </a:rPr>
              <a:t>2</a:t>
            </a:r>
          </a:p>
        </p:txBody>
      </p:sp>
      <p:sp>
        <p:nvSpPr>
          <p:cNvPr id="20" name="TextBox 26"/>
          <p:cNvSpPr txBox="1"/>
          <p:nvPr/>
        </p:nvSpPr>
        <p:spPr>
          <a:xfrm>
            <a:off x="5733288" y="2414016"/>
            <a:ext cx="3017520" cy="658368"/>
          </a:xfrm>
          <a:prstGeom prst="rect">
            <a:avLst/>
          </a:prstGeom>
          <a:noFill/>
        </p:spPr>
        <p:txBody>
          <a:bodyPr wrap="square" lIns="0" rIns="0" tIns="0" bIns="0" anchor="t">
            <a:spAutoFit/>
          </a:bodyPr>
          <a:lstStyle/>
          <a:p>
            <a:pPr algn="l"/>
            <a:r>
              <a:rPr sz="900" b="1" i="0">
                <a:solidFill>
                  <a:srgbClr val="2E2D29"/>
                </a:solidFill>
                <a:latin typeface="Calibri"/>
              </a:rPr>
              <a:t>L2 penalty on θ removed</a:t>
            </a:r>
          </a:p>
          <a:p>
            <a:pPr algn="l"/>
            <a:r>
              <a:rPr sz="800" b="0" i="0">
                <a:solidFill>
                  <a:srgbClr val="6B6965"/>
                </a:solidFill>
                <a:latin typeface="Calibri"/>
              </a:rPr>
              <a:t>it biased k₂ / C toward zero and dominated the loss</a:t>
            </a:r>
          </a:p>
        </p:txBody>
      </p:sp>
      <p:sp>
        <p:nvSpPr>
          <p:cNvPr id="21" name="Oval 27"/>
          <p:cNvSpPr/>
          <p:nvPr/>
        </p:nvSpPr>
        <p:spPr>
          <a:xfrm>
            <a:off x="5413248" y="3163824"/>
            <a:ext cx="237744" cy="237744"/>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800" b="1" i="0">
                <a:solidFill>
                  <a:srgbClr val="FFFFFF"/>
                </a:solidFill>
                <a:latin typeface="Calibri"/>
              </a:rPr>
              <a:t>3</a:t>
            </a:r>
          </a:p>
        </p:txBody>
      </p:sp>
      <p:sp>
        <p:nvSpPr>
          <p:cNvPr id="22" name="TextBox 28"/>
          <p:cNvSpPr txBox="1"/>
          <p:nvPr/>
        </p:nvSpPr>
        <p:spPr>
          <a:xfrm>
            <a:off x="5733288" y="3127248"/>
            <a:ext cx="3017520" cy="658368"/>
          </a:xfrm>
          <a:prstGeom prst="rect">
            <a:avLst/>
          </a:prstGeom>
          <a:noFill/>
        </p:spPr>
        <p:txBody>
          <a:bodyPr wrap="square" lIns="0" rIns="0" tIns="0" bIns="0" anchor="t">
            <a:spAutoFit/>
          </a:bodyPr>
          <a:lstStyle/>
          <a:p>
            <a:pPr algn="l"/>
            <a:r>
              <a:rPr sz="900" b="1" i="0">
                <a:solidFill>
                  <a:srgbClr val="2E2D29"/>
                </a:solidFill>
                <a:latin typeface="Calibri"/>
              </a:rPr>
              <a:t>Diastolic target kept below Pd</a:t>
            </a:r>
          </a:p>
          <a:p>
            <a:pPr algn="l"/>
            <a:r>
              <a:rPr sz="800" b="0" i="0">
                <a:solidFill>
                  <a:srgbClr val="6B6965"/>
                </a:solidFill>
                <a:latin typeface="Calibri"/>
              </a:rPr>
              <a:t>under regurgitation MPA pressure falls below Pd</a:t>
            </a:r>
          </a:p>
        </p:txBody>
      </p:sp>
      <p:sp>
        <p:nvSpPr>
          <p:cNvPr id="23" name="Oval 29"/>
          <p:cNvSpPr/>
          <p:nvPr/>
        </p:nvSpPr>
        <p:spPr>
          <a:xfrm>
            <a:off x="5413248" y="3877056"/>
            <a:ext cx="237744" cy="237744"/>
          </a:xfrm>
          <a:prstGeom prst="ellipse">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800" b="1" i="0">
                <a:solidFill>
                  <a:srgbClr val="FFFFFF"/>
                </a:solidFill>
                <a:latin typeface="Calibri"/>
              </a:rPr>
              <a:t>4</a:t>
            </a:r>
          </a:p>
        </p:txBody>
      </p:sp>
      <p:sp>
        <p:nvSpPr>
          <p:cNvPr id="24" name="TextBox 30"/>
          <p:cNvSpPr txBox="1"/>
          <p:nvPr/>
        </p:nvSpPr>
        <p:spPr>
          <a:xfrm>
            <a:off x="5733288" y="3840480"/>
            <a:ext cx="3017520" cy="658368"/>
          </a:xfrm>
          <a:prstGeom prst="rect">
            <a:avLst/>
          </a:prstGeom>
          <a:noFill/>
        </p:spPr>
        <p:txBody>
          <a:bodyPr wrap="square" lIns="0" rIns="0" tIns="0" bIns="0" anchor="t">
            <a:spAutoFit/>
          </a:bodyPr>
          <a:lstStyle/>
          <a:p>
            <a:pPr algn="l"/>
            <a:r>
              <a:rPr sz="900" b="1" i="0">
                <a:solidFill>
                  <a:srgbClr val="2E2D29"/>
                </a:solidFill>
                <a:latin typeface="Calibri"/>
              </a:rPr>
              <a:t>Gate in σ units</a:t>
            </a:r>
          </a:p>
          <a:p>
            <a:pPr algn="l"/>
            <a:r>
              <a:rPr sz="800" b="0" i="0">
                <a:solidFill>
                  <a:srgbClr val="6B6965"/>
                </a:solidFill>
                <a:latin typeface="Calibri"/>
              </a:rPr>
              <a:t>|model − target| ≤ 1σ, not 10% (0.3 mmHg on a 3 mmHg diastolic)</a:t>
            </a:r>
          </a:p>
        </p:txBody>
      </p:sp>
      <p:sp>
        <p:nvSpPr>
          <p:cNvPr id="25"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6" name="TextBox 32"/>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With the relative loss the optimizer traded 20+ mmHg of systolic and mean for diastolic (53–57 / 3 / 24–25 mmHg).</a:t>
            </a:r>
          </a:p>
        </p:txBody>
      </p:sp>
      <p:sp>
        <p:nvSpPr>
          <p:cNvPr id="27" name="TextBox 33"/>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Inner loop: shared fit, then a per-cap polish. Reason: Relative-error loss is two steps back; the chi-squared objective is on the loop slides.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The proximal 0D model gets wall compliance</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316736"/>
            <a:ext cx="1885950" cy="640080"/>
          </a:xfrm>
          <a:prstGeom prst="rect">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2E2D29"/>
                </a:solidFill>
                <a:latin typeface="Calibri"/>
              </a:rPr>
              <a:t>Raw learnedZeroD seed</a:t>
            </a:r>
          </a:p>
          <a:p>
            <a:pPr algn="ctr"/>
            <a:r>
              <a:rPr sz="700" b="0" i="0">
                <a:solidFill>
                  <a:srgbClr val="6B6965"/>
                </a:solidFill>
                <a:latin typeface="Calibri"/>
              </a:rPr>
              <a:t>R, L folded into junctions; zero-length connectors</a:t>
            </a:r>
          </a:p>
        </p:txBody>
      </p:sp>
      <p:cxnSp>
        <p:nvCxnSpPr>
          <p:cNvPr id="13" name="Connector 19"/>
          <p:cNvCxnSpPr/>
          <p:nvPr/>
        </p:nvCxnSpPr>
        <p:spPr>
          <a:xfrm>
            <a:off x="2251710" y="1636776"/>
            <a:ext cx="22860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20"/>
          <p:cNvSpPr/>
          <p:nvPr/>
        </p:nvSpPr>
        <p:spPr>
          <a:xfrm>
            <a:off x="2526030" y="1316736"/>
            <a:ext cx="1885950" cy="640080"/>
          </a:xfrm>
          <a:prstGeom prst="rect">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2E2D29"/>
                </a:solidFill>
                <a:latin typeface="Calibri"/>
              </a:rPr>
              <a:t>Length from centerline</a:t>
            </a:r>
          </a:p>
          <a:p>
            <a:pPr algn="ctr"/>
            <a:r>
              <a:rPr sz="700" b="0" i="0">
                <a:solidFill>
                  <a:srgbClr val="6B6965"/>
                </a:solidFill>
                <a:latin typeface="Calibri"/>
              </a:rPr>
              <a:t>branch length minus split connectors</a:t>
            </a:r>
          </a:p>
        </p:txBody>
      </p:sp>
      <p:cxnSp>
        <p:nvCxnSpPr>
          <p:cNvPr id="15" name="Connector 21"/>
          <p:cNvCxnSpPr/>
          <p:nvPr/>
        </p:nvCxnSpPr>
        <p:spPr>
          <a:xfrm>
            <a:off x="4457700" y="1636776"/>
            <a:ext cx="22860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22"/>
          <p:cNvSpPr/>
          <p:nvPr/>
        </p:nvSpPr>
        <p:spPr>
          <a:xfrm>
            <a:off x="4732020" y="1316736"/>
            <a:ext cx="1885950" cy="640080"/>
          </a:xfrm>
          <a:prstGeom prst="rect">
            <a:avLst/>
          </a:prstGeom>
          <a:solidFill>
            <a:srgbClr val="E9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2E2D29"/>
                </a:solidFill>
                <a:latin typeface="Calibri"/>
              </a:rPr>
              <a:t>Junction R, L → connector</a:t>
            </a:r>
          </a:p>
          <a:p>
            <a:pPr algn="ctr"/>
            <a:r>
              <a:rPr sz="700" b="0" i="0">
                <a:solidFill>
                  <a:srgbClr val="6B6965"/>
                </a:solidFill>
                <a:latin typeface="Calibri"/>
              </a:rPr>
              <a:t>negative L clamped to 0</a:t>
            </a:r>
          </a:p>
        </p:txBody>
      </p:sp>
      <p:cxnSp>
        <p:nvCxnSpPr>
          <p:cNvPr id="17" name="Connector 23"/>
          <p:cNvCxnSpPr/>
          <p:nvPr/>
        </p:nvCxnSpPr>
        <p:spPr>
          <a:xfrm>
            <a:off x="6663690" y="1636776"/>
            <a:ext cx="228600" cy="0"/>
          </a:xfrm>
          <a:prstGeom prst="line">
            <a:avLst/>
          </a:prstGeom>
          <a:ln w="15875">
            <a:solidFill>
              <a:srgbClr val="B5B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24"/>
          <p:cNvSpPr/>
          <p:nvPr/>
        </p:nvSpPr>
        <p:spPr>
          <a:xfrm>
            <a:off x="6938010" y="1316736"/>
            <a:ext cx="1885950" cy="640080"/>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900" b="1" i="0">
                <a:solidFill>
                  <a:srgbClr val="FFFFFF"/>
                </a:solidFill>
                <a:latin typeface="Calibri"/>
              </a:rPr>
              <a:t>C = 3AL / (2·Eh/r)</a:t>
            </a:r>
          </a:p>
          <a:p>
            <a:pPr algn="ctr"/>
            <a:r>
              <a:rPr sz="700" b="0" i="0">
                <a:solidFill>
                  <a:srgbClr val="FFFFFF"/>
                </a:solidFill>
                <a:latin typeface="Calibri"/>
              </a:rPr>
              <a:t>Eh/r = s·5×10⁴, recomputed every evaluation</a:t>
            </a:r>
          </a:p>
        </p:txBody>
      </p:sp>
      <p:sp>
        <p:nvSpPr>
          <p:cNvPr id="19" name="Rectangle 25"/>
          <p:cNvSpPr/>
          <p:nvPr/>
        </p:nvSpPr>
        <p:spPr>
          <a:xfrm>
            <a:off x="320040" y="2121408"/>
            <a:ext cx="4114800" cy="24688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TextBox 26"/>
          <p:cNvSpPr txBox="1"/>
          <p:nvPr/>
        </p:nvSpPr>
        <p:spPr>
          <a:xfrm>
            <a:off x="429768" y="2176272"/>
            <a:ext cx="3931920" cy="219456"/>
          </a:xfrm>
          <a:prstGeom prst="rect">
            <a:avLst/>
          </a:prstGeom>
          <a:noFill/>
        </p:spPr>
        <p:txBody>
          <a:bodyPr wrap="square" lIns="0" rIns="0" tIns="0" bIns="0" anchor="t">
            <a:spAutoFit/>
          </a:bodyPr>
          <a:lstStyle/>
          <a:p>
            <a:pPr algn="l"/>
            <a:r>
              <a:rPr sz="1000" b="1" i="0">
                <a:solidFill>
                  <a:srgbClr val="8C1515"/>
                </a:solidFill>
                <a:latin typeface="Calibri"/>
              </a:rPr>
              <a:t>Why each step is there</a:t>
            </a:r>
          </a:p>
        </p:txBody>
      </p:sp>
      <p:sp>
        <p:nvSpPr>
          <p:cNvPr id="21" name="TextBox 27"/>
          <p:cNvSpPr txBox="1"/>
          <p:nvPr/>
        </p:nvSpPr>
        <p:spPr>
          <a:xfrm>
            <a:off x="429768" y="2468880"/>
            <a:ext cx="1417320" cy="548640"/>
          </a:xfrm>
          <a:prstGeom prst="rect">
            <a:avLst/>
          </a:prstGeom>
          <a:noFill/>
        </p:spPr>
        <p:txBody>
          <a:bodyPr wrap="square" lIns="0" rIns="0" tIns="0" bIns="0" anchor="ctr">
            <a:spAutoFit/>
          </a:bodyPr>
          <a:lstStyle/>
          <a:p>
            <a:pPr algn="l"/>
            <a:r>
              <a:rPr sz="1400" b="1" i="0">
                <a:solidFill>
                  <a:srgbClr val="8C1515"/>
                </a:solidFill>
                <a:latin typeface="Calibri"/>
              </a:rPr>
              <a:t>15.64 mL</a:t>
            </a:r>
          </a:p>
        </p:txBody>
      </p:sp>
      <p:sp>
        <p:nvSpPr>
          <p:cNvPr id="22" name="TextBox 28"/>
          <p:cNvSpPr txBox="1"/>
          <p:nvPr/>
        </p:nvSpPr>
        <p:spPr>
          <a:xfrm>
            <a:off x="1874519" y="2468880"/>
            <a:ext cx="2468880" cy="548640"/>
          </a:xfrm>
          <a:prstGeom prst="rect">
            <a:avLst/>
          </a:prstGeom>
          <a:noFill/>
        </p:spPr>
        <p:txBody>
          <a:bodyPr wrap="square" lIns="0" rIns="0" tIns="0" bIns="0" anchor="ctr">
            <a:spAutoFit/>
          </a:bodyPr>
          <a:lstStyle/>
          <a:p>
            <a:pPr algn="l"/>
            <a:r>
              <a:rPr sz="800" b="0" i="0">
                <a:solidFill>
                  <a:srgbClr val="2E2D29"/>
                </a:solidFill>
                <a:latin typeface="Calibri"/>
              </a:rPr>
              <a:t>lumen, 0.626 mL/mmHg at s = 1: reproduces the calibrated seed's geometry on TST-STAN-5</a:t>
            </a:r>
          </a:p>
        </p:txBody>
      </p:sp>
      <p:sp>
        <p:nvSpPr>
          <p:cNvPr id="23" name="TextBox 29"/>
          <p:cNvSpPr txBox="1"/>
          <p:nvPr/>
        </p:nvSpPr>
        <p:spPr>
          <a:xfrm>
            <a:off x="429768" y="3163824"/>
            <a:ext cx="1417320" cy="548640"/>
          </a:xfrm>
          <a:prstGeom prst="rect">
            <a:avLst/>
          </a:prstGeom>
          <a:noFill/>
        </p:spPr>
        <p:txBody>
          <a:bodyPr wrap="square" lIns="0" rIns="0" tIns="0" bIns="0" anchor="ctr">
            <a:spAutoFit/>
          </a:bodyPr>
          <a:lstStyle/>
          <a:p>
            <a:pPr algn="l"/>
            <a:r>
              <a:rPr sz="1400" b="1" i="0">
                <a:solidFill>
                  <a:srgbClr val="8C1515"/>
                </a:solidFill>
                <a:latin typeface="Calibri"/>
              </a:rPr>
              <a:t>55 / 55</a:t>
            </a:r>
          </a:p>
        </p:txBody>
      </p:sp>
      <p:sp>
        <p:nvSpPr>
          <p:cNvPr id="24" name="TextBox 30"/>
          <p:cNvSpPr txBox="1"/>
          <p:nvPr/>
        </p:nvSpPr>
        <p:spPr>
          <a:xfrm>
            <a:off x="1874519" y="3163824"/>
            <a:ext cx="2468880" cy="548640"/>
          </a:xfrm>
          <a:prstGeom prst="rect">
            <a:avLst/>
          </a:prstGeom>
          <a:noFill/>
        </p:spPr>
        <p:txBody>
          <a:bodyPr wrap="square" lIns="0" rIns="0" tIns="0" bIns="0" anchor="ctr">
            <a:spAutoFit/>
          </a:bodyPr>
          <a:lstStyle/>
          <a:p>
            <a:pPr algn="l"/>
            <a:r>
              <a:rPr sz="800" b="0" i="0">
                <a:solidFill>
                  <a:srgbClr val="2E2D29"/>
                </a:solidFill>
                <a:latin typeface="Calibri"/>
              </a:rPr>
              <a:t>evaluations failed when compliant R = L = 0 connectors sat in front of the impedance outlets</a:t>
            </a:r>
          </a:p>
        </p:txBody>
      </p:sp>
      <p:sp>
        <p:nvSpPr>
          <p:cNvPr id="25" name="TextBox 31"/>
          <p:cNvSpPr txBox="1"/>
          <p:nvPr/>
        </p:nvSpPr>
        <p:spPr>
          <a:xfrm>
            <a:off x="429768" y="3858768"/>
            <a:ext cx="1417320" cy="548640"/>
          </a:xfrm>
          <a:prstGeom prst="rect">
            <a:avLst/>
          </a:prstGeom>
          <a:noFill/>
        </p:spPr>
        <p:txBody>
          <a:bodyPr wrap="square" lIns="0" rIns="0" tIns="0" bIns="0" anchor="ctr">
            <a:spAutoFit/>
          </a:bodyPr>
          <a:lstStyle/>
          <a:p>
            <a:pPr algn="l"/>
            <a:r>
              <a:rPr sz="1200" b="1" i="0">
                <a:solidFill>
                  <a:srgbClr val="8C1515"/>
                </a:solidFill>
                <a:latin typeface="Calibri"/>
              </a:rPr>
              <a:t>C ∝ scale³</a:t>
            </a:r>
          </a:p>
        </p:txBody>
      </p:sp>
      <p:sp>
        <p:nvSpPr>
          <p:cNvPr id="26" name="TextBox 32"/>
          <p:cNvSpPr txBox="1"/>
          <p:nvPr/>
        </p:nvSpPr>
        <p:spPr>
          <a:xfrm>
            <a:off x="1874519" y="3858768"/>
            <a:ext cx="2468880" cy="548640"/>
          </a:xfrm>
          <a:prstGeom prst="rect">
            <a:avLst/>
          </a:prstGeom>
          <a:noFill/>
        </p:spPr>
        <p:txBody>
          <a:bodyPr wrap="square" lIns="0" rIns="0" tIns="0" bIns="0" anchor="ctr">
            <a:spAutoFit/>
          </a:bodyPr>
          <a:lstStyle/>
          <a:p>
            <a:pPr algn="l"/>
            <a:r>
              <a:rPr sz="800" b="0" i="0">
                <a:solidFill>
                  <a:srgbClr val="2E2D29"/>
                </a:solidFill>
                <a:latin typeface="Calibri"/>
              </a:rPr>
              <a:t>staged (mesh-scaled) seeds: constant Eh/r gives s³, not s⁴, which kept TST-STAN-9's LPA split positive</a:t>
            </a:r>
          </a:p>
        </p:txBody>
      </p:sp>
      <p:sp>
        <p:nvSpPr>
          <p:cNvPr id="27" name="Rectangle 33"/>
          <p:cNvSpPr/>
          <p:nvPr/>
        </p:nvSpPr>
        <p:spPr>
          <a:xfrm>
            <a:off x="4617720" y="2121408"/>
            <a:ext cx="4206240" cy="24688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8" name="TextBox 34"/>
          <p:cNvSpPr txBox="1"/>
          <p:nvPr/>
        </p:nvSpPr>
        <p:spPr>
          <a:xfrm>
            <a:off x="4727448" y="2176272"/>
            <a:ext cx="4023360" cy="219456"/>
          </a:xfrm>
          <a:prstGeom prst="rect">
            <a:avLst/>
          </a:prstGeom>
          <a:noFill/>
        </p:spPr>
        <p:txBody>
          <a:bodyPr wrap="square" lIns="0" rIns="0" tIns="0" bIns="0" anchor="t">
            <a:spAutoFit/>
          </a:bodyPr>
          <a:lstStyle/>
          <a:p>
            <a:pPr algn="l"/>
            <a:r>
              <a:rPr sz="1000" b="1" i="0">
                <a:solidFill>
                  <a:srgbClr val="8C1515"/>
                </a:solidFill>
                <a:latin typeface="Calibri"/>
              </a:rPr>
              <a:t>3D wall matched per patient and iteration</a:t>
            </a:r>
          </a:p>
        </p:txBody>
      </p:sp>
      <p:sp>
        <p:nvSpPr>
          <p:cNvPr id="29" name="Rectangle 35"/>
          <p:cNvSpPr/>
          <p:nvPr/>
        </p:nvSpPr>
        <p:spPr>
          <a:xfrm>
            <a:off x="4727448" y="2468880"/>
            <a:ext cx="3986784" cy="384048"/>
          </a:xfrm>
          <a:prstGeom prst="rect">
            <a:avLst/>
          </a:prstGeom>
          <a:solidFill>
            <a:srgbClr val="FFFFFF"/>
          </a:solidFill>
          <a:ln w="9525">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i="0">
                <a:solidFill>
                  <a:srgbClr val="8C1515"/>
                </a:solidFill>
                <a:latin typeface="Calibri"/>
              </a:rPr>
              <a:t>E = matched E·h / h</a:t>
            </a:r>
            <a:r>
              <a:rPr sz="750" b="0" i="0">
                <a:solidFill>
                  <a:srgbClr val="6B6965"/>
                </a:solidFill>
                <a:latin typeface="Calibri"/>
              </a:rPr>
              <a:t>    elasticity_modulus: match_proximal_compliance</a:t>
            </a:r>
          </a:p>
        </p:txBody>
      </p:sp>
      <p:sp>
        <p:nvSpPr>
          <p:cNvPr id="30" name="TextBox 36"/>
          <p:cNvSpPr txBox="1"/>
          <p:nvPr/>
        </p:nvSpPr>
        <p:spPr>
          <a:xfrm>
            <a:off x="4727448" y="2962656"/>
            <a:ext cx="3977639" cy="1005840"/>
          </a:xfrm>
          <a:prstGeom prst="rect">
            <a:avLst/>
          </a:prstGeom>
          <a:noFill/>
        </p:spPr>
        <p:txBody>
          <a:bodyPr wrap="square" lIns="0" rIns="0" tIns="0" bIns="0" anchor="t">
            <a:spAutoFit/>
          </a:bodyPr>
          <a:lstStyle/>
          <a:p>
            <a:pPr algn="l">
              <a:spcAft>
                <a:spcPts val="200"/>
              </a:spcAft>
            </a:pPr>
            <a:r>
              <a:rPr sz="800" b="0" i="0">
                <a:solidFill>
                  <a:srgbClr val="2E2D29"/>
                </a:solidFill>
                <a:latin typeface="Calibri"/>
              </a:rPr>
              <a:t>• E·h = Eh/r · r_eff, r_eff = Σ(ALr)/Σ(AL); follows the tuned s</a:t>
            </a:r>
          </a:p>
          <a:p>
            <a:pPr algn="l">
              <a:spcAft>
                <a:spcPts val="200"/>
              </a:spcAft>
            </a:pPr>
            <a:r>
              <a:rPr sz="800" b="0" i="0">
                <a:solidFill>
                  <a:srgbClr val="2E2D29"/>
                </a:solidFill>
                <a:latin typeface="Calibri"/>
              </a:rPr>
              <a:t>• r_eff runs 0.47 cm (TST-STAN-1) to 0.98 cm (TST-STAN-9): one shared E left 3D walls up to 1.8× more compliant than 0D</a:t>
            </a:r>
          </a:p>
          <a:p>
            <a:pPr algn="l">
              <a:spcAft>
                <a:spcPts val="200"/>
              </a:spcAft>
            </a:pPr>
            <a:r>
              <a:rPr sz="800" b="0" i="0">
                <a:solidFill>
                  <a:srgbClr val="2E2D29"/>
                </a:solidFill>
                <a:latin typeface="Calibri"/>
              </a:rPr>
              <a:t>• A fixed numeric E with the tied multiplier raises a config warning</a:t>
            </a:r>
          </a:p>
        </p:txBody>
      </p:sp>
      <p:sp>
        <p:nvSpPr>
          <p:cNvPr id="31" name="Rectangle 37"/>
          <p:cNvSpPr/>
          <p:nvPr/>
        </p:nvSpPr>
        <p:spPr>
          <a:xfrm>
            <a:off x="4727448" y="4005072"/>
            <a:ext cx="3986784" cy="512064"/>
          </a:xfrm>
          <a:prstGeom prst="rect">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750" b="1" i="0">
                <a:solidFill>
                  <a:srgbClr val="E98300"/>
                </a:solidFill>
                <a:latin typeface="Calibri"/>
              </a:rPr>
              <a:t>Caveat  </a:t>
            </a:r>
            <a:r>
              <a:rPr sz="750" b="0" i="0">
                <a:solidFill>
                  <a:srgbClr val="2E2D29"/>
                </a:solidFill>
                <a:latin typeface="Calibri"/>
              </a:rPr>
              <a:t>At s = 1 the linear wall implies ~120% volume change over a 31 mmHg pulse, beyond CMM small strain. Measured stiffness remains the first future change.</a:t>
            </a:r>
          </a:p>
        </p:txBody>
      </p:sp>
      <p:sp>
        <p:nvSpPr>
          <p:cNvPr id="32"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3" name="TextBox 39"/>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With the tied multiplier every seed vessel's C is recomputed at the tuned s, including C kept from an earlier calibration.</a:t>
            </a:r>
          </a:p>
        </p:txBody>
      </p:sp>
      <p:sp>
        <p:nvSpPr>
          <p:cNvPr id="34" name="TextBox 40"/>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Fixed and tuned parameters. Reason: Proximal compliance is now a fixed rule under the tied multiplier.</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Distributing trees across the outlets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316736"/>
            <a:ext cx="8503920" cy="42062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500" b="1" i="0">
                <a:solidFill>
                  <a:srgbClr val="8C1515"/>
                </a:solidFill>
                <a:latin typeface="Calibri"/>
              </a:rPr>
              <a:t>d_tree  =  d_mean,side  +  s · ( d_cap  −  d_mean,side )</a:t>
            </a:r>
          </a:p>
        </p:txBody>
      </p:sp>
      <p:sp>
        <p:nvSpPr>
          <p:cNvPr id="13" name="Rectangle 19"/>
          <p:cNvSpPr/>
          <p:nvPr/>
        </p:nvSpPr>
        <p:spPr>
          <a:xfrm>
            <a:off x="320040" y="1865376"/>
            <a:ext cx="2712720" cy="12984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4" name="TextBox 20"/>
          <p:cNvSpPr txBox="1"/>
          <p:nvPr/>
        </p:nvSpPr>
        <p:spPr>
          <a:xfrm>
            <a:off x="429768" y="1920240"/>
            <a:ext cx="914400" cy="237744"/>
          </a:xfrm>
          <a:prstGeom prst="rect">
            <a:avLst/>
          </a:prstGeom>
          <a:noFill/>
        </p:spPr>
        <p:txBody>
          <a:bodyPr wrap="square" lIns="0" rIns="0" tIns="0" bIns="0" anchor="ctr">
            <a:spAutoFit/>
          </a:bodyPr>
          <a:lstStyle/>
          <a:p>
            <a:pPr algn="l"/>
            <a:r>
              <a:rPr sz="1100" b="1" i="0">
                <a:solidFill>
                  <a:srgbClr val="2E2D29"/>
                </a:solidFill>
                <a:latin typeface="Calibri"/>
              </a:rPr>
              <a:t>s = 0</a:t>
            </a:r>
          </a:p>
        </p:txBody>
      </p:sp>
      <p:sp>
        <p:nvSpPr>
          <p:cNvPr id="15" name="Rounded Rectangle 21"/>
          <p:cNvSpPr/>
          <p:nvPr/>
        </p:nvSpPr>
        <p:spPr>
          <a:xfrm>
            <a:off x="1551432" y="1929384"/>
            <a:ext cx="1371600" cy="201168"/>
          </a:xfrm>
          <a:prstGeom prst="roundRect">
            <a:avLst>
              <a:gd name="adj" fmla="val 30000"/>
            </a:avLst>
          </a:prstGeom>
          <a:solidFill>
            <a:srgbClr val="B5B3A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OPTIMIZER SURROGATE</a:t>
            </a:r>
          </a:p>
        </p:txBody>
      </p:sp>
      <p:sp>
        <p:nvSpPr>
          <p:cNvPr id="16" name="TextBox 22"/>
          <p:cNvSpPr txBox="1"/>
          <p:nvPr/>
        </p:nvSpPr>
        <p:spPr>
          <a:xfrm>
            <a:off x="429768" y="2212848"/>
            <a:ext cx="2493264" cy="914400"/>
          </a:xfrm>
          <a:prstGeom prst="rect">
            <a:avLst/>
          </a:prstGeom>
          <a:noFill/>
        </p:spPr>
        <p:txBody>
          <a:bodyPr wrap="square" lIns="0" rIns="0" tIns="0" bIns="0" anchor="t">
            <a:spAutoFit/>
          </a:bodyPr>
          <a:lstStyle/>
          <a:p>
            <a:pPr algn="l"/>
            <a:r>
              <a:rPr sz="800" b="0" i="0">
                <a:solidFill>
                  <a:srgbClr val="2E2D29"/>
                </a:solidFill>
                <a:latin typeface="Calibri"/>
              </a:rPr>
              <a:t>One side-mean tree per side at a conductance-matched diameter, N·G(d_ref) = ΣG(d_i). Used only inside the shared optimizer stage: ~9× cheaper per evaluation.</a:t>
            </a:r>
          </a:p>
        </p:txBody>
      </p:sp>
      <p:sp>
        <p:nvSpPr>
          <p:cNvPr id="17" name="Rectangle 23"/>
          <p:cNvSpPr/>
          <p:nvPr/>
        </p:nvSpPr>
        <p:spPr>
          <a:xfrm>
            <a:off x="3215640" y="1865376"/>
            <a:ext cx="2712720" cy="129844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8" name="TextBox 24"/>
          <p:cNvSpPr txBox="1"/>
          <p:nvPr/>
        </p:nvSpPr>
        <p:spPr>
          <a:xfrm>
            <a:off x="3325368" y="1920240"/>
            <a:ext cx="914400" cy="237744"/>
          </a:xfrm>
          <a:prstGeom prst="rect">
            <a:avLst/>
          </a:prstGeom>
          <a:noFill/>
        </p:spPr>
        <p:txBody>
          <a:bodyPr wrap="square" lIns="0" rIns="0" tIns="0" bIns="0" anchor="ctr">
            <a:spAutoFit/>
          </a:bodyPr>
          <a:lstStyle/>
          <a:p>
            <a:pPr algn="l"/>
            <a:r>
              <a:rPr sz="1100" b="1" i="0">
                <a:solidFill>
                  <a:srgbClr val="6B6965"/>
                </a:solidFill>
                <a:latin typeface="Calibri"/>
              </a:rPr>
              <a:t>s = 0.1</a:t>
            </a:r>
          </a:p>
        </p:txBody>
      </p:sp>
      <p:sp>
        <p:nvSpPr>
          <p:cNvPr id="19" name="Rounded Rectangle 25"/>
          <p:cNvSpPr/>
          <p:nvPr/>
        </p:nvSpPr>
        <p:spPr>
          <a:xfrm>
            <a:off x="4447032" y="1929384"/>
            <a:ext cx="1371600" cy="201168"/>
          </a:xfrm>
          <a:prstGeom prst="roundRect">
            <a:avLst>
              <a:gd name="adj" fmla="val 30000"/>
            </a:avLst>
          </a:prstGeom>
          <a:solidFill>
            <a:srgbClr val="B5B3A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PREVIOUS DEFAULT</a:t>
            </a:r>
          </a:p>
        </p:txBody>
      </p:sp>
      <p:sp>
        <p:nvSpPr>
          <p:cNvPr id="20" name="TextBox 26"/>
          <p:cNvSpPr txBox="1"/>
          <p:nvPr/>
        </p:nvSpPr>
        <p:spPr>
          <a:xfrm>
            <a:off x="3325368" y="2212848"/>
            <a:ext cx="2493264" cy="914400"/>
          </a:xfrm>
          <a:prstGeom prst="rect">
            <a:avLst/>
          </a:prstGeom>
          <a:noFill/>
        </p:spPr>
        <p:txBody>
          <a:bodyPr wrap="square" lIns="0" rIns="0" tIns="0" bIns="0" anchor="t">
            <a:spAutoFit/>
          </a:bodyPr>
          <a:lstStyle/>
          <a:p>
            <a:pPr algn="l"/>
            <a:r>
              <a:rPr sz="800" b="0" i="0">
                <a:solidFill>
                  <a:srgbClr val="2E2D29"/>
                </a:solidFill>
                <a:latin typeface="Calibri"/>
              </a:rPr>
              <a:t>Trees nudged toward each cap's own diameter for outlet stability. Fit worse than s = 1.0 in every matched comparison.</a:t>
            </a:r>
          </a:p>
        </p:txBody>
      </p:sp>
      <p:sp>
        <p:nvSpPr>
          <p:cNvPr id="21" name="Rectangle 27"/>
          <p:cNvSpPr/>
          <p:nvPr/>
        </p:nvSpPr>
        <p:spPr>
          <a:xfrm>
            <a:off x="6111240" y="1865376"/>
            <a:ext cx="2712720" cy="1298448"/>
          </a:xfrm>
          <a:prstGeom prst="rect">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2" name="TextBox 28"/>
          <p:cNvSpPr txBox="1"/>
          <p:nvPr/>
        </p:nvSpPr>
        <p:spPr>
          <a:xfrm>
            <a:off x="6220968" y="1920240"/>
            <a:ext cx="914400" cy="237744"/>
          </a:xfrm>
          <a:prstGeom prst="rect">
            <a:avLst/>
          </a:prstGeom>
          <a:noFill/>
        </p:spPr>
        <p:txBody>
          <a:bodyPr wrap="square" lIns="0" rIns="0" tIns="0" bIns="0" anchor="ctr">
            <a:spAutoFit/>
          </a:bodyPr>
          <a:lstStyle/>
          <a:p>
            <a:pPr algn="l"/>
            <a:r>
              <a:rPr sz="1100" b="1" i="0">
                <a:solidFill>
                  <a:srgbClr val="8C1515"/>
                </a:solidFill>
                <a:latin typeface="Calibri"/>
              </a:rPr>
              <a:t>s = 1.0</a:t>
            </a:r>
          </a:p>
        </p:txBody>
      </p:sp>
      <p:sp>
        <p:nvSpPr>
          <p:cNvPr id="23" name="Rounded Rectangle 29"/>
          <p:cNvSpPr/>
          <p:nvPr/>
        </p:nvSpPr>
        <p:spPr>
          <a:xfrm>
            <a:off x="7342632" y="1929384"/>
            <a:ext cx="1371600" cy="201168"/>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50" b="1" i="0">
                <a:solidFill>
                  <a:srgbClr val="FFFFFF"/>
                </a:solidFill>
                <a:latin typeface="Calibri"/>
              </a:rPr>
              <a:t>CURRENT: EXPORTED TO 3D</a:t>
            </a:r>
          </a:p>
        </p:txBody>
      </p:sp>
      <p:sp>
        <p:nvSpPr>
          <p:cNvPr id="24" name="TextBox 30"/>
          <p:cNvSpPr txBox="1"/>
          <p:nvPr/>
        </p:nvSpPr>
        <p:spPr>
          <a:xfrm>
            <a:off x="6220968" y="2212848"/>
            <a:ext cx="2493264" cy="914400"/>
          </a:xfrm>
          <a:prstGeom prst="rect">
            <a:avLst/>
          </a:prstGeom>
          <a:noFill/>
        </p:spPr>
        <p:txBody>
          <a:bodyPr wrap="square" lIns="0" rIns="0" tIns="0" bIns="0" anchor="t">
            <a:spAutoFit/>
          </a:bodyPr>
          <a:lstStyle/>
          <a:p>
            <a:pPr algn="l"/>
            <a:r>
              <a:rPr sz="800" b="0" i="0">
                <a:solidFill>
                  <a:srgbClr val="2E2D29"/>
                </a:solidFill>
                <a:latin typeface="Calibri"/>
              </a:rPr>
              <a:t>One tree per cap at its measured diameter d = 2√(A/π). Oversized caps (rpa_2, d 0.854 cm) hit 1M nodes and are flagged; 2M nodes moves diastolic 0.25 mmHg.</a:t>
            </a:r>
          </a:p>
        </p:txBody>
      </p:sp>
      <p:sp>
        <p:nvSpPr>
          <p:cNvPr id="25" name="TextBox 31"/>
          <p:cNvSpPr txBox="1"/>
          <p:nvPr/>
        </p:nvSpPr>
        <p:spPr>
          <a:xfrm>
            <a:off x="320040" y="3291840"/>
            <a:ext cx="4754880" cy="201168"/>
          </a:xfrm>
          <a:prstGeom prst="rect">
            <a:avLst/>
          </a:prstGeom>
          <a:noFill/>
        </p:spPr>
        <p:txBody>
          <a:bodyPr wrap="square" lIns="0" rIns="0" tIns="0" bIns="0" anchor="t">
            <a:spAutoFit/>
          </a:bodyPr>
          <a:lstStyle/>
          <a:p>
            <a:pPr algn="l"/>
            <a:r>
              <a:rPr sz="1000" b="1" i="0">
                <a:solidFill>
                  <a:srgbClr val="8C1515"/>
                </a:solidFill>
                <a:latin typeface="Calibri"/>
              </a:rPr>
              <a:t>Published χ², matched runs: s = 0.1 vs s = 1.0</a:t>
            </a:r>
          </a:p>
        </p:txBody>
      </p:sp>
      <p:graphicFrame>
        <p:nvGraphicFramePr>
          <p:cNvPr id="26" name="Chart 32"/>
          <p:cNvGraphicFramePr>
            <a:graphicFrameLocks noGrp="1"/>
          </p:cNvGraphicFramePr>
          <p:nvPr/>
        </p:nvGraphicFramePr>
        <p:xfrm>
          <a:off x="320040" y="3474720"/>
          <a:ext cx="4846320" cy="1170432"/>
        </p:xfrm>
        <a:graphic>
          <a:graphicData uri="http://schemas.openxmlformats.org/drawingml/2006/chart">
            <c:chart xmlns:c="http://schemas.openxmlformats.org/drawingml/2006/chart" r:id="rId2"/>
          </a:graphicData>
        </a:graphic>
      </p:graphicFrame>
      <p:sp>
        <p:nvSpPr>
          <p:cNvPr id="27" name="Rectangle 33"/>
          <p:cNvSpPr/>
          <p:nvPr/>
        </p:nvSpPr>
        <p:spPr>
          <a:xfrm>
            <a:off x="5394960" y="3291840"/>
            <a:ext cx="3429000" cy="13167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8" name="TextBox 34"/>
          <p:cNvSpPr txBox="1"/>
          <p:nvPr/>
        </p:nvSpPr>
        <p:spPr>
          <a:xfrm>
            <a:off x="5504688" y="3346704"/>
            <a:ext cx="3200400" cy="201168"/>
          </a:xfrm>
          <a:prstGeom prst="rect">
            <a:avLst/>
          </a:prstGeom>
          <a:noFill/>
        </p:spPr>
        <p:txBody>
          <a:bodyPr wrap="square" lIns="0" rIns="0" tIns="0" bIns="0" anchor="t">
            <a:spAutoFit/>
          </a:bodyPr>
          <a:lstStyle/>
          <a:p>
            <a:pPr algn="l"/>
            <a:r>
              <a:rPr sz="1000" b="1" i="0">
                <a:solidFill>
                  <a:srgbClr val="8C1515"/>
                </a:solidFill>
                <a:latin typeface="Calibri"/>
              </a:rPr>
              <a:t>What changed</a:t>
            </a:r>
          </a:p>
        </p:txBody>
      </p:sp>
      <p:sp>
        <p:nvSpPr>
          <p:cNvPr id="29" name="TextBox 35"/>
          <p:cNvSpPr txBox="1"/>
          <p:nvPr/>
        </p:nvSpPr>
        <p:spPr>
          <a:xfrm>
            <a:off x="5504688" y="3584448"/>
            <a:ext cx="3200400" cy="1005840"/>
          </a:xfrm>
          <a:prstGeom prst="rect">
            <a:avLst/>
          </a:prstGeom>
          <a:noFill/>
        </p:spPr>
        <p:txBody>
          <a:bodyPr wrap="square" lIns="0" rIns="0" tIns="0" bIns="0" anchor="t">
            <a:spAutoFit/>
          </a:bodyPr>
          <a:lstStyle/>
          <a:p>
            <a:pPr algn="l">
              <a:spcAft>
                <a:spcPts val="200"/>
              </a:spcAft>
            </a:pPr>
            <a:r>
              <a:rPr sz="800" b="0" i="0">
                <a:solidFill>
                  <a:srgbClr val="2E2D29"/>
                </a:solidFill>
                <a:latin typeface="Calibri"/>
              </a:rPr>
              <a:t>• No arbitrary shrinkage toward the side mean: exported geometry is measured geometry</a:t>
            </a:r>
          </a:p>
          <a:p>
            <a:pPr algn="l">
              <a:spcAft>
                <a:spcPts val="200"/>
              </a:spcAft>
            </a:pPr>
            <a:r>
              <a:rPr sz="800" b="0" i="0">
                <a:solidFill>
                  <a:srgbClr val="2E2D29"/>
                </a:solidFill>
                <a:latin typeface="Calibri"/>
              </a:rPr>
              <a:t>• All per-cap published models in the study converged at the default solver tolerance</a:t>
            </a:r>
          </a:p>
          <a:p>
            <a:pPr algn="l">
              <a:spcAft>
                <a:spcPts val="200"/>
              </a:spcAft>
            </a:pPr>
            <a:r>
              <a:rPr sz="800" b="0" i="0">
                <a:solidFill>
                  <a:srgbClr val="2E2D29"/>
                </a:solidFill>
                <a:latin typeface="Calibri"/>
              </a:rPr>
              <a:t>• The surrogate's bias (~2.6 mmHg) is removed by the per-cap polish (slide 21)</a:t>
            </a:r>
          </a:p>
        </p:txBody>
      </p:sp>
      <p:sp>
        <p:nvSpPr>
          <p:cNvPr id="30"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1" name="TextBox 37"/>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Exported trees sit at the measured cap diameters; the side-mean tree survives only as the optimizer's surrogate.</a:t>
            </a:r>
          </a:p>
        </p:txBody>
      </p:sp>
      <p:sp>
        <p:nvSpPr>
          <p:cNvPr id="32" name="TextBox 38"/>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Fixed and tuned parameters. Reason: One tree per cap at the measured diameter is now a fixed default.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From tree geometry to an impedance boundary condition</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444752"/>
            <a:ext cx="1933956" cy="11704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9"/>
          <p:cNvSpPr txBox="1"/>
          <p:nvPr/>
        </p:nvSpPr>
        <p:spPr>
          <a:xfrm>
            <a:off x="411479" y="1554480"/>
            <a:ext cx="1751076" cy="237744"/>
          </a:xfrm>
          <a:prstGeom prst="rect">
            <a:avLst/>
          </a:prstGeom>
          <a:noFill/>
        </p:spPr>
        <p:txBody>
          <a:bodyPr wrap="square" lIns="27432" tIns="0" rIns="27432" bIns="0" anchor="t">
            <a:spAutoFit/>
          </a:bodyPr>
          <a:lstStyle/>
          <a:p>
            <a:pPr algn="l"/>
            <a:r>
              <a:rPr sz="1050" b="1" i="0">
                <a:solidFill>
                  <a:srgbClr val="8C1515"/>
                </a:solidFill>
                <a:latin typeface="Calibri"/>
              </a:rPr>
              <a:t>Linearize</a:t>
            </a:r>
          </a:p>
        </p:txBody>
      </p:sp>
      <p:sp>
        <p:nvSpPr>
          <p:cNvPr id="14" name="TextBox 20"/>
          <p:cNvSpPr txBox="1"/>
          <p:nvPr/>
        </p:nvSpPr>
        <p:spPr>
          <a:xfrm>
            <a:off x="411479" y="1847088"/>
            <a:ext cx="1751076" cy="713232"/>
          </a:xfrm>
          <a:prstGeom prst="rect">
            <a:avLst/>
          </a:prstGeom>
          <a:noFill/>
        </p:spPr>
        <p:txBody>
          <a:bodyPr wrap="square" lIns="27432" tIns="0" rIns="27432" bIns="0" anchor="t">
            <a:spAutoFit/>
          </a:bodyPr>
          <a:lstStyle/>
          <a:p>
            <a:pPr algn="l">
              <a:lnSpc>
                <a:spcPct val="112000"/>
              </a:lnSpc>
            </a:pPr>
            <a:r>
              <a:rPr sz="850" b="0" i="0">
                <a:solidFill>
                  <a:srgbClr val="2E2D29"/>
                </a:solidFill>
                <a:latin typeface="Calibri"/>
              </a:rPr>
              <a:t>Navier–Stokes in each vessel,</a:t>
            </a:r>
          </a:p>
          <a:p>
            <a:pPr algn="l">
              <a:lnSpc>
                <a:spcPct val="112000"/>
              </a:lnSpc>
            </a:pPr>
            <a:r>
              <a:rPr sz="850" b="0" i="0">
                <a:solidFill>
                  <a:srgbClr val="2E2D29"/>
                </a:solidFill>
                <a:latin typeface="Calibri"/>
              </a:rPr>
              <a:t>Womersley solution per frequency</a:t>
            </a:r>
          </a:p>
        </p:txBody>
      </p:sp>
      <p:sp>
        <p:nvSpPr>
          <p:cNvPr id="15" name="Right Arrow 21"/>
          <p:cNvSpPr/>
          <p:nvPr/>
        </p:nvSpPr>
        <p:spPr>
          <a:xfrm>
            <a:off x="2299716" y="1920240"/>
            <a:ext cx="164592" cy="182880"/>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22"/>
          <p:cNvSpPr/>
          <p:nvPr/>
        </p:nvSpPr>
        <p:spPr>
          <a:xfrm>
            <a:off x="2510028" y="1444752"/>
            <a:ext cx="1933956" cy="11704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23"/>
          <p:cNvSpPr txBox="1"/>
          <p:nvPr/>
        </p:nvSpPr>
        <p:spPr>
          <a:xfrm>
            <a:off x="2601468" y="1554480"/>
            <a:ext cx="1751076" cy="237744"/>
          </a:xfrm>
          <a:prstGeom prst="rect">
            <a:avLst/>
          </a:prstGeom>
          <a:noFill/>
        </p:spPr>
        <p:txBody>
          <a:bodyPr wrap="square" lIns="27432" tIns="0" rIns="27432" bIns="0" anchor="t">
            <a:spAutoFit/>
          </a:bodyPr>
          <a:lstStyle/>
          <a:p>
            <a:pPr algn="l"/>
            <a:r>
              <a:rPr sz="1050" b="1" i="0">
                <a:solidFill>
                  <a:srgbClr val="8C1515"/>
                </a:solidFill>
                <a:latin typeface="Calibri"/>
              </a:rPr>
              <a:t>Vessel impedance</a:t>
            </a:r>
          </a:p>
        </p:txBody>
      </p:sp>
      <p:sp>
        <p:nvSpPr>
          <p:cNvPr id="18" name="TextBox 24"/>
          <p:cNvSpPr txBox="1"/>
          <p:nvPr/>
        </p:nvSpPr>
        <p:spPr>
          <a:xfrm>
            <a:off x="2601468" y="1847088"/>
            <a:ext cx="1751076" cy="713232"/>
          </a:xfrm>
          <a:prstGeom prst="rect">
            <a:avLst/>
          </a:prstGeom>
          <a:noFill/>
        </p:spPr>
        <p:txBody>
          <a:bodyPr wrap="square" lIns="27432" tIns="0" rIns="27432" bIns="0" anchor="t">
            <a:spAutoFit/>
          </a:bodyPr>
          <a:lstStyle/>
          <a:p>
            <a:pPr algn="l">
              <a:lnSpc>
                <a:spcPct val="112000"/>
              </a:lnSpc>
            </a:pPr>
            <a:r>
              <a:rPr sz="850" b="0" i="0">
                <a:solidFill>
                  <a:srgbClr val="2E2D29"/>
                </a:solidFill>
                <a:latin typeface="Calibri"/>
              </a:rPr>
              <a:t>Wave speed and impedance</a:t>
            </a:r>
          </a:p>
          <a:p>
            <a:pPr algn="l">
              <a:lnSpc>
                <a:spcPct val="112000"/>
              </a:lnSpc>
            </a:pPr>
            <a:r>
              <a:rPr sz="850" b="0" i="0">
                <a:solidFill>
                  <a:srgbClr val="2E2D29"/>
                </a:solidFill>
                <a:latin typeface="Calibri"/>
              </a:rPr>
              <a:t>from radius and wall compliance</a:t>
            </a:r>
          </a:p>
        </p:txBody>
      </p:sp>
      <p:sp>
        <p:nvSpPr>
          <p:cNvPr id="19" name="Right Arrow 25"/>
          <p:cNvSpPr/>
          <p:nvPr/>
        </p:nvSpPr>
        <p:spPr>
          <a:xfrm>
            <a:off x="4489704" y="1920240"/>
            <a:ext cx="164592" cy="182880"/>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26"/>
          <p:cNvSpPr/>
          <p:nvPr/>
        </p:nvSpPr>
        <p:spPr>
          <a:xfrm>
            <a:off x="4700016" y="1444752"/>
            <a:ext cx="1933956" cy="11704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7"/>
          <p:cNvSpPr txBox="1"/>
          <p:nvPr/>
        </p:nvSpPr>
        <p:spPr>
          <a:xfrm>
            <a:off x="4791456" y="1554480"/>
            <a:ext cx="1751076" cy="237744"/>
          </a:xfrm>
          <a:prstGeom prst="rect">
            <a:avLst/>
          </a:prstGeom>
          <a:noFill/>
        </p:spPr>
        <p:txBody>
          <a:bodyPr wrap="square" lIns="27432" tIns="0" rIns="27432" bIns="0" anchor="t">
            <a:spAutoFit/>
          </a:bodyPr>
          <a:lstStyle/>
          <a:p>
            <a:pPr algn="l"/>
            <a:r>
              <a:rPr sz="1050" b="1" i="0">
                <a:solidFill>
                  <a:srgbClr val="8C1515"/>
                </a:solidFill>
                <a:latin typeface="Calibri"/>
              </a:rPr>
              <a:t>Recurse</a:t>
            </a:r>
          </a:p>
        </p:txBody>
      </p:sp>
      <p:sp>
        <p:nvSpPr>
          <p:cNvPr id="22" name="TextBox 28"/>
          <p:cNvSpPr txBox="1"/>
          <p:nvPr/>
        </p:nvSpPr>
        <p:spPr>
          <a:xfrm>
            <a:off x="4791456" y="1847088"/>
            <a:ext cx="1751076" cy="713232"/>
          </a:xfrm>
          <a:prstGeom prst="rect">
            <a:avLst/>
          </a:prstGeom>
          <a:noFill/>
        </p:spPr>
        <p:txBody>
          <a:bodyPr wrap="square" lIns="27432" tIns="0" rIns="27432" bIns="0" anchor="t">
            <a:spAutoFit/>
          </a:bodyPr>
          <a:lstStyle/>
          <a:p>
            <a:pPr algn="l">
              <a:lnSpc>
                <a:spcPct val="112000"/>
              </a:lnSpc>
            </a:pPr>
            <a:r>
              <a:rPr sz="850" b="0" i="0">
                <a:solidFill>
                  <a:srgbClr val="2E2D29"/>
                </a:solidFill>
                <a:latin typeface="Calibri"/>
              </a:rPr>
              <a:t>Combine daughter impedances</a:t>
            </a:r>
          </a:p>
          <a:p>
            <a:pPr algn="l">
              <a:lnSpc>
                <a:spcPct val="112000"/>
              </a:lnSpc>
            </a:pPr>
            <a:r>
              <a:rPr sz="850" b="0" i="0">
                <a:solidFill>
                  <a:srgbClr val="2E2D29"/>
                </a:solidFill>
                <a:latin typeface="Calibri"/>
              </a:rPr>
              <a:t>up to the tree root</a:t>
            </a:r>
          </a:p>
        </p:txBody>
      </p:sp>
      <p:sp>
        <p:nvSpPr>
          <p:cNvPr id="23" name="Right Arrow 29"/>
          <p:cNvSpPr/>
          <p:nvPr/>
        </p:nvSpPr>
        <p:spPr>
          <a:xfrm>
            <a:off x="6679692" y="1920240"/>
            <a:ext cx="164592" cy="182880"/>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30"/>
          <p:cNvSpPr/>
          <p:nvPr/>
        </p:nvSpPr>
        <p:spPr>
          <a:xfrm>
            <a:off x="6890004" y="1444752"/>
            <a:ext cx="1933956" cy="11704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31"/>
          <p:cNvSpPr txBox="1"/>
          <p:nvPr/>
        </p:nvSpPr>
        <p:spPr>
          <a:xfrm>
            <a:off x="6981444" y="1554480"/>
            <a:ext cx="1751076" cy="237744"/>
          </a:xfrm>
          <a:prstGeom prst="rect">
            <a:avLst/>
          </a:prstGeom>
          <a:noFill/>
        </p:spPr>
        <p:txBody>
          <a:bodyPr wrap="square" lIns="27432" tIns="0" rIns="27432" bIns="0" anchor="t">
            <a:spAutoFit/>
          </a:bodyPr>
          <a:lstStyle/>
          <a:p>
            <a:pPr algn="l"/>
            <a:r>
              <a:rPr sz="1050" b="1" i="0">
                <a:solidFill>
                  <a:srgbClr val="8C1515"/>
                </a:solidFill>
                <a:latin typeface="Calibri"/>
              </a:rPr>
              <a:t>Inverse FFT</a:t>
            </a:r>
          </a:p>
        </p:txBody>
      </p:sp>
      <p:sp>
        <p:nvSpPr>
          <p:cNvPr id="26" name="TextBox 32"/>
          <p:cNvSpPr txBox="1"/>
          <p:nvPr/>
        </p:nvSpPr>
        <p:spPr>
          <a:xfrm>
            <a:off x="6981444" y="1847088"/>
            <a:ext cx="1751076" cy="713232"/>
          </a:xfrm>
          <a:prstGeom prst="rect">
            <a:avLst/>
          </a:prstGeom>
          <a:noFill/>
        </p:spPr>
        <p:txBody>
          <a:bodyPr wrap="square" lIns="27432" tIns="0" rIns="27432" bIns="0" anchor="t">
            <a:spAutoFit/>
          </a:bodyPr>
          <a:lstStyle/>
          <a:p>
            <a:pPr algn="l">
              <a:lnSpc>
                <a:spcPct val="112000"/>
              </a:lnSpc>
            </a:pPr>
            <a:r>
              <a:rPr sz="850" b="0" i="0">
                <a:solidFill>
                  <a:srgbClr val="2E2D29"/>
                </a:solidFill>
                <a:latin typeface="Calibri"/>
              </a:rPr>
              <a:t>Root impedance returned to the</a:t>
            </a:r>
          </a:p>
          <a:p>
            <a:pPr algn="l">
              <a:lnSpc>
                <a:spcPct val="112000"/>
              </a:lnSpc>
            </a:pPr>
            <a:r>
              <a:rPr sz="850" b="0" i="0">
                <a:solidFill>
                  <a:srgbClr val="2E2D29"/>
                </a:solidFill>
                <a:latin typeface="Calibri"/>
              </a:rPr>
              <a:t>time domain as an outlet BC</a:t>
            </a:r>
          </a:p>
        </p:txBody>
      </p:sp>
      <p:sp>
        <p:nvSpPr>
          <p:cNvPr id="27" name="Rectangle 33"/>
          <p:cNvSpPr/>
          <p:nvPr/>
        </p:nvSpPr>
        <p:spPr>
          <a:xfrm>
            <a:off x="320040" y="2798064"/>
            <a:ext cx="4160520" cy="14173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34"/>
          <p:cNvSpPr txBox="1"/>
          <p:nvPr/>
        </p:nvSpPr>
        <p:spPr>
          <a:xfrm>
            <a:off x="448056" y="2898648"/>
            <a:ext cx="3904487" cy="219456"/>
          </a:xfrm>
          <a:prstGeom prst="rect">
            <a:avLst/>
          </a:prstGeom>
          <a:noFill/>
        </p:spPr>
        <p:txBody>
          <a:bodyPr wrap="square" lIns="27432" tIns="0" rIns="27432" bIns="0" anchor="t">
            <a:spAutoFit/>
          </a:bodyPr>
          <a:lstStyle/>
          <a:p>
            <a:pPr algn="l"/>
            <a:r>
              <a:rPr sz="1100" b="1" i="0">
                <a:solidFill>
                  <a:srgbClr val="8C1515"/>
                </a:solidFill>
                <a:latin typeface="Calibri"/>
              </a:rPr>
              <a:t>Wall compliance model</a:t>
            </a:r>
          </a:p>
        </p:txBody>
      </p:sp>
      <p:sp>
        <p:nvSpPr>
          <p:cNvPr id="29" name="TextBox 35"/>
          <p:cNvSpPr txBox="1"/>
          <p:nvPr/>
        </p:nvSpPr>
        <p:spPr>
          <a:xfrm>
            <a:off x="448056" y="3172968"/>
            <a:ext cx="3904487" cy="1005840"/>
          </a:xfrm>
          <a:prstGeom prst="rect">
            <a:avLst/>
          </a:prstGeom>
          <a:noFill/>
        </p:spPr>
        <p:txBody>
          <a:bodyPr wrap="square" lIns="27432" tIns="0" rIns="27432" bIns="0">
            <a:spAutoFit/>
          </a:bodyPr>
          <a:lstStyle/>
          <a:p>
            <a:pPr>
              <a:spcAft>
                <a:spcPts val="350"/>
              </a:spcAft>
            </a:pPr>
            <a:r>
              <a:rPr sz="900">
                <a:solidFill>
                  <a:srgbClr val="8C1515"/>
                </a:solidFill>
                <a:latin typeface="Calibri"/>
              </a:rPr>
              <a:t>• Eh/r₀ = k₁ exp(k₂r₀) + k₃, with pulmonary k₁ = 2.6×10⁵ dyn/cm² and k₂ = −14 cm⁻¹ fixed</a:t>
            </a:r>
          </a:p>
          <a:p>
            <a:pPr>
              <a:spcAft>
                <a:spcPts val="350"/>
              </a:spcAft>
            </a:pPr>
            <a:r>
              <a:rPr sz="900">
                <a:solidFill>
                  <a:srgbClr val="8C1515"/>
                </a:solidFill>
                <a:latin typeface="Calibri"/>
              </a:rPr>
              <a:t>• k₃ = s · 10⁵, tied to the proximal wall through one multiplier s ∈ [0.5, 20] (slide 44)</a:t>
            </a:r>
          </a:p>
          <a:p>
            <a:pPr>
              <a:spcAft>
                <a:spcPts val="350"/>
              </a:spcAft>
            </a:pPr>
            <a:r>
              <a:rPr sz="900">
                <a:solidFill>
                  <a:srgbClr val="8C1515"/>
                </a:solidFill>
                <a:latin typeface="Calibri"/>
              </a:rPr>
              <a:t>• Sensitivity: proximal wall and outlet pressure move χ² by 11–23; k₃, k₂ and η by ≤ 1</a:t>
            </a:r>
          </a:p>
        </p:txBody>
      </p:sp>
      <p:sp>
        <p:nvSpPr>
          <p:cNvPr id="30" name="Rectangle 36"/>
          <p:cNvSpPr/>
          <p:nvPr/>
        </p:nvSpPr>
        <p:spPr>
          <a:xfrm>
            <a:off x="4663440" y="2798064"/>
            <a:ext cx="4160520" cy="14173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7"/>
          <p:cNvSpPr txBox="1"/>
          <p:nvPr/>
        </p:nvSpPr>
        <p:spPr>
          <a:xfrm>
            <a:off x="4791455" y="2898648"/>
            <a:ext cx="3904487" cy="219456"/>
          </a:xfrm>
          <a:prstGeom prst="rect">
            <a:avLst/>
          </a:prstGeom>
          <a:noFill/>
        </p:spPr>
        <p:txBody>
          <a:bodyPr wrap="square" lIns="27432" tIns="0" rIns="27432" bIns="0" anchor="t">
            <a:spAutoFit/>
          </a:bodyPr>
          <a:lstStyle/>
          <a:p>
            <a:pPr algn="l"/>
            <a:r>
              <a:rPr sz="1100" b="1" i="0">
                <a:solidFill>
                  <a:srgbClr val="8C1515"/>
                </a:solidFill>
                <a:latin typeface="Calibri"/>
              </a:rPr>
              <a:t>3D–0D coupling</a:t>
            </a:r>
          </a:p>
        </p:txBody>
      </p:sp>
      <p:sp>
        <p:nvSpPr>
          <p:cNvPr id="32" name="TextBox 38"/>
          <p:cNvSpPr txBox="1"/>
          <p:nvPr/>
        </p:nvSpPr>
        <p:spPr>
          <a:xfrm>
            <a:off x="4791455" y="3172968"/>
            <a:ext cx="3904487" cy="1005840"/>
          </a:xfrm>
          <a:prstGeom prst="rect">
            <a:avLst/>
          </a:prstGeom>
          <a:noFill/>
        </p:spPr>
        <p:txBody>
          <a:bodyPr wrap="square" lIns="27432" tIns="0" rIns="27432" bIns="0">
            <a:spAutoFit/>
          </a:bodyPr>
          <a:lstStyle/>
          <a:p>
            <a:pPr>
              <a:spcAft>
                <a:spcPts val="350"/>
              </a:spcAft>
            </a:pPr>
            <a:r>
              <a:rPr sz="900">
                <a:solidFill>
                  <a:srgbClr val="8C1515"/>
                </a:solidFill>
                <a:latin typeface="Calibri"/>
              </a:rPr>
              <a:t>• </a:t>
            </a:r>
            <a:r>
              <a:rPr sz="900">
                <a:solidFill>
                  <a:srgbClr val="2E2D29"/>
                </a:solidFill>
                <a:latin typeface="Calibri"/>
              </a:rPr>
              <a:t>Impedance BCs are applied through svZeroDSolver coupled to svMultiPhysics</a:t>
            </a:r>
          </a:p>
          <a:p>
            <a:pPr>
              <a:spcAft>
                <a:spcPts val="350"/>
              </a:spcAft>
            </a:pPr>
            <a:r>
              <a:rPr sz="900">
                <a:solidFill>
                  <a:srgbClr val="8C1515"/>
                </a:solidFill>
                <a:latin typeface="Calibri"/>
              </a:rPr>
              <a:t>• </a:t>
            </a:r>
            <a:r>
              <a:rPr sz="900">
                <a:solidFill>
                  <a:srgbClr val="2E2D29"/>
                </a:solidFill>
                <a:latin typeface="Calibri"/>
              </a:rPr>
              <a:t>The coupler retains the flow history over the last cardiac period for the convolution</a:t>
            </a:r>
          </a:p>
          <a:p>
            <a:pPr>
              <a:spcAft>
                <a:spcPts val="350"/>
              </a:spcAft>
            </a:pPr>
            <a:r>
              <a:rPr sz="900">
                <a:solidFill>
                  <a:srgbClr val="8C1515"/>
                </a:solidFill>
                <a:latin typeface="Calibri"/>
              </a:rPr>
              <a:t>• </a:t>
            </a:r>
            <a:r>
              <a:rPr sz="900">
                <a:solidFill>
                  <a:srgbClr val="2E2D29"/>
                </a:solidFill>
                <a:latin typeface="Calibri"/>
              </a:rPr>
              <a:t>Z[0] enters the constant global system, which is what made the coupling robust</a:t>
            </a:r>
          </a:p>
        </p:txBody>
      </p:sp>
      <p:sp>
        <p:nvSpPr>
          <p:cNvPr id="33" name="Rectangle 39"/>
          <p:cNvSpPr/>
          <p:nvPr/>
        </p:nvSpPr>
        <p:spPr>
          <a:xfrm>
            <a:off x="320040" y="4407408"/>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40"/>
          <p:cNvSpPr txBox="1"/>
          <p:nvPr/>
        </p:nvSpPr>
        <p:spPr>
          <a:xfrm>
            <a:off x="429768" y="4407408"/>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The tree is evaluated as a frequency-domain impedance — never as a resolved 0D network at run time.</a:t>
            </a:r>
          </a:p>
        </p:txBody>
      </p:sp>
      <p:sp>
        <p:nvSpPr>
          <p:cNvPr id="35" name="TextBox 41"/>
          <p:cNvSpPr txBox="1"/>
          <p:nvPr/>
        </p:nvSpPr>
        <p:spPr>
          <a:xfrm>
            <a:off x="2011680" y="5376672"/>
            <a:ext cx="6812280" cy="201168"/>
          </a:xfrm>
          <a:prstGeom prst="rect">
            <a:avLst/>
          </a:prstGeom>
          <a:noFill/>
        </p:spPr>
        <p:txBody>
          <a:bodyPr wrap="square" lIns="27432" tIns="0" rIns="27432" bIns="0" anchor="t">
            <a:spAutoFit/>
          </a:bodyPr>
          <a:lstStyle/>
          <a:p>
            <a:pPr algn="l"/>
            <a:r>
              <a:rPr sz="700" b="0" i="1">
                <a:solidFill>
                  <a:srgbClr val="6B6965"/>
                </a:solidFill>
                <a:latin typeface="Calibri"/>
              </a:rPr>
              <a:t>Archived 2026-10-22. Replaced by: Structured-tree boundary conditions. Reason: Background detail over the Stage 2 budget; the intro slide covers the impedance.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Structured-tree geometry and scaling</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pic>
        <p:nvPicPr>
          <p:cNvPr id="12" name="Picture 18" descr="schematic_tree_geometry.png"/>
          <p:cNvPicPr>
            <a:picLocks noChangeAspect="1"/>
          </p:cNvPicPr>
          <p:nvPr/>
        </p:nvPicPr>
        <p:blipFill>
          <a:blip r:embed="rId2"/>
          <a:stretch>
            <a:fillRect/>
          </a:stretch>
        </p:blipFill>
        <p:spPr>
          <a:xfrm>
            <a:off x="472150" y="1371600"/>
            <a:ext cx="5227899" cy="3383280"/>
          </a:xfrm>
          <a:prstGeom prst="rect">
            <a:avLst/>
          </a:prstGeom>
        </p:spPr>
      </p:pic>
      <p:sp>
        <p:nvSpPr>
          <p:cNvPr id="13" name="Rectangle 19"/>
          <p:cNvSpPr/>
          <p:nvPr/>
        </p:nvSpPr>
        <p:spPr>
          <a:xfrm>
            <a:off x="5989320" y="1371600"/>
            <a:ext cx="2834640" cy="16276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20"/>
          <p:cNvSpPr txBox="1"/>
          <p:nvPr/>
        </p:nvSpPr>
        <p:spPr>
          <a:xfrm>
            <a:off x="6117336" y="1472184"/>
            <a:ext cx="2578608" cy="219456"/>
          </a:xfrm>
          <a:prstGeom prst="rect">
            <a:avLst/>
          </a:prstGeom>
          <a:noFill/>
        </p:spPr>
        <p:txBody>
          <a:bodyPr wrap="square" lIns="27432" tIns="0" rIns="27432" bIns="0" anchor="t">
            <a:spAutoFit/>
          </a:bodyPr>
          <a:lstStyle/>
          <a:p>
            <a:pPr algn="l"/>
            <a:r>
              <a:rPr sz="1100" b="1" i="0">
                <a:solidFill>
                  <a:srgbClr val="8C1515"/>
                </a:solidFill>
                <a:latin typeface="Calibri"/>
              </a:rPr>
              <a:t>Construction rule</a:t>
            </a:r>
          </a:p>
        </p:txBody>
      </p:sp>
      <p:sp>
        <p:nvSpPr>
          <p:cNvPr id="15" name="TextBox 21"/>
          <p:cNvSpPr txBox="1"/>
          <p:nvPr/>
        </p:nvSpPr>
        <p:spPr>
          <a:xfrm>
            <a:off x="6117336" y="1746504"/>
            <a:ext cx="2578608" cy="1216152"/>
          </a:xfrm>
          <a:prstGeom prst="rect">
            <a:avLst/>
          </a:prstGeom>
          <a:noFill/>
        </p:spPr>
        <p:txBody>
          <a:bodyPr wrap="square" lIns="27432" tIns="0" rIns="27432" bIns="0">
            <a:spAutoFit/>
          </a:bodyPr>
          <a:lstStyle/>
          <a:p>
            <a:pPr>
              <a:spcAft>
                <a:spcPts val="350"/>
              </a:spcAft>
            </a:pPr>
            <a:r>
              <a:rPr sz="900">
                <a:solidFill>
                  <a:srgbClr val="8C1515"/>
                </a:solidFill>
                <a:latin typeface="Calibri"/>
              </a:rPr>
              <a:t>• </a:t>
            </a:r>
            <a:r>
              <a:rPr sz="900">
                <a:solidFill>
                  <a:srgbClr val="2E2D29"/>
                </a:solidFill>
                <a:latin typeface="Calibri"/>
              </a:rPr>
              <a:t>Each vessel bifurcates into daughters of diameter αd and βd</a:t>
            </a:r>
          </a:p>
          <a:p>
            <a:pPr>
              <a:spcAft>
                <a:spcPts val="350"/>
              </a:spcAft>
            </a:pPr>
            <a:r>
              <a:rPr sz="900">
                <a:solidFill>
                  <a:srgbClr val="8C1515"/>
                </a:solidFill>
                <a:latin typeface="Calibri"/>
              </a:rPr>
              <a:t>• </a:t>
            </a:r>
            <a:r>
              <a:rPr sz="900">
                <a:solidFill>
                  <a:srgbClr val="2E2D29"/>
                </a:solidFill>
                <a:latin typeface="Calibri"/>
              </a:rPr>
              <a:t>ξ sets how fast the tree tapers; η = α/β sets asymmetry</a:t>
            </a:r>
          </a:p>
          <a:p>
            <a:pPr>
              <a:spcAft>
                <a:spcPts val="350"/>
              </a:spcAft>
            </a:pPr>
            <a:r>
              <a:rPr sz="900">
                <a:solidFill>
                  <a:srgbClr val="8C1515"/>
                </a:solidFill>
                <a:latin typeface="Calibri"/>
              </a:rPr>
              <a:t>• </a:t>
            </a:r>
            <a:r>
              <a:rPr sz="900">
                <a:solidFill>
                  <a:srgbClr val="2E2D29"/>
                </a:solidFill>
                <a:latin typeface="Calibri"/>
              </a:rPr>
              <a:t>Recursion stops when diameter falls below d_min</a:t>
            </a:r>
          </a:p>
        </p:txBody>
      </p:sp>
      <p:sp>
        <p:nvSpPr>
          <p:cNvPr id="16" name="Rectangle 22"/>
          <p:cNvSpPr/>
          <p:nvPr/>
        </p:nvSpPr>
        <p:spPr>
          <a:xfrm>
            <a:off x="5989320" y="3127248"/>
            <a:ext cx="2834640" cy="16276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23"/>
          <p:cNvSpPr txBox="1"/>
          <p:nvPr/>
        </p:nvSpPr>
        <p:spPr>
          <a:xfrm>
            <a:off x="6117336" y="3227832"/>
            <a:ext cx="2578608" cy="219456"/>
          </a:xfrm>
          <a:prstGeom prst="rect">
            <a:avLst/>
          </a:prstGeom>
          <a:noFill/>
        </p:spPr>
        <p:txBody>
          <a:bodyPr wrap="square" lIns="27432" tIns="0" rIns="27432" bIns="0" anchor="t">
            <a:spAutoFit/>
          </a:bodyPr>
          <a:lstStyle/>
          <a:p>
            <a:pPr algn="l"/>
            <a:r>
              <a:rPr sz="1100" b="1" i="0">
                <a:solidFill>
                  <a:srgbClr val="8C1515"/>
                </a:solidFill>
                <a:latin typeface="Calibri"/>
              </a:rPr>
              <a:t>Terminal condition</a:t>
            </a:r>
          </a:p>
        </p:txBody>
      </p:sp>
      <p:sp>
        <p:nvSpPr>
          <p:cNvPr id="18" name="TextBox 24"/>
          <p:cNvSpPr txBox="1"/>
          <p:nvPr/>
        </p:nvSpPr>
        <p:spPr>
          <a:xfrm>
            <a:off x="6117336" y="3502151"/>
            <a:ext cx="2578608" cy="1216152"/>
          </a:xfrm>
          <a:prstGeom prst="rect">
            <a:avLst/>
          </a:prstGeom>
          <a:noFill/>
        </p:spPr>
        <p:txBody>
          <a:bodyPr wrap="square" lIns="27432" tIns="0" rIns="27432" bIns="0">
            <a:spAutoFit/>
          </a:bodyPr>
          <a:lstStyle/>
          <a:p>
            <a:pPr>
              <a:spcAft>
                <a:spcPts val="350"/>
              </a:spcAft>
            </a:pPr>
            <a:r>
              <a:rPr sz="900">
                <a:solidFill>
                  <a:srgbClr val="8C1515"/>
                </a:solidFill>
                <a:latin typeface="Calibri"/>
              </a:rPr>
              <a:t>• Terminal vessels end at a constant outlet pressure Pd, set per patient from PCWP or PA diastolic (slide 43)</a:t>
            </a:r>
          </a:p>
          <a:p>
            <a:pPr>
              <a:spcAft>
                <a:spcPts val="350"/>
              </a:spcAft>
            </a:pPr>
            <a:r>
              <a:rPr sz="900">
                <a:solidFill>
                  <a:srgbClr val="8C1515"/>
                </a:solidFill>
                <a:latin typeface="Calibri"/>
              </a:rPr>
              <a:t>• </a:t>
            </a:r>
            <a:r>
              <a:rPr sz="900">
                <a:solidFill>
                  <a:srgbClr val="2E2D29"/>
                </a:solidFill>
                <a:latin typeface="Calibri"/>
              </a:rPr>
              <a:t>Length of each vessel is set by the length-to-radius ratio l_rr</a:t>
            </a:r>
          </a:p>
        </p:txBody>
      </p:sp>
      <p:sp>
        <p:nvSpPr>
          <p:cNvPr id="19" name="Rectangle 25"/>
          <p:cNvSpPr/>
          <p:nvPr/>
        </p:nvSpPr>
        <p:spPr>
          <a:xfrm>
            <a:off x="320040" y="488289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6"/>
          <p:cNvSpPr txBox="1"/>
          <p:nvPr/>
        </p:nvSpPr>
        <p:spPr>
          <a:xfrm>
            <a:off x="429768" y="4882896"/>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Two shape parameters per side (ξ, η) plus one stiffness parameter (k₃) describe the entire distal bed.</a:t>
            </a:r>
          </a:p>
        </p:txBody>
      </p:sp>
      <p:sp>
        <p:nvSpPr>
          <p:cNvPr id="21"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Fixed and tuned parameters. Reason: Background detail over the Stage 2 budget; xi and eta are defined on the parameters slide.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Pre-operative 3D results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pic>
        <p:nvPicPr>
          <p:cNvPr id="12" name="Picture 18" descr="preop3d_T1.png"/>
          <p:cNvPicPr>
            <a:picLocks noChangeAspect="1"/>
          </p:cNvPicPr>
          <p:nvPr/>
        </p:nvPicPr>
        <p:blipFill>
          <a:blip r:embed="rId2"/>
          <a:stretch>
            <a:fillRect/>
          </a:stretch>
        </p:blipFill>
        <p:spPr>
          <a:xfrm>
            <a:off x="320040" y="2091686"/>
            <a:ext cx="2016252" cy="736099"/>
          </a:xfrm>
          <a:prstGeom prst="rect">
            <a:avLst/>
          </a:prstGeom>
        </p:spPr>
      </p:pic>
      <p:sp>
        <p:nvSpPr>
          <p:cNvPr id="13" name="TextBox 19"/>
          <p:cNvSpPr txBox="1"/>
          <p:nvPr/>
        </p:nvSpPr>
        <p:spPr>
          <a:xfrm>
            <a:off x="320040" y="3547872"/>
            <a:ext cx="2016252" cy="201168"/>
          </a:xfrm>
          <a:prstGeom prst="rect">
            <a:avLst/>
          </a:prstGeom>
          <a:noFill/>
        </p:spPr>
        <p:txBody>
          <a:bodyPr wrap="square" lIns="27432" tIns="0" rIns="27432" bIns="0" anchor="t">
            <a:spAutoFit/>
          </a:bodyPr>
          <a:lstStyle/>
          <a:p>
            <a:pPr algn="ctr"/>
            <a:r>
              <a:rPr sz="800" b="0" i="1">
                <a:solidFill>
                  <a:srgbClr val="6B6965"/>
                </a:solidFill>
                <a:latin typeface="Calibri"/>
              </a:rPr>
              <a:t>TST-STAN-1</a:t>
            </a:r>
          </a:p>
        </p:txBody>
      </p:sp>
      <p:pic>
        <p:nvPicPr>
          <p:cNvPr id="14" name="Picture 20" descr="preop3d_T2.png"/>
          <p:cNvPicPr>
            <a:picLocks noChangeAspect="1"/>
          </p:cNvPicPr>
          <p:nvPr/>
        </p:nvPicPr>
        <p:blipFill>
          <a:blip r:embed="rId3"/>
          <a:stretch>
            <a:fillRect/>
          </a:stretch>
        </p:blipFill>
        <p:spPr>
          <a:xfrm>
            <a:off x="2482596" y="2091686"/>
            <a:ext cx="2016252" cy="736099"/>
          </a:xfrm>
          <a:prstGeom prst="rect">
            <a:avLst/>
          </a:prstGeom>
        </p:spPr>
      </p:pic>
      <p:sp>
        <p:nvSpPr>
          <p:cNvPr id="15" name="TextBox 21"/>
          <p:cNvSpPr txBox="1"/>
          <p:nvPr/>
        </p:nvSpPr>
        <p:spPr>
          <a:xfrm>
            <a:off x="2482596" y="3547872"/>
            <a:ext cx="2016252" cy="201168"/>
          </a:xfrm>
          <a:prstGeom prst="rect">
            <a:avLst/>
          </a:prstGeom>
          <a:noFill/>
        </p:spPr>
        <p:txBody>
          <a:bodyPr wrap="square" lIns="27432" tIns="0" rIns="27432" bIns="0" anchor="t">
            <a:spAutoFit/>
          </a:bodyPr>
          <a:lstStyle/>
          <a:p>
            <a:pPr algn="ctr"/>
            <a:r>
              <a:rPr sz="800" b="0" i="1">
                <a:solidFill>
                  <a:srgbClr val="6B6965"/>
                </a:solidFill>
                <a:latin typeface="Calibri"/>
              </a:rPr>
              <a:t>TST-STAN-2</a:t>
            </a:r>
          </a:p>
        </p:txBody>
      </p:sp>
      <p:pic>
        <p:nvPicPr>
          <p:cNvPr id="16" name="Picture 22" descr="preop3d_T3.png"/>
          <p:cNvPicPr>
            <a:picLocks noChangeAspect="1"/>
          </p:cNvPicPr>
          <p:nvPr/>
        </p:nvPicPr>
        <p:blipFill>
          <a:blip r:embed="rId4"/>
          <a:stretch>
            <a:fillRect/>
          </a:stretch>
        </p:blipFill>
        <p:spPr>
          <a:xfrm>
            <a:off x="4645152" y="2091686"/>
            <a:ext cx="2016252" cy="736099"/>
          </a:xfrm>
          <a:prstGeom prst="rect">
            <a:avLst/>
          </a:prstGeom>
        </p:spPr>
      </p:pic>
      <p:sp>
        <p:nvSpPr>
          <p:cNvPr id="17" name="TextBox 23"/>
          <p:cNvSpPr txBox="1"/>
          <p:nvPr/>
        </p:nvSpPr>
        <p:spPr>
          <a:xfrm>
            <a:off x="4645152" y="3547872"/>
            <a:ext cx="2016252" cy="201168"/>
          </a:xfrm>
          <a:prstGeom prst="rect">
            <a:avLst/>
          </a:prstGeom>
          <a:noFill/>
        </p:spPr>
        <p:txBody>
          <a:bodyPr wrap="square" lIns="27432" tIns="0" rIns="27432" bIns="0" anchor="t">
            <a:spAutoFit/>
          </a:bodyPr>
          <a:lstStyle/>
          <a:p>
            <a:pPr algn="ctr"/>
            <a:r>
              <a:rPr sz="800" b="0" i="1">
                <a:solidFill>
                  <a:srgbClr val="6B6965"/>
                </a:solidFill>
                <a:latin typeface="Calibri"/>
              </a:rPr>
              <a:t>TST-STAN-3</a:t>
            </a:r>
          </a:p>
        </p:txBody>
      </p:sp>
      <p:pic>
        <p:nvPicPr>
          <p:cNvPr id="18" name="Picture 24" descr="preop3d_T9.png"/>
          <p:cNvPicPr>
            <a:picLocks noChangeAspect="1"/>
          </p:cNvPicPr>
          <p:nvPr/>
        </p:nvPicPr>
        <p:blipFill>
          <a:blip r:embed="rId5"/>
          <a:stretch>
            <a:fillRect/>
          </a:stretch>
        </p:blipFill>
        <p:spPr>
          <a:xfrm>
            <a:off x="6807708" y="2091686"/>
            <a:ext cx="2016252" cy="736099"/>
          </a:xfrm>
          <a:prstGeom prst="rect">
            <a:avLst/>
          </a:prstGeom>
        </p:spPr>
      </p:pic>
      <p:sp>
        <p:nvSpPr>
          <p:cNvPr id="19" name="TextBox 25"/>
          <p:cNvSpPr txBox="1"/>
          <p:nvPr/>
        </p:nvSpPr>
        <p:spPr>
          <a:xfrm>
            <a:off x="6807708" y="3547872"/>
            <a:ext cx="2016252" cy="201168"/>
          </a:xfrm>
          <a:prstGeom prst="rect">
            <a:avLst/>
          </a:prstGeom>
          <a:noFill/>
        </p:spPr>
        <p:txBody>
          <a:bodyPr wrap="square" lIns="27432" tIns="0" rIns="27432" bIns="0" anchor="t">
            <a:spAutoFit/>
          </a:bodyPr>
          <a:lstStyle/>
          <a:p>
            <a:pPr algn="ctr"/>
            <a:r>
              <a:rPr sz="800" b="0" i="1">
                <a:solidFill>
                  <a:srgbClr val="6B6965"/>
                </a:solidFill>
                <a:latin typeface="Calibri"/>
              </a:rPr>
              <a:t>TST-STAN-9</a:t>
            </a:r>
          </a:p>
        </p:txBody>
      </p:sp>
      <p:sp>
        <p:nvSpPr>
          <p:cNvPr id="20" name="Rectangle 26"/>
          <p:cNvSpPr/>
          <p:nvPr/>
        </p:nvSpPr>
        <p:spPr>
          <a:xfrm>
            <a:off x="320040" y="3785615"/>
            <a:ext cx="4160520" cy="93268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7"/>
          <p:cNvSpPr txBox="1"/>
          <p:nvPr/>
        </p:nvSpPr>
        <p:spPr>
          <a:xfrm>
            <a:off x="448056" y="3886200"/>
            <a:ext cx="3904487" cy="219456"/>
          </a:xfrm>
          <a:prstGeom prst="rect">
            <a:avLst/>
          </a:prstGeom>
          <a:noFill/>
        </p:spPr>
        <p:txBody>
          <a:bodyPr wrap="square" lIns="27432" tIns="0" rIns="27432" bIns="0" anchor="t">
            <a:spAutoFit/>
          </a:bodyPr>
          <a:lstStyle/>
          <a:p>
            <a:pPr algn="l"/>
            <a:r>
              <a:rPr sz="1100" b="1" i="0">
                <a:solidFill>
                  <a:srgbClr val="8C1515"/>
                </a:solidFill>
                <a:latin typeface="Calibri"/>
              </a:rPr>
              <a:t>Fields extracted</a:t>
            </a:r>
          </a:p>
        </p:txBody>
      </p:sp>
      <p:sp>
        <p:nvSpPr>
          <p:cNvPr id="22" name="TextBox 28"/>
          <p:cNvSpPr txBox="1"/>
          <p:nvPr/>
        </p:nvSpPr>
        <p:spPr>
          <a:xfrm>
            <a:off x="448056" y="4160520"/>
            <a:ext cx="3904487" cy="521208"/>
          </a:xfrm>
          <a:prstGeom prst="rect">
            <a:avLst/>
          </a:prstGeom>
          <a:noFill/>
        </p:spPr>
        <p:txBody>
          <a:bodyPr wrap="square" lIns="27432" tIns="0" rIns="27432" bIns="0">
            <a:spAutoFit/>
          </a:bodyPr>
          <a:lstStyle/>
          <a:p>
            <a:pPr>
              <a:spcAft>
                <a:spcPts val="350"/>
              </a:spcAft>
            </a:pPr>
            <a:r>
              <a:rPr sz="900">
                <a:solidFill>
                  <a:srgbClr val="8C1515"/>
                </a:solidFill>
                <a:latin typeface="Calibri"/>
              </a:rPr>
              <a:t>• </a:t>
            </a:r>
            <a:r>
              <a:rPr sz="900">
                <a:solidFill>
                  <a:srgbClr val="2E2D29"/>
                </a:solidFill>
                <a:latin typeface="Calibri"/>
              </a:rPr>
              <a:t>Systolic pressure field and velocity magnitude on the deformed configuration</a:t>
            </a:r>
          </a:p>
        </p:txBody>
      </p:sp>
      <p:sp>
        <p:nvSpPr>
          <p:cNvPr id="23" name="Rectangle 29"/>
          <p:cNvSpPr/>
          <p:nvPr/>
        </p:nvSpPr>
        <p:spPr>
          <a:xfrm>
            <a:off x="4663440" y="3785615"/>
            <a:ext cx="4160520" cy="93268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30"/>
          <p:cNvSpPr txBox="1"/>
          <p:nvPr/>
        </p:nvSpPr>
        <p:spPr>
          <a:xfrm>
            <a:off x="4791455" y="3886200"/>
            <a:ext cx="2761487" cy="219456"/>
          </a:xfrm>
          <a:prstGeom prst="rect">
            <a:avLst/>
          </a:prstGeom>
          <a:noFill/>
        </p:spPr>
        <p:txBody>
          <a:bodyPr wrap="square" lIns="27432" tIns="0" rIns="27432" bIns="0" anchor="t">
            <a:spAutoFit/>
          </a:bodyPr>
          <a:lstStyle/>
          <a:p>
            <a:pPr algn="l"/>
            <a:r>
              <a:rPr sz="1100" b="1" i="0">
                <a:solidFill>
                  <a:srgbClr val="E98300"/>
                </a:solidFill>
                <a:latin typeface="Calibri"/>
              </a:rPr>
              <a:t>Missing</a:t>
            </a:r>
          </a:p>
        </p:txBody>
      </p:sp>
      <p:sp>
        <p:nvSpPr>
          <p:cNvPr id="25" name="Rectangle 31"/>
          <p:cNvSpPr/>
          <p:nvPr/>
        </p:nvSpPr>
        <p:spPr>
          <a:xfrm>
            <a:off x="7580375" y="3895344"/>
            <a:ext cx="1097280" cy="173736"/>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32"/>
          <p:cNvSpPr txBox="1"/>
          <p:nvPr/>
        </p:nvSpPr>
        <p:spPr>
          <a:xfrm>
            <a:off x="7580375" y="3895344"/>
            <a:ext cx="1097280" cy="173736"/>
          </a:xfrm>
          <a:prstGeom prst="rect">
            <a:avLst/>
          </a:prstGeom>
          <a:noFill/>
        </p:spPr>
        <p:txBody>
          <a:bodyPr wrap="square" lIns="18288" tIns="0" rIns="18288" bIns="0" anchor="ctr">
            <a:spAutoFit/>
          </a:bodyPr>
          <a:lstStyle/>
          <a:p>
            <a:pPr algn="ctr"/>
            <a:r>
              <a:rPr sz="600" b="1">
                <a:solidFill>
                  <a:srgbClr val="FFFFFF"/>
                </a:solidFill>
                <a:latin typeface="Calibri"/>
              </a:rPr>
              <a:t>IN DEVELOPMENT</a:t>
            </a:r>
          </a:p>
        </p:txBody>
      </p:sp>
      <p:sp>
        <p:nvSpPr>
          <p:cNvPr id="27" name="TextBox 33"/>
          <p:cNvSpPr txBox="1"/>
          <p:nvPr/>
        </p:nvSpPr>
        <p:spPr>
          <a:xfrm>
            <a:off x="4791455" y="4160520"/>
            <a:ext cx="3904487" cy="521208"/>
          </a:xfrm>
          <a:prstGeom prst="rect">
            <a:avLst/>
          </a:prstGeom>
          <a:noFill/>
        </p:spPr>
        <p:txBody>
          <a:bodyPr wrap="square" lIns="27432" tIns="0" rIns="27432" bIns="0">
            <a:spAutoFit/>
          </a:bodyPr>
          <a:lstStyle/>
          <a:p>
            <a:pPr>
              <a:spcAft>
                <a:spcPts val="350"/>
              </a:spcAft>
            </a:pPr>
            <a:r>
              <a:rPr sz="900">
                <a:solidFill>
                  <a:srgbClr val="E98300"/>
                </a:solidFill>
                <a:latin typeface="Calibri"/>
              </a:rPr>
              <a:t>• </a:t>
            </a:r>
            <a:r>
              <a:rPr sz="900">
                <a:solidFill>
                  <a:srgbClr val="2E2D29"/>
                </a:solidFill>
                <a:latin typeface="Calibri"/>
              </a:rPr>
              <a:t>TST-STAN-5 pre-operative re-run is still pending after the CMM transition</a:t>
            </a:r>
          </a:p>
        </p:txBody>
      </p:sp>
      <p:sp>
        <p:nvSpPr>
          <p:cNvPr id="28" name="Rectangle 34"/>
          <p:cNvSpPr/>
          <p:nvPr/>
        </p:nvSpPr>
        <p:spPr>
          <a:xfrm>
            <a:off x="320040" y="4864608"/>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35"/>
          <p:cNvSpPr txBox="1"/>
          <p:nvPr/>
        </p:nvSpPr>
        <p:spPr>
          <a:xfrm>
            <a:off x="429768" y="4864608"/>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Pre-operative simulations are complete for four of five patients.</a:t>
            </a:r>
          </a:p>
        </p:txBody>
      </p:sp>
      <p:sp>
        <p:nvSpPr>
          <p:cNvPr id="30"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Iteration 1: 3D pulse pressure against the catheter. Reason: Renders from the earlier BCs; no pre-op iteration is selected under the current BCs.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Predicted effect of a 3D / 0D volume correction</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316736"/>
            <a:ext cx="5760720" cy="219456"/>
          </a:xfrm>
          <a:prstGeom prst="rect">
            <a:avLst/>
          </a:prstGeom>
          <a:noFill/>
        </p:spPr>
        <p:txBody>
          <a:bodyPr wrap="square" lIns="0" rIns="0" tIns="0" bIns="0" anchor="t">
            <a:spAutoFit/>
          </a:bodyPr>
          <a:lstStyle/>
          <a:p>
            <a:pPr algn="l"/>
            <a:r>
              <a:rPr sz="1000" b="1" i="0">
                <a:solidFill>
                  <a:srgbClr val="8C1515"/>
                </a:solidFill>
                <a:latin typeface="Calibri"/>
              </a:rPr>
              <a:t>Pulse pressure, systolic − diastolic (mmHg)</a:t>
            </a:r>
          </a:p>
        </p:txBody>
      </p:sp>
      <p:graphicFrame>
        <p:nvGraphicFramePr>
          <p:cNvPr id="13" name="Chart 19"/>
          <p:cNvGraphicFramePr>
            <a:graphicFrameLocks noGrp="1"/>
          </p:cNvGraphicFramePr>
          <p:nvPr/>
        </p:nvGraphicFramePr>
        <p:xfrm>
          <a:off x="320040" y="1536192"/>
          <a:ext cx="5760720" cy="2514600"/>
        </p:xfrm>
        <a:graphic>
          <a:graphicData uri="http://schemas.openxmlformats.org/drawingml/2006/chart">
            <c:chart xmlns:c="http://schemas.openxmlformats.org/drawingml/2006/chart" r:id="rId2"/>
          </a:graphicData>
        </a:graphic>
      </p:graphicFrame>
      <p:sp>
        <p:nvSpPr>
          <p:cNvPr id="14" name="TextBox 20"/>
          <p:cNvSpPr txBox="1"/>
          <p:nvPr/>
        </p:nvSpPr>
        <p:spPr>
          <a:xfrm>
            <a:off x="320040" y="4059936"/>
            <a:ext cx="5760720" cy="365760"/>
          </a:xfrm>
          <a:prstGeom prst="rect">
            <a:avLst/>
          </a:prstGeom>
          <a:noFill/>
        </p:spPr>
        <p:txBody>
          <a:bodyPr wrap="square" lIns="0" rIns="0" tIns="0" bIns="0" anchor="t">
            <a:spAutoFit/>
          </a:bodyPr>
          <a:lstStyle/>
          <a:p>
            <a:pPr algn="l"/>
            <a:r>
              <a:rPr sz="700" b="0" i="0">
                <a:solidFill>
                  <a:srgbClr val="6B6965"/>
                </a:solidFill>
                <a:latin typeface="Calibri"/>
              </a:rPr>
              <a:t>* TST-STAN-5 is already on the scaled damping (c = 3,650); the others are at c = 10⁴. Predictions are model estimates, not 3D runs.</a:t>
            </a:r>
          </a:p>
        </p:txBody>
      </p:sp>
      <p:sp>
        <p:nvSpPr>
          <p:cNvPr id="15" name="TextBox 21"/>
          <p:cNvSpPr txBox="1"/>
          <p:nvPr/>
        </p:nvSpPr>
        <p:spPr>
          <a:xfrm>
            <a:off x="6263640" y="1316736"/>
            <a:ext cx="2560320" cy="219456"/>
          </a:xfrm>
          <a:prstGeom prst="rect">
            <a:avLst/>
          </a:prstGeom>
          <a:noFill/>
        </p:spPr>
        <p:txBody>
          <a:bodyPr wrap="square" lIns="0" rIns="0" tIns="0" bIns="0" anchor="t">
            <a:spAutoFit/>
          </a:bodyPr>
          <a:lstStyle/>
          <a:p>
            <a:pPr algn="l"/>
            <a:r>
              <a:rPr sz="1000" b="1" i="0">
                <a:solidFill>
                  <a:srgbClr val="8C1515"/>
                </a:solidFill>
                <a:latin typeface="Calibri"/>
              </a:rPr>
              <a:t>Systolic / diastolic and verdict</a:t>
            </a:r>
          </a:p>
        </p:txBody>
      </p:sp>
      <p:sp>
        <p:nvSpPr>
          <p:cNvPr id="16" name="Rectangle 22"/>
          <p:cNvSpPr/>
          <p:nvPr/>
        </p:nvSpPr>
        <p:spPr>
          <a:xfrm>
            <a:off x="6263640" y="1572768"/>
            <a:ext cx="2560320" cy="49377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7" name="TextBox 23"/>
          <p:cNvSpPr txBox="1"/>
          <p:nvPr/>
        </p:nvSpPr>
        <p:spPr>
          <a:xfrm>
            <a:off x="6336792" y="1600200"/>
            <a:ext cx="1463040" cy="201168"/>
          </a:xfrm>
          <a:prstGeom prst="rect">
            <a:avLst/>
          </a:prstGeom>
          <a:noFill/>
        </p:spPr>
        <p:txBody>
          <a:bodyPr wrap="square" lIns="0" rIns="0" tIns="0" bIns="0" anchor="t">
            <a:spAutoFit/>
          </a:bodyPr>
          <a:lstStyle/>
          <a:p>
            <a:pPr algn="l"/>
            <a:r>
              <a:rPr sz="800" b="1" i="0">
                <a:solidFill>
                  <a:srgbClr val="2E2D29"/>
                </a:solidFill>
                <a:latin typeface="Calibri"/>
              </a:rPr>
              <a:t>TST-STAN-1</a:t>
            </a:r>
          </a:p>
        </p:txBody>
      </p:sp>
      <p:sp>
        <p:nvSpPr>
          <p:cNvPr id="18" name="TextBox 24"/>
          <p:cNvSpPr txBox="1"/>
          <p:nvPr/>
        </p:nvSpPr>
        <p:spPr>
          <a:xfrm>
            <a:off x="6336792" y="1819656"/>
            <a:ext cx="1600200" cy="219456"/>
          </a:xfrm>
          <a:prstGeom prst="rect">
            <a:avLst/>
          </a:prstGeom>
          <a:noFill/>
        </p:spPr>
        <p:txBody>
          <a:bodyPr wrap="square" lIns="0" rIns="0" tIns="0" bIns="0" anchor="t">
            <a:spAutoFit/>
          </a:bodyPr>
          <a:lstStyle/>
          <a:p>
            <a:pPr algn="l"/>
            <a:r>
              <a:rPr sz="700" b="0" i="0">
                <a:solidFill>
                  <a:srgbClr val="6B6965"/>
                </a:solidFill>
                <a:latin typeface="Calibri"/>
              </a:rPr>
              <a:t>43.9/4.9 → 40.6/6.6</a:t>
            </a:r>
          </a:p>
        </p:txBody>
      </p:sp>
      <p:sp>
        <p:nvSpPr>
          <p:cNvPr id="19" name="Rounded Rectangle 25"/>
          <p:cNvSpPr/>
          <p:nvPr/>
        </p:nvSpPr>
        <p:spPr>
          <a:xfrm>
            <a:off x="7836408" y="1709928"/>
            <a:ext cx="914400" cy="219456"/>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helps</a:t>
            </a:r>
          </a:p>
        </p:txBody>
      </p:sp>
      <p:sp>
        <p:nvSpPr>
          <p:cNvPr id="20" name="Rectangle 26"/>
          <p:cNvSpPr/>
          <p:nvPr/>
        </p:nvSpPr>
        <p:spPr>
          <a:xfrm>
            <a:off x="6263640" y="2121408"/>
            <a:ext cx="2560320"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1" name="TextBox 27"/>
          <p:cNvSpPr txBox="1"/>
          <p:nvPr/>
        </p:nvSpPr>
        <p:spPr>
          <a:xfrm>
            <a:off x="6336792" y="2148839"/>
            <a:ext cx="1463040" cy="201168"/>
          </a:xfrm>
          <a:prstGeom prst="rect">
            <a:avLst/>
          </a:prstGeom>
          <a:noFill/>
        </p:spPr>
        <p:txBody>
          <a:bodyPr wrap="square" lIns="0" rIns="0" tIns="0" bIns="0" anchor="t">
            <a:spAutoFit/>
          </a:bodyPr>
          <a:lstStyle/>
          <a:p>
            <a:pPr algn="l"/>
            <a:r>
              <a:rPr sz="800" b="1" i="0">
                <a:solidFill>
                  <a:srgbClr val="2E2D29"/>
                </a:solidFill>
                <a:latin typeface="Calibri"/>
              </a:rPr>
              <a:t>TST-STAN-2</a:t>
            </a:r>
          </a:p>
        </p:txBody>
      </p:sp>
      <p:sp>
        <p:nvSpPr>
          <p:cNvPr id="22" name="TextBox 28"/>
          <p:cNvSpPr txBox="1"/>
          <p:nvPr/>
        </p:nvSpPr>
        <p:spPr>
          <a:xfrm>
            <a:off x="6336792" y="2368296"/>
            <a:ext cx="1600200" cy="219456"/>
          </a:xfrm>
          <a:prstGeom prst="rect">
            <a:avLst/>
          </a:prstGeom>
          <a:noFill/>
        </p:spPr>
        <p:txBody>
          <a:bodyPr wrap="square" lIns="0" rIns="0" tIns="0" bIns="0" anchor="t">
            <a:spAutoFit/>
          </a:bodyPr>
          <a:lstStyle/>
          <a:p>
            <a:pPr algn="l"/>
            <a:r>
              <a:rPr sz="700" b="0" i="0">
                <a:solidFill>
                  <a:srgbClr val="6B6965"/>
                </a:solidFill>
                <a:latin typeface="Calibri"/>
              </a:rPr>
              <a:t>62.8/11.8 → 55.7/15.3</a:t>
            </a:r>
          </a:p>
        </p:txBody>
      </p:sp>
      <p:sp>
        <p:nvSpPr>
          <p:cNvPr id="23" name="Rounded Rectangle 29"/>
          <p:cNvSpPr/>
          <p:nvPr/>
        </p:nvSpPr>
        <p:spPr>
          <a:xfrm>
            <a:off x="7836408" y="2258568"/>
            <a:ext cx="914400" cy="219456"/>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helps, still high</a:t>
            </a:r>
          </a:p>
        </p:txBody>
      </p:sp>
      <p:sp>
        <p:nvSpPr>
          <p:cNvPr id="24" name="Rectangle 30"/>
          <p:cNvSpPr/>
          <p:nvPr/>
        </p:nvSpPr>
        <p:spPr>
          <a:xfrm>
            <a:off x="6263640" y="2670048"/>
            <a:ext cx="2560320" cy="49377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5" name="TextBox 31"/>
          <p:cNvSpPr txBox="1"/>
          <p:nvPr/>
        </p:nvSpPr>
        <p:spPr>
          <a:xfrm>
            <a:off x="6336792" y="2697479"/>
            <a:ext cx="1463040" cy="201168"/>
          </a:xfrm>
          <a:prstGeom prst="rect">
            <a:avLst/>
          </a:prstGeom>
          <a:noFill/>
        </p:spPr>
        <p:txBody>
          <a:bodyPr wrap="square" lIns="0" rIns="0" tIns="0" bIns="0" anchor="t">
            <a:spAutoFit/>
          </a:bodyPr>
          <a:lstStyle/>
          <a:p>
            <a:pPr algn="l"/>
            <a:r>
              <a:rPr sz="800" b="1" i="0">
                <a:solidFill>
                  <a:srgbClr val="2E2D29"/>
                </a:solidFill>
                <a:latin typeface="Calibri"/>
              </a:rPr>
              <a:t>TST-STAN-3</a:t>
            </a:r>
          </a:p>
        </p:txBody>
      </p:sp>
      <p:sp>
        <p:nvSpPr>
          <p:cNvPr id="26" name="TextBox 32"/>
          <p:cNvSpPr txBox="1"/>
          <p:nvPr/>
        </p:nvSpPr>
        <p:spPr>
          <a:xfrm>
            <a:off x="6336792" y="2916936"/>
            <a:ext cx="1600200" cy="219456"/>
          </a:xfrm>
          <a:prstGeom prst="rect">
            <a:avLst/>
          </a:prstGeom>
          <a:noFill/>
        </p:spPr>
        <p:txBody>
          <a:bodyPr wrap="square" lIns="0" rIns="0" tIns="0" bIns="0" anchor="t">
            <a:spAutoFit/>
          </a:bodyPr>
          <a:lstStyle/>
          <a:p>
            <a:pPr algn="l"/>
            <a:r>
              <a:rPr sz="700" b="0" i="0">
                <a:solidFill>
                  <a:srgbClr val="6B6965"/>
                </a:solidFill>
                <a:latin typeface="Calibri"/>
              </a:rPr>
              <a:t>77.8/7.6 → 72.6/10.2</a:t>
            </a:r>
          </a:p>
        </p:txBody>
      </p:sp>
      <p:sp>
        <p:nvSpPr>
          <p:cNvPr id="27" name="Rounded Rectangle 33"/>
          <p:cNvSpPr/>
          <p:nvPr/>
        </p:nvSpPr>
        <p:spPr>
          <a:xfrm>
            <a:off x="7836408" y="2807208"/>
            <a:ext cx="914400" cy="219456"/>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closes ~½ the gap</a:t>
            </a:r>
          </a:p>
        </p:txBody>
      </p:sp>
      <p:sp>
        <p:nvSpPr>
          <p:cNvPr id="28" name="Rectangle 34"/>
          <p:cNvSpPr/>
          <p:nvPr/>
        </p:nvSpPr>
        <p:spPr>
          <a:xfrm>
            <a:off x="6263640" y="3218687"/>
            <a:ext cx="2560320"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9" name="TextBox 35"/>
          <p:cNvSpPr txBox="1"/>
          <p:nvPr/>
        </p:nvSpPr>
        <p:spPr>
          <a:xfrm>
            <a:off x="6336792" y="3246119"/>
            <a:ext cx="1463040" cy="201168"/>
          </a:xfrm>
          <a:prstGeom prst="rect">
            <a:avLst/>
          </a:prstGeom>
          <a:noFill/>
        </p:spPr>
        <p:txBody>
          <a:bodyPr wrap="square" lIns="0" rIns="0" tIns="0" bIns="0" anchor="t">
            <a:spAutoFit/>
          </a:bodyPr>
          <a:lstStyle/>
          <a:p>
            <a:pPr algn="l"/>
            <a:r>
              <a:rPr sz="800" b="1" i="0">
                <a:solidFill>
                  <a:srgbClr val="2E2D29"/>
                </a:solidFill>
                <a:latin typeface="Calibri"/>
              </a:rPr>
              <a:t>TST-STAN-5</a:t>
            </a:r>
          </a:p>
        </p:txBody>
      </p:sp>
      <p:sp>
        <p:nvSpPr>
          <p:cNvPr id="30" name="TextBox 36"/>
          <p:cNvSpPr txBox="1"/>
          <p:nvPr/>
        </p:nvSpPr>
        <p:spPr>
          <a:xfrm>
            <a:off x="6336792" y="3465575"/>
            <a:ext cx="1600200" cy="219456"/>
          </a:xfrm>
          <a:prstGeom prst="rect">
            <a:avLst/>
          </a:prstGeom>
          <a:noFill/>
        </p:spPr>
        <p:txBody>
          <a:bodyPr wrap="square" lIns="0" rIns="0" tIns="0" bIns="0" anchor="t">
            <a:spAutoFit/>
          </a:bodyPr>
          <a:lstStyle/>
          <a:p>
            <a:pPr algn="l"/>
            <a:r>
              <a:rPr sz="700" b="0" i="0">
                <a:solidFill>
                  <a:srgbClr val="6B6965"/>
                </a:solidFill>
                <a:latin typeface="Calibri"/>
              </a:rPr>
              <a:t>34.8/2.8 → 34.0/3.2</a:t>
            </a:r>
          </a:p>
        </p:txBody>
      </p:sp>
      <p:sp>
        <p:nvSpPr>
          <p:cNvPr id="31" name="Rounded Rectangle 37"/>
          <p:cNvSpPr/>
          <p:nvPr/>
        </p:nvSpPr>
        <p:spPr>
          <a:xfrm>
            <a:off x="7836408" y="3355847"/>
            <a:ext cx="914400" cy="219456"/>
          </a:xfrm>
          <a:prstGeom prst="roundRect">
            <a:avLst>
              <a:gd name="adj" fmla="val 30000"/>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−2 to +0.4 mmHg</a:t>
            </a:r>
          </a:p>
        </p:txBody>
      </p:sp>
      <p:sp>
        <p:nvSpPr>
          <p:cNvPr id="32" name="Rectangle 38"/>
          <p:cNvSpPr/>
          <p:nvPr/>
        </p:nvSpPr>
        <p:spPr>
          <a:xfrm>
            <a:off x="6263640" y="3767328"/>
            <a:ext cx="2560320" cy="49377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3" name="TextBox 39"/>
          <p:cNvSpPr txBox="1"/>
          <p:nvPr/>
        </p:nvSpPr>
        <p:spPr>
          <a:xfrm>
            <a:off x="6336792" y="3794760"/>
            <a:ext cx="1463040" cy="201168"/>
          </a:xfrm>
          <a:prstGeom prst="rect">
            <a:avLst/>
          </a:prstGeom>
          <a:noFill/>
        </p:spPr>
        <p:txBody>
          <a:bodyPr wrap="square" lIns="0" rIns="0" tIns="0" bIns="0" anchor="t">
            <a:spAutoFit/>
          </a:bodyPr>
          <a:lstStyle/>
          <a:p>
            <a:pPr algn="l"/>
            <a:r>
              <a:rPr sz="800" b="1" i="0">
                <a:solidFill>
                  <a:srgbClr val="2E2D29"/>
                </a:solidFill>
                <a:latin typeface="Calibri"/>
              </a:rPr>
              <a:t>TST-STAN-9</a:t>
            </a:r>
          </a:p>
        </p:txBody>
      </p:sp>
      <p:sp>
        <p:nvSpPr>
          <p:cNvPr id="34" name="TextBox 40"/>
          <p:cNvSpPr txBox="1"/>
          <p:nvPr/>
        </p:nvSpPr>
        <p:spPr>
          <a:xfrm>
            <a:off x="6336792" y="4014216"/>
            <a:ext cx="1600200" cy="219456"/>
          </a:xfrm>
          <a:prstGeom prst="rect">
            <a:avLst/>
          </a:prstGeom>
          <a:noFill/>
        </p:spPr>
        <p:txBody>
          <a:bodyPr wrap="square" lIns="0" rIns="0" tIns="0" bIns="0" anchor="t">
            <a:spAutoFit/>
          </a:bodyPr>
          <a:lstStyle/>
          <a:p>
            <a:pPr algn="l"/>
            <a:r>
              <a:rPr sz="700" b="0" i="0">
                <a:solidFill>
                  <a:srgbClr val="6B6965"/>
                </a:solidFill>
                <a:latin typeface="Calibri"/>
              </a:rPr>
              <a:t>31.6/4.8 → 21.7/9.7</a:t>
            </a:r>
          </a:p>
        </p:txBody>
      </p:sp>
      <p:sp>
        <p:nvSpPr>
          <p:cNvPr id="35" name="Rounded Rectangle 41"/>
          <p:cNvSpPr/>
          <p:nvPr/>
        </p:nvSpPr>
        <p:spPr>
          <a:xfrm>
            <a:off x="7836408" y="3904488"/>
            <a:ext cx="914400" cy="219456"/>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overshoots</a:t>
            </a:r>
          </a:p>
        </p:txBody>
      </p:sp>
      <p:sp>
        <p:nvSpPr>
          <p:cNvPr id="36" name="TextBox 42"/>
          <p:cNvSpPr txBox="1"/>
          <p:nvPr/>
        </p:nvSpPr>
        <p:spPr>
          <a:xfrm>
            <a:off x="6263640" y="4334256"/>
            <a:ext cx="2560320" cy="274320"/>
          </a:xfrm>
          <a:prstGeom prst="rect">
            <a:avLst/>
          </a:prstGeom>
          <a:noFill/>
        </p:spPr>
        <p:txBody>
          <a:bodyPr wrap="square" lIns="0" rIns="0" tIns="0" bIns="0" anchor="t">
            <a:spAutoFit/>
          </a:bodyPr>
          <a:lstStyle/>
          <a:p>
            <a:pPr algn="l"/>
            <a:r>
              <a:rPr sz="700" b="0" i="0">
                <a:solidFill>
                  <a:srgbClr val="6B6965"/>
                </a:solidFill>
                <a:latin typeface="Calibri"/>
              </a:rPr>
              <a:t>Arrows: 3D now → predicted (volume × r). Targets on slide 12.</a:t>
            </a:r>
          </a:p>
        </p:txBody>
      </p:sp>
      <p:sp>
        <p:nvSpPr>
          <p:cNvPr id="37"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8" name="TextBox 44"/>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The correction narrows the pulse for TST-STAN-1, -2 and -3, is neutral for TST-STAN-5 and overshoots TST-STAN-9.</a:t>
            </a:r>
          </a:p>
        </p:txBody>
      </p:sp>
      <p:sp>
        <p:nvSpPr>
          <p:cNvPr id="39" name="TextBox 45"/>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Roadmap: what is changing across the pipeline. Reason: Planned method, not in development; one line on the roadmap and the Stage 3 path.</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le 1"/>
          <p:cNvSpPr>
            <a:spLocks noGrp="1"/>
          </p:cNvSpPr>
          <p:nvPr>
            <p:ph type="title"/>
          </p:nvPr>
        </p:nvSpPr>
        <p:spPr>
          <a:xfrm>
            <a:off x="320040" y="237744"/>
            <a:ext cx="8503920" cy="658368"/>
          </a:xfrm>
        </p:spPr>
        <p:txBody>
          <a:bodyPr/>
          <a:lstStyle/>
          <a:p>
            <a:r>
              <a:rPr sz="2200">
                <a:solidFill>
                  <a:srgbClr val="8C1515"/>
                </a:solidFill>
                <a:latin typeface="Georgia"/>
              </a:rPr>
              <a:t>3D tuning performance before the damping fix</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316736"/>
            <a:ext cx="5120640" cy="219456"/>
          </a:xfrm>
          <a:prstGeom prst="rect">
            <a:avLst/>
          </a:prstGeom>
          <a:noFill/>
        </p:spPr>
        <p:txBody>
          <a:bodyPr wrap="square" lIns="0" rIns="0" tIns="0" bIns="0" anchor="t">
            <a:spAutoFit/>
          </a:bodyPr>
          <a:lstStyle/>
          <a:p>
            <a:pPr algn="l"/>
            <a:r>
              <a:rPr sz="1000" b="1" i="0">
                <a:solidFill>
                  <a:srgbClr val="8C1515"/>
                </a:solidFill>
                <a:latin typeface="Calibri"/>
              </a:rPr>
              <a:t>3D minus catheter target, last iteration (mmHg), c = 10⁴</a:t>
            </a:r>
          </a:p>
        </p:txBody>
      </p:sp>
      <p:graphicFrame>
        <p:nvGraphicFramePr>
          <p:cNvPr id="13" name="Chart 19"/>
          <p:cNvGraphicFramePr>
            <a:graphicFrameLocks noGrp="1"/>
          </p:cNvGraphicFramePr>
          <p:nvPr/>
        </p:nvGraphicFramePr>
        <p:xfrm>
          <a:off x="320040" y="1554480"/>
          <a:ext cx="5120640" cy="2377440"/>
        </p:xfrm>
        <a:graphic>
          <a:graphicData uri="http://schemas.openxmlformats.org/drawingml/2006/chart">
            <c:chart xmlns:c="http://schemas.openxmlformats.org/drawingml/2006/chart" r:id="rId2"/>
          </a:graphicData>
        </a:graphic>
      </p:graphicFrame>
      <p:sp>
        <p:nvSpPr>
          <p:cNvPr id="14" name="TextBox 20"/>
          <p:cNvSpPr txBox="1"/>
          <p:nvPr/>
        </p:nvSpPr>
        <p:spPr>
          <a:xfrm>
            <a:off x="320040" y="3931920"/>
            <a:ext cx="5120640" cy="182880"/>
          </a:xfrm>
          <a:prstGeom prst="rect">
            <a:avLst/>
          </a:prstGeom>
          <a:noFill/>
        </p:spPr>
        <p:txBody>
          <a:bodyPr wrap="square" lIns="0" rIns="0" tIns="0" bIns="0" anchor="t">
            <a:spAutoFit/>
          </a:bodyPr>
          <a:lstStyle/>
          <a:p>
            <a:pPr algn="l"/>
            <a:r>
              <a:rPr sz="750" b="0" i="0">
                <a:solidFill>
                  <a:srgbClr val="6B6965"/>
                </a:solidFill>
                <a:latin typeface="Calibri"/>
              </a:rPr>
              <a:t>Systolic high and diastolic low in all five patients: the 3D pulse is too wide. σ = 2 mmHg.</a:t>
            </a:r>
          </a:p>
        </p:txBody>
      </p:sp>
      <p:sp>
        <p:nvSpPr>
          <p:cNvPr id="15" name="TextBox 21"/>
          <p:cNvSpPr txBox="1"/>
          <p:nvPr/>
        </p:nvSpPr>
        <p:spPr>
          <a:xfrm>
            <a:off x="5623560" y="1316736"/>
            <a:ext cx="3200400" cy="219456"/>
          </a:xfrm>
          <a:prstGeom prst="rect">
            <a:avLst/>
          </a:prstGeom>
          <a:noFill/>
        </p:spPr>
        <p:txBody>
          <a:bodyPr wrap="square" lIns="0" rIns="0" tIns="0" bIns="0" anchor="t">
            <a:spAutoFit/>
          </a:bodyPr>
          <a:lstStyle/>
          <a:p>
            <a:pPr algn="l"/>
            <a:r>
              <a:rPr sz="1000" b="1" i="0">
                <a:solidFill>
                  <a:srgbClr val="8C1515"/>
                </a:solidFill>
                <a:latin typeface="Calibri"/>
              </a:rPr>
              <a:t>Split and calibration by patient</a:t>
            </a:r>
          </a:p>
        </p:txBody>
      </p:sp>
      <p:sp>
        <p:nvSpPr>
          <p:cNvPr id="16" name="TextBox 22"/>
          <p:cNvSpPr txBox="1"/>
          <p:nvPr/>
        </p:nvSpPr>
        <p:spPr>
          <a:xfrm>
            <a:off x="6400800" y="1554480"/>
            <a:ext cx="457200" cy="182880"/>
          </a:xfrm>
          <a:prstGeom prst="rect">
            <a:avLst/>
          </a:prstGeom>
          <a:noFill/>
        </p:spPr>
        <p:txBody>
          <a:bodyPr wrap="square" lIns="0" rIns="0" tIns="0" bIns="0" anchor="t">
            <a:spAutoFit/>
          </a:bodyPr>
          <a:lstStyle/>
          <a:p>
            <a:pPr algn="ctr"/>
            <a:r>
              <a:rPr sz="700" b="1" i="0">
                <a:solidFill>
                  <a:srgbClr val="6B6965"/>
                </a:solidFill>
                <a:latin typeface="Calibri"/>
              </a:rPr>
              <a:t>iter.</a:t>
            </a:r>
          </a:p>
        </p:txBody>
      </p:sp>
      <p:sp>
        <p:nvSpPr>
          <p:cNvPr id="17" name="TextBox 23"/>
          <p:cNvSpPr txBox="1"/>
          <p:nvPr/>
        </p:nvSpPr>
        <p:spPr>
          <a:xfrm>
            <a:off x="6812280" y="1554480"/>
            <a:ext cx="868680" cy="182880"/>
          </a:xfrm>
          <a:prstGeom prst="rect">
            <a:avLst/>
          </a:prstGeom>
          <a:noFill/>
        </p:spPr>
        <p:txBody>
          <a:bodyPr wrap="square" lIns="0" rIns="0" tIns="0" bIns="0" anchor="t">
            <a:spAutoFit/>
          </a:bodyPr>
          <a:lstStyle/>
          <a:p>
            <a:pPr algn="ctr"/>
            <a:r>
              <a:rPr sz="700" b="1" i="0">
                <a:solidFill>
                  <a:srgbClr val="6B6965"/>
                </a:solidFill>
                <a:latin typeface="Calibri"/>
              </a:rPr>
              <a:t>split 3D / target</a:t>
            </a:r>
          </a:p>
        </p:txBody>
      </p:sp>
      <p:sp>
        <p:nvSpPr>
          <p:cNvPr id="18" name="TextBox 24"/>
          <p:cNvSpPr txBox="1"/>
          <p:nvPr/>
        </p:nvSpPr>
        <p:spPr>
          <a:xfrm>
            <a:off x="7726679" y="1554480"/>
            <a:ext cx="1097280" cy="182880"/>
          </a:xfrm>
          <a:prstGeom prst="rect">
            <a:avLst/>
          </a:prstGeom>
          <a:noFill/>
        </p:spPr>
        <p:txBody>
          <a:bodyPr wrap="square" lIns="0" rIns="0" tIns="0" bIns="0" anchor="t">
            <a:spAutoFit/>
          </a:bodyPr>
          <a:lstStyle/>
          <a:p>
            <a:pPr algn="ctr"/>
            <a:r>
              <a:rPr sz="700" b="1" i="0">
                <a:solidFill>
                  <a:srgbClr val="6B6965"/>
                </a:solidFill>
                <a:latin typeface="Calibri"/>
              </a:rPr>
              <a:t>calibration</a:t>
            </a:r>
          </a:p>
        </p:txBody>
      </p:sp>
      <p:sp>
        <p:nvSpPr>
          <p:cNvPr id="19" name="Rectangle 25"/>
          <p:cNvSpPr/>
          <p:nvPr/>
        </p:nvSpPr>
        <p:spPr>
          <a:xfrm>
            <a:off x="5623560" y="1755648"/>
            <a:ext cx="3200400" cy="4023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TextBox 26"/>
          <p:cNvSpPr txBox="1"/>
          <p:nvPr/>
        </p:nvSpPr>
        <p:spPr>
          <a:xfrm>
            <a:off x="5678424" y="1755648"/>
            <a:ext cx="777240" cy="402336"/>
          </a:xfrm>
          <a:prstGeom prst="rect">
            <a:avLst/>
          </a:prstGeom>
          <a:noFill/>
        </p:spPr>
        <p:txBody>
          <a:bodyPr wrap="square" lIns="0" rIns="0" tIns="0" bIns="0" anchor="ctr">
            <a:spAutoFit/>
          </a:bodyPr>
          <a:lstStyle/>
          <a:p>
            <a:pPr algn="l"/>
            <a:r>
              <a:rPr sz="800" b="1" i="0">
                <a:solidFill>
                  <a:srgbClr val="2E2D29"/>
                </a:solidFill>
                <a:latin typeface="Calibri"/>
              </a:rPr>
              <a:t>TST-STAN-1</a:t>
            </a:r>
          </a:p>
        </p:txBody>
      </p:sp>
      <p:sp>
        <p:nvSpPr>
          <p:cNvPr id="21" name="TextBox 27"/>
          <p:cNvSpPr txBox="1"/>
          <p:nvPr/>
        </p:nvSpPr>
        <p:spPr>
          <a:xfrm>
            <a:off x="6400800" y="1755648"/>
            <a:ext cx="457200" cy="402336"/>
          </a:xfrm>
          <a:prstGeom prst="rect">
            <a:avLst/>
          </a:prstGeom>
          <a:noFill/>
        </p:spPr>
        <p:txBody>
          <a:bodyPr wrap="square" lIns="0" rIns="0" tIns="0" bIns="0" anchor="ctr">
            <a:spAutoFit/>
          </a:bodyPr>
          <a:lstStyle/>
          <a:p>
            <a:pPr algn="ctr"/>
            <a:r>
              <a:rPr sz="800" b="0" i="0">
                <a:solidFill>
                  <a:srgbClr val="2E2D29"/>
                </a:solidFill>
                <a:latin typeface="Calibri"/>
              </a:rPr>
              <a:t>2</a:t>
            </a:r>
          </a:p>
        </p:txBody>
      </p:sp>
      <p:sp>
        <p:nvSpPr>
          <p:cNvPr id="22" name="TextBox 28"/>
          <p:cNvSpPr txBox="1"/>
          <p:nvPr/>
        </p:nvSpPr>
        <p:spPr>
          <a:xfrm>
            <a:off x="6812280" y="1755648"/>
            <a:ext cx="868680" cy="402336"/>
          </a:xfrm>
          <a:prstGeom prst="rect">
            <a:avLst/>
          </a:prstGeom>
          <a:noFill/>
        </p:spPr>
        <p:txBody>
          <a:bodyPr wrap="square" lIns="0" rIns="0" tIns="0" bIns="0" anchor="ctr">
            <a:spAutoFit/>
          </a:bodyPr>
          <a:lstStyle/>
          <a:p>
            <a:pPr algn="ctr"/>
            <a:r>
              <a:rPr sz="750" b="0" i="0">
                <a:solidFill>
                  <a:srgbClr val="2E2D29"/>
                </a:solidFill>
                <a:latin typeface="Calibri"/>
              </a:rPr>
              <a:t>0.692 / 0.71</a:t>
            </a:r>
          </a:p>
        </p:txBody>
      </p:sp>
      <p:sp>
        <p:nvSpPr>
          <p:cNvPr id="23" name="Rounded Rectangle 29"/>
          <p:cNvSpPr/>
          <p:nvPr/>
        </p:nvSpPr>
        <p:spPr>
          <a:xfrm>
            <a:off x="7726679" y="1847088"/>
            <a:ext cx="1051560" cy="219456"/>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unstable in replay</a:t>
            </a:r>
          </a:p>
        </p:txBody>
      </p:sp>
      <p:sp>
        <p:nvSpPr>
          <p:cNvPr id="24" name="Rectangle 30"/>
          <p:cNvSpPr/>
          <p:nvPr/>
        </p:nvSpPr>
        <p:spPr>
          <a:xfrm>
            <a:off x="5623560" y="2212848"/>
            <a:ext cx="32004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5" name="TextBox 31"/>
          <p:cNvSpPr txBox="1"/>
          <p:nvPr/>
        </p:nvSpPr>
        <p:spPr>
          <a:xfrm>
            <a:off x="5678424" y="2212848"/>
            <a:ext cx="777240" cy="402336"/>
          </a:xfrm>
          <a:prstGeom prst="rect">
            <a:avLst/>
          </a:prstGeom>
          <a:noFill/>
        </p:spPr>
        <p:txBody>
          <a:bodyPr wrap="square" lIns="0" rIns="0" tIns="0" bIns="0" anchor="ctr">
            <a:spAutoFit/>
          </a:bodyPr>
          <a:lstStyle/>
          <a:p>
            <a:pPr algn="l"/>
            <a:r>
              <a:rPr sz="800" b="1" i="0">
                <a:solidFill>
                  <a:srgbClr val="2E2D29"/>
                </a:solidFill>
                <a:latin typeface="Calibri"/>
              </a:rPr>
              <a:t>TST-STAN-2</a:t>
            </a:r>
          </a:p>
        </p:txBody>
      </p:sp>
      <p:sp>
        <p:nvSpPr>
          <p:cNvPr id="26" name="TextBox 32"/>
          <p:cNvSpPr txBox="1"/>
          <p:nvPr/>
        </p:nvSpPr>
        <p:spPr>
          <a:xfrm>
            <a:off x="6400800" y="2212848"/>
            <a:ext cx="457200" cy="402336"/>
          </a:xfrm>
          <a:prstGeom prst="rect">
            <a:avLst/>
          </a:prstGeom>
          <a:noFill/>
        </p:spPr>
        <p:txBody>
          <a:bodyPr wrap="square" lIns="0" rIns="0" tIns="0" bIns="0" anchor="ctr">
            <a:spAutoFit/>
          </a:bodyPr>
          <a:lstStyle/>
          <a:p>
            <a:pPr algn="ctr"/>
            <a:r>
              <a:rPr sz="800" b="0" i="0">
                <a:solidFill>
                  <a:srgbClr val="2E2D29"/>
                </a:solidFill>
                <a:latin typeface="Calibri"/>
              </a:rPr>
              <a:t>1 *</a:t>
            </a:r>
          </a:p>
        </p:txBody>
      </p:sp>
      <p:sp>
        <p:nvSpPr>
          <p:cNvPr id="27" name="TextBox 33"/>
          <p:cNvSpPr txBox="1"/>
          <p:nvPr/>
        </p:nvSpPr>
        <p:spPr>
          <a:xfrm>
            <a:off x="6812280" y="2212848"/>
            <a:ext cx="868680" cy="402336"/>
          </a:xfrm>
          <a:prstGeom prst="rect">
            <a:avLst/>
          </a:prstGeom>
          <a:noFill/>
        </p:spPr>
        <p:txBody>
          <a:bodyPr wrap="square" lIns="0" rIns="0" tIns="0" bIns="0" anchor="ctr">
            <a:spAutoFit/>
          </a:bodyPr>
          <a:lstStyle/>
          <a:p>
            <a:pPr algn="ctr"/>
            <a:r>
              <a:rPr sz="750" b="0" i="0">
                <a:solidFill>
                  <a:srgbClr val="2E2D29"/>
                </a:solidFill>
                <a:latin typeface="Calibri"/>
              </a:rPr>
              <a:t>0.683 / 0.762</a:t>
            </a:r>
          </a:p>
        </p:txBody>
      </p:sp>
      <p:sp>
        <p:nvSpPr>
          <p:cNvPr id="28" name="Rounded Rectangle 34"/>
          <p:cNvSpPr/>
          <p:nvPr/>
        </p:nvSpPr>
        <p:spPr>
          <a:xfrm>
            <a:off x="7726679" y="2304288"/>
            <a:ext cx="1051560" cy="219456"/>
          </a:xfrm>
          <a:prstGeom prst="roundRect">
            <a:avLst>
              <a:gd name="adj" fmla="val 30000"/>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passed (21.2 → 2.4)</a:t>
            </a:r>
          </a:p>
        </p:txBody>
      </p:sp>
      <p:sp>
        <p:nvSpPr>
          <p:cNvPr id="29" name="Rectangle 35"/>
          <p:cNvSpPr/>
          <p:nvPr/>
        </p:nvSpPr>
        <p:spPr>
          <a:xfrm>
            <a:off x="5623560" y="2670048"/>
            <a:ext cx="3200400" cy="4023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0" name="TextBox 36"/>
          <p:cNvSpPr txBox="1"/>
          <p:nvPr/>
        </p:nvSpPr>
        <p:spPr>
          <a:xfrm>
            <a:off x="5678424" y="2670048"/>
            <a:ext cx="777240" cy="402336"/>
          </a:xfrm>
          <a:prstGeom prst="rect">
            <a:avLst/>
          </a:prstGeom>
          <a:noFill/>
        </p:spPr>
        <p:txBody>
          <a:bodyPr wrap="square" lIns="0" rIns="0" tIns="0" bIns="0" anchor="ctr">
            <a:spAutoFit/>
          </a:bodyPr>
          <a:lstStyle/>
          <a:p>
            <a:pPr algn="l"/>
            <a:r>
              <a:rPr sz="800" b="1" i="0">
                <a:solidFill>
                  <a:srgbClr val="2E2D29"/>
                </a:solidFill>
                <a:latin typeface="Calibri"/>
              </a:rPr>
              <a:t>TST-STAN-3</a:t>
            </a:r>
          </a:p>
        </p:txBody>
      </p:sp>
      <p:sp>
        <p:nvSpPr>
          <p:cNvPr id="31" name="TextBox 37"/>
          <p:cNvSpPr txBox="1"/>
          <p:nvPr/>
        </p:nvSpPr>
        <p:spPr>
          <a:xfrm>
            <a:off x="6400800" y="2670048"/>
            <a:ext cx="457200" cy="402336"/>
          </a:xfrm>
          <a:prstGeom prst="rect">
            <a:avLst/>
          </a:prstGeom>
          <a:noFill/>
        </p:spPr>
        <p:txBody>
          <a:bodyPr wrap="square" lIns="0" rIns="0" tIns="0" bIns="0" anchor="ctr">
            <a:spAutoFit/>
          </a:bodyPr>
          <a:lstStyle/>
          <a:p>
            <a:pPr algn="ctr"/>
            <a:r>
              <a:rPr sz="800" b="0" i="0">
                <a:solidFill>
                  <a:srgbClr val="2E2D29"/>
                </a:solidFill>
                <a:latin typeface="Calibri"/>
              </a:rPr>
              <a:t>2</a:t>
            </a:r>
          </a:p>
        </p:txBody>
      </p:sp>
      <p:sp>
        <p:nvSpPr>
          <p:cNvPr id="32" name="TextBox 38"/>
          <p:cNvSpPr txBox="1"/>
          <p:nvPr/>
        </p:nvSpPr>
        <p:spPr>
          <a:xfrm>
            <a:off x="6812280" y="2670048"/>
            <a:ext cx="868680" cy="402336"/>
          </a:xfrm>
          <a:prstGeom prst="rect">
            <a:avLst/>
          </a:prstGeom>
          <a:noFill/>
        </p:spPr>
        <p:txBody>
          <a:bodyPr wrap="square" lIns="0" rIns="0" tIns="0" bIns="0" anchor="ctr">
            <a:spAutoFit/>
          </a:bodyPr>
          <a:lstStyle/>
          <a:p>
            <a:pPr algn="ctr"/>
            <a:r>
              <a:rPr sz="750" b="0" i="0">
                <a:solidFill>
                  <a:srgbClr val="2E2D29"/>
                </a:solidFill>
                <a:latin typeface="Calibri"/>
              </a:rPr>
              <a:t>0.448 / 0.446</a:t>
            </a:r>
          </a:p>
        </p:txBody>
      </p:sp>
      <p:sp>
        <p:nvSpPr>
          <p:cNvPr id="33" name="Rounded Rectangle 39"/>
          <p:cNvSpPr/>
          <p:nvPr/>
        </p:nvSpPr>
        <p:spPr>
          <a:xfrm>
            <a:off x="7726679" y="2761488"/>
            <a:ext cx="1051560" cy="219456"/>
          </a:xfrm>
          <a:prstGeom prst="roundRect">
            <a:avLst>
              <a:gd name="adj" fmla="val 30000"/>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gate: no gain (2.5 → 3.6)</a:t>
            </a:r>
          </a:p>
        </p:txBody>
      </p:sp>
      <p:sp>
        <p:nvSpPr>
          <p:cNvPr id="34" name="Rectangle 40"/>
          <p:cNvSpPr/>
          <p:nvPr/>
        </p:nvSpPr>
        <p:spPr>
          <a:xfrm>
            <a:off x="5623560" y="3127248"/>
            <a:ext cx="32004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5" name="TextBox 41"/>
          <p:cNvSpPr txBox="1"/>
          <p:nvPr/>
        </p:nvSpPr>
        <p:spPr>
          <a:xfrm>
            <a:off x="5678424" y="3127248"/>
            <a:ext cx="777240" cy="402336"/>
          </a:xfrm>
          <a:prstGeom prst="rect">
            <a:avLst/>
          </a:prstGeom>
          <a:noFill/>
        </p:spPr>
        <p:txBody>
          <a:bodyPr wrap="square" lIns="0" rIns="0" tIns="0" bIns="0" anchor="ctr">
            <a:spAutoFit/>
          </a:bodyPr>
          <a:lstStyle/>
          <a:p>
            <a:pPr algn="l"/>
            <a:r>
              <a:rPr sz="800" b="1" i="0">
                <a:solidFill>
                  <a:srgbClr val="2E2D29"/>
                </a:solidFill>
                <a:latin typeface="Calibri"/>
              </a:rPr>
              <a:t>TST-STAN-5</a:t>
            </a:r>
          </a:p>
        </p:txBody>
      </p:sp>
      <p:sp>
        <p:nvSpPr>
          <p:cNvPr id="36" name="TextBox 42"/>
          <p:cNvSpPr txBox="1"/>
          <p:nvPr/>
        </p:nvSpPr>
        <p:spPr>
          <a:xfrm>
            <a:off x="6400800" y="3127248"/>
            <a:ext cx="457200" cy="402336"/>
          </a:xfrm>
          <a:prstGeom prst="rect">
            <a:avLst/>
          </a:prstGeom>
          <a:noFill/>
        </p:spPr>
        <p:txBody>
          <a:bodyPr wrap="square" lIns="0" rIns="0" tIns="0" bIns="0" anchor="ctr">
            <a:spAutoFit/>
          </a:bodyPr>
          <a:lstStyle/>
          <a:p>
            <a:pPr algn="ctr"/>
            <a:r>
              <a:rPr sz="800" b="0" i="0">
                <a:solidFill>
                  <a:srgbClr val="2E2D29"/>
                </a:solidFill>
                <a:latin typeface="Calibri"/>
              </a:rPr>
              <a:t>2</a:t>
            </a:r>
          </a:p>
        </p:txBody>
      </p:sp>
      <p:sp>
        <p:nvSpPr>
          <p:cNvPr id="37" name="TextBox 43"/>
          <p:cNvSpPr txBox="1"/>
          <p:nvPr/>
        </p:nvSpPr>
        <p:spPr>
          <a:xfrm>
            <a:off x="6812280" y="3127248"/>
            <a:ext cx="868680" cy="402336"/>
          </a:xfrm>
          <a:prstGeom prst="rect">
            <a:avLst/>
          </a:prstGeom>
          <a:noFill/>
        </p:spPr>
        <p:txBody>
          <a:bodyPr wrap="square" lIns="0" rIns="0" tIns="0" bIns="0" anchor="ctr">
            <a:spAutoFit/>
          </a:bodyPr>
          <a:lstStyle/>
          <a:p>
            <a:pPr algn="ctr"/>
            <a:r>
              <a:rPr sz="750" b="0" i="0">
                <a:solidFill>
                  <a:srgbClr val="2E2D29"/>
                </a:solidFill>
                <a:latin typeface="Calibri"/>
              </a:rPr>
              <a:t>0.88 / 0.87</a:t>
            </a:r>
          </a:p>
        </p:txBody>
      </p:sp>
      <p:sp>
        <p:nvSpPr>
          <p:cNvPr id="38" name="Rounded Rectangle 44"/>
          <p:cNvSpPr/>
          <p:nvPr/>
        </p:nvSpPr>
        <p:spPr>
          <a:xfrm>
            <a:off x="7726679" y="3218688"/>
            <a:ext cx="1051560" cy="219456"/>
          </a:xfrm>
          <a:prstGeom prst="roundRect">
            <a:avLst>
              <a:gd name="adj" fmla="val 30000"/>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gate: no gain (15.5 → 15.6)</a:t>
            </a:r>
          </a:p>
        </p:txBody>
      </p:sp>
      <p:sp>
        <p:nvSpPr>
          <p:cNvPr id="39" name="Rectangle 45"/>
          <p:cNvSpPr/>
          <p:nvPr/>
        </p:nvSpPr>
        <p:spPr>
          <a:xfrm>
            <a:off x="5623560" y="3584448"/>
            <a:ext cx="3200400" cy="4023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0" name="TextBox 46"/>
          <p:cNvSpPr txBox="1"/>
          <p:nvPr/>
        </p:nvSpPr>
        <p:spPr>
          <a:xfrm>
            <a:off x="5678424" y="3584448"/>
            <a:ext cx="777240" cy="402336"/>
          </a:xfrm>
          <a:prstGeom prst="rect">
            <a:avLst/>
          </a:prstGeom>
          <a:noFill/>
        </p:spPr>
        <p:txBody>
          <a:bodyPr wrap="square" lIns="0" rIns="0" tIns="0" bIns="0" anchor="ctr">
            <a:spAutoFit/>
          </a:bodyPr>
          <a:lstStyle/>
          <a:p>
            <a:pPr algn="l"/>
            <a:r>
              <a:rPr sz="800" b="1" i="0">
                <a:solidFill>
                  <a:srgbClr val="2E2D29"/>
                </a:solidFill>
                <a:latin typeface="Calibri"/>
              </a:rPr>
              <a:t>TST-STAN-9</a:t>
            </a:r>
          </a:p>
        </p:txBody>
      </p:sp>
      <p:sp>
        <p:nvSpPr>
          <p:cNvPr id="41" name="TextBox 47"/>
          <p:cNvSpPr txBox="1"/>
          <p:nvPr/>
        </p:nvSpPr>
        <p:spPr>
          <a:xfrm>
            <a:off x="6400800" y="3584448"/>
            <a:ext cx="457200" cy="402336"/>
          </a:xfrm>
          <a:prstGeom prst="rect">
            <a:avLst/>
          </a:prstGeom>
          <a:noFill/>
        </p:spPr>
        <p:txBody>
          <a:bodyPr wrap="square" lIns="0" rIns="0" tIns="0" bIns="0" anchor="ctr">
            <a:spAutoFit/>
          </a:bodyPr>
          <a:lstStyle/>
          <a:p>
            <a:pPr algn="ctr"/>
            <a:r>
              <a:rPr sz="800" b="0" i="0">
                <a:solidFill>
                  <a:srgbClr val="2E2D29"/>
                </a:solidFill>
                <a:latin typeface="Calibri"/>
              </a:rPr>
              <a:t>1 *</a:t>
            </a:r>
          </a:p>
        </p:txBody>
      </p:sp>
      <p:sp>
        <p:nvSpPr>
          <p:cNvPr id="42" name="TextBox 48"/>
          <p:cNvSpPr txBox="1"/>
          <p:nvPr/>
        </p:nvSpPr>
        <p:spPr>
          <a:xfrm>
            <a:off x="6812280" y="3584448"/>
            <a:ext cx="868680" cy="402336"/>
          </a:xfrm>
          <a:prstGeom prst="rect">
            <a:avLst/>
          </a:prstGeom>
          <a:noFill/>
        </p:spPr>
        <p:txBody>
          <a:bodyPr wrap="square" lIns="0" rIns="0" tIns="0" bIns="0" anchor="ctr">
            <a:spAutoFit/>
          </a:bodyPr>
          <a:lstStyle/>
          <a:p>
            <a:pPr algn="ctr"/>
            <a:r>
              <a:rPr sz="750" b="0" i="0">
                <a:solidFill>
                  <a:srgbClr val="2E2D29"/>
                </a:solidFill>
                <a:latin typeface="Calibri"/>
              </a:rPr>
              <a:t>0.875 / 0.903</a:t>
            </a:r>
          </a:p>
        </p:txBody>
      </p:sp>
      <p:sp>
        <p:nvSpPr>
          <p:cNvPr id="43" name="Rounded Rectangle 49"/>
          <p:cNvSpPr/>
          <p:nvPr/>
        </p:nvSpPr>
        <p:spPr>
          <a:xfrm>
            <a:off x="7726679" y="3675887"/>
            <a:ext cx="1051560" cy="219456"/>
          </a:xfrm>
          <a:prstGeom prst="roundRect">
            <a:avLst>
              <a:gd name="adj" fmla="val 30000"/>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600" b="1" i="0">
                <a:solidFill>
                  <a:srgbClr val="FFFFFF"/>
                </a:solidFill>
                <a:latin typeface="Calibri"/>
              </a:rPr>
              <a:t>unstable in replay</a:t>
            </a:r>
          </a:p>
        </p:txBody>
      </p:sp>
      <p:sp>
        <p:nvSpPr>
          <p:cNvPr id="44" name="TextBox 50"/>
          <p:cNvSpPr txBox="1"/>
          <p:nvPr/>
        </p:nvSpPr>
        <p:spPr>
          <a:xfrm>
            <a:off x="5623560" y="4059936"/>
            <a:ext cx="3200400" cy="365760"/>
          </a:xfrm>
          <a:prstGeom prst="rect">
            <a:avLst/>
          </a:prstGeom>
          <a:noFill/>
        </p:spPr>
        <p:txBody>
          <a:bodyPr wrap="square" lIns="0" rIns="0" tIns="0" bIns="0" anchor="t">
            <a:spAutoFit/>
          </a:bodyPr>
          <a:lstStyle/>
          <a:p>
            <a:pPr algn="l"/>
            <a:r>
              <a:rPr sz="700" b="0" i="0">
                <a:solidFill>
                  <a:srgbClr val="6B6965"/>
                </a:solidFill>
                <a:latin typeface="Calibri"/>
              </a:rPr>
              <a:t>* not advanced past iteration 1. Only TST-STAN-2's calibration passed; two calibrated models were unstable in replay.</a:t>
            </a:r>
          </a:p>
        </p:txBody>
      </p:sp>
      <p:sp>
        <p:nvSpPr>
          <p:cNvPr id="45" name="Takeaway bar"/>
          <p:cNvSpPr/>
          <p:nvPr/>
        </p:nvSpPr>
        <p:spPr>
          <a:xfrm>
            <a:off x="320040" y="470001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6" name="TextBox 52"/>
          <p:cNvSpPr txBox="1"/>
          <p:nvPr/>
        </p:nvSpPr>
        <p:spPr>
          <a:xfrm>
            <a:off x="429768" y="4700016"/>
            <a:ext cx="8284464" cy="310896"/>
          </a:xfrm>
          <a:prstGeom prst="rect">
            <a:avLst/>
          </a:prstGeom>
          <a:noFill/>
        </p:spPr>
        <p:txBody>
          <a:bodyPr wrap="square" lIns="0" rIns="0" tIns="0" bIns="0" anchor="ctr">
            <a:spAutoFit/>
          </a:bodyPr>
          <a:lstStyle/>
          <a:p>
            <a:pPr algn="l"/>
            <a:r>
              <a:rPr sz="1000" b="1" i="0">
                <a:solidFill>
                  <a:srgbClr val="8C1515"/>
                </a:solidFill>
                <a:latin typeface="Calibri"/>
              </a:rPr>
              <a:t>Every patient ran with the aortic damping c = 10⁴; the too-wide 3D pulse motivated the stiffness-scaled damping (next slide).</a:t>
            </a:r>
          </a:p>
        </p:txBody>
      </p:sp>
      <p:sp>
        <p:nvSpPr>
          <p:cNvPr id="47" name="TextBox 53"/>
          <p:cNvSpPr txBox="1"/>
          <p:nvPr/>
        </p:nvSpPr>
        <p:spPr>
          <a:xfrm>
            <a:off x="2011680" y="5358384"/>
            <a:ext cx="6812280" cy="237744"/>
          </a:xfrm>
          <a:prstGeom prst="rect">
            <a:avLst/>
          </a:prstGeom>
          <a:noFill/>
        </p:spPr>
        <p:txBody>
          <a:bodyPr wrap="square" lIns="0" rIns="0" tIns="0" bIns="0" anchor="ctr">
            <a:spAutoFit/>
          </a:bodyPr>
          <a:lstStyle/>
          <a:p>
            <a:pPr algn="l"/>
            <a:r>
              <a:rPr sz="700" b="0" i="1">
                <a:solidFill>
                  <a:srgbClr val="6B6965"/>
                </a:solidFill>
                <a:latin typeface="Calibri"/>
              </a:rPr>
              <a:t>Archived 2026-10-22. Replaced by: Iteration 1: 3D pulse pressure against the catheter. Reason: Before-damping-fix data moved into the before/after chart.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Identifying the gains: calibration and validation design</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408176"/>
            <a:ext cx="4160520" cy="17373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9"/>
          <p:cNvSpPr txBox="1"/>
          <p:nvPr/>
        </p:nvSpPr>
        <p:spPr>
          <a:xfrm>
            <a:off x="448056" y="1508760"/>
            <a:ext cx="3904487" cy="219456"/>
          </a:xfrm>
          <a:prstGeom prst="rect">
            <a:avLst/>
          </a:prstGeom>
          <a:noFill/>
        </p:spPr>
        <p:txBody>
          <a:bodyPr wrap="square" lIns="27432" tIns="0" rIns="27432" bIns="0" anchor="t">
            <a:spAutoFit/>
          </a:bodyPr>
          <a:lstStyle/>
          <a:p>
            <a:pPr algn="l"/>
            <a:r>
              <a:rPr sz="1100" b="1" i="0">
                <a:solidFill>
                  <a:srgbClr val="E98300"/>
                </a:solidFill>
                <a:latin typeface="Calibri"/>
              </a:rPr>
              <a:t>The design decision</a:t>
            </a:r>
          </a:p>
        </p:txBody>
      </p:sp>
      <p:sp>
        <p:nvSpPr>
          <p:cNvPr id="14" name="TextBox 20"/>
          <p:cNvSpPr txBox="1"/>
          <p:nvPr/>
        </p:nvSpPr>
        <p:spPr>
          <a:xfrm>
            <a:off x="448056" y="1783080"/>
            <a:ext cx="3904487" cy="1325880"/>
          </a:xfrm>
          <a:prstGeom prst="rect">
            <a:avLst/>
          </a:prstGeom>
          <a:noFill/>
        </p:spPr>
        <p:txBody>
          <a:bodyPr wrap="square" lIns="27432" tIns="0" rIns="27432" bIns="0">
            <a:spAutoFit/>
          </a:bodyPr>
          <a:lstStyle/>
          <a:p>
            <a:pPr>
              <a:spcAft>
                <a:spcPts val="350"/>
              </a:spcAft>
            </a:pPr>
            <a:r>
              <a:rPr sz="950">
                <a:solidFill>
                  <a:srgbClr val="E98300"/>
                </a:solidFill>
                <a:latin typeface="Calibri"/>
              </a:rPr>
              <a:t>• </a:t>
            </a:r>
            <a:r>
              <a:rPr sz="950">
                <a:solidFill>
                  <a:srgbClr val="2E2D29"/>
                </a:solidFill>
                <a:latin typeface="Calibri"/>
              </a:rPr>
              <a:t>If gains are fit per patient against that patient's own post-operative data, the adapted result is a calibration, not a prediction</a:t>
            </a:r>
          </a:p>
          <a:p>
            <a:pPr>
              <a:spcAft>
                <a:spcPts val="350"/>
              </a:spcAft>
            </a:pPr>
            <a:r>
              <a:rPr sz="950">
                <a:solidFill>
                  <a:srgbClr val="E98300"/>
                </a:solidFill>
                <a:latin typeface="Calibri"/>
              </a:rPr>
              <a:t>• </a:t>
            </a:r>
            <a:r>
              <a:rPr sz="950">
                <a:solidFill>
                  <a:srgbClr val="2E2D29"/>
                </a:solidFill>
                <a:latin typeface="Calibri"/>
              </a:rPr>
              <a:t>The pipeline is only useful for treatment planning if the gains generalize</a:t>
            </a:r>
          </a:p>
        </p:txBody>
      </p:sp>
      <p:sp>
        <p:nvSpPr>
          <p:cNvPr id="15" name="Rectangle 21"/>
          <p:cNvSpPr/>
          <p:nvPr/>
        </p:nvSpPr>
        <p:spPr>
          <a:xfrm>
            <a:off x="320040" y="3291840"/>
            <a:ext cx="4160520" cy="142646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22"/>
          <p:cNvSpPr txBox="1"/>
          <p:nvPr/>
        </p:nvSpPr>
        <p:spPr>
          <a:xfrm>
            <a:off x="448056" y="3392424"/>
            <a:ext cx="3904487" cy="219456"/>
          </a:xfrm>
          <a:prstGeom prst="rect">
            <a:avLst/>
          </a:prstGeom>
          <a:noFill/>
        </p:spPr>
        <p:txBody>
          <a:bodyPr wrap="square" lIns="27432" tIns="0" rIns="27432" bIns="0" anchor="t">
            <a:spAutoFit/>
          </a:bodyPr>
          <a:lstStyle/>
          <a:p>
            <a:pPr algn="l"/>
            <a:r>
              <a:rPr sz="1100" b="1" i="0">
                <a:solidFill>
                  <a:srgbClr val="8C1515"/>
                </a:solidFill>
                <a:latin typeface="Calibri"/>
              </a:rPr>
              <a:t>Chosen approach</a:t>
            </a:r>
          </a:p>
        </p:txBody>
      </p:sp>
      <p:sp>
        <p:nvSpPr>
          <p:cNvPr id="17" name="TextBox 23"/>
          <p:cNvSpPr txBox="1"/>
          <p:nvPr/>
        </p:nvSpPr>
        <p:spPr>
          <a:xfrm>
            <a:off x="448056" y="3666744"/>
            <a:ext cx="3904487" cy="1014984"/>
          </a:xfrm>
          <a:prstGeom prst="rect">
            <a:avLst/>
          </a:prstGeom>
          <a:noFill/>
        </p:spPr>
        <p:txBody>
          <a:bodyPr wrap="square" lIns="27432" tIns="0" rIns="27432" bIns="0">
            <a:spAutoFit/>
          </a:bodyPr>
          <a:lstStyle/>
          <a:p>
            <a:pPr>
              <a:spcAft>
                <a:spcPts val="350"/>
              </a:spcAft>
            </a:pPr>
            <a:r>
              <a:rPr sz="950">
                <a:solidFill>
                  <a:srgbClr val="8C1515"/>
                </a:solidFill>
                <a:latin typeface="Calibri"/>
              </a:rPr>
              <a:t>• </a:t>
            </a:r>
            <a:r>
              <a:rPr sz="950">
                <a:solidFill>
                  <a:srgbClr val="2E2D29"/>
                </a:solidFill>
                <a:latin typeface="Calibri"/>
              </a:rPr>
              <a:t>Fit the gains on three patients and validate on the held-out two</a:t>
            </a:r>
          </a:p>
          <a:p>
            <a:pPr>
              <a:spcAft>
                <a:spcPts val="350"/>
              </a:spcAft>
            </a:pPr>
            <a:r>
              <a:rPr sz="950">
                <a:solidFill>
                  <a:srgbClr val="8C1515"/>
                </a:solidFill>
                <a:latin typeface="Calibri"/>
              </a:rPr>
              <a:t>• </a:t>
            </a:r>
            <a:r>
              <a:rPr sz="950">
                <a:solidFill>
                  <a:srgbClr val="2E2D29"/>
                </a:solidFill>
                <a:latin typeface="Calibri"/>
              </a:rPr>
              <a:t>Or leave-one-out cross-validation across all five, which uses the small cohort more efficiently</a:t>
            </a:r>
          </a:p>
        </p:txBody>
      </p:sp>
      <p:sp>
        <p:nvSpPr>
          <p:cNvPr id="18" name="Rectangle 24"/>
          <p:cNvSpPr/>
          <p:nvPr/>
        </p:nvSpPr>
        <p:spPr>
          <a:xfrm>
            <a:off x="4846320" y="1408176"/>
            <a:ext cx="3977639" cy="173736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25"/>
          <p:cNvSpPr txBox="1"/>
          <p:nvPr/>
        </p:nvSpPr>
        <p:spPr>
          <a:xfrm>
            <a:off x="4974336" y="1508760"/>
            <a:ext cx="3721607" cy="219456"/>
          </a:xfrm>
          <a:prstGeom prst="rect">
            <a:avLst/>
          </a:prstGeom>
          <a:noFill/>
        </p:spPr>
        <p:txBody>
          <a:bodyPr wrap="square" lIns="27432" tIns="0" rIns="27432" bIns="0" anchor="t">
            <a:spAutoFit/>
          </a:bodyPr>
          <a:lstStyle/>
          <a:p>
            <a:pPr algn="l"/>
            <a:r>
              <a:rPr sz="1100" b="1" i="0">
                <a:solidFill>
                  <a:srgbClr val="8C1515"/>
                </a:solidFill>
                <a:latin typeface="Calibri"/>
              </a:rPr>
              <a:t>Fitting objective</a:t>
            </a:r>
          </a:p>
        </p:txBody>
      </p:sp>
      <p:sp>
        <p:nvSpPr>
          <p:cNvPr id="20" name="TextBox 26"/>
          <p:cNvSpPr txBox="1"/>
          <p:nvPr/>
        </p:nvSpPr>
        <p:spPr>
          <a:xfrm>
            <a:off x="4974336" y="1783080"/>
            <a:ext cx="3721607" cy="1325880"/>
          </a:xfrm>
          <a:prstGeom prst="rect">
            <a:avLst/>
          </a:prstGeom>
          <a:noFill/>
        </p:spPr>
        <p:txBody>
          <a:bodyPr wrap="square" lIns="27432" tIns="0" rIns="27432" bIns="0">
            <a:spAutoFit/>
          </a:bodyPr>
          <a:lstStyle/>
          <a:p>
            <a:pPr>
              <a:spcAft>
                <a:spcPts val="350"/>
              </a:spcAft>
            </a:pPr>
            <a:r>
              <a:rPr sz="950">
                <a:solidFill>
                  <a:srgbClr val="8C1515"/>
                </a:solidFill>
                <a:latin typeface="Calibri"/>
              </a:rPr>
              <a:t>• </a:t>
            </a:r>
            <a:r>
              <a:rPr sz="950">
                <a:solidFill>
                  <a:srgbClr val="2E2D29"/>
                </a:solidFill>
                <a:latin typeface="Calibri"/>
              </a:rPr>
              <a:t>Match the measured post-operative RPA / LPA perfusion split</a:t>
            </a:r>
          </a:p>
          <a:p>
            <a:pPr>
              <a:spcAft>
                <a:spcPts val="350"/>
              </a:spcAft>
            </a:pPr>
            <a:r>
              <a:rPr sz="950">
                <a:solidFill>
                  <a:srgbClr val="8C1515"/>
                </a:solidFill>
                <a:latin typeface="Calibri"/>
              </a:rPr>
              <a:t>• </a:t>
            </a:r>
            <a:r>
              <a:rPr sz="950">
                <a:solidFill>
                  <a:srgbClr val="2E2D29"/>
                </a:solidFill>
                <a:latin typeface="Calibri"/>
              </a:rPr>
              <a:t>Secondary: post-operative MPA pressures</a:t>
            </a:r>
          </a:p>
        </p:txBody>
      </p:sp>
      <p:sp>
        <p:nvSpPr>
          <p:cNvPr id="21" name="Rectangle 27"/>
          <p:cNvSpPr/>
          <p:nvPr/>
        </p:nvSpPr>
        <p:spPr>
          <a:xfrm>
            <a:off x="4846320" y="3291840"/>
            <a:ext cx="3977639" cy="142646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8"/>
          <p:cNvSpPr txBox="1"/>
          <p:nvPr/>
        </p:nvSpPr>
        <p:spPr>
          <a:xfrm>
            <a:off x="4974336" y="3392424"/>
            <a:ext cx="2578607" cy="219456"/>
          </a:xfrm>
          <a:prstGeom prst="rect">
            <a:avLst/>
          </a:prstGeom>
          <a:noFill/>
        </p:spPr>
        <p:txBody>
          <a:bodyPr wrap="square" lIns="27432" tIns="0" rIns="27432" bIns="0" anchor="t">
            <a:spAutoFit/>
          </a:bodyPr>
          <a:lstStyle/>
          <a:p>
            <a:pPr algn="l"/>
            <a:r>
              <a:rPr sz="1100" b="1" i="0">
                <a:solidFill>
                  <a:srgbClr val="E98300"/>
                </a:solidFill>
                <a:latin typeface="Calibri"/>
              </a:rPr>
              <a:t>Reporting requirement</a:t>
            </a:r>
          </a:p>
        </p:txBody>
      </p:sp>
      <p:sp>
        <p:nvSpPr>
          <p:cNvPr id="23" name="Rectangle 29"/>
          <p:cNvSpPr/>
          <p:nvPr/>
        </p:nvSpPr>
        <p:spPr>
          <a:xfrm>
            <a:off x="7580375" y="3401568"/>
            <a:ext cx="1097280" cy="173736"/>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30"/>
          <p:cNvSpPr txBox="1"/>
          <p:nvPr/>
        </p:nvSpPr>
        <p:spPr>
          <a:xfrm>
            <a:off x="7580375" y="3401568"/>
            <a:ext cx="1097280" cy="173736"/>
          </a:xfrm>
          <a:prstGeom prst="rect">
            <a:avLst/>
          </a:prstGeom>
          <a:noFill/>
        </p:spPr>
        <p:txBody>
          <a:bodyPr wrap="square" lIns="18288" tIns="0" rIns="18288" bIns="0" anchor="ctr">
            <a:spAutoFit/>
          </a:bodyPr>
          <a:lstStyle/>
          <a:p>
            <a:pPr algn="ctr"/>
            <a:r>
              <a:rPr sz="600" b="1">
                <a:solidFill>
                  <a:srgbClr val="6B6965"/>
                </a:solidFill>
                <a:latin typeface="Calibri"/>
              </a:rPr>
              <a:t>PLANNED</a:t>
            </a:r>
          </a:p>
        </p:txBody>
      </p:sp>
      <p:sp>
        <p:nvSpPr>
          <p:cNvPr id="25" name="TextBox 31"/>
          <p:cNvSpPr txBox="1"/>
          <p:nvPr/>
        </p:nvSpPr>
        <p:spPr>
          <a:xfrm>
            <a:off x="4974336" y="3666744"/>
            <a:ext cx="3721607" cy="1014984"/>
          </a:xfrm>
          <a:prstGeom prst="rect">
            <a:avLst/>
          </a:prstGeom>
          <a:noFill/>
        </p:spPr>
        <p:txBody>
          <a:bodyPr wrap="square" lIns="27432" tIns="0" rIns="27432" bIns="0">
            <a:spAutoFit/>
          </a:bodyPr>
          <a:lstStyle/>
          <a:p>
            <a:pPr>
              <a:spcAft>
                <a:spcPts val="350"/>
              </a:spcAft>
            </a:pPr>
            <a:r>
              <a:rPr sz="950">
                <a:solidFill>
                  <a:srgbClr val="E98300"/>
                </a:solidFill>
                <a:latin typeface="Calibri"/>
              </a:rPr>
              <a:t>• </a:t>
            </a:r>
            <a:r>
              <a:rPr sz="950">
                <a:solidFill>
                  <a:srgbClr val="2E2D29"/>
                </a:solidFill>
                <a:latin typeface="Calibri"/>
              </a:rPr>
              <a:t>Held-out error must be reported separately from fitted error</a:t>
            </a:r>
          </a:p>
          <a:p>
            <a:pPr>
              <a:spcAft>
                <a:spcPts val="350"/>
              </a:spcAft>
            </a:pPr>
            <a:r>
              <a:rPr sz="950">
                <a:solidFill>
                  <a:srgbClr val="E98300"/>
                </a:solidFill>
                <a:latin typeface="Calibri"/>
              </a:rPr>
              <a:t>• </a:t>
            </a:r>
            <a:r>
              <a:rPr sz="950">
                <a:solidFill>
                  <a:srgbClr val="2E2D29"/>
                </a:solidFill>
                <a:latin typeface="Calibri"/>
              </a:rPr>
              <a:t>With n = 5, quantify sensitivity to which patients land in the training set</a:t>
            </a:r>
          </a:p>
        </p:txBody>
      </p:sp>
      <p:sp>
        <p:nvSpPr>
          <p:cNvPr id="26" name="Rectangle 32"/>
          <p:cNvSpPr/>
          <p:nvPr/>
        </p:nvSpPr>
        <p:spPr>
          <a:xfrm>
            <a:off x="320040" y="4864608"/>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33"/>
          <p:cNvSpPr txBox="1"/>
          <p:nvPr/>
        </p:nvSpPr>
        <p:spPr>
          <a:xfrm>
            <a:off x="429768" y="4864608"/>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This is the step that decides whether the pipeline predicts or merely describes.</a:t>
            </a:r>
          </a:p>
        </p:txBody>
      </p:sp>
      <p:sp>
        <p:nvSpPr>
          <p:cNvPr id="28"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Do gains fitted on some patients predict the rest?. Reason: Replaced by the question slide; the gain-fitting design is not settled.</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Patient-specific adaptation tests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pic>
        <p:nvPicPr>
          <p:cNvPr id="12" name="Picture 18" descr="adapt_bars_T1.png"/>
          <p:cNvPicPr>
            <a:picLocks noChangeAspect="1"/>
          </p:cNvPicPr>
          <p:nvPr/>
        </p:nvPicPr>
        <p:blipFill>
          <a:blip r:embed="rId2"/>
          <a:stretch>
            <a:fillRect/>
          </a:stretch>
        </p:blipFill>
        <p:spPr>
          <a:xfrm>
            <a:off x="320040" y="1745242"/>
            <a:ext cx="4160520" cy="1685018"/>
          </a:xfrm>
          <a:prstGeom prst="rect">
            <a:avLst/>
          </a:prstGeom>
        </p:spPr>
      </p:pic>
      <p:sp>
        <p:nvSpPr>
          <p:cNvPr id="13" name="TextBox 19"/>
          <p:cNvSpPr txBox="1"/>
          <p:nvPr/>
        </p:nvSpPr>
        <p:spPr>
          <a:xfrm>
            <a:off x="320040" y="3840480"/>
            <a:ext cx="4160520" cy="201168"/>
          </a:xfrm>
          <a:prstGeom prst="rect">
            <a:avLst/>
          </a:prstGeom>
          <a:noFill/>
        </p:spPr>
        <p:txBody>
          <a:bodyPr wrap="square" lIns="27432" tIns="0" rIns="27432" bIns="0" anchor="t">
            <a:spAutoFit/>
          </a:bodyPr>
          <a:lstStyle/>
          <a:p>
            <a:pPr algn="ctr"/>
            <a:r>
              <a:rPr sz="850" b="0" i="1">
                <a:solidFill>
                  <a:srgbClr val="6B6965"/>
                </a:solidFill>
                <a:latin typeface="Calibri"/>
              </a:rPr>
              <a:t>TST-STAN-1 — pre-op, acute post-op and adapted conditions</a:t>
            </a:r>
          </a:p>
        </p:txBody>
      </p:sp>
      <p:pic>
        <p:nvPicPr>
          <p:cNvPr id="14" name="Picture 20" descr="adapt_bars_T9.png"/>
          <p:cNvPicPr>
            <a:picLocks noChangeAspect="1"/>
          </p:cNvPicPr>
          <p:nvPr/>
        </p:nvPicPr>
        <p:blipFill>
          <a:blip r:embed="rId3"/>
          <a:stretch>
            <a:fillRect/>
          </a:stretch>
        </p:blipFill>
        <p:spPr>
          <a:xfrm>
            <a:off x="4663440" y="1745242"/>
            <a:ext cx="4160520" cy="1685018"/>
          </a:xfrm>
          <a:prstGeom prst="rect">
            <a:avLst/>
          </a:prstGeom>
        </p:spPr>
      </p:pic>
      <p:sp>
        <p:nvSpPr>
          <p:cNvPr id="15" name="TextBox 21"/>
          <p:cNvSpPr txBox="1"/>
          <p:nvPr/>
        </p:nvSpPr>
        <p:spPr>
          <a:xfrm>
            <a:off x="4663440" y="3840480"/>
            <a:ext cx="4160520" cy="201168"/>
          </a:xfrm>
          <a:prstGeom prst="rect">
            <a:avLst/>
          </a:prstGeom>
          <a:noFill/>
        </p:spPr>
        <p:txBody>
          <a:bodyPr wrap="square" lIns="27432" tIns="0" rIns="27432" bIns="0" anchor="t">
            <a:spAutoFit/>
          </a:bodyPr>
          <a:lstStyle/>
          <a:p>
            <a:pPr algn="ctr"/>
            <a:r>
              <a:rPr sz="850" b="0" i="1">
                <a:solidFill>
                  <a:srgbClr val="6B6965"/>
                </a:solidFill>
                <a:latin typeface="Calibri"/>
              </a:rPr>
              <a:t>TST-STAN-9 — pre-op, acute post-op and adapted conditions</a:t>
            </a:r>
          </a:p>
        </p:txBody>
      </p:sp>
      <p:sp>
        <p:nvSpPr>
          <p:cNvPr id="16" name="TextBox 22"/>
          <p:cNvSpPr txBox="1"/>
          <p:nvPr/>
        </p:nvSpPr>
        <p:spPr>
          <a:xfrm>
            <a:off x="320040" y="4133087"/>
            <a:ext cx="8503920" cy="502702"/>
          </a:xfrm>
          <a:prstGeom prst="rect">
            <a:avLst/>
          </a:prstGeom>
          <a:noFill/>
        </p:spPr>
        <p:txBody>
          <a:bodyPr wrap="square" lIns="27432" tIns="0" rIns="27432" bIns="0">
            <a:spAutoFit/>
          </a:bodyPr>
          <a:lstStyle/>
          <a:p>
            <a:pPr>
              <a:spcAft>
                <a:spcPts val="500"/>
              </a:spcAft>
            </a:pPr>
            <a:r>
              <a:rPr sz="950" dirty="0">
                <a:solidFill>
                  <a:srgbClr val="8C1515"/>
                </a:solidFill>
                <a:latin typeface="Calibri"/>
              </a:rPr>
              <a:t>• </a:t>
            </a:r>
            <a:r>
              <a:rPr sz="950" dirty="0">
                <a:solidFill>
                  <a:srgbClr val="2E2D29"/>
                </a:solidFill>
                <a:latin typeface="Calibri"/>
              </a:rPr>
              <a:t>Adaptation is currently exercised in 0D only; these results have not yet been carried back into a 3D simulation</a:t>
            </a:r>
          </a:p>
          <a:p>
            <a:pPr>
              <a:spcAft>
                <a:spcPts val="500"/>
              </a:spcAft>
            </a:pPr>
            <a:r>
              <a:rPr sz="950" dirty="0">
                <a:solidFill>
                  <a:srgbClr val="8C1515"/>
                </a:solidFill>
                <a:latin typeface="Calibri"/>
              </a:rPr>
              <a:t>• </a:t>
            </a:r>
            <a:r>
              <a:rPr sz="950" dirty="0">
                <a:solidFill>
                  <a:srgbClr val="2E2D29"/>
                </a:solidFill>
                <a:latin typeface="Calibri"/>
              </a:rPr>
              <a:t>Some simulated stents overshoot the measured post-operative flow split — angiographic diameters should be checked against nominal stent size</a:t>
            </a:r>
            <a:r>
              <a:rPr lang="en-US" sz="950" dirty="0">
                <a:solidFill>
                  <a:srgbClr val="2E2D29"/>
                </a:solidFill>
                <a:latin typeface="Calibri"/>
              </a:rPr>
              <a:t> AND THE 0D MODEL NEEDS TO BE IMPROVED TO ADDRESS THIS</a:t>
            </a:r>
            <a:endParaRPr sz="950" dirty="0">
              <a:solidFill>
                <a:srgbClr val="2E2D29"/>
              </a:solidFill>
              <a:latin typeface="Calibri"/>
            </a:endParaRPr>
          </a:p>
        </p:txBody>
      </p:sp>
      <p:sp>
        <p:nvSpPr>
          <p:cNvPr id="17" name="Rectangle 23"/>
          <p:cNvSpPr/>
          <p:nvPr/>
        </p:nvSpPr>
        <p:spPr>
          <a:xfrm>
            <a:off x="320040" y="488289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24"/>
          <p:cNvSpPr txBox="1"/>
          <p:nvPr/>
        </p:nvSpPr>
        <p:spPr>
          <a:xfrm>
            <a:off x="429768" y="4882896"/>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Two of five patients have been through the adaptation step; the remaining three follow once tuning closes.</a:t>
            </a:r>
          </a:p>
        </p:txBody>
      </p:sp>
      <p:sp>
        <p:nvSpPr>
          <p:cNvPr id="19"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Path to publication: Stage 5. Reason: May to June M1 runs on the earlier BCs.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The gains are the lever on adapted flow split</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pic>
        <p:nvPicPr>
          <p:cNvPr id="12" name="Picture 18" descr="toy_small_pert.png"/>
          <p:cNvPicPr>
            <a:picLocks noChangeAspect="1"/>
          </p:cNvPicPr>
          <p:nvPr/>
        </p:nvPicPr>
        <p:blipFill>
          <a:blip r:embed="rId2"/>
          <a:stretch>
            <a:fillRect/>
          </a:stretch>
        </p:blipFill>
        <p:spPr>
          <a:xfrm>
            <a:off x="360045" y="1371600"/>
            <a:ext cx="4080509" cy="2176272"/>
          </a:xfrm>
          <a:prstGeom prst="rect">
            <a:avLst/>
          </a:prstGeom>
        </p:spPr>
      </p:pic>
      <p:sp>
        <p:nvSpPr>
          <p:cNvPr id="13" name="TextBox 19"/>
          <p:cNvSpPr txBox="1"/>
          <p:nvPr/>
        </p:nvSpPr>
        <p:spPr>
          <a:xfrm>
            <a:off x="320040" y="3584448"/>
            <a:ext cx="4160520" cy="201168"/>
          </a:xfrm>
          <a:prstGeom prst="rect">
            <a:avLst/>
          </a:prstGeom>
          <a:noFill/>
        </p:spPr>
        <p:txBody>
          <a:bodyPr wrap="square" lIns="27432" tIns="0" rIns="27432" bIns="0" anchor="t">
            <a:spAutoFit/>
          </a:bodyPr>
          <a:lstStyle/>
          <a:p>
            <a:pPr algn="ctr"/>
            <a:r>
              <a:rPr sz="850" b="0" i="1">
                <a:solidFill>
                  <a:srgbClr val="6B6965"/>
                </a:solidFill>
                <a:latin typeface="Calibri"/>
              </a:rPr>
              <a:t>Small perturbation — upstream radius × 1.05</a:t>
            </a:r>
          </a:p>
        </p:txBody>
      </p:sp>
      <p:pic>
        <p:nvPicPr>
          <p:cNvPr id="14" name="Picture 20" descr="toy_large_pert.png"/>
          <p:cNvPicPr>
            <a:picLocks noChangeAspect="1"/>
          </p:cNvPicPr>
          <p:nvPr/>
        </p:nvPicPr>
        <p:blipFill>
          <a:blip r:embed="rId3"/>
          <a:stretch>
            <a:fillRect/>
          </a:stretch>
        </p:blipFill>
        <p:spPr>
          <a:xfrm>
            <a:off x="4703445" y="1371600"/>
            <a:ext cx="4080509" cy="2176272"/>
          </a:xfrm>
          <a:prstGeom prst="rect">
            <a:avLst/>
          </a:prstGeom>
        </p:spPr>
      </p:pic>
      <p:sp>
        <p:nvSpPr>
          <p:cNvPr id="15" name="TextBox 21"/>
          <p:cNvSpPr txBox="1"/>
          <p:nvPr/>
        </p:nvSpPr>
        <p:spPr>
          <a:xfrm>
            <a:off x="4663440" y="3584448"/>
            <a:ext cx="4160520" cy="201168"/>
          </a:xfrm>
          <a:prstGeom prst="rect">
            <a:avLst/>
          </a:prstGeom>
          <a:noFill/>
        </p:spPr>
        <p:txBody>
          <a:bodyPr wrap="square" lIns="27432" tIns="0" rIns="27432" bIns="0" anchor="t">
            <a:spAutoFit/>
          </a:bodyPr>
          <a:lstStyle/>
          <a:p>
            <a:pPr algn="ctr"/>
            <a:r>
              <a:rPr sz="850" b="0" i="1">
                <a:solidFill>
                  <a:srgbClr val="6B6965"/>
                </a:solidFill>
                <a:latin typeface="Calibri"/>
              </a:rPr>
              <a:t>Large perturbation — upstream radius × 2.0</a:t>
            </a:r>
          </a:p>
        </p:txBody>
      </p:sp>
      <p:sp>
        <p:nvSpPr>
          <p:cNvPr id="16" name="TextBox 22"/>
          <p:cNvSpPr txBox="1"/>
          <p:nvPr/>
        </p:nvSpPr>
        <p:spPr>
          <a:xfrm>
            <a:off x="320040" y="3913632"/>
            <a:ext cx="8503920" cy="841248"/>
          </a:xfrm>
          <a:prstGeom prst="rect">
            <a:avLst/>
          </a:prstGeom>
          <a:noFill/>
        </p:spPr>
        <p:txBody>
          <a:bodyPr wrap="square" lIns="27432" tIns="0" rIns="27432" bIns="0">
            <a:spAutoFit/>
          </a:bodyPr>
          <a:lstStyle/>
          <a:p>
            <a:pPr>
              <a:spcAft>
                <a:spcPts val="500"/>
              </a:spcAft>
            </a:pPr>
            <a:r>
              <a:rPr sz="950">
                <a:solidFill>
                  <a:srgbClr val="8C1515"/>
                </a:solidFill>
                <a:latin typeface="Calibri"/>
              </a:rPr>
              <a:t>• </a:t>
            </a:r>
            <a:r>
              <a:rPr sz="950">
                <a:solidFill>
                  <a:srgbClr val="2E2D29"/>
                </a:solidFill>
                <a:latin typeface="Calibri"/>
              </a:rPr>
              <a:t>A two-branch toy model with adaptive downstream boundary conditions isolates the effect of the gains from patient-specific anatomy</a:t>
            </a:r>
          </a:p>
          <a:p>
            <a:pPr>
              <a:spcAft>
                <a:spcPts val="500"/>
              </a:spcAft>
            </a:pPr>
            <a:r>
              <a:rPr sz="950">
                <a:solidFill>
                  <a:srgbClr val="8C1515"/>
                </a:solidFill>
                <a:latin typeface="Calibri"/>
              </a:rPr>
              <a:t>• </a:t>
            </a:r>
            <a:r>
              <a:rPr sz="950">
                <a:solidFill>
                  <a:srgbClr val="2E2D29"/>
                </a:solidFill>
                <a:latin typeface="Calibri"/>
              </a:rPr>
              <a:t>Varying the thickness gains alone moves the steady adapted flow split across a usable range</a:t>
            </a:r>
          </a:p>
          <a:p>
            <a:pPr>
              <a:spcAft>
                <a:spcPts val="500"/>
              </a:spcAft>
            </a:pPr>
            <a:r>
              <a:rPr sz="950">
                <a:solidFill>
                  <a:srgbClr val="8C1515"/>
                </a:solidFill>
                <a:latin typeface="Calibri"/>
              </a:rPr>
              <a:t>• </a:t>
            </a:r>
            <a:r>
              <a:rPr sz="950">
                <a:solidFill>
                  <a:srgbClr val="2E2D29"/>
                </a:solidFill>
                <a:latin typeface="Calibri"/>
              </a:rPr>
              <a:t>Perturbation magnitude matters for stability: large upstream changes can push the system out of its convergent regime</a:t>
            </a:r>
          </a:p>
        </p:txBody>
      </p:sp>
      <p:sp>
        <p:nvSpPr>
          <p:cNvPr id="17" name="Rectangle 23"/>
          <p:cNvSpPr/>
          <p:nvPr/>
        </p:nvSpPr>
        <p:spPr>
          <a:xfrm>
            <a:off x="320040" y="4882896"/>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24"/>
          <p:cNvSpPr txBox="1"/>
          <p:nvPr/>
        </p:nvSpPr>
        <p:spPr>
          <a:xfrm>
            <a:off x="429768" y="4882896"/>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Thickness gains give a tunable, physically interpretable handle on the adapted split.</a:t>
            </a:r>
          </a:p>
        </p:txBody>
      </p:sp>
      <p:sp>
        <p:nvSpPr>
          <p:cNvPr id="19"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What changed: one tree per side to per-cap trees. Reason: Two-branch toy study for the earlier formulation.</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Numerical integration</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408176"/>
            <a:ext cx="4160520" cy="164592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9"/>
          <p:cNvSpPr txBox="1"/>
          <p:nvPr/>
        </p:nvSpPr>
        <p:spPr>
          <a:xfrm>
            <a:off x="448056" y="1508760"/>
            <a:ext cx="3904487" cy="219456"/>
          </a:xfrm>
          <a:prstGeom prst="rect">
            <a:avLst/>
          </a:prstGeom>
          <a:noFill/>
        </p:spPr>
        <p:txBody>
          <a:bodyPr wrap="square" lIns="27432" tIns="0" rIns="27432" bIns="0" anchor="t">
            <a:spAutoFit/>
          </a:bodyPr>
          <a:lstStyle/>
          <a:p>
            <a:pPr algn="l"/>
            <a:r>
              <a:rPr sz="1100" b="1" i="0">
                <a:solidFill>
                  <a:srgbClr val="E98300"/>
                </a:solidFill>
                <a:latin typeface="Calibri"/>
              </a:rPr>
              <a:t>The cost problem</a:t>
            </a:r>
          </a:p>
        </p:txBody>
      </p:sp>
      <p:sp>
        <p:nvSpPr>
          <p:cNvPr id="14" name="TextBox 20"/>
          <p:cNvSpPr txBox="1"/>
          <p:nvPr/>
        </p:nvSpPr>
        <p:spPr>
          <a:xfrm>
            <a:off x="448056" y="1783080"/>
            <a:ext cx="3904487" cy="1234440"/>
          </a:xfrm>
          <a:prstGeom prst="rect">
            <a:avLst/>
          </a:prstGeom>
          <a:noFill/>
        </p:spPr>
        <p:txBody>
          <a:bodyPr wrap="square" lIns="27432" tIns="0" rIns="27432" bIns="0">
            <a:spAutoFit/>
          </a:bodyPr>
          <a:lstStyle/>
          <a:p>
            <a:pPr>
              <a:spcAft>
                <a:spcPts val="350"/>
              </a:spcAft>
            </a:pPr>
            <a:r>
              <a:rPr sz="950">
                <a:solidFill>
                  <a:srgbClr val="E98300"/>
                </a:solidFill>
                <a:latin typeface="Calibri"/>
              </a:rPr>
              <a:t>• </a:t>
            </a:r>
            <a:r>
              <a:rPr sz="950">
                <a:solidFill>
                  <a:srgbClr val="2E2D29"/>
                </a:solidFill>
                <a:latin typeface="Calibri"/>
              </a:rPr>
              <a:t>Evaluating τ and σ requires a hemodynamic solve over the whole tree at every derivative evaluation</a:t>
            </a:r>
          </a:p>
          <a:p>
            <a:pPr>
              <a:spcAft>
                <a:spcPts val="350"/>
              </a:spcAft>
            </a:pPr>
            <a:r>
              <a:rPr sz="950">
                <a:solidFill>
                  <a:srgbClr val="E98300"/>
                </a:solidFill>
                <a:latin typeface="Calibri"/>
              </a:rPr>
              <a:t>• </a:t>
            </a:r>
            <a:r>
              <a:rPr sz="950">
                <a:solidFill>
                  <a:srgbClr val="2E2D29"/>
                </a:solidFill>
                <a:latin typeface="Calibri"/>
              </a:rPr>
              <a:t>Trees contain 10³–10⁵ vessels, so a naive integration is prohibitive</a:t>
            </a:r>
          </a:p>
        </p:txBody>
      </p:sp>
      <p:sp>
        <p:nvSpPr>
          <p:cNvPr id="15" name="Rectangle 21"/>
          <p:cNvSpPr/>
          <p:nvPr/>
        </p:nvSpPr>
        <p:spPr>
          <a:xfrm>
            <a:off x="320040" y="3200400"/>
            <a:ext cx="4160520" cy="151790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22"/>
          <p:cNvSpPr txBox="1"/>
          <p:nvPr/>
        </p:nvSpPr>
        <p:spPr>
          <a:xfrm>
            <a:off x="448056" y="3300984"/>
            <a:ext cx="3904487" cy="219456"/>
          </a:xfrm>
          <a:prstGeom prst="rect">
            <a:avLst/>
          </a:prstGeom>
          <a:noFill/>
        </p:spPr>
        <p:txBody>
          <a:bodyPr wrap="square" lIns="27432" tIns="0" rIns="27432" bIns="0" anchor="t">
            <a:spAutoFit/>
          </a:bodyPr>
          <a:lstStyle/>
          <a:p>
            <a:pPr algn="l"/>
            <a:r>
              <a:rPr sz="1100" b="1" i="0">
                <a:solidFill>
                  <a:srgbClr val="279989"/>
                </a:solidFill>
                <a:latin typeface="Calibri"/>
              </a:rPr>
              <a:t>Multirate solution</a:t>
            </a:r>
          </a:p>
        </p:txBody>
      </p:sp>
      <p:sp>
        <p:nvSpPr>
          <p:cNvPr id="17" name="TextBox 23"/>
          <p:cNvSpPr txBox="1"/>
          <p:nvPr/>
        </p:nvSpPr>
        <p:spPr>
          <a:xfrm>
            <a:off x="448056" y="3575303"/>
            <a:ext cx="3904487" cy="1106424"/>
          </a:xfrm>
          <a:prstGeom prst="rect">
            <a:avLst/>
          </a:prstGeom>
          <a:noFill/>
        </p:spPr>
        <p:txBody>
          <a:bodyPr wrap="square" lIns="27432" tIns="0" rIns="27432" bIns="0">
            <a:spAutoFit/>
          </a:bodyPr>
          <a:lstStyle/>
          <a:p>
            <a:pPr>
              <a:spcAft>
                <a:spcPts val="350"/>
              </a:spcAft>
            </a:pPr>
            <a:r>
              <a:rPr sz="950">
                <a:solidFill>
                  <a:srgbClr val="279989"/>
                </a:solidFill>
                <a:latin typeface="Calibri"/>
              </a:rPr>
              <a:t>• </a:t>
            </a:r>
            <a:r>
              <a:rPr sz="950">
                <a:solidFill>
                  <a:srgbClr val="2E2D29"/>
                </a:solidFill>
                <a:latin typeface="Calibri"/>
              </a:rPr>
              <a:t>The tree is re-simulated only when the accumulated radius change is significant</a:t>
            </a:r>
          </a:p>
          <a:p>
            <a:pPr>
              <a:spcAft>
                <a:spcPts val="350"/>
              </a:spcAft>
            </a:pPr>
            <a:r>
              <a:rPr sz="950">
                <a:solidFill>
                  <a:srgbClr val="279989"/>
                </a:solidFill>
                <a:latin typeface="Calibri"/>
              </a:rPr>
              <a:t>• </a:t>
            </a:r>
            <a:r>
              <a:rPr sz="950">
                <a:solidFill>
                  <a:srgbClr val="2E2D29"/>
                </a:solidFill>
                <a:latin typeface="Calibri"/>
              </a:rPr>
              <a:t>Otherwise derivatives are updated from the previous step's radius change</a:t>
            </a:r>
          </a:p>
          <a:p>
            <a:pPr>
              <a:spcAft>
                <a:spcPts val="350"/>
              </a:spcAft>
            </a:pPr>
            <a:r>
              <a:rPr sz="950">
                <a:solidFill>
                  <a:srgbClr val="279989"/>
                </a:solidFill>
                <a:latin typeface="Calibri"/>
              </a:rPr>
              <a:t>• </a:t>
            </a:r>
            <a:r>
              <a:rPr sz="950">
                <a:solidFill>
                  <a:srgbClr val="2E2D29"/>
                </a:solidFill>
                <a:latin typeface="Calibri"/>
              </a:rPr>
              <a:t>This is what makes higher-order integrators usable at all</a:t>
            </a:r>
          </a:p>
        </p:txBody>
      </p:sp>
      <p:sp>
        <p:nvSpPr>
          <p:cNvPr id="18" name="TextBox 24"/>
          <p:cNvSpPr txBox="1"/>
          <p:nvPr/>
        </p:nvSpPr>
        <p:spPr>
          <a:xfrm>
            <a:off x="4846320" y="1408176"/>
            <a:ext cx="3977639" cy="201168"/>
          </a:xfrm>
          <a:prstGeom prst="rect">
            <a:avLst/>
          </a:prstGeom>
          <a:noFill/>
        </p:spPr>
        <p:txBody>
          <a:bodyPr wrap="square" lIns="27432" tIns="0" rIns="27432" bIns="0" anchor="t">
            <a:spAutoFit/>
          </a:bodyPr>
          <a:lstStyle/>
          <a:p>
            <a:pPr algn="l"/>
            <a:r>
              <a:rPr sz="950" b="1" i="0">
                <a:solidFill>
                  <a:srgbClr val="8C1515"/>
                </a:solidFill>
                <a:latin typeface="Calibri"/>
              </a:rPr>
              <a:t>Integrator comparison</a:t>
            </a:r>
          </a:p>
        </p:txBody>
      </p:sp>
      <p:sp>
        <p:nvSpPr>
          <p:cNvPr id="19" name="Rectangle 25"/>
          <p:cNvSpPr/>
          <p:nvPr/>
        </p:nvSpPr>
        <p:spPr>
          <a:xfrm>
            <a:off x="4846320" y="1682496"/>
            <a:ext cx="3977639" cy="4023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6"/>
          <p:cNvSpPr txBox="1"/>
          <p:nvPr/>
        </p:nvSpPr>
        <p:spPr>
          <a:xfrm>
            <a:off x="4919472" y="1682496"/>
            <a:ext cx="1260957" cy="402336"/>
          </a:xfrm>
          <a:prstGeom prst="rect">
            <a:avLst/>
          </a:prstGeom>
          <a:noFill/>
        </p:spPr>
        <p:txBody>
          <a:bodyPr wrap="square" lIns="27432" tIns="0" rIns="27432" bIns="0" anchor="ctr">
            <a:spAutoFit/>
          </a:bodyPr>
          <a:lstStyle/>
          <a:p>
            <a:pPr algn="l"/>
            <a:r>
              <a:rPr sz="900" b="1" i="0">
                <a:solidFill>
                  <a:srgbClr val="2E2D29"/>
                </a:solidFill>
                <a:latin typeface="Calibri"/>
              </a:rPr>
              <a:t>BDF</a:t>
            </a:r>
          </a:p>
        </p:txBody>
      </p:sp>
      <p:sp>
        <p:nvSpPr>
          <p:cNvPr id="21" name="TextBox 27"/>
          <p:cNvSpPr txBox="1"/>
          <p:nvPr/>
        </p:nvSpPr>
        <p:spPr>
          <a:xfrm>
            <a:off x="6198717" y="1682496"/>
            <a:ext cx="2552090" cy="402336"/>
          </a:xfrm>
          <a:prstGeom prst="rect">
            <a:avLst/>
          </a:prstGeom>
          <a:noFill/>
        </p:spPr>
        <p:txBody>
          <a:bodyPr wrap="square" lIns="27432" tIns="0" rIns="27432" bIns="0" anchor="ctr">
            <a:spAutoFit/>
          </a:bodyPr>
          <a:lstStyle/>
          <a:p>
            <a:pPr algn="l"/>
            <a:r>
              <a:rPr sz="900" b="0" i="0">
                <a:solidFill>
                  <a:srgbClr val="6B6965"/>
                </a:solidFill>
                <a:latin typeface="Calibri"/>
              </a:rPr>
              <a:t>Fastest; solves reliably — current default</a:t>
            </a:r>
          </a:p>
        </p:txBody>
      </p:sp>
      <p:sp>
        <p:nvSpPr>
          <p:cNvPr id="22" name="TextBox 28"/>
          <p:cNvSpPr txBox="1"/>
          <p:nvPr/>
        </p:nvSpPr>
        <p:spPr>
          <a:xfrm>
            <a:off x="4919472" y="2084832"/>
            <a:ext cx="1260957" cy="402336"/>
          </a:xfrm>
          <a:prstGeom prst="rect">
            <a:avLst/>
          </a:prstGeom>
          <a:noFill/>
        </p:spPr>
        <p:txBody>
          <a:bodyPr wrap="square" lIns="27432" tIns="0" rIns="27432" bIns="0" anchor="ctr">
            <a:spAutoFit/>
          </a:bodyPr>
          <a:lstStyle/>
          <a:p>
            <a:pPr algn="l"/>
            <a:r>
              <a:rPr sz="900" b="1" i="0">
                <a:solidFill>
                  <a:srgbClr val="2E2D29"/>
                </a:solidFill>
                <a:latin typeface="Calibri"/>
              </a:rPr>
              <a:t>Radau</a:t>
            </a:r>
          </a:p>
        </p:txBody>
      </p:sp>
      <p:sp>
        <p:nvSpPr>
          <p:cNvPr id="23" name="TextBox 29"/>
          <p:cNvSpPr txBox="1"/>
          <p:nvPr/>
        </p:nvSpPr>
        <p:spPr>
          <a:xfrm>
            <a:off x="6198717" y="2084832"/>
            <a:ext cx="2552090" cy="402336"/>
          </a:xfrm>
          <a:prstGeom prst="rect">
            <a:avLst/>
          </a:prstGeom>
          <a:noFill/>
        </p:spPr>
        <p:txBody>
          <a:bodyPr wrap="square" lIns="27432" tIns="0" rIns="27432" bIns="0" anchor="ctr">
            <a:spAutoFit/>
          </a:bodyPr>
          <a:lstStyle/>
          <a:p>
            <a:pPr algn="l"/>
            <a:r>
              <a:rPr sz="900" b="0" i="0">
                <a:solidFill>
                  <a:srgbClr val="6B6965"/>
                </a:solidFill>
                <a:latin typeface="Calibri"/>
              </a:rPr>
              <a:t>Slowest; robust for stiff systems</a:t>
            </a:r>
          </a:p>
        </p:txBody>
      </p:sp>
      <p:sp>
        <p:nvSpPr>
          <p:cNvPr id="24" name="Rectangle 30"/>
          <p:cNvSpPr/>
          <p:nvPr/>
        </p:nvSpPr>
        <p:spPr>
          <a:xfrm>
            <a:off x="4846320" y="2487168"/>
            <a:ext cx="3977639" cy="40233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31"/>
          <p:cNvSpPr txBox="1"/>
          <p:nvPr/>
        </p:nvSpPr>
        <p:spPr>
          <a:xfrm>
            <a:off x="4919472" y="2487168"/>
            <a:ext cx="1260957" cy="402336"/>
          </a:xfrm>
          <a:prstGeom prst="rect">
            <a:avLst/>
          </a:prstGeom>
          <a:noFill/>
        </p:spPr>
        <p:txBody>
          <a:bodyPr wrap="square" lIns="27432" tIns="0" rIns="27432" bIns="0" anchor="ctr">
            <a:spAutoFit/>
          </a:bodyPr>
          <a:lstStyle/>
          <a:p>
            <a:pPr algn="l"/>
            <a:r>
              <a:rPr sz="900" b="1" i="0">
                <a:solidFill>
                  <a:srgbClr val="2E2D29"/>
                </a:solidFill>
                <a:latin typeface="Calibri"/>
              </a:rPr>
              <a:t>RK45</a:t>
            </a:r>
          </a:p>
        </p:txBody>
      </p:sp>
      <p:sp>
        <p:nvSpPr>
          <p:cNvPr id="26" name="TextBox 32"/>
          <p:cNvSpPr txBox="1"/>
          <p:nvPr/>
        </p:nvSpPr>
        <p:spPr>
          <a:xfrm>
            <a:off x="6198717" y="2487168"/>
            <a:ext cx="2552090" cy="402336"/>
          </a:xfrm>
          <a:prstGeom prst="rect">
            <a:avLst/>
          </a:prstGeom>
          <a:noFill/>
        </p:spPr>
        <p:txBody>
          <a:bodyPr wrap="square" lIns="27432" tIns="0" rIns="27432" bIns="0" anchor="ctr">
            <a:spAutoFit/>
          </a:bodyPr>
          <a:lstStyle/>
          <a:p>
            <a:pPr algn="l"/>
            <a:r>
              <a:rPr sz="900" b="0" i="0">
                <a:solidFill>
                  <a:srgbClr val="6B6965"/>
                </a:solidFill>
                <a:latin typeface="Calibri"/>
              </a:rPr>
              <a:t>Reasonably fast, but intermediate states can yield infeasible 0D resistances</a:t>
            </a:r>
          </a:p>
        </p:txBody>
      </p:sp>
      <p:sp>
        <p:nvSpPr>
          <p:cNvPr id="27" name="Rectangle 33"/>
          <p:cNvSpPr/>
          <p:nvPr/>
        </p:nvSpPr>
        <p:spPr>
          <a:xfrm>
            <a:off x="4846320" y="3127248"/>
            <a:ext cx="3977639" cy="159105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34"/>
          <p:cNvSpPr txBox="1"/>
          <p:nvPr/>
        </p:nvSpPr>
        <p:spPr>
          <a:xfrm>
            <a:off x="4974336" y="3227832"/>
            <a:ext cx="3721607" cy="219456"/>
          </a:xfrm>
          <a:prstGeom prst="rect">
            <a:avLst/>
          </a:prstGeom>
          <a:noFill/>
        </p:spPr>
        <p:txBody>
          <a:bodyPr wrap="square" lIns="27432" tIns="0" rIns="27432" bIns="0" anchor="t">
            <a:spAutoFit/>
          </a:bodyPr>
          <a:lstStyle/>
          <a:p>
            <a:pPr algn="l"/>
            <a:r>
              <a:rPr sz="1100" b="1" i="0">
                <a:solidFill>
                  <a:srgbClr val="8C1515"/>
                </a:solidFill>
                <a:latin typeface="Calibri"/>
              </a:rPr>
              <a:t>Practical notes</a:t>
            </a:r>
          </a:p>
        </p:txBody>
      </p:sp>
      <p:sp>
        <p:nvSpPr>
          <p:cNvPr id="29" name="TextBox 35"/>
          <p:cNvSpPr txBox="1"/>
          <p:nvPr/>
        </p:nvSpPr>
        <p:spPr>
          <a:xfrm>
            <a:off x="4974336" y="3502151"/>
            <a:ext cx="3721607" cy="1179576"/>
          </a:xfrm>
          <a:prstGeom prst="rect">
            <a:avLst/>
          </a:prstGeom>
          <a:noFill/>
        </p:spPr>
        <p:txBody>
          <a:bodyPr wrap="square" lIns="27432" tIns="0" rIns="27432" bIns="0">
            <a:spAutoFit/>
          </a:bodyPr>
          <a:lstStyle/>
          <a:p>
            <a:pPr>
              <a:spcAft>
                <a:spcPts val="350"/>
              </a:spcAft>
            </a:pPr>
            <a:r>
              <a:rPr sz="900">
                <a:solidFill>
                  <a:srgbClr val="8C1515"/>
                </a:solidFill>
                <a:latin typeface="Calibri"/>
              </a:rPr>
              <a:t>• </a:t>
            </a:r>
            <a:r>
              <a:rPr sz="900">
                <a:solidFill>
                  <a:srgbClr val="2E2D29"/>
                </a:solidFill>
                <a:latin typeface="Calibri"/>
              </a:rPr>
              <a:t>Intuition-building sweeps use d_min = 0.05 cm rather than the production 0.01 cm</a:t>
            </a:r>
          </a:p>
          <a:p>
            <a:pPr>
              <a:spcAft>
                <a:spcPts val="350"/>
              </a:spcAft>
            </a:pPr>
            <a:r>
              <a:rPr sz="900">
                <a:solidFill>
                  <a:srgbClr val="8C1515"/>
                </a:solidFill>
                <a:latin typeface="Calibri"/>
              </a:rPr>
              <a:t>• </a:t>
            </a:r>
            <a:r>
              <a:rPr sz="900">
                <a:solidFill>
                  <a:srgbClr val="2E2D29"/>
                </a:solidFill>
                <a:latin typeface="Calibri"/>
              </a:rPr>
              <a:t>Vectorized tree construction gave roughly a hundred-fold speed-up in impedance evaluation</a:t>
            </a:r>
          </a:p>
        </p:txBody>
      </p:sp>
      <p:sp>
        <p:nvSpPr>
          <p:cNvPr id="30" name="Rectangle 36"/>
          <p:cNvSpPr/>
          <p:nvPr/>
        </p:nvSpPr>
        <p:spPr>
          <a:xfrm>
            <a:off x="320040" y="484632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7"/>
          <p:cNvSpPr txBox="1"/>
          <p:nvPr/>
        </p:nvSpPr>
        <p:spPr>
          <a:xfrm>
            <a:off x="429768" y="4846320"/>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Integration is solved; gain identification is the remaining open problem.</a:t>
            </a:r>
          </a:p>
        </p:txBody>
      </p:sp>
      <p:sp>
        <p:nvSpPr>
          <p:cNvPr id="32"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What changed: one tree per side to per-cap trees. Reason: Integrator notes for M1/M3.</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Driving the trees from the 3D result</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TextBox 18"/>
          <p:cNvSpPr txBox="1"/>
          <p:nvPr/>
        </p:nvSpPr>
        <p:spPr>
          <a:xfrm>
            <a:off x="320040" y="1389888"/>
            <a:ext cx="8503920" cy="219456"/>
          </a:xfrm>
          <a:prstGeom prst="rect">
            <a:avLst/>
          </a:prstGeom>
          <a:noFill/>
        </p:spPr>
        <p:txBody>
          <a:bodyPr wrap="square" lIns="27432" tIns="0" rIns="27432" bIns="0" anchor="t">
            <a:spAutoFit/>
          </a:bodyPr>
          <a:lstStyle/>
          <a:p>
            <a:pPr algn="l"/>
            <a:r>
              <a:rPr sz="950" b="0" i="1">
                <a:solidFill>
                  <a:srgbClr val="6B6965"/>
                </a:solidFill>
                <a:latin typeface="Calibri"/>
              </a:rPr>
              <a:t>The trees never see the 3D field directly. The RRI reduced-order model is the transfer mechanism.</a:t>
            </a:r>
          </a:p>
        </p:txBody>
      </p:sp>
      <p:sp>
        <p:nvSpPr>
          <p:cNvPr id="13" name="Rectangle 19"/>
          <p:cNvSpPr/>
          <p:nvPr/>
        </p:nvSpPr>
        <p:spPr>
          <a:xfrm>
            <a:off x="320040" y="1700784"/>
            <a:ext cx="1920240" cy="89611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20"/>
          <p:cNvSpPr/>
          <p:nvPr/>
        </p:nvSpPr>
        <p:spPr>
          <a:xfrm>
            <a:off x="320040" y="1700784"/>
            <a:ext cx="1920240" cy="237744"/>
          </a:xfrm>
          <a:prstGeom prst="rect">
            <a:avLst/>
          </a:prstGeom>
          <a:solidFill>
            <a:srgbClr val="007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21"/>
          <p:cNvSpPr txBox="1"/>
          <p:nvPr/>
        </p:nvSpPr>
        <p:spPr>
          <a:xfrm>
            <a:off x="320040" y="1700784"/>
            <a:ext cx="1920240" cy="237744"/>
          </a:xfrm>
          <a:prstGeom prst="rect">
            <a:avLst/>
          </a:prstGeom>
          <a:noFill/>
        </p:spPr>
        <p:txBody>
          <a:bodyPr wrap="square" lIns="27432" tIns="0" rIns="27432" bIns="0" anchor="ctr">
            <a:spAutoFit/>
          </a:bodyPr>
          <a:lstStyle/>
          <a:p>
            <a:pPr algn="ctr"/>
            <a:r>
              <a:rPr sz="850" b="1" i="0">
                <a:solidFill>
                  <a:srgbClr val="FFFFFF"/>
                </a:solidFill>
                <a:latin typeface="Calibri"/>
              </a:rPr>
              <a:t>Pre-op 3D</a:t>
            </a:r>
          </a:p>
        </p:txBody>
      </p:sp>
      <p:sp>
        <p:nvSpPr>
          <p:cNvPr id="16" name="TextBox 22"/>
          <p:cNvSpPr txBox="1"/>
          <p:nvPr/>
        </p:nvSpPr>
        <p:spPr>
          <a:xfrm>
            <a:off x="393192" y="2011680"/>
            <a:ext cx="1773936" cy="530352"/>
          </a:xfrm>
          <a:prstGeom prst="rect">
            <a:avLst/>
          </a:prstGeom>
          <a:noFill/>
        </p:spPr>
        <p:txBody>
          <a:bodyPr wrap="square" lIns="27432" tIns="0" rIns="27432" bIns="0" anchor="t">
            <a:spAutoFit/>
          </a:bodyPr>
          <a:lstStyle/>
          <a:p>
            <a:pPr algn="l">
              <a:lnSpc>
                <a:spcPct val="110000"/>
              </a:lnSpc>
            </a:pPr>
            <a:r>
              <a:rPr sz="800" b="0" i="0">
                <a:solidFill>
                  <a:srgbClr val="2E2D29"/>
                </a:solidFill>
                <a:latin typeface="Calibri"/>
              </a:rPr>
              <a:t>Calibrated pre-operative</a:t>
            </a:r>
          </a:p>
          <a:p>
            <a:pPr algn="l">
              <a:lnSpc>
                <a:spcPct val="110000"/>
              </a:lnSpc>
            </a:pPr>
            <a:r>
              <a:rPr sz="800" b="0" i="0">
                <a:solidFill>
                  <a:srgbClr val="2E2D29"/>
                </a:solidFill>
                <a:latin typeface="Calibri"/>
              </a:rPr>
              <a:t>CFD result</a:t>
            </a:r>
          </a:p>
        </p:txBody>
      </p:sp>
      <p:sp>
        <p:nvSpPr>
          <p:cNvPr id="17" name="Right Arrow 23"/>
          <p:cNvSpPr/>
          <p:nvPr/>
        </p:nvSpPr>
        <p:spPr>
          <a:xfrm>
            <a:off x="2286000" y="2084832"/>
            <a:ext cx="182880" cy="146304"/>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24"/>
          <p:cNvSpPr/>
          <p:nvPr/>
        </p:nvSpPr>
        <p:spPr>
          <a:xfrm>
            <a:off x="2514600" y="1700784"/>
            <a:ext cx="1920240" cy="89611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25"/>
          <p:cNvSpPr/>
          <p:nvPr/>
        </p:nvSpPr>
        <p:spPr>
          <a:xfrm>
            <a:off x="2514600" y="1700784"/>
            <a:ext cx="1920240"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6"/>
          <p:cNvSpPr txBox="1"/>
          <p:nvPr/>
        </p:nvSpPr>
        <p:spPr>
          <a:xfrm>
            <a:off x="2514600" y="1700784"/>
            <a:ext cx="1920240" cy="237744"/>
          </a:xfrm>
          <a:prstGeom prst="rect">
            <a:avLst/>
          </a:prstGeom>
          <a:noFill/>
        </p:spPr>
        <p:txBody>
          <a:bodyPr wrap="square" lIns="27432" tIns="0" rIns="27432" bIns="0" anchor="ctr">
            <a:spAutoFit/>
          </a:bodyPr>
          <a:lstStyle/>
          <a:p>
            <a:pPr algn="ctr"/>
            <a:r>
              <a:rPr sz="850" b="1" i="0">
                <a:solidFill>
                  <a:srgbClr val="FFFFFF"/>
                </a:solidFill>
                <a:latin typeface="Calibri"/>
              </a:rPr>
              <a:t>RRI fit</a:t>
            </a:r>
          </a:p>
        </p:txBody>
      </p:sp>
      <p:sp>
        <p:nvSpPr>
          <p:cNvPr id="21" name="TextBox 27"/>
          <p:cNvSpPr txBox="1"/>
          <p:nvPr/>
        </p:nvSpPr>
        <p:spPr>
          <a:xfrm>
            <a:off x="2587752" y="2011680"/>
            <a:ext cx="1773936" cy="530352"/>
          </a:xfrm>
          <a:prstGeom prst="rect">
            <a:avLst/>
          </a:prstGeom>
          <a:noFill/>
        </p:spPr>
        <p:txBody>
          <a:bodyPr wrap="square" lIns="27432" tIns="0" rIns="27432" bIns="0" anchor="t">
            <a:spAutoFit/>
          </a:bodyPr>
          <a:lstStyle/>
          <a:p>
            <a:pPr algn="l">
              <a:lnSpc>
                <a:spcPct val="110000"/>
              </a:lnSpc>
            </a:pPr>
            <a:r>
              <a:rPr sz="800" b="0" i="0">
                <a:solidFill>
                  <a:srgbClr val="2E2D29"/>
                </a:solidFill>
                <a:latin typeface="Calibri"/>
              </a:rPr>
              <a:t>0D model run to reproduce</a:t>
            </a:r>
          </a:p>
          <a:p>
            <a:pPr algn="l">
              <a:lnSpc>
                <a:spcPct val="110000"/>
              </a:lnSpc>
            </a:pPr>
            <a:r>
              <a:rPr sz="800" b="0" i="0">
                <a:solidFill>
                  <a:srgbClr val="2E2D29"/>
                </a:solidFill>
                <a:latin typeface="Calibri"/>
              </a:rPr>
              <a:t>the pre-operative state</a:t>
            </a:r>
          </a:p>
        </p:txBody>
      </p:sp>
      <p:sp>
        <p:nvSpPr>
          <p:cNvPr id="22" name="Right Arrow 28"/>
          <p:cNvSpPr/>
          <p:nvPr/>
        </p:nvSpPr>
        <p:spPr>
          <a:xfrm>
            <a:off x="4480559" y="2084832"/>
            <a:ext cx="182880" cy="146304"/>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9"/>
          <p:cNvSpPr/>
          <p:nvPr/>
        </p:nvSpPr>
        <p:spPr>
          <a:xfrm>
            <a:off x="4709159" y="1700784"/>
            <a:ext cx="1920240" cy="89611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30"/>
          <p:cNvSpPr/>
          <p:nvPr/>
        </p:nvSpPr>
        <p:spPr>
          <a:xfrm>
            <a:off x="4709159" y="1700784"/>
            <a:ext cx="1920240" cy="237744"/>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31"/>
          <p:cNvSpPr txBox="1"/>
          <p:nvPr/>
        </p:nvSpPr>
        <p:spPr>
          <a:xfrm>
            <a:off x="4709159" y="1700784"/>
            <a:ext cx="1920240" cy="237744"/>
          </a:xfrm>
          <a:prstGeom prst="rect">
            <a:avLst/>
          </a:prstGeom>
          <a:noFill/>
        </p:spPr>
        <p:txBody>
          <a:bodyPr wrap="square" lIns="27432" tIns="0" rIns="27432" bIns="0" anchor="ctr">
            <a:spAutoFit/>
          </a:bodyPr>
          <a:lstStyle/>
          <a:p>
            <a:pPr algn="ctr"/>
            <a:r>
              <a:rPr sz="850" b="1" i="0">
                <a:solidFill>
                  <a:srgbClr val="FFFFFF"/>
                </a:solidFill>
                <a:latin typeface="Calibri"/>
              </a:rPr>
              <a:t>Homeostatic state</a:t>
            </a:r>
          </a:p>
        </p:txBody>
      </p:sp>
      <p:sp>
        <p:nvSpPr>
          <p:cNvPr id="26" name="TextBox 32"/>
          <p:cNvSpPr txBox="1"/>
          <p:nvPr/>
        </p:nvSpPr>
        <p:spPr>
          <a:xfrm>
            <a:off x="4782312" y="2011680"/>
            <a:ext cx="1773936" cy="530352"/>
          </a:xfrm>
          <a:prstGeom prst="rect">
            <a:avLst/>
          </a:prstGeom>
          <a:noFill/>
        </p:spPr>
        <p:txBody>
          <a:bodyPr wrap="square" lIns="27432" tIns="0" rIns="27432" bIns="0" anchor="t">
            <a:spAutoFit/>
          </a:bodyPr>
          <a:lstStyle/>
          <a:p>
            <a:pPr algn="l">
              <a:lnSpc>
                <a:spcPct val="110000"/>
              </a:lnSpc>
            </a:pPr>
            <a:r>
              <a:rPr sz="800" b="0" i="0">
                <a:solidFill>
                  <a:srgbClr val="2E2D29"/>
                </a:solidFill>
                <a:latin typeface="Calibri"/>
              </a:rPr>
              <a:t>τ_i,0 and σ_i,0 recorded</a:t>
            </a:r>
          </a:p>
          <a:p>
            <a:pPr algn="l">
              <a:lnSpc>
                <a:spcPct val="110000"/>
              </a:lnSpc>
            </a:pPr>
            <a:r>
              <a:rPr sz="800" b="0" i="0">
                <a:solidFill>
                  <a:srgbClr val="2E2D29"/>
                </a:solidFill>
                <a:latin typeface="Calibri"/>
              </a:rPr>
              <a:t>for every tree vessel</a:t>
            </a:r>
          </a:p>
        </p:txBody>
      </p:sp>
      <p:sp>
        <p:nvSpPr>
          <p:cNvPr id="27" name="Rectangle 33"/>
          <p:cNvSpPr/>
          <p:nvPr/>
        </p:nvSpPr>
        <p:spPr>
          <a:xfrm>
            <a:off x="320040" y="2743200"/>
            <a:ext cx="1920240" cy="89611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34"/>
          <p:cNvSpPr/>
          <p:nvPr/>
        </p:nvSpPr>
        <p:spPr>
          <a:xfrm>
            <a:off x="320040" y="2743200"/>
            <a:ext cx="1920240" cy="237744"/>
          </a:xfrm>
          <a:prstGeom prst="rect">
            <a:avLst/>
          </a:prstGeom>
          <a:solidFill>
            <a:srgbClr val="007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35"/>
          <p:cNvSpPr txBox="1"/>
          <p:nvPr/>
        </p:nvSpPr>
        <p:spPr>
          <a:xfrm>
            <a:off x="320040" y="2743200"/>
            <a:ext cx="1920240" cy="237744"/>
          </a:xfrm>
          <a:prstGeom prst="rect">
            <a:avLst/>
          </a:prstGeom>
          <a:noFill/>
        </p:spPr>
        <p:txBody>
          <a:bodyPr wrap="square" lIns="27432" tIns="0" rIns="27432" bIns="0" anchor="ctr">
            <a:spAutoFit/>
          </a:bodyPr>
          <a:lstStyle/>
          <a:p>
            <a:pPr algn="ctr"/>
            <a:r>
              <a:rPr sz="850" b="1" i="0">
                <a:solidFill>
                  <a:srgbClr val="FFFFFF"/>
                </a:solidFill>
                <a:latin typeface="Calibri"/>
              </a:rPr>
              <a:t>Post-op 3D</a:t>
            </a:r>
          </a:p>
        </p:txBody>
      </p:sp>
      <p:sp>
        <p:nvSpPr>
          <p:cNvPr id="30" name="TextBox 36"/>
          <p:cNvSpPr txBox="1"/>
          <p:nvPr/>
        </p:nvSpPr>
        <p:spPr>
          <a:xfrm>
            <a:off x="393192" y="3054096"/>
            <a:ext cx="1773936" cy="530352"/>
          </a:xfrm>
          <a:prstGeom prst="rect">
            <a:avLst/>
          </a:prstGeom>
          <a:noFill/>
        </p:spPr>
        <p:txBody>
          <a:bodyPr wrap="square" lIns="27432" tIns="0" rIns="27432" bIns="0" anchor="t">
            <a:spAutoFit/>
          </a:bodyPr>
          <a:lstStyle/>
          <a:p>
            <a:pPr algn="l">
              <a:lnSpc>
                <a:spcPct val="110000"/>
              </a:lnSpc>
            </a:pPr>
            <a:r>
              <a:rPr sz="800" b="0" i="0">
                <a:solidFill>
                  <a:srgbClr val="2E2D29"/>
                </a:solidFill>
                <a:latin typeface="Calibri"/>
              </a:rPr>
              <a:t>Virtually stented</a:t>
            </a:r>
          </a:p>
          <a:p>
            <a:pPr algn="l">
              <a:lnSpc>
                <a:spcPct val="110000"/>
              </a:lnSpc>
            </a:pPr>
            <a:r>
              <a:rPr sz="800" b="0" i="0">
                <a:solidFill>
                  <a:srgbClr val="2E2D29"/>
                </a:solidFill>
                <a:latin typeface="Calibri"/>
              </a:rPr>
              <a:t>CFD result</a:t>
            </a:r>
          </a:p>
        </p:txBody>
      </p:sp>
      <p:sp>
        <p:nvSpPr>
          <p:cNvPr id="31" name="Right Arrow 37"/>
          <p:cNvSpPr/>
          <p:nvPr/>
        </p:nvSpPr>
        <p:spPr>
          <a:xfrm>
            <a:off x="2286000" y="3127248"/>
            <a:ext cx="182880" cy="146304"/>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8"/>
          <p:cNvSpPr/>
          <p:nvPr/>
        </p:nvSpPr>
        <p:spPr>
          <a:xfrm>
            <a:off x="2514600" y="2743200"/>
            <a:ext cx="1920240" cy="89611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9"/>
          <p:cNvSpPr/>
          <p:nvPr/>
        </p:nvSpPr>
        <p:spPr>
          <a:xfrm>
            <a:off x="2514600" y="2743200"/>
            <a:ext cx="1920240"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40"/>
          <p:cNvSpPr txBox="1"/>
          <p:nvPr/>
        </p:nvSpPr>
        <p:spPr>
          <a:xfrm>
            <a:off x="2514600" y="2743200"/>
            <a:ext cx="1920240" cy="237744"/>
          </a:xfrm>
          <a:prstGeom prst="rect">
            <a:avLst/>
          </a:prstGeom>
          <a:noFill/>
        </p:spPr>
        <p:txBody>
          <a:bodyPr wrap="square" lIns="27432" tIns="0" rIns="27432" bIns="0" anchor="ctr">
            <a:spAutoFit/>
          </a:bodyPr>
          <a:lstStyle/>
          <a:p>
            <a:pPr algn="ctr"/>
            <a:r>
              <a:rPr sz="850" b="1" i="0">
                <a:solidFill>
                  <a:srgbClr val="FFFFFF"/>
                </a:solidFill>
                <a:latin typeface="Calibri"/>
              </a:rPr>
              <a:t>RRI fit</a:t>
            </a:r>
          </a:p>
        </p:txBody>
      </p:sp>
      <p:sp>
        <p:nvSpPr>
          <p:cNvPr id="35" name="TextBox 41"/>
          <p:cNvSpPr txBox="1"/>
          <p:nvPr/>
        </p:nvSpPr>
        <p:spPr>
          <a:xfrm>
            <a:off x="2587752" y="3054096"/>
            <a:ext cx="1773936" cy="530352"/>
          </a:xfrm>
          <a:prstGeom prst="rect">
            <a:avLst/>
          </a:prstGeom>
          <a:noFill/>
        </p:spPr>
        <p:txBody>
          <a:bodyPr wrap="square" lIns="27432" tIns="0" rIns="27432" bIns="0" anchor="t">
            <a:spAutoFit/>
          </a:bodyPr>
          <a:lstStyle/>
          <a:p>
            <a:pPr algn="l">
              <a:lnSpc>
                <a:spcPct val="110000"/>
              </a:lnSpc>
            </a:pPr>
            <a:r>
              <a:rPr sz="800" b="0" i="0">
                <a:solidFill>
                  <a:srgbClr val="2E2D29"/>
                </a:solidFill>
                <a:latin typeface="Calibri"/>
              </a:rPr>
              <a:t>0D model run to reproduce</a:t>
            </a:r>
          </a:p>
          <a:p>
            <a:pPr algn="l">
              <a:lnSpc>
                <a:spcPct val="110000"/>
              </a:lnSpc>
            </a:pPr>
            <a:r>
              <a:rPr sz="800" b="0" i="0">
                <a:solidFill>
                  <a:srgbClr val="2E2D29"/>
                </a:solidFill>
                <a:latin typeface="Calibri"/>
              </a:rPr>
              <a:t>the post-operative state</a:t>
            </a:r>
          </a:p>
        </p:txBody>
      </p:sp>
      <p:sp>
        <p:nvSpPr>
          <p:cNvPr id="36" name="Right Arrow 42"/>
          <p:cNvSpPr/>
          <p:nvPr/>
        </p:nvSpPr>
        <p:spPr>
          <a:xfrm>
            <a:off x="4480559" y="3127248"/>
            <a:ext cx="182880" cy="146304"/>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43"/>
          <p:cNvSpPr/>
          <p:nvPr/>
        </p:nvSpPr>
        <p:spPr>
          <a:xfrm>
            <a:off x="4709159" y="2743200"/>
            <a:ext cx="1920240" cy="89611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44"/>
          <p:cNvSpPr/>
          <p:nvPr/>
        </p:nvSpPr>
        <p:spPr>
          <a:xfrm>
            <a:off x="4709159" y="2743200"/>
            <a:ext cx="1920240" cy="237744"/>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45"/>
          <p:cNvSpPr txBox="1"/>
          <p:nvPr/>
        </p:nvSpPr>
        <p:spPr>
          <a:xfrm>
            <a:off x="4709159" y="2743200"/>
            <a:ext cx="1920240" cy="237744"/>
          </a:xfrm>
          <a:prstGeom prst="rect">
            <a:avLst/>
          </a:prstGeom>
          <a:noFill/>
        </p:spPr>
        <p:txBody>
          <a:bodyPr wrap="square" lIns="27432" tIns="0" rIns="27432" bIns="0" anchor="ctr">
            <a:spAutoFit/>
          </a:bodyPr>
          <a:lstStyle/>
          <a:p>
            <a:pPr algn="ctr"/>
            <a:r>
              <a:rPr sz="850" b="1" i="0">
                <a:solidFill>
                  <a:srgbClr val="FFFFFF"/>
                </a:solidFill>
                <a:latin typeface="Calibri"/>
              </a:rPr>
              <a:t>Perturbed state</a:t>
            </a:r>
          </a:p>
        </p:txBody>
      </p:sp>
      <p:sp>
        <p:nvSpPr>
          <p:cNvPr id="40" name="TextBox 46"/>
          <p:cNvSpPr txBox="1"/>
          <p:nvPr/>
        </p:nvSpPr>
        <p:spPr>
          <a:xfrm>
            <a:off x="4782312" y="3054096"/>
            <a:ext cx="1773936" cy="530352"/>
          </a:xfrm>
          <a:prstGeom prst="rect">
            <a:avLst/>
          </a:prstGeom>
          <a:noFill/>
        </p:spPr>
        <p:txBody>
          <a:bodyPr wrap="square" lIns="27432" tIns="0" rIns="27432" bIns="0" anchor="t">
            <a:spAutoFit/>
          </a:bodyPr>
          <a:lstStyle/>
          <a:p>
            <a:pPr algn="l">
              <a:lnSpc>
                <a:spcPct val="110000"/>
              </a:lnSpc>
            </a:pPr>
            <a:r>
              <a:rPr sz="800" b="0" i="0">
                <a:solidFill>
                  <a:srgbClr val="2E2D29"/>
                </a:solidFill>
                <a:latin typeface="Calibri"/>
              </a:rPr>
              <a:t>New P and Q at each</a:t>
            </a:r>
          </a:p>
          <a:p>
            <a:pPr algn="l">
              <a:lnSpc>
                <a:spcPct val="110000"/>
              </a:lnSpc>
            </a:pPr>
            <a:r>
              <a:rPr sz="800" b="0" i="0">
                <a:solidFill>
                  <a:srgbClr val="2E2D29"/>
                </a:solidFill>
                <a:latin typeface="Calibri"/>
              </a:rPr>
              <a:t>RRI outlet</a:t>
            </a:r>
          </a:p>
        </p:txBody>
      </p:sp>
      <p:sp>
        <p:nvSpPr>
          <p:cNvPr id="41" name="Rectangle 47"/>
          <p:cNvSpPr/>
          <p:nvPr/>
        </p:nvSpPr>
        <p:spPr>
          <a:xfrm>
            <a:off x="6903720" y="1700784"/>
            <a:ext cx="1920240" cy="1938528"/>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8"/>
          <p:cNvSpPr txBox="1"/>
          <p:nvPr/>
        </p:nvSpPr>
        <p:spPr>
          <a:xfrm>
            <a:off x="6995160" y="1810512"/>
            <a:ext cx="1737360" cy="1737360"/>
          </a:xfrm>
          <a:prstGeom prst="rect">
            <a:avLst/>
          </a:prstGeom>
          <a:noFill/>
        </p:spPr>
        <p:txBody>
          <a:bodyPr wrap="square" lIns="27432" tIns="0" rIns="27432" bIns="0" anchor="t">
            <a:spAutoFit/>
          </a:bodyPr>
          <a:lstStyle/>
          <a:p>
            <a:pPr algn="l">
              <a:lnSpc>
                <a:spcPct val="120000"/>
              </a:lnSpc>
            </a:pPr>
            <a:r>
              <a:rPr sz="900" b="0" i="0">
                <a:solidFill>
                  <a:srgbClr val="FFFFFF"/>
                </a:solidFill>
                <a:latin typeface="Calibri"/>
              </a:rPr>
              <a:t>Integrate the tree ODEs</a:t>
            </a:r>
          </a:p>
          <a:p>
            <a:pPr algn="l">
              <a:lnSpc>
                <a:spcPct val="120000"/>
              </a:lnSpc>
            </a:pPr>
            <a:r>
              <a:rPr sz="900" b="0" i="0">
                <a:solidFill>
                  <a:srgbClr val="FFFFFF"/>
                </a:solidFill>
                <a:latin typeface="Calibri"/>
              </a:rPr>
              <a:t>from the homeostatic state</a:t>
            </a:r>
          </a:p>
          <a:p>
            <a:pPr algn="l">
              <a:lnSpc>
                <a:spcPct val="120000"/>
              </a:lnSpc>
            </a:pPr>
            <a:r>
              <a:rPr sz="900" b="0" i="0">
                <a:solidFill>
                  <a:srgbClr val="FFFFFF"/>
                </a:solidFill>
                <a:latin typeface="Calibri"/>
              </a:rPr>
              <a:t>under the perturbed</a:t>
            </a:r>
          </a:p>
          <a:p>
            <a:pPr algn="l">
              <a:lnSpc>
                <a:spcPct val="120000"/>
              </a:lnSpc>
            </a:pPr>
            <a:r>
              <a:rPr sz="900" b="0" i="0">
                <a:solidFill>
                  <a:srgbClr val="FFFFFF"/>
                </a:solidFill>
                <a:latin typeface="Calibri"/>
              </a:rPr>
              <a:t>boundary values</a:t>
            </a:r>
          </a:p>
          <a:p>
            <a:pPr algn="l">
              <a:lnSpc>
                <a:spcPct val="120000"/>
              </a:lnSpc>
            </a:pPr>
            <a:endParaRPr sz="900" b="0" i="0">
              <a:solidFill>
                <a:srgbClr val="FFFFFF"/>
              </a:solidFill>
              <a:latin typeface="Calibri"/>
            </a:endParaRPr>
          </a:p>
          <a:p>
            <a:pPr algn="l">
              <a:lnSpc>
                <a:spcPct val="120000"/>
              </a:lnSpc>
            </a:pPr>
            <a:r>
              <a:rPr sz="900" b="0" i="0">
                <a:solidFill>
                  <a:srgbClr val="FFFFFF"/>
                </a:solidFill>
                <a:latin typeface="Calibri"/>
              </a:rPr>
              <a:t>→ adapted r_i , h_i</a:t>
            </a:r>
          </a:p>
          <a:p>
            <a:pPr algn="l">
              <a:lnSpc>
                <a:spcPct val="120000"/>
              </a:lnSpc>
            </a:pPr>
            <a:r>
              <a:rPr sz="900" b="0" i="0">
                <a:solidFill>
                  <a:srgbClr val="FFFFFF"/>
                </a:solidFill>
                <a:latin typeface="Calibri"/>
              </a:rPr>
              <a:t>→ adapted tree impedance</a:t>
            </a:r>
          </a:p>
        </p:txBody>
      </p:sp>
      <p:sp>
        <p:nvSpPr>
          <p:cNvPr id="43" name="Right Arrow 49"/>
          <p:cNvSpPr/>
          <p:nvPr/>
        </p:nvSpPr>
        <p:spPr>
          <a:xfrm>
            <a:off x="6656832" y="2596896"/>
            <a:ext cx="201168" cy="164592"/>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50"/>
          <p:cNvSpPr txBox="1"/>
          <p:nvPr/>
        </p:nvSpPr>
        <p:spPr>
          <a:xfrm>
            <a:off x="320040" y="3840480"/>
            <a:ext cx="8503920" cy="822960"/>
          </a:xfrm>
          <a:prstGeom prst="rect">
            <a:avLst/>
          </a:prstGeom>
          <a:noFill/>
        </p:spPr>
        <p:txBody>
          <a:bodyPr wrap="square" lIns="27432" tIns="0" rIns="27432" bIns="0">
            <a:spAutoFit/>
          </a:bodyPr>
          <a:lstStyle/>
          <a:p>
            <a:pPr>
              <a:spcAft>
                <a:spcPts val="600"/>
              </a:spcAft>
            </a:pPr>
            <a:r>
              <a:rPr sz="1000">
                <a:solidFill>
                  <a:srgbClr val="8C1515"/>
                </a:solidFill>
                <a:latin typeface="Calibri"/>
              </a:rPr>
              <a:t>• </a:t>
            </a:r>
            <a:r>
              <a:rPr sz="1000">
                <a:solidFill>
                  <a:srgbClr val="2E2D29"/>
                </a:solidFill>
                <a:latin typeface="Calibri"/>
              </a:rPr>
              <a:t>Only the trees adapt — the 3D geometry, the proximal vessels and the RRI parameters are held at their post-operative values</a:t>
            </a:r>
          </a:p>
          <a:p>
            <a:pPr>
              <a:spcAft>
                <a:spcPts val="600"/>
              </a:spcAft>
            </a:pPr>
            <a:r>
              <a:rPr sz="1000">
                <a:solidFill>
                  <a:srgbClr val="8C1515"/>
                </a:solidFill>
                <a:latin typeface="Calibri"/>
              </a:rPr>
              <a:t>• </a:t>
            </a:r>
            <a:r>
              <a:rPr sz="1000">
                <a:solidFill>
                  <a:srgbClr val="2E2D29"/>
                </a:solidFill>
                <a:latin typeface="Calibri"/>
              </a:rPr>
              <a:t>Because integration is to steady state, the result is independent of how long after the intervention the patient was re-studied</a:t>
            </a:r>
          </a:p>
        </p:txBody>
      </p:sp>
      <p:sp>
        <p:nvSpPr>
          <p:cNvPr id="45" name="Rectangle 51"/>
          <p:cNvSpPr/>
          <p:nvPr/>
        </p:nvSpPr>
        <p:spPr>
          <a:xfrm>
            <a:off x="320040" y="484632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52"/>
          <p:cNvSpPr txBox="1"/>
          <p:nvPr/>
        </p:nvSpPr>
        <p:spPr>
          <a:xfrm>
            <a:off x="429768" y="4846320"/>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The RRI model is doing double duty: tuning surrogate in Stage 2, adaptation driver in Stage 5.</a:t>
            </a:r>
          </a:p>
        </p:txBody>
      </p:sp>
      <p:sp>
        <p:nvSpPr>
          <p:cNvPr id="47"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What changed: one tree per side to per-cap trees. Reason: RRI-driven homeostatic and perturbed states, replaced by the M2 territory update.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Why constant shear alone is not enough</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408176"/>
            <a:ext cx="4160520" cy="170078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9"/>
          <p:cNvSpPr txBox="1"/>
          <p:nvPr/>
        </p:nvSpPr>
        <p:spPr>
          <a:xfrm>
            <a:off x="448056" y="1508760"/>
            <a:ext cx="3904487" cy="219456"/>
          </a:xfrm>
          <a:prstGeom prst="rect">
            <a:avLst/>
          </a:prstGeom>
          <a:noFill/>
        </p:spPr>
        <p:txBody>
          <a:bodyPr wrap="square" lIns="27432" tIns="0" rIns="27432" bIns="0" anchor="t">
            <a:spAutoFit/>
          </a:bodyPr>
          <a:lstStyle/>
          <a:p>
            <a:pPr algn="l"/>
            <a:r>
              <a:rPr sz="1100" b="1" i="0">
                <a:solidFill>
                  <a:srgbClr val="E98300"/>
                </a:solidFill>
                <a:latin typeface="Calibri"/>
              </a:rPr>
              <a:t>Observed failure mode</a:t>
            </a:r>
          </a:p>
        </p:txBody>
      </p:sp>
      <p:sp>
        <p:nvSpPr>
          <p:cNvPr id="14" name="TextBox 20"/>
          <p:cNvSpPr txBox="1"/>
          <p:nvPr/>
        </p:nvSpPr>
        <p:spPr>
          <a:xfrm>
            <a:off x="448056" y="1783080"/>
            <a:ext cx="3904487" cy="1289304"/>
          </a:xfrm>
          <a:prstGeom prst="rect">
            <a:avLst/>
          </a:prstGeom>
          <a:noFill/>
        </p:spPr>
        <p:txBody>
          <a:bodyPr wrap="square" lIns="27432" tIns="0" rIns="27432" bIns="0">
            <a:spAutoFit/>
          </a:bodyPr>
          <a:lstStyle/>
          <a:p>
            <a:pPr>
              <a:spcAft>
                <a:spcPts val="350"/>
              </a:spcAft>
            </a:pPr>
            <a:r>
              <a:rPr sz="950">
                <a:solidFill>
                  <a:srgbClr val="E98300"/>
                </a:solidFill>
                <a:latin typeface="Calibri"/>
              </a:rPr>
              <a:t>• </a:t>
            </a:r>
            <a:r>
              <a:rPr sz="950">
                <a:solidFill>
                  <a:srgbClr val="2E2D29"/>
                </a:solidFill>
                <a:latin typeface="Calibri"/>
              </a:rPr>
              <a:t>Applied iteratively across a multi-outlet model, pure CWSS adaptation drove the flow split through wild excursions rather than settling</a:t>
            </a:r>
          </a:p>
          <a:p>
            <a:pPr>
              <a:spcAft>
                <a:spcPts val="350"/>
              </a:spcAft>
            </a:pPr>
            <a:r>
              <a:rPr sz="950">
                <a:solidFill>
                  <a:srgbClr val="E98300"/>
                </a:solidFill>
                <a:latin typeface="Calibri"/>
              </a:rPr>
              <a:t>• </a:t>
            </a:r>
            <a:r>
              <a:rPr sz="950">
                <a:solidFill>
                  <a:srgbClr val="2E2D29"/>
                </a:solidFill>
                <a:latin typeface="Calibri"/>
              </a:rPr>
              <a:t>Recorded splits across successive iterations swung from 22 / 78 to 86 / 14 with no convergence</a:t>
            </a:r>
          </a:p>
        </p:txBody>
      </p:sp>
      <p:sp>
        <p:nvSpPr>
          <p:cNvPr id="15" name="Rectangle 21"/>
          <p:cNvSpPr/>
          <p:nvPr/>
        </p:nvSpPr>
        <p:spPr>
          <a:xfrm>
            <a:off x="320040" y="3255264"/>
            <a:ext cx="4160520" cy="146304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22"/>
          <p:cNvSpPr txBox="1"/>
          <p:nvPr/>
        </p:nvSpPr>
        <p:spPr>
          <a:xfrm>
            <a:off x="448056" y="3355848"/>
            <a:ext cx="3904487" cy="219456"/>
          </a:xfrm>
          <a:prstGeom prst="rect">
            <a:avLst/>
          </a:prstGeom>
          <a:noFill/>
        </p:spPr>
        <p:txBody>
          <a:bodyPr wrap="square" lIns="27432" tIns="0" rIns="27432" bIns="0" anchor="t">
            <a:spAutoFit/>
          </a:bodyPr>
          <a:lstStyle/>
          <a:p>
            <a:pPr algn="l"/>
            <a:r>
              <a:rPr sz="1100" b="1" i="0">
                <a:solidFill>
                  <a:srgbClr val="8C1515"/>
                </a:solidFill>
                <a:latin typeface="Calibri"/>
              </a:rPr>
              <a:t>Interpretation</a:t>
            </a:r>
          </a:p>
        </p:txBody>
      </p:sp>
      <p:sp>
        <p:nvSpPr>
          <p:cNvPr id="17" name="TextBox 23"/>
          <p:cNvSpPr txBox="1"/>
          <p:nvPr/>
        </p:nvSpPr>
        <p:spPr>
          <a:xfrm>
            <a:off x="448056" y="3630168"/>
            <a:ext cx="3904487" cy="1051560"/>
          </a:xfrm>
          <a:prstGeom prst="rect">
            <a:avLst/>
          </a:prstGeom>
          <a:noFill/>
        </p:spPr>
        <p:txBody>
          <a:bodyPr wrap="square" lIns="27432" tIns="0" rIns="27432" bIns="0">
            <a:spAutoFit/>
          </a:bodyPr>
          <a:lstStyle/>
          <a:p>
            <a:pPr>
              <a:spcAft>
                <a:spcPts val="350"/>
              </a:spcAft>
            </a:pPr>
            <a:r>
              <a:rPr sz="950">
                <a:solidFill>
                  <a:srgbClr val="8C1515"/>
                </a:solidFill>
                <a:latin typeface="Calibri"/>
              </a:rPr>
              <a:t>• </a:t>
            </a:r>
            <a:r>
              <a:rPr sz="950">
                <a:solidFill>
                  <a:srgbClr val="2E2D29"/>
                </a:solidFill>
                <a:latin typeface="Calibri"/>
              </a:rPr>
              <a:t>Shear-only adaptation has positive feedback: dilation raises flow, which raises shear again</a:t>
            </a:r>
          </a:p>
          <a:p>
            <a:pPr>
              <a:spcAft>
                <a:spcPts val="350"/>
              </a:spcAft>
            </a:pPr>
            <a:r>
              <a:rPr sz="950">
                <a:solidFill>
                  <a:srgbClr val="8C1515"/>
                </a:solidFill>
                <a:latin typeface="Calibri"/>
              </a:rPr>
              <a:t>• </a:t>
            </a:r>
            <a:r>
              <a:rPr sz="950">
                <a:solidFill>
                  <a:srgbClr val="2E2D29"/>
                </a:solidFill>
                <a:latin typeface="Calibri"/>
              </a:rPr>
              <a:t>Nothing in the formulation penalizes unbounded radius growth</a:t>
            </a:r>
          </a:p>
        </p:txBody>
      </p:sp>
      <p:sp>
        <p:nvSpPr>
          <p:cNvPr id="18" name="Rectangle 24"/>
          <p:cNvSpPr/>
          <p:nvPr/>
        </p:nvSpPr>
        <p:spPr>
          <a:xfrm>
            <a:off x="4846320" y="1408176"/>
            <a:ext cx="3977639" cy="3310128"/>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25"/>
          <p:cNvSpPr txBox="1"/>
          <p:nvPr/>
        </p:nvSpPr>
        <p:spPr>
          <a:xfrm>
            <a:off x="4974336" y="1508760"/>
            <a:ext cx="3721607" cy="219456"/>
          </a:xfrm>
          <a:prstGeom prst="rect">
            <a:avLst/>
          </a:prstGeom>
          <a:noFill/>
        </p:spPr>
        <p:txBody>
          <a:bodyPr wrap="square" lIns="27432" tIns="0" rIns="27432" bIns="0" anchor="t">
            <a:spAutoFit/>
          </a:bodyPr>
          <a:lstStyle/>
          <a:p>
            <a:pPr algn="l"/>
            <a:r>
              <a:rPr sz="1100" b="1" i="0">
                <a:solidFill>
                  <a:srgbClr val="279989"/>
                </a:solidFill>
                <a:latin typeface="Calibri"/>
              </a:rPr>
              <a:t>What the stress term adds</a:t>
            </a:r>
          </a:p>
        </p:txBody>
      </p:sp>
      <p:sp>
        <p:nvSpPr>
          <p:cNvPr id="20" name="TextBox 26"/>
          <p:cNvSpPr txBox="1"/>
          <p:nvPr/>
        </p:nvSpPr>
        <p:spPr>
          <a:xfrm>
            <a:off x="4974336" y="1783080"/>
            <a:ext cx="3721607" cy="2898648"/>
          </a:xfrm>
          <a:prstGeom prst="rect">
            <a:avLst/>
          </a:prstGeom>
          <a:noFill/>
        </p:spPr>
        <p:txBody>
          <a:bodyPr wrap="square" lIns="27432" tIns="0" rIns="27432" bIns="0">
            <a:spAutoFit/>
          </a:bodyPr>
          <a:lstStyle/>
          <a:p>
            <a:pPr>
              <a:spcAft>
                <a:spcPts val="350"/>
              </a:spcAft>
            </a:pPr>
            <a:r>
              <a:rPr sz="950">
                <a:solidFill>
                  <a:srgbClr val="279989"/>
                </a:solidFill>
                <a:latin typeface="Calibri"/>
              </a:rPr>
              <a:t>• </a:t>
            </a:r>
            <a:r>
              <a:rPr sz="950">
                <a:solidFill>
                  <a:srgbClr val="2E2D29"/>
                </a:solidFill>
                <a:latin typeface="Calibri"/>
              </a:rPr>
              <a:t>As radius grows at fixed pressure, intramural stress rises and opposes further dilation</a:t>
            </a:r>
          </a:p>
          <a:p>
            <a:pPr>
              <a:spcAft>
                <a:spcPts val="350"/>
              </a:spcAft>
            </a:pPr>
            <a:r>
              <a:rPr sz="950">
                <a:solidFill>
                  <a:srgbClr val="279989"/>
                </a:solidFill>
                <a:latin typeface="Calibri"/>
              </a:rPr>
              <a:t>• </a:t>
            </a:r>
            <a:r>
              <a:rPr sz="950">
                <a:solidFill>
                  <a:srgbClr val="2E2D29"/>
                </a:solidFill>
                <a:latin typeface="Calibri"/>
              </a:rPr>
              <a:t>Wall thickening provides a second, slower degree of freedom that relieves stress</a:t>
            </a:r>
          </a:p>
          <a:p>
            <a:pPr>
              <a:spcAft>
                <a:spcPts val="350"/>
              </a:spcAft>
            </a:pPr>
            <a:r>
              <a:rPr sz="950">
                <a:solidFill>
                  <a:srgbClr val="279989"/>
                </a:solidFill>
                <a:latin typeface="Calibri"/>
              </a:rPr>
              <a:t>• </a:t>
            </a:r>
            <a:r>
              <a:rPr sz="950">
                <a:solidFill>
                  <a:srgbClr val="2E2D29"/>
                </a:solidFill>
                <a:latin typeface="Calibri"/>
              </a:rPr>
              <a:t>The combined system admits a stable fixed point, which is the state we integrate to</a:t>
            </a:r>
          </a:p>
          <a:p>
            <a:pPr>
              <a:spcAft>
                <a:spcPts val="350"/>
              </a:spcAft>
            </a:pPr>
            <a:r>
              <a:rPr sz="950">
                <a:solidFill>
                  <a:srgbClr val="279989"/>
                </a:solidFill>
                <a:latin typeface="Calibri"/>
              </a:rPr>
              <a:t>• </a:t>
            </a:r>
            <a:r>
              <a:rPr sz="950">
                <a:solidFill>
                  <a:srgbClr val="2E2D29"/>
                </a:solidFill>
                <a:latin typeface="Calibri"/>
              </a:rPr>
              <a:t>The trade-off is four gains instead of one, and those gains must be identified</a:t>
            </a:r>
          </a:p>
        </p:txBody>
      </p:sp>
      <p:sp>
        <p:nvSpPr>
          <p:cNvPr id="21" name="Rectangle 27"/>
          <p:cNvSpPr/>
          <p:nvPr/>
        </p:nvSpPr>
        <p:spPr>
          <a:xfrm>
            <a:off x="320040" y="4846320"/>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8"/>
          <p:cNvSpPr txBox="1"/>
          <p:nvPr/>
        </p:nvSpPr>
        <p:spPr>
          <a:xfrm>
            <a:off x="429768" y="4846320"/>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CWSS-IMS is retained not because it fits better, but because it is the version that converges.</a:t>
            </a:r>
          </a:p>
        </p:txBody>
      </p:sp>
      <p:sp>
        <p:nvSpPr>
          <p:cNvPr id="23"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What changed: one tree per side to per-cap trees. Reason: Motivation for the M1/M3 formulation, which full-PA runs no longer use.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Title 1"/>
          <p:cNvSpPr>
            <a:spLocks noGrp="1"/>
          </p:cNvSpPr>
          <p:nvPr>
            <p:ph type="title"/>
          </p:nvPr>
        </p:nvSpPr>
        <p:spPr>
          <a:xfrm>
            <a:off x="320040" y="237744"/>
            <a:ext cx="8503920" cy="658368"/>
          </a:xfrm>
        </p:spPr>
        <p:txBody>
          <a:bodyPr wrap="square" lIns="0" tIns="0" rIns="0" bIns="0" anchor="ctr"/>
          <a:lstStyle/>
          <a:p>
            <a:r>
              <a:rPr sz="2200">
                <a:solidFill>
                  <a:srgbClr val="8C1515"/>
                </a:solidFill>
                <a:latin typeface="Georgia"/>
              </a:rPr>
              <a:t>CWSS-IMS: governing equations</a:t>
            </a:r>
          </a:p>
        </p:txBody>
      </p:sp>
      <p:sp>
        <p:nvSpPr>
          <p:cNvPr id="4" name="Ribbon_seg1"/>
          <p:cNvSpPr/>
          <p:nvPr/>
        </p:nvSpPr>
        <p:spPr>
          <a:xfrm>
            <a:off x="320040"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1  Inputs</a:t>
            </a:r>
          </a:p>
        </p:txBody>
      </p:sp>
      <p:sp>
        <p:nvSpPr>
          <p:cNvPr id="5" name="Ribbon_seg2"/>
          <p:cNvSpPr/>
          <p:nvPr/>
        </p:nvSpPr>
        <p:spPr>
          <a:xfrm>
            <a:off x="125468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2  BC Tuning</a:t>
            </a:r>
          </a:p>
        </p:txBody>
      </p:sp>
      <p:sp>
        <p:nvSpPr>
          <p:cNvPr id="6" name="Ribbon_seg3"/>
          <p:cNvSpPr/>
          <p:nvPr/>
        </p:nvSpPr>
        <p:spPr>
          <a:xfrm>
            <a:off x="218933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3  Pre-op Sim</a:t>
            </a:r>
          </a:p>
        </p:txBody>
      </p:sp>
      <p:sp>
        <p:nvSpPr>
          <p:cNvPr id="7" name="Ribbon_seg4"/>
          <p:cNvSpPr/>
          <p:nvPr/>
        </p:nvSpPr>
        <p:spPr>
          <a:xfrm>
            <a:off x="3123982"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4  Post-op Sim</a:t>
            </a:r>
          </a:p>
        </p:txBody>
      </p:sp>
      <p:sp>
        <p:nvSpPr>
          <p:cNvPr id="8" name="Ribbon_seg5"/>
          <p:cNvSpPr/>
          <p:nvPr/>
        </p:nvSpPr>
        <p:spPr>
          <a:xfrm>
            <a:off x="4058629" y="950976"/>
            <a:ext cx="884355" cy="237744"/>
          </a:xfrm>
          <a:prstGeom prst="rect">
            <a:avLst/>
          </a:prstGeom>
          <a:solidFill>
            <a:srgbClr val="8C151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700" b="1">
                <a:solidFill>
                  <a:srgbClr val="FFFFFF"/>
                </a:solidFill>
                <a:latin typeface="Calibri"/>
              </a:rPr>
              <a:t>5  Adaptation</a:t>
            </a:r>
          </a:p>
        </p:txBody>
      </p:sp>
      <p:sp>
        <p:nvSpPr>
          <p:cNvPr id="9" name="Ribbon_seg6"/>
          <p:cNvSpPr/>
          <p:nvPr/>
        </p:nvSpPr>
        <p:spPr>
          <a:xfrm>
            <a:off x="4993277"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6  Adapted Sim</a:t>
            </a:r>
          </a:p>
        </p:txBody>
      </p:sp>
      <p:sp>
        <p:nvSpPr>
          <p:cNvPr id="10" name="Ribbon_seg7"/>
          <p:cNvSpPr/>
          <p:nvPr/>
        </p:nvSpPr>
        <p:spPr>
          <a:xfrm>
            <a:off x="5927924" y="950976"/>
            <a:ext cx="884355" cy="237744"/>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anchor="ctr"/>
          <a:lstStyle/>
          <a:p>
            <a:pPr algn="ctr"/>
            <a:r>
              <a:rPr sz="650" b="0">
                <a:solidFill>
                  <a:srgbClr val="6B6965"/>
                </a:solidFill>
                <a:latin typeface="Calibri"/>
              </a:rPr>
              <a:t>7  Metrics</a:t>
            </a:r>
          </a:p>
        </p:txBody>
      </p:sp>
      <p:sp>
        <p:nvSpPr>
          <p:cNvPr id="11" name="Status_badge"/>
          <p:cNvSpPr/>
          <p:nvPr/>
        </p:nvSpPr>
        <p:spPr>
          <a:xfrm>
            <a:off x="7013447"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anchor="ctr"/>
          <a:lstStyle/>
          <a:p>
            <a:pPr algn="ctr"/>
            <a:r>
              <a:rPr sz="650" b="1">
                <a:solidFill>
                  <a:srgbClr val="6B6965"/>
                </a:solidFill>
                <a:latin typeface="Calibri"/>
              </a:rPr>
              <a:t>ARCHIVED</a:t>
            </a:r>
          </a:p>
        </p:txBody>
      </p:sp>
      <p:sp>
        <p:nvSpPr>
          <p:cNvPr id="12" name="Rectangle 18"/>
          <p:cNvSpPr/>
          <p:nvPr/>
        </p:nvSpPr>
        <p:spPr>
          <a:xfrm>
            <a:off x="320040" y="1389888"/>
            <a:ext cx="8503920" cy="1170432"/>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9"/>
          <p:cNvSpPr txBox="1"/>
          <p:nvPr/>
        </p:nvSpPr>
        <p:spPr>
          <a:xfrm>
            <a:off x="502920" y="1499616"/>
            <a:ext cx="8138160" cy="310896"/>
          </a:xfrm>
          <a:prstGeom prst="rect">
            <a:avLst/>
          </a:prstGeom>
          <a:noFill/>
        </p:spPr>
        <p:txBody>
          <a:bodyPr wrap="square" lIns="27432" tIns="0" rIns="27432" bIns="0" anchor="t">
            <a:spAutoFit/>
          </a:bodyPr>
          <a:lstStyle/>
          <a:p>
            <a:pPr algn="l"/>
            <a:r>
              <a:rPr sz="1300" b="1" i="0" dirty="0">
                <a:solidFill>
                  <a:srgbClr val="8C1515"/>
                </a:solidFill>
                <a:latin typeface="Consolas"/>
              </a:rPr>
              <a:t>d ln </a:t>
            </a:r>
            <a:r>
              <a:rPr sz="1300" b="1" i="0" dirty="0" err="1">
                <a:solidFill>
                  <a:srgbClr val="8C1515"/>
                </a:solidFill>
                <a:latin typeface="Consolas"/>
              </a:rPr>
              <a:t>r_i</a:t>
            </a:r>
            <a:r>
              <a:rPr sz="1300" b="1" i="0" dirty="0">
                <a:solidFill>
                  <a:srgbClr val="8C1515"/>
                </a:solidFill>
                <a:latin typeface="Consolas"/>
              </a:rPr>
              <a:t> / dt  =  </a:t>
            </a:r>
            <a:r>
              <a:rPr sz="1300" b="1" i="0" dirty="0" err="1">
                <a:solidFill>
                  <a:srgbClr val="8C1515"/>
                </a:solidFill>
                <a:latin typeface="Consolas"/>
              </a:rPr>
              <a:t>k_τ,r</a:t>
            </a:r>
            <a:r>
              <a:rPr sz="1300" b="1" i="0" dirty="0">
                <a:solidFill>
                  <a:srgbClr val="8C1515"/>
                </a:solidFill>
                <a:latin typeface="Consolas"/>
              </a:rPr>
              <a:t> · ln( </a:t>
            </a:r>
            <a:r>
              <a:rPr sz="1300" b="1" i="0" dirty="0" err="1">
                <a:solidFill>
                  <a:srgbClr val="8C1515"/>
                </a:solidFill>
                <a:latin typeface="Consolas"/>
              </a:rPr>
              <a:t>τ_i</a:t>
            </a:r>
            <a:r>
              <a:rPr sz="1300" b="1" i="0" dirty="0">
                <a:solidFill>
                  <a:srgbClr val="8C1515"/>
                </a:solidFill>
                <a:latin typeface="Consolas"/>
              </a:rPr>
              <a:t> / τ_i,0 )  +  </a:t>
            </a:r>
            <a:r>
              <a:rPr sz="1300" b="1" i="0" dirty="0" err="1">
                <a:solidFill>
                  <a:srgbClr val="8C1515"/>
                </a:solidFill>
                <a:latin typeface="Consolas"/>
              </a:rPr>
              <a:t>k_σ,r</a:t>
            </a:r>
            <a:r>
              <a:rPr sz="1300" b="1" i="0" dirty="0">
                <a:solidFill>
                  <a:srgbClr val="8C1515"/>
                </a:solidFill>
                <a:latin typeface="Consolas"/>
              </a:rPr>
              <a:t> · ln( </a:t>
            </a:r>
            <a:r>
              <a:rPr sz="1300" b="1" i="0" dirty="0" err="1">
                <a:solidFill>
                  <a:srgbClr val="8C1515"/>
                </a:solidFill>
                <a:latin typeface="Consolas"/>
              </a:rPr>
              <a:t>σ_i</a:t>
            </a:r>
            <a:r>
              <a:rPr sz="1300" b="1" i="0" dirty="0">
                <a:solidFill>
                  <a:srgbClr val="8C1515"/>
                </a:solidFill>
                <a:latin typeface="Consolas"/>
              </a:rPr>
              <a:t> / σ_i,0 )</a:t>
            </a:r>
          </a:p>
        </p:txBody>
      </p:sp>
      <p:sp>
        <p:nvSpPr>
          <p:cNvPr id="14" name="TextBox 20"/>
          <p:cNvSpPr txBox="1"/>
          <p:nvPr/>
        </p:nvSpPr>
        <p:spPr>
          <a:xfrm>
            <a:off x="502920" y="1865376"/>
            <a:ext cx="8138160" cy="310896"/>
          </a:xfrm>
          <a:prstGeom prst="rect">
            <a:avLst/>
          </a:prstGeom>
          <a:noFill/>
        </p:spPr>
        <p:txBody>
          <a:bodyPr wrap="square" lIns="27432" tIns="0" rIns="27432" bIns="0" anchor="t">
            <a:spAutoFit/>
          </a:bodyPr>
          <a:lstStyle/>
          <a:p>
            <a:pPr algn="l"/>
            <a:r>
              <a:rPr sz="1300" b="1" i="0" dirty="0">
                <a:solidFill>
                  <a:srgbClr val="8C1515"/>
                </a:solidFill>
                <a:latin typeface="Consolas"/>
              </a:rPr>
              <a:t>d ln </a:t>
            </a:r>
            <a:r>
              <a:rPr sz="1300" b="1" i="0" dirty="0" err="1">
                <a:solidFill>
                  <a:srgbClr val="8C1515"/>
                </a:solidFill>
                <a:latin typeface="Consolas"/>
              </a:rPr>
              <a:t>h_i</a:t>
            </a:r>
            <a:r>
              <a:rPr sz="1300" b="1" i="0" dirty="0">
                <a:solidFill>
                  <a:srgbClr val="8C1515"/>
                </a:solidFill>
                <a:latin typeface="Consolas"/>
              </a:rPr>
              <a:t> / dt  =  </a:t>
            </a:r>
            <a:r>
              <a:rPr sz="1300" b="1" i="0" dirty="0" err="1">
                <a:solidFill>
                  <a:srgbClr val="8C1515"/>
                </a:solidFill>
                <a:latin typeface="Consolas"/>
              </a:rPr>
              <a:t>k_τ,h</a:t>
            </a:r>
            <a:r>
              <a:rPr sz="1300" b="1" i="0" dirty="0">
                <a:solidFill>
                  <a:srgbClr val="8C1515"/>
                </a:solidFill>
                <a:latin typeface="Consolas"/>
              </a:rPr>
              <a:t> · ln( </a:t>
            </a:r>
            <a:r>
              <a:rPr sz="1300" b="1" i="0" dirty="0" err="1">
                <a:solidFill>
                  <a:srgbClr val="8C1515"/>
                </a:solidFill>
                <a:latin typeface="Consolas"/>
              </a:rPr>
              <a:t>τ_i</a:t>
            </a:r>
            <a:r>
              <a:rPr sz="1300" b="1" i="0" dirty="0">
                <a:solidFill>
                  <a:srgbClr val="8C1515"/>
                </a:solidFill>
                <a:latin typeface="Consolas"/>
              </a:rPr>
              <a:t> / τ_i,0 )  +  </a:t>
            </a:r>
            <a:r>
              <a:rPr sz="1300" b="1" i="0" dirty="0" err="1">
                <a:solidFill>
                  <a:srgbClr val="8C1515"/>
                </a:solidFill>
                <a:latin typeface="Consolas"/>
              </a:rPr>
              <a:t>k_σ,h</a:t>
            </a:r>
            <a:r>
              <a:rPr sz="1300" b="1" i="0" dirty="0">
                <a:solidFill>
                  <a:srgbClr val="8C1515"/>
                </a:solidFill>
                <a:latin typeface="Consolas"/>
              </a:rPr>
              <a:t> · ln( </a:t>
            </a:r>
            <a:r>
              <a:rPr sz="1300" b="1" i="0" dirty="0" err="1">
                <a:solidFill>
                  <a:srgbClr val="8C1515"/>
                </a:solidFill>
                <a:latin typeface="Consolas"/>
              </a:rPr>
              <a:t>σ_i</a:t>
            </a:r>
            <a:r>
              <a:rPr sz="1300" b="1" i="0" dirty="0">
                <a:solidFill>
                  <a:srgbClr val="8C1515"/>
                </a:solidFill>
                <a:latin typeface="Consolas"/>
              </a:rPr>
              <a:t> / σ_i,0 )</a:t>
            </a:r>
          </a:p>
        </p:txBody>
      </p:sp>
      <p:sp>
        <p:nvSpPr>
          <p:cNvPr id="15" name="TextBox 21"/>
          <p:cNvSpPr txBox="1"/>
          <p:nvPr/>
        </p:nvSpPr>
        <p:spPr>
          <a:xfrm>
            <a:off x="502920" y="2249424"/>
            <a:ext cx="8138160" cy="256032"/>
          </a:xfrm>
          <a:prstGeom prst="rect">
            <a:avLst/>
          </a:prstGeom>
          <a:noFill/>
        </p:spPr>
        <p:txBody>
          <a:bodyPr wrap="square" lIns="27432" tIns="0" rIns="27432" bIns="0" anchor="t">
            <a:spAutoFit/>
          </a:bodyPr>
          <a:lstStyle/>
          <a:p>
            <a:pPr algn="l"/>
            <a:r>
              <a:rPr sz="1100" b="0" i="0">
                <a:solidFill>
                  <a:srgbClr val="2E2D29"/>
                </a:solidFill>
                <a:latin typeface="Consolas"/>
              </a:rPr>
              <a:t>τ_i = 4 μ Q_i / ( π r_i³ )          σ_i = P_i r_i / h_i</a:t>
            </a:r>
          </a:p>
        </p:txBody>
      </p:sp>
      <p:sp>
        <p:nvSpPr>
          <p:cNvPr id="16" name="Rectangle 22"/>
          <p:cNvSpPr/>
          <p:nvPr/>
        </p:nvSpPr>
        <p:spPr>
          <a:xfrm>
            <a:off x="320040" y="2706624"/>
            <a:ext cx="4160520" cy="142646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23"/>
          <p:cNvSpPr txBox="1"/>
          <p:nvPr/>
        </p:nvSpPr>
        <p:spPr>
          <a:xfrm>
            <a:off x="448056" y="2807208"/>
            <a:ext cx="3904487" cy="219456"/>
          </a:xfrm>
          <a:prstGeom prst="rect">
            <a:avLst/>
          </a:prstGeom>
          <a:noFill/>
        </p:spPr>
        <p:txBody>
          <a:bodyPr wrap="square" lIns="27432" tIns="0" rIns="27432" bIns="0" anchor="t">
            <a:spAutoFit/>
          </a:bodyPr>
          <a:lstStyle/>
          <a:p>
            <a:pPr algn="l"/>
            <a:r>
              <a:rPr sz="1100" b="1" i="0">
                <a:solidFill>
                  <a:srgbClr val="8C1515"/>
                </a:solidFill>
                <a:latin typeface="Calibri"/>
              </a:rPr>
              <a:t>State and stimuli</a:t>
            </a:r>
          </a:p>
        </p:txBody>
      </p:sp>
      <p:sp>
        <p:nvSpPr>
          <p:cNvPr id="18" name="TextBox 24"/>
          <p:cNvSpPr txBox="1"/>
          <p:nvPr/>
        </p:nvSpPr>
        <p:spPr>
          <a:xfrm>
            <a:off x="448056" y="3081527"/>
            <a:ext cx="3904487" cy="1014984"/>
          </a:xfrm>
          <a:prstGeom prst="rect">
            <a:avLst/>
          </a:prstGeom>
          <a:noFill/>
        </p:spPr>
        <p:txBody>
          <a:bodyPr wrap="square" lIns="27432" tIns="0" rIns="27432" bIns="0">
            <a:spAutoFit/>
          </a:bodyPr>
          <a:lstStyle/>
          <a:p>
            <a:pPr>
              <a:spcAft>
                <a:spcPts val="350"/>
              </a:spcAft>
            </a:pPr>
            <a:r>
              <a:rPr sz="900">
                <a:solidFill>
                  <a:srgbClr val="8C1515"/>
                </a:solidFill>
                <a:latin typeface="Calibri"/>
              </a:rPr>
              <a:t>• </a:t>
            </a:r>
            <a:r>
              <a:rPr sz="900">
                <a:solidFill>
                  <a:srgbClr val="2E2D29"/>
                </a:solidFill>
                <a:latin typeface="Calibri"/>
              </a:rPr>
              <a:t>Each vessel carries a radius and a wall thickness, evolved in log-state form</a:t>
            </a:r>
          </a:p>
          <a:p>
            <a:pPr>
              <a:spcAft>
                <a:spcPts val="350"/>
              </a:spcAft>
            </a:pPr>
            <a:r>
              <a:rPr sz="900">
                <a:solidFill>
                  <a:srgbClr val="8C1515"/>
                </a:solidFill>
                <a:latin typeface="Calibri"/>
              </a:rPr>
              <a:t>• </a:t>
            </a:r>
            <a:r>
              <a:rPr sz="900">
                <a:solidFill>
                  <a:srgbClr val="2E2D29"/>
                </a:solidFill>
                <a:latin typeface="Calibri"/>
              </a:rPr>
              <a:t>Shear and intramural stress are each referenced to their pre-operative homeostatic value</a:t>
            </a:r>
          </a:p>
          <a:p>
            <a:pPr>
              <a:spcAft>
                <a:spcPts val="350"/>
              </a:spcAft>
            </a:pPr>
            <a:r>
              <a:rPr sz="900">
                <a:solidFill>
                  <a:srgbClr val="8C1515"/>
                </a:solidFill>
                <a:latin typeface="Calibri"/>
              </a:rPr>
              <a:t>• </a:t>
            </a:r>
            <a:r>
              <a:rPr sz="900">
                <a:solidFill>
                  <a:srgbClr val="2E2D29"/>
                </a:solidFill>
                <a:latin typeface="Calibri"/>
              </a:rPr>
              <a:t>Four gains: k_τ,r , k_σ,r , k_τ,h , k_σ,h</a:t>
            </a:r>
          </a:p>
        </p:txBody>
      </p:sp>
      <p:sp>
        <p:nvSpPr>
          <p:cNvPr id="19" name="Rectangle 25"/>
          <p:cNvSpPr/>
          <p:nvPr/>
        </p:nvSpPr>
        <p:spPr>
          <a:xfrm>
            <a:off x="4663440" y="2706624"/>
            <a:ext cx="4160520" cy="142646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6"/>
          <p:cNvSpPr txBox="1"/>
          <p:nvPr/>
        </p:nvSpPr>
        <p:spPr>
          <a:xfrm>
            <a:off x="4791455" y="2807208"/>
            <a:ext cx="3904487" cy="219456"/>
          </a:xfrm>
          <a:prstGeom prst="rect">
            <a:avLst/>
          </a:prstGeom>
          <a:noFill/>
        </p:spPr>
        <p:txBody>
          <a:bodyPr wrap="square" lIns="27432" tIns="0" rIns="27432" bIns="0" anchor="t">
            <a:spAutoFit/>
          </a:bodyPr>
          <a:lstStyle/>
          <a:p>
            <a:pPr algn="l"/>
            <a:r>
              <a:rPr sz="1100" b="1" i="0">
                <a:solidFill>
                  <a:srgbClr val="E98300"/>
                </a:solidFill>
                <a:latin typeface="Calibri"/>
              </a:rPr>
              <a:t>Comparison arm</a:t>
            </a:r>
          </a:p>
        </p:txBody>
      </p:sp>
      <p:sp>
        <p:nvSpPr>
          <p:cNvPr id="21" name="TextBox 27"/>
          <p:cNvSpPr txBox="1"/>
          <p:nvPr/>
        </p:nvSpPr>
        <p:spPr>
          <a:xfrm>
            <a:off x="4791455" y="3081527"/>
            <a:ext cx="3904487" cy="1014984"/>
          </a:xfrm>
          <a:prstGeom prst="rect">
            <a:avLst/>
          </a:prstGeom>
          <a:noFill/>
        </p:spPr>
        <p:txBody>
          <a:bodyPr wrap="square" lIns="27432" tIns="0" rIns="27432" bIns="0">
            <a:spAutoFit/>
          </a:bodyPr>
          <a:lstStyle/>
          <a:p>
            <a:pPr>
              <a:spcAft>
                <a:spcPts val="350"/>
              </a:spcAft>
            </a:pPr>
            <a:r>
              <a:rPr sz="900">
                <a:solidFill>
                  <a:srgbClr val="E98300"/>
                </a:solidFill>
                <a:latin typeface="Calibri"/>
              </a:rPr>
              <a:t>• </a:t>
            </a:r>
            <a:r>
              <a:rPr sz="900">
                <a:solidFill>
                  <a:srgbClr val="2E2D29"/>
                </a:solidFill>
                <a:latin typeface="Calibri"/>
              </a:rPr>
              <a:t>CWSS alone, with the terminal resistance swept across a range</a:t>
            </a:r>
          </a:p>
          <a:p>
            <a:pPr>
              <a:spcAft>
                <a:spcPts val="350"/>
              </a:spcAft>
            </a:pPr>
            <a:r>
              <a:rPr sz="900">
                <a:solidFill>
                  <a:srgbClr val="E98300"/>
                </a:solidFill>
                <a:latin typeface="Calibri"/>
              </a:rPr>
              <a:t>• </a:t>
            </a:r>
            <a:r>
              <a:rPr sz="900">
                <a:solidFill>
                  <a:srgbClr val="2E2D29"/>
                </a:solidFill>
                <a:latin typeface="Calibri"/>
              </a:rPr>
              <a:t>Isolates what the intramural stress term contributes</a:t>
            </a:r>
          </a:p>
          <a:p>
            <a:pPr>
              <a:spcAft>
                <a:spcPts val="350"/>
              </a:spcAft>
            </a:pPr>
            <a:r>
              <a:rPr sz="900">
                <a:solidFill>
                  <a:srgbClr val="E98300"/>
                </a:solidFill>
                <a:latin typeface="Calibri"/>
              </a:rPr>
              <a:t>• </a:t>
            </a:r>
            <a:r>
              <a:rPr sz="900">
                <a:solidFill>
                  <a:srgbClr val="2E2D29"/>
                </a:solidFill>
                <a:latin typeface="Calibri"/>
              </a:rPr>
              <a:t>Pries and Secomb's seven-parameter scheme is deferred to future work</a:t>
            </a:r>
          </a:p>
        </p:txBody>
      </p:sp>
      <p:sp>
        <p:nvSpPr>
          <p:cNvPr id="22" name="Rectangle 28"/>
          <p:cNvSpPr/>
          <p:nvPr/>
        </p:nvSpPr>
        <p:spPr>
          <a:xfrm>
            <a:off x="320040" y="4279392"/>
            <a:ext cx="8503920" cy="310896"/>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9"/>
          <p:cNvSpPr txBox="1"/>
          <p:nvPr/>
        </p:nvSpPr>
        <p:spPr>
          <a:xfrm>
            <a:off x="429768" y="4279392"/>
            <a:ext cx="8284464" cy="310896"/>
          </a:xfrm>
          <a:prstGeom prst="rect">
            <a:avLst/>
          </a:prstGeom>
          <a:noFill/>
        </p:spPr>
        <p:txBody>
          <a:bodyPr wrap="square" lIns="27432" tIns="0" rIns="27432" bIns="0" anchor="ctr">
            <a:spAutoFit/>
          </a:bodyPr>
          <a:lstStyle/>
          <a:p>
            <a:pPr algn="l"/>
            <a:r>
              <a:rPr sz="1000" b="1" i="0">
                <a:solidFill>
                  <a:srgbClr val="8C1515"/>
                </a:solidFill>
                <a:latin typeface="Calibri"/>
              </a:rPr>
              <a:t>Integration runs purely to steady state — the adapted result is a long-term asymptote with no physical timescale.</a:t>
            </a:r>
          </a:p>
        </p:txBody>
      </p:sp>
      <p:sp>
        <p:nvSpPr>
          <p:cNvPr id="24"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What changed: one tree per side to per-cap trees. Reason: M1/M3 formulation (one tree per side) is refused for full-PA runs.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2" name=""/>
        <p:cNvGrpSpPr/>
        <p:nvPr/>
      </p:nvGrpSpPr>
      <p:grpSpPr>
        <a:xfrm>
          <a:off x="0" y="0"/>
          <a:ext cx="0" cy="0"/>
          <a:chOff x="0" y="0"/>
          <a:chExt cx="0" cy="0"/>
        </a:xfrm>
      </p:grpSpPr>
      <p:sp>
        <p:nvSpPr>
          <p:cNvPr id="3" name="Status_badge"/>
          <p:cNvSpPr/>
          <p:nvPr/>
        </p:nvSpPr>
        <p:spPr>
          <a:xfrm>
            <a:off x="7013448" y="950976"/>
            <a:ext cx="1810512" cy="237744"/>
          </a:xfrm>
          <a:prstGeom prst="rect">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00" b="1">
                <a:solidFill>
                  <a:srgbClr val="6B6965"/>
                </a:solidFill>
                <a:latin typeface="Calibri"/>
              </a:rPr>
              <a:t>ARCHIVED</a:t>
            </a:r>
          </a:p>
        </p:txBody>
      </p:sp>
      <p:sp>
        <p:nvSpPr>
          <p:cNvPr id="4" name="TextBox 1"/>
          <p:cNvSpPr txBox="1"/>
          <p:nvPr/>
        </p:nvSpPr>
        <p:spPr>
          <a:xfrm>
            <a:off x="320040" y="274320"/>
            <a:ext cx="8503920" cy="365760"/>
          </a:xfrm>
          <a:prstGeom prst="rect">
            <a:avLst/>
          </a:prstGeom>
          <a:noFill/>
        </p:spPr>
        <p:txBody>
          <a:bodyPr wrap="square" lIns="27432" tIns="0" rIns="27432" bIns="0" anchor="t">
            <a:spAutoFit/>
          </a:bodyPr>
          <a:lstStyle/>
          <a:p>
            <a:pPr algn="l"/>
            <a:r>
              <a:rPr sz="2400" b="0" i="0">
                <a:solidFill>
                  <a:srgbClr val="8C1515"/>
                </a:solidFill>
                <a:latin typeface="Georgia"/>
              </a:rPr>
              <a:t>The pipeline</a:t>
            </a:r>
          </a:p>
        </p:txBody>
      </p:sp>
      <p:sp>
        <p:nvSpPr>
          <p:cNvPr id="5" name="Rectangle 3"/>
          <p:cNvSpPr/>
          <p:nvPr/>
        </p:nvSpPr>
        <p:spPr>
          <a:xfrm>
            <a:off x="320040" y="1133856"/>
            <a:ext cx="1161288" cy="17830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4"/>
          <p:cNvSpPr/>
          <p:nvPr/>
        </p:nvSpPr>
        <p:spPr>
          <a:xfrm>
            <a:off x="320040" y="1133856"/>
            <a:ext cx="1161288" cy="274320"/>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5"/>
          <p:cNvSpPr txBox="1"/>
          <p:nvPr/>
        </p:nvSpPr>
        <p:spPr>
          <a:xfrm>
            <a:off x="374904" y="1133856"/>
            <a:ext cx="1051560" cy="274320"/>
          </a:xfrm>
          <a:prstGeom prst="rect">
            <a:avLst/>
          </a:prstGeom>
          <a:noFill/>
        </p:spPr>
        <p:txBody>
          <a:bodyPr wrap="square" lIns="27432" tIns="0" rIns="27432" bIns="0" anchor="ctr">
            <a:spAutoFit/>
          </a:bodyPr>
          <a:lstStyle/>
          <a:p>
            <a:pPr algn="l"/>
            <a:r>
              <a:rPr sz="800" b="1" i="0">
                <a:solidFill>
                  <a:srgbClr val="FFFFFF"/>
                </a:solidFill>
                <a:latin typeface="Calibri"/>
              </a:rPr>
              <a:t>1</a:t>
            </a:r>
          </a:p>
        </p:txBody>
      </p:sp>
      <p:sp>
        <p:nvSpPr>
          <p:cNvPr id="8" name="TextBox 6"/>
          <p:cNvSpPr txBox="1"/>
          <p:nvPr/>
        </p:nvSpPr>
        <p:spPr>
          <a:xfrm>
            <a:off x="320040" y="1133856"/>
            <a:ext cx="1161288" cy="274320"/>
          </a:xfrm>
          <a:prstGeom prst="rect">
            <a:avLst/>
          </a:prstGeom>
          <a:noFill/>
        </p:spPr>
        <p:txBody>
          <a:bodyPr wrap="square" lIns="27432" tIns="0" rIns="27432" bIns="0" anchor="ctr">
            <a:spAutoFit/>
          </a:bodyPr>
          <a:lstStyle/>
          <a:p>
            <a:pPr algn="ctr"/>
            <a:r>
              <a:rPr sz="850" b="1" i="0">
                <a:solidFill>
                  <a:srgbClr val="FFFFFF"/>
                </a:solidFill>
                <a:latin typeface="Calibri"/>
              </a:rPr>
              <a:t>Inputs</a:t>
            </a:r>
          </a:p>
        </p:txBody>
      </p:sp>
      <p:sp>
        <p:nvSpPr>
          <p:cNvPr id="9" name="TextBox 7"/>
          <p:cNvSpPr txBox="1"/>
          <p:nvPr/>
        </p:nvSpPr>
        <p:spPr>
          <a:xfrm>
            <a:off x="393192" y="1499616"/>
            <a:ext cx="1014984" cy="822960"/>
          </a:xfrm>
          <a:prstGeom prst="rect">
            <a:avLst/>
          </a:prstGeom>
          <a:noFill/>
        </p:spPr>
        <p:txBody>
          <a:bodyPr wrap="square" lIns="27432" tIns="0" rIns="27432" bIns="0" anchor="t">
            <a:spAutoFit/>
          </a:bodyPr>
          <a:lstStyle/>
          <a:p>
            <a:pPr algn="ctr">
              <a:lnSpc>
                <a:spcPct val="110000"/>
              </a:lnSpc>
            </a:pPr>
            <a:r>
              <a:rPr sz="750" b="0" i="0">
                <a:solidFill>
                  <a:srgbClr val="2E2D29"/>
                </a:solidFill>
                <a:latin typeface="Calibri"/>
              </a:rPr>
              <a:t>Imaging, segmentation,</a:t>
            </a:r>
          </a:p>
          <a:p>
            <a:pPr algn="ctr">
              <a:lnSpc>
                <a:spcPct val="110000"/>
              </a:lnSpc>
            </a:pPr>
            <a:r>
              <a:rPr sz="750" b="0" i="0">
                <a:solidFill>
                  <a:srgbClr val="2E2D29"/>
                </a:solidFill>
                <a:latin typeface="Calibri"/>
              </a:rPr>
              <a:t>clinical targets, inflow</a:t>
            </a:r>
          </a:p>
        </p:txBody>
      </p:sp>
      <p:sp>
        <p:nvSpPr>
          <p:cNvPr id="10" name="Rectangle 8"/>
          <p:cNvSpPr/>
          <p:nvPr/>
        </p:nvSpPr>
        <p:spPr>
          <a:xfrm>
            <a:off x="420623" y="2642616"/>
            <a:ext cx="960120" cy="164592"/>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9"/>
          <p:cNvSpPr txBox="1"/>
          <p:nvPr/>
        </p:nvSpPr>
        <p:spPr>
          <a:xfrm>
            <a:off x="420623" y="2642616"/>
            <a:ext cx="960120" cy="164592"/>
          </a:xfrm>
          <a:prstGeom prst="rect">
            <a:avLst/>
          </a:prstGeom>
          <a:noFill/>
        </p:spPr>
        <p:txBody>
          <a:bodyPr wrap="square" lIns="18288" tIns="0" rIns="18288" bIns="0" anchor="ctr">
            <a:spAutoFit/>
          </a:bodyPr>
          <a:lstStyle/>
          <a:p>
            <a:pPr algn="ctr"/>
            <a:r>
              <a:rPr sz="550" b="1">
                <a:solidFill>
                  <a:srgbClr val="FFFFFF"/>
                </a:solidFill>
                <a:latin typeface="Calibri"/>
              </a:rPr>
              <a:t>VALIDATED</a:t>
            </a:r>
          </a:p>
        </p:txBody>
      </p:sp>
      <p:sp>
        <p:nvSpPr>
          <p:cNvPr id="12" name="Right Arrow 10"/>
          <p:cNvSpPr/>
          <p:nvPr/>
        </p:nvSpPr>
        <p:spPr>
          <a:xfrm>
            <a:off x="1485900" y="1975104"/>
            <a:ext cx="59436" cy="128016"/>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1"/>
          <p:cNvSpPr/>
          <p:nvPr/>
        </p:nvSpPr>
        <p:spPr>
          <a:xfrm>
            <a:off x="1549907" y="1133856"/>
            <a:ext cx="1161288" cy="17830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2"/>
          <p:cNvSpPr/>
          <p:nvPr/>
        </p:nvSpPr>
        <p:spPr>
          <a:xfrm>
            <a:off x="1549907" y="1133856"/>
            <a:ext cx="1161288" cy="2743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3"/>
          <p:cNvSpPr txBox="1"/>
          <p:nvPr/>
        </p:nvSpPr>
        <p:spPr>
          <a:xfrm>
            <a:off x="1604772" y="1133856"/>
            <a:ext cx="1051560" cy="274320"/>
          </a:xfrm>
          <a:prstGeom prst="rect">
            <a:avLst/>
          </a:prstGeom>
          <a:noFill/>
        </p:spPr>
        <p:txBody>
          <a:bodyPr wrap="square" lIns="27432" tIns="0" rIns="27432" bIns="0" anchor="ctr">
            <a:spAutoFit/>
          </a:bodyPr>
          <a:lstStyle/>
          <a:p>
            <a:pPr algn="l"/>
            <a:r>
              <a:rPr sz="800" b="1" i="0">
                <a:solidFill>
                  <a:srgbClr val="FFFFFF"/>
                </a:solidFill>
                <a:latin typeface="Calibri"/>
              </a:rPr>
              <a:t>2</a:t>
            </a:r>
          </a:p>
        </p:txBody>
      </p:sp>
      <p:sp>
        <p:nvSpPr>
          <p:cNvPr id="16" name="TextBox 14"/>
          <p:cNvSpPr txBox="1"/>
          <p:nvPr/>
        </p:nvSpPr>
        <p:spPr>
          <a:xfrm>
            <a:off x="1549907" y="1133856"/>
            <a:ext cx="1161288" cy="274320"/>
          </a:xfrm>
          <a:prstGeom prst="rect">
            <a:avLst/>
          </a:prstGeom>
          <a:noFill/>
        </p:spPr>
        <p:txBody>
          <a:bodyPr wrap="square" lIns="27432" tIns="0" rIns="27432" bIns="0" anchor="ctr">
            <a:spAutoFit/>
          </a:bodyPr>
          <a:lstStyle/>
          <a:p>
            <a:pPr algn="ctr"/>
            <a:r>
              <a:rPr sz="850" b="1" i="0">
                <a:solidFill>
                  <a:srgbClr val="FFFFFF"/>
                </a:solidFill>
                <a:latin typeface="Calibri"/>
              </a:rPr>
              <a:t>BC Tuning</a:t>
            </a:r>
          </a:p>
        </p:txBody>
      </p:sp>
      <p:sp>
        <p:nvSpPr>
          <p:cNvPr id="17" name="TextBox 15"/>
          <p:cNvSpPr txBox="1"/>
          <p:nvPr/>
        </p:nvSpPr>
        <p:spPr>
          <a:xfrm>
            <a:off x="1623060" y="1499616"/>
            <a:ext cx="1014984" cy="822960"/>
          </a:xfrm>
          <a:prstGeom prst="rect">
            <a:avLst/>
          </a:prstGeom>
          <a:noFill/>
        </p:spPr>
        <p:txBody>
          <a:bodyPr wrap="square" lIns="27432" tIns="0" rIns="27432" bIns="0" anchor="t">
            <a:spAutoFit/>
          </a:bodyPr>
          <a:lstStyle/>
          <a:p>
            <a:pPr algn="ctr">
              <a:lnSpc>
                <a:spcPct val="110000"/>
              </a:lnSpc>
            </a:pPr>
            <a:r>
              <a:rPr sz="750" b="0" i="0">
                <a:solidFill>
                  <a:srgbClr val="2E2D29"/>
                </a:solidFill>
                <a:latin typeface="Calibri"/>
              </a:rPr>
              <a:t>Structured-tree BCs fit</a:t>
            </a:r>
          </a:p>
          <a:p>
            <a:pPr algn="ctr">
              <a:lnSpc>
                <a:spcPct val="110000"/>
              </a:lnSpc>
            </a:pPr>
            <a:r>
              <a:rPr sz="750" b="0" i="0">
                <a:solidFill>
                  <a:srgbClr val="2E2D29"/>
                </a:solidFill>
                <a:latin typeface="Calibri"/>
              </a:rPr>
              <a:t>to catheter + LPS targets</a:t>
            </a:r>
          </a:p>
        </p:txBody>
      </p:sp>
      <p:sp>
        <p:nvSpPr>
          <p:cNvPr id="18" name="Rectangle 16"/>
          <p:cNvSpPr/>
          <p:nvPr/>
        </p:nvSpPr>
        <p:spPr>
          <a:xfrm>
            <a:off x="1650491" y="2642616"/>
            <a:ext cx="960120" cy="164592"/>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7"/>
          <p:cNvSpPr txBox="1"/>
          <p:nvPr/>
        </p:nvSpPr>
        <p:spPr>
          <a:xfrm>
            <a:off x="1650491" y="2642616"/>
            <a:ext cx="960120" cy="164592"/>
          </a:xfrm>
          <a:prstGeom prst="rect">
            <a:avLst/>
          </a:prstGeom>
          <a:noFill/>
        </p:spPr>
        <p:txBody>
          <a:bodyPr wrap="square" lIns="18288" tIns="0" rIns="18288" bIns="0" anchor="ctr">
            <a:spAutoFit/>
          </a:bodyPr>
          <a:lstStyle/>
          <a:p>
            <a:pPr algn="ctr"/>
            <a:r>
              <a:rPr sz="550" b="1">
                <a:solidFill>
                  <a:srgbClr val="FFFFFF"/>
                </a:solidFill>
                <a:latin typeface="Calibri"/>
              </a:rPr>
              <a:t>IN DEVELOPMENT</a:t>
            </a:r>
          </a:p>
        </p:txBody>
      </p:sp>
      <p:sp>
        <p:nvSpPr>
          <p:cNvPr id="20" name="Right Arrow 18"/>
          <p:cNvSpPr/>
          <p:nvPr/>
        </p:nvSpPr>
        <p:spPr>
          <a:xfrm>
            <a:off x="2715768" y="1975104"/>
            <a:ext cx="59436" cy="128016"/>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19"/>
          <p:cNvSpPr/>
          <p:nvPr/>
        </p:nvSpPr>
        <p:spPr>
          <a:xfrm>
            <a:off x="2779776" y="1133856"/>
            <a:ext cx="1161288" cy="17830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0"/>
          <p:cNvSpPr/>
          <p:nvPr/>
        </p:nvSpPr>
        <p:spPr>
          <a:xfrm>
            <a:off x="2779776" y="1133856"/>
            <a:ext cx="1161288" cy="274320"/>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1"/>
          <p:cNvSpPr txBox="1"/>
          <p:nvPr/>
        </p:nvSpPr>
        <p:spPr>
          <a:xfrm>
            <a:off x="2834640" y="1133856"/>
            <a:ext cx="1051560" cy="274320"/>
          </a:xfrm>
          <a:prstGeom prst="rect">
            <a:avLst/>
          </a:prstGeom>
          <a:noFill/>
        </p:spPr>
        <p:txBody>
          <a:bodyPr wrap="square" lIns="27432" tIns="0" rIns="27432" bIns="0" anchor="ctr">
            <a:spAutoFit/>
          </a:bodyPr>
          <a:lstStyle/>
          <a:p>
            <a:pPr algn="l"/>
            <a:r>
              <a:rPr sz="800" b="1" i="0">
                <a:solidFill>
                  <a:srgbClr val="FFFFFF"/>
                </a:solidFill>
                <a:latin typeface="Calibri"/>
              </a:rPr>
              <a:t>3</a:t>
            </a:r>
          </a:p>
        </p:txBody>
      </p:sp>
      <p:sp>
        <p:nvSpPr>
          <p:cNvPr id="24" name="TextBox 22"/>
          <p:cNvSpPr txBox="1"/>
          <p:nvPr/>
        </p:nvSpPr>
        <p:spPr>
          <a:xfrm>
            <a:off x="2779776" y="1133856"/>
            <a:ext cx="1161288" cy="274320"/>
          </a:xfrm>
          <a:prstGeom prst="rect">
            <a:avLst/>
          </a:prstGeom>
          <a:noFill/>
        </p:spPr>
        <p:txBody>
          <a:bodyPr wrap="square" lIns="27432" tIns="0" rIns="27432" bIns="0" anchor="ctr">
            <a:spAutoFit/>
          </a:bodyPr>
          <a:lstStyle/>
          <a:p>
            <a:pPr algn="ctr"/>
            <a:r>
              <a:rPr sz="850" b="1" i="0">
                <a:solidFill>
                  <a:srgbClr val="FFFFFF"/>
                </a:solidFill>
                <a:latin typeface="Calibri"/>
              </a:rPr>
              <a:t>Pre-op Sim</a:t>
            </a:r>
          </a:p>
        </p:txBody>
      </p:sp>
      <p:sp>
        <p:nvSpPr>
          <p:cNvPr id="25" name="TextBox 23"/>
          <p:cNvSpPr txBox="1"/>
          <p:nvPr/>
        </p:nvSpPr>
        <p:spPr>
          <a:xfrm>
            <a:off x="2852928" y="1499616"/>
            <a:ext cx="1014984" cy="822960"/>
          </a:xfrm>
          <a:prstGeom prst="rect">
            <a:avLst/>
          </a:prstGeom>
          <a:noFill/>
        </p:spPr>
        <p:txBody>
          <a:bodyPr wrap="square" lIns="27432" tIns="0" rIns="27432" bIns="0" anchor="t">
            <a:spAutoFit/>
          </a:bodyPr>
          <a:lstStyle/>
          <a:p>
            <a:pPr algn="ctr">
              <a:lnSpc>
                <a:spcPct val="110000"/>
              </a:lnSpc>
            </a:pPr>
            <a:r>
              <a:rPr sz="750" b="0" i="0">
                <a:solidFill>
                  <a:srgbClr val="2E2D29"/>
                </a:solidFill>
                <a:latin typeface="Calibri"/>
              </a:rPr>
              <a:t>svMultiPhysics CMM</a:t>
            </a:r>
          </a:p>
          <a:p>
            <a:pPr algn="ctr">
              <a:lnSpc>
                <a:spcPct val="110000"/>
              </a:lnSpc>
            </a:pPr>
            <a:r>
              <a:rPr sz="750" b="0" i="0">
                <a:solidFill>
                  <a:srgbClr val="2E2D29"/>
                </a:solidFill>
                <a:latin typeface="Calibri"/>
              </a:rPr>
              <a:t>deformable-wall 3D CFD</a:t>
            </a:r>
          </a:p>
        </p:txBody>
      </p:sp>
      <p:sp>
        <p:nvSpPr>
          <p:cNvPr id="26" name="Rectangle 24"/>
          <p:cNvSpPr/>
          <p:nvPr/>
        </p:nvSpPr>
        <p:spPr>
          <a:xfrm>
            <a:off x="2880360" y="2642616"/>
            <a:ext cx="960120" cy="164592"/>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5"/>
          <p:cNvSpPr txBox="1"/>
          <p:nvPr/>
        </p:nvSpPr>
        <p:spPr>
          <a:xfrm>
            <a:off x="2880360" y="2642616"/>
            <a:ext cx="960120" cy="164592"/>
          </a:xfrm>
          <a:prstGeom prst="rect">
            <a:avLst/>
          </a:prstGeom>
          <a:noFill/>
        </p:spPr>
        <p:txBody>
          <a:bodyPr wrap="square" lIns="18288" tIns="0" rIns="18288" bIns="0" anchor="ctr">
            <a:spAutoFit/>
          </a:bodyPr>
          <a:lstStyle/>
          <a:p>
            <a:pPr algn="ctr"/>
            <a:r>
              <a:rPr sz="550" b="1">
                <a:solidFill>
                  <a:srgbClr val="FFFFFF"/>
                </a:solidFill>
                <a:latin typeface="Calibri"/>
              </a:rPr>
              <a:t>VALIDATED</a:t>
            </a:r>
          </a:p>
        </p:txBody>
      </p:sp>
      <p:sp>
        <p:nvSpPr>
          <p:cNvPr id="28" name="Right Arrow 26"/>
          <p:cNvSpPr/>
          <p:nvPr/>
        </p:nvSpPr>
        <p:spPr>
          <a:xfrm>
            <a:off x="3945636" y="1975104"/>
            <a:ext cx="59436" cy="128016"/>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7"/>
          <p:cNvSpPr/>
          <p:nvPr/>
        </p:nvSpPr>
        <p:spPr>
          <a:xfrm>
            <a:off x="4009644" y="1133856"/>
            <a:ext cx="1161288" cy="17830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8"/>
          <p:cNvSpPr/>
          <p:nvPr/>
        </p:nvSpPr>
        <p:spPr>
          <a:xfrm>
            <a:off x="4009644" y="1133856"/>
            <a:ext cx="1161288" cy="274320"/>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29"/>
          <p:cNvSpPr txBox="1"/>
          <p:nvPr/>
        </p:nvSpPr>
        <p:spPr>
          <a:xfrm>
            <a:off x="4064507" y="1133856"/>
            <a:ext cx="1051560" cy="274320"/>
          </a:xfrm>
          <a:prstGeom prst="rect">
            <a:avLst/>
          </a:prstGeom>
          <a:noFill/>
        </p:spPr>
        <p:txBody>
          <a:bodyPr wrap="square" lIns="27432" tIns="0" rIns="27432" bIns="0" anchor="ctr">
            <a:spAutoFit/>
          </a:bodyPr>
          <a:lstStyle/>
          <a:p>
            <a:pPr algn="l"/>
            <a:r>
              <a:rPr sz="800" b="1" i="0">
                <a:solidFill>
                  <a:srgbClr val="FFFFFF"/>
                </a:solidFill>
                <a:latin typeface="Calibri"/>
              </a:rPr>
              <a:t>4</a:t>
            </a:r>
          </a:p>
        </p:txBody>
      </p:sp>
      <p:sp>
        <p:nvSpPr>
          <p:cNvPr id="32" name="TextBox 30"/>
          <p:cNvSpPr txBox="1"/>
          <p:nvPr/>
        </p:nvSpPr>
        <p:spPr>
          <a:xfrm>
            <a:off x="4009644" y="1133856"/>
            <a:ext cx="1161288" cy="274320"/>
          </a:xfrm>
          <a:prstGeom prst="rect">
            <a:avLst/>
          </a:prstGeom>
          <a:noFill/>
        </p:spPr>
        <p:txBody>
          <a:bodyPr wrap="square" lIns="27432" tIns="0" rIns="27432" bIns="0" anchor="ctr">
            <a:spAutoFit/>
          </a:bodyPr>
          <a:lstStyle/>
          <a:p>
            <a:pPr algn="ctr"/>
            <a:r>
              <a:rPr sz="850" b="1" i="0">
                <a:solidFill>
                  <a:srgbClr val="FFFFFF"/>
                </a:solidFill>
                <a:latin typeface="Calibri"/>
              </a:rPr>
              <a:t>Post-op Sim</a:t>
            </a:r>
          </a:p>
        </p:txBody>
      </p:sp>
      <p:sp>
        <p:nvSpPr>
          <p:cNvPr id="33" name="TextBox 31"/>
          <p:cNvSpPr txBox="1"/>
          <p:nvPr/>
        </p:nvSpPr>
        <p:spPr>
          <a:xfrm>
            <a:off x="4082796" y="1499616"/>
            <a:ext cx="1014984" cy="822960"/>
          </a:xfrm>
          <a:prstGeom prst="rect">
            <a:avLst/>
          </a:prstGeom>
          <a:noFill/>
        </p:spPr>
        <p:txBody>
          <a:bodyPr wrap="square" lIns="27432" tIns="0" rIns="27432" bIns="0" anchor="t">
            <a:spAutoFit/>
          </a:bodyPr>
          <a:lstStyle/>
          <a:p>
            <a:pPr algn="ctr">
              <a:lnSpc>
                <a:spcPct val="110000"/>
              </a:lnSpc>
            </a:pPr>
            <a:r>
              <a:rPr sz="750" b="0" i="0">
                <a:solidFill>
                  <a:srgbClr val="2E2D29"/>
                </a:solidFill>
                <a:latin typeface="Calibri"/>
              </a:rPr>
              <a:t>SDF virtual stenting,</a:t>
            </a:r>
          </a:p>
          <a:p>
            <a:pPr algn="ctr">
              <a:lnSpc>
                <a:spcPct val="110000"/>
              </a:lnSpc>
            </a:pPr>
            <a:r>
              <a:rPr sz="750" b="0" i="0">
                <a:solidFill>
                  <a:srgbClr val="2E2D29"/>
                </a:solidFill>
                <a:latin typeface="Calibri"/>
              </a:rPr>
              <a:t>pre-op BCs retained</a:t>
            </a:r>
          </a:p>
        </p:txBody>
      </p:sp>
      <p:sp>
        <p:nvSpPr>
          <p:cNvPr id="34" name="Rectangle 32"/>
          <p:cNvSpPr/>
          <p:nvPr/>
        </p:nvSpPr>
        <p:spPr>
          <a:xfrm>
            <a:off x="4110228" y="2642616"/>
            <a:ext cx="960120" cy="164592"/>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3"/>
          <p:cNvSpPr txBox="1"/>
          <p:nvPr/>
        </p:nvSpPr>
        <p:spPr>
          <a:xfrm>
            <a:off x="4110228" y="2642616"/>
            <a:ext cx="960120" cy="164592"/>
          </a:xfrm>
          <a:prstGeom prst="rect">
            <a:avLst/>
          </a:prstGeom>
          <a:noFill/>
        </p:spPr>
        <p:txBody>
          <a:bodyPr wrap="square" lIns="18288" tIns="0" rIns="18288" bIns="0" anchor="ctr">
            <a:spAutoFit/>
          </a:bodyPr>
          <a:lstStyle/>
          <a:p>
            <a:pPr algn="ctr"/>
            <a:r>
              <a:rPr sz="550" b="1">
                <a:solidFill>
                  <a:srgbClr val="FFFFFF"/>
                </a:solidFill>
                <a:latin typeface="Calibri"/>
              </a:rPr>
              <a:t>VALIDATED</a:t>
            </a:r>
          </a:p>
        </p:txBody>
      </p:sp>
      <p:sp>
        <p:nvSpPr>
          <p:cNvPr id="36" name="Right Arrow 34"/>
          <p:cNvSpPr/>
          <p:nvPr/>
        </p:nvSpPr>
        <p:spPr>
          <a:xfrm>
            <a:off x="5175503" y="1975104"/>
            <a:ext cx="59436" cy="128016"/>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5"/>
          <p:cNvSpPr/>
          <p:nvPr/>
        </p:nvSpPr>
        <p:spPr>
          <a:xfrm>
            <a:off x="5239512" y="1133856"/>
            <a:ext cx="1161288" cy="17830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6"/>
          <p:cNvSpPr/>
          <p:nvPr/>
        </p:nvSpPr>
        <p:spPr>
          <a:xfrm>
            <a:off x="5239512" y="1133856"/>
            <a:ext cx="1161288" cy="2743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7"/>
          <p:cNvSpPr txBox="1"/>
          <p:nvPr/>
        </p:nvSpPr>
        <p:spPr>
          <a:xfrm>
            <a:off x="5294375" y="1133856"/>
            <a:ext cx="1051560" cy="274320"/>
          </a:xfrm>
          <a:prstGeom prst="rect">
            <a:avLst/>
          </a:prstGeom>
          <a:noFill/>
        </p:spPr>
        <p:txBody>
          <a:bodyPr wrap="square" lIns="27432" tIns="0" rIns="27432" bIns="0" anchor="ctr">
            <a:spAutoFit/>
          </a:bodyPr>
          <a:lstStyle/>
          <a:p>
            <a:pPr algn="l"/>
            <a:r>
              <a:rPr sz="800" b="1" i="0">
                <a:solidFill>
                  <a:srgbClr val="FFFFFF"/>
                </a:solidFill>
                <a:latin typeface="Calibri"/>
              </a:rPr>
              <a:t>5</a:t>
            </a:r>
          </a:p>
        </p:txBody>
      </p:sp>
      <p:sp>
        <p:nvSpPr>
          <p:cNvPr id="40" name="TextBox 38"/>
          <p:cNvSpPr txBox="1"/>
          <p:nvPr/>
        </p:nvSpPr>
        <p:spPr>
          <a:xfrm>
            <a:off x="5239512" y="1133856"/>
            <a:ext cx="1161288" cy="274320"/>
          </a:xfrm>
          <a:prstGeom prst="rect">
            <a:avLst/>
          </a:prstGeom>
          <a:noFill/>
        </p:spPr>
        <p:txBody>
          <a:bodyPr wrap="square" lIns="27432" tIns="0" rIns="27432" bIns="0" anchor="ctr">
            <a:spAutoFit/>
          </a:bodyPr>
          <a:lstStyle/>
          <a:p>
            <a:pPr algn="ctr"/>
            <a:r>
              <a:rPr sz="850" b="1" i="0">
                <a:solidFill>
                  <a:srgbClr val="FFFFFF"/>
                </a:solidFill>
                <a:latin typeface="Calibri"/>
              </a:rPr>
              <a:t>Adaptation</a:t>
            </a:r>
          </a:p>
        </p:txBody>
      </p:sp>
      <p:sp>
        <p:nvSpPr>
          <p:cNvPr id="41" name="TextBox 39"/>
          <p:cNvSpPr txBox="1"/>
          <p:nvPr/>
        </p:nvSpPr>
        <p:spPr>
          <a:xfrm>
            <a:off x="5312664" y="1499616"/>
            <a:ext cx="1014984" cy="822960"/>
          </a:xfrm>
          <a:prstGeom prst="rect">
            <a:avLst/>
          </a:prstGeom>
          <a:noFill/>
        </p:spPr>
        <p:txBody>
          <a:bodyPr wrap="square" lIns="27432" tIns="0" rIns="27432" bIns="0" anchor="t">
            <a:spAutoFit/>
          </a:bodyPr>
          <a:lstStyle/>
          <a:p>
            <a:pPr algn="ctr">
              <a:lnSpc>
                <a:spcPct val="110000"/>
              </a:lnSpc>
            </a:pPr>
            <a:r>
              <a:rPr sz="750" b="0" i="0">
                <a:solidFill>
                  <a:srgbClr val="2E2D29"/>
                </a:solidFill>
                <a:latin typeface="Calibri"/>
              </a:rPr>
              <a:t>CWSS-IMS integration</a:t>
            </a:r>
          </a:p>
          <a:p>
            <a:pPr algn="ctr">
              <a:lnSpc>
                <a:spcPct val="110000"/>
              </a:lnSpc>
            </a:pPr>
            <a:r>
              <a:rPr sz="750" b="0" i="0">
                <a:solidFill>
                  <a:srgbClr val="2E2D29"/>
                </a:solidFill>
                <a:latin typeface="Calibri"/>
              </a:rPr>
              <a:t>of the microvascular trees</a:t>
            </a:r>
          </a:p>
        </p:txBody>
      </p:sp>
      <p:sp>
        <p:nvSpPr>
          <p:cNvPr id="42" name="Rectangle 40"/>
          <p:cNvSpPr/>
          <p:nvPr/>
        </p:nvSpPr>
        <p:spPr>
          <a:xfrm>
            <a:off x="5340096" y="2642616"/>
            <a:ext cx="960120" cy="164592"/>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1"/>
          <p:cNvSpPr txBox="1"/>
          <p:nvPr/>
        </p:nvSpPr>
        <p:spPr>
          <a:xfrm>
            <a:off x="5340096" y="2642616"/>
            <a:ext cx="960120" cy="164592"/>
          </a:xfrm>
          <a:prstGeom prst="rect">
            <a:avLst/>
          </a:prstGeom>
          <a:noFill/>
        </p:spPr>
        <p:txBody>
          <a:bodyPr wrap="square" lIns="18288" tIns="0" rIns="18288" bIns="0" anchor="ctr">
            <a:spAutoFit/>
          </a:bodyPr>
          <a:lstStyle/>
          <a:p>
            <a:pPr algn="ctr"/>
            <a:r>
              <a:rPr sz="550" b="1">
                <a:solidFill>
                  <a:srgbClr val="FFFFFF"/>
                </a:solidFill>
                <a:latin typeface="Calibri"/>
              </a:rPr>
              <a:t>IN DEVELOPMENT</a:t>
            </a:r>
          </a:p>
        </p:txBody>
      </p:sp>
      <p:sp>
        <p:nvSpPr>
          <p:cNvPr id="44" name="Right Arrow 42"/>
          <p:cNvSpPr/>
          <p:nvPr/>
        </p:nvSpPr>
        <p:spPr>
          <a:xfrm>
            <a:off x="6405372" y="1975104"/>
            <a:ext cx="59436" cy="128016"/>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3"/>
          <p:cNvSpPr/>
          <p:nvPr/>
        </p:nvSpPr>
        <p:spPr>
          <a:xfrm>
            <a:off x="6469379" y="1133856"/>
            <a:ext cx="1161288" cy="17830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4"/>
          <p:cNvSpPr/>
          <p:nvPr/>
        </p:nvSpPr>
        <p:spPr>
          <a:xfrm>
            <a:off x="6469379" y="1133856"/>
            <a:ext cx="1161288" cy="274320"/>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5"/>
          <p:cNvSpPr txBox="1"/>
          <p:nvPr/>
        </p:nvSpPr>
        <p:spPr>
          <a:xfrm>
            <a:off x="6524243" y="1133856"/>
            <a:ext cx="1051560" cy="274320"/>
          </a:xfrm>
          <a:prstGeom prst="rect">
            <a:avLst/>
          </a:prstGeom>
          <a:noFill/>
        </p:spPr>
        <p:txBody>
          <a:bodyPr wrap="square" lIns="27432" tIns="0" rIns="27432" bIns="0" anchor="ctr">
            <a:spAutoFit/>
          </a:bodyPr>
          <a:lstStyle/>
          <a:p>
            <a:pPr algn="l"/>
            <a:r>
              <a:rPr sz="800" b="1" i="0">
                <a:solidFill>
                  <a:srgbClr val="FFFFFF"/>
                </a:solidFill>
                <a:latin typeface="Calibri"/>
              </a:rPr>
              <a:t>6</a:t>
            </a:r>
          </a:p>
        </p:txBody>
      </p:sp>
      <p:sp>
        <p:nvSpPr>
          <p:cNvPr id="48" name="TextBox 46"/>
          <p:cNvSpPr txBox="1"/>
          <p:nvPr/>
        </p:nvSpPr>
        <p:spPr>
          <a:xfrm>
            <a:off x="6469379" y="1133856"/>
            <a:ext cx="1161288" cy="274320"/>
          </a:xfrm>
          <a:prstGeom prst="rect">
            <a:avLst/>
          </a:prstGeom>
          <a:noFill/>
        </p:spPr>
        <p:txBody>
          <a:bodyPr wrap="square" lIns="27432" tIns="0" rIns="27432" bIns="0" anchor="ctr">
            <a:spAutoFit/>
          </a:bodyPr>
          <a:lstStyle/>
          <a:p>
            <a:pPr algn="ctr"/>
            <a:r>
              <a:rPr sz="850" b="1" i="0">
                <a:solidFill>
                  <a:srgbClr val="FFFFFF"/>
                </a:solidFill>
                <a:latin typeface="Calibri"/>
              </a:rPr>
              <a:t>Adapted Sim</a:t>
            </a:r>
          </a:p>
        </p:txBody>
      </p:sp>
      <p:sp>
        <p:nvSpPr>
          <p:cNvPr id="49" name="TextBox 47"/>
          <p:cNvSpPr txBox="1"/>
          <p:nvPr/>
        </p:nvSpPr>
        <p:spPr>
          <a:xfrm>
            <a:off x="6542531" y="1499616"/>
            <a:ext cx="1014984" cy="822960"/>
          </a:xfrm>
          <a:prstGeom prst="rect">
            <a:avLst/>
          </a:prstGeom>
          <a:noFill/>
        </p:spPr>
        <p:txBody>
          <a:bodyPr wrap="square" lIns="27432" tIns="0" rIns="27432" bIns="0" anchor="t">
            <a:spAutoFit/>
          </a:bodyPr>
          <a:lstStyle/>
          <a:p>
            <a:pPr algn="ctr">
              <a:lnSpc>
                <a:spcPct val="110000"/>
              </a:lnSpc>
            </a:pPr>
            <a:r>
              <a:rPr sz="750" b="0" i="0">
                <a:solidFill>
                  <a:srgbClr val="2E2D29"/>
                </a:solidFill>
                <a:latin typeface="Calibri"/>
              </a:rPr>
              <a:t>3D re-run with the</a:t>
            </a:r>
          </a:p>
          <a:p>
            <a:pPr algn="ctr">
              <a:lnSpc>
                <a:spcPct val="110000"/>
              </a:lnSpc>
            </a:pPr>
            <a:r>
              <a:rPr sz="750" b="0" i="0">
                <a:solidFill>
                  <a:srgbClr val="2E2D29"/>
                </a:solidFill>
                <a:latin typeface="Calibri"/>
              </a:rPr>
              <a:t>adapted tree impedances</a:t>
            </a:r>
          </a:p>
        </p:txBody>
      </p:sp>
      <p:sp>
        <p:nvSpPr>
          <p:cNvPr id="50" name="Rectangle 48"/>
          <p:cNvSpPr/>
          <p:nvPr/>
        </p:nvSpPr>
        <p:spPr>
          <a:xfrm>
            <a:off x="6569964" y="2642616"/>
            <a:ext cx="960120" cy="164592"/>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49"/>
          <p:cNvSpPr txBox="1"/>
          <p:nvPr/>
        </p:nvSpPr>
        <p:spPr>
          <a:xfrm>
            <a:off x="6569964" y="2642616"/>
            <a:ext cx="960120" cy="164592"/>
          </a:xfrm>
          <a:prstGeom prst="rect">
            <a:avLst/>
          </a:prstGeom>
          <a:noFill/>
        </p:spPr>
        <p:txBody>
          <a:bodyPr wrap="square" lIns="18288" tIns="0" rIns="18288" bIns="0" anchor="ctr">
            <a:spAutoFit/>
          </a:bodyPr>
          <a:lstStyle/>
          <a:p>
            <a:pPr algn="ctr"/>
            <a:r>
              <a:rPr sz="550" b="1">
                <a:solidFill>
                  <a:srgbClr val="6B6965"/>
                </a:solidFill>
                <a:latin typeface="Calibri"/>
              </a:rPr>
              <a:t>PLANNED</a:t>
            </a:r>
          </a:p>
        </p:txBody>
      </p:sp>
      <p:sp>
        <p:nvSpPr>
          <p:cNvPr id="52" name="Right Arrow 50"/>
          <p:cNvSpPr/>
          <p:nvPr/>
        </p:nvSpPr>
        <p:spPr>
          <a:xfrm>
            <a:off x="7635240" y="1975104"/>
            <a:ext cx="59436" cy="128016"/>
          </a:xfrm>
          <a:prstGeom prst="rightArrow">
            <a:avLst/>
          </a:prstGeom>
          <a:solidFill>
            <a:srgbClr val="D9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1"/>
          <p:cNvSpPr/>
          <p:nvPr/>
        </p:nvSpPr>
        <p:spPr>
          <a:xfrm>
            <a:off x="7699248" y="1133856"/>
            <a:ext cx="1161288" cy="1783080"/>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ectangle 52"/>
          <p:cNvSpPr/>
          <p:nvPr/>
        </p:nvSpPr>
        <p:spPr>
          <a:xfrm>
            <a:off x="7699248" y="1133856"/>
            <a:ext cx="1161288" cy="274320"/>
          </a:xfrm>
          <a:prstGeom prst="rect">
            <a:avLst/>
          </a:prstGeom>
          <a:solidFill>
            <a:srgbClr val="6B6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3"/>
          <p:cNvSpPr txBox="1"/>
          <p:nvPr/>
        </p:nvSpPr>
        <p:spPr>
          <a:xfrm>
            <a:off x="7754112" y="1133856"/>
            <a:ext cx="1051560" cy="274320"/>
          </a:xfrm>
          <a:prstGeom prst="rect">
            <a:avLst/>
          </a:prstGeom>
          <a:noFill/>
        </p:spPr>
        <p:txBody>
          <a:bodyPr wrap="square" lIns="27432" tIns="0" rIns="27432" bIns="0" anchor="ctr">
            <a:spAutoFit/>
          </a:bodyPr>
          <a:lstStyle/>
          <a:p>
            <a:pPr algn="l"/>
            <a:r>
              <a:rPr sz="800" b="1" i="0">
                <a:solidFill>
                  <a:srgbClr val="FFFFFF"/>
                </a:solidFill>
                <a:latin typeface="Calibri"/>
              </a:rPr>
              <a:t>7</a:t>
            </a:r>
          </a:p>
        </p:txBody>
      </p:sp>
      <p:sp>
        <p:nvSpPr>
          <p:cNvPr id="56" name="TextBox 54"/>
          <p:cNvSpPr txBox="1"/>
          <p:nvPr/>
        </p:nvSpPr>
        <p:spPr>
          <a:xfrm>
            <a:off x="7699248" y="1133856"/>
            <a:ext cx="1161288" cy="274320"/>
          </a:xfrm>
          <a:prstGeom prst="rect">
            <a:avLst/>
          </a:prstGeom>
          <a:noFill/>
        </p:spPr>
        <p:txBody>
          <a:bodyPr wrap="square" lIns="27432" tIns="0" rIns="27432" bIns="0" anchor="ctr">
            <a:spAutoFit/>
          </a:bodyPr>
          <a:lstStyle/>
          <a:p>
            <a:pPr algn="ctr"/>
            <a:r>
              <a:rPr sz="850" b="1" i="0">
                <a:solidFill>
                  <a:srgbClr val="FFFFFF"/>
                </a:solidFill>
                <a:latin typeface="Calibri"/>
              </a:rPr>
              <a:t>Metrics</a:t>
            </a:r>
          </a:p>
        </p:txBody>
      </p:sp>
      <p:sp>
        <p:nvSpPr>
          <p:cNvPr id="57" name="TextBox 55"/>
          <p:cNvSpPr txBox="1"/>
          <p:nvPr/>
        </p:nvSpPr>
        <p:spPr>
          <a:xfrm>
            <a:off x="7772400" y="1499616"/>
            <a:ext cx="1014984" cy="822960"/>
          </a:xfrm>
          <a:prstGeom prst="rect">
            <a:avLst/>
          </a:prstGeom>
          <a:noFill/>
        </p:spPr>
        <p:txBody>
          <a:bodyPr wrap="square" lIns="27432" tIns="0" rIns="27432" bIns="0" anchor="t">
            <a:spAutoFit/>
          </a:bodyPr>
          <a:lstStyle/>
          <a:p>
            <a:pPr algn="ctr">
              <a:lnSpc>
                <a:spcPct val="110000"/>
              </a:lnSpc>
            </a:pPr>
            <a:r>
              <a:rPr sz="750" b="0" i="0">
                <a:solidFill>
                  <a:srgbClr val="2E2D29"/>
                </a:solidFill>
                <a:latin typeface="Calibri"/>
              </a:rPr>
              <a:t>Pressure, flow split, PVR,</a:t>
            </a:r>
          </a:p>
          <a:p>
            <a:pPr algn="ctr">
              <a:lnSpc>
                <a:spcPct val="110000"/>
              </a:lnSpc>
            </a:pPr>
            <a:r>
              <a:rPr sz="750" b="0" i="0">
                <a:solidFill>
                  <a:srgbClr val="2E2D29"/>
                </a:solidFill>
                <a:latin typeface="Calibri"/>
              </a:rPr>
              <a:t>WSS vs. measured post-op</a:t>
            </a:r>
          </a:p>
        </p:txBody>
      </p:sp>
      <p:sp>
        <p:nvSpPr>
          <p:cNvPr id="58" name="Rectangle 56"/>
          <p:cNvSpPr/>
          <p:nvPr/>
        </p:nvSpPr>
        <p:spPr>
          <a:xfrm>
            <a:off x="7799831" y="2642616"/>
            <a:ext cx="960120" cy="164592"/>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7"/>
          <p:cNvSpPr txBox="1"/>
          <p:nvPr/>
        </p:nvSpPr>
        <p:spPr>
          <a:xfrm>
            <a:off x="7799831" y="2642616"/>
            <a:ext cx="960120" cy="164592"/>
          </a:xfrm>
          <a:prstGeom prst="rect">
            <a:avLst/>
          </a:prstGeom>
          <a:noFill/>
        </p:spPr>
        <p:txBody>
          <a:bodyPr wrap="square" lIns="18288" tIns="0" rIns="18288" bIns="0" anchor="ctr">
            <a:spAutoFit/>
          </a:bodyPr>
          <a:lstStyle/>
          <a:p>
            <a:pPr algn="ctr"/>
            <a:r>
              <a:rPr sz="550" b="1">
                <a:solidFill>
                  <a:srgbClr val="6B6965"/>
                </a:solidFill>
                <a:latin typeface="Calibri"/>
              </a:rPr>
              <a:t>PLANNED</a:t>
            </a:r>
          </a:p>
        </p:txBody>
      </p:sp>
      <p:sp>
        <p:nvSpPr>
          <p:cNvPr id="60" name="TextBox 58"/>
          <p:cNvSpPr txBox="1"/>
          <p:nvPr/>
        </p:nvSpPr>
        <p:spPr>
          <a:xfrm>
            <a:off x="320040" y="3054096"/>
            <a:ext cx="8503920" cy="219456"/>
          </a:xfrm>
          <a:prstGeom prst="rect">
            <a:avLst/>
          </a:prstGeom>
          <a:noFill/>
        </p:spPr>
        <p:txBody>
          <a:bodyPr wrap="square" lIns="27432" tIns="0" rIns="27432" bIns="0" anchor="t">
            <a:spAutoFit/>
          </a:bodyPr>
          <a:lstStyle/>
          <a:p>
            <a:pPr algn="l"/>
            <a:r>
              <a:rPr sz="1200" b="1" i="0">
                <a:solidFill>
                  <a:srgbClr val="8C1515"/>
                </a:solidFill>
                <a:latin typeface="Georgia"/>
              </a:rPr>
              <a:t>Two feedback loops sit inside the pipeline</a:t>
            </a:r>
          </a:p>
        </p:txBody>
      </p:sp>
      <p:sp>
        <p:nvSpPr>
          <p:cNvPr id="61" name="Rectangle 59"/>
          <p:cNvSpPr/>
          <p:nvPr/>
        </p:nvSpPr>
        <p:spPr>
          <a:xfrm>
            <a:off x="320040" y="3346704"/>
            <a:ext cx="4160520" cy="106070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0"/>
          <p:cNvSpPr txBox="1"/>
          <p:nvPr/>
        </p:nvSpPr>
        <p:spPr>
          <a:xfrm>
            <a:off x="448056" y="3447288"/>
            <a:ext cx="3904487" cy="219456"/>
          </a:xfrm>
          <a:prstGeom prst="rect">
            <a:avLst/>
          </a:prstGeom>
          <a:noFill/>
        </p:spPr>
        <p:txBody>
          <a:bodyPr wrap="square" lIns="27432" tIns="0" rIns="27432" bIns="0" anchor="t">
            <a:spAutoFit/>
          </a:bodyPr>
          <a:lstStyle/>
          <a:p>
            <a:pPr algn="l"/>
            <a:r>
              <a:rPr sz="1100" b="1" i="0">
                <a:solidFill>
                  <a:srgbClr val="E98300"/>
                </a:solidFill>
                <a:latin typeface="Calibri"/>
              </a:rPr>
              <a:t>Inner loop  ·  Stage 2</a:t>
            </a:r>
          </a:p>
        </p:txBody>
      </p:sp>
      <p:sp>
        <p:nvSpPr>
          <p:cNvPr id="63" name="TextBox 61"/>
          <p:cNvSpPr txBox="1"/>
          <p:nvPr/>
        </p:nvSpPr>
        <p:spPr>
          <a:xfrm>
            <a:off x="448056" y="3721608"/>
            <a:ext cx="3904487" cy="649224"/>
          </a:xfrm>
          <a:prstGeom prst="rect">
            <a:avLst/>
          </a:prstGeom>
          <a:noFill/>
        </p:spPr>
        <p:txBody>
          <a:bodyPr wrap="square" lIns="27432" tIns="0" rIns="27432" bIns="0">
            <a:spAutoFit/>
          </a:bodyPr>
          <a:lstStyle/>
          <a:p>
            <a:pPr>
              <a:spcAft>
                <a:spcPts val="350"/>
              </a:spcAft>
            </a:pPr>
            <a:r>
              <a:rPr sz="900">
                <a:solidFill>
                  <a:srgbClr val="E98300"/>
                </a:solidFill>
                <a:latin typeface="Calibri"/>
              </a:rPr>
              <a:t>• </a:t>
            </a:r>
            <a:r>
              <a:rPr sz="900">
                <a:solidFill>
                  <a:srgbClr val="2E2D29"/>
                </a:solidFill>
                <a:latin typeface="Calibri"/>
              </a:rPr>
              <a:t>Tree parameters are tuned against clinical targets on the full branched 0D model (learnedZeroD seed, centerline-mapped outlet BCs)</a:t>
            </a:r>
          </a:p>
        </p:txBody>
      </p:sp>
      <p:sp>
        <p:nvSpPr>
          <p:cNvPr id="64" name="Rectangle 62"/>
          <p:cNvSpPr/>
          <p:nvPr/>
        </p:nvSpPr>
        <p:spPr>
          <a:xfrm>
            <a:off x="4663440" y="3346704"/>
            <a:ext cx="4160520" cy="1060704"/>
          </a:xfrm>
          <a:prstGeom prst="rect">
            <a:avLst/>
          </a:prstGeom>
          <a:solidFill>
            <a:srgbClr val="F2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3"/>
          <p:cNvSpPr txBox="1"/>
          <p:nvPr/>
        </p:nvSpPr>
        <p:spPr>
          <a:xfrm>
            <a:off x="4791455" y="3447288"/>
            <a:ext cx="3904487" cy="219456"/>
          </a:xfrm>
          <a:prstGeom prst="rect">
            <a:avLst/>
          </a:prstGeom>
          <a:noFill/>
        </p:spPr>
        <p:txBody>
          <a:bodyPr wrap="square" lIns="27432" tIns="0" rIns="27432" bIns="0" anchor="t">
            <a:spAutoFit/>
          </a:bodyPr>
          <a:lstStyle/>
          <a:p>
            <a:pPr algn="l"/>
            <a:r>
              <a:rPr sz="1100" b="1" i="0">
                <a:solidFill>
                  <a:srgbClr val="E98300"/>
                </a:solidFill>
                <a:latin typeface="Calibri"/>
              </a:rPr>
              <a:t>Outer loop  ·  Stages 2 ↔ 3</a:t>
            </a:r>
          </a:p>
        </p:txBody>
      </p:sp>
      <p:sp>
        <p:nvSpPr>
          <p:cNvPr id="66" name="TextBox 64"/>
          <p:cNvSpPr txBox="1"/>
          <p:nvPr/>
        </p:nvSpPr>
        <p:spPr>
          <a:xfrm>
            <a:off x="4791455" y="3721608"/>
            <a:ext cx="3904487" cy="649224"/>
          </a:xfrm>
          <a:prstGeom prst="rect">
            <a:avLst/>
          </a:prstGeom>
          <a:noFill/>
        </p:spPr>
        <p:txBody>
          <a:bodyPr wrap="square" lIns="27432" tIns="0" rIns="27432" bIns="0">
            <a:spAutoFit/>
          </a:bodyPr>
          <a:lstStyle/>
          <a:p>
            <a:pPr>
              <a:spcAft>
                <a:spcPts val="350"/>
              </a:spcAft>
            </a:pPr>
            <a:r>
              <a:rPr sz="900">
                <a:solidFill>
                  <a:srgbClr val="E98300"/>
                </a:solidFill>
                <a:latin typeface="Calibri"/>
              </a:rPr>
              <a:t>• </a:t>
            </a:r>
            <a:r>
              <a:rPr sz="900">
                <a:solidFill>
                  <a:srgbClr val="2E2D29"/>
                </a:solidFill>
                <a:latin typeface="Calibri"/>
              </a:rPr>
              <a:t>svZeroDCalibrator refits the full 0D model to the 3D CFD result; the calibrated model seeds the next tuning iteration</a:t>
            </a:r>
          </a:p>
        </p:txBody>
      </p:sp>
      <p:sp>
        <p:nvSpPr>
          <p:cNvPr id="67" name="TextBox 65"/>
          <p:cNvSpPr txBox="1"/>
          <p:nvPr/>
        </p:nvSpPr>
        <p:spPr>
          <a:xfrm>
            <a:off x="320040" y="4425696"/>
            <a:ext cx="914400" cy="201168"/>
          </a:xfrm>
          <a:prstGeom prst="rect">
            <a:avLst/>
          </a:prstGeom>
          <a:noFill/>
        </p:spPr>
        <p:txBody>
          <a:bodyPr wrap="square" lIns="27432" tIns="0" rIns="27432" bIns="0" anchor="t">
            <a:spAutoFit/>
          </a:bodyPr>
          <a:lstStyle/>
          <a:p>
            <a:pPr algn="l"/>
            <a:r>
              <a:rPr sz="900" b="1" i="0">
                <a:solidFill>
                  <a:srgbClr val="2E2D29"/>
                </a:solidFill>
                <a:latin typeface="Calibri"/>
              </a:rPr>
              <a:t>Status key</a:t>
            </a:r>
          </a:p>
        </p:txBody>
      </p:sp>
      <p:sp>
        <p:nvSpPr>
          <p:cNvPr id="68" name="Rectangle 66"/>
          <p:cNvSpPr/>
          <p:nvPr/>
        </p:nvSpPr>
        <p:spPr>
          <a:xfrm>
            <a:off x="320040" y="4663440"/>
            <a:ext cx="1078992" cy="164592"/>
          </a:xfrm>
          <a:prstGeom prst="rect">
            <a:avLst/>
          </a:prstGeom>
          <a:solidFill>
            <a:srgbClr val="2799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7"/>
          <p:cNvSpPr txBox="1"/>
          <p:nvPr/>
        </p:nvSpPr>
        <p:spPr>
          <a:xfrm>
            <a:off x="320040" y="4663440"/>
            <a:ext cx="1078992" cy="164592"/>
          </a:xfrm>
          <a:prstGeom prst="rect">
            <a:avLst/>
          </a:prstGeom>
          <a:noFill/>
        </p:spPr>
        <p:txBody>
          <a:bodyPr wrap="square" lIns="18288" tIns="0" rIns="18288" bIns="0" anchor="ctr">
            <a:spAutoFit/>
          </a:bodyPr>
          <a:lstStyle/>
          <a:p>
            <a:pPr algn="ctr"/>
            <a:r>
              <a:rPr sz="550" b="1">
                <a:solidFill>
                  <a:srgbClr val="FFFFFF"/>
                </a:solidFill>
                <a:latin typeface="Calibri"/>
              </a:rPr>
              <a:t>VALIDATED</a:t>
            </a:r>
          </a:p>
        </p:txBody>
      </p:sp>
      <p:sp>
        <p:nvSpPr>
          <p:cNvPr id="70" name="TextBox 68"/>
          <p:cNvSpPr txBox="1"/>
          <p:nvPr/>
        </p:nvSpPr>
        <p:spPr>
          <a:xfrm>
            <a:off x="1508760" y="4663440"/>
            <a:ext cx="6858000" cy="164592"/>
          </a:xfrm>
          <a:prstGeom prst="rect">
            <a:avLst/>
          </a:prstGeom>
          <a:noFill/>
        </p:spPr>
        <p:txBody>
          <a:bodyPr wrap="square" lIns="27432" tIns="0" rIns="27432" bIns="0" anchor="ctr">
            <a:spAutoFit/>
          </a:bodyPr>
          <a:lstStyle/>
          <a:p>
            <a:pPr algn="l"/>
            <a:r>
              <a:rPr sz="850" b="0" i="0">
                <a:solidFill>
                  <a:srgbClr val="6B6965"/>
                </a:solidFill>
                <a:latin typeface="Calibri"/>
              </a:rPr>
              <a:t>established, in use across the cohort</a:t>
            </a:r>
          </a:p>
        </p:txBody>
      </p:sp>
      <p:sp>
        <p:nvSpPr>
          <p:cNvPr id="71" name="Rectangle 69"/>
          <p:cNvSpPr/>
          <p:nvPr/>
        </p:nvSpPr>
        <p:spPr>
          <a:xfrm>
            <a:off x="320040" y="4864607"/>
            <a:ext cx="1078992" cy="164592"/>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Box 70"/>
          <p:cNvSpPr txBox="1"/>
          <p:nvPr/>
        </p:nvSpPr>
        <p:spPr>
          <a:xfrm>
            <a:off x="320040" y="4864607"/>
            <a:ext cx="1078992" cy="164592"/>
          </a:xfrm>
          <a:prstGeom prst="rect">
            <a:avLst/>
          </a:prstGeom>
          <a:noFill/>
        </p:spPr>
        <p:txBody>
          <a:bodyPr wrap="square" lIns="18288" tIns="0" rIns="18288" bIns="0" anchor="ctr">
            <a:spAutoFit/>
          </a:bodyPr>
          <a:lstStyle/>
          <a:p>
            <a:pPr algn="ctr"/>
            <a:r>
              <a:rPr sz="550" b="1">
                <a:solidFill>
                  <a:srgbClr val="FFFFFF"/>
                </a:solidFill>
                <a:latin typeface="Calibri"/>
              </a:rPr>
              <a:t>IN DEVELOPMENT</a:t>
            </a:r>
          </a:p>
        </p:txBody>
      </p:sp>
      <p:sp>
        <p:nvSpPr>
          <p:cNvPr id="73" name="TextBox 71"/>
          <p:cNvSpPr txBox="1"/>
          <p:nvPr/>
        </p:nvSpPr>
        <p:spPr>
          <a:xfrm>
            <a:off x="1508760" y="4864607"/>
            <a:ext cx="6858000" cy="164592"/>
          </a:xfrm>
          <a:prstGeom prst="rect">
            <a:avLst/>
          </a:prstGeom>
          <a:noFill/>
        </p:spPr>
        <p:txBody>
          <a:bodyPr wrap="square" lIns="27432" tIns="0" rIns="27432" bIns="0" anchor="ctr">
            <a:spAutoFit/>
          </a:bodyPr>
          <a:lstStyle/>
          <a:p>
            <a:pPr algn="l"/>
            <a:r>
              <a:rPr sz="850" b="0" i="0">
                <a:solidFill>
                  <a:srgbClr val="6B6965"/>
                </a:solidFill>
                <a:latin typeface="Calibri"/>
              </a:rPr>
              <a:t>actively being changed this cycle</a:t>
            </a:r>
          </a:p>
        </p:txBody>
      </p:sp>
      <p:sp>
        <p:nvSpPr>
          <p:cNvPr id="74" name="Rectangle 72"/>
          <p:cNvSpPr/>
          <p:nvPr/>
        </p:nvSpPr>
        <p:spPr>
          <a:xfrm>
            <a:off x="320040" y="5065776"/>
            <a:ext cx="1078992" cy="164592"/>
          </a:xfrm>
          <a:prstGeom prst="rect">
            <a:avLst/>
          </a:prstGeom>
          <a:solidFill>
            <a:srgbClr val="F2F1F0"/>
          </a:solidFill>
          <a:ln w="7620">
            <a:solidFill>
              <a:srgbClr val="D9D7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Box 73"/>
          <p:cNvSpPr txBox="1"/>
          <p:nvPr/>
        </p:nvSpPr>
        <p:spPr>
          <a:xfrm>
            <a:off x="320040" y="5065776"/>
            <a:ext cx="1078992" cy="164592"/>
          </a:xfrm>
          <a:prstGeom prst="rect">
            <a:avLst/>
          </a:prstGeom>
          <a:noFill/>
        </p:spPr>
        <p:txBody>
          <a:bodyPr wrap="square" lIns="18288" tIns="0" rIns="18288" bIns="0" anchor="ctr">
            <a:spAutoFit/>
          </a:bodyPr>
          <a:lstStyle/>
          <a:p>
            <a:pPr algn="ctr"/>
            <a:r>
              <a:rPr sz="550" b="1">
                <a:solidFill>
                  <a:srgbClr val="6B6965"/>
                </a:solidFill>
                <a:latin typeface="Calibri"/>
              </a:rPr>
              <a:t>PLANNED</a:t>
            </a:r>
          </a:p>
        </p:txBody>
      </p:sp>
      <p:sp>
        <p:nvSpPr>
          <p:cNvPr id="76" name="TextBox 74"/>
          <p:cNvSpPr txBox="1"/>
          <p:nvPr/>
        </p:nvSpPr>
        <p:spPr>
          <a:xfrm>
            <a:off x="1508760" y="5065776"/>
            <a:ext cx="6858000" cy="164592"/>
          </a:xfrm>
          <a:prstGeom prst="rect">
            <a:avLst/>
          </a:prstGeom>
          <a:noFill/>
        </p:spPr>
        <p:txBody>
          <a:bodyPr wrap="square" lIns="27432" tIns="0" rIns="27432" bIns="0" anchor="ctr">
            <a:spAutoFit/>
          </a:bodyPr>
          <a:lstStyle/>
          <a:p>
            <a:pPr algn="l"/>
            <a:r>
              <a:rPr sz="850" b="0" i="0">
                <a:solidFill>
                  <a:srgbClr val="6B6965"/>
                </a:solidFill>
                <a:latin typeface="Calibri"/>
              </a:rPr>
              <a:t>designed, not yet executed</a:t>
            </a:r>
          </a:p>
        </p:txBody>
      </p:sp>
      <p:sp>
        <p:nvSpPr>
          <p:cNvPr id="77" name="Footnote_archived"/>
          <p:cNvSpPr txBox="1"/>
          <p:nvPr/>
        </p:nvSpPr>
        <p:spPr>
          <a:xfrm>
            <a:off x="2011680" y="5376672"/>
            <a:ext cx="6812280" cy="201168"/>
          </a:xfrm>
          <a:prstGeom prst="rect">
            <a:avLst/>
          </a:prstGeom>
          <a:noFill/>
        </p:spPr>
        <p:txBody>
          <a:bodyPr wrap="none">
            <a:spAutoFit/>
          </a:bodyPr>
          <a:lstStyle/>
          <a:p>
            <a:r>
              <a:rPr sz="700" i="1">
                <a:solidFill>
                  <a:srgbClr val="6B6965"/>
                </a:solidFill>
                <a:latin typeface="Calibri"/>
              </a:rPr>
              <a:t>Archived 2026-10-22. Replaced by: The pipeline. Reason: Duplicate of the next slide; it showed Stage 4 as VALIDATED.</a:t>
            </a:r>
          </a:p>
        </p:txBody>
      </p:sp>
    </p:spTree>
  </p:cSld>
  <p:clrMapOvr>
    <a:masterClrMapping/>
  </p:clrMapOvr>
</p:sld>
</file>

<file path=ppt/theme/theme1.xml><?xml version="1.0" encoding="utf-8"?>
<a:theme xmlns:a="http://schemas.openxmlformats.org/drawingml/2006/main" name="Office Theme">
  <a:themeElements>
    <a:clrScheme name="Stanford University">
      <a:dk1>
        <a:srgbClr val="8C1515"/>
      </a:dk1>
      <a:lt1>
        <a:srgbClr val="FFFFFF"/>
      </a:lt1>
      <a:dk2>
        <a:srgbClr val="2E2C28"/>
      </a:dk2>
      <a:lt2>
        <a:srgbClr val="E7E6E6"/>
      </a:lt2>
      <a:accent1>
        <a:srgbClr val="4198B5"/>
      </a:accent1>
      <a:accent2>
        <a:srgbClr val="FEC51D"/>
      </a:accent2>
      <a:accent3>
        <a:srgbClr val="610059"/>
      </a:accent3>
      <a:accent4>
        <a:srgbClr val="279989"/>
      </a:accent4>
      <a:accent5>
        <a:srgbClr val="E98300"/>
      </a:accent5>
      <a:accent6>
        <a:srgbClr val="175E54"/>
      </a:accent6>
      <a:hlink>
        <a:srgbClr val="007C92"/>
      </a:hlink>
      <a:folHlink>
        <a:srgbClr val="969696"/>
      </a:folHlink>
    </a:clrScheme>
    <a:fontScheme name="Office Them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_16x10_Powerpoint" id="{62E98C51-2AA8-4F47-8167-E6080D49DC4E}" vid="{496DFCDF-3C0E-AA4A-9327-F003CCCFAA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5579</TotalTime>
  <Words>11622</Words>
  <Application>Microsoft Macintosh PowerPoint</Application>
  <PresentationFormat>On-screen Show (16:10)</PresentationFormat>
  <Paragraphs>1815</Paragraphs>
  <Slides>66</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Calibri</vt:lpstr>
      <vt:lpstr>Calibri Light</vt:lpstr>
      <vt:lpstr>Cambria</vt:lpstr>
      <vt:lpstr>Consolas</vt:lpstr>
      <vt:lpstr>Georgia</vt:lpstr>
      <vt:lpstr>Office Theme</vt:lpstr>
      <vt:lpstr>Simulating Microvascular Adaptation after Pulmonary Artery Stenting</vt:lpstr>
      <vt:lpstr>Branch pulmonary artery stenosis persists after Tetralogy of Fallot repair</vt:lpstr>
      <vt:lpstr>Treatment planning needs a prediction, not a description</vt:lpstr>
      <vt:lpstr>The boundary condition problem</vt:lpstr>
      <vt:lpstr>Structured-tree boundary conditions</vt:lpstr>
      <vt:lpstr>PowerPoint Presentation</vt:lpstr>
      <vt:lpstr>PowerPoint Presentation</vt:lpstr>
      <vt:lpstr>Cohort progress across the pipeline</vt:lpstr>
      <vt:lpstr>Inputs &amp; Dataset</vt:lpstr>
      <vt:lpstr>Five Tetralogy of Fallot stent patients</vt:lpstr>
      <vt:lpstr>Imaging and segmentation</vt:lpstr>
      <vt:lpstr>Clinical targets</vt:lpstr>
      <vt:lpstr>Inflow waveform assignment</vt:lpstr>
      <vt:lpstr>Mesh and temporal discretization</vt:lpstr>
      <vt:lpstr>Boundary Condition Tuning</vt:lpstr>
      <vt:lpstr>Structured-tree geometry and scaling</vt:lpstr>
      <vt:lpstr>From tree geometry to an impedance boundary condition</vt:lpstr>
      <vt:lpstr>Fixed and tuned parameters</vt:lpstr>
      <vt:lpstr>Distributing trees across the outlets</vt:lpstr>
      <vt:lpstr>The two-branch reduced-order model</vt:lpstr>
      <vt:lpstr>Inner loop: tuning the tree</vt:lpstr>
      <vt:lpstr>Adaptive loss reweighting</vt:lpstr>
      <vt:lpstr>Outer loop: reconciling the reduced-order model with 3D</vt:lpstr>
      <vt:lpstr>Complete tuning pipeline</vt:lpstr>
      <vt:lpstr>Tuned BCs reproduce the pre-operative targets</vt:lpstr>
      <vt:lpstr>Pre-operative MPA waveforms across the cohort</vt:lpstr>
      <vt:lpstr>Calibrating the branched 0D model against the 3D result</vt:lpstr>
      <vt:lpstr>Learned 0D model against the branched baseline</vt:lpstr>
      <vt:lpstr>Candidate 0D representations of the PA anatomy</vt:lpstr>
      <vt:lpstr>Where each 0D representation lands against 3D</vt:lpstr>
      <vt:lpstr>The updated tuning loop runs on the full 0D model</vt:lpstr>
      <vt:lpstr>learnedZeroD generates the initial full-PA seed</vt:lpstr>
      <vt:lpstr>Outlet BCs are mapped 0D → 3D through the centerline</vt:lpstr>
      <vt:lpstr>svZeroDCalibrator refits the full 0D model to 3D</vt:lpstr>
      <vt:lpstr>Why a physiological tuning study for TST-STAN-5</vt:lpstr>
      <vt:lpstr>What the measurements require from the distal bed</vt:lpstr>
      <vt:lpstr>Study design (v1): four phases, 56 tuning runs</vt:lpstr>
      <vt:lpstr>v1 result: literature stiffness misses the pulse pressure</vt:lpstr>
      <vt:lpstr>The missing element: proximal 0D compliance</vt:lpstr>
      <vt:lpstr>v2 follow-up: proximal compliance and guarded trees</vt:lpstr>
      <vt:lpstr>v2 so far: proximal compliance helps, diastolic still misses</vt:lpstr>
      <vt:lpstr>Current progress: first runs of the updated pipeline</vt:lpstr>
      <vt:lpstr>Pre-operative Simulation</vt:lpstr>
      <vt:lpstr>Deformable-wall formulation</vt:lpstr>
      <vt:lpstr>Why the pipeline moved to deformable walls</vt:lpstr>
      <vt:lpstr>Pre-operative 3D results</vt:lpstr>
      <vt:lpstr>Post-operative Simulation</vt:lpstr>
      <vt:lpstr>Virtual stenting with signed distance fields</vt:lpstr>
      <vt:lpstr>Acute post-operative response</vt:lpstr>
      <vt:lpstr>Pre- and post-operative resistance maps</vt:lpstr>
      <vt:lpstr>Microvascular Adaptation</vt:lpstr>
      <vt:lpstr>The mechanobiological premise</vt:lpstr>
      <vt:lpstr>CWSS-IMS: governing equations</vt:lpstr>
      <vt:lpstr>Why constant shear alone is not enough</vt:lpstr>
      <vt:lpstr>Driving the trees from the 3D result</vt:lpstr>
      <vt:lpstr>Numerical integration</vt:lpstr>
      <vt:lpstr>The gains are the lever on adapted flow split</vt:lpstr>
      <vt:lpstr>Patient-specific adaptation tests</vt:lpstr>
      <vt:lpstr>Identifying the gains: calibration and validation design</vt:lpstr>
      <vt:lpstr>Adapted Simulation</vt:lpstr>
      <vt:lpstr>Applying the adapted boundary conditions</vt:lpstr>
      <vt:lpstr>Metric Extraction</vt:lpstr>
      <vt:lpstr>Metrics</vt:lpstr>
      <vt:lpstr>What counts as success</vt:lpstr>
      <vt:lpstr>Roadmap: what is changing across the pipeline</vt:lpstr>
      <vt:lpstr>Software stack and deck maintenance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Templates &amp; Guidelines</dc:title>
  <dc:creator>Vivian Liberti</dc:creator>
  <cp:lastModifiedBy>Nicholas Cannon Dorn</cp:lastModifiedBy>
  <cp:revision>14</cp:revision>
  <dcterms:created xsi:type="dcterms:W3CDTF">2023-02-28T21:25:39Z</dcterms:created>
  <dcterms:modified xsi:type="dcterms:W3CDTF">2026-09-25T23:43:47Z</dcterms:modified>
</cp:coreProperties>
</file>