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68"/>
  </p:notesMasterIdLst>
  <p:sldIdLst>
    <p:sldId id="256" r:id="rId2"/>
    <p:sldId id="257" r:id="rId3"/>
    <p:sldId id="258" r:id="rId4"/>
    <p:sldId id="259" r:id="rId5"/>
    <p:sldId id="260" r:id="rId6"/>
    <p:sldId id="261" r:id="rId7"/>
    <p:sldId id="306"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308" r:id="rId28"/>
    <p:sldId id="309" r:id="rId29"/>
    <p:sldId id="310" r:id="rId30"/>
    <p:sldId id="311" r:id="rId31"/>
    <p:sldId id="281" r:id="rId32"/>
    <p:sldId id="317" r:id="rId33"/>
    <p:sldId id="316" r:id="rId34"/>
    <p:sldId id="315" r:id="rId35"/>
    <p:sldId id="318" r:id="rId36"/>
    <p:sldId id="319" r:id="rId37"/>
    <p:sldId id="320" r:id="rId38"/>
    <p:sldId id="321" r:id="rId39"/>
    <p:sldId id="322" r:id="rId40"/>
    <p:sldId id="323" r:id="rId41"/>
    <p:sldId id="314" r:id="rId43"/>
    <p:sldId id="324" r:id="rId42"/>
    <p:sldId id="282" r:id="rId44"/>
    <p:sldId id="283" r:id="rId45"/>
    <p:sldId id="284" r:id="rId46"/>
    <p:sldId id="285" r:id="rId47"/>
    <p:sldId id="286" r:id="rId48"/>
    <p:sldId id="287" r:id="rId49"/>
    <p:sldId id="288" r:id="rId50"/>
    <p:sldId id="289" r:id="rId51"/>
    <p:sldId id="290" r:id="rId52"/>
    <p:sldId id="291" r:id="rId53"/>
    <p:sldId id="292" r:id="rId54"/>
    <p:sldId id="293" r:id="rId55"/>
    <p:sldId id="294" r:id="rId56"/>
    <p:sldId id="295" r:id="rId57"/>
    <p:sldId id="296" r:id="rId58"/>
    <p:sldId id="297" r:id="rId59"/>
    <p:sldId id="298" r:id="rId60"/>
    <p:sldId id="299" r:id="rId61"/>
    <p:sldId id="300" r:id="rId62"/>
    <p:sldId id="301" r:id="rId63"/>
    <p:sldId id="302" r:id="rId64"/>
    <p:sldId id="303" r:id="rId65"/>
    <p:sldId id="304" r:id="rId66"/>
    <p:sldId id="305" r:id="rId67"/>
  </p:sldIdLst>
  <p:sldSz cx="9144000" cy="5715000" type="screen16x1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3565A"/>
    <a:srgbClr val="4298B5"/>
    <a:srgbClr val="FEC51D"/>
    <a:srgbClr val="007C92"/>
    <a:srgbClr val="204C5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976"/>
    <p:restoredTop sz="92588"/>
  </p:normalViewPr>
  <p:slideViewPr>
    <p:cSldViewPr snapToGrid="0">
      <p:cViewPr>
        <p:scale>
          <a:sx n="301" d="100"/>
          <a:sy n="301" d="100"/>
        </p:scale>
        <p:origin x="-512" y="-1776"/>
      </p:cViewPr>
      <p:guideLst/>
    </p:cSldViewPr>
  </p:slideViewPr>
  <p:notesTextViewPr>
    <p:cViewPr>
      <p:scale>
        <a:sx n="1" d="1"/>
        <a:sy n="1" d="1"/>
      </p:scale>
      <p:origin x="0" y="-656"/>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RPA split (%)</c:v>
                </c:pt>
              </c:strCache>
            </c:strRef>
          </c:tx>
          <c:invertIfNegative val="1"/>
          <c:dPt>
            <c:idx val="0"/>
            <c:invertIfNegative val="1"/>
            <c:bubble3D val="0"/>
            <c:spPr>
              <a:solidFill>
                <a:srgbClr val="D9D7D4"/>
              </a:solidFill>
              <a:ln>
                <a:noFill/>
              </a:ln>
            </c:spPr>
            <c:extLst>
              <c:ext xmlns:c16="http://schemas.microsoft.com/office/drawing/2014/chart" uri="{C3380CC4-5D6E-409C-BE32-E72D297353CC}">
                <c16:uniqueId val="{00000001-2145-BF4B-A3E5-509DEA2F2515}"/>
              </c:ext>
            </c:extLst>
          </c:dPt>
          <c:dPt>
            <c:idx val="1"/>
            <c:invertIfNegative val="1"/>
            <c:bubble3D val="0"/>
            <c:spPr>
              <a:solidFill>
                <a:srgbClr val="8C1515"/>
              </a:solidFill>
              <a:ln>
                <a:noFill/>
              </a:ln>
            </c:spPr>
            <c:extLst>
              <c:ext xmlns:c16="http://schemas.microsoft.com/office/drawing/2014/chart" uri="{C3380CC4-5D6E-409C-BE32-E72D297353CC}">
                <c16:uniqueId val="{00000003-2145-BF4B-A3E5-509DEA2F2515}"/>
              </c:ext>
            </c:extLst>
          </c:dPt>
          <c:dPt>
            <c:idx val="2"/>
            <c:invertIfNegative val="1"/>
            <c:bubble3D val="0"/>
            <c:spPr>
              <a:solidFill>
                <a:srgbClr val="2E2D29"/>
              </a:solidFill>
              <a:ln>
                <a:noFill/>
              </a:ln>
            </c:spPr>
            <c:extLst>
              <c:ext xmlns:c16="http://schemas.microsoft.com/office/drawing/2014/chart" uri="{C3380CC4-5D6E-409C-BE32-E72D297353CC}">
                <c16:uniqueId val="{00000005-2145-BF4B-A3E5-509DEA2F2515}"/>
              </c:ext>
            </c:extLst>
          </c:dPt>
          <c:dLbls>
            <c:numFmt formatCode="0.0&quot;%&quot;" sourceLinked="0"/>
            <c:spPr>
              <a:noFill/>
              <a:ln>
                <a:noFill/>
              </a:ln>
              <a:effectLst/>
            </c:spPr>
            <c:txPr>
              <a:bodyPr/>
              <a:lstStyle/>
              <a:p>
                <a:pPr>
                  <a:defRPr sz="800" b="1"/>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Branched baseline</c:v>
                </c:pt>
                <c:pt idx="1">
                  <c:v>learnedZeroD</c:v>
                </c:pt>
                <c:pt idx="2">
                  <c:v>3D reference</c:v>
                </c:pt>
              </c:strCache>
            </c:strRef>
          </c:cat>
          <c:val>
            <c:numRef>
              <c:f>Sheet1!$B$2:$B$4</c:f>
              <c:numCache>
                <c:formatCode>General</c:formatCode>
                <c:ptCount val="3"/>
                <c:pt idx="0">
                  <c:v>63.96</c:v>
                </c:pt>
                <c:pt idx="1">
                  <c:v>78.489999999999995</c:v>
                </c:pt>
                <c:pt idx="2">
                  <c:v>87.69</c:v>
                </c:pt>
              </c:numCache>
            </c:numRef>
          </c:val>
          <c:extLst>
            <c:ext xmlns:c16="http://schemas.microsoft.com/office/drawing/2014/chart" uri="{C3380CC4-5D6E-409C-BE32-E72D297353CC}">
              <c16:uniqueId val="{00000006-2145-BF4B-A3E5-509DEA2F2515}"/>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extTo"/>
        <c:spPr>
          <a:ln>
            <a:solidFill>
              <a:srgbClr val="D9D7D4"/>
            </a:solidFill>
          </a:ln>
        </c:spPr>
        <c:txPr>
          <a:bodyPr/>
          <a:lstStyle/>
          <a:p>
            <a:pPr>
              <a:defRPr sz="800"/>
            </a:pPr>
            <a:endParaRPr lang="en-US"/>
          </a:p>
        </c:txPr>
        <c:crossAx val="-2113994440"/>
        <c:crosses val="autoZero"/>
        <c:auto val="1"/>
        <c:lblAlgn val="ctr"/>
        <c:lblOffset val="100"/>
        <c:noMultiLvlLbl val="0"/>
      </c:catAx>
      <c:valAx>
        <c:axId val="-2113994440"/>
        <c:scaling>
          <c:orientation val="minMax"/>
          <c:max val="100"/>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800">
          <a:solidFill>
            <a:srgbClr val="2E2D29"/>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RMSE</c:v>
                </c:pt>
              </c:strCache>
            </c:strRef>
          </c:tx>
          <c:invertIfNegative val="1"/>
          <c:dPt>
            <c:idx val="0"/>
            <c:invertIfNegative val="1"/>
            <c:bubble3D val="0"/>
            <c:spPr>
              <a:solidFill>
                <a:srgbClr val="D9D7D4"/>
              </a:solidFill>
              <a:ln>
                <a:noFill/>
              </a:ln>
            </c:spPr>
            <c:extLst>
              <c:ext xmlns:c16="http://schemas.microsoft.com/office/drawing/2014/chart" uri="{C3380CC4-5D6E-409C-BE32-E72D297353CC}">
                <c16:uniqueId val="{00000001-F3AE-0E4B-9EEB-0EED6BEB781F}"/>
              </c:ext>
            </c:extLst>
          </c:dPt>
          <c:dPt>
            <c:idx val="1"/>
            <c:invertIfNegative val="1"/>
            <c:bubble3D val="0"/>
            <c:spPr>
              <a:solidFill>
                <a:srgbClr val="C9A3A3"/>
              </a:solidFill>
              <a:ln>
                <a:noFill/>
              </a:ln>
            </c:spPr>
            <c:extLst>
              <c:ext xmlns:c16="http://schemas.microsoft.com/office/drawing/2014/chart" uri="{C3380CC4-5D6E-409C-BE32-E72D297353CC}">
                <c16:uniqueId val="{00000003-F3AE-0E4B-9EEB-0EED6BEB781F}"/>
              </c:ext>
            </c:extLst>
          </c:dPt>
          <c:dPt>
            <c:idx val="2"/>
            <c:invertIfNegative val="1"/>
            <c:bubble3D val="0"/>
            <c:spPr>
              <a:solidFill>
                <a:srgbClr val="6B6965"/>
              </a:solidFill>
              <a:ln>
                <a:noFill/>
              </a:ln>
            </c:spPr>
            <c:extLst>
              <c:ext xmlns:c16="http://schemas.microsoft.com/office/drawing/2014/chart" uri="{C3380CC4-5D6E-409C-BE32-E72D297353CC}">
                <c16:uniqueId val="{00000005-F3AE-0E4B-9EEB-0EED6BEB781F}"/>
              </c:ext>
            </c:extLst>
          </c:dPt>
          <c:dPt>
            <c:idx val="3"/>
            <c:invertIfNegative val="1"/>
            <c:bubble3D val="0"/>
            <c:spPr>
              <a:solidFill>
                <a:srgbClr val="8C1515"/>
              </a:solidFill>
              <a:ln>
                <a:noFill/>
              </a:ln>
            </c:spPr>
            <c:extLst>
              <c:ext xmlns:c16="http://schemas.microsoft.com/office/drawing/2014/chart" uri="{C3380CC4-5D6E-409C-BE32-E72D297353CC}">
                <c16:uniqueId val="{00000007-F3AE-0E4B-9EEB-0EED6BEB781F}"/>
              </c:ext>
            </c:extLst>
          </c:dPt>
          <c:dPt>
            <c:idx val="4"/>
            <c:invertIfNegative val="1"/>
            <c:bubble3D val="0"/>
            <c:spPr>
              <a:solidFill>
                <a:srgbClr val="8C1515"/>
              </a:solidFill>
              <a:ln>
                <a:noFill/>
              </a:ln>
            </c:spPr>
            <c:extLst>
              <c:ext xmlns:c16="http://schemas.microsoft.com/office/drawing/2014/chart" uri="{C3380CC4-5D6E-409C-BE32-E72D297353CC}">
                <c16:uniqueId val="{00000009-F3AE-0E4B-9EEB-0EED6BEB781F}"/>
              </c:ext>
            </c:extLst>
          </c:dPt>
          <c:dLbls>
            <c:numFmt formatCode="0.00" sourceLinked="0"/>
            <c:spPr>
              <a:noFill/>
              <a:ln>
                <a:noFill/>
              </a:ln>
              <a:effectLst/>
            </c:spPr>
            <c:txPr>
              <a:bodyPr/>
              <a:lstStyle/>
              <a:p>
                <a:pPr>
                  <a:defRPr sz="800" b="1"/>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Branched baseline</c:v>
                </c:pt>
                <c:pt idx="1">
                  <c:v>learnedZeroD</c:v>
                </c:pt>
                <c:pt idx="2">
                  <c:v>Baseline + calibrator</c:v>
                </c:pt>
                <c:pt idx="3">
                  <c:v>Learned + calibrator</c:v>
                </c:pt>
                <c:pt idx="4">
                  <c:v>Learned + calibrated junctions</c:v>
                </c:pt>
              </c:strCache>
            </c:strRef>
          </c:cat>
          <c:val>
            <c:numRef>
              <c:f>Sheet1!$B$2:$B$6</c:f>
              <c:numCache>
                <c:formatCode>General</c:formatCode>
                <c:ptCount val="5"/>
                <c:pt idx="0">
                  <c:v>6.81</c:v>
                </c:pt>
                <c:pt idx="1">
                  <c:v>6.08</c:v>
                </c:pt>
                <c:pt idx="2">
                  <c:v>3.7</c:v>
                </c:pt>
                <c:pt idx="3">
                  <c:v>2.36</c:v>
                </c:pt>
                <c:pt idx="4">
                  <c:v>1.58</c:v>
                </c:pt>
              </c:numCache>
            </c:numRef>
          </c:val>
          <c:extLst>
            <c:ext xmlns:c16="http://schemas.microsoft.com/office/drawing/2014/chart" uri="{C3380CC4-5D6E-409C-BE32-E72D297353CC}">
              <c16:uniqueId val="{0000000A-F3AE-0E4B-9EEB-0EED6BEB781F}"/>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extTo"/>
        <c:spPr>
          <a:ln>
            <a:solidFill>
              <a:srgbClr val="D9D7D4"/>
            </a:solidFill>
          </a:ln>
        </c:spPr>
        <c:txPr>
          <a:bodyPr/>
          <a:lstStyle/>
          <a:p>
            <a:pPr>
              <a:defRPr sz="800"/>
            </a:pPr>
            <a:endParaRPr lang="en-US"/>
          </a:p>
        </c:txPr>
        <c:crossAx val="-2113994440"/>
        <c:crosses val="autoZero"/>
        <c:auto val="1"/>
        <c:lblAlgn val="ctr"/>
        <c:lblOffset val="100"/>
        <c:noMultiLvlLbl val="0"/>
      </c:catAx>
      <c:valAx>
        <c:axId val="-2113994440"/>
        <c:scaling>
          <c:orientation val="minMax"/>
          <c:max val="8.1999999999999993"/>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800">
          <a:solidFill>
            <a:srgbClr val="2E2D29"/>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scatterChart>
        <c:scatterStyle val="lineMarker"/>
        <c:varyColors val="0"/>
        <c:ser>
          <c:idx val="0"/>
          <c:order val="0"/>
          <c:tx>
            <c:strRef>
              <c:f>Sheet1!$B$1</c:f>
              <c:strCache>
                <c:ptCount val="1"/>
                <c:pt idx="0">
                  <c:v>Current fit  (k₁ 2×10⁷, k₂ −69.5, k₃ 0)</c:v>
                </c:pt>
              </c:strCache>
            </c:strRef>
          </c:tx>
          <c:spPr>
            <a:ln w="28575">
              <a:solidFill>
                <a:srgbClr val="8C1515"/>
              </a:solidFill>
            </a:ln>
          </c:spPr>
          <c:marker>
            <c:symbol val="none"/>
          </c:marker>
          <c:xVal>
            <c:numRef>
              <c:f>Sheet1!$A$2:$A$100</c:f>
              <c:numCache>
                <c:formatCode>General</c:formatCode>
                <c:ptCount val="99"/>
                <c:pt idx="0">
                  <c:v>5.0000000000000001E-3</c:v>
                </c:pt>
                <c:pt idx="1">
                  <c:v>7.4999999999999997E-3</c:v>
                </c:pt>
                <c:pt idx="2">
                  <c:v>0.01</c:v>
                </c:pt>
                <c:pt idx="3">
                  <c:v>1.2500000000000001E-2</c:v>
                </c:pt>
                <c:pt idx="4">
                  <c:v>1.4999999999999999E-2</c:v>
                </c:pt>
                <c:pt idx="5">
                  <c:v>1.7500000000000002E-2</c:v>
                </c:pt>
                <c:pt idx="6">
                  <c:v>0.02</c:v>
                </c:pt>
                <c:pt idx="7">
                  <c:v>2.2500000000000003E-2</c:v>
                </c:pt>
                <c:pt idx="8">
                  <c:v>2.5000000000000001E-2</c:v>
                </c:pt>
                <c:pt idx="9">
                  <c:v>2.75E-2</c:v>
                </c:pt>
                <c:pt idx="10">
                  <c:v>3.0000000000000002E-2</c:v>
                </c:pt>
                <c:pt idx="11">
                  <c:v>3.2500000000000001E-2</c:v>
                </c:pt>
                <c:pt idx="12">
                  <c:v>3.4999999999999996E-2</c:v>
                </c:pt>
                <c:pt idx="13">
                  <c:v>3.7499999999999999E-2</c:v>
                </c:pt>
                <c:pt idx="14">
                  <c:v>0.04</c:v>
                </c:pt>
                <c:pt idx="15">
                  <c:v>4.2499999999999996E-2</c:v>
                </c:pt>
                <c:pt idx="16">
                  <c:v>4.4999999999999998E-2</c:v>
                </c:pt>
                <c:pt idx="17">
                  <c:v>4.7500000000000001E-2</c:v>
                </c:pt>
                <c:pt idx="18">
                  <c:v>4.9999999999999996E-2</c:v>
                </c:pt>
                <c:pt idx="19">
                  <c:v>5.2499999999999998E-2</c:v>
                </c:pt>
                <c:pt idx="20">
                  <c:v>5.5E-2</c:v>
                </c:pt>
                <c:pt idx="21">
                  <c:v>5.7499999999999996E-2</c:v>
                </c:pt>
                <c:pt idx="22">
                  <c:v>0.06</c:v>
                </c:pt>
                <c:pt idx="23">
                  <c:v>6.25E-2</c:v>
                </c:pt>
                <c:pt idx="24">
                  <c:v>6.5000000000000002E-2</c:v>
                </c:pt>
                <c:pt idx="25">
                  <c:v>6.7500000000000004E-2</c:v>
                </c:pt>
                <c:pt idx="26">
                  <c:v>7.0000000000000007E-2</c:v>
                </c:pt>
                <c:pt idx="27">
                  <c:v>7.2500000000000009E-2</c:v>
                </c:pt>
                <c:pt idx="28">
                  <c:v>7.5000000000000011E-2</c:v>
                </c:pt>
                <c:pt idx="29">
                  <c:v>7.7499999999999999E-2</c:v>
                </c:pt>
                <c:pt idx="30">
                  <c:v>0.08</c:v>
                </c:pt>
                <c:pt idx="31">
                  <c:v>8.2500000000000004E-2</c:v>
                </c:pt>
                <c:pt idx="32">
                  <c:v>8.5000000000000006E-2</c:v>
                </c:pt>
                <c:pt idx="33">
                  <c:v>8.7500000000000008E-2</c:v>
                </c:pt>
                <c:pt idx="34">
                  <c:v>9.0000000000000011E-2</c:v>
                </c:pt>
                <c:pt idx="35">
                  <c:v>9.2500000000000013E-2</c:v>
                </c:pt>
                <c:pt idx="36">
                  <c:v>9.5000000000000001E-2</c:v>
                </c:pt>
                <c:pt idx="37">
                  <c:v>9.7500000000000003E-2</c:v>
                </c:pt>
                <c:pt idx="38">
                  <c:v>0.1</c:v>
                </c:pt>
                <c:pt idx="39">
                  <c:v>0.10250000000000001</c:v>
                </c:pt>
                <c:pt idx="40">
                  <c:v>0.10500000000000001</c:v>
                </c:pt>
                <c:pt idx="41">
                  <c:v>0.10750000000000001</c:v>
                </c:pt>
                <c:pt idx="42">
                  <c:v>0.11</c:v>
                </c:pt>
                <c:pt idx="43">
                  <c:v>0.1125</c:v>
                </c:pt>
                <c:pt idx="44">
                  <c:v>0.115</c:v>
                </c:pt>
                <c:pt idx="45">
                  <c:v>0.11750000000000001</c:v>
                </c:pt>
                <c:pt idx="46">
                  <c:v>0.12000000000000001</c:v>
                </c:pt>
                <c:pt idx="47">
                  <c:v>0.12250000000000001</c:v>
                </c:pt>
                <c:pt idx="48">
                  <c:v>0.125</c:v>
                </c:pt>
                <c:pt idx="49">
                  <c:v>0.1275</c:v>
                </c:pt>
                <c:pt idx="50">
                  <c:v>0.13</c:v>
                </c:pt>
                <c:pt idx="51">
                  <c:v>0.13250000000000001</c:v>
                </c:pt>
                <c:pt idx="52">
                  <c:v>0.13500000000000001</c:v>
                </c:pt>
                <c:pt idx="53">
                  <c:v>0.13750000000000001</c:v>
                </c:pt>
                <c:pt idx="54">
                  <c:v>0.14000000000000001</c:v>
                </c:pt>
                <c:pt idx="55">
                  <c:v>0.14250000000000002</c:v>
                </c:pt>
                <c:pt idx="56">
                  <c:v>0.14500000000000002</c:v>
                </c:pt>
                <c:pt idx="57">
                  <c:v>0.14750000000000002</c:v>
                </c:pt>
                <c:pt idx="58">
                  <c:v>0.15</c:v>
                </c:pt>
                <c:pt idx="59">
                  <c:v>0.1525</c:v>
                </c:pt>
                <c:pt idx="60">
                  <c:v>0.155</c:v>
                </c:pt>
                <c:pt idx="61">
                  <c:v>0.1575</c:v>
                </c:pt>
                <c:pt idx="62">
                  <c:v>0.16</c:v>
                </c:pt>
                <c:pt idx="63">
                  <c:v>0.16250000000000001</c:v>
                </c:pt>
                <c:pt idx="64">
                  <c:v>0.16500000000000001</c:v>
                </c:pt>
                <c:pt idx="65">
                  <c:v>0.16750000000000001</c:v>
                </c:pt>
                <c:pt idx="66">
                  <c:v>0.17</c:v>
                </c:pt>
                <c:pt idx="67">
                  <c:v>0.17250000000000001</c:v>
                </c:pt>
                <c:pt idx="68">
                  <c:v>0.17500000000000002</c:v>
                </c:pt>
                <c:pt idx="69">
                  <c:v>0.17750000000000002</c:v>
                </c:pt>
                <c:pt idx="70">
                  <c:v>0.18000000000000002</c:v>
                </c:pt>
                <c:pt idx="71">
                  <c:v>0.1825</c:v>
                </c:pt>
                <c:pt idx="72">
                  <c:v>0.185</c:v>
                </c:pt>
                <c:pt idx="73">
                  <c:v>0.1875</c:v>
                </c:pt>
                <c:pt idx="74">
                  <c:v>0.19</c:v>
                </c:pt>
                <c:pt idx="75">
                  <c:v>0.1925</c:v>
                </c:pt>
                <c:pt idx="76">
                  <c:v>0.19500000000000001</c:v>
                </c:pt>
                <c:pt idx="77">
                  <c:v>0.19750000000000001</c:v>
                </c:pt>
                <c:pt idx="78">
                  <c:v>0.2</c:v>
                </c:pt>
                <c:pt idx="79">
                  <c:v>0.20250000000000001</c:v>
                </c:pt>
                <c:pt idx="80">
                  <c:v>0.20500000000000002</c:v>
                </c:pt>
                <c:pt idx="81">
                  <c:v>0.20750000000000002</c:v>
                </c:pt>
                <c:pt idx="82">
                  <c:v>0.21000000000000002</c:v>
                </c:pt>
                <c:pt idx="83">
                  <c:v>0.21250000000000002</c:v>
                </c:pt>
                <c:pt idx="84">
                  <c:v>0.215</c:v>
                </c:pt>
                <c:pt idx="85">
                  <c:v>0.2175</c:v>
                </c:pt>
                <c:pt idx="86">
                  <c:v>0.22</c:v>
                </c:pt>
                <c:pt idx="87">
                  <c:v>0.2225</c:v>
                </c:pt>
                <c:pt idx="88">
                  <c:v>0.22500000000000001</c:v>
                </c:pt>
                <c:pt idx="89">
                  <c:v>0.22750000000000001</c:v>
                </c:pt>
                <c:pt idx="90">
                  <c:v>0.23</c:v>
                </c:pt>
                <c:pt idx="91">
                  <c:v>0.23250000000000001</c:v>
                </c:pt>
                <c:pt idx="92">
                  <c:v>0.23500000000000001</c:v>
                </c:pt>
                <c:pt idx="93">
                  <c:v>0.23750000000000002</c:v>
                </c:pt>
                <c:pt idx="94">
                  <c:v>0.24000000000000002</c:v>
                </c:pt>
                <c:pt idx="95">
                  <c:v>0.24250000000000002</c:v>
                </c:pt>
                <c:pt idx="96">
                  <c:v>0.245</c:v>
                </c:pt>
                <c:pt idx="97">
                  <c:v>0.2475</c:v>
                </c:pt>
                <c:pt idx="98">
                  <c:v>0.25</c:v>
                </c:pt>
              </c:numCache>
            </c:numRef>
          </c:xVal>
          <c:yVal>
            <c:numRef>
              <c:f>Sheet1!$B$2:$B$100</c:f>
              <c:numCache>
                <c:formatCode>General</c:formatCode>
                <c:ptCount val="99"/>
                <c:pt idx="0">
                  <c:v>14129040.278591268</c:v>
                </c:pt>
                <c:pt idx="1">
                  <c:v>11875557.231218828</c:v>
                </c:pt>
                <c:pt idx="2">
                  <c:v>9981488.959702719</c:v>
                </c:pt>
                <c:pt idx="3">
                  <c:v>8389511.3225303292</c:v>
                </c:pt>
                <c:pt idx="4">
                  <c:v>7051442.9775976883</c:v>
                </c:pt>
                <c:pt idx="5">
                  <c:v>5926787.1696864245</c:v>
                </c:pt>
                <c:pt idx="6">
                  <c:v>4981506.0926333629</c:v>
                </c:pt>
                <c:pt idx="7">
                  <c:v>4186990.7321568714</c:v>
                </c:pt>
                <c:pt idx="8">
                  <c:v>3519195.0115432297</c:v>
                </c:pt>
                <c:pt idx="9">
                  <c:v>2957908.0350366388</c:v>
                </c:pt>
                <c:pt idx="10">
                  <c:v>2486142.4033155879</c:v>
                </c:pt>
                <c:pt idx="11">
                  <c:v>2089620.088370071</c:v>
                </c:pt>
                <c:pt idx="12">
                  <c:v>1756340.3077379821</c:v>
                </c:pt>
                <c:pt idx="13">
                  <c:v>1476216.3197767094</c:v>
                </c:pt>
                <c:pt idx="14">
                  <c:v>1240770.1475471659</c:v>
                </c:pt>
                <c:pt idx="15">
                  <c:v>1042875.9921019445</c:v>
                </c:pt>
                <c:pt idx="16">
                  <c:v>876544.56955837703</c:v>
                </c:pt>
                <c:pt idx="17">
                  <c:v>736741.84489920991</c:v>
                </c:pt>
                <c:pt idx="18">
                  <c:v>619236.67646353785</c:v>
                </c:pt>
                <c:pt idx="19">
                  <c:v>520472.76007522905</c:v>
                </c:pt>
                <c:pt idx="20">
                  <c:v>437460.99718671548</c:v>
                </c:pt>
                <c:pt idx="21">
                  <c:v>367689.02955062396</c:v>
                </c:pt>
                <c:pt idx="22">
                  <c:v>309045.2024781903</c:v>
                </c:pt>
                <c:pt idx="23">
                  <c:v>259754.65542584498</c:v>
                </c:pt>
                <c:pt idx="24">
                  <c:v>218325.60568598722</c:v>
                </c:pt>
                <c:pt idx="25">
                  <c:v>183504.19945316794</c:v>
                </c:pt>
                <c:pt idx="26">
                  <c:v>154236.56382925736</c:v>
                </c:pt>
                <c:pt idx="27">
                  <c:v>129636.91126822274</c:v>
                </c:pt>
                <c:pt idx="28">
                  <c:v>108960.73113875451</c:v>
                </c:pt>
                <c:pt idx="29">
                  <c:v>91582.257045044142</c:v>
                </c:pt>
                <c:pt idx="30">
                  <c:v>76975.527952210788</c:v>
                </c:pt>
                <c:pt idx="31">
                  <c:v>64698.469929686304</c:v>
                </c:pt>
                <c:pt idx="32">
                  <c:v>54379.516745130706</c:v>
                </c:pt>
                <c:pt idx="33">
                  <c:v>45706.364379988183</c:v>
                </c:pt>
                <c:pt idx="34">
                  <c:v>38416.51912111399</c:v>
                </c:pt>
                <c:pt idx="35">
                  <c:v>32289.3531656411</c:v>
                </c:pt>
                <c:pt idx="36">
                  <c:v>27139.427301274576</c:v>
                </c:pt>
                <c:pt idx="37">
                  <c:v>22810.878572350095</c:v>
                </c:pt>
                <c:pt idx="38">
                  <c:v>19172.703073880399</c:v>
                </c:pt>
                <c:pt idx="39">
                  <c:v>16114.791106939445</c:v>
                </c:pt>
                <c:pt idx="40">
                  <c:v>13544.594699016334</c:v>
                </c:pt>
                <c:pt idx="41">
                  <c:v>11384.326631551578</c:v>
                </c:pt>
                <c:pt idx="42">
                  <c:v>9568.6062029797758</c:v>
                </c:pt>
                <c:pt idx="43">
                  <c:v>8042.4804760915795</c:v>
                </c:pt>
                <c:pt idx="44">
                  <c:v>6759.7611225939745</c:v>
                </c:pt>
                <c:pt idx="45">
                  <c:v>5681.626529324094</c:v>
                </c:pt>
                <c:pt idx="46">
                  <c:v>4775.446858739283</c:v>
                </c:pt>
                <c:pt idx="47">
                  <c:v>4013.7965040366407</c:v>
                </c:pt>
                <c:pt idx="48">
                  <c:v>3373.6240507699731</c:v>
                </c:pt>
                <c:pt idx="49">
                  <c:v>2835.554623780125</c:v>
                </c:pt>
                <c:pt idx="50">
                  <c:v>2383.3035049076584</c:v>
                </c:pt>
                <c:pt idx="51">
                  <c:v>2003.1832745767545</c:v>
                </c:pt>
                <c:pt idx="52">
                  <c:v>1683.6895608474019</c:v>
                </c:pt>
                <c:pt idx="53">
                  <c:v>1415.1528585947653</c:v>
                </c:pt>
                <c:pt idx="54">
                  <c:v>1189.445881092829</c:v>
                </c:pt>
                <c:pt idx="55">
                  <c:v>999.73758697245057</c:v>
                </c:pt>
                <c:pt idx="56">
                  <c:v>840.28643815825296</c:v>
                </c:pt>
                <c:pt idx="57">
                  <c:v>706.26663171776954</c:v>
                </c:pt>
                <c:pt idx="58">
                  <c:v>593.6220465145982</c:v>
                </c:pt>
                <c:pt idx="59">
                  <c:v>498.94348434826838</c:v>
                </c:pt>
                <c:pt idx="60">
                  <c:v>419.36549027322678</c:v>
                </c:pt>
                <c:pt idx="61">
                  <c:v>352.47962935486709</c:v>
                </c:pt>
                <c:pt idx="62">
                  <c:v>296.2615951760792</c:v>
                </c:pt>
                <c:pt idx="63">
                  <c:v>249.00994402689184</c:v>
                </c:pt>
                <c:pt idx="64">
                  <c:v>209.29460056212613</c:v>
                </c:pt>
                <c:pt idx="65">
                  <c:v>175.91357644628559</c:v>
                </c:pt>
                <c:pt idx="66">
                  <c:v>147.85659207169749</c:v>
                </c:pt>
                <c:pt idx="67">
                  <c:v>124.27450035803062</c:v>
                </c:pt>
                <c:pt idx="68">
                  <c:v>104.4535872418126</c:v>
                </c:pt>
                <c:pt idx="69">
                  <c:v>87.793971058020958</c:v>
                </c:pt>
                <c:pt idx="70">
                  <c:v>73.791447069145846</c:v>
                </c:pt>
                <c:pt idx="71">
                  <c:v>62.02222766481281</c:v>
                </c:pt>
                <c:pt idx="72">
                  <c:v>52.130116392774944</c:v>
                </c:pt>
                <c:pt idx="73">
                  <c:v>43.815727642204884</c:v>
                </c:pt>
                <c:pt idx="74">
                  <c:v>36.8274257120584</c:v>
                </c:pt>
                <c:pt idx="75">
                  <c:v>30.953709034624872</c:v>
                </c:pt>
                <c:pt idx="76">
                  <c:v>26.016809062125038</c:v>
                </c:pt>
                <c:pt idx="77">
                  <c:v>21.86731008610046</c:v>
                </c:pt>
                <c:pt idx="78">
                  <c:v>18.379627157959142</c:v>
                </c:pt>
                <c:pt idx="79">
                  <c:v>15.44820524954792</c:v>
                </c:pt>
                <c:pt idx="80">
                  <c:v>12.98432462101473</c:v>
                </c:pt>
                <c:pt idx="81">
                  <c:v>10.913415710140379</c:v>
                </c:pt>
                <c:pt idx="82">
                  <c:v>9.1728022780310692</c:v>
                </c:pt>
                <c:pt idx="83">
                  <c:v>7.7098045072792054</c:v>
                </c:pt>
                <c:pt idx="84">
                  <c:v>6.4801446426927463</c:v>
                </c:pt>
                <c:pt idx="85">
                  <c:v>5.4466069211706278</c:v>
                </c:pt>
                <c:pt idx="86">
                  <c:v>4.5779112333851524</c:v>
                </c:pt>
                <c:pt idx="87">
                  <c:v>3.8477664285436814</c:v>
                </c:pt>
                <c:pt idx="88">
                  <c:v>3.2340746104157119</c:v>
                </c:pt>
                <c:pt idx="89">
                  <c:v>2.7182623425752466</c:v>
                </c:pt>
                <c:pt idx="90">
                  <c:v>2.2847185217266475</c:v>
                </c:pt>
                <c:pt idx="91">
                  <c:v>1.9203219063011754</c:v>
                </c:pt>
                <c:pt idx="92">
                  <c:v>1.6140440009359676</c:v>
                </c:pt>
                <c:pt idx="93">
                  <c:v>1.3566152780995235</c:v>
                </c:pt>
                <c:pt idx="94">
                  <c:v>1.1402446350321442</c:v>
                </c:pt>
                <c:pt idx="95">
                  <c:v>0.9583835953410228</c:v>
                </c:pt>
                <c:pt idx="96">
                  <c:v>0.80552811879083797</c:v>
                </c:pt>
                <c:pt idx="97">
                  <c:v>0.6770520210457236</c:v>
                </c:pt>
                <c:pt idx="98">
                  <c:v>0.56906696179668004</c:v>
                </c:pt>
              </c:numCache>
            </c:numRef>
          </c:yVal>
          <c:smooth val="0"/>
          <c:extLst>
            <c:ext xmlns:c16="http://schemas.microsoft.com/office/drawing/2014/chart" uri="{C3380CC4-5D6E-409C-BE32-E72D297353CC}">
              <c16:uniqueId val="{00000000-B619-AC47-ADBD-696623CC9F31}"/>
            </c:ext>
          </c:extLst>
        </c:ser>
        <c:ser>
          <c:idx val="1"/>
          <c:order val="1"/>
          <c:tx>
            <c:strRef>
              <c:f>Sheet1!$B$102</c:f>
              <c:strCache>
                <c:ptCount val="1"/>
                <c:pt idx="0">
                  <c:v>Literature  (k₁ 2.6×10⁵, k₂ −14, k₃ 10⁵)</c:v>
                </c:pt>
              </c:strCache>
            </c:strRef>
          </c:tx>
          <c:spPr>
            <a:ln w="25400">
              <a:solidFill>
                <a:srgbClr val="2E2D29"/>
              </a:solidFill>
            </a:ln>
          </c:spPr>
          <c:marker>
            <c:symbol val="none"/>
          </c:marker>
          <c:xVal>
            <c:numRef>
              <c:f>Sheet1!$A$103:$A$201</c:f>
              <c:numCache>
                <c:formatCode>General</c:formatCode>
                <c:ptCount val="99"/>
                <c:pt idx="0">
                  <c:v>5.0000000000000001E-3</c:v>
                </c:pt>
                <c:pt idx="1">
                  <c:v>7.4999999999999997E-3</c:v>
                </c:pt>
                <c:pt idx="2">
                  <c:v>0.01</c:v>
                </c:pt>
                <c:pt idx="3">
                  <c:v>1.2500000000000001E-2</c:v>
                </c:pt>
                <c:pt idx="4">
                  <c:v>1.4999999999999999E-2</c:v>
                </c:pt>
                <c:pt idx="5">
                  <c:v>1.7500000000000002E-2</c:v>
                </c:pt>
                <c:pt idx="6">
                  <c:v>0.02</c:v>
                </c:pt>
                <c:pt idx="7">
                  <c:v>2.2500000000000003E-2</c:v>
                </c:pt>
                <c:pt idx="8">
                  <c:v>2.5000000000000001E-2</c:v>
                </c:pt>
                <c:pt idx="9">
                  <c:v>2.75E-2</c:v>
                </c:pt>
                <c:pt idx="10">
                  <c:v>3.0000000000000002E-2</c:v>
                </c:pt>
                <c:pt idx="11">
                  <c:v>3.2500000000000001E-2</c:v>
                </c:pt>
                <c:pt idx="12">
                  <c:v>3.4999999999999996E-2</c:v>
                </c:pt>
                <c:pt idx="13">
                  <c:v>3.7499999999999999E-2</c:v>
                </c:pt>
                <c:pt idx="14">
                  <c:v>0.04</c:v>
                </c:pt>
                <c:pt idx="15">
                  <c:v>4.2499999999999996E-2</c:v>
                </c:pt>
                <c:pt idx="16">
                  <c:v>4.4999999999999998E-2</c:v>
                </c:pt>
                <c:pt idx="17">
                  <c:v>4.7500000000000001E-2</c:v>
                </c:pt>
                <c:pt idx="18">
                  <c:v>4.9999999999999996E-2</c:v>
                </c:pt>
                <c:pt idx="19">
                  <c:v>5.2499999999999998E-2</c:v>
                </c:pt>
                <c:pt idx="20">
                  <c:v>5.5E-2</c:v>
                </c:pt>
                <c:pt idx="21">
                  <c:v>5.7499999999999996E-2</c:v>
                </c:pt>
                <c:pt idx="22">
                  <c:v>0.06</c:v>
                </c:pt>
                <c:pt idx="23">
                  <c:v>6.25E-2</c:v>
                </c:pt>
                <c:pt idx="24">
                  <c:v>6.5000000000000002E-2</c:v>
                </c:pt>
                <c:pt idx="25">
                  <c:v>6.7500000000000004E-2</c:v>
                </c:pt>
                <c:pt idx="26">
                  <c:v>7.0000000000000007E-2</c:v>
                </c:pt>
                <c:pt idx="27">
                  <c:v>7.2500000000000009E-2</c:v>
                </c:pt>
                <c:pt idx="28">
                  <c:v>7.5000000000000011E-2</c:v>
                </c:pt>
                <c:pt idx="29">
                  <c:v>7.7499999999999999E-2</c:v>
                </c:pt>
                <c:pt idx="30">
                  <c:v>0.08</c:v>
                </c:pt>
                <c:pt idx="31">
                  <c:v>8.2500000000000004E-2</c:v>
                </c:pt>
                <c:pt idx="32">
                  <c:v>8.5000000000000006E-2</c:v>
                </c:pt>
                <c:pt idx="33">
                  <c:v>8.7500000000000008E-2</c:v>
                </c:pt>
                <c:pt idx="34">
                  <c:v>9.0000000000000011E-2</c:v>
                </c:pt>
                <c:pt idx="35">
                  <c:v>9.2500000000000013E-2</c:v>
                </c:pt>
                <c:pt idx="36">
                  <c:v>9.5000000000000001E-2</c:v>
                </c:pt>
                <c:pt idx="37">
                  <c:v>9.7500000000000003E-2</c:v>
                </c:pt>
                <c:pt idx="38">
                  <c:v>0.1</c:v>
                </c:pt>
                <c:pt idx="39">
                  <c:v>0.10250000000000001</c:v>
                </c:pt>
                <c:pt idx="40">
                  <c:v>0.10500000000000001</c:v>
                </c:pt>
                <c:pt idx="41">
                  <c:v>0.10750000000000001</c:v>
                </c:pt>
                <c:pt idx="42">
                  <c:v>0.11</c:v>
                </c:pt>
                <c:pt idx="43">
                  <c:v>0.1125</c:v>
                </c:pt>
                <c:pt idx="44">
                  <c:v>0.115</c:v>
                </c:pt>
                <c:pt idx="45">
                  <c:v>0.11750000000000001</c:v>
                </c:pt>
                <c:pt idx="46">
                  <c:v>0.12000000000000001</c:v>
                </c:pt>
                <c:pt idx="47">
                  <c:v>0.12250000000000001</c:v>
                </c:pt>
                <c:pt idx="48">
                  <c:v>0.125</c:v>
                </c:pt>
                <c:pt idx="49">
                  <c:v>0.1275</c:v>
                </c:pt>
                <c:pt idx="50">
                  <c:v>0.13</c:v>
                </c:pt>
                <c:pt idx="51">
                  <c:v>0.13250000000000001</c:v>
                </c:pt>
                <c:pt idx="52">
                  <c:v>0.13500000000000001</c:v>
                </c:pt>
                <c:pt idx="53">
                  <c:v>0.13750000000000001</c:v>
                </c:pt>
                <c:pt idx="54">
                  <c:v>0.14000000000000001</c:v>
                </c:pt>
                <c:pt idx="55">
                  <c:v>0.14250000000000002</c:v>
                </c:pt>
                <c:pt idx="56">
                  <c:v>0.14500000000000002</c:v>
                </c:pt>
                <c:pt idx="57">
                  <c:v>0.14750000000000002</c:v>
                </c:pt>
                <c:pt idx="58">
                  <c:v>0.15</c:v>
                </c:pt>
                <c:pt idx="59">
                  <c:v>0.1525</c:v>
                </c:pt>
                <c:pt idx="60">
                  <c:v>0.155</c:v>
                </c:pt>
                <c:pt idx="61">
                  <c:v>0.1575</c:v>
                </c:pt>
                <c:pt idx="62">
                  <c:v>0.16</c:v>
                </c:pt>
                <c:pt idx="63">
                  <c:v>0.16250000000000001</c:v>
                </c:pt>
                <c:pt idx="64">
                  <c:v>0.16500000000000001</c:v>
                </c:pt>
                <c:pt idx="65">
                  <c:v>0.16750000000000001</c:v>
                </c:pt>
                <c:pt idx="66">
                  <c:v>0.17</c:v>
                </c:pt>
                <c:pt idx="67">
                  <c:v>0.17250000000000001</c:v>
                </c:pt>
                <c:pt idx="68">
                  <c:v>0.17500000000000002</c:v>
                </c:pt>
                <c:pt idx="69">
                  <c:v>0.17750000000000002</c:v>
                </c:pt>
                <c:pt idx="70">
                  <c:v>0.18000000000000002</c:v>
                </c:pt>
                <c:pt idx="71">
                  <c:v>0.1825</c:v>
                </c:pt>
                <c:pt idx="72">
                  <c:v>0.185</c:v>
                </c:pt>
                <c:pt idx="73">
                  <c:v>0.1875</c:v>
                </c:pt>
                <c:pt idx="74">
                  <c:v>0.19</c:v>
                </c:pt>
                <c:pt idx="75">
                  <c:v>0.1925</c:v>
                </c:pt>
                <c:pt idx="76">
                  <c:v>0.19500000000000001</c:v>
                </c:pt>
                <c:pt idx="77">
                  <c:v>0.19750000000000001</c:v>
                </c:pt>
                <c:pt idx="78">
                  <c:v>0.2</c:v>
                </c:pt>
                <c:pt idx="79">
                  <c:v>0.20250000000000001</c:v>
                </c:pt>
                <c:pt idx="80">
                  <c:v>0.20500000000000002</c:v>
                </c:pt>
                <c:pt idx="81">
                  <c:v>0.20750000000000002</c:v>
                </c:pt>
                <c:pt idx="82">
                  <c:v>0.21000000000000002</c:v>
                </c:pt>
                <c:pt idx="83">
                  <c:v>0.21250000000000002</c:v>
                </c:pt>
                <c:pt idx="84">
                  <c:v>0.215</c:v>
                </c:pt>
                <c:pt idx="85">
                  <c:v>0.2175</c:v>
                </c:pt>
                <c:pt idx="86">
                  <c:v>0.22</c:v>
                </c:pt>
                <c:pt idx="87">
                  <c:v>0.2225</c:v>
                </c:pt>
                <c:pt idx="88">
                  <c:v>0.22500000000000001</c:v>
                </c:pt>
                <c:pt idx="89">
                  <c:v>0.22750000000000001</c:v>
                </c:pt>
                <c:pt idx="90">
                  <c:v>0.23</c:v>
                </c:pt>
                <c:pt idx="91">
                  <c:v>0.23250000000000001</c:v>
                </c:pt>
                <c:pt idx="92">
                  <c:v>0.23500000000000001</c:v>
                </c:pt>
                <c:pt idx="93">
                  <c:v>0.23750000000000002</c:v>
                </c:pt>
                <c:pt idx="94">
                  <c:v>0.24000000000000002</c:v>
                </c:pt>
                <c:pt idx="95">
                  <c:v>0.24250000000000002</c:v>
                </c:pt>
                <c:pt idx="96">
                  <c:v>0.245</c:v>
                </c:pt>
                <c:pt idx="97">
                  <c:v>0.2475</c:v>
                </c:pt>
                <c:pt idx="98">
                  <c:v>0.25</c:v>
                </c:pt>
              </c:numCache>
            </c:numRef>
          </c:xVal>
          <c:yVal>
            <c:numRef>
              <c:f>Sheet1!$B$103:$B$201</c:f>
              <c:numCache>
                <c:formatCode>General</c:formatCode>
                <c:ptCount val="99"/>
                <c:pt idx="0">
                  <c:v>342422.39317554655</c:v>
                </c:pt>
                <c:pt idx="1">
                  <c:v>334084.37587242905</c:v>
                </c:pt>
                <c:pt idx="2">
                  <c:v>326033.14120368951</c:v>
                </c:pt>
                <c:pt idx="3">
                  <c:v>318258.82539999392</c:v>
                </c:pt>
                <c:pt idx="4">
                  <c:v>310751.90395224863</c:v>
                </c:pt>
                <c:pt idx="5">
                  <c:v>303503.1799428857</c:v>
                </c:pt>
                <c:pt idx="6">
                  <c:v>296503.77277848858</c:v>
                </c:pt>
                <c:pt idx="7">
                  <c:v>289745.10730995476</c:v>
                </c:pt>
                <c:pt idx="8">
                  <c:v>283218.90332686552</c:v>
                </c:pt>
                <c:pt idx="9">
                  <c:v>276917.16541319282</c:v>
                </c:pt>
                <c:pt idx="10">
                  <c:v>270832.17315191473</c:v>
                </c:pt>
                <c:pt idx="11">
                  <c:v>264956.47166653932</c:v>
                </c:pt>
                <c:pt idx="12">
                  <c:v>259282.86248794818</c:v>
                </c:pt>
                <c:pt idx="13">
                  <c:v>253804.39473537193</c:v>
                </c:pt>
                <c:pt idx="14">
                  <c:v>248514.35660069186</c:v>
                </c:pt>
                <c:pt idx="15">
                  <c:v>243406.26712563576</c:v>
                </c:pt>
                <c:pt idx="16">
                  <c:v>238473.86826179328</c:v>
                </c:pt>
                <c:pt idx="17">
                  <c:v>233711.11720372431</c:v>
                </c:pt>
                <c:pt idx="18">
                  <c:v>229112.17898576648</c:v>
                </c:pt>
                <c:pt idx="19">
                  <c:v>224671.41933347247</c:v>
                </c:pt>
                <c:pt idx="20">
                  <c:v>220383.3977609193</c:v>
                </c:pt>
                <c:pt idx="21">
                  <c:v>216242.86090543267</c:v>
                </c:pt>
                <c:pt idx="22">
                  <c:v>212244.73609156074</c:v>
                </c:pt>
                <c:pt idx="23">
                  <c:v>208384.12511641218</c:v>
                </c:pt>
                <c:pt idx="24">
                  <c:v>204656.29824874536</c:v>
                </c:pt>
                <c:pt idx="25">
                  <c:v>201056.68843445578</c:v>
                </c:pt>
                <c:pt idx="26">
                  <c:v>197580.88570136388</c:v>
                </c:pt>
                <c:pt idx="27">
                  <c:v>194224.63175644749</c:v>
                </c:pt>
                <c:pt idx="28">
                  <c:v>190983.81476890037</c:v>
                </c:pt>
                <c:pt idx="29">
                  <c:v>187854.46433262539</c:v>
                </c:pt>
                <c:pt idx="30">
                  <c:v>184832.74660199025</c:v>
                </c:pt>
                <c:pt idx="31">
                  <c:v>181914.95959488745</c:v>
                </c:pt>
                <c:pt idx="32">
                  <c:v>179097.52865734306</c:v>
                </c:pt>
                <c:pt idx="33">
                  <c:v>176377.00208411852</c:v>
                </c:pt>
                <c:pt idx="34">
                  <c:v>173750.04688994028</c:v>
                </c:pt>
                <c:pt idx="35">
                  <c:v>171213.44472617583</c:v>
                </c:pt>
                <c:pt idx="36">
                  <c:v>168764.08793795423</c:v>
                </c:pt>
                <c:pt idx="37">
                  <c:v>166398.97575690021</c:v>
                </c:pt>
                <c:pt idx="38">
                  <c:v>164115.21062481767</c:v>
                </c:pt>
                <c:pt idx="39">
                  <c:v>161909.99464381862</c:v>
                </c:pt>
                <c:pt idx="40">
                  <c:v>159780.62614854818</c:v>
                </c:pt>
                <c:pt idx="41">
                  <c:v>157724.49639630684</c:v>
                </c:pt>
                <c:pt idx="42">
                  <c:v>155739.08637101427</c:v>
                </c:pt>
                <c:pt idx="43">
                  <c:v>153821.96369709968</c:v>
                </c:pt>
                <c:pt idx="44">
                  <c:v>151970.77965953757</c:v>
                </c:pt>
                <c:pt idx="45">
                  <c:v>150183.26632637804</c:v>
                </c:pt>
                <c:pt idx="46">
                  <c:v>148457.23377024659</c:v>
                </c:pt>
                <c:pt idx="47">
                  <c:v>146790.56738540917</c:v>
                </c:pt>
                <c:pt idx="48">
                  <c:v>145181.22529711574</c:v>
                </c:pt>
                <c:pt idx="49">
                  <c:v>143627.23586004833</c:v>
                </c:pt>
                <c:pt idx="50">
                  <c:v>142126.69524280899</c:v>
                </c:pt>
                <c:pt idx="51">
                  <c:v>140677.76509548823</c:v>
                </c:pt>
                <c:pt idx="52">
                  <c:v>139278.67029745641</c:v>
                </c:pt>
                <c:pt idx="53">
                  <c:v>137927.69678261911</c:v>
                </c:pt>
                <c:pt idx="54">
                  <c:v>136623.18943947169</c:v>
                </c:pt>
                <c:pt idx="55">
                  <c:v>135363.55008338077</c:v>
                </c:pt>
                <c:pt idx="56">
                  <c:v>134147.23549860821</c:v>
                </c:pt>
                <c:pt idx="57">
                  <c:v>132972.75554767871</c:v>
                </c:pt>
                <c:pt idx="58">
                  <c:v>131838.67134577531</c:v>
                </c:pt>
                <c:pt idx="59">
                  <c:v>130743.59349792522</c:v>
                </c:pt>
                <c:pt idx="60">
                  <c:v>129686.18039681749</c:v>
                </c:pt>
                <c:pt idx="61">
                  <c:v>128665.13657916615</c:v>
                </c:pt>
                <c:pt idx="62">
                  <c:v>127679.21113860572</c:v>
                </c:pt>
                <c:pt idx="63">
                  <c:v>126727.19619317446</c:v>
                </c:pt>
                <c:pt idx="64">
                  <c:v>125807.92540550788</c:v>
                </c:pt>
                <c:pt idx="65">
                  <c:v>124920.27255392965</c:v>
                </c:pt>
                <c:pt idx="66">
                  <c:v>124063.15015268925</c:v>
                </c:pt>
                <c:pt idx="67">
                  <c:v>123235.50811965583</c:v>
                </c:pt>
                <c:pt idx="68">
                  <c:v>122436.33248983632</c:v>
                </c:pt>
                <c:pt idx="69">
                  <c:v>121664.64417314157</c:v>
                </c:pt>
                <c:pt idx="70">
                  <c:v>120919.49775487842</c:v>
                </c:pt>
                <c:pt idx="71">
                  <c:v>120199.98033749862</c:v>
                </c:pt>
                <c:pt idx="72">
                  <c:v>119505.21042218502</c:v>
                </c:pt>
                <c:pt idx="73">
                  <c:v>118834.33682890538</c:v>
                </c:pt>
                <c:pt idx="74">
                  <c:v>118186.5376536104</c:v>
                </c:pt>
                <c:pt idx="75">
                  <c:v>117561.01926129837</c:v>
                </c:pt>
                <c:pt idx="76">
                  <c:v>116957.01531371316</c:v>
                </c:pt>
                <c:pt idx="77">
                  <c:v>116373.78583048392</c:v>
                </c:pt>
                <c:pt idx="78">
                  <c:v>115810.61628255667</c:v>
                </c:pt>
                <c:pt idx="79">
                  <c:v>115266.81671680679</c:v>
                </c:pt>
                <c:pt idx="80">
                  <c:v>114741.7209107602</c:v>
                </c:pt>
                <c:pt idx="81">
                  <c:v>114234.68555638747</c:v>
                </c:pt>
                <c:pt idx="82">
                  <c:v>113745.08947197109</c:v>
                </c:pt>
                <c:pt idx="83">
                  <c:v>113272.33284108013</c:v>
                </c:pt>
                <c:pt idx="84">
                  <c:v>112815.83647772016</c:v>
                </c:pt>
                <c:pt idx="85">
                  <c:v>112375.04111675789</c:v>
                </c:pt>
                <c:pt idx="86">
                  <c:v>111949.40672875149</c:v>
                </c:pt>
                <c:pt idx="87">
                  <c:v>111538.41185834706</c:v>
                </c:pt>
                <c:pt idx="88">
                  <c:v>111141.55298543045</c:v>
                </c:pt>
                <c:pt idx="89">
                  <c:v>110758.3439082523</c:v>
                </c:pt>
                <c:pt idx="90">
                  <c:v>110388.31514777002</c:v>
                </c:pt>
                <c:pt idx="91">
                  <c:v>110031.01337247725</c:v>
                </c:pt>
                <c:pt idx="92">
                  <c:v>109686.00084301611</c:v>
                </c:pt>
                <c:pt idx="93">
                  <c:v>109352.8548758917</c:v>
                </c:pt>
                <c:pt idx="94">
                  <c:v>109031.16732563202</c:v>
                </c:pt>
                <c:pt idx="95">
                  <c:v>108720.54408475864</c:v>
                </c:pt>
                <c:pt idx="96">
                  <c:v>108420.60460095583</c:v>
                </c:pt>
                <c:pt idx="97">
                  <c:v>108130.98141084633</c:v>
                </c:pt>
                <c:pt idx="98">
                  <c:v>107851.31968980281</c:v>
                </c:pt>
              </c:numCache>
            </c:numRef>
          </c:yVal>
          <c:smooth val="0"/>
          <c:extLst>
            <c:ext xmlns:c16="http://schemas.microsoft.com/office/drawing/2014/chart" uri="{C3380CC4-5D6E-409C-BE32-E72D297353CC}">
              <c16:uniqueId val="{00000001-B619-AC47-ADBD-696623CC9F31}"/>
            </c:ext>
          </c:extLst>
        </c:ser>
        <c:ser>
          <c:idx val="2"/>
          <c:order val="2"/>
          <c:tx>
            <c:strRef>
              <c:f>Sheet1!$B$203</c:f>
              <c:strCache>
                <c:ptCount val="1"/>
                <c:pt idx="0">
                  <c:v>Control range  5×10⁴ – 4×10⁵</c:v>
                </c:pt>
              </c:strCache>
            </c:strRef>
          </c:tx>
          <c:spPr>
            <a:ln w="15875">
              <a:solidFill>
                <a:srgbClr val="279989"/>
              </a:solidFill>
              <a:prstDash val="dash"/>
            </a:ln>
          </c:spPr>
          <c:marker>
            <c:symbol val="none"/>
          </c:marker>
          <c:xVal>
            <c:numRef>
              <c:f>Sheet1!$A$204:$A$205</c:f>
              <c:numCache>
                <c:formatCode>General</c:formatCode>
                <c:ptCount val="2"/>
                <c:pt idx="0">
                  <c:v>0</c:v>
                </c:pt>
                <c:pt idx="1">
                  <c:v>0.25</c:v>
                </c:pt>
              </c:numCache>
            </c:numRef>
          </c:xVal>
          <c:yVal>
            <c:numRef>
              <c:f>Sheet1!$B$204:$B$205</c:f>
              <c:numCache>
                <c:formatCode>General</c:formatCode>
                <c:ptCount val="2"/>
                <c:pt idx="0">
                  <c:v>400000</c:v>
                </c:pt>
                <c:pt idx="1">
                  <c:v>400000</c:v>
                </c:pt>
              </c:numCache>
            </c:numRef>
          </c:yVal>
          <c:smooth val="0"/>
          <c:extLst>
            <c:ext xmlns:c16="http://schemas.microsoft.com/office/drawing/2014/chart" uri="{C3380CC4-5D6E-409C-BE32-E72D297353CC}">
              <c16:uniqueId val="{00000002-B619-AC47-ADBD-696623CC9F31}"/>
            </c:ext>
          </c:extLst>
        </c:ser>
        <c:ser>
          <c:idx val="3"/>
          <c:order val="3"/>
          <c:tx>
            <c:strRef>
              <c:f>Sheet1!$B$207</c:f>
              <c:strCache>
                <c:ptCount val="1"/>
                <c:pt idx="0">
                  <c:v>control lo</c:v>
                </c:pt>
              </c:strCache>
            </c:strRef>
          </c:tx>
          <c:spPr>
            <a:ln w="15875">
              <a:solidFill>
                <a:srgbClr val="279989"/>
              </a:solidFill>
              <a:prstDash val="dash"/>
            </a:ln>
          </c:spPr>
          <c:marker>
            <c:symbol val="none"/>
          </c:marker>
          <c:xVal>
            <c:numRef>
              <c:f>Sheet1!$A$208:$A$209</c:f>
              <c:numCache>
                <c:formatCode>General</c:formatCode>
                <c:ptCount val="2"/>
                <c:pt idx="0">
                  <c:v>0</c:v>
                </c:pt>
                <c:pt idx="1">
                  <c:v>0.25</c:v>
                </c:pt>
              </c:numCache>
            </c:numRef>
          </c:xVal>
          <c:yVal>
            <c:numRef>
              <c:f>Sheet1!$B$208:$B$209</c:f>
              <c:numCache>
                <c:formatCode>General</c:formatCode>
                <c:ptCount val="2"/>
                <c:pt idx="0">
                  <c:v>50000</c:v>
                </c:pt>
                <c:pt idx="1">
                  <c:v>50000</c:v>
                </c:pt>
              </c:numCache>
            </c:numRef>
          </c:yVal>
          <c:smooth val="0"/>
          <c:extLst>
            <c:ext xmlns:c16="http://schemas.microsoft.com/office/drawing/2014/chart" uri="{C3380CC4-5D6E-409C-BE32-E72D297353CC}">
              <c16:uniqueId val="{00000003-B619-AC47-ADBD-696623CC9F31}"/>
            </c:ext>
          </c:extLst>
        </c:ser>
        <c:ser>
          <c:idx val="4"/>
          <c:order val="4"/>
          <c:tx>
            <c:strRef>
              <c:f>Sheet1!$B$211</c:f>
              <c:strCache>
                <c:ptCount val="1"/>
                <c:pt idx="0">
                  <c:v>Tree-root radii, current fit (0.12–0.19 cm)</c:v>
                </c:pt>
              </c:strCache>
            </c:strRef>
          </c:tx>
          <c:spPr>
            <a:ln w="76200">
              <a:solidFill>
                <a:srgbClr val="6B6965"/>
              </a:solidFill>
            </a:ln>
          </c:spPr>
          <c:marker>
            <c:symbol val="none"/>
          </c:marker>
          <c:xVal>
            <c:numRef>
              <c:f>Sheet1!$A$212:$A$213</c:f>
              <c:numCache>
                <c:formatCode>General</c:formatCode>
                <c:ptCount val="2"/>
                <c:pt idx="0">
                  <c:v>0.123</c:v>
                </c:pt>
                <c:pt idx="1">
                  <c:v>0.19</c:v>
                </c:pt>
              </c:numCache>
            </c:numRef>
          </c:xVal>
          <c:yVal>
            <c:numRef>
              <c:f>Sheet1!$B$212:$B$213</c:f>
              <c:numCache>
                <c:formatCode>General</c:formatCode>
                <c:ptCount val="2"/>
                <c:pt idx="0">
                  <c:v>0.4</c:v>
                </c:pt>
                <c:pt idx="1">
                  <c:v>0.4</c:v>
                </c:pt>
              </c:numCache>
            </c:numRef>
          </c:yVal>
          <c:smooth val="0"/>
          <c:extLst>
            <c:ext xmlns:c16="http://schemas.microsoft.com/office/drawing/2014/chart" uri="{C3380CC4-5D6E-409C-BE32-E72D297353CC}">
              <c16:uniqueId val="{00000004-B619-AC47-ADBD-696623CC9F31}"/>
            </c:ext>
          </c:extLst>
        </c:ser>
        <c:dLbls>
          <c:showLegendKey val="0"/>
          <c:showVal val="0"/>
          <c:showCatName val="0"/>
          <c:showSerName val="0"/>
          <c:showPercent val="0"/>
          <c:showBubbleSize val="0"/>
        </c:dLbls>
        <c:axId val="-2128940872"/>
        <c:axId val="-2129643912"/>
      </c:scatterChart>
      <c:valAx>
        <c:axId val="-2128940872"/>
        <c:scaling>
          <c:orientation val="minMax"/>
          <c:max val="0.25"/>
          <c:min val="0"/>
        </c:scaling>
        <c:delete val="0"/>
        <c:axPos val="b"/>
        <c:title>
          <c:tx>
            <c:rich>
              <a:bodyPr/>
              <a:lstStyle/>
              <a:p>
                <a:r>
                  <a:rPr lang="en-US" sz="800" b="0">
                    <a:solidFill>
                      <a:srgbClr val="6B6965"/>
                    </a:solidFill>
                    <a:latin typeface="Calibri"/>
                  </a:rPr>
                  <a:t>vessel radius r₀ (cm)</a:t>
                </a:r>
              </a:p>
            </c:rich>
          </c:tx>
          <c:overlay val="0"/>
        </c:title>
        <c:numFmt formatCode="0.00" sourceLinked="0"/>
        <c:majorTickMark val="out"/>
        <c:minorTickMark val="none"/>
        <c:tickLblPos val="nextTo"/>
        <c:spPr>
          <a:ln>
            <a:solidFill>
              <a:srgbClr val="D9D7D4"/>
            </a:solidFill>
          </a:ln>
        </c:spPr>
        <c:txPr>
          <a:bodyPr/>
          <a:lstStyle/>
          <a:p>
            <a:pPr>
              <a:defRPr sz="800">
                <a:solidFill>
                  <a:srgbClr val="6B6965"/>
                </a:solidFill>
                <a:latin typeface="Calibri"/>
              </a:defRPr>
            </a:pPr>
            <a:endParaRPr lang="en-US"/>
          </a:p>
        </c:txPr>
        <c:crossAx val="-2129643912"/>
        <c:crosses val="autoZero"/>
        <c:crossBetween val="midCat"/>
        <c:majorUnit val="0.05"/>
      </c:valAx>
      <c:valAx>
        <c:axId val="-2129643912"/>
        <c:scaling>
          <c:logBase val="10"/>
          <c:orientation val="minMax"/>
          <c:max val="100000000"/>
          <c:min val="0.1"/>
        </c:scaling>
        <c:delete val="0"/>
        <c:axPos val="l"/>
        <c:majorGridlines>
          <c:spPr>
            <a:ln w="6350">
              <a:solidFill>
                <a:srgbClr val="E9E7E4"/>
              </a:solidFill>
            </a:ln>
          </c:spPr>
        </c:majorGridlines>
        <c:title>
          <c:tx>
            <c:rich>
              <a:bodyPr/>
              <a:lstStyle/>
              <a:p>
                <a:r>
                  <a:rPr lang="en-US" sz="800" b="0">
                    <a:solidFill>
                      <a:srgbClr val="6B6965"/>
                    </a:solidFill>
                    <a:latin typeface="Calibri"/>
                  </a:rPr>
                  <a:t>Eh/r₀ (dyn/cm²)</a:t>
                </a:r>
              </a:p>
            </c:rich>
          </c:tx>
          <c:overlay val="0"/>
        </c:title>
        <c:numFmt formatCode="0E+0" sourceLinked="0"/>
        <c:majorTickMark val="out"/>
        <c:minorTickMark val="none"/>
        <c:tickLblPos val="nextTo"/>
        <c:spPr>
          <a:ln>
            <a:solidFill>
              <a:srgbClr val="D9D7D4"/>
            </a:solidFill>
          </a:ln>
        </c:spPr>
        <c:txPr>
          <a:bodyPr/>
          <a:lstStyle/>
          <a:p>
            <a:pPr>
              <a:defRPr sz="800">
                <a:solidFill>
                  <a:srgbClr val="6B6965"/>
                </a:solidFill>
                <a:latin typeface="Calibri"/>
              </a:defRPr>
            </a:pPr>
            <a:endParaRPr lang="en-US"/>
          </a:p>
        </c:txPr>
        <c:crossAx val="-2128940872"/>
        <c:crosses val="autoZero"/>
        <c:crossBetween val="midCat"/>
      </c:valAx>
    </c:plotArea>
    <c:legend>
      <c:legendPos val="b"/>
      <c:legendEntry>
        <c:idx val="3"/>
        <c:delete val="1"/>
      </c:legendEntry>
      <c:overlay val="0"/>
      <c:txPr>
        <a:bodyPr/>
        <a:lstStyle/>
        <a:p>
          <a:pPr>
            <a:defRPr sz="750">
              <a:solidFill>
                <a:srgbClr val="2E2D29"/>
              </a:solidFill>
            </a:defRPr>
          </a:pPr>
          <a:endParaRPr lang="en-US"/>
        </a:p>
      </c:txPr>
    </c:legend>
    <c:plotVisOnly val="1"/>
    <c:dispBlanksAs val="gap"/>
    <c:showDLblsOverMax val="0"/>
  </c:chart>
  <c:txPr>
    <a:bodyPr/>
    <a:lstStyle/>
    <a:p>
      <a:pPr>
        <a:defRPr sz="800">
          <a:solidFill>
            <a:srgbClr val="6B6965"/>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scatterChart>
        <c:scatterStyle val="lineMarker"/>
        <c:varyColors val="0"/>
        <c:ser>
          <c:idx val="0"/>
          <c:order val="0"/>
          <c:tx>
            <c:strRef>
              <c:f>Sheet1!$B$1</c:f>
              <c:strCache>
                <c:ptCount val="1"/>
                <c:pt idx="0">
                  <c:v>RMS error over sys / dia / mean</c:v>
                </c:pt>
              </c:strCache>
            </c:strRef>
          </c:tx>
          <c:spPr>
            <a:ln w="25400">
              <a:solidFill>
                <a:srgbClr val="8C1515"/>
              </a:solidFill>
            </a:ln>
          </c:spPr>
          <c:marker>
            <c:symbol val="circle"/>
            <c:size val="6"/>
            <c:spPr>
              <a:solidFill>
                <a:srgbClr val="8C1515"/>
              </a:solidFill>
              <a:ln>
                <a:solidFill>
                  <a:srgbClr val="8C1515"/>
                </a:solidFill>
              </a:ln>
            </c:spPr>
          </c:marker>
          <c:xVal>
            <c:numRef>
              <c:f>Sheet1!$A$2:$A$11</c:f>
              <c:numCache>
                <c:formatCode>General</c:formatCode>
                <c:ptCount val="10"/>
                <c:pt idx="0">
                  <c:v>0.6</c:v>
                </c:pt>
                <c:pt idx="1">
                  <c:v>0.8</c:v>
                </c:pt>
                <c:pt idx="2">
                  <c:v>1</c:v>
                </c:pt>
                <c:pt idx="3">
                  <c:v>1.2</c:v>
                </c:pt>
                <c:pt idx="4">
                  <c:v>1.4</c:v>
                </c:pt>
                <c:pt idx="5">
                  <c:v>1.6</c:v>
                </c:pt>
                <c:pt idx="6">
                  <c:v>1.85</c:v>
                </c:pt>
                <c:pt idx="7">
                  <c:v>2.2000000000000002</c:v>
                </c:pt>
                <c:pt idx="8">
                  <c:v>2.6</c:v>
                </c:pt>
                <c:pt idx="9">
                  <c:v>3</c:v>
                </c:pt>
              </c:numCache>
            </c:numRef>
          </c:xVal>
          <c:yVal>
            <c:numRef>
              <c:f>Sheet1!$B$2:$B$11</c:f>
              <c:numCache>
                <c:formatCode>General</c:formatCode>
                <c:ptCount val="10"/>
                <c:pt idx="0">
                  <c:v>5.1768716422179137</c:v>
                </c:pt>
                <c:pt idx="1">
                  <c:v>2.6051231576773231</c:v>
                </c:pt>
                <c:pt idx="2">
                  <c:v>0.11442610424782158</c:v>
                </c:pt>
                <c:pt idx="3">
                  <c:v>2.1999999999999999E-2</c:v>
                </c:pt>
                <c:pt idx="4">
                  <c:v>1.1832159566199233E-2</c:v>
                </c:pt>
                <c:pt idx="5">
                  <c:v>2.7640549922170507E-2</c:v>
                </c:pt>
                <c:pt idx="6">
                  <c:v>1.0405126941400891E-3</c:v>
                </c:pt>
                <c:pt idx="7">
                  <c:v>3.5665109000254012E-2</c:v>
                </c:pt>
                <c:pt idx="8">
                  <c:v>6.6432923564549926E-2</c:v>
                </c:pt>
                <c:pt idx="9">
                  <c:v>0.12543258481484518</c:v>
                </c:pt>
              </c:numCache>
            </c:numRef>
          </c:yVal>
          <c:smooth val="0"/>
          <c:extLst>
            <c:ext xmlns:c16="http://schemas.microsoft.com/office/drawing/2014/chart" uri="{C3380CC4-5D6E-409C-BE32-E72D297353CC}">
              <c16:uniqueId val="{00000000-0FC0-6F48-A20F-8A1F2890F3CB}"/>
            </c:ext>
          </c:extLst>
        </c:ser>
        <c:ser>
          <c:idx val="1"/>
          <c:order val="1"/>
          <c:tx>
            <c:strRef>
              <c:f>Sheet1!$B$13</c:f>
              <c:strCache>
                <c:ptCount val="1"/>
                <c:pt idx="0">
                  <c:v>Catheter accuracy (2 mmHg)</c:v>
                </c:pt>
              </c:strCache>
            </c:strRef>
          </c:tx>
          <c:spPr>
            <a:ln w="15875">
              <a:solidFill>
                <a:srgbClr val="6B6965"/>
              </a:solidFill>
              <a:prstDash val="dash"/>
            </a:ln>
          </c:spPr>
          <c:marker>
            <c:symbol val="none"/>
          </c:marker>
          <c:xVal>
            <c:numRef>
              <c:f>Sheet1!$A$14:$A$15</c:f>
              <c:numCache>
                <c:formatCode>General</c:formatCode>
                <c:ptCount val="2"/>
                <c:pt idx="0">
                  <c:v>0.5</c:v>
                </c:pt>
                <c:pt idx="1">
                  <c:v>3.1</c:v>
                </c:pt>
              </c:numCache>
            </c:numRef>
          </c:xVal>
          <c:yVal>
            <c:numRef>
              <c:f>Sheet1!$B$14:$B$15</c:f>
              <c:numCache>
                <c:formatCode>General</c:formatCode>
                <c:ptCount val="2"/>
                <c:pt idx="0">
                  <c:v>2</c:v>
                </c:pt>
                <c:pt idx="1">
                  <c:v>2</c:v>
                </c:pt>
              </c:numCache>
            </c:numRef>
          </c:yVal>
          <c:smooth val="0"/>
          <c:extLst>
            <c:ext xmlns:c16="http://schemas.microsoft.com/office/drawing/2014/chart" uri="{C3380CC4-5D6E-409C-BE32-E72D297353CC}">
              <c16:uniqueId val="{00000001-0FC0-6F48-A20F-8A1F2890F3CB}"/>
            </c:ext>
          </c:extLst>
        </c:ser>
        <c:dLbls>
          <c:showLegendKey val="0"/>
          <c:showVal val="0"/>
          <c:showCatName val="0"/>
          <c:showSerName val="0"/>
          <c:showPercent val="0"/>
          <c:showBubbleSize val="0"/>
        </c:dLbls>
        <c:axId val="-2128940872"/>
        <c:axId val="-2129643912"/>
      </c:scatterChart>
      <c:valAx>
        <c:axId val="-2128940872"/>
        <c:scaling>
          <c:orientation val="minMax"/>
          <c:max val="3.1"/>
          <c:min val="0.5"/>
        </c:scaling>
        <c:delete val="0"/>
        <c:axPos val="b"/>
        <c:title>
          <c:tx>
            <c:rich>
              <a:bodyPr/>
              <a:lstStyle/>
              <a:p>
                <a:r>
                  <a:rPr sz="800" b="0">
                    <a:solidFill>
                      <a:srgbClr val="6B6965"/>
                    </a:solidFill>
                    <a:latin typeface="Calibri"/>
                  </a:rPr>
                  <a:t>lumped compliance C (mL/mmHg)</a:t>
                </a:r>
              </a:p>
            </c:rich>
          </c:tx>
          <c:overlay val="0"/>
        </c:title>
        <c:numFmt formatCode="0.0" sourceLinked="0"/>
        <c:majorTickMark val="out"/>
        <c:minorTickMark val="none"/>
        <c:tickLblPos val="nextTo"/>
        <c:spPr>
          <a:ln>
            <a:solidFill>
              <a:srgbClr val="D9D7D4"/>
            </a:solidFill>
          </a:ln>
        </c:spPr>
        <c:txPr>
          <a:bodyPr/>
          <a:lstStyle/>
          <a:p>
            <a:pPr>
              <a:defRPr sz="800">
                <a:solidFill>
                  <a:srgbClr val="6B6965"/>
                </a:solidFill>
                <a:latin typeface="Calibri"/>
              </a:defRPr>
            </a:pPr>
            <a:endParaRPr lang="en-US"/>
          </a:p>
        </c:txPr>
        <c:crossAx val="-2129643912"/>
        <c:crosses val="autoZero"/>
        <c:crossBetween val="midCat"/>
        <c:majorUnit val="0.5"/>
      </c:valAx>
      <c:valAx>
        <c:axId val="-2129643912"/>
        <c:scaling>
          <c:orientation val="minMax"/>
          <c:max val="6"/>
          <c:min val="0"/>
        </c:scaling>
        <c:delete val="0"/>
        <c:axPos val="l"/>
        <c:majorGridlines>
          <c:spPr>
            <a:ln w="6350">
              <a:solidFill>
                <a:srgbClr val="E9E7E4"/>
              </a:solidFill>
            </a:ln>
          </c:spPr>
        </c:majorGridlines>
        <c:title>
          <c:tx>
            <c:rich>
              <a:bodyPr/>
              <a:lstStyle/>
              <a:p>
                <a:r>
                  <a:rPr sz="800" b="0">
                    <a:solidFill>
                      <a:srgbClr val="6B6965"/>
                    </a:solidFill>
                    <a:latin typeface="Calibri"/>
                  </a:rPr>
                  <a:t>RMS pressure error (mmHg)</a:t>
                </a:r>
              </a:p>
            </c:rich>
          </c:tx>
          <c:overlay val="0"/>
        </c:title>
        <c:numFmt formatCode="0" sourceLinked="0"/>
        <c:majorTickMark val="out"/>
        <c:minorTickMark val="none"/>
        <c:tickLblPos val="nextTo"/>
        <c:spPr>
          <a:ln>
            <a:solidFill>
              <a:srgbClr val="D9D7D4"/>
            </a:solidFill>
          </a:ln>
        </c:spPr>
        <c:txPr>
          <a:bodyPr/>
          <a:lstStyle/>
          <a:p>
            <a:pPr>
              <a:defRPr sz="800">
                <a:solidFill>
                  <a:srgbClr val="6B6965"/>
                </a:solidFill>
                <a:latin typeface="Calibri"/>
              </a:defRPr>
            </a:pPr>
            <a:endParaRPr lang="en-US"/>
          </a:p>
        </c:txPr>
        <c:crossAx val="-2128940872"/>
        <c:crosses val="autoZero"/>
        <c:crossBetween val="midCat"/>
        <c:majorUnit val="1"/>
      </c:valAx>
    </c:plotArea>
    <c:legend>
      <c:legendPos val="t"/>
      <c:overlay val="0"/>
      <c:txPr>
        <a:bodyPr/>
        <a:lstStyle/>
        <a:p>
          <a:pPr>
            <a:defRPr sz="750">
              <a:solidFill>
                <a:srgbClr val="2E2D29"/>
              </a:solidFill>
            </a:defRPr>
          </a:pPr>
          <a:endParaRPr lang="en-US"/>
        </a:p>
      </c:txPr>
    </c:legend>
    <c:plotVisOnly val="1"/>
    <c:dispBlanksAs val="gap"/>
    <c:showDLblsOverMax val="0"/>
  </c:chart>
  <c:txPr>
    <a:bodyPr/>
    <a:lstStyle/>
    <a:p>
      <a:pPr>
        <a:defRPr sz="800">
          <a:solidFill>
            <a:srgbClr val="6B6965"/>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Systolic</c:v>
                </c:pt>
              </c:strCache>
            </c:strRef>
          </c:tx>
          <c:spPr>
            <a:solidFill>
              <a:srgbClr val="8C1515"/>
            </a:solidFill>
          </c:spPr>
          <c:invertIfNegative val="0"/>
          <c:dPt>
            <c:idx val="0"/>
            <c:invertIfNegative val="1"/>
            <c:bubble3D val="0"/>
            <c:spPr>
              <a:solidFill>
                <a:srgbClr val="DDB3B3"/>
              </a:solidFill>
            </c:spPr>
            <c:extLst>
              <c:ext xmlns:c16="http://schemas.microsoft.com/office/drawing/2014/chart" uri="{C3380CC4-5D6E-409C-BE32-E72D297353CC}">
                <c16:uniqueId val="{00000001-0AF2-6F4E-A341-2A2C206306BA}"/>
              </c:ext>
            </c:extLst>
          </c:dPt>
          <c:dLbls>
            <c:numFmt formatCode="0" sourceLinked="0"/>
            <c:spPr>
              <a:noFill/>
              <a:ln>
                <a:noFill/>
              </a:ln>
              <a:effectLst/>
            </c:spPr>
            <c:txPr>
              <a:bodyPr/>
              <a:lstStyle/>
              <a:p>
                <a:pPr>
                  <a:defRPr sz="650">
                    <a:solidFill>
                      <a:srgbClr val="2E2D29"/>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Target</c:v>
                </c:pt>
                <c:pt idx="1">
                  <c:v>Current, Pd 3
(B0) χ² 26</c:v>
                </c:pt>
                <c:pt idx="2">
                  <c:v>Current, Pd 7
(B0-w7) χ² 9.9</c:v>
                </c:pt>
                <c:pt idx="3">
                  <c:v>Lit., ξ = 2.76
(B4) χ² 567</c:v>
                </c:pt>
                <c:pt idx="4">
                  <c:v>Lit., ξ ∈ [2.33, 3]
(B6) χ² 299</c:v>
                </c:pt>
                <c:pt idx="5">
                  <c:v>Lit., ξ free
(fix-10) χ² 50</c:v>
                </c:pt>
              </c:strCache>
            </c:strRef>
          </c:cat>
          <c:val>
            <c:numRef>
              <c:f>Sheet1!$B$2:$B$7</c:f>
              <c:numCache>
                <c:formatCode>General</c:formatCode>
                <c:ptCount val="6"/>
                <c:pt idx="0">
                  <c:v>34</c:v>
                </c:pt>
                <c:pt idx="1">
                  <c:v>30.9</c:v>
                </c:pt>
                <c:pt idx="2">
                  <c:v>29.7</c:v>
                </c:pt>
                <c:pt idx="3">
                  <c:v>64.900000000000006</c:v>
                </c:pt>
                <c:pt idx="4">
                  <c:v>53.6</c:v>
                </c:pt>
                <c:pt idx="5">
                  <c:v>29.2</c:v>
                </c:pt>
              </c:numCache>
            </c:numRef>
          </c:val>
          <c:extLst>
            <c:ext xmlns:c16="http://schemas.microsoft.com/office/drawing/2014/chart" uri="{C3380CC4-5D6E-409C-BE32-E72D297353CC}">
              <c16:uniqueId val="{00000002-0AF2-6F4E-A341-2A2C206306BA}"/>
            </c:ext>
          </c:extLst>
        </c:ser>
        <c:ser>
          <c:idx val="1"/>
          <c:order val="1"/>
          <c:tx>
            <c:strRef>
              <c:f>Sheet1!$C$1</c:f>
              <c:strCache>
                <c:ptCount val="1"/>
                <c:pt idx="0">
                  <c:v>Diastolic</c:v>
                </c:pt>
              </c:strCache>
            </c:strRef>
          </c:tx>
          <c:spPr>
            <a:solidFill>
              <a:srgbClr val="007C92"/>
            </a:solidFill>
          </c:spPr>
          <c:invertIfNegative val="0"/>
          <c:dPt>
            <c:idx val="0"/>
            <c:invertIfNegative val="1"/>
            <c:bubble3D val="0"/>
            <c:spPr>
              <a:solidFill>
                <a:srgbClr val="9FCDD6"/>
              </a:solidFill>
            </c:spPr>
            <c:extLst>
              <c:ext xmlns:c16="http://schemas.microsoft.com/office/drawing/2014/chart" uri="{C3380CC4-5D6E-409C-BE32-E72D297353CC}">
                <c16:uniqueId val="{00000004-0AF2-6F4E-A341-2A2C206306BA}"/>
              </c:ext>
            </c:extLst>
          </c:dPt>
          <c:dLbls>
            <c:numFmt formatCode="0" sourceLinked="0"/>
            <c:spPr>
              <a:noFill/>
              <a:ln>
                <a:noFill/>
              </a:ln>
              <a:effectLst/>
            </c:spPr>
            <c:txPr>
              <a:bodyPr/>
              <a:lstStyle/>
              <a:p>
                <a:pPr>
                  <a:defRPr sz="650">
                    <a:solidFill>
                      <a:srgbClr val="2E2D29"/>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Target</c:v>
                </c:pt>
                <c:pt idx="1">
                  <c:v>Current, Pd 3
(B0) χ² 26</c:v>
                </c:pt>
                <c:pt idx="2">
                  <c:v>Current, Pd 7
(B0-w7) χ² 9.9</c:v>
                </c:pt>
                <c:pt idx="3">
                  <c:v>Lit., ξ = 2.76
(B4) χ² 567</c:v>
                </c:pt>
                <c:pt idx="4">
                  <c:v>Lit., ξ ∈ [2.33, 3]
(B6) χ² 299</c:v>
                </c:pt>
                <c:pt idx="5">
                  <c:v>Lit., ξ free
(fix-10) χ² 50</c:v>
                </c:pt>
              </c:strCache>
            </c:strRef>
          </c:cat>
          <c:val>
            <c:numRef>
              <c:f>Sheet1!$C$2:$C$7</c:f>
              <c:numCache>
                <c:formatCode>General</c:formatCode>
                <c:ptCount val="6"/>
                <c:pt idx="0">
                  <c:v>3</c:v>
                </c:pt>
                <c:pt idx="1">
                  <c:v>4.3899999999999997</c:v>
                </c:pt>
                <c:pt idx="2">
                  <c:v>4.28</c:v>
                </c:pt>
                <c:pt idx="3">
                  <c:v>-32.700000000000003</c:v>
                </c:pt>
                <c:pt idx="4">
                  <c:v>-25.4</c:v>
                </c:pt>
                <c:pt idx="5">
                  <c:v>-8.91</c:v>
                </c:pt>
              </c:numCache>
            </c:numRef>
          </c:val>
          <c:extLst>
            <c:ext xmlns:c16="http://schemas.microsoft.com/office/drawing/2014/chart" uri="{C3380CC4-5D6E-409C-BE32-E72D297353CC}">
              <c16:uniqueId val="{00000005-0AF2-6F4E-A341-2A2C206306BA}"/>
            </c:ext>
          </c:extLst>
        </c:ser>
        <c:ser>
          <c:idx val="2"/>
          <c:order val="2"/>
          <c:tx>
            <c:strRef>
              <c:f>Sheet1!$D$1</c:f>
              <c:strCache>
                <c:ptCount val="1"/>
                <c:pt idx="0">
                  <c:v>Mean</c:v>
                </c:pt>
              </c:strCache>
            </c:strRef>
          </c:tx>
          <c:spPr>
            <a:solidFill>
              <a:srgbClr val="2E2D29"/>
            </a:solidFill>
          </c:spPr>
          <c:invertIfNegative val="0"/>
          <c:dPt>
            <c:idx val="0"/>
            <c:invertIfNegative val="1"/>
            <c:bubble3D val="0"/>
            <c:spPr>
              <a:solidFill>
                <a:srgbClr val="B5B3AF"/>
              </a:solidFill>
            </c:spPr>
            <c:extLst>
              <c:ext xmlns:c16="http://schemas.microsoft.com/office/drawing/2014/chart" uri="{C3380CC4-5D6E-409C-BE32-E72D297353CC}">
                <c16:uniqueId val="{00000007-0AF2-6F4E-A341-2A2C206306BA}"/>
              </c:ext>
            </c:extLst>
          </c:dPt>
          <c:dLbls>
            <c:numFmt formatCode="0" sourceLinked="0"/>
            <c:spPr>
              <a:noFill/>
              <a:ln>
                <a:noFill/>
              </a:ln>
              <a:effectLst/>
            </c:spPr>
            <c:txPr>
              <a:bodyPr/>
              <a:lstStyle/>
              <a:p>
                <a:pPr>
                  <a:defRPr sz="650">
                    <a:solidFill>
                      <a:srgbClr val="2E2D29"/>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Target</c:v>
                </c:pt>
                <c:pt idx="1">
                  <c:v>Current, Pd 3
(B0) χ² 26</c:v>
                </c:pt>
                <c:pt idx="2">
                  <c:v>Current, Pd 7
(B0-w7) χ² 9.9</c:v>
                </c:pt>
                <c:pt idx="3">
                  <c:v>Lit., ξ = 2.76
(B4) χ² 567</c:v>
                </c:pt>
                <c:pt idx="4">
                  <c:v>Lit., ξ ∈ [2.33, 3]
(B6) χ² 299</c:v>
                </c:pt>
                <c:pt idx="5">
                  <c:v>Lit., ξ free
(fix-10) χ² 50</c:v>
                </c:pt>
              </c:strCache>
            </c:strRef>
          </c:cat>
          <c:val>
            <c:numRef>
              <c:f>Sheet1!$D$2:$D$7</c:f>
              <c:numCache>
                <c:formatCode>General</c:formatCode>
                <c:ptCount val="6"/>
                <c:pt idx="0">
                  <c:v>16</c:v>
                </c:pt>
                <c:pt idx="1">
                  <c:v>15.8</c:v>
                </c:pt>
                <c:pt idx="2">
                  <c:v>15.5</c:v>
                </c:pt>
                <c:pt idx="3">
                  <c:v>15.5</c:v>
                </c:pt>
                <c:pt idx="4">
                  <c:v>13.9</c:v>
                </c:pt>
                <c:pt idx="5">
                  <c:v>10.1</c:v>
                </c:pt>
              </c:numCache>
            </c:numRef>
          </c:val>
          <c:extLst>
            <c:ext xmlns:c16="http://schemas.microsoft.com/office/drawing/2014/chart" uri="{C3380CC4-5D6E-409C-BE32-E72D297353CC}">
              <c16:uniqueId val="{00000008-0AF2-6F4E-A341-2A2C206306BA}"/>
            </c:ext>
          </c:extLst>
        </c:ser>
        <c:dLbls>
          <c:dLblPos val="outEnd"/>
          <c:showLegendKey val="0"/>
          <c:showVal val="1"/>
          <c:showCatName val="0"/>
          <c:showSerName val="0"/>
          <c:showPercent val="0"/>
          <c:showBubbleSize val="0"/>
        </c:dLbls>
        <c:gapWidth val="55"/>
        <c:overlap val="-5"/>
        <c:axId val="-2068027336"/>
        <c:axId val="-2113994440"/>
      </c:barChart>
      <c:catAx>
        <c:axId val="-2068027336"/>
        <c:scaling>
          <c:orientation val="minMax"/>
        </c:scaling>
        <c:delete val="0"/>
        <c:axPos val="b"/>
        <c:numFmt formatCode="General" sourceLinked="0"/>
        <c:majorTickMark val="out"/>
        <c:minorTickMark val="none"/>
        <c:tickLblPos val="low"/>
        <c:spPr>
          <a:ln>
            <a:solidFill>
              <a:srgbClr val="D9D7D4"/>
            </a:solidFill>
          </a:ln>
        </c:spPr>
        <c:txPr>
          <a:bodyPr/>
          <a:lstStyle/>
          <a:p>
            <a:pPr>
              <a:defRPr sz="700">
                <a:solidFill>
                  <a:srgbClr val="2E2D29"/>
                </a:solidFill>
                <a:latin typeface="Calibri"/>
              </a:defRPr>
            </a:pPr>
            <a:endParaRPr lang="en-US"/>
          </a:p>
        </c:txPr>
        <c:crossAx val="-2113994440"/>
        <c:crosses val="autoZero"/>
        <c:auto val="1"/>
        <c:lblAlgn val="ctr"/>
        <c:lblOffset val="100"/>
        <c:noMultiLvlLbl val="0"/>
      </c:catAx>
      <c:valAx>
        <c:axId val="-2113994440"/>
        <c:scaling>
          <c:orientation val="minMax"/>
          <c:max val="70"/>
          <c:min val="-40"/>
        </c:scaling>
        <c:delete val="0"/>
        <c:axPos val="l"/>
        <c:majorGridlines>
          <c:spPr>
            <a:ln w="6350">
              <a:solidFill>
                <a:srgbClr val="D9D7D4"/>
              </a:solidFill>
            </a:ln>
          </c:spPr>
        </c:majorGridlines>
        <c:numFmt formatCode="0" sourceLinked="0"/>
        <c:majorTickMark val="out"/>
        <c:minorTickMark val="none"/>
        <c:tickLblPos val="nextTo"/>
        <c:spPr>
          <a:ln>
            <a:solidFill>
              <a:srgbClr val="D9D7D4"/>
            </a:solidFill>
          </a:ln>
        </c:spPr>
        <c:txPr>
          <a:bodyPr/>
          <a:lstStyle/>
          <a:p>
            <a:pPr>
              <a:defRPr sz="800">
                <a:solidFill>
                  <a:srgbClr val="6B6965"/>
                </a:solidFill>
                <a:latin typeface="Calibri"/>
              </a:defRPr>
            </a:pPr>
            <a:endParaRPr lang="en-US"/>
          </a:p>
        </c:txPr>
        <c:crossAx val="-2068027336"/>
        <c:crosses val="autoZero"/>
        <c:crossBetween val="between"/>
        <c:majorUnit val="20"/>
      </c:valAx>
    </c:plotArea>
    <c:legend>
      <c:legendPos val="t"/>
      <c:overlay val="0"/>
      <c:txPr>
        <a:bodyPr/>
        <a:lstStyle/>
        <a:p>
          <a:pPr>
            <a:defRPr sz="750">
              <a:solidFill>
                <a:srgbClr val="2E2D29"/>
              </a:solidFill>
            </a:defRPr>
          </a:pPr>
          <a:endParaRPr lang="en-US"/>
        </a:p>
      </c:txPr>
    </c:legend>
    <c:plotVisOnly val="1"/>
    <c:dispBlanksAs val="gap"/>
    <c:showDLblsOverMax val="1"/>
  </c:chart>
  <c:txPr>
    <a:bodyPr/>
    <a:lstStyle/>
    <a:p>
      <a:pPr>
        <a:defRPr sz="800">
          <a:solidFill>
            <a:srgbClr val="6B6965"/>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χ²</c:v>
                </c:pt>
              </c:strCache>
            </c:strRef>
          </c:tx>
          <c:spPr>
            <a:solidFill>
              <a:srgbClr val="8C1515"/>
            </a:solidFill>
          </c:spPr>
          <c:invertIfNegative val="1"/>
          <c:dPt>
            <c:idx val="0"/>
            <c:invertIfNegative val="1"/>
            <c:bubble3D val="0"/>
            <c:spPr>
              <a:solidFill>
                <a:srgbClr val="6B6965"/>
              </a:solidFill>
            </c:spPr>
            <c:extLst>
              <c:ext xmlns:c16="http://schemas.microsoft.com/office/drawing/2014/chart" uri="{C3380CC4-5D6E-409C-BE32-E72D297353CC}">
                <c16:uniqueId val="{00000001-6C71-F54F-8DE5-C10400A7F911}"/>
              </c:ext>
            </c:extLst>
          </c:dPt>
          <c:dPt>
            <c:idx val="1"/>
            <c:invertIfNegative val="1"/>
            <c:bubble3D val="0"/>
            <c:extLst>
              <c:ext xmlns:c16="http://schemas.microsoft.com/office/drawing/2014/chart" uri="{C3380CC4-5D6E-409C-BE32-E72D297353CC}">
                <c16:uniqueId val="{00000003-6C71-F54F-8DE5-C10400A7F911}"/>
              </c:ext>
            </c:extLst>
          </c:dPt>
          <c:dPt>
            <c:idx val="2"/>
            <c:invertIfNegative val="1"/>
            <c:bubble3D val="0"/>
            <c:extLst>
              <c:ext xmlns:c16="http://schemas.microsoft.com/office/drawing/2014/chart" uri="{C3380CC4-5D6E-409C-BE32-E72D297353CC}">
                <c16:uniqueId val="{00000005-6C71-F54F-8DE5-C10400A7F911}"/>
              </c:ext>
            </c:extLst>
          </c:dPt>
          <c:dPt>
            <c:idx val="3"/>
            <c:invertIfNegative val="1"/>
            <c:bubble3D val="0"/>
            <c:spPr>
              <a:solidFill>
                <a:srgbClr val="279989"/>
              </a:solidFill>
            </c:spPr>
            <c:extLst>
              <c:ext xmlns:c16="http://schemas.microsoft.com/office/drawing/2014/chart" uri="{C3380CC4-5D6E-409C-BE32-E72D297353CC}">
                <c16:uniqueId val="{00000007-6C71-F54F-8DE5-C10400A7F911}"/>
              </c:ext>
            </c:extLst>
          </c:dPt>
          <c:dLbls>
            <c:numFmt formatCode="[&lt;0.01]&quot;&lt;0.01&quot;;0.0" sourceLinked="0"/>
            <c:spPr>
              <a:noFill/>
              <a:ln>
                <a:noFill/>
              </a:ln>
              <a:effectLst/>
            </c:spPr>
            <c:txPr>
              <a:bodyPr/>
              <a:lstStyle/>
              <a:p>
                <a:pPr>
                  <a:defRPr sz="800" b="1">
                    <a:solidFill>
                      <a:srgbClr val="2E2D29"/>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C₁ = 0
48 / −11 / 17</c:v>
                </c:pt>
                <c:pt idx="1">
                  <c:v>0.3
43 / −5 / 17</c:v>
                </c:pt>
                <c:pt idx="2">
                  <c:v>0.6
37 / 0.5 / 16</c:v>
                </c:pt>
                <c:pt idx="3">
                  <c:v>1.0 mL/mmHg
34 / 3 / 16</c:v>
                </c:pt>
              </c:strCache>
            </c:strRef>
          </c:cat>
          <c:val>
            <c:numRef>
              <c:f>Sheet1!$B$2:$B$5</c:f>
              <c:numCache>
                <c:formatCode>General</c:formatCode>
                <c:ptCount val="4"/>
                <c:pt idx="0">
                  <c:v>96.99</c:v>
                </c:pt>
                <c:pt idx="1">
                  <c:v>34.86</c:v>
                </c:pt>
                <c:pt idx="2">
                  <c:v>3.8</c:v>
                </c:pt>
                <c:pt idx="3">
                  <c:v>3.2399999999999998E-3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8-6C71-F54F-8DE5-C10400A7F911}"/>
            </c:ext>
          </c:extLst>
        </c:ser>
        <c:dLbls>
          <c:dLblPos val="outEnd"/>
          <c:showLegendKey val="0"/>
          <c:showVal val="1"/>
          <c:showCatName val="0"/>
          <c:showSerName val="0"/>
          <c:showPercent val="0"/>
          <c:showBubbleSize val="0"/>
        </c:dLbls>
        <c:gapWidth val="7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9D7D4"/>
            </a:solidFill>
          </a:ln>
        </c:spPr>
        <c:txPr>
          <a:bodyPr/>
          <a:lstStyle/>
          <a:p>
            <a:pPr>
              <a:defRPr sz="750">
                <a:solidFill>
                  <a:srgbClr val="2E2D29"/>
                </a:solidFill>
                <a:latin typeface="Calibri"/>
              </a:defRPr>
            </a:pPr>
            <a:endParaRPr lang="en-US"/>
          </a:p>
        </c:txPr>
        <c:crossAx val="-2113994440"/>
        <c:crosses val="autoZero"/>
        <c:auto val="1"/>
        <c:lblAlgn val="ctr"/>
        <c:lblOffset val="100"/>
        <c:noMultiLvlLbl val="0"/>
      </c:catAx>
      <c:valAx>
        <c:axId val="-2113994440"/>
        <c:scaling>
          <c:orientation val="minMax"/>
          <c:max val="110"/>
          <c:min val="0"/>
        </c:scaling>
        <c:delete val="0"/>
        <c:axPos val="l"/>
        <c:majorGridlines>
          <c:spPr>
            <a:ln w="6350">
              <a:solidFill>
                <a:srgbClr val="E9E7E4"/>
              </a:solidFill>
            </a:ln>
          </c:spPr>
        </c:majorGridlines>
        <c:title>
          <c:tx>
            <c:rich>
              <a:bodyPr/>
              <a:lstStyle/>
              <a:p>
                <a:r>
                  <a:rPr sz="800" b="0">
                    <a:solidFill>
                      <a:srgbClr val="6B6965"/>
                    </a:solidFill>
                    <a:latin typeface="Calibri"/>
                  </a:rPr>
                  <a:t>χ² (3 pressures)</a:t>
                </a:r>
              </a:p>
            </c:rich>
          </c:tx>
          <c:overlay val="0"/>
        </c:title>
        <c:numFmt formatCode="0" sourceLinked="0"/>
        <c:majorTickMark val="out"/>
        <c:minorTickMark val="none"/>
        <c:tickLblPos val="nextTo"/>
        <c:spPr>
          <a:ln>
            <a:solidFill>
              <a:srgbClr val="D9D7D4"/>
            </a:solidFill>
          </a:ln>
        </c:spPr>
        <c:txPr>
          <a:bodyPr/>
          <a:lstStyle/>
          <a:p>
            <a:pPr>
              <a:defRPr sz="800">
                <a:solidFill>
                  <a:srgbClr val="6B6965"/>
                </a:solidFill>
                <a:latin typeface="Calibri"/>
              </a:defRPr>
            </a:pPr>
            <a:endParaRPr lang="en-US"/>
          </a:p>
        </c:txPr>
        <c:crossAx val="-2068027336"/>
        <c:crosses val="autoZero"/>
        <c:crossBetween val="between"/>
      </c:valAx>
    </c:plotArea>
    <c:plotVisOnly val="1"/>
    <c:dispBlanksAs val="gap"/>
    <c:showDLblsOverMax val="1"/>
  </c:chart>
  <c:txPr>
    <a:bodyPr/>
    <a:lstStyle/>
    <a:p>
      <a:pPr>
        <a:defRPr sz="800">
          <a:solidFill>
            <a:srgbClr val="6B6965"/>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χ²</c:v>
                </c:pt>
              </c:strCache>
            </c:strRef>
          </c:tx>
          <c:dPt>
            <c:idx val="0"/>
            <c:spPr>
              <a:solidFill>
                <a:srgbClr val="B5B3AF"/>
              </a:solidFill>
            </c:spPr>
          </c:dPt>
          <c:dPt>
            <c:idx val="1"/>
            <c:spPr>
              <a:solidFill>
                <a:srgbClr val="8C1515"/>
              </a:solidFill>
            </c:spPr>
          </c:dPt>
          <c:dPt>
            <c:idx val="2"/>
            <c:spPr>
              <a:solidFill>
                <a:srgbClr val="8C1515"/>
              </a:solidFill>
            </c:spPr>
          </c:dPt>
          <c:dPt>
            <c:idx val="3"/>
            <c:spPr>
              <a:solidFill>
                <a:srgbClr val="8C1515"/>
              </a:solidFill>
            </c:spPr>
          </c:dPt>
          <c:dPt>
            <c:idx val="4"/>
            <c:spPr>
              <a:solidFill>
                <a:srgbClr val="E98300"/>
              </a:solidFill>
            </c:spPr>
          </c:dPt>
          <c:cat>
            <c:strRef>
              <c:f>Sheet1!$A$2:$A$6</c:f>
              <c:strCache>
                <c:ptCount val="5"/>
                <c:pt idx="0">
                  <c:v>Rigid seed, literature trees</c:v>
                </c:pt>
                <c:pt idx="1">
                  <c:v>+ proximal C, Eh/r 10⁵</c:v>
                </c:pt>
                <c:pt idx="2">
                  <c:v>+ proximal C, Eh/r 5×10⁴</c:v>
                </c:pt>
                <c:pt idx="3">
                  <c:v>+ k₃ free in control range</c:v>
                </c:pt>
                <c:pt idx="4">
                  <c:v>+ pre-capillary outlet 9.99</c:v>
                </c:pt>
              </c:strCache>
            </c:strRef>
          </c:cat>
          <c:val>
            <c:numRef>
              <c:f>Sheet1!$B$2:$B$6</c:f>
              <c:numCache>
                <c:formatCode>General</c:formatCode>
                <c:ptCount val="5"/>
                <c:pt idx="0">
                  <c:v>267</c:v>
                </c:pt>
                <c:pt idx="1">
                  <c:v>61</c:v>
                </c:pt>
                <c:pt idx="2">
                  <c:v>35</c:v>
                </c:pt>
                <c:pt idx="3">
                  <c:v>33.5</c:v>
                </c:pt>
                <c:pt idx="4">
                  <c:v>17.3</c:v>
                </c:pt>
              </c:numCache>
            </c:numRef>
          </c:val>
        </c:ser>
        <c:dLbls>
          <c:numFmt formatCode="0.#" sourceLinked="0"/>
          <c:txPr>
            <a:bodyPr/>
            <a:lstStyle/>
            <a:p>
              <a:pPr>
                <a:defRPr sz="900" b="1">
                  <a:solidFill>
                    <a:srgbClr val="2E2D29"/>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B5B3AF"/>
            </a:solidFill>
          </a:ln>
        </c:spPr>
        <c:txPr>
          <a:bodyPr/>
          <a:lstStyle/>
          <a:p>
            <a:pPr>
              <a:defRPr sz="800">
                <a:solidFill>
                  <a:srgbClr val="2E2D29"/>
                </a:solidFill>
              </a:defRPr>
            </a:pPr>
          </a:p>
        </c:txPr>
        <c:crossAx val="-2113994440"/>
        <c:crosses val="autoZero"/>
        <c:auto val="1"/>
        <c:lblAlgn val="ctr"/>
        <c:lblOffset val="100"/>
        <c:noMultiLvlLbl val="0"/>
      </c:catAx>
      <c:valAx>
        <c:axId val="-2113994440"/>
        <c:scaling>
          <c:max val="300.0"/>
          <c:min val="0.0"/>
        </c:scaling>
        <c:delete val="0"/>
        <c:axPos val="b"/>
        <c:majorGridlines>
          <c:spPr>
            <a:ln w="6350">
              <a:solidFill>
                <a:srgbClr val="D9D7D4"/>
              </a:solidFill>
            </a:ln>
          </c:spPr>
        </c:majorGridlines>
        <c:majorTickMark val="out"/>
        <c:minorTickMark val="none"/>
        <c:tickLblPos val="nextTo"/>
        <c:spPr>
          <a:ln>
            <a:noFill/>
          </a:ln>
        </c:spPr>
        <c:txPr>
          <a:bodyPr/>
          <a:lstStyle/>
          <a:p>
            <a:pPr>
              <a:defRPr sz="750">
                <a:solidFill>
                  <a:srgbClr val="6B6965"/>
                </a:solidFill>
              </a:defRPr>
            </a:pPr>
          </a:p>
        </c:txPr>
        <c:crossAx val="-2068027336"/>
        <c:crosses val="autoZero"/>
        <c:majorUnit val="100.0"/>
      </c:valAx>
    </c:plotArea>
    <c:dispBlanksAs val="gap"/>
  </c:chart>
  <c:txPr>
    <a:bodyPr/>
    <a:lstStyle/>
    <a:p>
      <a:pPr>
        <a:defRPr sz="800">
          <a:solidFill>
            <a:srgbClr val="6B6965"/>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Catheter target</c:v>
                </c:pt>
              </c:strCache>
            </c:strRef>
          </c:tx>
          <c:spPr>
            <a:solidFill>
              <a:srgbClr val="B5B3AF"/>
            </a:solidFill>
          </c:spPr>
          <c:invertIfNegative val="0"/>
          <c:cat>
            <c:strRef>
              <c:f>Sheet1!$A$2:$A$4</c:f>
              <c:strCache>
                <c:ptCount val="3"/>
                <c:pt idx="0">
                  <c:v>Systolic</c:v>
                </c:pt>
                <c:pt idx="1">
                  <c:v>Diastolic</c:v>
                </c:pt>
                <c:pt idx="2">
                  <c:v>Mean</c:v>
                </c:pt>
              </c:strCache>
            </c:strRef>
          </c:cat>
          <c:val>
            <c:numRef>
              <c:f>Sheet1!$B$2:$B$4</c:f>
              <c:numCache>
                <c:formatCode>General</c:formatCode>
                <c:ptCount val="3"/>
                <c:pt idx="0">
                  <c:v>34.0</c:v>
                </c:pt>
                <c:pt idx="1">
                  <c:v>3.0</c:v>
                </c:pt>
                <c:pt idx="2">
                  <c:v>16.0</c:v>
                </c:pt>
              </c:numCache>
            </c:numRef>
          </c:val>
        </c:ser>
        <c:ser>
          <c:idx val="1"/>
          <c:order val="1"/>
          <c:tx>
            <c:strRef>
              <c:f>Sheet1!$C$1</c:f>
              <c:strCache>
                <c:ptCount val="1"/>
                <c:pt idx="0">
                  <c:v>Option 1 (published)</c:v>
                </c:pt>
              </c:strCache>
            </c:strRef>
          </c:tx>
          <c:spPr>
            <a:solidFill>
              <a:srgbClr val="8C1515"/>
            </a:solidFill>
          </c:spPr>
          <c:invertIfNegative val="0"/>
          <c:cat>
            <c:strRef>
              <c:f>Sheet1!$A$2:$A$4</c:f>
              <c:strCache>
                <c:ptCount val="3"/>
                <c:pt idx="0">
                  <c:v>Systolic</c:v>
                </c:pt>
                <c:pt idx="1">
                  <c:v>Diastolic</c:v>
                </c:pt>
                <c:pt idx="2">
                  <c:v>Mean</c:v>
                </c:pt>
              </c:strCache>
            </c:strRef>
          </c:cat>
          <c:val>
            <c:numRef>
              <c:f>Sheet1!$C$2:$C$4</c:f>
              <c:numCache>
                <c:formatCode>General</c:formatCode>
                <c:ptCount val="3"/>
                <c:pt idx="0">
                  <c:v>36.8</c:v>
                </c:pt>
                <c:pt idx="1">
                  <c:v>-4.7</c:v>
                </c:pt>
                <c:pt idx="2">
                  <c:v>14.6</c:v>
                </c:pt>
              </c:numCache>
            </c:numRef>
          </c:val>
        </c:ser>
        <c:dLbls>
          <c:numFmt formatCode="0.0" sourceLinked="0"/>
          <c:txPr>
            <a:bodyPr/>
            <a:lstStyle/>
            <a:p>
              <a:pPr>
                <a:defRPr sz="900" b="1">
                  <a:solidFill>
                    <a:srgbClr val="2E2D29"/>
                  </a:solidFill>
                </a:defRPr>
              </a:pPr>
            </a:p>
          </c:txPr>
          <c:dLblPos val="outEnd"/>
          <c:showLegendKey val="0"/>
          <c:showVal val="1"/>
          <c:showCatName val="0"/>
          <c:showSerName val="0"/>
          <c:showPercent val="0"/>
          <c:showBubbleSize val="0"/>
          <c:showLeaderLines val="1"/>
        </c:dLbls>
        <c:gapWidth val="80"/>
        <c:overlap val="-10"/>
        <c:axId val="-2068027336"/>
        <c:axId val="-2113994440"/>
      </c:barChart>
      <c:catAx>
        <c:axId val="-2068027336"/>
        <c:scaling>
          <c:orientation val="minMax"/>
        </c:scaling>
        <c:delete val="0"/>
        <c:axPos val="b"/>
        <c:majorTickMark val="out"/>
        <c:minorTickMark val="none"/>
        <c:tickLblPos val="low"/>
        <c:spPr>
          <a:ln>
            <a:solidFill>
              <a:srgbClr val="B5B3AF"/>
            </a:solidFill>
          </a:ln>
        </c:spPr>
        <c:txPr>
          <a:bodyPr/>
          <a:lstStyle/>
          <a:p>
            <a:pPr>
              <a:defRPr sz="800">
                <a:solidFill>
                  <a:srgbClr val="2E2D29"/>
                </a:solidFill>
              </a:defRPr>
            </a:pPr>
          </a:p>
        </c:txPr>
        <c:crossAx val="-2113994440"/>
        <c:crosses val="autoZero"/>
        <c:auto val="1"/>
        <c:lblAlgn val="ctr"/>
        <c:lblOffset val="100"/>
        <c:noMultiLvlLbl val="0"/>
      </c:catAx>
      <c:valAx>
        <c:axId val="-2113994440"/>
        <c:scaling>
          <c:max val="40.0"/>
          <c:min val="-10.0"/>
        </c:scaling>
        <c:delete val="0"/>
        <c:axPos val="l"/>
        <c:majorGridlines>
          <c:spPr>
            <a:ln w="6350">
              <a:solidFill>
                <a:srgbClr val="D9D7D4"/>
              </a:solidFill>
            </a:ln>
          </c:spPr>
        </c:majorGridlines>
        <c:majorTickMark val="out"/>
        <c:minorTickMark val="none"/>
        <c:tickLblPos val="nextTo"/>
        <c:spPr>
          <a:ln>
            <a:noFill/>
          </a:ln>
        </c:spPr>
        <c:txPr>
          <a:bodyPr/>
          <a:lstStyle/>
          <a:p>
            <a:pPr>
              <a:defRPr sz="800">
                <a:solidFill>
                  <a:srgbClr val="6B6965"/>
                </a:solidFill>
              </a:defRPr>
            </a:pPr>
          </a:p>
        </c:txPr>
        <c:crossAx val="-2068027336"/>
        <c:crosses val="autoZero"/>
        <c:majorUnit val="10.0"/>
      </c:valAx>
    </c:plotArea>
    <c:legend>
      <c:legendPos val="t"/>
      <c:overlay val="0"/>
      <c:txPr>
        <a:bodyPr/>
        <a:lstStyle/>
        <a:p>
          <a:pPr>
            <a:defRPr sz="800">
              <a:solidFill>
                <a:srgbClr val="2E2D29"/>
              </a:solidFill>
            </a:defRPr>
          </a:pPr>
        </a:p>
      </c:txPr>
    </c:legend>
    <c:dispBlanksAs val="gap"/>
  </c:chart>
  <c:txPr>
    <a:bodyPr/>
    <a:lstStyle/>
    <a:p>
      <a:pPr>
        <a:defRPr sz="800">
          <a:solidFill>
            <a:srgbClr val="6B6965"/>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F612655-39F8-F347-982F-58746B965C3A}" type="datetimeFigureOut">
              <a:rPr lang="en-US" smtClean="0"/>
              <a:t>9/25/26</a:t>
            </a:fld>
            <a:endParaRPr lang="en-US"/>
          </a:p>
        </p:txBody>
      </p:sp>
      <p:sp>
        <p:nvSpPr>
          <p:cNvPr id="4" name="Slide Image Placeholder 3"/>
          <p:cNvSpPr>
            <a:spLocks noGrp="1" noRot="1" noChangeAspect="1"/>
          </p:cNvSpPr>
          <p:nvPr>
            <p:ph type="sldImg" idx="2"/>
          </p:nvPr>
        </p:nvSpPr>
        <p:spPr>
          <a:xfrm>
            <a:off x="960438" y="1143000"/>
            <a:ext cx="49371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7F6E32E-09CA-1D45-A9FC-AFD720388DA7}" type="slidenum">
              <a:rPr lang="en-US" smtClean="0"/>
              <a:t>‹#›</a:t>
            </a:fld>
            <a:endParaRPr lang="en-US"/>
          </a:p>
        </p:txBody>
      </p:sp>
    </p:spTree>
    <p:extLst>
      <p:ext uri="{BB962C8B-B14F-4D97-AF65-F5344CB8AC3E}">
        <p14:creationId xmlns:p14="http://schemas.microsoft.com/office/powerpoint/2010/main" val="28165414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Overview of the updated Stage 2 loop. Red boxes are the three changes this cycle: learnedZeroD seed generation (iteration 1 only), geometric centerline BC mapping, and svZeroDCalibrator in the outer loop. All components are code-complete; the loop as a whole is now being exercised in its first end-to-end runs.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learnedZeroD (Natalia Rubio) is called as an external executable with the SimVascular branched 0D JSON, the centerline VTP and svZeroDSolver. Its output is validated and published with provenance before it is staged as inputs/full_pa_zerod.json for iteration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Centerline-generated 0D models name vessels branch&lt;N&gt;_seg&lt;K&gt; and number BCs in branch order, unrelated to cap filename order, so serialized-order mapping is wrong for these seeds. The geometric strategy pairs caps and outlets through the centerline instead. Optionally, the optimizer can use one shared tree per side at a conductance-matched diameter, N·G(d_ref) = ΣG(d_i), while the final BCs are built per cap.</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Postprocess publishes a last-cycle centerline time series with a descriptor that records the SHA-256 of the tuned 0D model it came from, so calibration cannot use data from another iteration. The standard pysvzerod.calibrate API is the only optimizer; it is run twice to confirm a fixed point, then the normalized model is replayed for stability before target gates are evaluated. svzt-agent chains postprocess and calibration with afterok and does the compare-and-set promotion.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Motivation. The first full-PA tuning runs on TST-STAN-5 use the Stage 2 defaults from slide 18: systemic k1 = 2e7, k3 = 0, k2 tuned. The optimizer drives k2 to about -70, so Eh/r collapses to 36-3,800 dyn/cm^2 at the tree roots (r = 0.12-0.19 cm). The fit is acceptable (chi2 25.7) but the roots are nearly stiffness-free: wave speed 5-49 cm/s and 32 mL/mmHg of tree compliance, 20-30x what a lumped model needs. A methods reviewer would reject these values, which motivates the study in examples/adaptation/tst5-physiological-tuning-study (PLAN.md).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Phase 0 diagnostics before any tree tuning. A lumped Rp-C-Rd model driven by the measured TST-STAN-5 inflow fits 34/3/16 exactly once C is at least about 1 mL/mmHg; above that the three pressure targets cannot distinguish C values (profile flat to 3 mL/mmHg). The regurgitant inflow (54% backflow) makes the pulse pressure very sensitive to whatever impedance sits in front of the compliance: at most ~140 dyn s/cm^5. The calibrated seed already has ~122, and control-range tree roots add 115-185 of characteristic impedance, so literature stiffness overshoots the budget. k3 = 0 trees have root impedance of ~8, which is why they fit.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Overview of the TST-STAN-5 physiological tuning study, 24 Sep to 5 Oct 2026. Each round tested one change and scored the published per-cap model with the Gaussian likelihood. R1 (v1) showed that literature stiffness with a rigid seed drives diastolic strongly negative and that unbounded xi exploits max_nodes truncation. R2 (v2b) added seed-vessel compliance (the v2 relative-objective run is superseded). R3 moved the tree outlet pressure to the pre-capillary value 9.99 mmHg. R4 and R5 tried to soften the trees further through k3 or k2 and were rejected. R6 locks the configuration (Option 1) and compares shared vs per-cap objective trees; the shared run finished at chi2 17.3, the per-cap run is still going.</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Informative Phase 1 comparisons, published per-cap model. The current settings (B0, B0-w7) fit best; switching the wedge from the diastolic clamp (3) to the measured 7 mmHg improves chi2 from 25.7 to 9.9. Every literature-stiffness case overshoots systolic and drives diastolic negative, consistent with the impedance budget on the previous slide. The automated Block A winner (fix-10-0.1) and every Phase 2/3 run sit at xi = 6, eta = 0.9 with all 23 trees truncated at 100k nodes, which collapses tree resistance. The selection rules did not check truncation, so Phases 2-3 are invalid; E8 (2e5 nodes) did not catch it because xi = 6 trees still truncate.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calibrated seed carries 15.6 mL of lumen volume but essentially zero compliance. A physiological proximal wall would store part of the regurgitant stroke volume ahead of the proximal resistance. In a two-compliance lumped model with the full 270 dyn s/cm^5 proximal impedance, adding 0.6 mL/mmHg of proximal compliance improves the best fit from chi2 97 to 3.8 (37/0.5/16.3 mmHg) and 1.0 mL/mmHg fits exactly. This is an upper bound, since all proximal compliance is lumped ahead of all proximal resistance. The earlier ruling-out of proximal compliance (D2) used the learned seed's 1.2 mL volume.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best physiological chi2 after each change that was kept. Rigid seed with literature trees: 267 (P-fix-rigid-0.1). Proximal compliance at Eh/r 1e5 (0.31 mL/mmHg): 61; at Krenz &amp; Dawson 5e4 (0.63 mL/mmHg): 35; freeing k3 within the control range: 33.5 (v2b winner P-k3-prox5e4-1). Moving the tree outlet to the pre-capillary pressure (7 + 0.332 x 9 = 9.99 mmHg) halves it to 17.3. Right: three ways to reach a lower chi2 that were rejected. k3 = 0 with free k2 is the current pipeline setting and fits only with near-zero root stiffness. Lowering k3 toward 0 helps only through the oversized rpa_2 cap (d 0.854 cm), which the shared objective tree never sees. Tuning k2 sends it to the -50 bound.</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 1 result with shared conductance-matched objective trees (runs/phaseo1cmp-1/shared): published per-cap model 36.8 / -4.7 / 14.6 mmHg, RPA split 0.875, chi2 17.3 = sys 2.0 + dia 14.8 + mean 0.5 + split 0.1. xi sits at the Murray bound (3.0) on both sides, eta at 0.89 / 0.97 and k3 at 5.2e4, just above the Krenz &amp; Dawson lower bound: the data want softer or larger trees than the literature ranges allow. Total model compliance 1.79 mL/mmHg (proximal 0.63 + trees 1.16) is slightly above the SV/PP bracket 0.77-1.44. Next: finish the per-cap objective-tree comparison (removes the ~2.6 mmHg surrogate gap), run the robustness package (8-start multi-start, 9 one-at-a-time sensitivity cases, Jacobian), port the study hooks into ImpedanceTuner / svzt-agent, and set the 3D wall to match the proximal Eh/r (E ~ 2e5 dyn/cm^2 at h = 0.2 cm).</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 1 is the configuration we plan to use going forward for the full-PA impedance BCs. Proximal: the calibrated learnedZeroD seed (45 vessels) with per-vessel compliance C = 3AL/(2 Eh/r) at the Krenz &amp; Dawson stiffness 5e4, which gives 0.63 mL/mmHg. Distal: one structured tree per outlet cap at its measured diameter, with Olufsen stiffness Eh/r = k1 exp(k2 r) + k3 using the pulmonary k1 = 2.6e5, k2 = -14; k3 is the single stiffness knob, bounded to the control range [5e4, 4e5]. Tree outlet pressure is the pre-capillary value P_LA + 0.332 (mPAP - P_LA) = 9.99 mmHg. Five free parameters (xi and eta per side, k3) against four targets, Gaussian likelihood. Before production, the likelihood objective, pre-capillary outlet pressure, proximal-compliance preprocessing and eta bound must be ported from the study harness into ImpedanceTuner / svzt-agent, and the 3D wall must be matched to Eh/r 5e4.</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microsoft.com/office/2007/relationships/hdphoto" Target="../media/hdphoto1.wdp"/><Relationship Id="rId4"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w/image">
    <p:bg>
      <p:bgPr>
        <a:solidFill>
          <a:schemeClr val="tx1"/>
        </a:solidFill>
        <a:effectLst/>
      </p:bgPr>
    </p:bg>
    <p:spTree>
      <p:nvGrpSpPr>
        <p:cNvPr id="1" name=""/>
        <p:cNvGrpSpPr/>
        <p:nvPr/>
      </p:nvGrpSpPr>
      <p:grpSpPr>
        <a:xfrm>
          <a:off x="0" y="0"/>
          <a:ext cx="0" cy="0"/>
          <a:chOff x="0" y="0"/>
          <a:chExt cx="0" cy="0"/>
        </a:xfrm>
      </p:grpSpPr>
      <p:pic>
        <p:nvPicPr>
          <p:cNvPr id="14" name="Picture 13" descr="Background pattern&#10;&#10;Description automatically generated">
            <a:extLst>
              <a:ext uri="{FF2B5EF4-FFF2-40B4-BE49-F238E27FC236}">
                <a16:creationId xmlns:a16="http://schemas.microsoft.com/office/drawing/2014/main" id="{F57962F0-D43B-AD1B-95F7-59D2CF576262}"/>
              </a:ext>
            </a:extLst>
          </p:cNvPr>
          <p:cNvPicPr>
            <a:picLocks noChangeAspect="1"/>
          </p:cNvPicPr>
          <p:nvPr userDrawn="1"/>
        </p:nvPicPr>
        <p:blipFill>
          <a:blip r:embed="rId2"/>
          <a:stretch>
            <a:fillRect/>
          </a:stretch>
        </p:blipFill>
        <p:spPr>
          <a:xfrm>
            <a:off x="0" y="0"/>
            <a:ext cx="3215261" cy="5715000"/>
          </a:xfrm>
          <a:prstGeom prst="rect">
            <a:avLst/>
          </a:prstGeom>
        </p:spPr>
      </p:pic>
      <p:sp>
        <p:nvSpPr>
          <p:cNvPr id="2" name="Title 1"/>
          <p:cNvSpPr>
            <a:spLocks noGrp="1"/>
          </p:cNvSpPr>
          <p:nvPr>
            <p:ph type="ctrTitle" hasCustomPrompt="1"/>
          </p:nvPr>
        </p:nvSpPr>
        <p:spPr>
          <a:xfrm>
            <a:off x="5025813" y="484442"/>
            <a:ext cx="3931919" cy="3288305"/>
          </a:xfrm>
        </p:spPr>
        <p:txBody>
          <a:bodyPr anchor="b"/>
          <a:lstStyle>
            <a:lvl1pPr algn="l">
              <a:defRPr sz="4500">
                <a:solidFill>
                  <a:schemeClr val="bg1"/>
                </a:solidFill>
              </a:defRPr>
            </a:lvl1pPr>
          </a:lstStyle>
          <a:p>
            <a:r>
              <a:rPr lang="en-US" dirty="0"/>
              <a:t>Click to edit main title style</a:t>
            </a:r>
          </a:p>
        </p:txBody>
      </p:sp>
      <p:sp>
        <p:nvSpPr>
          <p:cNvPr id="3" name="Subtitle 2"/>
          <p:cNvSpPr>
            <a:spLocks noGrp="1"/>
          </p:cNvSpPr>
          <p:nvPr>
            <p:ph type="subTitle" idx="1" hasCustomPrompt="1"/>
          </p:nvPr>
        </p:nvSpPr>
        <p:spPr>
          <a:xfrm>
            <a:off x="5025813" y="3854026"/>
            <a:ext cx="3935306" cy="1198881"/>
          </a:xfrm>
        </p:spPr>
        <p:txBody>
          <a:bodyPr/>
          <a:lstStyle>
            <a:lvl1pPr marL="0" indent="0" algn="l">
              <a:buNone/>
              <a:defRPr sz="180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First Last Name</a:t>
            </a:r>
          </a:p>
          <a:p>
            <a:r>
              <a:rPr lang="en-US" dirty="0"/>
              <a:t>Department</a:t>
            </a:r>
          </a:p>
          <a:p>
            <a:r>
              <a:rPr lang="en-US" dirty="0"/>
              <a:t>Date 20XX</a:t>
            </a:r>
          </a:p>
        </p:txBody>
      </p:sp>
      <p:pic>
        <p:nvPicPr>
          <p:cNvPr id="7" name="Picture 6">
            <a:extLst>
              <a:ext uri="{FF2B5EF4-FFF2-40B4-BE49-F238E27FC236}">
                <a16:creationId xmlns:a16="http://schemas.microsoft.com/office/drawing/2014/main" id="{E24CEC4E-08A4-C71F-B0A5-85DDDB2EA33F}"/>
              </a:ext>
            </a:extLst>
          </p:cNvPr>
          <p:cNvPicPr>
            <a:picLocks noChangeAspect="1"/>
          </p:cNvPicPr>
          <p:nvPr userDrawn="1"/>
        </p:nvPicPr>
        <p:blipFill>
          <a:blip r:embed="rId3"/>
          <a:srcRect/>
          <a:stretch/>
        </p:blipFill>
        <p:spPr>
          <a:xfrm>
            <a:off x="7357532" y="5383110"/>
            <a:ext cx="1600200" cy="192741"/>
          </a:xfrm>
          <a:prstGeom prst="rect">
            <a:avLst/>
          </a:prstGeom>
        </p:spPr>
      </p:pic>
      <p:sp>
        <p:nvSpPr>
          <p:cNvPr id="10" name="Picture Placeholder 9">
            <a:extLst>
              <a:ext uri="{FF2B5EF4-FFF2-40B4-BE49-F238E27FC236}">
                <a16:creationId xmlns:a16="http://schemas.microsoft.com/office/drawing/2014/main" id="{5C0E9908-EFC8-2B4D-13A9-F0DFA354FB02}"/>
              </a:ext>
            </a:extLst>
          </p:cNvPr>
          <p:cNvSpPr>
            <a:spLocks noGrp="1"/>
          </p:cNvSpPr>
          <p:nvPr>
            <p:ph type="pic" sz="quarter" idx="10" hasCustomPrompt="1"/>
          </p:nvPr>
        </p:nvSpPr>
        <p:spPr>
          <a:xfrm>
            <a:off x="325437" y="484443"/>
            <a:ext cx="4568463" cy="4568464"/>
          </a:xfrm>
          <a:solidFill>
            <a:schemeClr val="bg2"/>
          </a:solidFill>
        </p:spPr>
        <p:txBody>
          <a:bodyPr anchor="ctr" anchorCtr="0">
            <a:normAutofit/>
          </a:bodyPr>
          <a:lstStyle>
            <a:lvl1pPr marL="0" indent="0" algn="ctr">
              <a:buNone/>
              <a:defRPr sz="800"/>
            </a:lvl1pPr>
          </a:lstStyle>
          <a:p>
            <a:r>
              <a:rPr lang="en-US" dirty="0"/>
              <a:t>Insert image (square ratio)</a:t>
            </a:r>
          </a:p>
          <a:p>
            <a:endParaRPr lang="en-US" dirty="0"/>
          </a:p>
          <a:p>
            <a:endParaRPr lang="en-US" dirty="0"/>
          </a:p>
        </p:txBody>
      </p:sp>
    </p:spTree>
    <p:extLst>
      <p:ext uri="{BB962C8B-B14F-4D97-AF65-F5344CB8AC3E}">
        <p14:creationId xmlns:p14="http://schemas.microsoft.com/office/powerpoint/2010/main" val="36448090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txt only">
    <p:bg>
      <p:bgPr>
        <a:solidFill>
          <a:schemeClr val="tx1"/>
        </a:solidFill>
        <a:effectLst/>
      </p:bgPr>
    </p:bg>
    <p:spTree>
      <p:nvGrpSpPr>
        <p:cNvPr id="1" name=""/>
        <p:cNvGrpSpPr/>
        <p:nvPr/>
      </p:nvGrpSpPr>
      <p:grpSpPr>
        <a:xfrm>
          <a:off x="0" y="0"/>
          <a:ext cx="0" cy="0"/>
          <a:chOff x="0" y="0"/>
          <a:chExt cx="0" cy="0"/>
        </a:xfrm>
      </p:grpSpPr>
      <p:pic>
        <p:nvPicPr>
          <p:cNvPr id="14" name="Picture 13" descr="Background pattern&#10;&#10;Description automatically generated">
            <a:extLst>
              <a:ext uri="{FF2B5EF4-FFF2-40B4-BE49-F238E27FC236}">
                <a16:creationId xmlns:a16="http://schemas.microsoft.com/office/drawing/2014/main" id="{F57962F0-D43B-AD1B-95F7-59D2CF576262}"/>
              </a:ext>
            </a:extLst>
          </p:cNvPr>
          <p:cNvPicPr>
            <a:picLocks noChangeAspect="1"/>
          </p:cNvPicPr>
          <p:nvPr userDrawn="1"/>
        </p:nvPicPr>
        <p:blipFill>
          <a:blip r:embed="rId2"/>
          <a:stretch>
            <a:fillRect/>
          </a:stretch>
        </p:blipFill>
        <p:spPr>
          <a:xfrm>
            <a:off x="0" y="0"/>
            <a:ext cx="3215261" cy="5715000"/>
          </a:xfrm>
          <a:prstGeom prst="rect">
            <a:avLst/>
          </a:prstGeom>
        </p:spPr>
      </p:pic>
      <p:sp>
        <p:nvSpPr>
          <p:cNvPr id="2" name="Title 1"/>
          <p:cNvSpPr>
            <a:spLocks noGrp="1"/>
          </p:cNvSpPr>
          <p:nvPr>
            <p:ph type="ctrTitle" hasCustomPrompt="1"/>
          </p:nvPr>
        </p:nvSpPr>
        <p:spPr>
          <a:xfrm>
            <a:off x="1363132" y="1955800"/>
            <a:ext cx="7479792" cy="1405468"/>
          </a:xfrm>
        </p:spPr>
        <p:txBody>
          <a:bodyPr anchor="t" anchorCtr="0"/>
          <a:lstStyle>
            <a:lvl1pPr algn="l">
              <a:defRPr sz="4500">
                <a:solidFill>
                  <a:schemeClr val="bg1"/>
                </a:solidFill>
              </a:defRPr>
            </a:lvl1pPr>
          </a:lstStyle>
          <a:p>
            <a:r>
              <a:rPr lang="en-US" dirty="0"/>
              <a:t>Click to edit main title style, continues across two lines</a:t>
            </a:r>
          </a:p>
        </p:txBody>
      </p:sp>
      <p:sp>
        <p:nvSpPr>
          <p:cNvPr id="3" name="Subtitle 2"/>
          <p:cNvSpPr>
            <a:spLocks noGrp="1"/>
          </p:cNvSpPr>
          <p:nvPr>
            <p:ph type="subTitle" idx="1" hasCustomPrompt="1"/>
          </p:nvPr>
        </p:nvSpPr>
        <p:spPr>
          <a:xfrm>
            <a:off x="3688080" y="3386669"/>
            <a:ext cx="3935306" cy="1198881"/>
          </a:xfrm>
        </p:spPr>
        <p:txBody>
          <a:bodyPr/>
          <a:lstStyle>
            <a:lvl1pPr marL="0" indent="0" algn="l">
              <a:buNone/>
              <a:defRPr sz="180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First Last Name</a:t>
            </a:r>
          </a:p>
          <a:p>
            <a:r>
              <a:rPr lang="en-US" dirty="0"/>
              <a:t>Department</a:t>
            </a:r>
          </a:p>
          <a:p>
            <a:r>
              <a:rPr lang="en-US" dirty="0"/>
              <a:t>Date 20XX</a:t>
            </a:r>
          </a:p>
        </p:txBody>
      </p:sp>
      <p:pic>
        <p:nvPicPr>
          <p:cNvPr id="7" name="Picture 6">
            <a:extLst>
              <a:ext uri="{FF2B5EF4-FFF2-40B4-BE49-F238E27FC236}">
                <a16:creationId xmlns:a16="http://schemas.microsoft.com/office/drawing/2014/main" id="{E24CEC4E-08A4-C71F-B0A5-85DDDB2EA33F}"/>
              </a:ext>
            </a:extLst>
          </p:cNvPr>
          <p:cNvPicPr>
            <a:picLocks noChangeAspect="1"/>
          </p:cNvPicPr>
          <p:nvPr userDrawn="1"/>
        </p:nvPicPr>
        <p:blipFill>
          <a:blip r:embed="rId3"/>
          <a:srcRect/>
          <a:stretch/>
        </p:blipFill>
        <p:spPr>
          <a:xfrm>
            <a:off x="7357532" y="5383110"/>
            <a:ext cx="1600200" cy="192741"/>
          </a:xfrm>
          <a:prstGeom prst="rect">
            <a:avLst/>
          </a:prstGeom>
        </p:spPr>
      </p:pic>
    </p:spTree>
    <p:extLst>
      <p:ext uri="{BB962C8B-B14F-4D97-AF65-F5344CB8AC3E}">
        <p14:creationId xmlns:p14="http://schemas.microsoft.com/office/powerpoint/2010/main" val="19799085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w/image + graphic elements">
    <p:bg>
      <p:bgPr>
        <a:solidFill>
          <a:schemeClr val="bg1"/>
        </a:solidFill>
        <a:effectLst/>
      </p:bgPr>
    </p:bg>
    <p:spTree>
      <p:nvGrpSpPr>
        <p:cNvPr id="1" name=""/>
        <p:cNvGrpSpPr/>
        <p:nvPr/>
      </p:nvGrpSpPr>
      <p:grpSpPr>
        <a:xfrm>
          <a:off x="0" y="0"/>
          <a:ext cx="0" cy="0"/>
          <a:chOff x="0" y="0"/>
          <a:chExt cx="0" cy="0"/>
        </a:xfrm>
      </p:grpSpPr>
      <p:pic>
        <p:nvPicPr>
          <p:cNvPr id="8" name="Picture 7" descr="A picture containing text, silhouette&#10;&#10;Description automatically generated">
            <a:extLst>
              <a:ext uri="{FF2B5EF4-FFF2-40B4-BE49-F238E27FC236}">
                <a16:creationId xmlns:a16="http://schemas.microsoft.com/office/drawing/2014/main" id="{62FC2C5C-4480-C310-F167-8EE8AC2F1060}"/>
              </a:ext>
            </a:extLst>
          </p:cNvPr>
          <p:cNvPicPr>
            <a:picLocks noChangeAspect="1"/>
          </p:cNvPicPr>
          <p:nvPr userDrawn="1"/>
        </p:nvPicPr>
        <p:blipFill>
          <a:blip r:embed="rId2"/>
          <a:stretch>
            <a:fillRect/>
          </a:stretch>
        </p:blipFill>
        <p:spPr>
          <a:xfrm>
            <a:off x="947058" y="-11194"/>
            <a:ext cx="8196942" cy="5726194"/>
          </a:xfrm>
          <a:prstGeom prst="rect">
            <a:avLst/>
          </a:prstGeom>
          <a:noFill/>
        </p:spPr>
      </p:pic>
      <p:pic>
        <p:nvPicPr>
          <p:cNvPr id="10" name="Picture 9">
            <a:extLst>
              <a:ext uri="{FF2B5EF4-FFF2-40B4-BE49-F238E27FC236}">
                <a16:creationId xmlns:a16="http://schemas.microsoft.com/office/drawing/2014/main" id="{08799441-F534-A055-49C0-8C4A658143D9}"/>
              </a:ext>
            </a:extLst>
          </p:cNvPr>
          <p:cNvPicPr>
            <a:picLocks noChangeAspect="1"/>
          </p:cNvPicPr>
          <p:nvPr userDrawn="1"/>
        </p:nvPicPr>
        <p:blipFill>
          <a:blip r:embed="rId3"/>
          <a:stretch>
            <a:fillRect/>
          </a:stretch>
        </p:blipFill>
        <p:spPr>
          <a:xfrm>
            <a:off x="0" y="4224338"/>
            <a:ext cx="9144000" cy="1490662"/>
          </a:xfrm>
          <a:prstGeom prst="rect">
            <a:avLst/>
          </a:prstGeom>
        </p:spPr>
      </p:pic>
      <p:pic>
        <p:nvPicPr>
          <p:cNvPr id="7" name="Picture 6">
            <a:extLst>
              <a:ext uri="{FF2B5EF4-FFF2-40B4-BE49-F238E27FC236}">
                <a16:creationId xmlns:a16="http://schemas.microsoft.com/office/drawing/2014/main" id="{E24CEC4E-08A4-C71F-B0A5-85DDDB2EA33F}"/>
              </a:ext>
            </a:extLst>
          </p:cNvPr>
          <p:cNvPicPr>
            <a:picLocks noChangeAspect="1"/>
          </p:cNvPicPr>
          <p:nvPr userDrawn="1"/>
        </p:nvPicPr>
        <p:blipFill>
          <a:blip r:embed="rId4"/>
          <a:srcRect/>
          <a:stretch/>
        </p:blipFill>
        <p:spPr>
          <a:xfrm>
            <a:off x="7357532" y="233979"/>
            <a:ext cx="1600200" cy="192741"/>
          </a:xfrm>
          <a:prstGeom prst="rect">
            <a:avLst/>
          </a:prstGeom>
        </p:spPr>
      </p:pic>
      <p:sp>
        <p:nvSpPr>
          <p:cNvPr id="4" name="Title 1">
            <a:extLst>
              <a:ext uri="{FF2B5EF4-FFF2-40B4-BE49-F238E27FC236}">
                <a16:creationId xmlns:a16="http://schemas.microsoft.com/office/drawing/2014/main" id="{FEF746EA-8D7B-2B2C-B6A6-AF6BC5BE2D76}"/>
              </a:ext>
            </a:extLst>
          </p:cNvPr>
          <p:cNvSpPr>
            <a:spLocks noGrp="1"/>
          </p:cNvSpPr>
          <p:nvPr>
            <p:ph type="ctrTitle" hasCustomPrompt="1"/>
          </p:nvPr>
        </p:nvSpPr>
        <p:spPr>
          <a:xfrm>
            <a:off x="5025813" y="853440"/>
            <a:ext cx="3931919" cy="2919307"/>
          </a:xfrm>
        </p:spPr>
        <p:txBody>
          <a:bodyPr anchor="b"/>
          <a:lstStyle>
            <a:lvl1pPr algn="l">
              <a:defRPr sz="4500">
                <a:solidFill>
                  <a:schemeClr val="bg1"/>
                </a:solidFill>
              </a:defRPr>
            </a:lvl1pPr>
          </a:lstStyle>
          <a:p>
            <a:r>
              <a:rPr lang="en-US" dirty="0"/>
              <a:t>Click to edit main title style</a:t>
            </a:r>
          </a:p>
        </p:txBody>
      </p:sp>
      <p:sp>
        <p:nvSpPr>
          <p:cNvPr id="5" name="Subtitle 2">
            <a:extLst>
              <a:ext uri="{FF2B5EF4-FFF2-40B4-BE49-F238E27FC236}">
                <a16:creationId xmlns:a16="http://schemas.microsoft.com/office/drawing/2014/main" id="{CC7A326A-5023-234E-A8FC-08D90ACB3215}"/>
              </a:ext>
            </a:extLst>
          </p:cNvPr>
          <p:cNvSpPr>
            <a:spLocks noGrp="1"/>
          </p:cNvSpPr>
          <p:nvPr>
            <p:ph type="subTitle" idx="1" hasCustomPrompt="1"/>
          </p:nvPr>
        </p:nvSpPr>
        <p:spPr>
          <a:xfrm>
            <a:off x="5025813" y="3854026"/>
            <a:ext cx="3935306" cy="1198881"/>
          </a:xfrm>
        </p:spPr>
        <p:txBody>
          <a:bodyPr/>
          <a:lstStyle>
            <a:lvl1pPr marL="0" indent="0" algn="l">
              <a:buNone/>
              <a:defRPr sz="180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First Last Name</a:t>
            </a:r>
          </a:p>
          <a:p>
            <a:r>
              <a:rPr lang="en-US" dirty="0"/>
              <a:t>Department</a:t>
            </a:r>
          </a:p>
          <a:p>
            <a:r>
              <a:rPr lang="en-US" dirty="0"/>
              <a:t>Date 20XX</a:t>
            </a:r>
          </a:p>
        </p:txBody>
      </p:sp>
      <p:sp>
        <p:nvSpPr>
          <p:cNvPr id="12" name="Picture Placeholder 11">
            <a:extLst>
              <a:ext uri="{FF2B5EF4-FFF2-40B4-BE49-F238E27FC236}">
                <a16:creationId xmlns:a16="http://schemas.microsoft.com/office/drawing/2014/main" id="{56628AFC-58B4-A1DD-58D2-E36C40AFD249}"/>
              </a:ext>
            </a:extLst>
          </p:cNvPr>
          <p:cNvSpPr>
            <a:spLocks noGrp="1"/>
          </p:cNvSpPr>
          <p:nvPr>
            <p:ph type="pic" sz="quarter" idx="10" hasCustomPrompt="1"/>
          </p:nvPr>
        </p:nvSpPr>
        <p:spPr>
          <a:xfrm>
            <a:off x="0" y="0"/>
            <a:ext cx="6840538" cy="4875213"/>
          </a:xfrm>
          <a:custGeom>
            <a:avLst/>
            <a:gdLst>
              <a:gd name="connsiteX0" fmla="*/ 0 w 6840538"/>
              <a:gd name="connsiteY0" fmla="*/ 0 h 4875213"/>
              <a:gd name="connsiteX1" fmla="*/ 6840538 w 6840538"/>
              <a:gd name="connsiteY1" fmla="*/ 0 h 4875213"/>
              <a:gd name="connsiteX2" fmla="*/ 6840538 w 6840538"/>
              <a:gd name="connsiteY2" fmla="*/ 16083 h 4875213"/>
              <a:gd name="connsiteX3" fmla="*/ 6695809 w 6840538"/>
              <a:gd name="connsiteY3" fmla="*/ 15070 h 4875213"/>
              <a:gd name="connsiteX4" fmla="*/ 6448699 w 6840538"/>
              <a:gd name="connsiteY4" fmla="*/ 14802 h 4875213"/>
              <a:gd name="connsiteX5" fmla="*/ 6300778 w 6840538"/>
              <a:gd name="connsiteY5" fmla="*/ 37885 h 4875213"/>
              <a:gd name="connsiteX6" fmla="*/ 6038492 w 6840538"/>
              <a:gd name="connsiteY6" fmla="*/ 413015 h 4875213"/>
              <a:gd name="connsiteX7" fmla="*/ 6027641 w 6840538"/>
              <a:gd name="connsiteY7" fmla="*/ 652885 h 4875213"/>
              <a:gd name="connsiteX8" fmla="*/ 5709861 w 6840538"/>
              <a:gd name="connsiteY8" fmla="*/ 975948 h 4875213"/>
              <a:gd name="connsiteX9" fmla="*/ 5506495 w 6840538"/>
              <a:gd name="connsiteY9" fmla="*/ 981422 h 4875213"/>
              <a:gd name="connsiteX10" fmla="*/ 5164347 w 6840538"/>
              <a:gd name="connsiteY10" fmla="*/ 1290444 h 4875213"/>
              <a:gd name="connsiteX11" fmla="*/ 5153971 w 6840538"/>
              <a:gd name="connsiteY11" fmla="*/ 1448121 h 4875213"/>
              <a:gd name="connsiteX12" fmla="*/ 5133078 w 6840538"/>
              <a:gd name="connsiteY12" fmla="*/ 1670430 h 4875213"/>
              <a:gd name="connsiteX13" fmla="*/ 4811634 w 6840538"/>
              <a:gd name="connsiteY13" fmla="*/ 1938474 h 4875213"/>
              <a:gd name="connsiteX14" fmla="*/ 4634776 w 6840538"/>
              <a:gd name="connsiteY14" fmla="*/ 1943852 h 4875213"/>
              <a:gd name="connsiteX15" fmla="*/ 4273829 w 6840538"/>
              <a:gd name="connsiteY15" fmla="*/ 2340162 h 4875213"/>
              <a:gd name="connsiteX16" fmla="*/ 4272687 w 6840538"/>
              <a:gd name="connsiteY16" fmla="*/ 2689210 h 4875213"/>
              <a:gd name="connsiteX17" fmla="*/ 4272687 w 6840538"/>
              <a:gd name="connsiteY17" fmla="*/ 2869827 h 4875213"/>
              <a:gd name="connsiteX18" fmla="*/ 4238468 w 6840538"/>
              <a:gd name="connsiteY18" fmla="*/ 2869827 h 4875213"/>
              <a:gd name="connsiteX19" fmla="*/ 3821550 w 6840538"/>
              <a:gd name="connsiteY19" fmla="*/ 2870065 h 4875213"/>
              <a:gd name="connsiteX20" fmla="*/ 3644075 w 6840538"/>
              <a:gd name="connsiteY20" fmla="*/ 2906474 h 4875213"/>
              <a:gd name="connsiteX21" fmla="*/ 3420576 w 6840538"/>
              <a:gd name="connsiteY21" fmla="*/ 3235962 h 4875213"/>
              <a:gd name="connsiteX22" fmla="*/ 3410154 w 6840538"/>
              <a:gd name="connsiteY22" fmla="*/ 3483971 h 4875213"/>
              <a:gd name="connsiteX23" fmla="*/ 3087615 w 6840538"/>
              <a:gd name="connsiteY23" fmla="*/ 3832210 h 4875213"/>
              <a:gd name="connsiteX24" fmla="*/ 2881822 w 6840538"/>
              <a:gd name="connsiteY24" fmla="*/ 3837778 h 4875213"/>
              <a:gd name="connsiteX25" fmla="*/ 2545861 w 6840538"/>
              <a:gd name="connsiteY25" fmla="*/ 4132095 h 4875213"/>
              <a:gd name="connsiteX26" fmla="*/ 2532630 w 6840538"/>
              <a:gd name="connsiteY26" fmla="*/ 4284061 h 4875213"/>
              <a:gd name="connsiteX27" fmla="*/ 2517828 w 6840538"/>
              <a:gd name="connsiteY27" fmla="*/ 4496660 h 4875213"/>
              <a:gd name="connsiteX28" fmla="*/ 2459764 w 6840538"/>
              <a:gd name="connsiteY28" fmla="*/ 4635014 h 4875213"/>
              <a:gd name="connsiteX29" fmla="*/ 1514371 w 6840538"/>
              <a:gd name="connsiteY29" fmla="*/ 4417465 h 4875213"/>
              <a:gd name="connsiteX30" fmla="*/ 771726 w 6840538"/>
              <a:gd name="connsiteY30" fmla="*/ 4293675 h 4875213"/>
              <a:gd name="connsiteX31" fmla="*/ 367326 w 6840538"/>
              <a:gd name="connsiteY31" fmla="*/ 4253982 h 4875213"/>
              <a:gd name="connsiteX32" fmla="*/ 6188 w 6840538"/>
              <a:gd name="connsiteY32" fmla="*/ 4238990 h 4875213"/>
              <a:gd name="connsiteX33" fmla="*/ 6148 w 6840538"/>
              <a:gd name="connsiteY33" fmla="*/ 4875213 h 4875213"/>
              <a:gd name="connsiteX34" fmla="*/ 0 w 6840538"/>
              <a:gd name="connsiteY34" fmla="*/ 4875213 h 48752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6840538" h="4875213">
                <a:moveTo>
                  <a:pt x="0" y="0"/>
                </a:moveTo>
                <a:lnTo>
                  <a:pt x="6840538" y="0"/>
                </a:lnTo>
                <a:lnTo>
                  <a:pt x="6840538" y="16083"/>
                </a:lnTo>
                <a:lnTo>
                  <a:pt x="6695809" y="15070"/>
                </a:lnTo>
                <a:cubicBezTo>
                  <a:pt x="6613431" y="14350"/>
                  <a:pt x="6531059" y="13874"/>
                  <a:pt x="6448699" y="14802"/>
                </a:cubicBezTo>
                <a:cubicBezTo>
                  <a:pt x="6399249" y="15373"/>
                  <a:pt x="6348468" y="23416"/>
                  <a:pt x="6300778" y="37885"/>
                </a:cubicBezTo>
                <a:cubicBezTo>
                  <a:pt x="6141485" y="86335"/>
                  <a:pt x="6043966" y="229209"/>
                  <a:pt x="6038492" y="413015"/>
                </a:cubicBezTo>
                <a:cubicBezTo>
                  <a:pt x="6036113" y="493066"/>
                  <a:pt x="6037541" y="573881"/>
                  <a:pt x="6027641" y="652885"/>
                </a:cubicBezTo>
                <a:cubicBezTo>
                  <a:pt x="6006510" y="821841"/>
                  <a:pt x="5865443" y="963479"/>
                  <a:pt x="5709861" y="975948"/>
                </a:cubicBezTo>
                <a:cubicBezTo>
                  <a:pt x="5642326" y="981327"/>
                  <a:pt x="5574268" y="979327"/>
                  <a:pt x="5506495" y="981422"/>
                </a:cubicBezTo>
                <a:cubicBezTo>
                  <a:pt x="5339776" y="986561"/>
                  <a:pt x="5198090" y="1112541"/>
                  <a:pt x="5164347" y="1290444"/>
                </a:cubicBezTo>
                <a:cubicBezTo>
                  <a:pt x="5154638" y="1341608"/>
                  <a:pt x="5154971" y="1395435"/>
                  <a:pt x="5153971" y="1448121"/>
                </a:cubicBezTo>
                <a:cubicBezTo>
                  <a:pt x="5152591" y="1522986"/>
                  <a:pt x="5155352" y="1597897"/>
                  <a:pt x="5133078" y="1670430"/>
                </a:cubicBezTo>
                <a:cubicBezTo>
                  <a:pt x="5087484" y="1818730"/>
                  <a:pt x="4954794" y="1930383"/>
                  <a:pt x="4811634" y="1938474"/>
                </a:cubicBezTo>
                <a:cubicBezTo>
                  <a:pt x="4752760" y="1941806"/>
                  <a:pt x="4693744" y="1941853"/>
                  <a:pt x="4634776" y="1943852"/>
                </a:cubicBezTo>
                <a:cubicBezTo>
                  <a:pt x="4432696" y="1950801"/>
                  <a:pt x="4277779" y="2119995"/>
                  <a:pt x="4273829" y="2340162"/>
                </a:cubicBezTo>
                <a:cubicBezTo>
                  <a:pt x="4271735" y="2456480"/>
                  <a:pt x="4272878" y="2572846"/>
                  <a:pt x="4272687" y="2689210"/>
                </a:cubicBezTo>
                <a:cubicBezTo>
                  <a:pt x="4272592" y="2747893"/>
                  <a:pt x="4272687" y="2806576"/>
                  <a:pt x="4272687" y="2869827"/>
                </a:cubicBezTo>
                <a:cubicBezTo>
                  <a:pt x="4256933" y="2869827"/>
                  <a:pt x="4247700" y="2869827"/>
                  <a:pt x="4238468" y="2869827"/>
                </a:cubicBezTo>
                <a:cubicBezTo>
                  <a:pt x="4099495" y="2869827"/>
                  <a:pt x="3960523" y="2869303"/>
                  <a:pt x="3821550" y="2870065"/>
                </a:cubicBezTo>
                <a:cubicBezTo>
                  <a:pt x="3760583" y="2870398"/>
                  <a:pt x="3700664" y="2881012"/>
                  <a:pt x="3644075" y="2906474"/>
                </a:cubicBezTo>
                <a:cubicBezTo>
                  <a:pt x="3509292" y="2967203"/>
                  <a:pt x="3433998" y="3078191"/>
                  <a:pt x="3420576" y="3235962"/>
                </a:cubicBezTo>
                <a:cubicBezTo>
                  <a:pt x="3413581" y="3318251"/>
                  <a:pt x="3416532" y="3401539"/>
                  <a:pt x="3410154" y="3483971"/>
                </a:cubicBezTo>
                <a:cubicBezTo>
                  <a:pt x="3396209" y="3664111"/>
                  <a:pt x="3252763" y="3818932"/>
                  <a:pt x="3087615" y="3832210"/>
                </a:cubicBezTo>
                <a:cubicBezTo>
                  <a:pt x="3019270" y="3837683"/>
                  <a:pt x="2950403" y="3835399"/>
                  <a:pt x="2881822" y="3837778"/>
                </a:cubicBezTo>
                <a:cubicBezTo>
                  <a:pt x="2723098" y="3843300"/>
                  <a:pt x="2581889" y="3965043"/>
                  <a:pt x="2545861" y="4132095"/>
                </a:cubicBezTo>
                <a:cubicBezTo>
                  <a:pt x="2535247" y="4181165"/>
                  <a:pt x="2536104" y="4233278"/>
                  <a:pt x="2532630" y="4284061"/>
                </a:cubicBezTo>
                <a:cubicBezTo>
                  <a:pt x="2527775" y="4355022"/>
                  <a:pt x="2531392" y="4427840"/>
                  <a:pt x="2517828" y="4496660"/>
                </a:cubicBezTo>
                <a:cubicBezTo>
                  <a:pt x="2507833" y="4547300"/>
                  <a:pt x="2487559" y="4594131"/>
                  <a:pt x="2459764" y="4635014"/>
                </a:cubicBezTo>
                <a:cubicBezTo>
                  <a:pt x="2147029" y="4552440"/>
                  <a:pt x="1832104" y="4478670"/>
                  <a:pt x="1514371" y="4417465"/>
                </a:cubicBezTo>
                <a:cubicBezTo>
                  <a:pt x="1268028" y="4370014"/>
                  <a:pt x="1019925" y="4330703"/>
                  <a:pt x="771726" y="4293675"/>
                </a:cubicBezTo>
                <a:cubicBezTo>
                  <a:pt x="637894" y="4273733"/>
                  <a:pt x="502395" y="4263596"/>
                  <a:pt x="367326" y="4253982"/>
                </a:cubicBezTo>
                <a:cubicBezTo>
                  <a:pt x="247201" y="4245415"/>
                  <a:pt x="126600" y="4243702"/>
                  <a:pt x="6188" y="4238990"/>
                </a:cubicBezTo>
                <a:lnTo>
                  <a:pt x="6148" y="4875213"/>
                </a:lnTo>
                <a:lnTo>
                  <a:pt x="0" y="4875213"/>
                </a:lnTo>
                <a:close/>
              </a:path>
            </a:pathLst>
          </a:custGeom>
          <a:solidFill>
            <a:schemeClr val="bg1">
              <a:lumMod val="95000"/>
            </a:schemeClr>
          </a:solidFill>
        </p:spPr>
        <p:txBody>
          <a:bodyPr wrap="square" anchor="ctr" anchorCtr="0">
            <a:noAutofit/>
          </a:bodyPr>
          <a:lstStyle>
            <a:lvl1pPr marL="0" indent="0" algn="ctr">
              <a:buNone/>
              <a:defRPr sz="800"/>
            </a:lvl1pPr>
          </a:lstStyle>
          <a:p>
            <a:r>
              <a:rPr lang="en-US" dirty="0"/>
              <a:t>Insert image</a:t>
            </a:r>
          </a:p>
          <a:p>
            <a:endParaRPr lang="en-US" dirty="0"/>
          </a:p>
          <a:p>
            <a:endParaRPr lang="en-US" dirty="0"/>
          </a:p>
        </p:txBody>
      </p:sp>
    </p:spTree>
    <p:extLst>
      <p:ext uri="{BB962C8B-B14F-4D97-AF65-F5344CB8AC3E}">
        <p14:creationId xmlns:p14="http://schemas.microsoft.com/office/powerpoint/2010/main" val="4990265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w/txt &amp; graphic elements">
    <p:bg>
      <p:bgPr>
        <a:solidFill>
          <a:schemeClr val="bg1"/>
        </a:solidFill>
        <a:effectLst/>
      </p:bgPr>
    </p:bg>
    <p:spTree>
      <p:nvGrpSpPr>
        <p:cNvPr id="1" name=""/>
        <p:cNvGrpSpPr/>
        <p:nvPr/>
      </p:nvGrpSpPr>
      <p:grpSpPr>
        <a:xfrm>
          <a:off x="0" y="0"/>
          <a:ext cx="0" cy="0"/>
          <a:chOff x="0" y="0"/>
          <a:chExt cx="0" cy="0"/>
        </a:xfrm>
      </p:grpSpPr>
      <p:pic>
        <p:nvPicPr>
          <p:cNvPr id="14" name="Picture 13" descr="Background pattern&#10;&#10;Description automatically generated">
            <a:extLst>
              <a:ext uri="{FF2B5EF4-FFF2-40B4-BE49-F238E27FC236}">
                <a16:creationId xmlns:a16="http://schemas.microsoft.com/office/drawing/2014/main" id="{F57962F0-D43B-AD1B-95F7-59D2CF576262}"/>
              </a:ext>
            </a:extLst>
          </p:cNvPr>
          <p:cNvPicPr>
            <a:picLocks noChangeAspect="1"/>
          </p:cNvPicPr>
          <p:nvPr userDrawn="1"/>
        </p:nvPicPr>
        <p:blipFill>
          <a:blip r:embed="rId2"/>
          <a:stretch>
            <a:fillRect/>
          </a:stretch>
        </p:blipFill>
        <p:spPr>
          <a:xfrm>
            <a:off x="0" y="0"/>
            <a:ext cx="3215261" cy="5715000"/>
          </a:xfrm>
          <a:prstGeom prst="rect">
            <a:avLst/>
          </a:prstGeom>
        </p:spPr>
      </p:pic>
      <p:sp>
        <p:nvSpPr>
          <p:cNvPr id="2" name="Title 1"/>
          <p:cNvSpPr>
            <a:spLocks noGrp="1"/>
          </p:cNvSpPr>
          <p:nvPr>
            <p:ph type="ctrTitle" hasCustomPrompt="1"/>
          </p:nvPr>
        </p:nvSpPr>
        <p:spPr>
          <a:xfrm>
            <a:off x="1363133" y="1955800"/>
            <a:ext cx="7476067" cy="1405468"/>
          </a:xfrm>
        </p:spPr>
        <p:txBody>
          <a:bodyPr anchor="t" anchorCtr="0"/>
          <a:lstStyle>
            <a:lvl1pPr algn="l">
              <a:defRPr sz="4500">
                <a:solidFill>
                  <a:schemeClr val="tx2"/>
                </a:solidFill>
              </a:defRPr>
            </a:lvl1pPr>
          </a:lstStyle>
          <a:p>
            <a:r>
              <a:rPr lang="en-US" dirty="0"/>
              <a:t>Click to edit main title style, continues across two lines</a:t>
            </a:r>
          </a:p>
        </p:txBody>
      </p:sp>
      <p:sp>
        <p:nvSpPr>
          <p:cNvPr id="3" name="Subtitle 2"/>
          <p:cNvSpPr>
            <a:spLocks noGrp="1"/>
          </p:cNvSpPr>
          <p:nvPr>
            <p:ph type="subTitle" idx="1" hasCustomPrompt="1"/>
          </p:nvPr>
        </p:nvSpPr>
        <p:spPr>
          <a:xfrm>
            <a:off x="3688080" y="3386669"/>
            <a:ext cx="3935306" cy="1198881"/>
          </a:xfrm>
        </p:spPr>
        <p:txBody>
          <a:bodyPr/>
          <a:lstStyle>
            <a:lvl1pPr marL="0" indent="0" algn="l">
              <a:buNone/>
              <a:defRPr sz="1800">
                <a:solidFill>
                  <a:schemeClr val="tx2"/>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First Last Name</a:t>
            </a:r>
          </a:p>
          <a:p>
            <a:r>
              <a:rPr lang="en-US" dirty="0"/>
              <a:t>Department</a:t>
            </a:r>
          </a:p>
          <a:p>
            <a:r>
              <a:rPr lang="en-US" dirty="0"/>
              <a:t>Date 20XX</a:t>
            </a:r>
          </a:p>
        </p:txBody>
      </p:sp>
      <p:pic>
        <p:nvPicPr>
          <p:cNvPr id="7" name="Picture 6">
            <a:extLst>
              <a:ext uri="{FF2B5EF4-FFF2-40B4-BE49-F238E27FC236}">
                <a16:creationId xmlns:a16="http://schemas.microsoft.com/office/drawing/2014/main" id="{E24CEC4E-08A4-C71F-B0A5-85DDDB2EA33F}"/>
              </a:ext>
            </a:extLst>
          </p:cNvPr>
          <p:cNvPicPr>
            <a:picLocks noChangeAspect="1"/>
          </p:cNvPicPr>
          <p:nvPr userDrawn="1"/>
        </p:nvPicPr>
        <p:blipFill>
          <a:blip r:embed="rId3"/>
          <a:srcRect/>
          <a:stretch/>
        </p:blipFill>
        <p:spPr>
          <a:xfrm>
            <a:off x="7357532" y="5383110"/>
            <a:ext cx="1600200" cy="192741"/>
          </a:xfrm>
          <a:prstGeom prst="rect">
            <a:avLst/>
          </a:prstGeom>
        </p:spPr>
      </p:pic>
      <p:pic>
        <p:nvPicPr>
          <p:cNvPr id="4" name="Picture 3" descr="Logo&#10;&#10;Description automatically generated">
            <a:extLst>
              <a:ext uri="{FF2B5EF4-FFF2-40B4-BE49-F238E27FC236}">
                <a16:creationId xmlns:a16="http://schemas.microsoft.com/office/drawing/2014/main" id="{E390D0B6-7C8D-6AFE-0E0B-45D4A95D0210}"/>
              </a:ext>
            </a:extLst>
          </p:cNvPr>
          <p:cNvPicPr>
            <a:picLocks noChangeAspect="1"/>
          </p:cNvPicPr>
          <p:nvPr userDrawn="1"/>
        </p:nvPicPr>
        <p:blipFill>
          <a:blip r:embed="rId4"/>
          <a:stretch>
            <a:fillRect/>
          </a:stretch>
        </p:blipFill>
        <p:spPr>
          <a:xfrm>
            <a:off x="7357532" y="5309034"/>
            <a:ext cx="1600200" cy="340894"/>
          </a:xfrm>
          <a:prstGeom prst="rect">
            <a:avLst/>
          </a:prstGeom>
        </p:spPr>
      </p:pic>
    </p:spTree>
    <p:extLst>
      <p:ext uri="{BB962C8B-B14F-4D97-AF65-F5344CB8AC3E}">
        <p14:creationId xmlns:p14="http://schemas.microsoft.com/office/powerpoint/2010/main" val="11135884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 w/txt on white">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363132" y="1955800"/>
            <a:ext cx="7479792" cy="1405468"/>
          </a:xfrm>
        </p:spPr>
        <p:txBody>
          <a:bodyPr anchor="t" anchorCtr="0"/>
          <a:lstStyle>
            <a:lvl1pPr algn="l">
              <a:defRPr sz="4500">
                <a:solidFill>
                  <a:schemeClr val="tx2"/>
                </a:solidFill>
              </a:defRPr>
            </a:lvl1pPr>
          </a:lstStyle>
          <a:p>
            <a:r>
              <a:rPr lang="en-US" dirty="0"/>
              <a:t>Click to edit main title style, continues across two lines</a:t>
            </a:r>
          </a:p>
        </p:txBody>
      </p:sp>
      <p:sp>
        <p:nvSpPr>
          <p:cNvPr id="3" name="Subtitle 2"/>
          <p:cNvSpPr>
            <a:spLocks noGrp="1"/>
          </p:cNvSpPr>
          <p:nvPr>
            <p:ph type="subTitle" idx="1" hasCustomPrompt="1"/>
          </p:nvPr>
        </p:nvSpPr>
        <p:spPr>
          <a:xfrm>
            <a:off x="3688080" y="3386669"/>
            <a:ext cx="3935306" cy="1198881"/>
          </a:xfrm>
        </p:spPr>
        <p:txBody>
          <a:bodyPr/>
          <a:lstStyle>
            <a:lvl1pPr marL="0" indent="0" algn="l">
              <a:buNone/>
              <a:defRPr sz="1800">
                <a:solidFill>
                  <a:schemeClr val="tx2"/>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First Last Name</a:t>
            </a:r>
          </a:p>
          <a:p>
            <a:r>
              <a:rPr lang="en-US" dirty="0"/>
              <a:t>Department</a:t>
            </a:r>
          </a:p>
          <a:p>
            <a:r>
              <a:rPr lang="en-US" dirty="0"/>
              <a:t>Date 20XX</a:t>
            </a:r>
          </a:p>
        </p:txBody>
      </p:sp>
      <p:pic>
        <p:nvPicPr>
          <p:cNvPr id="7" name="Picture 6">
            <a:extLst>
              <a:ext uri="{FF2B5EF4-FFF2-40B4-BE49-F238E27FC236}">
                <a16:creationId xmlns:a16="http://schemas.microsoft.com/office/drawing/2014/main" id="{E24CEC4E-08A4-C71F-B0A5-85DDDB2EA33F}"/>
              </a:ext>
            </a:extLst>
          </p:cNvPr>
          <p:cNvPicPr>
            <a:picLocks noChangeAspect="1"/>
          </p:cNvPicPr>
          <p:nvPr userDrawn="1"/>
        </p:nvPicPr>
        <p:blipFill>
          <a:blip r:embed="rId2"/>
          <a:srcRect/>
          <a:stretch/>
        </p:blipFill>
        <p:spPr>
          <a:xfrm>
            <a:off x="7357532" y="5383110"/>
            <a:ext cx="1600200" cy="192741"/>
          </a:xfrm>
          <a:prstGeom prst="rect">
            <a:avLst/>
          </a:prstGeom>
        </p:spPr>
      </p:pic>
      <p:pic>
        <p:nvPicPr>
          <p:cNvPr id="4" name="Picture 3" descr="Logo&#10;&#10;Description automatically generated">
            <a:extLst>
              <a:ext uri="{FF2B5EF4-FFF2-40B4-BE49-F238E27FC236}">
                <a16:creationId xmlns:a16="http://schemas.microsoft.com/office/drawing/2014/main" id="{FE0637C8-ED3F-F19F-5C08-EBE8AF0932A4}"/>
              </a:ext>
            </a:extLst>
          </p:cNvPr>
          <p:cNvPicPr>
            <a:picLocks noChangeAspect="1"/>
          </p:cNvPicPr>
          <p:nvPr userDrawn="1"/>
        </p:nvPicPr>
        <p:blipFill>
          <a:blip r:embed="rId3"/>
          <a:stretch>
            <a:fillRect/>
          </a:stretch>
        </p:blipFill>
        <p:spPr>
          <a:xfrm>
            <a:off x="7357532" y="5309034"/>
            <a:ext cx="1600200" cy="340894"/>
          </a:xfrm>
          <a:prstGeom prst="rect">
            <a:avLst/>
          </a:prstGeom>
        </p:spPr>
      </p:pic>
    </p:spTree>
    <p:extLst>
      <p:ext uri="{BB962C8B-B14F-4D97-AF65-F5344CB8AC3E}">
        <p14:creationId xmlns:p14="http://schemas.microsoft.com/office/powerpoint/2010/main" val="19708940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20040" y="304271"/>
            <a:ext cx="8503920" cy="914929"/>
          </a:xfrm>
        </p:spPr>
        <p:txBody>
          <a:bodyPr/>
          <a:lstStyle/>
          <a:p>
            <a:r>
              <a:rPr lang="en-US" dirty="0"/>
              <a:t>Content slide – title one line</a:t>
            </a:r>
          </a:p>
        </p:txBody>
      </p:sp>
      <p:sp>
        <p:nvSpPr>
          <p:cNvPr id="6" name="Slide Number Placeholder 5"/>
          <p:cNvSpPr>
            <a:spLocks noGrp="1"/>
          </p:cNvSpPr>
          <p:nvPr>
            <p:ph type="sldNum" sz="quarter" idx="12"/>
          </p:nvPr>
        </p:nvSpPr>
        <p:spPr>
          <a:xfrm>
            <a:off x="6766560" y="5296959"/>
            <a:ext cx="2057400" cy="304271"/>
          </a:xfrm>
          <a:prstGeom prst="rect">
            <a:avLst/>
          </a:prstGeom>
        </p:spPr>
        <p:txBody>
          <a:bodyPr/>
          <a:lstStyle>
            <a:lvl1pPr>
              <a:defRPr>
                <a:solidFill>
                  <a:schemeClr val="tx2"/>
                </a:solidFill>
              </a:defRPr>
            </a:lvl1pPr>
          </a:lstStyle>
          <a:p>
            <a:fld id="{177CE274-8713-884F-B04F-B6B90AF41963}" type="slidenum">
              <a:rPr lang="en-US" smtClean="0"/>
              <a:pPr/>
              <a:t>‹#›</a:t>
            </a:fld>
            <a:endParaRPr lang="en-US"/>
          </a:p>
        </p:txBody>
      </p:sp>
      <p:cxnSp>
        <p:nvCxnSpPr>
          <p:cNvPr id="8" name="Straight Connector 7">
            <a:extLst>
              <a:ext uri="{FF2B5EF4-FFF2-40B4-BE49-F238E27FC236}">
                <a16:creationId xmlns:a16="http://schemas.microsoft.com/office/drawing/2014/main" id="{CC637EAD-EE5A-08B6-674E-72BC48E5D9B8}"/>
              </a:ext>
            </a:extLst>
          </p:cNvPr>
          <p:cNvCxnSpPr>
            <a:cxnSpLocks/>
          </p:cNvCxnSpPr>
          <p:nvPr userDrawn="1"/>
        </p:nvCxnSpPr>
        <p:spPr>
          <a:xfrm>
            <a:off x="320040" y="5296959"/>
            <a:ext cx="8503920" cy="0"/>
          </a:xfrm>
          <a:prstGeom prst="line">
            <a:avLst/>
          </a:prstGeom>
          <a:ln w="31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5" name="Text Placeholder 4">
            <a:extLst>
              <a:ext uri="{FF2B5EF4-FFF2-40B4-BE49-F238E27FC236}">
                <a16:creationId xmlns:a16="http://schemas.microsoft.com/office/drawing/2014/main" id="{22CF8161-66D2-8164-188D-E9FE96DAC02A}"/>
              </a:ext>
            </a:extLst>
          </p:cNvPr>
          <p:cNvSpPr>
            <a:spLocks noGrp="1"/>
          </p:cNvSpPr>
          <p:nvPr>
            <p:ph type="body" sz="quarter" idx="13"/>
          </p:nvPr>
        </p:nvSpPr>
        <p:spPr>
          <a:xfrm>
            <a:off x="320675" y="1335024"/>
            <a:ext cx="8503920" cy="38130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400560600"/>
      </p:ext>
    </p:extLst>
  </p:cSld>
  <p:clrMapOvr>
    <a:masterClrMapping/>
  </p:clrMapOvr>
  <p:extLst>
    <p:ext uri="{DCECCB84-F9BA-43D5-87BE-67443E8EF086}">
      <p15:sldGuideLst xmlns:p15="http://schemas.microsoft.com/office/powerpoint/2012/main">
        <p15:guide id="1" orient="horz" pos="1800" userDrawn="1">
          <p15:clr>
            <a:srgbClr val="FBAE40"/>
          </p15:clr>
        </p15:guide>
        <p15:guide id="2" pos="288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w/bkg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0850A2D-1B7D-8A2D-30A7-5B07DBBD327C}"/>
              </a:ext>
            </a:extLst>
          </p:cNvPr>
          <p:cNvSpPr/>
          <p:nvPr userDrawn="1"/>
        </p:nvSpPr>
        <p:spPr>
          <a:xfrm>
            <a:off x="0" y="1333501"/>
            <a:ext cx="9144000" cy="39634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320040" y="304271"/>
            <a:ext cx="8503920" cy="914929"/>
          </a:xfrm>
        </p:spPr>
        <p:txBody>
          <a:bodyPr/>
          <a:lstStyle/>
          <a:p>
            <a:r>
              <a:rPr lang="en-US" dirty="0"/>
              <a:t>Content w/background – title one line</a:t>
            </a:r>
          </a:p>
        </p:txBody>
      </p:sp>
      <p:sp>
        <p:nvSpPr>
          <p:cNvPr id="6" name="Slide Number Placeholder 5"/>
          <p:cNvSpPr>
            <a:spLocks noGrp="1"/>
          </p:cNvSpPr>
          <p:nvPr>
            <p:ph type="sldNum" sz="quarter" idx="12"/>
          </p:nvPr>
        </p:nvSpPr>
        <p:spPr>
          <a:xfrm>
            <a:off x="6766560" y="5296959"/>
            <a:ext cx="2057400" cy="304271"/>
          </a:xfrm>
          <a:prstGeom prst="rect">
            <a:avLst/>
          </a:prstGeom>
        </p:spPr>
        <p:txBody>
          <a:bodyPr/>
          <a:lstStyle>
            <a:lvl1pPr>
              <a:defRPr>
                <a:solidFill>
                  <a:schemeClr val="tx2"/>
                </a:solidFill>
              </a:defRPr>
            </a:lvl1pPr>
          </a:lstStyle>
          <a:p>
            <a:fld id="{F7340B6C-CA73-B044-A89C-37F5E5CDE01B}" type="slidenum">
              <a:rPr lang="en-US" smtClean="0"/>
              <a:pPr/>
              <a:t>‹#›</a:t>
            </a:fld>
            <a:endParaRPr lang="en-US" dirty="0"/>
          </a:p>
        </p:txBody>
      </p:sp>
      <p:sp>
        <p:nvSpPr>
          <p:cNvPr id="8" name="Text Placeholder 4">
            <a:extLst>
              <a:ext uri="{FF2B5EF4-FFF2-40B4-BE49-F238E27FC236}">
                <a16:creationId xmlns:a16="http://schemas.microsoft.com/office/drawing/2014/main" id="{1897999A-5CCE-3781-664B-3FA2924D18BC}"/>
              </a:ext>
            </a:extLst>
          </p:cNvPr>
          <p:cNvSpPr>
            <a:spLocks noGrp="1"/>
          </p:cNvSpPr>
          <p:nvPr>
            <p:ph type="body" sz="quarter" idx="13"/>
          </p:nvPr>
        </p:nvSpPr>
        <p:spPr>
          <a:xfrm>
            <a:off x="320675" y="1483911"/>
            <a:ext cx="8503920" cy="3657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547975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Content w/imag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20039" y="304271"/>
            <a:ext cx="5669280" cy="914929"/>
          </a:xfrm>
        </p:spPr>
        <p:txBody>
          <a:bodyPr/>
          <a:lstStyle/>
          <a:p>
            <a:r>
              <a:rPr lang="en-US" dirty="0"/>
              <a:t>Content slide with image</a:t>
            </a:r>
          </a:p>
        </p:txBody>
      </p:sp>
      <p:sp>
        <p:nvSpPr>
          <p:cNvPr id="6" name="Slide Number Placeholder 5"/>
          <p:cNvSpPr>
            <a:spLocks noGrp="1"/>
          </p:cNvSpPr>
          <p:nvPr>
            <p:ph type="sldNum" sz="quarter" idx="12"/>
          </p:nvPr>
        </p:nvSpPr>
        <p:spPr>
          <a:xfrm>
            <a:off x="6766560" y="5296959"/>
            <a:ext cx="2057400" cy="304271"/>
          </a:xfrm>
          <a:prstGeom prst="rect">
            <a:avLst/>
          </a:prstGeom>
        </p:spPr>
        <p:txBody>
          <a:bodyPr/>
          <a:lstStyle>
            <a:lvl1pPr>
              <a:defRPr>
                <a:solidFill>
                  <a:schemeClr val="tx2"/>
                </a:solidFill>
              </a:defRPr>
            </a:lvl1pPr>
          </a:lstStyle>
          <a:p>
            <a:fld id="{177CE274-8713-884F-B04F-B6B90AF41963}" type="slidenum">
              <a:rPr lang="en-US" smtClean="0"/>
              <a:pPr/>
              <a:t>‹#›</a:t>
            </a:fld>
            <a:endParaRPr lang="en-US"/>
          </a:p>
        </p:txBody>
      </p:sp>
      <p:cxnSp>
        <p:nvCxnSpPr>
          <p:cNvPr id="8" name="Straight Connector 7">
            <a:extLst>
              <a:ext uri="{FF2B5EF4-FFF2-40B4-BE49-F238E27FC236}">
                <a16:creationId xmlns:a16="http://schemas.microsoft.com/office/drawing/2014/main" id="{CC637EAD-EE5A-08B6-674E-72BC48E5D9B8}"/>
              </a:ext>
            </a:extLst>
          </p:cNvPr>
          <p:cNvCxnSpPr>
            <a:cxnSpLocks/>
          </p:cNvCxnSpPr>
          <p:nvPr userDrawn="1"/>
        </p:nvCxnSpPr>
        <p:spPr>
          <a:xfrm>
            <a:off x="320040" y="5296959"/>
            <a:ext cx="8503920" cy="0"/>
          </a:xfrm>
          <a:prstGeom prst="line">
            <a:avLst/>
          </a:prstGeom>
          <a:ln w="31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5" name="Picture Placeholder 4">
            <a:extLst>
              <a:ext uri="{FF2B5EF4-FFF2-40B4-BE49-F238E27FC236}">
                <a16:creationId xmlns:a16="http://schemas.microsoft.com/office/drawing/2014/main" id="{1000035E-6E2B-C8D7-F3EC-C616B1D56F91}"/>
              </a:ext>
            </a:extLst>
          </p:cNvPr>
          <p:cNvSpPr>
            <a:spLocks noGrp="1"/>
          </p:cNvSpPr>
          <p:nvPr>
            <p:ph type="pic" sz="quarter" idx="13" hasCustomPrompt="1"/>
          </p:nvPr>
        </p:nvSpPr>
        <p:spPr>
          <a:xfrm>
            <a:off x="6126163" y="304800"/>
            <a:ext cx="2697162" cy="4843463"/>
          </a:xfrm>
          <a:solidFill>
            <a:schemeClr val="bg2"/>
          </a:solidFill>
        </p:spPr>
        <p:txBody>
          <a:bodyPr anchor="ctr" anchorCtr="0">
            <a:normAutofit/>
          </a:bodyPr>
          <a:lstStyle>
            <a:lvl1pPr marL="0" indent="0" algn="ctr">
              <a:buNone/>
              <a:defRPr sz="800"/>
            </a:lvl1pPr>
          </a:lstStyle>
          <a:p>
            <a:r>
              <a:rPr lang="en-US" dirty="0"/>
              <a:t>Insert vertical image</a:t>
            </a:r>
          </a:p>
          <a:p>
            <a:endParaRPr lang="en-US" dirty="0"/>
          </a:p>
          <a:p>
            <a:endParaRPr lang="en-US" dirty="0"/>
          </a:p>
        </p:txBody>
      </p:sp>
      <p:sp>
        <p:nvSpPr>
          <p:cNvPr id="10" name="Text Placeholder 9">
            <a:extLst>
              <a:ext uri="{FF2B5EF4-FFF2-40B4-BE49-F238E27FC236}">
                <a16:creationId xmlns:a16="http://schemas.microsoft.com/office/drawing/2014/main" id="{666C6C23-B637-A307-D1A4-A318EF5BE857}"/>
              </a:ext>
            </a:extLst>
          </p:cNvPr>
          <p:cNvSpPr>
            <a:spLocks noGrp="1"/>
          </p:cNvSpPr>
          <p:nvPr>
            <p:ph type="body" sz="quarter" idx="14"/>
          </p:nvPr>
        </p:nvSpPr>
        <p:spPr>
          <a:xfrm>
            <a:off x="320674" y="1335024"/>
            <a:ext cx="5669280" cy="38130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8585478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wo Column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dirty="0"/>
              <a:t>Comparison slide with two columns</a:t>
            </a:r>
          </a:p>
        </p:txBody>
      </p:sp>
      <p:sp>
        <p:nvSpPr>
          <p:cNvPr id="7" name="Slide Number Placeholder 6"/>
          <p:cNvSpPr>
            <a:spLocks noGrp="1"/>
          </p:cNvSpPr>
          <p:nvPr>
            <p:ph type="sldNum" sz="quarter" idx="12"/>
          </p:nvPr>
        </p:nvSpPr>
        <p:spPr>
          <a:xfrm>
            <a:off x="6766560" y="5296959"/>
            <a:ext cx="2057400" cy="304271"/>
          </a:xfrm>
          <a:prstGeom prst="rect">
            <a:avLst/>
          </a:prstGeom>
        </p:spPr>
        <p:txBody>
          <a:bodyPr/>
          <a:lstStyle/>
          <a:p>
            <a:fld id="{177CE274-8713-884F-B04F-B6B90AF41963}" type="slidenum">
              <a:rPr lang="en-US" smtClean="0"/>
              <a:t>‹#›</a:t>
            </a:fld>
            <a:endParaRPr lang="en-US"/>
          </a:p>
        </p:txBody>
      </p:sp>
      <p:cxnSp>
        <p:nvCxnSpPr>
          <p:cNvPr id="8" name="Straight Connector 7">
            <a:extLst>
              <a:ext uri="{FF2B5EF4-FFF2-40B4-BE49-F238E27FC236}">
                <a16:creationId xmlns:a16="http://schemas.microsoft.com/office/drawing/2014/main" id="{446B76A3-7B3B-66A5-E020-61F692A2D0A8}"/>
              </a:ext>
            </a:extLst>
          </p:cNvPr>
          <p:cNvCxnSpPr>
            <a:cxnSpLocks/>
          </p:cNvCxnSpPr>
          <p:nvPr userDrawn="1"/>
        </p:nvCxnSpPr>
        <p:spPr>
          <a:xfrm>
            <a:off x="320040" y="5296959"/>
            <a:ext cx="8503920" cy="0"/>
          </a:xfrm>
          <a:prstGeom prst="line">
            <a:avLst/>
          </a:prstGeom>
          <a:ln w="31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5" name="Text Placeholder 4">
            <a:extLst>
              <a:ext uri="{FF2B5EF4-FFF2-40B4-BE49-F238E27FC236}">
                <a16:creationId xmlns:a16="http://schemas.microsoft.com/office/drawing/2014/main" id="{DB2D4C75-924A-E1E8-AB47-E0EDDABAB63C}"/>
              </a:ext>
            </a:extLst>
          </p:cNvPr>
          <p:cNvSpPr>
            <a:spLocks noGrp="1"/>
          </p:cNvSpPr>
          <p:nvPr>
            <p:ph type="body" sz="quarter" idx="13"/>
          </p:nvPr>
        </p:nvSpPr>
        <p:spPr>
          <a:xfrm>
            <a:off x="320675" y="1335024"/>
            <a:ext cx="4197096" cy="38130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4">
            <a:extLst>
              <a:ext uri="{FF2B5EF4-FFF2-40B4-BE49-F238E27FC236}">
                <a16:creationId xmlns:a16="http://schemas.microsoft.com/office/drawing/2014/main" id="{ABE9EF27-CA65-6736-ECE2-81135FA8D5A3}"/>
              </a:ext>
            </a:extLst>
          </p:cNvPr>
          <p:cNvSpPr>
            <a:spLocks noGrp="1"/>
          </p:cNvSpPr>
          <p:nvPr>
            <p:ph type="body" sz="quarter" idx="14"/>
          </p:nvPr>
        </p:nvSpPr>
        <p:spPr>
          <a:xfrm>
            <a:off x="4626231" y="1335024"/>
            <a:ext cx="4197096" cy="38130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2123583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ata slid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DF727ADD-D432-4F31-86BB-446B7A676F3D}"/>
              </a:ext>
            </a:extLst>
          </p:cNvPr>
          <p:cNvSpPr/>
          <p:nvPr userDrawn="1"/>
        </p:nvSpPr>
        <p:spPr>
          <a:xfrm>
            <a:off x="4572000" y="0"/>
            <a:ext cx="4572000" cy="571499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320040" y="304271"/>
            <a:ext cx="4023358" cy="914929"/>
          </a:xfrm>
        </p:spPr>
        <p:txBody>
          <a:bodyPr/>
          <a:lstStyle/>
          <a:p>
            <a:r>
              <a:rPr lang="en-US" dirty="0"/>
              <a:t>Data slide</a:t>
            </a:r>
          </a:p>
        </p:txBody>
      </p:sp>
      <p:sp>
        <p:nvSpPr>
          <p:cNvPr id="4" name="Content Placeholder 3"/>
          <p:cNvSpPr>
            <a:spLocks noGrp="1"/>
          </p:cNvSpPr>
          <p:nvPr>
            <p:ph sz="half" idx="2"/>
          </p:nvPr>
        </p:nvSpPr>
        <p:spPr>
          <a:xfrm>
            <a:off x="4800600" y="304272"/>
            <a:ext cx="4023360" cy="48431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Slide Number Placeholder 6"/>
          <p:cNvSpPr>
            <a:spLocks noGrp="1"/>
          </p:cNvSpPr>
          <p:nvPr>
            <p:ph type="sldNum" sz="quarter" idx="12"/>
          </p:nvPr>
        </p:nvSpPr>
        <p:spPr>
          <a:xfrm>
            <a:off x="6766560" y="5296959"/>
            <a:ext cx="2057400" cy="304271"/>
          </a:xfrm>
          <a:prstGeom prst="rect">
            <a:avLst/>
          </a:prstGeom>
        </p:spPr>
        <p:txBody>
          <a:bodyPr/>
          <a:lstStyle/>
          <a:p>
            <a:fld id="{177CE274-8713-884F-B04F-B6B90AF41963}" type="slidenum">
              <a:rPr lang="en-US" smtClean="0"/>
              <a:t>‹#›</a:t>
            </a:fld>
            <a:endParaRPr lang="en-US"/>
          </a:p>
        </p:txBody>
      </p:sp>
      <p:cxnSp>
        <p:nvCxnSpPr>
          <p:cNvPr id="8" name="Straight Connector 7">
            <a:extLst>
              <a:ext uri="{FF2B5EF4-FFF2-40B4-BE49-F238E27FC236}">
                <a16:creationId xmlns:a16="http://schemas.microsoft.com/office/drawing/2014/main" id="{446B76A3-7B3B-66A5-E020-61F692A2D0A8}"/>
              </a:ext>
            </a:extLst>
          </p:cNvPr>
          <p:cNvCxnSpPr>
            <a:cxnSpLocks/>
          </p:cNvCxnSpPr>
          <p:nvPr userDrawn="1"/>
        </p:nvCxnSpPr>
        <p:spPr>
          <a:xfrm>
            <a:off x="320040" y="5296959"/>
            <a:ext cx="8503920" cy="0"/>
          </a:xfrm>
          <a:prstGeom prst="line">
            <a:avLst/>
          </a:prstGeom>
          <a:ln w="31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6" name="Text Placeholder 4">
            <a:extLst>
              <a:ext uri="{FF2B5EF4-FFF2-40B4-BE49-F238E27FC236}">
                <a16:creationId xmlns:a16="http://schemas.microsoft.com/office/drawing/2014/main" id="{1F355CC0-2C4B-EFBA-AB4F-7F83741CD6C3}"/>
              </a:ext>
            </a:extLst>
          </p:cNvPr>
          <p:cNvSpPr>
            <a:spLocks noGrp="1"/>
          </p:cNvSpPr>
          <p:nvPr>
            <p:ph type="body" sz="quarter" idx="13"/>
          </p:nvPr>
        </p:nvSpPr>
        <p:spPr>
          <a:xfrm>
            <a:off x="320675" y="1335024"/>
            <a:ext cx="4022723" cy="38130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5290775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bjectiv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0850A2D-1B7D-8A2D-30A7-5B07DBBD327C}"/>
              </a:ext>
            </a:extLst>
          </p:cNvPr>
          <p:cNvSpPr/>
          <p:nvPr userDrawn="1"/>
        </p:nvSpPr>
        <p:spPr>
          <a:xfrm>
            <a:off x="0" y="1333501"/>
            <a:ext cx="9144000" cy="39634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320040" y="304271"/>
            <a:ext cx="8503920" cy="914929"/>
          </a:xfrm>
        </p:spPr>
        <p:txBody>
          <a:bodyPr/>
          <a:lstStyle/>
          <a:p>
            <a:r>
              <a:rPr lang="en-US" dirty="0"/>
              <a:t>Objective slide – title one line</a:t>
            </a:r>
          </a:p>
        </p:txBody>
      </p:sp>
      <p:sp>
        <p:nvSpPr>
          <p:cNvPr id="6" name="Slide Number Placeholder 5"/>
          <p:cNvSpPr>
            <a:spLocks noGrp="1"/>
          </p:cNvSpPr>
          <p:nvPr>
            <p:ph type="sldNum" sz="quarter" idx="12"/>
          </p:nvPr>
        </p:nvSpPr>
        <p:spPr>
          <a:xfrm>
            <a:off x="6766560" y="5296959"/>
            <a:ext cx="2057400" cy="304271"/>
          </a:xfrm>
          <a:prstGeom prst="rect">
            <a:avLst/>
          </a:prstGeom>
        </p:spPr>
        <p:txBody>
          <a:bodyPr/>
          <a:lstStyle>
            <a:lvl1pPr>
              <a:defRPr>
                <a:solidFill>
                  <a:schemeClr val="tx2"/>
                </a:solidFill>
              </a:defRPr>
            </a:lvl1pPr>
          </a:lstStyle>
          <a:p>
            <a:fld id="{F7340B6C-CA73-B044-A89C-37F5E5CDE01B}" type="slidenum">
              <a:rPr lang="en-US" smtClean="0"/>
              <a:pPr/>
              <a:t>‹#›</a:t>
            </a:fld>
            <a:endParaRPr lang="en-US" dirty="0"/>
          </a:p>
        </p:txBody>
      </p:sp>
      <p:sp>
        <p:nvSpPr>
          <p:cNvPr id="9" name="Content Placeholder 2">
            <a:extLst>
              <a:ext uri="{FF2B5EF4-FFF2-40B4-BE49-F238E27FC236}">
                <a16:creationId xmlns:a16="http://schemas.microsoft.com/office/drawing/2014/main" id="{CF00F302-309D-18BE-87A0-B30A53CE0987}"/>
              </a:ext>
            </a:extLst>
          </p:cNvPr>
          <p:cNvSpPr>
            <a:spLocks noGrp="1"/>
          </p:cNvSpPr>
          <p:nvPr>
            <p:ph idx="15" hasCustomPrompt="1"/>
          </p:nvPr>
        </p:nvSpPr>
        <p:spPr>
          <a:xfrm>
            <a:off x="2137718" y="4079554"/>
            <a:ext cx="6686241" cy="1217405"/>
          </a:xfrm>
        </p:spPr>
        <p:txBody>
          <a:bodyPr tIns="182880" anchor="ctr" anchorCtr="0">
            <a:normAutofit/>
          </a:bodyPr>
          <a:lstStyle>
            <a:lvl1pPr>
              <a:defRPr sz="1800" b="0" i="0">
                <a:latin typeface="Calibri Light" panose="020F0302020204030204" pitchFamily="34" charset="0"/>
                <a:cs typeface="Calibri Light" panose="020F0302020204030204" pitchFamily="34" charset="0"/>
              </a:defRPr>
            </a:lvl1pPr>
            <a:lvl2pPr>
              <a:defRPr sz="1800" b="0" i="0">
                <a:latin typeface="+mn-lt"/>
              </a:defRPr>
            </a:lvl2pPr>
            <a:lvl3pPr marL="685800" indent="0">
              <a:buNone/>
              <a:defRPr/>
            </a:lvl3pPr>
          </a:lstStyle>
          <a:p>
            <a:pPr marL="171450" marR="0" lvl="0" indent="0" algn="l" defTabSz="685800" rtl="0" eaLnBrk="1" fontAlgn="auto" latinLnBrk="0" hangingPunct="1">
              <a:lnSpc>
                <a:spcPct val="90000"/>
              </a:lnSpc>
              <a:spcBef>
                <a:spcPts val="375"/>
              </a:spcBef>
              <a:spcAft>
                <a:spcPts val="0"/>
              </a:spcAft>
              <a:buClrTx/>
              <a:buSzTx/>
              <a:buFont typeface="Arial" panose="020B0604020202020204" pitchFamily="34" charset="0"/>
              <a:buNone/>
              <a:tabLst/>
              <a:defRPr/>
            </a:pPr>
            <a:r>
              <a:rPr lang="en-US" dirty="0">
                <a:effectLst/>
                <a:latin typeface="Calibri Light" panose="020F0302020204030204" pitchFamily="34" charset="0"/>
              </a:rPr>
              <a:t>Content goes here. Lorem ipsum dolor sit </a:t>
            </a:r>
            <a:r>
              <a:rPr lang="en-US" dirty="0" err="1">
                <a:effectLst/>
                <a:latin typeface="Calibri Light" panose="020F0302020204030204" pitchFamily="34" charset="0"/>
              </a:rPr>
              <a:t>amet</a:t>
            </a:r>
            <a:r>
              <a:rPr lang="en-US" dirty="0">
                <a:effectLst/>
                <a:latin typeface="Calibri Light" panose="020F0302020204030204" pitchFamily="34" charset="0"/>
              </a:rPr>
              <a:t>, </a:t>
            </a:r>
            <a:r>
              <a:rPr lang="en-US" dirty="0" err="1">
                <a:effectLst/>
                <a:latin typeface="Calibri Light" panose="020F0302020204030204" pitchFamily="34" charset="0"/>
              </a:rPr>
              <a:t>consectetur</a:t>
            </a:r>
            <a:r>
              <a:rPr lang="en-US" dirty="0">
                <a:effectLst/>
                <a:latin typeface="Calibri Light" panose="020F0302020204030204" pitchFamily="34" charset="0"/>
              </a:rPr>
              <a:t> </a:t>
            </a:r>
            <a:r>
              <a:rPr lang="en-US" dirty="0" err="1">
                <a:effectLst/>
                <a:latin typeface="Calibri Light" panose="020F0302020204030204" pitchFamily="34" charset="0"/>
              </a:rPr>
              <a:t>adipiscing</a:t>
            </a:r>
            <a:r>
              <a:rPr lang="en-US" dirty="0">
                <a:effectLst/>
                <a:latin typeface="Calibri Light" panose="020F0302020204030204" pitchFamily="34" charset="0"/>
              </a:rPr>
              <a:t> </a:t>
            </a:r>
            <a:r>
              <a:rPr lang="en-US" dirty="0" err="1">
                <a:effectLst/>
                <a:latin typeface="Calibri Light" panose="020F0302020204030204" pitchFamily="34" charset="0"/>
              </a:rPr>
              <a:t>elit</a:t>
            </a:r>
            <a:r>
              <a:rPr lang="en-US" dirty="0">
                <a:effectLst/>
                <a:latin typeface="Calibri Light" panose="020F0302020204030204" pitchFamily="34" charset="0"/>
              </a:rPr>
              <a:t>. Maecenas id </a:t>
            </a:r>
            <a:r>
              <a:rPr lang="en-US" dirty="0" err="1">
                <a:effectLst/>
                <a:latin typeface="Calibri Light" panose="020F0302020204030204" pitchFamily="34" charset="0"/>
              </a:rPr>
              <a:t>vulputate</a:t>
            </a:r>
            <a:r>
              <a:rPr lang="en-US" dirty="0">
                <a:effectLst/>
                <a:latin typeface="Calibri Light" panose="020F0302020204030204" pitchFamily="34" charset="0"/>
              </a:rPr>
              <a:t> </a:t>
            </a:r>
            <a:r>
              <a:rPr lang="en-US" dirty="0" err="1">
                <a:effectLst/>
                <a:latin typeface="Calibri Light" panose="020F0302020204030204" pitchFamily="34" charset="0"/>
              </a:rPr>
              <a:t>turpis</a:t>
            </a:r>
            <a:r>
              <a:rPr lang="en-US" dirty="0">
                <a:effectLst/>
                <a:latin typeface="Calibri Light" panose="020F0302020204030204" pitchFamily="34" charset="0"/>
              </a:rPr>
              <a:t>. Proin gravida </a:t>
            </a:r>
            <a:r>
              <a:rPr lang="en-US" dirty="0" err="1">
                <a:effectLst/>
                <a:latin typeface="Calibri Light" panose="020F0302020204030204" pitchFamily="34" charset="0"/>
              </a:rPr>
              <a:t>leo</a:t>
            </a:r>
            <a:r>
              <a:rPr lang="en-US" dirty="0">
                <a:effectLst/>
                <a:latin typeface="Calibri Light" panose="020F0302020204030204" pitchFamily="34" charset="0"/>
              </a:rPr>
              <a:t> ac </a:t>
            </a:r>
            <a:r>
              <a:rPr lang="en-US" dirty="0" err="1">
                <a:effectLst/>
                <a:latin typeface="Calibri Light" panose="020F0302020204030204" pitchFamily="34" charset="0"/>
              </a:rPr>
              <a:t>sapien</a:t>
            </a:r>
            <a:r>
              <a:rPr lang="en-US" dirty="0">
                <a:effectLst/>
                <a:latin typeface="Calibri Light" panose="020F0302020204030204" pitchFamily="34" charset="0"/>
              </a:rPr>
              <a:t> convallis, ac </a:t>
            </a:r>
            <a:r>
              <a:rPr lang="en-US" dirty="0" err="1">
                <a:effectLst/>
                <a:latin typeface="Calibri Light" panose="020F0302020204030204" pitchFamily="34" charset="0"/>
              </a:rPr>
              <a:t>sodales</a:t>
            </a:r>
            <a:r>
              <a:rPr lang="en-US" dirty="0">
                <a:effectLst/>
                <a:latin typeface="Calibri Light" panose="020F0302020204030204" pitchFamily="34" charset="0"/>
              </a:rPr>
              <a:t> eros </a:t>
            </a:r>
            <a:r>
              <a:rPr lang="en-US" dirty="0" err="1">
                <a:effectLst/>
                <a:latin typeface="Calibri Light" panose="020F0302020204030204" pitchFamily="34" charset="0"/>
              </a:rPr>
              <a:t>rhoncus</a:t>
            </a:r>
            <a:r>
              <a:rPr lang="en-US" dirty="0">
                <a:effectLst/>
                <a:latin typeface="Calibri Light" panose="020F0302020204030204" pitchFamily="34" charset="0"/>
              </a:rPr>
              <a:t>. </a:t>
            </a:r>
          </a:p>
          <a:p>
            <a:pPr lvl="1"/>
            <a:endParaRPr lang="en-US" dirty="0"/>
          </a:p>
        </p:txBody>
      </p:sp>
      <p:sp>
        <p:nvSpPr>
          <p:cNvPr id="10" name="Content Placeholder 2">
            <a:extLst>
              <a:ext uri="{FF2B5EF4-FFF2-40B4-BE49-F238E27FC236}">
                <a16:creationId xmlns:a16="http://schemas.microsoft.com/office/drawing/2014/main" id="{D63FE66B-EB76-C3D7-CBC0-A43EA5920B29}"/>
              </a:ext>
            </a:extLst>
          </p:cNvPr>
          <p:cNvSpPr>
            <a:spLocks noGrp="1"/>
          </p:cNvSpPr>
          <p:nvPr>
            <p:ph idx="16" hasCustomPrompt="1"/>
          </p:nvPr>
        </p:nvSpPr>
        <p:spPr>
          <a:xfrm>
            <a:off x="2137717" y="2731169"/>
            <a:ext cx="6686241" cy="1217405"/>
          </a:xfrm>
        </p:spPr>
        <p:txBody>
          <a:bodyPr tIns="182880" anchor="ctr" anchorCtr="0">
            <a:normAutofit/>
          </a:bodyPr>
          <a:lstStyle>
            <a:lvl1pPr>
              <a:defRPr sz="1800" b="0" i="0">
                <a:latin typeface="Calibri Light" panose="020F0302020204030204" pitchFamily="34" charset="0"/>
                <a:cs typeface="Calibri Light" panose="020F0302020204030204" pitchFamily="34" charset="0"/>
              </a:defRPr>
            </a:lvl1pPr>
            <a:lvl2pPr>
              <a:defRPr sz="1800" b="0" i="0">
                <a:latin typeface="+mn-lt"/>
              </a:defRPr>
            </a:lvl2pPr>
            <a:lvl3pPr marL="685800" indent="0">
              <a:buNone/>
              <a:defRPr/>
            </a:lvl3pPr>
          </a:lstStyle>
          <a:p>
            <a:pPr marL="171450" marR="0" lvl="0" indent="0" algn="l" defTabSz="685800" rtl="0" eaLnBrk="1" fontAlgn="auto" latinLnBrk="0" hangingPunct="1">
              <a:lnSpc>
                <a:spcPct val="90000"/>
              </a:lnSpc>
              <a:spcBef>
                <a:spcPts val="375"/>
              </a:spcBef>
              <a:spcAft>
                <a:spcPts val="0"/>
              </a:spcAft>
              <a:buClrTx/>
              <a:buSzTx/>
              <a:buFont typeface="Arial" panose="020B0604020202020204" pitchFamily="34" charset="0"/>
              <a:buNone/>
              <a:tabLst/>
              <a:defRPr/>
            </a:pPr>
            <a:r>
              <a:rPr lang="en-US" dirty="0">
                <a:effectLst/>
                <a:latin typeface="Calibri Light" panose="020F0302020204030204" pitchFamily="34" charset="0"/>
              </a:rPr>
              <a:t>Content goes here. Lorem ipsum dolor sit </a:t>
            </a:r>
            <a:r>
              <a:rPr lang="en-US" dirty="0" err="1">
                <a:effectLst/>
                <a:latin typeface="Calibri Light" panose="020F0302020204030204" pitchFamily="34" charset="0"/>
              </a:rPr>
              <a:t>amet</a:t>
            </a:r>
            <a:r>
              <a:rPr lang="en-US" dirty="0">
                <a:effectLst/>
                <a:latin typeface="Calibri Light" panose="020F0302020204030204" pitchFamily="34" charset="0"/>
              </a:rPr>
              <a:t>, </a:t>
            </a:r>
            <a:r>
              <a:rPr lang="en-US" dirty="0" err="1">
                <a:effectLst/>
                <a:latin typeface="Calibri Light" panose="020F0302020204030204" pitchFamily="34" charset="0"/>
              </a:rPr>
              <a:t>consectetur</a:t>
            </a:r>
            <a:r>
              <a:rPr lang="en-US" dirty="0">
                <a:effectLst/>
                <a:latin typeface="Calibri Light" panose="020F0302020204030204" pitchFamily="34" charset="0"/>
              </a:rPr>
              <a:t> </a:t>
            </a:r>
            <a:r>
              <a:rPr lang="en-US" dirty="0" err="1">
                <a:effectLst/>
                <a:latin typeface="Calibri Light" panose="020F0302020204030204" pitchFamily="34" charset="0"/>
              </a:rPr>
              <a:t>adipiscing</a:t>
            </a:r>
            <a:r>
              <a:rPr lang="en-US" dirty="0">
                <a:effectLst/>
                <a:latin typeface="Calibri Light" panose="020F0302020204030204" pitchFamily="34" charset="0"/>
              </a:rPr>
              <a:t> </a:t>
            </a:r>
            <a:r>
              <a:rPr lang="en-US" dirty="0" err="1">
                <a:effectLst/>
                <a:latin typeface="Calibri Light" panose="020F0302020204030204" pitchFamily="34" charset="0"/>
              </a:rPr>
              <a:t>elit</a:t>
            </a:r>
            <a:r>
              <a:rPr lang="en-US" dirty="0">
                <a:effectLst/>
                <a:latin typeface="Calibri Light" panose="020F0302020204030204" pitchFamily="34" charset="0"/>
              </a:rPr>
              <a:t>. Maecenas id </a:t>
            </a:r>
            <a:r>
              <a:rPr lang="en-US" dirty="0" err="1">
                <a:effectLst/>
                <a:latin typeface="Calibri Light" panose="020F0302020204030204" pitchFamily="34" charset="0"/>
              </a:rPr>
              <a:t>vulputate</a:t>
            </a:r>
            <a:r>
              <a:rPr lang="en-US" dirty="0">
                <a:effectLst/>
                <a:latin typeface="Calibri Light" panose="020F0302020204030204" pitchFamily="34" charset="0"/>
              </a:rPr>
              <a:t> </a:t>
            </a:r>
            <a:r>
              <a:rPr lang="en-US" dirty="0" err="1">
                <a:effectLst/>
                <a:latin typeface="Calibri Light" panose="020F0302020204030204" pitchFamily="34" charset="0"/>
              </a:rPr>
              <a:t>turpis</a:t>
            </a:r>
            <a:r>
              <a:rPr lang="en-US" dirty="0">
                <a:effectLst/>
                <a:latin typeface="Calibri Light" panose="020F0302020204030204" pitchFamily="34" charset="0"/>
              </a:rPr>
              <a:t>. Proin gravida </a:t>
            </a:r>
            <a:r>
              <a:rPr lang="en-US" dirty="0" err="1">
                <a:effectLst/>
                <a:latin typeface="Calibri Light" panose="020F0302020204030204" pitchFamily="34" charset="0"/>
              </a:rPr>
              <a:t>leo</a:t>
            </a:r>
            <a:r>
              <a:rPr lang="en-US" dirty="0">
                <a:effectLst/>
                <a:latin typeface="Calibri Light" panose="020F0302020204030204" pitchFamily="34" charset="0"/>
              </a:rPr>
              <a:t> ac </a:t>
            </a:r>
            <a:r>
              <a:rPr lang="en-US" dirty="0" err="1">
                <a:effectLst/>
                <a:latin typeface="Calibri Light" panose="020F0302020204030204" pitchFamily="34" charset="0"/>
              </a:rPr>
              <a:t>sapien</a:t>
            </a:r>
            <a:r>
              <a:rPr lang="en-US" dirty="0">
                <a:effectLst/>
                <a:latin typeface="Calibri Light" panose="020F0302020204030204" pitchFamily="34" charset="0"/>
              </a:rPr>
              <a:t> convallis, ac </a:t>
            </a:r>
            <a:r>
              <a:rPr lang="en-US" dirty="0" err="1">
                <a:effectLst/>
                <a:latin typeface="Calibri Light" panose="020F0302020204030204" pitchFamily="34" charset="0"/>
              </a:rPr>
              <a:t>sodales</a:t>
            </a:r>
            <a:r>
              <a:rPr lang="en-US" dirty="0">
                <a:effectLst/>
                <a:latin typeface="Calibri Light" panose="020F0302020204030204" pitchFamily="34" charset="0"/>
              </a:rPr>
              <a:t> eros </a:t>
            </a:r>
            <a:r>
              <a:rPr lang="en-US" dirty="0" err="1">
                <a:effectLst/>
                <a:latin typeface="Calibri Light" panose="020F0302020204030204" pitchFamily="34" charset="0"/>
              </a:rPr>
              <a:t>rhoncus</a:t>
            </a:r>
            <a:r>
              <a:rPr lang="en-US" dirty="0">
                <a:effectLst/>
                <a:latin typeface="Calibri Light" panose="020F0302020204030204" pitchFamily="34" charset="0"/>
              </a:rPr>
              <a:t>. </a:t>
            </a:r>
          </a:p>
          <a:p>
            <a:pPr lvl="1"/>
            <a:endParaRPr lang="en-US" dirty="0"/>
          </a:p>
        </p:txBody>
      </p:sp>
      <p:sp>
        <p:nvSpPr>
          <p:cNvPr id="11" name="Content Placeholder 2">
            <a:extLst>
              <a:ext uri="{FF2B5EF4-FFF2-40B4-BE49-F238E27FC236}">
                <a16:creationId xmlns:a16="http://schemas.microsoft.com/office/drawing/2014/main" id="{8474828E-B3D6-7006-9AAF-64F1EE99DE06}"/>
              </a:ext>
            </a:extLst>
          </p:cNvPr>
          <p:cNvSpPr>
            <a:spLocks noGrp="1"/>
          </p:cNvSpPr>
          <p:nvPr>
            <p:ph idx="17" hasCustomPrompt="1"/>
          </p:nvPr>
        </p:nvSpPr>
        <p:spPr>
          <a:xfrm>
            <a:off x="2137716" y="1332972"/>
            <a:ext cx="6686241" cy="1217405"/>
          </a:xfrm>
        </p:spPr>
        <p:txBody>
          <a:bodyPr tIns="182880" anchor="ctr" anchorCtr="0">
            <a:normAutofit/>
          </a:bodyPr>
          <a:lstStyle>
            <a:lvl1pPr>
              <a:defRPr sz="1800" b="0" i="0">
                <a:latin typeface="Calibri Light" panose="020F0302020204030204" pitchFamily="34" charset="0"/>
                <a:cs typeface="Calibri Light" panose="020F0302020204030204" pitchFamily="34" charset="0"/>
              </a:defRPr>
            </a:lvl1pPr>
            <a:lvl2pPr marL="342900" indent="0">
              <a:buNone/>
              <a:defRPr sz="1800" b="0" i="0">
                <a:latin typeface="+mn-lt"/>
              </a:defRPr>
            </a:lvl2pPr>
            <a:lvl3pPr marL="685800" indent="0">
              <a:buNone/>
              <a:defRPr/>
            </a:lvl3pPr>
          </a:lstStyle>
          <a:p>
            <a:pPr marL="171450" marR="0" lvl="0" indent="0" algn="l" defTabSz="685800" rtl="0" eaLnBrk="1" fontAlgn="auto" latinLnBrk="0" hangingPunct="1">
              <a:lnSpc>
                <a:spcPct val="90000"/>
              </a:lnSpc>
              <a:spcBef>
                <a:spcPts val="375"/>
              </a:spcBef>
              <a:spcAft>
                <a:spcPts val="0"/>
              </a:spcAft>
              <a:buClrTx/>
              <a:buSzTx/>
              <a:buFont typeface="Arial" panose="020B0604020202020204" pitchFamily="34" charset="0"/>
              <a:buNone/>
              <a:tabLst/>
              <a:defRPr/>
            </a:pPr>
            <a:r>
              <a:rPr lang="en-US" dirty="0">
                <a:effectLst/>
                <a:latin typeface="Calibri Light" panose="020F0302020204030204" pitchFamily="34" charset="0"/>
              </a:rPr>
              <a:t>Content goes here. Lorem ipsum dolor sit </a:t>
            </a:r>
            <a:r>
              <a:rPr lang="en-US" dirty="0" err="1">
                <a:effectLst/>
                <a:latin typeface="Calibri Light" panose="020F0302020204030204" pitchFamily="34" charset="0"/>
              </a:rPr>
              <a:t>amet</a:t>
            </a:r>
            <a:r>
              <a:rPr lang="en-US" dirty="0">
                <a:effectLst/>
                <a:latin typeface="Calibri Light" panose="020F0302020204030204" pitchFamily="34" charset="0"/>
              </a:rPr>
              <a:t>, </a:t>
            </a:r>
            <a:r>
              <a:rPr lang="en-US" dirty="0" err="1">
                <a:effectLst/>
                <a:latin typeface="Calibri Light" panose="020F0302020204030204" pitchFamily="34" charset="0"/>
              </a:rPr>
              <a:t>consectetur</a:t>
            </a:r>
            <a:r>
              <a:rPr lang="en-US" dirty="0">
                <a:effectLst/>
                <a:latin typeface="Calibri Light" panose="020F0302020204030204" pitchFamily="34" charset="0"/>
              </a:rPr>
              <a:t> </a:t>
            </a:r>
            <a:r>
              <a:rPr lang="en-US" dirty="0" err="1">
                <a:effectLst/>
                <a:latin typeface="Calibri Light" panose="020F0302020204030204" pitchFamily="34" charset="0"/>
              </a:rPr>
              <a:t>adipiscing</a:t>
            </a:r>
            <a:r>
              <a:rPr lang="en-US" dirty="0">
                <a:effectLst/>
                <a:latin typeface="Calibri Light" panose="020F0302020204030204" pitchFamily="34" charset="0"/>
              </a:rPr>
              <a:t> </a:t>
            </a:r>
            <a:r>
              <a:rPr lang="en-US" dirty="0" err="1">
                <a:effectLst/>
                <a:latin typeface="Calibri Light" panose="020F0302020204030204" pitchFamily="34" charset="0"/>
              </a:rPr>
              <a:t>elit</a:t>
            </a:r>
            <a:r>
              <a:rPr lang="en-US" dirty="0">
                <a:effectLst/>
                <a:latin typeface="Calibri Light" panose="020F0302020204030204" pitchFamily="34" charset="0"/>
              </a:rPr>
              <a:t>. Maecenas id </a:t>
            </a:r>
            <a:r>
              <a:rPr lang="en-US" dirty="0" err="1">
                <a:effectLst/>
                <a:latin typeface="Calibri Light" panose="020F0302020204030204" pitchFamily="34" charset="0"/>
              </a:rPr>
              <a:t>vulputate</a:t>
            </a:r>
            <a:r>
              <a:rPr lang="en-US" dirty="0">
                <a:effectLst/>
                <a:latin typeface="Calibri Light" panose="020F0302020204030204" pitchFamily="34" charset="0"/>
              </a:rPr>
              <a:t> </a:t>
            </a:r>
            <a:r>
              <a:rPr lang="en-US" dirty="0" err="1">
                <a:effectLst/>
                <a:latin typeface="Calibri Light" panose="020F0302020204030204" pitchFamily="34" charset="0"/>
              </a:rPr>
              <a:t>turpis</a:t>
            </a:r>
            <a:r>
              <a:rPr lang="en-US" dirty="0">
                <a:effectLst/>
                <a:latin typeface="Calibri Light" panose="020F0302020204030204" pitchFamily="34" charset="0"/>
              </a:rPr>
              <a:t>. Proin gravida </a:t>
            </a:r>
            <a:r>
              <a:rPr lang="en-US" dirty="0" err="1">
                <a:effectLst/>
                <a:latin typeface="Calibri Light" panose="020F0302020204030204" pitchFamily="34" charset="0"/>
              </a:rPr>
              <a:t>leo</a:t>
            </a:r>
            <a:r>
              <a:rPr lang="en-US" dirty="0">
                <a:effectLst/>
                <a:latin typeface="Calibri Light" panose="020F0302020204030204" pitchFamily="34" charset="0"/>
              </a:rPr>
              <a:t> ac </a:t>
            </a:r>
            <a:r>
              <a:rPr lang="en-US" dirty="0" err="1">
                <a:effectLst/>
                <a:latin typeface="Calibri Light" panose="020F0302020204030204" pitchFamily="34" charset="0"/>
              </a:rPr>
              <a:t>sapien</a:t>
            </a:r>
            <a:r>
              <a:rPr lang="en-US" dirty="0">
                <a:effectLst/>
                <a:latin typeface="Calibri Light" panose="020F0302020204030204" pitchFamily="34" charset="0"/>
              </a:rPr>
              <a:t> convallis, ac </a:t>
            </a:r>
            <a:r>
              <a:rPr lang="en-US" dirty="0" err="1">
                <a:effectLst/>
                <a:latin typeface="Calibri Light" panose="020F0302020204030204" pitchFamily="34" charset="0"/>
              </a:rPr>
              <a:t>sodales</a:t>
            </a:r>
            <a:r>
              <a:rPr lang="en-US" dirty="0">
                <a:effectLst/>
                <a:latin typeface="Calibri Light" panose="020F0302020204030204" pitchFamily="34" charset="0"/>
              </a:rPr>
              <a:t> eros </a:t>
            </a:r>
            <a:r>
              <a:rPr lang="en-US" dirty="0" err="1">
                <a:effectLst/>
                <a:latin typeface="Calibri Light" panose="020F0302020204030204" pitchFamily="34" charset="0"/>
              </a:rPr>
              <a:t>rhoncus</a:t>
            </a:r>
            <a:r>
              <a:rPr lang="en-US" dirty="0">
                <a:effectLst/>
                <a:latin typeface="Calibri Light" panose="020F0302020204030204" pitchFamily="34" charset="0"/>
              </a:rPr>
              <a:t>. </a:t>
            </a:r>
          </a:p>
        </p:txBody>
      </p:sp>
      <p:sp>
        <p:nvSpPr>
          <p:cNvPr id="13" name="TextBox 12">
            <a:extLst>
              <a:ext uri="{FF2B5EF4-FFF2-40B4-BE49-F238E27FC236}">
                <a16:creationId xmlns:a16="http://schemas.microsoft.com/office/drawing/2014/main" id="{7D3CFC7A-40FC-34EC-65D8-B0E9FFC804F3}"/>
              </a:ext>
            </a:extLst>
          </p:cNvPr>
          <p:cNvSpPr txBox="1"/>
          <p:nvPr userDrawn="1"/>
        </p:nvSpPr>
        <p:spPr>
          <a:xfrm>
            <a:off x="320040" y="1526176"/>
            <a:ext cx="1224555" cy="830997"/>
          </a:xfrm>
          <a:prstGeom prst="rect">
            <a:avLst/>
          </a:prstGeom>
          <a:noFill/>
        </p:spPr>
        <p:txBody>
          <a:bodyPr wrap="square" rtlCol="0">
            <a:spAutoFit/>
          </a:bodyPr>
          <a:lstStyle/>
          <a:p>
            <a:pPr algn="ctr"/>
            <a:r>
              <a:rPr lang="en-US" sz="4800" dirty="0">
                <a:latin typeface="Georgia" panose="02040502050405020303" pitchFamily="18" charset="0"/>
              </a:rPr>
              <a:t>1</a:t>
            </a:r>
          </a:p>
        </p:txBody>
      </p:sp>
      <p:sp>
        <p:nvSpPr>
          <p:cNvPr id="14" name="TextBox 13">
            <a:extLst>
              <a:ext uri="{FF2B5EF4-FFF2-40B4-BE49-F238E27FC236}">
                <a16:creationId xmlns:a16="http://schemas.microsoft.com/office/drawing/2014/main" id="{40D4CD20-0DD6-522D-2BDC-5E9F1E38FC73}"/>
              </a:ext>
            </a:extLst>
          </p:cNvPr>
          <p:cNvSpPr txBox="1"/>
          <p:nvPr userDrawn="1"/>
        </p:nvSpPr>
        <p:spPr>
          <a:xfrm>
            <a:off x="320039" y="2731169"/>
            <a:ext cx="1224555" cy="830997"/>
          </a:xfrm>
          <a:prstGeom prst="rect">
            <a:avLst/>
          </a:prstGeom>
          <a:noFill/>
        </p:spPr>
        <p:txBody>
          <a:bodyPr wrap="square" rtlCol="0">
            <a:spAutoFit/>
          </a:bodyPr>
          <a:lstStyle/>
          <a:p>
            <a:pPr algn="ctr"/>
            <a:r>
              <a:rPr lang="en-US" sz="4800" dirty="0">
                <a:latin typeface="Georgia" panose="02040502050405020303" pitchFamily="18" charset="0"/>
              </a:rPr>
              <a:t>2</a:t>
            </a:r>
          </a:p>
        </p:txBody>
      </p:sp>
      <p:sp>
        <p:nvSpPr>
          <p:cNvPr id="15" name="TextBox 14">
            <a:extLst>
              <a:ext uri="{FF2B5EF4-FFF2-40B4-BE49-F238E27FC236}">
                <a16:creationId xmlns:a16="http://schemas.microsoft.com/office/drawing/2014/main" id="{4AA8F2B7-9F36-3044-6DFE-F76FD0DC92B0}"/>
              </a:ext>
            </a:extLst>
          </p:cNvPr>
          <p:cNvSpPr txBox="1"/>
          <p:nvPr userDrawn="1"/>
        </p:nvSpPr>
        <p:spPr>
          <a:xfrm>
            <a:off x="320039" y="4079554"/>
            <a:ext cx="1224555" cy="830997"/>
          </a:xfrm>
          <a:prstGeom prst="rect">
            <a:avLst/>
          </a:prstGeom>
          <a:noFill/>
        </p:spPr>
        <p:txBody>
          <a:bodyPr wrap="square" rtlCol="0">
            <a:spAutoFit/>
          </a:bodyPr>
          <a:lstStyle/>
          <a:p>
            <a:pPr algn="ctr"/>
            <a:r>
              <a:rPr lang="en-US" sz="4800" dirty="0">
                <a:latin typeface="Georgia" panose="02040502050405020303" pitchFamily="18" charset="0"/>
              </a:rPr>
              <a:t>3</a:t>
            </a:r>
          </a:p>
        </p:txBody>
      </p:sp>
    </p:spTree>
    <p:extLst>
      <p:ext uri="{BB962C8B-B14F-4D97-AF65-F5344CB8AC3E}">
        <p14:creationId xmlns:p14="http://schemas.microsoft.com/office/powerpoint/2010/main" val="429358587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ree story inset w/images">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dirty="0"/>
              <a:t>Three story inset with images</a:t>
            </a:r>
          </a:p>
        </p:txBody>
      </p:sp>
      <p:sp>
        <p:nvSpPr>
          <p:cNvPr id="7" name="Slide Number Placeholder 6"/>
          <p:cNvSpPr>
            <a:spLocks noGrp="1"/>
          </p:cNvSpPr>
          <p:nvPr>
            <p:ph type="sldNum" sz="quarter" idx="12"/>
          </p:nvPr>
        </p:nvSpPr>
        <p:spPr>
          <a:xfrm>
            <a:off x="6766560" y="5296959"/>
            <a:ext cx="2057400" cy="304271"/>
          </a:xfrm>
          <a:prstGeom prst="rect">
            <a:avLst/>
          </a:prstGeom>
        </p:spPr>
        <p:txBody>
          <a:bodyPr/>
          <a:lstStyle/>
          <a:p>
            <a:fld id="{177CE274-8713-884F-B04F-B6B90AF41963}" type="slidenum">
              <a:rPr lang="en-US" smtClean="0"/>
              <a:t>‹#›</a:t>
            </a:fld>
            <a:endParaRPr lang="en-US"/>
          </a:p>
        </p:txBody>
      </p:sp>
      <p:cxnSp>
        <p:nvCxnSpPr>
          <p:cNvPr id="8" name="Straight Connector 7">
            <a:extLst>
              <a:ext uri="{FF2B5EF4-FFF2-40B4-BE49-F238E27FC236}">
                <a16:creationId xmlns:a16="http://schemas.microsoft.com/office/drawing/2014/main" id="{446B76A3-7B3B-66A5-E020-61F692A2D0A8}"/>
              </a:ext>
            </a:extLst>
          </p:cNvPr>
          <p:cNvCxnSpPr>
            <a:cxnSpLocks/>
          </p:cNvCxnSpPr>
          <p:nvPr userDrawn="1"/>
        </p:nvCxnSpPr>
        <p:spPr>
          <a:xfrm>
            <a:off x="320040" y="5296959"/>
            <a:ext cx="8503920" cy="0"/>
          </a:xfrm>
          <a:prstGeom prst="line">
            <a:avLst/>
          </a:prstGeom>
          <a:ln w="31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9" name="Picture Placeholder 8">
            <a:extLst>
              <a:ext uri="{FF2B5EF4-FFF2-40B4-BE49-F238E27FC236}">
                <a16:creationId xmlns:a16="http://schemas.microsoft.com/office/drawing/2014/main" id="{5C7FAAFB-2588-DDF2-FAB9-CF7A30E5B353}"/>
              </a:ext>
            </a:extLst>
          </p:cNvPr>
          <p:cNvSpPr>
            <a:spLocks noGrp="1"/>
          </p:cNvSpPr>
          <p:nvPr>
            <p:ph type="pic" sz="quarter" idx="13" hasCustomPrompt="1"/>
          </p:nvPr>
        </p:nvSpPr>
        <p:spPr>
          <a:xfrm>
            <a:off x="320675" y="1368424"/>
            <a:ext cx="2743200" cy="1600200"/>
          </a:xfrm>
          <a:solidFill>
            <a:schemeClr val="bg2"/>
          </a:solidFill>
        </p:spPr>
        <p:txBody>
          <a:bodyPr anchor="ctr" anchorCtr="0">
            <a:normAutofit/>
          </a:bodyPr>
          <a:lstStyle>
            <a:lvl1pPr marL="0" indent="0" algn="ctr">
              <a:buNone/>
              <a:defRPr sz="800"/>
            </a:lvl1pPr>
          </a:lstStyle>
          <a:p>
            <a:r>
              <a:rPr lang="en-US" dirty="0"/>
              <a:t>Click to insert image</a:t>
            </a:r>
          </a:p>
          <a:p>
            <a:endParaRPr lang="en-US" dirty="0"/>
          </a:p>
          <a:p>
            <a:endParaRPr lang="en-US" dirty="0"/>
          </a:p>
        </p:txBody>
      </p:sp>
      <p:sp>
        <p:nvSpPr>
          <p:cNvPr id="10" name="Picture Placeholder 8">
            <a:extLst>
              <a:ext uri="{FF2B5EF4-FFF2-40B4-BE49-F238E27FC236}">
                <a16:creationId xmlns:a16="http://schemas.microsoft.com/office/drawing/2014/main" id="{F2A9FC8A-40D6-B726-43B9-7963F537A3A7}"/>
              </a:ext>
            </a:extLst>
          </p:cNvPr>
          <p:cNvSpPr>
            <a:spLocks noGrp="1"/>
          </p:cNvSpPr>
          <p:nvPr>
            <p:ph type="pic" sz="quarter" idx="14" hasCustomPrompt="1"/>
          </p:nvPr>
        </p:nvSpPr>
        <p:spPr>
          <a:xfrm>
            <a:off x="3200400" y="1368266"/>
            <a:ext cx="2743200" cy="1600200"/>
          </a:xfrm>
          <a:solidFill>
            <a:schemeClr val="bg2"/>
          </a:solidFill>
        </p:spPr>
        <p:txBody>
          <a:bodyPr anchor="ctr" anchorCtr="0">
            <a:normAutofit/>
          </a:bodyPr>
          <a:lstStyle>
            <a:lvl1pPr marL="0" indent="0" algn="ctr">
              <a:buNone/>
              <a:defRPr sz="800"/>
            </a:lvl1pPr>
          </a:lstStyle>
          <a:p>
            <a:r>
              <a:rPr lang="en-US" dirty="0"/>
              <a:t>Click to insert image</a:t>
            </a:r>
          </a:p>
          <a:p>
            <a:endParaRPr lang="en-US" dirty="0"/>
          </a:p>
          <a:p>
            <a:endParaRPr lang="en-US" dirty="0"/>
          </a:p>
        </p:txBody>
      </p:sp>
      <p:sp>
        <p:nvSpPr>
          <p:cNvPr id="11" name="Picture Placeholder 8">
            <a:extLst>
              <a:ext uri="{FF2B5EF4-FFF2-40B4-BE49-F238E27FC236}">
                <a16:creationId xmlns:a16="http://schemas.microsoft.com/office/drawing/2014/main" id="{0B35323C-ED18-EB18-F7A4-7EC3ECB82939}"/>
              </a:ext>
            </a:extLst>
          </p:cNvPr>
          <p:cNvSpPr>
            <a:spLocks noGrp="1"/>
          </p:cNvSpPr>
          <p:nvPr>
            <p:ph type="pic" sz="quarter" idx="15" hasCustomPrompt="1"/>
          </p:nvPr>
        </p:nvSpPr>
        <p:spPr>
          <a:xfrm>
            <a:off x="6080125" y="1368266"/>
            <a:ext cx="2743200" cy="1600200"/>
          </a:xfrm>
          <a:solidFill>
            <a:schemeClr val="bg2"/>
          </a:solidFill>
        </p:spPr>
        <p:txBody>
          <a:bodyPr anchor="ctr" anchorCtr="0">
            <a:normAutofit/>
          </a:bodyPr>
          <a:lstStyle>
            <a:lvl1pPr marL="0" indent="0" algn="ctr">
              <a:buNone/>
              <a:defRPr sz="800"/>
            </a:lvl1pPr>
          </a:lstStyle>
          <a:p>
            <a:r>
              <a:rPr lang="en-US" dirty="0"/>
              <a:t>Click to insert image</a:t>
            </a:r>
          </a:p>
          <a:p>
            <a:endParaRPr lang="en-US" dirty="0"/>
          </a:p>
          <a:p>
            <a:endParaRPr lang="en-US" dirty="0"/>
          </a:p>
        </p:txBody>
      </p:sp>
      <p:sp>
        <p:nvSpPr>
          <p:cNvPr id="4" name="Text Placeholder 3">
            <a:extLst>
              <a:ext uri="{FF2B5EF4-FFF2-40B4-BE49-F238E27FC236}">
                <a16:creationId xmlns:a16="http://schemas.microsoft.com/office/drawing/2014/main" id="{F96F3CAC-923D-14B6-F0A3-957C29FA0B7B}"/>
              </a:ext>
            </a:extLst>
          </p:cNvPr>
          <p:cNvSpPr>
            <a:spLocks noGrp="1"/>
          </p:cNvSpPr>
          <p:nvPr>
            <p:ph type="body" sz="quarter" idx="19" hasCustomPrompt="1"/>
          </p:nvPr>
        </p:nvSpPr>
        <p:spPr>
          <a:xfrm>
            <a:off x="320675" y="3154362"/>
            <a:ext cx="2743200" cy="1838325"/>
          </a:xfrm>
        </p:spPr>
        <p:txBody>
          <a:bodyPr>
            <a:noAutofit/>
          </a:bodyPr>
          <a:lstStyle>
            <a:lvl1pPr marL="0" indent="0">
              <a:buNone/>
              <a:defRPr sz="1800"/>
            </a:lvl1pPr>
          </a:lstStyle>
          <a:p>
            <a:r>
              <a:rPr lang="en-US" dirty="0">
                <a:effectLst/>
                <a:latin typeface="Calibri Light" panose="020F0302020204030204" pitchFamily="34" charset="0"/>
              </a:rPr>
              <a:t>Subheading goes here</a:t>
            </a:r>
          </a:p>
          <a:p>
            <a:r>
              <a:rPr lang="en-US" dirty="0">
                <a:effectLst/>
                <a:latin typeface="Calibri Light" panose="020F0302020204030204" pitchFamily="34" charset="0"/>
              </a:rPr>
              <a:t>This is body copy. Lorem ipsum dolor sit </a:t>
            </a:r>
            <a:r>
              <a:rPr lang="en-US" dirty="0" err="1">
                <a:effectLst/>
                <a:latin typeface="Calibri Light" panose="020F0302020204030204" pitchFamily="34" charset="0"/>
              </a:rPr>
              <a:t>amet</a:t>
            </a:r>
            <a:r>
              <a:rPr lang="en-US" dirty="0">
                <a:effectLst/>
                <a:latin typeface="Calibri Light" panose="020F0302020204030204" pitchFamily="34" charset="0"/>
              </a:rPr>
              <a:t>, </a:t>
            </a:r>
            <a:r>
              <a:rPr lang="en-US" dirty="0" err="1">
                <a:effectLst/>
                <a:latin typeface="Calibri Light" panose="020F0302020204030204" pitchFamily="34" charset="0"/>
              </a:rPr>
              <a:t>consectetur</a:t>
            </a:r>
            <a:r>
              <a:rPr lang="en-US" dirty="0">
                <a:effectLst/>
                <a:latin typeface="Calibri Light" panose="020F0302020204030204" pitchFamily="34" charset="0"/>
              </a:rPr>
              <a:t> </a:t>
            </a:r>
            <a:r>
              <a:rPr lang="en-US" dirty="0" err="1">
                <a:effectLst/>
                <a:latin typeface="Calibri Light" panose="020F0302020204030204" pitchFamily="34" charset="0"/>
              </a:rPr>
              <a:t>adipis</a:t>
            </a:r>
            <a:r>
              <a:rPr lang="en-US" dirty="0">
                <a:effectLst/>
                <a:latin typeface="Calibri Light" panose="020F0302020204030204" pitchFamily="34" charset="0"/>
              </a:rPr>
              <a:t> </a:t>
            </a:r>
            <a:r>
              <a:rPr lang="en-US" dirty="0" err="1">
                <a:effectLst/>
                <a:latin typeface="Calibri Light" panose="020F0302020204030204" pitchFamily="34" charset="0"/>
              </a:rPr>
              <a:t>cing</a:t>
            </a:r>
            <a:r>
              <a:rPr lang="en-US" dirty="0">
                <a:effectLst/>
                <a:latin typeface="Calibri Light" panose="020F0302020204030204" pitchFamily="34" charset="0"/>
              </a:rPr>
              <a:t> </a:t>
            </a:r>
            <a:r>
              <a:rPr lang="en-US" dirty="0" err="1">
                <a:effectLst/>
                <a:latin typeface="Calibri Light" panose="020F0302020204030204" pitchFamily="34" charset="0"/>
              </a:rPr>
              <a:t>elit</a:t>
            </a:r>
            <a:r>
              <a:rPr lang="en-US" dirty="0">
                <a:effectLst/>
                <a:latin typeface="Calibri Light" panose="020F0302020204030204" pitchFamily="34" charset="0"/>
              </a:rPr>
              <a:t>. Maecenas id </a:t>
            </a:r>
            <a:r>
              <a:rPr lang="en-US" dirty="0" err="1">
                <a:effectLst/>
                <a:latin typeface="Calibri Light" panose="020F0302020204030204" pitchFamily="34" charset="0"/>
              </a:rPr>
              <a:t>vulputate</a:t>
            </a:r>
            <a:r>
              <a:rPr lang="en-US" dirty="0">
                <a:effectLst/>
                <a:latin typeface="Calibri Light" panose="020F0302020204030204" pitchFamily="34" charset="0"/>
              </a:rPr>
              <a:t> </a:t>
            </a:r>
            <a:r>
              <a:rPr lang="en-US" dirty="0" err="1">
                <a:effectLst/>
                <a:latin typeface="Calibri Light" panose="020F0302020204030204" pitchFamily="34" charset="0"/>
              </a:rPr>
              <a:t>turpis</a:t>
            </a:r>
            <a:r>
              <a:rPr lang="en-US" dirty="0">
                <a:effectLst/>
                <a:latin typeface="Calibri Light" panose="020F0302020204030204" pitchFamily="34" charset="0"/>
              </a:rPr>
              <a:t>. Gravida </a:t>
            </a:r>
            <a:r>
              <a:rPr lang="en-US" dirty="0" err="1">
                <a:effectLst/>
                <a:latin typeface="Calibri Light" panose="020F0302020204030204" pitchFamily="34" charset="0"/>
              </a:rPr>
              <a:t>leo</a:t>
            </a:r>
            <a:r>
              <a:rPr lang="en-US" dirty="0">
                <a:effectLst/>
                <a:latin typeface="Calibri Light" panose="020F0302020204030204" pitchFamily="34" charset="0"/>
              </a:rPr>
              <a:t> ac </a:t>
            </a:r>
            <a:r>
              <a:rPr lang="en-US" dirty="0" err="1">
                <a:effectLst/>
                <a:latin typeface="Calibri Light" panose="020F0302020204030204" pitchFamily="34" charset="0"/>
              </a:rPr>
              <a:t>sapien</a:t>
            </a:r>
            <a:r>
              <a:rPr lang="en-US" dirty="0">
                <a:effectLst/>
                <a:latin typeface="Calibri Light" panose="020F0302020204030204" pitchFamily="34" charset="0"/>
              </a:rPr>
              <a:t> convallis, </a:t>
            </a:r>
            <a:r>
              <a:rPr lang="en-US" dirty="0" err="1">
                <a:effectLst/>
                <a:latin typeface="Calibri Light" panose="020F0302020204030204" pitchFamily="34" charset="0"/>
              </a:rPr>
              <a:t>sodales</a:t>
            </a:r>
            <a:r>
              <a:rPr lang="en-US" dirty="0">
                <a:effectLst/>
                <a:latin typeface="Calibri Light" panose="020F0302020204030204" pitchFamily="34" charset="0"/>
              </a:rPr>
              <a:t> eros.</a:t>
            </a:r>
          </a:p>
        </p:txBody>
      </p:sp>
      <p:sp>
        <p:nvSpPr>
          <p:cNvPr id="5" name="Text Placeholder 3">
            <a:extLst>
              <a:ext uri="{FF2B5EF4-FFF2-40B4-BE49-F238E27FC236}">
                <a16:creationId xmlns:a16="http://schemas.microsoft.com/office/drawing/2014/main" id="{380F57D2-B06A-9195-ECB1-9554F456E1AD}"/>
              </a:ext>
            </a:extLst>
          </p:cNvPr>
          <p:cNvSpPr>
            <a:spLocks noGrp="1"/>
          </p:cNvSpPr>
          <p:nvPr>
            <p:ph type="body" sz="quarter" idx="20" hasCustomPrompt="1"/>
          </p:nvPr>
        </p:nvSpPr>
        <p:spPr>
          <a:xfrm>
            <a:off x="3200400" y="3154362"/>
            <a:ext cx="2743200" cy="1838325"/>
          </a:xfrm>
        </p:spPr>
        <p:txBody>
          <a:bodyPr>
            <a:noAutofit/>
          </a:bodyPr>
          <a:lstStyle>
            <a:lvl1pPr marL="0" indent="0">
              <a:buNone/>
              <a:defRPr sz="1800"/>
            </a:lvl1pPr>
          </a:lstStyle>
          <a:p>
            <a:r>
              <a:rPr lang="en-US" dirty="0">
                <a:effectLst/>
                <a:latin typeface="Calibri Light" panose="020F0302020204030204" pitchFamily="34" charset="0"/>
              </a:rPr>
              <a:t>Subheading goes here</a:t>
            </a:r>
          </a:p>
          <a:p>
            <a:r>
              <a:rPr lang="en-US" dirty="0">
                <a:effectLst/>
                <a:latin typeface="Calibri Light" panose="020F0302020204030204" pitchFamily="34" charset="0"/>
              </a:rPr>
              <a:t>This is body copy. Lorem ipsum dolor sit </a:t>
            </a:r>
            <a:r>
              <a:rPr lang="en-US" dirty="0" err="1">
                <a:effectLst/>
                <a:latin typeface="Calibri Light" panose="020F0302020204030204" pitchFamily="34" charset="0"/>
              </a:rPr>
              <a:t>amet</a:t>
            </a:r>
            <a:r>
              <a:rPr lang="en-US" dirty="0">
                <a:effectLst/>
                <a:latin typeface="Calibri Light" panose="020F0302020204030204" pitchFamily="34" charset="0"/>
              </a:rPr>
              <a:t>, </a:t>
            </a:r>
            <a:r>
              <a:rPr lang="en-US" dirty="0" err="1">
                <a:effectLst/>
                <a:latin typeface="Calibri Light" panose="020F0302020204030204" pitchFamily="34" charset="0"/>
              </a:rPr>
              <a:t>consectetur</a:t>
            </a:r>
            <a:r>
              <a:rPr lang="en-US" dirty="0">
                <a:effectLst/>
                <a:latin typeface="Calibri Light" panose="020F0302020204030204" pitchFamily="34" charset="0"/>
              </a:rPr>
              <a:t> </a:t>
            </a:r>
            <a:r>
              <a:rPr lang="en-US" dirty="0" err="1">
                <a:effectLst/>
                <a:latin typeface="Calibri Light" panose="020F0302020204030204" pitchFamily="34" charset="0"/>
              </a:rPr>
              <a:t>adipis</a:t>
            </a:r>
            <a:r>
              <a:rPr lang="en-US" dirty="0">
                <a:effectLst/>
                <a:latin typeface="Calibri Light" panose="020F0302020204030204" pitchFamily="34" charset="0"/>
              </a:rPr>
              <a:t> </a:t>
            </a:r>
            <a:r>
              <a:rPr lang="en-US" dirty="0" err="1">
                <a:effectLst/>
                <a:latin typeface="Calibri Light" panose="020F0302020204030204" pitchFamily="34" charset="0"/>
              </a:rPr>
              <a:t>cing</a:t>
            </a:r>
            <a:r>
              <a:rPr lang="en-US" dirty="0">
                <a:effectLst/>
                <a:latin typeface="Calibri Light" panose="020F0302020204030204" pitchFamily="34" charset="0"/>
              </a:rPr>
              <a:t> </a:t>
            </a:r>
            <a:r>
              <a:rPr lang="en-US" dirty="0" err="1">
                <a:effectLst/>
                <a:latin typeface="Calibri Light" panose="020F0302020204030204" pitchFamily="34" charset="0"/>
              </a:rPr>
              <a:t>elit</a:t>
            </a:r>
            <a:r>
              <a:rPr lang="en-US" dirty="0">
                <a:effectLst/>
                <a:latin typeface="Calibri Light" panose="020F0302020204030204" pitchFamily="34" charset="0"/>
              </a:rPr>
              <a:t>. Maecenas id </a:t>
            </a:r>
            <a:r>
              <a:rPr lang="en-US" dirty="0" err="1">
                <a:effectLst/>
                <a:latin typeface="Calibri Light" panose="020F0302020204030204" pitchFamily="34" charset="0"/>
              </a:rPr>
              <a:t>vulputate</a:t>
            </a:r>
            <a:r>
              <a:rPr lang="en-US" dirty="0">
                <a:effectLst/>
                <a:latin typeface="Calibri Light" panose="020F0302020204030204" pitchFamily="34" charset="0"/>
              </a:rPr>
              <a:t> </a:t>
            </a:r>
            <a:r>
              <a:rPr lang="en-US" dirty="0" err="1">
                <a:effectLst/>
                <a:latin typeface="Calibri Light" panose="020F0302020204030204" pitchFamily="34" charset="0"/>
              </a:rPr>
              <a:t>turpis</a:t>
            </a:r>
            <a:r>
              <a:rPr lang="en-US" dirty="0">
                <a:effectLst/>
                <a:latin typeface="Calibri Light" panose="020F0302020204030204" pitchFamily="34" charset="0"/>
              </a:rPr>
              <a:t>. Gravida </a:t>
            </a:r>
            <a:r>
              <a:rPr lang="en-US" dirty="0" err="1">
                <a:effectLst/>
                <a:latin typeface="Calibri Light" panose="020F0302020204030204" pitchFamily="34" charset="0"/>
              </a:rPr>
              <a:t>leo</a:t>
            </a:r>
            <a:r>
              <a:rPr lang="en-US" dirty="0">
                <a:effectLst/>
                <a:latin typeface="Calibri Light" panose="020F0302020204030204" pitchFamily="34" charset="0"/>
              </a:rPr>
              <a:t> ac </a:t>
            </a:r>
            <a:r>
              <a:rPr lang="en-US" dirty="0" err="1">
                <a:effectLst/>
                <a:latin typeface="Calibri Light" panose="020F0302020204030204" pitchFamily="34" charset="0"/>
              </a:rPr>
              <a:t>sapien</a:t>
            </a:r>
            <a:r>
              <a:rPr lang="en-US" dirty="0">
                <a:effectLst/>
                <a:latin typeface="Calibri Light" panose="020F0302020204030204" pitchFamily="34" charset="0"/>
              </a:rPr>
              <a:t> convallis, </a:t>
            </a:r>
            <a:r>
              <a:rPr lang="en-US" dirty="0" err="1">
                <a:effectLst/>
                <a:latin typeface="Calibri Light" panose="020F0302020204030204" pitchFamily="34" charset="0"/>
              </a:rPr>
              <a:t>sodales</a:t>
            </a:r>
            <a:r>
              <a:rPr lang="en-US" dirty="0">
                <a:effectLst/>
                <a:latin typeface="Calibri Light" panose="020F0302020204030204" pitchFamily="34" charset="0"/>
              </a:rPr>
              <a:t> eros.</a:t>
            </a:r>
          </a:p>
        </p:txBody>
      </p:sp>
      <p:sp>
        <p:nvSpPr>
          <p:cNvPr id="6" name="Text Placeholder 3">
            <a:extLst>
              <a:ext uri="{FF2B5EF4-FFF2-40B4-BE49-F238E27FC236}">
                <a16:creationId xmlns:a16="http://schemas.microsoft.com/office/drawing/2014/main" id="{15F4EA54-D2EE-087D-B777-EC9294D5D47F}"/>
              </a:ext>
            </a:extLst>
          </p:cNvPr>
          <p:cNvSpPr>
            <a:spLocks noGrp="1"/>
          </p:cNvSpPr>
          <p:nvPr>
            <p:ph type="body" sz="quarter" idx="21" hasCustomPrompt="1"/>
          </p:nvPr>
        </p:nvSpPr>
        <p:spPr>
          <a:xfrm>
            <a:off x="6080125" y="3154362"/>
            <a:ext cx="2743200" cy="1838325"/>
          </a:xfrm>
        </p:spPr>
        <p:txBody>
          <a:bodyPr>
            <a:noAutofit/>
          </a:bodyPr>
          <a:lstStyle>
            <a:lvl1pPr marL="0" indent="0">
              <a:buNone/>
              <a:defRPr sz="1800"/>
            </a:lvl1pPr>
          </a:lstStyle>
          <a:p>
            <a:r>
              <a:rPr lang="en-US" dirty="0">
                <a:effectLst/>
                <a:latin typeface="Calibri Light" panose="020F0302020204030204" pitchFamily="34" charset="0"/>
              </a:rPr>
              <a:t>Subheading goes here</a:t>
            </a:r>
          </a:p>
          <a:p>
            <a:r>
              <a:rPr lang="en-US" dirty="0">
                <a:effectLst/>
                <a:latin typeface="Calibri Light" panose="020F0302020204030204" pitchFamily="34" charset="0"/>
              </a:rPr>
              <a:t>This is body copy. Lorem ipsum dolor sit </a:t>
            </a:r>
            <a:r>
              <a:rPr lang="en-US" dirty="0" err="1">
                <a:effectLst/>
                <a:latin typeface="Calibri Light" panose="020F0302020204030204" pitchFamily="34" charset="0"/>
              </a:rPr>
              <a:t>amet</a:t>
            </a:r>
            <a:r>
              <a:rPr lang="en-US" dirty="0">
                <a:effectLst/>
                <a:latin typeface="Calibri Light" panose="020F0302020204030204" pitchFamily="34" charset="0"/>
              </a:rPr>
              <a:t>, </a:t>
            </a:r>
            <a:r>
              <a:rPr lang="en-US" dirty="0" err="1">
                <a:effectLst/>
                <a:latin typeface="Calibri Light" panose="020F0302020204030204" pitchFamily="34" charset="0"/>
              </a:rPr>
              <a:t>consectetur</a:t>
            </a:r>
            <a:r>
              <a:rPr lang="en-US" dirty="0">
                <a:effectLst/>
                <a:latin typeface="Calibri Light" panose="020F0302020204030204" pitchFamily="34" charset="0"/>
              </a:rPr>
              <a:t> </a:t>
            </a:r>
            <a:r>
              <a:rPr lang="en-US" dirty="0" err="1">
                <a:effectLst/>
                <a:latin typeface="Calibri Light" panose="020F0302020204030204" pitchFamily="34" charset="0"/>
              </a:rPr>
              <a:t>adipis</a:t>
            </a:r>
            <a:r>
              <a:rPr lang="en-US" dirty="0">
                <a:effectLst/>
                <a:latin typeface="Calibri Light" panose="020F0302020204030204" pitchFamily="34" charset="0"/>
              </a:rPr>
              <a:t> </a:t>
            </a:r>
            <a:r>
              <a:rPr lang="en-US" dirty="0" err="1">
                <a:effectLst/>
                <a:latin typeface="Calibri Light" panose="020F0302020204030204" pitchFamily="34" charset="0"/>
              </a:rPr>
              <a:t>cing</a:t>
            </a:r>
            <a:r>
              <a:rPr lang="en-US" dirty="0">
                <a:effectLst/>
                <a:latin typeface="Calibri Light" panose="020F0302020204030204" pitchFamily="34" charset="0"/>
              </a:rPr>
              <a:t> </a:t>
            </a:r>
            <a:r>
              <a:rPr lang="en-US" dirty="0" err="1">
                <a:effectLst/>
                <a:latin typeface="Calibri Light" panose="020F0302020204030204" pitchFamily="34" charset="0"/>
              </a:rPr>
              <a:t>elit</a:t>
            </a:r>
            <a:r>
              <a:rPr lang="en-US" dirty="0">
                <a:effectLst/>
                <a:latin typeface="Calibri Light" panose="020F0302020204030204" pitchFamily="34" charset="0"/>
              </a:rPr>
              <a:t>. Maecenas id </a:t>
            </a:r>
            <a:r>
              <a:rPr lang="en-US" dirty="0" err="1">
                <a:effectLst/>
                <a:latin typeface="Calibri Light" panose="020F0302020204030204" pitchFamily="34" charset="0"/>
              </a:rPr>
              <a:t>vulputate</a:t>
            </a:r>
            <a:r>
              <a:rPr lang="en-US" dirty="0">
                <a:effectLst/>
                <a:latin typeface="Calibri Light" panose="020F0302020204030204" pitchFamily="34" charset="0"/>
              </a:rPr>
              <a:t> </a:t>
            </a:r>
            <a:r>
              <a:rPr lang="en-US" dirty="0" err="1">
                <a:effectLst/>
                <a:latin typeface="Calibri Light" panose="020F0302020204030204" pitchFamily="34" charset="0"/>
              </a:rPr>
              <a:t>turpis</a:t>
            </a:r>
            <a:r>
              <a:rPr lang="en-US" dirty="0">
                <a:effectLst/>
                <a:latin typeface="Calibri Light" panose="020F0302020204030204" pitchFamily="34" charset="0"/>
              </a:rPr>
              <a:t>. Gravida </a:t>
            </a:r>
            <a:r>
              <a:rPr lang="en-US" dirty="0" err="1">
                <a:effectLst/>
                <a:latin typeface="Calibri Light" panose="020F0302020204030204" pitchFamily="34" charset="0"/>
              </a:rPr>
              <a:t>leo</a:t>
            </a:r>
            <a:r>
              <a:rPr lang="en-US" dirty="0">
                <a:effectLst/>
                <a:latin typeface="Calibri Light" panose="020F0302020204030204" pitchFamily="34" charset="0"/>
              </a:rPr>
              <a:t> ac </a:t>
            </a:r>
            <a:r>
              <a:rPr lang="en-US" dirty="0" err="1">
                <a:effectLst/>
                <a:latin typeface="Calibri Light" panose="020F0302020204030204" pitchFamily="34" charset="0"/>
              </a:rPr>
              <a:t>sapien</a:t>
            </a:r>
            <a:r>
              <a:rPr lang="en-US" dirty="0">
                <a:effectLst/>
                <a:latin typeface="Calibri Light" panose="020F0302020204030204" pitchFamily="34" charset="0"/>
              </a:rPr>
              <a:t> convallis, </a:t>
            </a:r>
            <a:r>
              <a:rPr lang="en-US" dirty="0" err="1">
                <a:effectLst/>
                <a:latin typeface="Calibri Light" panose="020F0302020204030204" pitchFamily="34" charset="0"/>
              </a:rPr>
              <a:t>sodales</a:t>
            </a:r>
            <a:r>
              <a:rPr lang="en-US" dirty="0">
                <a:effectLst/>
                <a:latin typeface="Calibri Light" panose="020F0302020204030204" pitchFamily="34" charset="0"/>
              </a:rPr>
              <a:t> eros.</a:t>
            </a:r>
          </a:p>
        </p:txBody>
      </p:sp>
    </p:spTree>
    <p:extLst>
      <p:ext uri="{BB962C8B-B14F-4D97-AF65-F5344CB8AC3E}">
        <p14:creationId xmlns:p14="http://schemas.microsoft.com/office/powerpoint/2010/main" val="337017195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hree story inset w/images (Cardinal bkgd)">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solidFill>
                  <a:schemeClr val="bg1"/>
                </a:solidFill>
              </a:defRPr>
            </a:lvl1pPr>
          </a:lstStyle>
          <a:p>
            <a:r>
              <a:rPr lang="en-US" dirty="0"/>
              <a:t>Three story inset with images</a:t>
            </a:r>
          </a:p>
        </p:txBody>
      </p:sp>
      <p:sp>
        <p:nvSpPr>
          <p:cNvPr id="7" name="Slide Number Placeholder 6"/>
          <p:cNvSpPr>
            <a:spLocks noGrp="1"/>
          </p:cNvSpPr>
          <p:nvPr>
            <p:ph type="sldNum" sz="quarter" idx="12"/>
          </p:nvPr>
        </p:nvSpPr>
        <p:spPr>
          <a:xfrm>
            <a:off x="6766560" y="5296959"/>
            <a:ext cx="2057400" cy="304271"/>
          </a:xfrm>
          <a:prstGeom prst="rect">
            <a:avLst/>
          </a:prstGeom>
        </p:spPr>
        <p:txBody>
          <a:bodyPr/>
          <a:lstStyle>
            <a:lvl1pPr>
              <a:defRPr>
                <a:solidFill>
                  <a:schemeClr val="bg1"/>
                </a:solidFill>
              </a:defRPr>
            </a:lvl1pPr>
          </a:lstStyle>
          <a:p>
            <a:fld id="{177CE274-8713-884F-B04F-B6B90AF41963}" type="slidenum">
              <a:rPr lang="en-US" smtClean="0"/>
              <a:pPr/>
              <a:t>‹#›</a:t>
            </a:fld>
            <a:endParaRPr lang="en-US"/>
          </a:p>
        </p:txBody>
      </p:sp>
      <p:cxnSp>
        <p:nvCxnSpPr>
          <p:cNvPr id="8" name="Straight Connector 7">
            <a:extLst>
              <a:ext uri="{FF2B5EF4-FFF2-40B4-BE49-F238E27FC236}">
                <a16:creationId xmlns:a16="http://schemas.microsoft.com/office/drawing/2014/main" id="{446B76A3-7B3B-66A5-E020-61F692A2D0A8}"/>
              </a:ext>
            </a:extLst>
          </p:cNvPr>
          <p:cNvCxnSpPr>
            <a:cxnSpLocks/>
          </p:cNvCxnSpPr>
          <p:nvPr userDrawn="1"/>
        </p:nvCxnSpPr>
        <p:spPr>
          <a:xfrm>
            <a:off x="320040" y="5296959"/>
            <a:ext cx="8503920" cy="0"/>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
        <p:nvSpPr>
          <p:cNvPr id="9" name="Picture Placeholder 8">
            <a:extLst>
              <a:ext uri="{FF2B5EF4-FFF2-40B4-BE49-F238E27FC236}">
                <a16:creationId xmlns:a16="http://schemas.microsoft.com/office/drawing/2014/main" id="{5C7FAAFB-2588-DDF2-FAB9-CF7A30E5B353}"/>
              </a:ext>
            </a:extLst>
          </p:cNvPr>
          <p:cNvSpPr>
            <a:spLocks noGrp="1"/>
          </p:cNvSpPr>
          <p:nvPr>
            <p:ph type="pic" sz="quarter" idx="13" hasCustomPrompt="1"/>
          </p:nvPr>
        </p:nvSpPr>
        <p:spPr>
          <a:xfrm>
            <a:off x="320675" y="1368424"/>
            <a:ext cx="2743200" cy="1600200"/>
          </a:xfrm>
          <a:solidFill>
            <a:schemeClr val="bg2"/>
          </a:solidFill>
        </p:spPr>
        <p:txBody>
          <a:bodyPr anchor="ctr" anchorCtr="0">
            <a:normAutofit/>
          </a:bodyPr>
          <a:lstStyle>
            <a:lvl1pPr marL="0" indent="0" algn="ctr">
              <a:buNone/>
              <a:defRPr sz="800"/>
            </a:lvl1pPr>
          </a:lstStyle>
          <a:p>
            <a:r>
              <a:rPr lang="en-US" dirty="0"/>
              <a:t>Click to insert image</a:t>
            </a:r>
          </a:p>
          <a:p>
            <a:endParaRPr lang="en-US" dirty="0"/>
          </a:p>
          <a:p>
            <a:endParaRPr lang="en-US" dirty="0"/>
          </a:p>
        </p:txBody>
      </p:sp>
      <p:sp>
        <p:nvSpPr>
          <p:cNvPr id="10" name="Picture Placeholder 8">
            <a:extLst>
              <a:ext uri="{FF2B5EF4-FFF2-40B4-BE49-F238E27FC236}">
                <a16:creationId xmlns:a16="http://schemas.microsoft.com/office/drawing/2014/main" id="{F2A9FC8A-40D6-B726-43B9-7963F537A3A7}"/>
              </a:ext>
            </a:extLst>
          </p:cNvPr>
          <p:cNvSpPr>
            <a:spLocks noGrp="1"/>
          </p:cNvSpPr>
          <p:nvPr>
            <p:ph type="pic" sz="quarter" idx="14" hasCustomPrompt="1"/>
          </p:nvPr>
        </p:nvSpPr>
        <p:spPr>
          <a:xfrm>
            <a:off x="3200400" y="1368266"/>
            <a:ext cx="2743200" cy="1600200"/>
          </a:xfrm>
          <a:solidFill>
            <a:schemeClr val="bg2"/>
          </a:solidFill>
        </p:spPr>
        <p:txBody>
          <a:bodyPr anchor="ctr" anchorCtr="0">
            <a:normAutofit/>
          </a:bodyPr>
          <a:lstStyle>
            <a:lvl1pPr marL="0" indent="0" algn="ctr">
              <a:buNone/>
              <a:defRPr sz="800"/>
            </a:lvl1pPr>
          </a:lstStyle>
          <a:p>
            <a:r>
              <a:rPr lang="en-US" dirty="0"/>
              <a:t>Click to insert image</a:t>
            </a:r>
          </a:p>
          <a:p>
            <a:endParaRPr lang="en-US" dirty="0"/>
          </a:p>
          <a:p>
            <a:endParaRPr lang="en-US" dirty="0"/>
          </a:p>
        </p:txBody>
      </p:sp>
      <p:sp>
        <p:nvSpPr>
          <p:cNvPr id="11" name="Picture Placeholder 8">
            <a:extLst>
              <a:ext uri="{FF2B5EF4-FFF2-40B4-BE49-F238E27FC236}">
                <a16:creationId xmlns:a16="http://schemas.microsoft.com/office/drawing/2014/main" id="{0B35323C-ED18-EB18-F7A4-7EC3ECB82939}"/>
              </a:ext>
            </a:extLst>
          </p:cNvPr>
          <p:cNvSpPr>
            <a:spLocks noGrp="1"/>
          </p:cNvSpPr>
          <p:nvPr>
            <p:ph type="pic" sz="quarter" idx="15" hasCustomPrompt="1"/>
          </p:nvPr>
        </p:nvSpPr>
        <p:spPr>
          <a:xfrm>
            <a:off x="6080125" y="1368266"/>
            <a:ext cx="2743200" cy="1600200"/>
          </a:xfrm>
          <a:solidFill>
            <a:schemeClr val="bg2"/>
          </a:solidFill>
        </p:spPr>
        <p:txBody>
          <a:bodyPr anchor="ctr" anchorCtr="0">
            <a:normAutofit/>
          </a:bodyPr>
          <a:lstStyle>
            <a:lvl1pPr marL="0" indent="0" algn="ctr">
              <a:buNone/>
              <a:defRPr sz="800"/>
            </a:lvl1pPr>
          </a:lstStyle>
          <a:p>
            <a:r>
              <a:rPr lang="en-US" dirty="0"/>
              <a:t>Click to insert image</a:t>
            </a:r>
          </a:p>
          <a:p>
            <a:endParaRPr lang="en-US" dirty="0"/>
          </a:p>
          <a:p>
            <a:endParaRPr lang="en-US" dirty="0"/>
          </a:p>
        </p:txBody>
      </p:sp>
      <p:pic>
        <p:nvPicPr>
          <p:cNvPr id="3" name="Picture 2">
            <a:extLst>
              <a:ext uri="{FF2B5EF4-FFF2-40B4-BE49-F238E27FC236}">
                <a16:creationId xmlns:a16="http://schemas.microsoft.com/office/drawing/2014/main" id="{F1C1EE1B-7E4E-6616-802F-B2C55238A460}"/>
              </a:ext>
            </a:extLst>
          </p:cNvPr>
          <p:cNvPicPr>
            <a:picLocks noChangeAspect="1"/>
          </p:cNvPicPr>
          <p:nvPr userDrawn="1"/>
        </p:nvPicPr>
        <p:blipFill>
          <a:blip r:embed="rId2"/>
          <a:srcRect/>
          <a:stretch/>
        </p:blipFill>
        <p:spPr>
          <a:xfrm>
            <a:off x="313316" y="5389834"/>
            <a:ext cx="1426464" cy="171815"/>
          </a:xfrm>
          <a:prstGeom prst="rect">
            <a:avLst/>
          </a:prstGeom>
        </p:spPr>
      </p:pic>
      <p:sp>
        <p:nvSpPr>
          <p:cNvPr id="4" name="Text Placeholder 3">
            <a:extLst>
              <a:ext uri="{FF2B5EF4-FFF2-40B4-BE49-F238E27FC236}">
                <a16:creationId xmlns:a16="http://schemas.microsoft.com/office/drawing/2014/main" id="{265F3B0C-7C89-CFDD-580C-3DE1E2FB9F8B}"/>
              </a:ext>
            </a:extLst>
          </p:cNvPr>
          <p:cNvSpPr>
            <a:spLocks noGrp="1"/>
          </p:cNvSpPr>
          <p:nvPr>
            <p:ph type="body" sz="quarter" idx="19" hasCustomPrompt="1"/>
          </p:nvPr>
        </p:nvSpPr>
        <p:spPr>
          <a:xfrm>
            <a:off x="320675" y="3154362"/>
            <a:ext cx="2743200" cy="1838325"/>
          </a:xfrm>
        </p:spPr>
        <p:txBody>
          <a:bodyPr>
            <a:noAutofit/>
          </a:bodyPr>
          <a:lstStyle>
            <a:lvl1pPr marL="0" indent="0">
              <a:buNone/>
              <a:defRPr sz="1800">
                <a:solidFill>
                  <a:schemeClr val="bg1"/>
                </a:solidFill>
              </a:defRPr>
            </a:lvl1pPr>
          </a:lstStyle>
          <a:p>
            <a:r>
              <a:rPr lang="en-US" dirty="0">
                <a:effectLst/>
                <a:latin typeface="Calibri Light" panose="020F0302020204030204" pitchFamily="34" charset="0"/>
              </a:rPr>
              <a:t>Subheading goes here</a:t>
            </a:r>
          </a:p>
          <a:p>
            <a:r>
              <a:rPr lang="en-US" dirty="0">
                <a:effectLst/>
                <a:latin typeface="Calibri Light" panose="020F0302020204030204" pitchFamily="34" charset="0"/>
              </a:rPr>
              <a:t>This is body copy. Lorem ipsum dolor sit </a:t>
            </a:r>
            <a:r>
              <a:rPr lang="en-US" dirty="0" err="1">
                <a:effectLst/>
                <a:latin typeface="Calibri Light" panose="020F0302020204030204" pitchFamily="34" charset="0"/>
              </a:rPr>
              <a:t>amet</a:t>
            </a:r>
            <a:r>
              <a:rPr lang="en-US" dirty="0">
                <a:effectLst/>
                <a:latin typeface="Calibri Light" panose="020F0302020204030204" pitchFamily="34" charset="0"/>
              </a:rPr>
              <a:t>, </a:t>
            </a:r>
            <a:r>
              <a:rPr lang="en-US" dirty="0" err="1">
                <a:effectLst/>
                <a:latin typeface="Calibri Light" panose="020F0302020204030204" pitchFamily="34" charset="0"/>
              </a:rPr>
              <a:t>consectetur</a:t>
            </a:r>
            <a:r>
              <a:rPr lang="en-US" dirty="0">
                <a:effectLst/>
                <a:latin typeface="Calibri Light" panose="020F0302020204030204" pitchFamily="34" charset="0"/>
              </a:rPr>
              <a:t> </a:t>
            </a:r>
            <a:r>
              <a:rPr lang="en-US" dirty="0" err="1">
                <a:effectLst/>
                <a:latin typeface="Calibri Light" panose="020F0302020204030204" pitchFamily="34" charset="0"/>
              </a:rPr>
              <a:t>adipis</a:t>
            </a:r>
            <a:r>
              <a:rPr lang="en-US" dirty="0">
                <a:effectLst/>
                <a:latin typeface="Calibri Light" panose="020F0302020204030204" pitchFamily="34" charset="0"/>
              </a:rPr>
              <a:t> </a:t>
            </a:r>
            <a:r>
              <a:rPr lang="en-US" dirty="0" err="1">
                <a:effectLst/>
                <a:latin typeface="Calibri Light" panose="020F0302020204030204" pitchFamily="34" charset="0"/>
              </a:rPr>
              <a:t>cing</a:t>
            </a:r>
            <a:r>
              <a:rPr lang="en-US" dirty="0">
                <a:effectLst/>
                <a:latin typeface="Calibri Light" panose="020F0302020204030204" pitchFamily="34" charset="0"/>
              </a:rPr>
              <a:t> </a:t>
            </a:r>
            <a:r>
              <a:rPr lang="en-US" dirty="0" err="1">
                <a:effectLst/>
                <a:latin typeface="Calibri Light" panose="020F0302020204030204" pitchFamily="34" charset="0"/>
              </a:rPr>
              <a:t>elit</a:t>
            </a:r>
            <a:r>
              <a:rPr lang="en-US" dirty="0">
                <a:effectLst/>
                <a:latin typeface="Calibri Light" panose="020F0302020204030204" pitchFamily="34" charset="0"/>
              </a:rPr>
              <a:t>. Maecenas id </a:t>
            </a:r>
            <a:r>
              <a:rPr lang="en-US" dirty="0" err="1">
                <a:effectLst/>
                <a:latin typeface="Calibri Light" panose="020F0302020204030204" pitchFamily="34" charset="0"/>
              </a:rPr>
              <a:t>vulputate</a:t>
            </a:r>
            <a:r>
              <a:rPr lang="en-US" dirty="0">
                <a:effectLst/>
                <a:latin typeface="Calibri Light" panose="020F0302020204030204" pitchFamily="34" charset="0"/>
              </a:rPr>
              <a:t> </a:t>
            </a:r>
            <a:r>
              <a:rPr lang="en-US" dirty="0" err="1">
                <a:effectLst/>
                <a:latin typeface="Calibri Light" panose="020F0302020204030204" pitchFamily="34" charset="0"/>
              </a:rPr>
              <a:t>turpis</a:t>
            </a:r>
            <a:r>
              <a:rPr lang="en-US" dirty="0">
                <a:effectLst/>
                <a:latin typeface="Calibri Light" panose="020F0302020204030204" pitchFamily="34" charset="0"/>
              </a:rPr>
              <a:t>. Gravida </a:t>
            </a:r>
            <a:r>
              <a:rPr lang="en-US" dirty="0" err="1">
                <a:effectLst/>
                <a:latin typeface="Calibri Light" panose="020F0302020204030204" pitchFamily="34" charset="0"/>
              </a:rPr>
              <a:t>leo</a:t>
            </a:r>
            <a:r>
              <a:rPr lang="en-US" dirty="0">
                <a:effectLst/>
                <a:latin typeface="Calibri Light" panose="020F0302020204030204" pitchFamily="34" charset="0"/>
              </a:rPr>
              <a:t> ac </a:t>
            </a:r>
            <a:r>
              <a:rPr lang="en-US" dirty="0" err="1">
                <a:effectLst/>
                <a:latin typeface="Calibri Light" panose="020F0302020204030204" pitchFamily="34" charset="0"/>
              </a:rPr>
              <a:t>sapien</a:t>
            </a:r>
            <a:r>
              <a:rPr lang="en-US" dirty="0">
                <a:effectLst/>
                <a:latin typeface="Calibri Light" panose="020F0302020204030204" pitchFamily="34" charset="0"/>
              </a:rPr>
              <a:t> convallis, </a:t>
            </a:r>
            <a:r>
              <a:rPr lang="en-US" dirty="0" err="1">
                <a:effectLst/>
                <a:latin typeface="Calibri Light" panose="020F0302020204030204" pitchFamily="34" charset="0"/>
              </a:rPr>
              <a:t>sodales</a:t>
            </a:r>
            <a:r>
              <a:rPr lang="en-US" dirty="0">
                <a:effectLst/>
                <a:latin typeface="Calibri Light" panose="020F0302020204030204" pitchFamily="34" charset="0"/>
              </a:rPr>
              <a:t> eros.</a:t>
            </a:r>
          </a:p>
        </p:txBody>
      </p:sp>
      <p:sp>
        <p:nvSpPr>
          <p:cNvPr id="5" name="Text Placeholder 3">
            <a:extLst>
              <a:ext uri="{FF2B5EF4-FFF2-40B4-BE49-F238E27FC236}">
                <a16:creationId xmlns:a16="http://schemas.microsoft.com/office/drawing/2014/main" id="{79404406-57CC-2CC6-4B29-BCB12EBEF4B6}"/>
              </a:ext>
            </a:extLst>
          </p:cNvPr>
          <p:cNvSpPr>
            <a:spLocks noGrp="1"/>
          </p:cNvSpPr>
          <p:nvPr>
            <p:ph type="body" sz="quarter" idx="20" hasCustomPrompt="1"/>
          </p:nvPr>
        </p:nvSpPr>
        <p:spPr>
          <a:xfrm>
            <a:off x="3200400" y="3154362"/>
            <a:ext cx="2743200" cy="1838325"/>
          </a:xfrm>
        </p:spPr>
        <p:txBody>
          <a:bodyPr>
            <a:noAutofit/>
          </a:bodyPr>
          <a:lstStyle>
            <a:lvl1pPr marL="0" indent="0">
              <a:buNone/>
              <a:defRPr sz="1800">
                <a:solidFill>
                  <a:schemeClr val="bg1"/>
                </a:solidFill>
              </a:defRPr>
            </a:lvl1pPr>
          </a:lstStyle>
          <a:p>
            <a:r>
              <a:rPr lang="en-US" dirty="0">
                <a:effectLst/>
                <a:latin typeface="Calibri Light" panose="020F0302020204030204" pitchFamily="34" charset="0"/>
              </a:rPr>
              <a:t>Subheading goes here</a:t>
            </a:r>
          </a:p>
          <a:p>
            <a:r>
              <a:rPr lang="en-US" dirty="0">
                <a:effectLst/>
                <a:latin typeface="Calibri Light" panose="020F0302020204030204" pitchFamily="34" charset="0"/>
              </a:rPr>
              <a:t>This is body copy. Lorem ipsum dolor sit </a:t>
            </a:r>
            <a:r>
              <a:rPr lang="en-US" dirty="0" err="1">
                <a:effectLst/>
                <a:latin typeface="Calibri Light" panose="020F0302020204030204" pitchFamily="34" charset="0"/>
              </a:rPr>
              <a:t>amet</a:t>
            </a:r>
            <a:r>
              <a:rPr lang="en-US" dirty="0">
                <a:effectLst/>
                <a:latin typeface="Calibri Light" panose="020F0302020204030204" pitchFamily="34" charset="0"/>
              </a:rPr>
              <a:t>, </a:t>
            </a:r>
            <a:r>
              <a:rPr lang="en-US" dirty="0" err="1">
                <a:effectLst/>
                <a:latin typeface="Calibri Light" panose="020F0302020204030204" pitchFamily="34" charset="0"/>
              </a:rPr>
              <a:t>consectetur</a:t>
            </a:r>
            <a:r>
              <a:rPr lang="en-US" dirty="0">
                <a:effectLst/>
                <a:latin typeface="Calibri Light" panose="020F0302020204030204" pitchFamily="34" charset="0"/>
              </a:rPr>
              <a:t> </a:t>
            </a:r>
            <a:r>
              <a:rPr lang="en-US" dirty="0" err="1">
                <a:effectLst/>
                <a:latin typeface="Calibri Light" panose="020F0302020204030204" pitchFamily="34" charset="0"/>
              </a:rPr>
              <a:t>adipis</a:t>
            </a:r>
            <a:r>
              <a:rPr lang="en-US" dirty="0">
                <a:effectLst/>
                <a:latin typeface="Calibri Light" panose="020F0302020204030204" pitchFamily="34" charset="0"/>
              </a:rPr>
              <a:t> </a:t>
            </a:r>
            <a:r>
              <a:rPr lang="en-US" dirty="0" err="1">
                <a:effectLst/>
                <a:latin typeface="Calibri Light" panose="020F0302020204030204" pitchFamily="34" charset="0"/>
              </a:rPr>
              <a:t>cing</a:t>
            </a:r>
            <a:r>
              <a:rPr lang="en-US" dirty="0">
                <a:effectLst/>
                <a:latin typeface="Calibri Light" panose="020F0302020204030204" pitchFamily="34" charset="0"/>
              </a:rPr>
              <a:t> </a:t>
            </a:r>
            <a:r>
              <a:rPr lang="en-US" dirty="0" err="1">
                <a:effectLst/>
                <a:latin typeface="Calibri Light" panose="020F0302020204030204" pitchFamily="34" charset="0"/>
              </a:rPr>
              <a:t>elit</a:t>
            </a:r>
            <a:r>
              <a:rPr lang="en-US" dirty="0">
                <a:effectLst/>
                <a:latin typeface="Calibri Light" panose="020F0302020204030204" pitchFamily="34" charset="0"/>
              </a:rPr>
              <a:t>. Maecenas id </a:t>
            </a:r>
            <a:r>
              <a:rPr lang="en-US" dirty="0" err="1">
                <a:effectLst/>
                <a:latin typeface="Calibri Light" panose="020F0302020204030204" pitchFamily="34" charset="0"/>
              </a:rPr>
              <a:t>vulputate</a:t>
            </a:r>
            <a:r>
              <a:rPr lang="en-US" dirty="0">
                <a:effectLst/>
                <a:latin typeface="Calibri Light" panose="020F0302020204030204" pitchFamily="34" charset="0"/>
              </a:rPr>
              <a:t> </a:t>
            </a:r>
            <a:r>
              <a:rPr lang="en-US" dirty="0" err="1">
                <a:effectLst/>
                <a:latin typeface="Calibri Light" panose="020F0302020204030204" pitchFamily="34" charset="0"/>
              </a:rPr>
              <a:t>turpis</a:t>
            </a:r>
            <a:r>
              <a:rPr lang="en-US" dirty="0">
                <a:effectLst/>
                <a:latin typeface="Calibri Light" panose="020F0302020204030204" pitchFamily="34" charset="0"/>
              </a:rPr>
              <a:t>. Gravida </a:t>
            </a:r>
            <a:r>
              <a:rPr lang="en-US" dirty="0" err="1">
                <a:effectLst/>
                <a:latin typeface="Calibri Light" panose="020F0302020204030204" pitchFamily="34" charset="0"/>
              </a:rPr>
              <a:t>leo</a:t>
            </a:r>
            <a:r>
              <a:rPr lang="en-US" dirty="0">
                <a:effectLst/>
                <a:latin typeface="Calibri Light" panose="020F0302020204030204" pitchFamily="34" charset="0"/>
              </a:rPr>
              <a:t> ac </a:t>
            </a:r>
            <a:r>
              <a:rPr lang="en-US" dirty="0" err="1">
                <a:effectLst/>
                <a:latin typeface="Calibri Light" panose="020F0302020204030204" pitchFamily="34" charset="0"/>
              </a:rPr>
              <a:t>sapien</a:t>
            </a:r>
            <a:r>
              <a:rPr lang="en-US" dirty="0">
                <a:effectLst/>
                <a:latin typeface="Calibri Light" panose="020F0302020204030204" pitchFamily="34" charset="0"/>
              </a:rPr>
              <a:t> convallis, </a:t>
            </a:r>
            <a:r>
              <a:rPr lang="en-US" dirty="0" err="1">
                <a:effectLst/>
                <a:latin typeface="Calibri Light" panose="020F0302020204030204" pitchFamily="34" charset="0"/>
              </a:rPr>
              <a:t>sodales</a:t>
            </a:r>
            <a:r>
              <a:rPr lang="en-US" dirty="0">
                <a:effectLst/>
                <a:latin typeface="Calibri Light" panose="020F0302020204030204" pitchFamily="34" charset="0"/>
              </a:rPr>
              <a:t> eros.</a:t>
            </a:r>
          </a:p>
        </p:txBody>
      </p:sp>
      <p:sp>
        <p:nvSpPr>
          <p:cNvPr id="6" name="Text Placeholder 3">
            <a:extLst>
              <a:ext uri="{FF2B5EF4-FFF2-40B4-BE49-F238E27FC236}">
                <a16:creationId xmlns:a16="http://schemas.microsoft.com/office/drawing/2014/main" id="{323E000F-9740-92B5-226E-7F2A9573F22A}"/>
              </a:ext>
            </a:extLst>
          </p:cNvPr>
          <p:cNvSpPr>
            <a:spLocks noGrp="1"/>
          </p:cNvSpPr>
          <p:nvPr>
            <p:ph type="body" sz="quarter" idx="21" hasCustomPrompt="1"/>
          </p:nvPr>
        </p:nvSpPr>
        <p:spPr>
          <a:xfrm>
            <a:off x="6080125" y="3154362"/>
            <a:ext cx="2743200" cy="1838325"/>
          </a:xfrm>
        </p:spPr>
        <p:txBody>
          <a:bodyPr>
            <a:noAutofit/>
          </a:bodyPr>
          <a:lstStyle>
            <a:lvl1pPr marL="0" indent="0">
              <a:buNone/>
              <a:defRPr sz="1800">
                <a:solidFill>
                  <a:schemeClr val="bg1"/>
                </a:solidFill>
              </a:defRPr>
            </a:lvl1pPr>
          </a:lstStyle>
          <a:p>
            <a:r>
              <a:rPr lang="en-US" dirty="0">
                <a:effectLst/>
                <a:latin typeface="Calibri Light" panose="020F0302020204030204" pitchFamily="34" charset="0"/>
              </a:rPr>
              <a:t>Subheading goes here</a:t>
            </a:r>
          </a:p>
          <a:p>
            <a:r>
              <a:rPr lang="en-US" dirty="0">
                <a:effectLst/>
                <a:latin typeface="Calibri Light" panose="020F0302020204030204" pitchFamily="34" charset="0"/>
              </a:rPr>
              <a:t>This is body copy. Lorem ipsum dolor sit </a:t>
            </a:r>
            <a:r>
              <a:rPr lang="en-US" dirty="0" err="1">
                <a:effectLst/>
                <a:latin typeface="Calibri Light" panose="020F0302020204030204" pitchFamily="34" charset="0"/>
              </a:rPr>
              <a:t>amet</a:t>
            </a:r>
            <a:r>
              <a:rPr lang="en-US" dirty="0">
                <a:effectLst/>
                <a:latin typeface="Calibri Light" panose="020F0302020204030204" pitchFamily="34" charset="0"/>
              </a:rPr>
              <a:t>, </a:t>
            </a:r>
            <a:r>
              <a:rPr lang="en-US" dirty="0" err="1">
                <a:effectLst/>
                <a:latin typeface="Calibri Light" panose="020F0302020204030204" pitchFamily="34" charset="0"/>
              </a:rPr>
              <a:t>consectetur</a:t>
            </a:r>
            <a:r>
              <a:rPr lang="en-US" dirty="0">
                <a:effectLst/>
                <a:latin typeface="Calibri Light" panose="020F0302020204030204" pitchFamily="34" charset="0"/>
              </a:rPr>
              <a:t> </a:t>
            </a:r>
            <a:r>
              <a:rPr lang="en-US" dirty="0" err="1">
                <a:effectLst/>
                <a:latin typeface="Calibri Light" panose="020F0302020204030204" pitchFamily="34" charset="0"/>
              </a:rPr>
              <a:t>adipis</a:t>
            </a:r>
            <a:r>
              <a:rPr lang="en-US" dirty="0">
                <a:effectLst/>
                <a:latin typeface="Calibri Light" panose="020F0302020204030204" pitchFamily="34" charset="0"/>
              </a:rPr>
              <a:t> </a:t>
            </a:r>
            <a:r>
              <a:rPr lang="en-US" dirty="0" err="1">
                <a:effectLst/>
                <a:latin typeface="Calibri Light" panose="020F0302020204030204" pitchFamily="34" charset="0"/>
              </a:rPr>
              <a:t>cing</a:t>
            </a:r>
            <a:r>
              <a:rPr lang="en-US" dirty="0">
                <a:effectLst/>
                <a:latin typeface="Calibri Light" panose="020F0302020204030204" pitchFamily="34" charset="0"/>
              </a:rPr>
              <a:t> </a:t>
            </a:r>
            <a:r>
              <a:rPr lang="en-US" dirty="0" err="1">
                <a:effectLst/>
                <a:latin typeface="Calibri Light" panose="020F0302020204030204" pitchFamily="34" charset="0"/>
              </a:rPr>
              <a:t>elit</a:t>
            </a:r>
            <a:r>
              <a:rPr lang="en-US" dirty="0">
                <a:effectLst/>
                <a:latin typeface="Calibri Light" panose="020F0302020204030204" pitchFamily="34" charset="0"/>
              </a:rPr>
              <a:t>. Maecenas id </a:t>
            </a:r>
            <a:r>
              <a:rPr lang="en-US" dirty="0" err="1">
                <a:effectLst/>
                <a:latin typeface="Calibri Light" panose="020F0302020204030204" pitchFamily="34" charset="0"/>
              </a:rPr>
              <a:t>vulputate</a:t>
            </a:r>
            <a:r>
              <a:rPr lang="en-US" dirty="0">
                <a:effectLst/>
                <a:latin typeface="Calibri Light" panose="020F0302020204030204" pitchFamily="34" charset="0"/>
              </a:rPr>
              <a:t> </a:t>
            </a:r>
            <a:r>
              <a:rPr lang="en-US" dirty="0" err="1">
                <a:effectLst/>
                <a:latin typeface="Calibri Light" panose="020F0302020204030204" pitchFamily="34" charset="0"/>
              </a:rPr>
              <a:t>turpis</a:t>
            </a:r>
            <a:r>
              <a:rPr lang="en-US" dirty="0">
                <a:effectLst/>
                <a:latin typeface="Calibri Light" panose="020F0302020204030204" pitchFamily="34" charset="0"/>
              </a:rPr>
              <a:t>. Gravida </a:t>
            </a:r>
            <a:r>
              <a:rPr lang="en-US" dirty="0" err="1">
                <a:effectLst/>
                <a:latin typeface="Calibri Light" panose="020F0302020204030204" pitchFamily="34" charset="0"/>
              </a:rPr>
              <a:t>leo</a:t>
            </a:r>
            <a:r>
              <a:rPr lang="en-US" dirty="0">
                <a:effectLst/>
                <a:latin typeface="Calibri Light" panose="020F0302020204030204" pitchFamily="34" charset="0"/>
              </a:rPr>
              <a:t> ac </a:t>
            </a:r>
            <a:r>
              <a:rPr lang="en-US" dirty="0" err="1">
                <a:effectLst/>
                <a:latin typeface="Calibri Light" panose="020F0302020204030204" pitchFamily="34" charset="0"/>
              </a:rPr>
              <a:t>sapien</a:t>
            </a:r>
            <a:r>
              <a:rPr lang="en-US" dirty="0">
                <a:effectLst/>
                <a:latin typeface="Calibri Light" panose="020F0302020204030204" pitchFamily="34" charset="0"/>
              </a:rPr>
              <a:t> convallis, </a:t>
            </a:r>
            <a:r>
              <a:rPr lang="en-US" dirty="0" err="1">
                <a:effectLst/>
                <a:latin typeface="Calibri Light" panose="020F0302020204030204" pitchFamily="34" charset="0"/>
              </a:rPr>
              <a:t>sodales</a:t>
            </a:r>
            <a:r>
              <a:rPr lang="en-US" dirty="0">
                <a:effectLst/>
                <a:latin typeface="Calibri Light" panose="020F0302020204030204" pitchFamily="34" charset="0"/>
              </a:rPr>
              <a:t> eros.</a:t>
            </a:r>
          </a:p>
        </p:txBody>
      </p:sp>
    </p:spTree>
    <p:extLst>
      <p:ext uri="{BB962C8B-B14F-4D97-AF65-F5344CB8AC3E}">
        <p14:creationId xmlns:p14="http://schemas.microsoft.com/office/powerpoint/2010/main" val="37030200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Divider - Poppy">
    <p:bg>
      <p:bgPr>
        <a:solidFill>
          <a:schemeClr val="accent5"/>
        </a:solidFill>
        <a:effectLst/>
      </p:bgPr>
    </p:bg>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FA68484C-AC53-310A-3E63-11563691DA99}"/>
              </a:ext>
            </a:extLst>
          </p:cNvPr>
          <p:cNvPicPr>
            <a:picLocks noChangeAspect="1"/>
          </p:cNvPicPr>
          <p:nvPr userDrawn="1"/>
        </p:nvPicPr>
        <p:blipFill>
          <a:blip r:embed="rId2">
            <a:alphaModFix amt="85000"/>
          </a:blip>
          <a:stretch>
            <a:fillRect/>
          </a:stretch>
        </p:blipFill>
        <p:spPr>
          <a:xfrm>
            <a:off x="0" y="0"/>
            <a:ext cx="3215261" cy="5715000"/>
          </a:xfrm>
          <a:prstGeom prst="rect">
            <a:avLst/>
          </a:prstGeom>
        </p:spPr>
      </p:pic>
      <p:sp>
        <p:nvSpPr>
          <p:cNvPr id="3" name="Text Placeholder 2"/>
          <p:cNvSpPr>
            <a:spLocks noGrp="1"/>
          </p:cNvSpPr>
          <p:nvPr>
            <p:ph type="body" idx="1" hasCustomPrompt="1"/>
          </p:nvPr>
        </p:nvSpPr>
        <p:spPr>
          <a:xfrm>
            <a:off x="1363132" y="3967701"/>
            <a:ext cx="5960019" cy="9621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dirty="0"/>
              <a:t>Click to edit subheading (optional) </a:t>
            </a:r>
          </a:p>
        </p:txBody>
      </p:sp>
      <p:sp>
        <p:nvSpPr>
          <p:cNvPr id="6" name="Slide Number Placeholder 5"/>
          <p:cNvSpPr>
            <a:spLocks noGrp="1"/>
          </p:cNvSpPr>
          <p:nvPr>
            <p:ph type="sldNum" sz="quarter" idx="12"/>
          </p:nvPr>
        </p:nvSpPr>
        <p:spPr>
          <a:xfrm>
            <a:off x="6766560" y="5296959"/>
            <a:ext cx="2057400" cy="304271"/>
          </a:xfrm>
          <a:prstGeom prst="rect">
            <a:avLst/>
          </a:prstGeom>
        </p:spPr>
        <p:txBody>
          <a:bodyPr/>
          <a:lstStyle>
            <a:lvl1pPr>
              <a:defRPr>
                <a:solidFill>
                  <a:schemeClr val="bg1"/>
                </a:solidFill>
              </a:defRPr>
            </a:lvl1pPr>
          </a:lstStyle>
          <a:p>
            <a:fld id="{177CE274-8713-884F-B04F-B6B90AF41963}" type="slidenum">
              <a:rPr lang="en-US" smtClean="0"/>
              <a:pPr/>
              <a:t>‹#›</a:t>
            </a:fld>
            <a:endParaRPr lang="en-US" dirty="0"/>
          </a:p>
        </p:txBody>
      </p:sp>
      <p:sp>
        <p:nvSpPr>
          <p:cNvPr id="8" name="Title 1">
            <a:extLst>
              <a:ext uri="{FF2B5EF4-FFF2-40B4-BE49-F238E27FC236}">
                <a16:creationId xmlns:a16="http://schemas.microsoft.com/office/drawing/2014/main" id="{10ACF870-2F5D-892A-9CA1-99944B31E66C}"/>
              </a:ext>
            </a:extLst>
          </p:cNvPr>
          <p:cNvSpPr>
            <a:spLocks noGrp="1"/>
          </p:cNvSpPr>
          <p:nvPr>
            <p:ph type="ctrTitle" hasCustomPrompt="1"/>
          </p:nvPr>
        </p:nvSpPr>
        <p:spPr>
          <a:xfrm>
            <a:off x="1363132" y="1955799"/>
            <a:ext cx="7479792" cy="1844899"/>
          </a:xfrm>
        </p:spPr>
        <p:txBody>
          <a:bodyPr anchor="t" anchorCtr="0"/>
          <a:lstStyle>
            <a:lvl1pPr algn="l">
              <a:defRPr sz="4500">
                <a:solidFill>
                  <a:schemeClr val="bg1"/>
                </a:solidFill>
              </a:defRPr>
            </a:lvl1pPr>
          </a:lstStyle>
          <a:p>
            <a:r>
              <a:rPr lang="en-US" dirty="0"/>
              <a:t>Divider slide header</a:t>
            </a:r>
            <a:br>
              <a:rPr lang="en-US" dirty="0"/>
            </a:br>
            <a:r>
              <a:rPr lang="en-US" dirty="0"/>
              <a:t>title goes here, this is about main subject</a:t>
            </a:r>
          </a:p>
        </p:txBody>
      </p:sp>
      <p:cxnSp>
        <p:nvCxnSpPr>
          <p:cNvPr id="9" name="Straight Connector 8">
            <a:extLst>
              <a:ext uri="{FF2B5EF4-FFF2-40B4-BE49-F238E27FC236}">
                <a16:creationId xmlns:a16="http://schemas.microsoft.com/office/drawing/2014/main" id="{D6D58C70-A025-2C98-C9D6-91718259CCE9}"/>
              </a:ext>
            </a:extLst>
          </p:cNvPr>
          <p:cNvCxnSpPr>
            <a:cxnSpLocks/>
          </p:cNvCxnSpPr>
          <p:nvPr userDrawn="1"/>
        </p:nvCxnSpPr>
        <p:spPr>
          <a:xfrm>
            <a:off x="320040" y="5296959"/>
            <a:ext cx="8503920" cy="0"/>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6229216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Divider - Illuminating (Dark)">
    <p:bg>
      <p:bgPr>
        <a:solidFill>
          <a:srgbClr val="FEC51D"/>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DFF3D13-25FB-D093-39D3-F46A232C0112}"/>
              </a:ext>
            </a:extLst>
          </p:cNvPr>
          <p:cNvPicPr>
            <a:picLocks noChangeAspect="1"/>
          </p:cNvPicPr>
          <p:nvPr userDrawn="1"/>
        </p:nvPicPr>
        <p:blipFill>
          <a:blip r:embed="rId2">
            <a:alphaModFix amt="70000"/>
          </a:blip>
          <a:srcRect/>
          <a:stretch/>
        </p:blipFill>
        <p:spPr>
          <a:xfrm>
            <a:off x="0" y="0"/>
            <a:ext cx="3215260" cy="5715000"/>
          </a:xfrm>
          <a:prstGeom prst="rect">
            <a:avLst/>
          </a:prstGeom>
        </p:spPr>
      </p:pic>
      <p:sp>
        <p:nvSpPr>
          <p:cNvPr id="3" name="Text Placeholder 2"/>
          <p:cNvSpPr>
            <a:spLocks noGrp="1"/>
          </p:cNvSpPr>
          <p:nvPr>
            <p:ph type="body" idx="1" hasCustomPrompt="1"/>
          </p:nvPr>
        </p:nvSpPr>
        <p:spPr>
          <a:xfrm>
            <a:off x="1363132" y="3967701"/>
            <a:ext cx="5960019" cy="9621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dirty="0"/>
              <a:t>Click to edit subheading (optional) </a:t>
            </a:r>
          </a:p>
        </p:txBody>
      </p:sp>
      <p:sp>
        <p:nvSpPr>
          <p:cNvPr id="6" name="Slide Number Placeholder 5"/>
          <p:cNvSpPr>
            <a:spLocks noGrp="1"/>
          </p:cNvSpPr>
          <p:nvPr>
            <p:ph type="sldNum" sz="quarter" idx="12"/>
          </p:nvPr>
        </p:nvSpPr>
        <p:spPr>
          <a:xfrm>
            <a:off x="6766560" y="5296959"/>
            <a:ext cx="2057400" cy="304271"/>
          </a:xfrm>
          <a:prstGeom prst="rect">
            <a:avLst/>
          </a:prstGeom>
        </p:spPr>
        <p:txBody>
          <a:bodyPr/>
          <a:lstStyle>
            <a:lvl1pPr>
              <a:defRPr>
                <a:solidFill>
                  <a:schemeClr val="bg1"/>
                </a:solidFill>
              </a:defRPr>
            </a:lvl1pPr>
          </a:lstStyle>
          <a:p>
            <a:fld id="{177CE274-8713-884F-B04F-B6B90AF41963}" type="slidenum">
              <a:rPr lang="en-US" smtClean="0"/>
              <a:pPr/>
              <a:t>‹#›</a:t>
            </a:fld>
            <a:endParaRPr lang="en-US" dirty="0"/>
          </a:p>
        </p:txBody>
      </p:sp>
      <p:sp>
        <p:nvSpPr>
          <p:cNvPr id="8" name="Title 1">
            <a:extLst>
              <a:ext uri="{FF2B5EF4-FFF2-40B4-BE49-F238E27FC236}">
                <a16:creationId xmlns:a16="http://schemas.microsoft.com/office/drawing/2014/main" id="{10ACF870-2F5D-892A-9CA1-99944B31E66C}"/>
              </a:ext>
            </a:extLst>
          </p:cNvPr>
          <p:cNvSpPr>
            <a:spLocks noGrp="1"/>
          </p:cNvSpPr>
          <p:nvPr>
            <p:ph type="ctrTitle" hasCustomPrompt="1"/>
          </p:nvPr>
        </p:nvSpPr>
        <p:spPr>
          <a:xfrm>
            <a:off x="1363132" y="1955799"/>
            <a:ext cx="7479792" cy="1844899"/>
          </a:xfrm>
        </p:spPr>
        <p:txBody>
          <a:bodyPr anchor="t" anchorCtr="0"/>
          <a:lstStyle>
            <a:lvl1pPr algn="l">
              <a:defRPr sz="4500">
                <a:solidFill>
                  <a:schemeClr val="bg1"/>
                </a:solidFill>
              </a:defRPr>
            </a:lvl1pPr>
          </a:lstStyle>
          <a:p>
            <a:r>
              <a:rPr lang="en-US" dirty="0"/>
              <a:t>Divider slide header</a:t>
            </a:r>
            <a:br>
              <a:rPr lang="en-US" dirty="0"/>
            </a:br>
            <a:r>
              <a:rPr lang="en-US" dirty="0"/>
              <a:t>title goes here, this is about main subject</a:t>
            </a:r>
          </a:p>
        </p:txBody>
      </p:sp>
      <p:cxnSp>
        <p:nvCxnSpPr>
          <p:cNvPr id="9" name="Straight Connector 8">
            <a:extLst>
              <a:ext uri="{FF2B5EF4-FFF2-40B4-BE49-F238E27FC236}">
                <a16:creationId xmlns:a16="http://schemas.microsoft.com/office/drawing/2014/main" id="{D6D58C70-A025-2C98-C9D6-91718259CCE9}"/>
              </a:ext>
            </a:extLst>
          </p:cNvPr>
          <p:cNvCxnSpPr>
            <a:cxnSpLocks/>
          </p:cNvCxnSpPr>
          <p:nvPr userDrawn="1"/>
        </p:nvCxnSpPr>
        <p:spPr>
          <a:xfrm>
            <a:off x="320040" y="5296959"/>
            <a:ext cx="8503920" cy="0"/>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743948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Divider - Palo Verde">
    <p:bg>
      <p:bgPr>
        <a:solidFill>
          <a:schemeClr val="accent4"/>
        </a:solidFill>
        <a:effectLst/>
      </p:bgPr>
    </p:bg>
    <p:spTree>
      <p:nvGrpSpPr>
        <p:cNvPr id="1" name=""/>
        <p:cNvGrpSpPr/>
        <p:nvPr/>
      </p:nvGrpSpPr>
      <p:grpSpPr>
        <a:xfrm>
          <a:off x="0" y="0"/>
          <a:ext cx="0" cy="0"/>
          <a:chOff x="0" y="0"/>
          <a:chExt cx="0" cy="0"/>
        </a:xfrm>
      </p:grpSpPr>
      <p:pic>
        <p:nvPicPr>
          <p:cNvPr id="4" name="Picture 3" descr="Background pattern&#10;&#10;Description automatically generated">
            <a:extLst>
              <a:ext uri="{FF2B5EF4-FFF2-40B4-BE49-F238E27FC236}">
                <a16:creationId xmlns:a16="http://schemas.microsoft.com/office/drawing/2014/main" id="{CE173C3A-5C98-54E9-53FC-C33B2FF433F0}"/>
              </a:ext>
            </a:extLst>
          </p:cNvPr>
          <p:cNvPicPr>
            <a:picLocks noChangeAspect="1"/>
          </p:cNvPicPr>
          <p:nvPr userDrawn="1"/>
        </p:nvPicPr>
        <p:blipFill>
          <a:blip r:embed="rId2">
            <a:alphaModFix amt="70000"/>
          </a:blip>
          <a:stretch>
            <a:fillRect/>
          </a:stretch>
        </p:blipFill>
        <p:spPr>
          <a:xfrm>
            <a:off x="0" y="0"/>
            <a:ext cx="3215261" cy="5715000"/>
          </a:xfrm>
          <a:prstGeom prst="rect">
            <a:avLst/>
          </a:prstGeom>
        </p:spPr>
      </p:pic>
      <p:sp>
        <p:nvSpPr>
          <p:cNvPr id="3" name="Text Placeholder 2"/>
          <p:cNvSpPr>
            <a:spLocks noGrp="1"/>
          </p:cNvSpPr>
          <p:nvPr>
            <p:ph type="body" idx="1" hasCustomPrompt="1"/>
          </p:nvPr>
        </p:nvSpPr>
        <p:spPr>
          <a:xfrm>
            <a:off x="1363132" y="3967701"/>
            <a:ext cx="5960019" cy="9621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dirty="0"/>
              <a:t>Click to edit subheading (optional) </a:t>
            </a:r>
          </a:p>
        </p:txBody>
      </p:sp>
      <p:sp>
        <p:nvSpPr>
          <p:cNvPr id="6" name="Slide Number Placeholder 5"/>
          <p:cNvSpPr>
            <a:spLocks noGrp="1"/>
          </p:cNvSpPr>
          <p:nvPr>
            <p:ph type="sldNum" sz="quarter" idx="12"/>
          </p:nvPr>
        </p:nvSpPr>
        <p:spPr>
          <a:xfrm>
            <a:off x="6766560" y="5296959"/>
            <a:ext cx="2057400" cy="304271"/>
          </a:xfrm>
          <a:prstGeom prst="rect">
            <a:avLst/>
          </a:prstGeom>
        </p:spPr>
        <p:txBody>
          <a:bodyPr/>
          <a:lstStyle>
            <a:lvl1pPr>
              <a:defRPr>
                <a:solidFill>
                  <a:schemeClr val="bg1"/>
                </a:solidFill>
              </a:defRPr>
            </a:lvl1pPr>
          </a:lstStyle>
          <a:p>
            <a:fld id="{177CE274-8713-884F-B04F-B6B90AF41963}" type="slidenum">
              <a:rPr lang="en-US" smtClean="0"/>
              <a:pPr/>
              <a:t>‹#›</a:t>
            </a:fld>
            <a:endParaRPr lang="en-US" dirty="0"/>
          </a:p>
        </p:txBody>
      </p:sp>
      <p:sp>
        <p:nvSpPr>
          <p:cNvPr id="8" name="Title 1">
            <a:extLst>
              <a:ext uri="{FF2B5EF4-FFF2-40B4-BE49-F238E27FC236}">
                <a16:creationId xmlns:a16="http://schemas.microsoft.com/office/drawing/2014/main" id="{10ACF870-2F5D-892A-9CA1-99944B31E66C}"/>
              </a:ext>
            </a:extLst>
          </p:cNvPr>
          <p:cNvSpPr>
            <a:spLocks noGrp="1"/>
          </p:cNvSpPr>
          <p:nvPr>
            <p:ph type="ctrTitle" hasCustomPrompt="1"/>
          </p:nvPr>
        </p:nvSpPr>
        <p:spPr>
          <a:xfrm>
            <a:off x="1363132" y="1955799"/>
            <a:ext cx="7479792" cy="1844899"/>
          </a:xfrm>
        </p:spPr>
        <p:txBody>
          <a:bodyPr anchor="t" anchorCtr="0"/>
          <a:lstStyle>
            <a:lvl1pPr algn="l">
              <a:defRPr sz="4500">
                <a:solidFill>
                  <a:schemeClr val="bg1"/>
                </a:solidFill>
              </a:defRPr>
            </a:lvl1pPr>
          </a:lstStyle>
          <a:p>
            <a:r>
              <a:rPr lang="en-US" dirty="0"/>
              <a:t>Divider slide header</a:t>
            </a:r>
            <a:br>
              <a:rPr lang="en-US" dirty="0"/>
            </a:br>
            <a:r>
              <a:rPr lang="en-US" dirty="0"/>
              <a:t>title goes here, this is about main subject</a:t>
            </a:r>
          </a:p>
        </p:txBody>
      </p:sp>
      <p:cxnSp>
        <p:nvCxnSpPr>
          <p:cNvPr id="9" name="Straight Connector 8">
            <a:extLst>
              <a:ext uri="{FF2B5EF4-FFF2-40B4-BE49-F238E27FC236}">
                <a16:creationId xmlns:a16="http://schemas.microsoft.com/office/drawing/2014/main" id="{D6D58C70-A025-2C98-C9D6-91718259CCE9}"/>
              </a:ext>
            </a:extLst>
          </p:cNvPr>
          <p:cNvCxnSpPr>
            <a:cxnSpLocks/>
          </p:cNvCxnSpPr>
          <p:nvPr userDrawn="1"/>
        </p:nvCxnSpPr>
        <p:spPr>
          <a:xfrm>
            <a:off x="320040" y="5296959"/>
            <a:ext cx="8503920" cy="0"/>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9439999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Divider - Sky">
    <p:bg>
      <p:bgPr>
        <a:solidFill>
          <a:srgbClr val="4298B5"/>
        </a:solidFill>
        <a:effectLst/>
      </p:bgPr>
    </p:bg>
    <p:spTree>
      <p:nvGrpSpPr>
        <p:cNvPr id="1" name=""/>
        <p:cNvGrpSpPr/>
        <p:nvPr/>
      </p:nvGrpSpPr>
      <p:grpSpPr>
        <a:xfrm>
          <a:off x="0" y="0"/>
          <a:ext cx="0" cy="0"/>
          <a:chOff x="0" y="0"/>
          <a:chExt cx="0" cy="0"/>
        </a:xfrm>
      </p:grpSpPr>
      <p:pic>
        <p:nvPicPr>
          <p:cNvPr id="4" name="Picture 3" descr="Background pattern&#10;&#10;Description automatically generated with low confidence">
            <a:extLst>
              <a:ext uri="{FF2B5EF4-FFF2-40B4-BE49-F238E27FC236}">
                <a16:creationId xmlns:a16="http://schemas.microsoft.com/office/drawing/2014/main" id="{A87BB1C2-25D1-C630-D541-D13D26A4F685}"/>
              </a:ext>
            </a:extLst>
          </p:cNvPr>
          <p:cNvPicPr>
            <a:picLocks noChangeAspect="1"/>
          </p:cNvPicPr>
          <p:nvPr userDrawn="1"/>
        </p:nvPicPr>
        <p:blipFill>
          <a:blip r:embed="rId2">
            <a:alphaModFix amt="70000"/>
          </a:blip>
          <a:stretch>
            <a:fillRect/>
          </a:stretch>
        </p:blipFill>
        <p:spPr>
          <a:xfrm>
            <a:off x="0" y="0"/>
            <a:ext cx="3215261" cy="5715000"/>
          </a:xfrm>
          <a:prstGeom prst="rect">
            <a:avLst/>
          </a:prstGeom>
        </p:spPr>
      </p:pic>
      <p:sp>
        <p:nvSpPr>
          <p:cNvPr id="3" name="Text Placeholder 2"/>
          <p:cNvSpPr>
            <a:spLocks noGrp="1"/>
          </p:cNvSpPr>
          <p:nvPr>
            <p:ph type="body" idx="1" hasCustomPrompt="1"/>
          </p:nvPr>
        </p:nvSpPr>
        <p:spPr>
          <a:xfrm>
            <a:off x="1363132" y="3967701"/>
            <a:ext cx="5960019" cy="9621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dirty="0"/>
              <a:t>Click to edit subheading (optional) </a:t>
            </a:r>
          </a:p>
        </p:txBody>
      </p:sp>
      <p:sp>
        <p:nvSpPr>
          <p:cNvPr id="6" name="Slide Number Placeholder 5"/>
          <p:cNvSpPr>
            <a:spLocks noGrp="1"/>
          </p:cNvSpPr>
          <p:nvPr>
            <p:ph type="sldNum" sz="quarter" idx="12"/>
          </p:nvPr>
        </p:nvSpPr>
        <p:spPr>
          <a:xfrm>
            <a:off x="6766560" y="5296959"/>
            <a:ext cx="2057400" cy="304271"/>
          </a:xfrm>
          <a:prstGeom prst="rect">
            <a:avLst/>
          </a:prstGeom>
        </p:spPr>
        <p:txBody>
          <a:bodyPr/>
          <a:lstStyle>
            <a:lvl1pPr>
              <a:defRPr>
                <a:solidFill>
                  <a:schemeClr val="bg1"/>
                </a:solidFill>
              </a:defRPr>
            </a:lvl1pPr>
          </a:lstStyle>
          <a:p>
            <a:fld id="{177CE274-8713-884F-B04F-B6B90AF41963}" type="slidenum">
              <a:rPr lang="en-US" smtClean="0"/>
              <a:pPr/>
              <a:t>‹#›</a:t>
            </a:fld>
            <a:endParaRPr lang="en-US" dirty="0"/>
          </a:p>
        </p:txBody>
      </p:sp>
      <p:sp>
        <p:nvSpPr>
          <p:cNvPr id="8" name="Title 1">
            <a:extLst>
              <a:ext uri="{FF2B5EF4-FFF2-40B4-BE49-F238E27FC236}">
                <a16:creationId xmlns:a16="http://schemas.microsoft.com/office/drawing/2014/main" id="{10ACF870-2F5D-892A-9CA1-99944B31E66C}"/>
              </a:ext>
            </a:extLst>
          </p:cNvPr>
          <p:cNvSpPr>
            <a:spLocks noGrp="1"/>
          </p:cNvSpPr>
          <p:nvPr>
            <p:ph type="ctrTitle" hasCustomPrompt="1"/>
          </p:nvPr>
        </p:nvSpPr>
        <p:spPr>
          <a:xfrm>
            <a:off x="1363132" y="1955799"/>
            <a:ext cx="7479792" cy="1844899"/>
          </a:xfrm>
        </p:spPr>
        <p:txBody>
          <a:bodyPr anchor="t" anchorCtr="0"/>
          <a:lstStyle>
            <a:lvl1pPr algn="l">
              <a:defRPr sz="4500">
                <a:solidFill>
                  <a:schemeClr val="bg1"/>
                </a:solidFill>
              </a:defRPr>
            </a:lvl1pPr>
          </a:lstStyle>
          <a:p>
            <a:r>
              <a:rPr lang="en-US" dirty="0"/>
              <a:t>Divider slide header</a:t>
            </a:r>
            <a:br>
              <a:rPr lang="en-US" dirty="0"/>
            </a:br>
            <a:r>
              <a:rPr lang="en-US" dirty="0"/>
              <a:t>title goes here, this is about main subject</a:t>
            </a:r>
          </a:p>
        </p:txBody>
      </p:sp>
      <p:cxnSp>
        <p:nvCxnSpPr>
          <p:cNvPr id="9" name="Straight Connector 8">
            <a:extLst>
              <a:ext uri="{FF2B5EF4-FFF2-40B4-BE49-F238E27FC236}">
                <a16:creationId xmlns:a16="http://schemas.microsoft.com/office/drawing/2014/main" id="{D6D58C70-A025-2C98-C9D6-91718259CCE9}"/>
              </a:ext>
            </a:extLst>
          </p:cNvPr>
          <p:cNvCxnSpPr>
            <a:cxnSpLocks/>
          </p:cNvCxnSpPr>
          <p:nvPr userDrawn="1"/>
        </p:nvCxnSpPr>
        <p:spPr>
          <a:xfrm>
            <a:off x="320040" y="5296959"/>
            <a:ext cx="8503920" cy="0"/>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4279785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Divider - Plum">
    <p:bg>
      <p:bgPr>
        <a:solidFill>
          <a:schemeClr val="accent3"/>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09B1620-33A2-EB92-1A78-56D0FCB9B5B6}"/>
              </a:ext>
            </a:extLst>
          </p:cNvPr>
          <p:cNvPicPr>
            <a:picLocks noChangeAspect="1"/>
          </p:cNvPicPr>
          <p:nvPr userDrawn="1"/>
        </p:nvPicPr>
        <p:blipFill>
          <a:blip r:embed="rId2"/>
          <a:srcRect/>
          <a:stretch/>
        </p:blipFill>
        <p:spPr>
          <a:xfrm>
            <a:off x="0" y="0"/>
            <a:ext cx="3215260" cy="5715000"/>
          </a:xfrm>
          <a:prstGeom prst="rect">
            <a:avLst/>
          </a:prstGeom>
        </p:spPr>
      </p:pic>
      <p:sp>
        <p:nvSpPr>
          <p:cNvPr id="3" name="Text Placeholder 2"/>
          <p:cNvSpPr>
            <a:spLocks noGrp="1"/>
          </p:cNvSpPr>
          <p:nvPr>
            <p:ph type="body" idx="1" hasCustomPrompt="1"/>
          </p:nvPr>
        </p:nvSpPr>
        <p:spPr>
          <a:xfrm>
            <a:off x="1363132" y="3967701"/>
            <a:ext cx="5960019" cy="9621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dirty="0"/>
              <a:t>Click to edit subheading (optional) </a:t>
            </a:r>
          </a:p>
        </p:txBody>
      </p:sp>
      <p:sp>
        <p:nvSpPr>
          <p:cNvPr id="6" name="Slide Number Placeholder 5"/>
          <p:cNvSpPr>
            <a:spLocks noGrp="1"/>
          </p:cNvSpPr>
          <p:nvPr>
            <p:ph type="sldNum" sz="quarter" idx="12"/>
          </p:nvPr>
        </p:nvSpPr>
        <p:spPr>
          <a:xfrm>
            <a:off x="6766560" y="5296959"/>
            <a:ext cx="2057400" cy="304271"/>
          </a:xfrm>
          <a:prstGeom prst="rect">
            <a:avLst/>
          </a:prstGeom>
        </p:spPr>
        <p:txBody>
          <a:bodyPr/>
          <a:lstStyle>
            <a:lvl1pPr>
              <a:defRPr>
                <a:solidFill>
                  <a:schemeClr val="bg1"/>
                </a:solidFill>
              </a:defRPr>
            </a:lvl1pPr>
          </a:lstStyle>
          <a:p>
            <a:fld id="{177CE274-8713-884F-B04F-B6B90AF41963}" type="slidenum">
              <a:rPr lang="en-US" smtClean="0"/>
              <a:pPr/>
              <a:t>‹#›</a:t>
            </a:fld>
            <a:endParaRPr lang="en-US" dirty="0"/>
          </a:p>
        </p:txBody>
      </p:sp>
      <p:sp>
        <p:nvSpPr>
          <p:cNvPr id="8" name="Title 1">
            <a:extLst>
              <a:ext uri="{FF2B5EF4-FFF2-40B4-BE49-F238E27FC236}">
                <a16:creationId xmlns:a16="http://schemas.microsoft.com/office/drawing/2014/main" id="{10ACF870-2F5D-892A-9CA1-99944B31E66C}"/>
              </a:ext>
            </a:extLst>
          </p:cNvPr>
          <p:cNvSpPr>
            <a:spLocks noGrp="1"/>
          </p:cNvSpPr>
          <p:nvPr>
            <p:ph type="ctrTitle" hasCustomPrompt="1"/>
          </p:nvPr>
        </p:nvSpPr>
        <p:spPr>
          <a:xfrm>
            <a:off x="1363132" y="1955799"/>
            <a:ext cx="7479792" cy="1844899"/>
          </a:xfrm>
        </p:spPr>
        <p:txBody>
          <a:bodyPr anchor="t" anchorCtr="0"/>
          <a:lstStyle>
            <a:lvl1pPr algn="l">
              <a:defRPr sz="4500">
                <a:solidFill>
                  <a:schemeClr val="bg1"/>
                </a:solidFill>
              </a:defRPr>
            </a:lvl1pPr>
          </a:lstStyle>
          <a:p>
            <a:r>
              <a:rPr lang="en-US" dirty="0"/>
              <a:t>Divider slide header</a:t>
            </a:r>
            <a:br>
              <a:rPr lang="en-US" dirty="0"/>
            </a:br>
            <a:r>
              <a:rPr lang="en-US" dirty="0"/>
              <a:t>title goes here, this is about main subject</a:t>
            </a:r>
          </a:p>
        </p:txBody>
      </p:sp>
      <p:cxnSp>
        <p:nvCxnSpPr>
          <p:cNvPr id="9" name="Straight Connector 8">
            <a:extLst>
              <a:ext uri="{FF2B5EF4-FFF2-40B4-BE49-F238E27FC236}">
                <a16:creationId xmlns:a16="http://schemas.microsoft.com/office/drawing/2014/main" id="{D6D58C70-A025-2C98-C9D6-91718259CCE9}"/>
              </a:ext>
            </a:extLst>
          </p:cNvPr>
          <p:cNvCxnSpPr>
            <a:cxnSpLocks/>
          </p:cNvCxnSpPr>
          <p:nvPr userDrawn="1"/>
        </p:nvCxnSpPr>
        <p:spPr>
          <a:xfrm>
            <a:off x="320040" y="5296959"/>
            <a:ext cx="8503920" cy="0"/>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551505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Divider - Thank You">
    <p:bg>
      <p:bgPr>
        <a:solidFill>
          <a:srgbClr val="53565A"/>
        </a:solidFill>
        <a:effectLst/>
      </p:bgPr>
    </p:bg>
    <p:spTree>
      <p:nvGrpSpPr>
        <p:cNvPr id="1" name=""/>
        <p:cNvGrpSpPr/>
        <p:nvPr/>
      </p:nvGrpSpPr>
      <p:grpSpPr>
        <a:xfrm>
          <a:off x="0" y="0"/>
          <a:ext cx="0" cy="0"/>
          <a:chOff x="0" y="0"/>
          <a:chExt cx="0" cy="0"/>
        </a:xfrm>
      </p:grpSpPr>
      <p:pic>
        <p:nvPicPr>
          <p:cNvPr id="2" name="Picture 1" descr="Background pattern&#10;&#10;Description automatically generated">
            <a:extLst>
              <a:ext uri="{FF2B5EF4-FFF2-40B4-BE49-F238E27FC236}">
                <a16:creationId xmlns:a16="http://schemas.microsoft.com/office/drawing/2014/main" id="{65630BED-1E98-0CEF-3896-D0DA0B0CA961}"/>
              </a:ext>
            </a:extLst>
          </p:cNvPr>
          <p:cNvPicPr>
            <a:picLocks noChangeAspect="1"/>
          </p:cNvPicPr>
          <p:nvPr userDrawn="1"/>
        </p:nvPicPr>
        <p:blipFill>
          <a:blip r:embed="rId2">
            <a:alphaModFix amt="70000"/>
            <a:extLst>
              <a:ext uri="{BEBA8EAE-BF5A-486C-A8C5-ECC9F3942E4B}">
                <a14:imgProps xmlns:a14="http://schemas.microsoft.com/office/drawing/2010/main">
                  <a14:imgLayer r:embed="rId3">
                    <a14:imgEffect>
                      <a14:colorTemperature colorTemp="5900"/>
                    </a14:imgEffect>
                    <a14:imgEffect>
                      <a14:saturation sat="0"/>
                    </a14:imgEffect>
                  </a14:imgLayer>
                </a14:imgProps>
              </a:ext>
            </a:extLst>
          </a:blip>
          <a:stretch>
            <a:fillRect/>
          </a:stretch>
        </p:blipFill>
        <p:spPr>
          <a:xfrm>
            <a:off x="0" y="0"/>
            <a:ext cx="3215261" cy="5715000"/>
          </a:xfrm>
          <a:prstGeom prst="rect">
            <a:avLst/>
          </a:prstGeom>
        </p:spPr>
      </p:pic>
      <p:sp>
        <p:nvSpPr>
          <p:cNvPr id="6" name="Slide Number Placeholder 5"/>
          <p:cNvSpPr>
            <a:spLocks noGrp="1"/>
          </p:cNvSpPr>
          <p:nvPr>
            <p:ph type="sldNum" sz="quarter" idx="12"/>
          </p:nvPr>
        </p:nvSpPr>
        <p:spPr>
          <a:xfrm>
            <a:off x="6766560" y="5296959"/>
            <a:ext cx="2057400" cy="304271"/>
          </a:xfrm>
          <a:prstGeom prst="rect">
            <a:avLst/>
          </a:prstGeom>
        </p:spPr>
        <p:txBody>
          <a:bodyPr/>
          <a:lstStyle>
            <a:lvl1pPr>
              <a:defRPr>
                <a:solidFill>
                  <a:schemeClr val="bg1"/>
                </a:solidFill>
              </a:defRPr>
            </a:lvl1pPr>
          </a:lstStyle>
          <a:p>
            <a:fld id="{177CE274-8713-884F-B04F-B6B90AF41963}" type="slidenum">
              <a:rPr lang="en-US" smtClean="0"/>
              <a:pPr/>
              <a:t>‹#›</a:t>
            </a:fld>
            <a:endParaRPr lang="en-US" dirty="0"/>
          </a:p>
        </p:txBody>
      </p:sp>
      <p:sp>
        <p:nvSpPr>
          <p:cNvPr id="8" name="Title 1">
            <a:extLst>
              <a:ext uri="{FF2B5EF4-FFF2-40B4-BE49-F238E27FC236}">
                <a16:creationId xmlns:a16="http://schemas.microsoft.com/office/drawing/2014/main" id="{10ACF870-2F5D-892A-9CA1-99944B31E66C}"/>
              </a:ext>
            </a:extLst>
          </p:cNvPr>
          <p:cNvSpPr>
            <a:spLocks noGrp="1"/>
          </p:cNvSpPr>
          <p:nvPr>
            <p:ph type="ctrTitle" hasCustomPrompt="1"/>
          </p:nvPr>
        </p:nvSpPr>
        <p:spPr>
          <a:xfrm>
            <a:off x="1363132" y="3298709"/>
            <a:ext cx="7479792" cy="1844899"/>
          </a:xfrm>
        </p:spPr>
        <p:txBody>
          <a:bodyPr anchor="b" anchorCtr="0"/>
          <a:lstStyle>
            <a:lvl1pPr algn="r">
              <a:defRPr sz="4500">
                <a:solidFill>
                  <a:schemeClr val="bg1"/>
                </a:solidFill>
              </a:defRPr>
            </a:lvl1pPr>
          </a:lstStyle>
          <a:p>
            <a:r>
              <a:rPr lang="en-US" dirty="0"/>
              <a:t>Thank You</a:t>
            </a:r>
          </a:p>
        </p:txBody>
      </p:sp>
      <p:pic>
        <p:nvPicPr>
          <p:cNvPr id="7" name="Picture 6">
            <a:extLst>
              <a:ext uri="{FF2B5EF4-FFF2-40B4-BE49-F238E27FC236}">
                <a16:creationId xmlns:a16="http://schemas.microsoft.com/office/drawing/2014/main" id="{4E48C632-C05E-CB25-DBC6-9EB32E637938}"/>
              </a:ext>
            </a:extLst>
          </p:cNvPr>
          <p:cNvPicPr>
            <a:picLocks noChangeAspect="1"/>
          </p:cNvPicPr>
          <p:nvPr userDrawn="1"/>
        </p:nvPicPr>
        <p:blipFill>
          <a:blip r:embed="rId4"/>
          <a:srcRect/>
          <a:stretch/>
        </p:blipFill>
        <p:spPr>
          <a:xfrm>
            <a:off x="313316" y="5389834"/>
            <a:ext cx="1426464" cy="171815"/>
          </a:xfrm>
          <a:prstGeom prst="rect">
            <a:avLst/>
          </a:prstGeom>
        </p:spPr>
      </p:pic>
      <p:cxnSp>
        <p:nvCxnSpPr>
          <p:cNvPr id="9" name="Straight Connector 8">
            <a:extLst>
              <a:ext uri="{FF2B5EF4-FFF2-40B4-BE49-F238E27FC236}">
                <a16:creationId xmlns:a16="http://schemas.microsoft.com/office/drawing/2014/main" id="{D6D58C70-A025-2C98-C9D6-91718259CCE9}"/>
              </a:ext>
            </a:extLst>
          </p:cNvPr>
          <p:cNvCxnSpPr>
            <a:cxnSpLocks/>
          </p:cNvCxnSpPr>
          <p:nvPr userDrawn="1"/>
        </p:nvCxnSpPr>
        <p:spPr>
          <a:xfrm>
            <a:off x="320040" y="5296959"/>
            <a:ext cx="8503920" cy="0"/>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6352484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5" name="Slide Number Placeholder 4"/>
          <p:cNvSpPr>
            <a:spLocks noGrp="1"/>
          </p:cNvSpPr>
          <p:nvPr>
            <p:ph type="sldNum" sz="quarter" idx="12"/>
          </p:nvPr>
        </p:nvSpPr>
        <p:spPr>
          <a:xfrm>
            <a:off x="6766560" y="5296959"/>
            <a:ext cx="2057400" cy="304271"/>
          </a:xfrm>
          <a:prstGeom prst="rect">
            <a:avLst/>
          </a:prstGeom>
        </p:spPr>
        <p:txBody>
          <a:bodyPr/>
          <a:lstStyle/>
          <a:p>
            <a:fld id="{177CE274-8713-884F-B04F-B6B90AF41963}" type="slidenum">
              <a:rPr lang="en-US" smtClean="0"/>
              <a:t>‹#›</a:t>
            </a:fld>
            <a:endParaRPr lang="en-US"/>
          </a:p>
        </p:txBody>
      </p:sp>
    </p:spTree>
    <p:extLst>
      <p:ext uri="{BB962C8B-B14F-4D97-AF65-F5344CB8AC3E}">
        <p14:creationId xmlns:p14="http://schemas.microsoft.com/office/powerpoint/2010/main" val="231837931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6766560" y="5296959"/>
            <a:ext cx="2057400" cy="304271"/>
          </a:xfrm>
          <a:prstGeom prst="rect">
            <a:avLst/>
          </a:prstGeom>
        </p:spPr>
        <p:txBody>
          <a:bodyPr/>
          <a:lstStyle/>
          <a:p>
            <a:fld id="{177CE274-8713-884F-B04F-B6B90AF41963}" type="slidenum">
              <a:rPr lang="en-US" smtClean="0"/>
              <a:t>‹#›</a:t>
            </a:fld>
            <a:endParaRPr lang="en-US"/>
          </a:p>
        </p:txBody>
      </p:sp>
    </p:spTree>
    <p:extLst>
      <p:ext uri="{BB962C8B-B14F-4D97-AF65-F5344CB8AC3E}">
        <p14:creationId xmlns:p14="http://schemas.microsoft.com/office/powerpoint/2010/main" val="268597448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theme" Target="../theme/theme1.xml"/><Relationship Id="rId23"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20040" y="304271"/>
            <a:ext cx="8503920" cy="914929"/>
          </a:xfrm>
          <a:prstGeom prst="rect">
            <a:avLst/>
          </a:prstGeom>
        </p:spPr>
        <p:txBody>
          <a:bodyPr vert="horz" lIns="0" tIns="45720" rIns="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20040" y="1333500"/>
            <a:ext cx="8503920" cy="3813969"/>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8" name="Picture 7" descr="Logo&#10;&#10;Description automatically generated">
            <a:extLst>
              <a:ext uri="{FF2B5EF4-FFF2-40B4-BE49-F238E27FC236}">
                <a16:creationId xmlns:a16="http://schemas.microsoft.com/office/drawing/2014/main" id="{ECE70F7C-38F5-0C67-B546-CD48700BBC8B}"/>
              </a:ext>
            </a:extLst>
          </p:cNvPr>
          <p:cNvPicPr>
            <a:picLocks noChangeAspect="1"/>
          </p:cNvPicPr>
          <p:nvPr userDrawn="1"/>
        </p:nvPicPr>
        <p:blipFill>
          <a:blip r:embed="rId23"/>
          <a:stretch>
            <a:fillRect/>
          </a:stretch>
        </p:blipFill>
        <p:spPr>
          <a:xfrm>
            <a:off x="231581" y="5309034"/>
            <a:ext cx="1600200" cy="340894"/>
          </a:xfrm>
          <a:prstGeom prst="rect">
            <a:avLst/>
          </a:prstGeom>
        </p:spPr>
      </p:pic>
      <p:sp>
        <p:nvSpPr>
          <p:cNvPr id="11" name="Slide Number Placeholder 10">
            <a:extLst>
              <a:ext uri="{FF2B5EF4-FFF2-40B4-BE49-F238E27FC236}">
                <a16:creationId xmlns:a16="http://schemas.microsoft.com/office/drawing/2014/main" id="{24C7CA68-7FB4-321D-C8E0-C926B3A1C841}"/>
              </a:ext>
            </a:extLst>
          </p:cNvPr>
          <p:cNvSpPr>
            <a:spLocks noGrp="1"/>
          </p:cNvSpPr>
          <p:nvPr>
            <p:ph type="sldNum" sz="quarter" idx="4"/>
          </p:nvPr>
        </p:nvSpPr>
        <p:spPr>
          <a:xfrm>
            <a:off x="6766560" y="5286377"/>
            <a:ext cx="2057400" cy="303212"/>
          </a:xfrm>
          <a:prstGeom prst="rect">
            <a:avLst/>
          </a:prstGeom>
        </p:spPr>
        <p:txBody>
          <a:bodyPr vert="horz" lIns="91440" tIns="45720" rIns="91440" bIns="45720" rtlCol="0" anchor="ctr"/>
          <a:lstStyle>
            <a:lvl1pPr algn="r">
              <a:defRPr sz="800">
                <a:solidFill>
                  <a:schemeClr val="tx2"/>
                </a:solidFill>
              </a:defRPr>
            </a:lvl1pPr>
          </a:lstStyle>
          <a:p>
            <a:fld id="{0B846F7A-F379-7344-96C1-F93ECF6653C6}" type="slidenum">
              <a:rPr lang="en-US" smtClean="0"/>
              <a:pPr/>
              <a:t>‹#›</a:t>
            </a:fld>
            <a:endParaRPr lang="en-US" dirty="0"/>
          </a:p>
        </p:txBody>
      </p:sp>
    </p:spTree>
    <p:extLst>
      <p:ext uri="{BB962C8B-B14F-4D97-AF65-F5344CB8AC3E}">
        <p14:creationId xmlns:p14="http://schemas.microsoft.com/office/powerpoint/2010/main" val="1182746281"/>
      </p:ext>
    </p:extLst>
  </p:cSld>
  <p:clrMap bg1="lt1" tx1="dk1" bg2="lt2" tx2="dk2" accent1="accent1" accent2="accent2" accent3="accent3" accent4="accent4" accent5="accent5" accent6="accent6" hlink="hlink" folHlink="folHlink"/>
  <p:sldLayoutIdLst>
    <p:sldLayoutId id="2147483661" r:id="rId1"/>
    <p:sldLayoutId id="2147483670" r:id="rId2"/>
    <p:sldLayoutId id="2147483672" r:id="rId3"/>
    <p:sldLayoutId id="2147483671" r:id="rId4"/>
    <p:sldLayoutId id="2147483673" r:id="rId5"/>
    <p:sldLayoutId id="2147483662" r:id="rId6"/>
    <p:sldLayoutId id="2147483674" r:id="rId7"/>
    <p:sldLayoutId id="2147483675" r:id="rId8"/>
    <p:sldLayoutId id="2147483664" r:id="rId9"/>
    <p:sldLayoutId id="2147483684" r:id="rId10"/>
    <p:sldLayoutId id="2147483676" r:id="rId11"/>
    <p:sldLayoutId id="2147483677" r:id="rId12"/>
    <p:sldLayoutId id="2147483678" r:id="rId13"/>
    <p:sldLayoutId id="2147483663" r:id="rId14"/>
    <p:sldLayoutId id="2147483679" r:id="rId15"/>
    <p:sldLayoutId id="2147483680" r:id="rId16"/>
    <p:sldLayoutId id="2147483681" r:id="rId17"/>
    <p:sldLayoutId id="2147483682" r:id="rId18"/>
    <p:sldLayoutId id="2147483683" r:id="rId19"/>
    <p:sldLayoutId id="2147483666" r:id="rId20"/>
    <p:sldLayoutId id="2147483667" r:id="rId21"/>
  </p:sldLayoutIdLst>
  <p:hf hdr="0" ftr="0" dt="0"/>
  <p:txStyles>
    <p:titleStyle>
      <a:lvl1pPr algn="l" defTabSz="685800" rtl="0" eaLnBrk="1" latinLnBrk="0" hangingPunct="1">
        <a:lnSpc>
          <a:spcPct val="90000"/>
        </a:lnSpc>
        <a:spcBef>
          <a:spcPct val="0"/>
        </a:spcBef>
        <a:buNone/>
        <a:defRPr sz="3200" kern="1200">
          <a:solidFill>
            <a:schemeClr val="tx1"/>
          </a:solidFill>
          <a:latin typeface="Georgia" panose="02040502050405020303" pitchFamily="18" charset="0"/>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300" b="0" i="0" kern="1200">
          <a:solidFill>
            <a:schemeClr val="tx2"/>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b="0" i="0" kern="1200">
          <a:solidFill>
            <a:schemeClr val="tx2"/>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800" b="0" i="0" kern="1200">
          <a:solidFill>
            <a:schemeClr val="tx2"/>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800" b="0" i="0" kern="1200">
          <a:solidFill>
            <a:schemeClr val="tx2"/>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800" b="0" i="0" kern="1200">
          <a:solidFill>
            <a:schemeClr val="tx2"/>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15.png"/><Relationship Id="rId3" Type="http://schemas.openxmlformats.org/officeDocument/2006/relationships/image" Target="../media/image1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9.png"/><Relationship Id="rId3" Type="http://schemas.openxmlformats.org/officeDocument/2006/relationships/image" Target="../media/image3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3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2.xml"/><Relationship Id="rId3" Type="http://schemas.openxmlformats.org/officeDocument/2006/relationships/chart" Target="../charts/char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4.xml"/><Relationship Id="rId3" Type="http://schemas.openxmlformats.org/officeDocument/2006/relationships/chart" Target="../charts/char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5.xml"/><Relationship Id="rId3" Type="http://schemas.openxmlformats.org/officeDocument/2006/relationships/chart" Target="../charts/char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6.xml"/><Relationship Id="rId3" Type="http://schemas.openxmlformats.org/officeDocument/2006/relationships/chart" Target="../charts/char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8.xml"/><Relationship Id="rId3" Type="http://schemas.openxmlformats.org/officeDocument/2006/relationships/chart" Target="../charts/char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9.xml"/><Relationship Id="rId3" Type="http://schemas.openxmlformats.org/officeDocument/2006/relationships/chart" Target="../charts/char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0.xml"/><Relationship Id="rId3" Type="http://schemas.openxmlformats.org/officeDocument/2006/relationships/chart" Target="../charts/char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1.xml"/><Relationship Id="rId3" Type="http://schemas.openxmlformats.org/officeDocument/2006/relationships/chart" Target="../charts/chart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32.png"/><Relationship Id="rId3" Type="http://schemas.openxmlformats.org/officeDocument/2006/relationships/image" Target="../media/image3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4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47.png"/><Relationship Id="rId3" Type="http://schemas.openxmlformats.org/officeDocument/2006/relationships/image" Target="../media/image4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49.png"/><Relationship Id="rId3" Type="http://schemas.openxmlformats.org/officeDocument/2006/relationships/image" Target="../media/image50.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362456" y="1463040"/>
            <a:ext cx="7479792" cy="1572768"/>
          </a:xfrm>
        </p:spPr>
        <p:txBody>
          <a:bodyPr wrap="square" lIns="0" rIns="0" anchor="b"/>
          <a:lstStyle/>
          <a:p>
            <a:pPr algn="l"/>
            <a:r>
              <a:rPr sz="2800">
                <a:solidFill>
                  <a:srgbClr val="8C1515"/>
                </a:solidFill>
                <a:latin typeface="Georgia"/>
              </a:rPr>
              <a:t>Simulating Microvascular Adaptation</a:t>
            </a:r>
          </a:p>
          <a:p>
            <a:pPr algn="l"/>
            <a:r>
              <a:rPr sz="2800">
                <a:solidFill>
                  <a:srgbClr val="8C1515"/>
                </a:solidFill>
                <a:latin typeface="Georgia"/>
              </a:rPr>
              <a:t>after Pulmonary Artery Stenting</a:t>
            </a:r>
          </a:p>
        </p:txBody>
      </p:sp>
      <p:sp>
        <p:nvSpPr>
          <p:cNvPr id="3" name="Subtitle 2"/>
          <p:cNvSpPr>
            <a:spLocks noGrp="1"/>
          </p:cNvSpPr>
          <p:nvPr>
            <p:ph type="subTitle" idx="1"/>
          </p:nvPr>
        </p:nvSpPr>
        <p:spPr>
          <a:xfrm>
            <a:off x="1362456" y="3218688"/>
            <a:ext cx="6583680" cy="914400"/>
          </a:xfrm>
        </p:spPr>
        <p:txBody>
          <a:bodyPr wrap="square" lIns="0" rIns="0"/>
          <a:lstStyle/>
          <a:p>
            <a:r>
              <a:rPr sz="1150">
                <a:solidFill>
                  <a:srgbClr val="2E2D29"/>
                </a:solidFill>
                <a:latin typeface="Calibri"/>
              </a:rPr>
              <a:t>A patient-specific pipeline for structured-tree boundary condition tuning</a:t>
            </a:r>
          </a:p>
          <a:p>
            <a:r>
              <a:rPr sz="1150">
                <a:solidFill>
                  <a:srgbClr val="2E2D29"/>
                </a:solidFill>
                <a:latin typeface="Calibri"/>
              </a:rPr>
              <a:t>and mechanobiological adaptation  ·  Tetralogy of Fallot stent cohort</a:t>
            </a:r>
          </a:p>
        </p:txBody>
      </p:sp>
      <p:sp>
        <p:nvSpPr>
          <p:cNvPr id="4" name="TextBox 3"/>
          <p:cNvSpPr txBox="1"/>
          <p:nvPr/>
        </p:nvSpPr>
        <p:spPr>
          <a:xfrm>
            <a:off x="1362456" y="4315968"/>
            <a:ext cx="6583680" cy="457200"/>
          </a:xfrm>
          <a:prstGeom prst="rect">
            <a:avLst/>
          </a:prstGeom>
          <a:noFill/>
        </p:spPr>
        <p:txBody>
          <a:bodyPr wrap="square" lIns="27432" tIns="0" rIns="27432" bIns="0" anchor="t">
            <a:spAutoFit/>
          </a:bodyPr>
          <a:lstStyle/>
          <a:p>
            <a:pPr algn="l">
              <a:lnSpc>
                <a:spcPct val="115000"/>
              </a:lnSpc>
            </a:pPr>
            <a:r>
              <a:rPr sz="1000" b="0" i="0">
                <a:solidFill>
                  <a:srgbClr val="6B6965"/>
                </a:solidFill>
                <a:latin typeface="Calibri"/>
              </a:rPr>
              <a:t>Nick Dorn  ·  Marsden Lab, Stanford University</a:t>
            </a:r>
          </a:p>
          <a:p>
            <a:pPr algn="l">
              <a:lnSpc>
                <a:spcPct val="115000"/>
              </a:lnSpc>
            </a:pPr>
            <a:r>
              <a:rPr sz="1000" b="0" i="0">
                <a:solidFill>
                  <a:srgbClr val="6B6965"/>
                </a:solidFill>
                <a:latin typeface="Calibri"/>
              </a:rPr>
              <a:t>Pipeline reference deck  ·  September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sz="2200">
                <a:solidFill>
                  <a:srgbClr val="8C1515"/>
                </a:solidFill>
                <a:latin typeface="Georgia"/>
              </a:rPr>
              <a:t>Branch pulmonary artery stenosis persists after Tetralogy of Fallot repair</a:t>
            </a:r>
          </a:p>
        </p:txBody>
      </p:sp>
      <p:sp>
        <p:nvSpPr>
          <p:cNvPr id="3" name="Rectangle 2"/>
          <p:cNvSpPr/>
          <p:nvPr/>
        </p:nvSpPr>
        <p:spPr>
          <a:xfrm>
            <a:off x="320040" y="1005840"/>
            <a:ext cx="8503920" cy="9525"/>
          </a:xfrm>
          <a:prstGeom prst="rect">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1207008"/>
            <a:ext cx="3977639" cy="2286000"/>
          </a:xfrm>
          <a:prstGeom prst="rect">
            <a:avLst/>
          </a:prstGeom>
          <a:noFill/>
        </p:spPr>
        <p:txBody>
          <a:bodyPr wrap="square" lIns="27432" tIns="0" rIns="27432" bIns="0">
            <a:spAutoFit/>
          </a:bodyPr>
          <a:lstStyle/>
          <a:p>
            <a:pPr>
              <a:spcAft>
                <a:spcPts val="700"/>
              </a:spcAft>
            </a:pPr>
            <a:r>
              <a:rPr sz="1100">
                <a:solidFill>
                  <a:srgbClr val="8C1515"/>
                </a:solidFill>
                <a:latin typeface="Calibri"/>
              </a:rPr>
              <a:t>• </a:t>
            </a:r>
            <a:r>
              <a:rPr sz="1100">
                <a:solidFill>
                  <a:srgbClr val="2E2D29"/>
                </a:solidFill>
                <a:latin typeface="Calibri"/>
              </a:rPr>
              <a:t>Stenosis of the branch and peripheral PAs raises pulmonary vascular resistance and loads the right ventricle</a:t>
            </a:r>
          </a:p>
          <a:p>
            <a:pPr>
              <a:spcAft>
                <a:spcPts val="700"/>
              </a:spcAft>
            </a:pPr>
            <a:r>
              <a:rPr sz="1100">
                <a:solidFill>
                  <a:srgbClr val="8C1515"/>
                </a:solidFill>
                <a:latin typeface="Calibri"/>
              </a:rPr>
              <a:t>• </a:t>
            </a:r>
            <a:r>
              <a:rPr sz="1100">
                <a:solidFill>
                  <a:srgbClr val="2E2D29"/>
                </a:solidFill>
                <a:latin typeface="Calibri"/>
              </a:rPr>
              <a:t>Managed with balloon angioplasty, stenting, or surgical patch reconstruction — often over repeated catheterizations</a:t>
            </a:r>
          </a:p>
          <a:p>
            <a:pPr>
              <a:spcAft>
                <a:spcPts val="700"/>
              </a:spcAft>
            </a:pPr>
            <a:r>
              <a:rPr sz="1100">
                <a:solidFill>
                  <a:srgbClr val="8C1515"/>
                </a:solidFill>
                <a:latin typeface="Calibri"/>
              </a:rPr>
              <a:t>• </a:t>
            </a:r>
            <a:r>
              <a:rPr sz="1100">
                <a:solidFill>
                  <a:srgbClr val="2E2D29"/>
                </a:solidFill>
                <a:latin typeface="Calibri"/>
              </a:rPr>
              <a:t>Goal of intervention is to lower RV pressure and rebalance perfusion between the lungs</a:t>
            </a:r>
          </a:p>
        </p:txBody>
      </p:sp>
      <p:sp>
        <p:nvSpPr>
          <p:cNvPr id="5" name="Rectangle 4"/>
          <p:cNvSpPr/>
          <p:nvPr/>
        </p:nvSpPr>
        <p:spPr>
          <a:xfrm>
            <a:off x="320040" y="3712463"/>
            <a:ext cx="3977639"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429768" y="3712463"/>
            <a:ext cx="3758183" cy="310896"/>
          </a:xfrm>
          <a:prstGeom prst="rect">
            <a:avLst/>
          </a:prstGeom>
          <a:noFill/>
        </p:spPr>
        <p:txBody>
          <a:bodyPr wrap="square" lIns="27432" tIns="0" rIns="27432" bIns="0" anchor="ctr">
            <a:spAutoFit/>
          </a:bodyPr>
          <a:lstStyle/>
          <a:p>
            <a:pPr algn="l"/>
            <a:r>
              <a:rPr sz="1000" b="1" i="0">
                <a:solidFill>
                  <a:srgbClr val="8C1515"/>
                </a:solidFill>
                <a:latin typeface="Calibri"/>
              </a:rPr>
              <a:t>The hard question is not whether a lesion can be opened, but how the lung responds afterward.</a:t>
            </a:r>
          </a:p>
        </p:txBody>
      </p:sp>
      <p:pic>
        <p:nvPicPr>
          <p:cNvPr id="7" name="Picture 6" descr="angio_b.png"/>
          <p:cNvPicPr>
            <a:picLocks noChangeAspect="1"/>
          </p:cNvPicPr>
          <p:nvPr/>
        </p:nvPicPr>
        <p:blipFill>
          <a:blip r:embed="rId2"/>
          <a:stretch>
            <a:fillRect/>
          </a:stretch>
        </p:blipFill>
        <p:spPr>
          <a:xfrm>
            <a:off x="5889731" y="1207008"/>
            <a:ext cx="1662216" cy="1554480"/>
          </a:xfrm>
          <a:prstGeom prst="rect">
            <a:avLst/>
          </a:prstGeom>
        </p:spPr>
      </p:pic>
      <p:sp>
        <p:nvSpPr>
          <p:cNvPr id="8" name="TextBox 7"/>
          <p:cNvSpPr txBox="1"/>
          <p:nvPr/>
        </p:nvSpPr>
        <p:spPr>
          <a:xfrm>
            <a:off x="4617720" y="2798064"/>
            <a:ext cx="4206240" cy="201168"/>
          </a:xfrm>
          <a:prstGeom prst="rect">
            <a:avLst/>
          </a:prstGeom>
          <a:noFill/>
        </p:spPr>
        <p:txBody>
          <a:bodyPr wrap="square" lIns="27432" tIns="0" rIns="27432" bIns="0" anchor="t">
            <a:spAutoFit/>
          </a:bodyPr>
          <a:lstStyle/>
          <a:p>
            <a:pPr algn="ctr"/>
            <a:r>
              <a:rPr sz="850" b="0" i="1">
                <a:solidFill>
                  <a:srgbClr val="6B6965"/>
                </a:solidFill>
                <a:latin typeface="Calibri"/>
              </a:rPr>
              <a:t>Angiographic appearance of branch PA stenosis</a:t>
            </a:r>
          </a:p>
        </p:txBody>
      </p:sp>
      <p:pic>
        <p:nvPicPr>
          <p:cNvPr id="9" name="Picture 8" descr="surg_recon.png"/>
          <p:cNvPicPr>
            <a:picLocks noChangeAspect="1"/>
          </p:cNvPicPr>
          <p:nvPr/>
        </p:nvPicPr>
        <p:blipFill>
          <a:blip r:embed="rId3"/>
          <a:stretch>
            <a:fillRect/>
          </a:stretch>
        </p:blipFill>
        <p:spPr>
          <a:xfrm>
            <a:off x="5143152" y="3035808"/>
            <a:ext cx="869374" cy="1691640"/>
          </a:xfrm>
          <a:prstGeom prst="rect">
            <a:avLst/>
          </a:prstGeom>
        </p:spPr>
      </p:pic>
      <p:sp>
        <p:nvSpPr>
          <p:cNvPr id="10" name="TextBox 9"/>
          <p:cNvSpPr txBox="1"/>
          <p:nvPr/>
        </p:nvSpPr>
        <p:spPr>
          <a:xfrm>
            <a:off x="4617720" y="4764024"/>
            <a:ext cx="1920240" cy="201168"/>
          </a:xfrm>
          <a:prstGeom prst="rect">
            <a:avLst/>
          </a:prstGeom>
          <a:noFill/>
        </p:spPr>
        <p:txBody>
          <a:bodyPr wrap="square" lIns="27432" tIns="0" rIns="27432" bIns="0" anchor="t">
            <a:spAutoFit/>
          </a:bodyPr>
          <a:lstStyle/>
          <a:p>
            <a:pPr algn="ctr"/>
            <a:r>
              <a:rPr sz="850" b="0" i="1">
                <a:solidFill>
                  <a:srgbClr val="6B6965"/>
                </a:solidFill>
                <a:latin typeface="Calibri"/>
              </a:rPr>
              <a:t>Surgical reconstruction</a:t>
            </a:r>
          </a:p>
        </p:txBody>
      </p:sp>
      <p:pic>
        <p:nvPicPr>
          <p:cNvPr id="11" name="Picture 10" descr="rvlv_ratio.png"/>
          <p:cNvPicPr>
            <a:picLocks noChangeAspect="1"/>
          </p:cNvPicPr>
          <p:nvPr/>
        </p:nvPicPr>
        <p:blipFill>
          <a:blip r:embed="rId4"/>
          <a:stretch>
            <a:fillRect/>
          </a:stretch>
        </p:blipFill>
        <p:spPr>
          <a:xfrm>
            <a:off x="6812280" y="3354055"/>
            <a:ext cx="2011680" cy="1055145"/>
          </a:xfrm>
          <a:prstGeom prst="rect">
            <a:avLst/>
          </a:prstGeom>
        </p:spPr>
      </p:pic>
      <p:sp>
        <p:nvSpPr>
          <p:cNvPr id="12" name="TextBox 11"/>
          <p:cNvSpPr txBox="1"/>
          <p:nvPr/>
        </p:nvSpPr>
        <p:spPr>
          <a:xfrm>
            <a:off x="6812280" y="4764024"/>
            <a:ext cx="2011680" cy="201168"/>
          </a:xfrm>
          <a:prstGeom prst="rect">
            <a:avLst/>
          </a:prstGeom>
          <a:noFill/>
        </p:spPr>
        <p:txBody>
          <a:bodyPr wrap="square" lIns="27432" tIns="0" rIns="27432" bIns="0" anchor="t">
            <a:spAutoFit/>
          </a:bodyPr>
          <a:lstStyle/>
          <a:p>
            <a:pPr algn="ctr"/>
            <a:r>
              <a:rPr sz="850" b="0" i="1">
                <a:solidFill>
                  <a:srgbClr val="6B6965"/>
                </a:solidFill>
                <a:latin typeface="Calibri"/>
              </a:rPr>
              <a:t>RV/LV pressure ratio through follow-up</a:t>
            </a:r>
          </a:p>
        </p:txBody>
      </p:sp>
      <p:sp>
        <p:nvSpPr>
          <p:cNvPr id="13" name="TextBox 12"/>
          <p:cNvSpPr txBox="1"/>
          <p:nvPr/>
        </p:nvSpPr>
        <p:spPr>
          <a:xfrm>
            <a:off x="2011680" y="5376672"/>
            <a:ext cx="6812280" cy="201168"/>
          </a:xfrm>
          <a:prstGeom prst="rect">
            <a:avLst/>
          </a:prstGeom>
          <a:noFill/>
        </p:spPr>
        <p:txBody>
          <a:bodyPr wrap="square" lIns="27432" tIns="0" rIns="27432" bIns="0" anchor="t">
            <a:spAutoFit/>
          </a:bodyPr>
          <a:lstStyle/>
          <a:p>
            <a:pPr algn="l"/>
            <a:r>
              <a:rPr sz="700" b="0" i="1">
                <a:solidFill>
                  <a:srgbClr val="6B6965"/>
                </a:solidFill>
                <a:latin typeface="Calibri"/>
              </a:rPr>
              <a:t>Figures: Monge et al., J Thorac Cardiovasc Surg (2013); Bacha &amp; Kreutzer, J Interv Cardiol (2001).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sz="2200">
                <a:solidFill>
                  <a:srgbClr val="8C1515"/>
                </a:solidFill>
                <a:latin typeface="Georgia"/>
              </a:rPr>
              <a:t>Treatment planning needs a prediction, not a description</a:t>
            </a:r>
          </a:p>
        </p:txBody>
      </p:sp>
      <p:sp>
        <p:nvSpPr>
          <p:cNvPr id="3" name="Rectangle 2"/>
          <p:cNvSpPr/>
          <p:nvPr/>
        </p:nvSpPr>
        <p:spPr>
          <a:xfrm>
            <a:off x="320040" y="1005840"/>
            <a:ext cx="8503920" cy="9525"/>
          </a:xfrm>
          <a:prstGeom prst="rect">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320040" y="1207008"/>
            <a:ext cx="2697480" cy="164592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448056" y="1307592"/>
            <a:ext cx="2441448" cy="219456"/>
          </a:xfrm>
          <a:prstGeom prst="rect">
            <a:avLst/>
          </a:prstGeom>
          <a:noFill/>
        </p:spPr>
        <p:txBody>
          <a:bodyPr wrap="square" lIns="27432" tIns="0" rIns="27432" bIns="0" anchor="t">
            <a:spAutoFit/>
          </a:bodyPr>
          <a:lstStyle/>
          <a:p>
            <a:pPr algn="l"/>
            <a:r>
              <a:rPr sz="1100" b="1" i="0">
                <a:solidFill>
                  <a:srgbClr val="8C1515"/>
                </a:solidFill>
                <a:latin typeface="Calibri"/>
              </a:rPr>
              <a:t>What the clinician decides</a:t>
            </a:r>
          </a:p>
        </p:txBody>
      </p:sp>
      <p:sp>
        <p:nvSpPr>
          <p:cNvPr id="6" name="TextBox 5"/>
          <p:cNvSpPr txBox="1"/>
          <p:nvPr/>
        </p:nvSpPr>
        <p:spPr>
          <a:xfrm>
            <a:off x="448056" y="1581912"/>
            <a:ext cx="2441448" cy="1234440"/>
          </a:xfrm>
          <a:prstGeom prst="rect">
            <a:avLst/>
          </a:prstGeom>
          <a:noFill/>
        </p:spPr>
        <p:txBody>
          <a:bodyPr wrap="square" lIns="27432" tIns="0" rIns="27432" bIns="0">
            <a:spAutoFit/>
          </a:bodyPr>
          <a:lstStyle/>
          <a:p>
            <a:pPr>
              <a:spcAft>
                <a:spcPts val="350"/>
              </a:spcAft>
            </a:pPr>
            <a:r>
              <a:rPr sz="950">
                <a:solidFill>
                  <a:srgbClr val="8C1515"/>
                </a:solidFill>
                <a:latin typeface="Calibri"/>
              </a:rPr>
              <a:t>• </a:t>
            </a:r>
            <a:r>
              <a:rPr sz="950">
                <a:solidFill>
                  <a:srgbClr val="2E2D29"/>
                </a:solidFill>
                <a:latin typeface="Calibri"/>
              </a:rPr>
              <a:t>Which lesion(s) to treat</a:t>
            </a:r>
          </a:p>
          <a:p>
            <a:pPr>
              <a:spcAft>
                <a:spcPts val="350"/>
              </a:spcAft>
            </a:pPr>
            <a:r>
              <a:rPr sz="950">
                <a:solidFill>
                  <a:srgbClr val="8C1515"/>
                </a:solidFill>
                <a:latin typeface="Calibri"/>
              </a:rPr>
              <a:t>• </a:t>
            </a:r>
            <a:r>
              <a:rPr sz="950">
                <a:solidFill>
                  <a:srgbClr val="2E2D29"/>
                </a:solidFill>
                <a:latin typeface="Calibri"/>
              </a:rPr>
              <a:t>Stent diameter and length</a:t>
            </a:r>
          </a:p>
          <a:p>
            <a:pPr>
              <a:spcAft>
                <a:spcPts val="350"/>
              </a:spcAft>
            </a:pPr>
            <a:r>
              <a:rPr sz="950">
                <a:solidFill>
                  <a:srgbClr val="8C1515"/>
                </a:solidFill>
                <a:latin typeface="Calibri"/>
              </a:rPr>
              <a:t>• </a:t>
            </a:r>
            <a:r>
              <a:rPr sz="950">
                <a:solidFill>
                  <a:srgbClr val="2E2D29"/>
                </a:solidFill>
                <a:latin typeface="Calibri"/>
              </a:rPr>
              <a:t>Proximal vs. extensive coverage</a:t>
            </a:r>
          </a:p>
        </p:txBody>
      </p:sp>
      <p:sp>
        <p:nvSpPr>
          <p:cNvPr id="7" name="Rectangle 6"/>
          <p:cNvSpPr/>
          <p:nvPr/>
        </p:nvSpPr>
        <p:spPr>
          <a:xfrm>
            <a:off x="3200400" y="1207008"/>
            <a:ext cx="2697480" cy="164592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3328416" y="1307592"/>
            <a:ext cx="2441448" cy="219456"/>
          </a:xfrm>
          <a:prstGeom prst="rect">
            <a:avLst/>
          </a:prstGeom>
          <a:noFill/>
        </p:spPr>
        <p:txBody>
          <a:bodyPr wrap="square" lIns="27432" tIns="0" rIns="27432" bIns="0" anchor="t">
            <a:spAutoFit/>
          </a:bodyPr>
          <a:lstStyle/>
          <a:p>
            <a:pPr algn="l"/>
            <a:r>
              <a:rPr sz="1100" b="1" i="0">
                <a:solidFill>
                  <a:srgbClr val="007C92"/>
                </a:solidFill>
                <a:latin typeface="Calibri"/>
              </a:rPr>
              <a:t>What CFD can give today</a:t>
            </a:r>
          </a:p>
        </p:txBody>
      </p:sp>
      <p:sp>
        <p:nvSpPr>
          <p:cNvPr id="9" name="TextBox 8"/>
          <p:cNvSpPr txBox="1"/>
          <p:nvPr/>
        </p:nvSpPr>
        <p:spPr>
          <a:xfrm>
            <a:off x="3328416" y="1581912"/>
            <a:ext cx="2441448" cy="1234440"/>
          </a:xfrm>
          <a:prstGeom prst="rect">
            <a:avLst/>
          </a:prstGeom>
          <a:noFill/>
        </p:spPr>
        <p:txBody>
          <a:bodyPr wrap="square" lIns="27432" tIns="0" rIns="27432" bIns="0">
            <a:spAutoFit/>
          </a:bodyPr>
          <a:lstStyle/>
          <a:p>
            <a:pPr>
              <a:spcAft>
                <a:spcPts val="350"/>
              </a:spcAft>
            </a:pPr>
            <a:r>
              <a:rPr sz="950">
                <a:solidFill>
                  <a:srgbClr val="007C92"/>
                </a:solidFill>
                <a:latin typeface="Calibri"/>
              </a:rPr>
              <a:t>• </a:t>
            </a:r>
            <a:r>
              <a:rPr sz="950">
                <a:solidFill>
                  <a:srgbClr val="2E2D29"/>
                </a:solidFill>
                <a:latin typeface="Calibri"/>
              </a:rPr>
              <a:t>Acute pressure and flow immediately after the geometric change</a:t>
            </a:r>
          </a:p>
          <a:p>
            <a:pPr>
              <a:spcAft>
                <a:spcPts val="350"/>
              </a:spcAft>
            </a:pPr>
            <a:r>
              <a:rPr sz="950">
                <a:solidFill>
                  <a:srgbClr val="007C92"/>
                </a:solidFill>
                <a:latin typeface="Calibri"/>
              </a:rPr>
              <a:t>• </a:t>
            </a:r>
            <a:r>
              <a:rPr sz="950">
                <a:solidFill>
                  <a:srgbClr val="2E2D29"/>
                </a:solidFill>
                <a:latin typeface="Calibri"/>
              </a:rPr>
              <a:t>Local wall shear stress and pressure gradients</a:t>
            </a:r>
          </a:p>
        </p:txBody>
      </p:sp>
      <p:sp>
        <p:nvSpPr>
          <p:cNvPr id="10" name="Rectangle 9"/>
          <p:cNvSpPr/>
          <p:nvPr/>
        </p:nvSpPr>
        <p:spPr>
          <a:xfrm>
            <a:off x="6080759" y="1207008"/>
            <a:ext cx="2743200" cy="164592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6208775" y="1307592"/>
            <a:ext cx="2487168" cy="219456"/>
          </a:xfrm>
          <a:prstGeom prst="rect">
            <a:avLst/>
          </a:prstGeom>
          <a:noFill/>
        </p:spPr>
        <p:txBody>
          <a:bodyPr wrap="square" lIns="27432" tIns="0" rIns="27432" bIns="0" anchor="t">
            <a:spAutoFit/>
          </a:bodyPr>
          <a:lstStyle/>
          <a:p>
            <a:pPr algn="l"/>
            <a:r>
              <a:rPr sz="1100" b="1" i="0">
                <a:solidFill>
                  <a:srgbClr val="E98300"/>
                </a:solidFill>
                <a:latin typeface="Calibri"/>
              </a:rPr>
              <a:t>What is actually measured later</a:t>
            </a:r>
          </a:p>
        </p:txBody>
      </p:sp>
      <p:sp>
        <p:nvSpPr>
          <p:cNvPr id="12" name="TextBox 11"/>
          <p:cNvSpPr txBox="1"/>
          <p:nvPr/>
        </p:nvSpPr>
        <p:spPr>
          <a:xfrm>
            <a:off x="6208775" y="1581912"/>
            <a:ext cx="2487168" cy="1234440"/>
          </a:xfrm>
          <a:prstGeom prst="rect">
            <a:avLst/>
          </a:prstGeom>
          <a:noFill/>
        </p:spPr>
        <p:txBody>
          <a:bodyPr wrap="square" lIns="27432" tIns="0" rIns="27432" bIns="0">
            <a:spAutoFit/>
          </a:bodyPr>
          <a:lstStyle/>
          <a:p>
            <a:pPr>
              <a:spcAft>
                <a:spcPts val="350"/>
              </a:spcAft>
            </a:pPr>
            <a:r>
              <a:rPr sz="950">
                <a:solidFill>
                  <a:srgbClr val="E98300"/>
                </a:solidFill>
                <a:latin typeface="Calibri"/>
              </a:rPr>
              <a:t>• </a:t>
            </a:r>
            <a:r>
              <a:rPr sz="950">
                <a:solidFill>
                  <a:srgbClr val="2E2D29"/>
                </a:solidFill>
                <a:latin typeface="Calibri"/>
              </a:rPr>
              <a:t>Post-op catheter pressures</a:t>
            </a:r>
          </a:p>
          <a:p>
            <a:pPr>
              <a:spcAft>
                <a:spcPts val="350"/>
              </a:spcAft>
            </a:pPr>
            <a:r>
              <a:rPr sz="950">
                <a:solidFill>
                  <a:srgbClr val="E98300"/>
                </a:solidFill>
                <a:latin typeface="Calibri"/>
              </a:rPr>
              <a:t>• </a:t>
            </a:r>
            <a:r>
              <a:rPr sz="950">
                <a:solidFill>
                  <a:srgbClr val="2E2D29"/>
                </a:solidFill>
                <a:latin typeface="Calibri"/>
              </a:rPr>
              <a:t>Post-op lung perfusion split</a:t>
            </a:r>
          </a:p>
          <a:p>
            <a:pPr>
              <a:spcAft>
                <a:spcPts val="350"/>
              </a:spcAft>
            </a:pPr>
            <a:r>
              <a:rPr sz="950">
                <a:solidFill>
                  <a:srgbClr val="E98300"/>
                </a:solidFill>
                <a:latin typeface="Calibri"/>
              </a:rPr>
              <a:t>• </a:t>
            </a:r>
            <a:r>
              <a:rPr sz="950">
                <a:solidFill>
                  <a:srgbClr val="2E2D29"/>
                </a:solidFill>
                <a:latin typeface="Calibri"/>
              </a:rPr>
              <a:t>Both reflect a remodelled distal bed</a:t>
            </a:r>
          </a:p>
        </p:txBody>
      </p:sp>
      <p:sp>
        <p:nvSpPr>
          <p:cNvPr id="13" name="Right Arrow 12"/>
          <p:cNvSpPr/>
          <p:nvPr/>
        </p:nvSpPr>
        <p:spPr>
          <a:xfrm>
            <a:off x="2770632" y="1920240"/>
            <a:ext cx="182880" cy="219456"/>
          </a:xfrm>
          <a:prstGeom prst="rightArrow">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ight Arrow 13"/>
          <p:cNvSpPr/>
          <p:nvPr/>
        </p:nvSpPr>
        <p:spPr>
          <a:xfrm>
            <a:off x="5650992" y="1920240"/>
            <a:ext cx="182880" cy="219456"/>
          </a:xfrm>
          <a:prstGeom prst="rightArrow">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20040" y="3127248"/>
            <a:ext cx="8503920" cy="256032"/>
          </a:xfrm>
          <a:prstGeom prst="rect">
            <a:avLst/>
          </a:prstGeom>
          <a:noFill/>
        </p:spPr>
        <p:txBody>
          <a:bodyPr wrap="square" lIns="27432" tIns="0" rIns="27432" bIns="0" anchor="t">
            <a:spAutoFit/>
          </a:bodyPr>
          <a:lstStyle/>
          <a:p>
            <a:pPr algn="l"/>
            <a:r>
              <a:rPr sz="1300" b="1" i="0">
                <a:solidFill>
                  <a:srgbClr val="8C1515"/>
                </a:solidFill>
                <a:latin typeface="Georgia"/>
              </a:rPr>
              <a:t>The gap: an acute simulation cannot reach the measured outcome</a:t>
            </a:r>
          </a:p>
        </p:txBody>
      </p:sp>
      <p:sp>
        <p:nvSpPr>
          <p:cNvPr id="16" name="TextBox 15"/>
          <p:cNvSpPr txBox="1"/>
          <p:nvPr/>
        </p:nvSpPr>
        <p:spPr>
          <a:xfrm>
            <a:off x="320040" y="3456432"/>
            <a:ext cx="8503920" cy="1188720"/>
          </a:xfrm>
          <a:prstGeom prst="rect">
            <a:avLst/>
          </a:prstGeom>
          <a:noFill/>
        </p:spPr>
        <p:txBody>
          <a:bodyPr wrap="square" lIns="27432" tIns="0" rIns="27432" bIns="0">
            <a:spAutoFit/>
          </a:bodyPr>
          <a:lstStyle/>
          <a:p>
            <a:pPr>
              <a:spcAft>
                <a:spcPts val="700"/>
              </a:spcAft>
            </a:pPr>
            <a:r>
              <a:rPr sz="1100">
                <a:solidFill>
                  <a:srgbClr val="8C1515"/>
                </a:solidFill>
                <a:latin typeface="Calibri"/>
              </a:rPr>
              <a:t>• </a:t>
            </a:r>
            <a:r>
              <a:rPr sz="1100">
                <a:solidFill>
                  <a:srgbClr val="2E2D29"/>
                </a:solidFill>
                <a:latin typeface="Calibri"/>
              </a:rPr>
              <a:t>Opening a proximal stenosis raises flow to the downstream bed, which raises wall shear stress in every distal arteriole</a:t>
            </a:r>
          </a:p>
          <a:p>
            <a:pPr>
              <a:spcAft>
                <a:spcPts val="700"/>
              </a:spcAft>
            </a:pPr>
            <a:r>
              <a:rPr sz="1100">
                <a:solidFill>
                  <a:srgbClr val="8C1515"/>
                </a:solidFill>
                <a:latin typeface="Calibri"/>
              </a:rPr>
              <a:t>• </a:t>
            </a:r>
            <a:r>
              <a:rPr sz="1100">
                <a:solidFill>
                  <a:srgbClr val="2E2D29"/>
                </a:solidFill>
                <a:latin typeface="Calibri"/>
              </a:rPr>
              <a:t>Those arterioles dilate to restore their homeostatic shear and stress state, lowering downstream resistance further</a:t>
            </a:r>
          </a:p>
          <a:p>
            <a:pPr>
              <a:spcAft>
                <a:spcPts val="700"/>
              </a:spcAft>
            </a:pPr>
            <a:r>
              <a:rPr sz="1100">
                <a:solidFill>
                  <a:srgbClr val="8C1515"/>
                </a:solidFill>
                <a:latin typeface="Calibri"/>
              </a:rPr>
              <a:t>• </a:t>
            </a:r>
            <a:r>
              <a:rPr sz="1100">
                <a:solidFill>
                  <a:srgbClr val="2E2D29"/>
                </a:solidFill>
                <a:latin typeface="Calibri"/>
              </a:rPr>
              <a:t>The flow split and pressures that get measured weeks to months later are the adapted state, not the acute one</a:t>
            </a:r>
          </a:p>
        </p:txBody>
      </p:sp>
      <p:sp>
        <p:nvSpPr>
          <p:cNvPr id="17" name="Rectangle 16"/>
          <p:cNvSpPr/>
          <p:nvPr/>
        </p:nvSpPr>
        <p:spPr>
          <a:xfrm>
            <a:off x="320040" y="4791456"/>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429768" y="4791456"/>
            <a:ext cx="8284464" cy="310896"/>
          </a:xfrm>
          <a:prstGeom prst="rect">
            <a:avLst/>
          </a:prstGeom>
          <a:noFill/>
        </p:spPr>
        <p:txBody>
          <a:bodyPr wrap="square" lIns="27432" tIns="0" rIns="27432" bIns="0" anchor="ctr">
            <a:spAutoFit/>
          </a:bodyPr>
          <a:lstStyle/>
          <a:p>
            <a:pPr algn="l"/>
            <a:r>
              <a:rPr sz="1000" b="1" i="0">
                <a:solidFill>
                  <a:srgbClr val="8C1515"/>
                </a:solidFill>
                <a:latin typeface="Calibri"/>
              </a:rPr>
              <a:t>So the boundary condition itself has to be able to remodel.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sz="2200">
                <a:solidFill>
                  <a:srgbClr val="8C1515"/>
                </a:solidFill>
                <a:latin typeface="Georgia"/>
              </a:rPr>
              <a:t>The boundary condition problem</a:t>
            </a:r>
          </a:p>
        </p:txBody>
      </p:sp>
      <p:sp>
        <p:nvSpPr>
          <p:cNvPr id="3" name="Rectangle 2"/>
          <p:cNvSpPr/>
          <p:nvPr/>
        </p:nvSpPr>
        <p:spPr>
          <a:xfrm>
            <a:off x="320040" y="1005840"/>
            <a:ext cx="8503920" cy="9525"/>
          </a:xfrm>
          <a:prstGeom prst="rect">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pa_model_black.png"/>
          <p:cNvPicPr>
            <a:picLocks noChangeAspect="1"/>
          </p:cNvPicPr>
          <p:nvPr/>
        </p:nvPicPr>
        <p:blipFill>
          <a:blip r:embed="rId2"/>
          <a:stretch>
            <a:fillRect/>
          </a:stretch>
        </p:blipFill>
        <p:spPr>
          <a:xfrm>
            <a:off x="-452761" y="944319"/>
            <a:ext cx="3787214" cy="2275165"/>
          </a:xfrm>
          <a:prstGeom prst="rect">
            <a:avLst/>
          </a:prstGeom>
        </p:spPr>
      </p:pic>
      <p:pic>
        <p:nvPicPr>
          <p:cNvPr id="5" name="Picture 4" descr="pa_outlets_zoom.png"/>
          <p:cNvPicPr>
            <a:picLocks noChangeAspect="1"/>
          </p:cNvPicPr>
          <p:nvPr/>
        </p:nvPicPr>
        <p:blipFill>
          <a:blip r:embed="rId3"/>
          <a:stretch>
            <a:fillRect/>
          </a:stretch>
        </p:blipFill>
        <p:spPr>
          <a:xfrm>
            <a:off x="3017520" y="1343191"/>
            <a:ext cx="2606040" cy="1565576"/>
          </a:xfrm>
          <a:prstGeom prst="rect">
            <a:avLst/>
          </a:prstGeom>
        </p:spPr>
      </p:pic>
      <p:sp>
        <p:nvSpPr>
          <p:cNvPr id="6" name="TextBox 5"/>
          <p:cNvSpPr txBox="1"/>
          <p:nvPr/>
        </p:nvSpPr>
        <p:spPr>
          <a:xfrm>
            <a:off x="320040" y="3127248"/>
            <a:ext cx="5303520" cy="219456"/>
          </a:xfrm>
          <a:prstGeom prst="rect">
            <a:avLst/>
          </a:prstGeom>
          <a:noFill/>
        </p:spPr>
        <p:txBody>
          <a:bodyPr wrap="square" lIns="27432" tIns="0" rIns="27432" bIns="0" anchor="t">
            <a:spAutoFit/>
          </a:bodyPr>
          <a:lstStyle/>
          <a:p>
            <a:pPr algn="ctr"/>
            <a:r>
              <a:rPr sz="950" b="0" i="1">
                <a:solidFill>
                  <a:srgbClr val="6B6965"/>
                </a:solidFill>
                <a:latin typeface="Calibri"/>
              </a:rPr>
              <a:t>Segmentation resolves vessels to roughly 1 mm; everything distal is boundary condition</a:t>
            </a:r>
          </a:p>
        </p:txBody>
      </p:sp>
      <p:sp>
        <p:nvSpPr>
          <p:cNvPr id="7" name="Rectangle 6"/>
          <p:cNvSpPr/>
          <p:nvPr/>
        </p:nvSpPr>
        <p:spPr>
          <a:xfrm>
            <a:off x="5806440" y="1188720"/>
            <a:ext cx="3017520" cy="1874519"/>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5934455" y="1289304"/>
            <a:ext cx="2761487" cy="219456"/>
          </a:xfrm>
          <a:prstGeom prst="rect">
            <a:avLst/>
          </a:prstGeom>
          <a:noFill/>
        </p:spPr>
        <p:txBody>
          <a:bodyPr wrap="square" lIns="27432" tIns="0" rIns="27432" bIns="0" anchor="t">
            <a:spAutoFit/>
          </a:bodyPr>
          <a:lstStyle/>
          <a:p>
            <a:pPr algn="l"/>
            <a:r>
              <a:rPr sz="1100" b="1" i="0">
                <a:solidFill>
                  <a:srgbClr val="6B6965"/>
                </a:solidFill>
                <a:latin typeface="Calibri"/>
              </a:rPr>
              <a:t>Conventional outlet BCs</a:t>
            </a:r>
          </a:p>
        </p:txBody>
      </p:sp>
      <p:sp>
        <p:nvSpPr>
          <p:cNvPr id="9" name="TextBox 8"/>
          <p:cNvSpPr txBox="1"/>
          <p:nvPr/>
        </p:nvSpPr>
        <p:spPr>
          <a:xfrm>
            <a:off x="5934455" y="1563624"/>
            <a:ext cx="2761487" cy="1463039"/>
          </a:xfrm>
          <a:prstGeom prst="rect">
            <a:avLst/>
          </a:prstGeom>
          <a:noFill/>
        </p:spPr>
        <p:txBody>
          <a:bodyPr wrap="square" lIns="27432" tIns="0" rIns="27432" bIns="0">
            <a:spAutoFit/>
          </a:bodyPr>
          <a:lstStyle/>
          <a:p>
            <a:pPr>
              <a:spcAft>
                <a:spcPts val="350"/>
              </a:spcAft>
            </a:pPr>
            <a:r>
              <a:rPr sz="900">
                <a:solidFill>
                  <a:srgbClr val="6B6965"/>
                </a:solidFill>
                <a:latin typeface="Calibri"/>
              </a:rPr>
              <a:t>• </a:t>
            </a:r>
            <a:r>
              <a:rPr sz="900">
                <a:solidFill>
                  <a:srgbClr val="2E2D29"/>
                </a:solidFill>
                <a:latin typeface="Calibri"/>
              </a:rPr>
              <a:t>Resistance or RCR fitted once to the pre-operative state</a:t>
            </a:r>
          </a:p>
          <a:p>
            <a:pPr>
              <a:spcAft>
                <a:spcPts val="350"/>
              </a:spcAft>
            </a:pPr>
            <a:r>
              <a:rPr sz="900">
                <a:solidFill>
                  <a:srgbClr val="6B6965"/>
                </a:solidFill>
                <a:latin typeface="Calibri"/>
              </a:rPr>
              <a:t>• </a:t>
            </a:r>
            <a:r>
              <a:rPr sz="900">
                <a:solidFill>
                  <a:srgbClr val="2E2D29"/>
                </a:solidFill>
                <a:latin typeface="Calibri"/>
              </a:rPr>
              <a:t>A single lumped number per outlet</a:t>
            </a:r>
          </a:p>
          <a:p>
            <a:pPr>
              <a:spcAft>
                <a:spcPts val="350"/>
              </a:spcAft>
            </a:pPr>
            <a:r>
              <a:rPr sz="900">
                <a:solidFill>
                  <a:srgbClr val="6B6965"/>
                </a:solidFill>
                <a:latin typeface="Calibri"/>
              </a:rPr>
              <a:t>• </a:t>
            </a:r>
            <a:r>
              <a:rPr sz="900">
                <a:solidFill>
                  <a:srgbClr val="2E2D29"/>
                </a:solidFill>
                <a:latin typeface="Calibri"/>
              </a:rPr>
              <a:t>No internal structure, so nothing to remodel</a:t>
            </a:r>
          </a:p>
          <a:p>
            <a:pPr>
              <a:spcAft>
                <a:spcPts val="350"/>
              </a:spcAft>
            </a:pPr>
            <a:r>
              <a:rPr sz="900">
                <a:solidFill>
                  <a:srgbClr val="6B6965"/>
                </a:solidFill>
                <a:latin typeface="Calibri"/>
              </a:rPr>
              <a:t>• </a:t>
            </a:r>
            <a:r>
              <a:rPr sz="900">
                <a:solidFill>
                  <a:srgbClr val="2E2D29"/>
                </a:solidFill>
                <a:latin typeface="Calibri"/>
              </a:rPr>
              <a:t>Post-op flow redistribution can only come from the 3D geometry change</a:t>
            </a:r>
          </a:p>
        </p:txBody>
      </p:sp>
      <p:sp>
        <p:nvSpPr>
          <p:cNvPr id="10" name="Rectangle 9"/>
          <p:cNvSpPr/>
          <p:nvPr/>
        </p:nvSpPr>
        <p:spPr>
          <a:xfrm>
            <a:off x="320040" y="3493008"/>
            <a:ext cx="8503920" cy="9525"/>
          </a:xfrm>
          <a:prstGeom prst="rect">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20040" y="3639312"/>
            <a:ext cx="8503920" cy="237744"/>
          </a:xfrm>
          <a:prstGeom prst="rect">
            <a:avLst/>
          </a:prstGeom>
          <a:noFill/>
        </p:spPr>
        <p:txBody>
          <a:bodyPr wrap="square" lIns="27432" tIns="0" rIns="27432" bIns="0" anchor="t">
            <a:spAutoFit/>
          </a:bodyPr>
          <a:lstStyle/>
          <a:p>
            <a:pPr algn="l"/>
            <a:r>
              <a:rPr sz="1300" b="1" i="0">
                <a:solidFill>
                  <a:srgbClr val="8C1515"/>
                </a:solidFill>
                <a:latin typeface="Georgia"/>
              </a:rPr>
              <a:t>Requirements for an adaptive boundary condition</a:t>
            </a:r>
          </a:p>
        </p:txBody>
      </p:sp>
      <p:sp>
        <p:nvSpPr>
          <p:cNvPr id="12" name="Rectangle 11"/>
          <p:cNvSpPr/>
          <p:nvPr/>
        </p:nvSpPr>
        <p:spPr>
          <a:xfrm>
            <a:off x="320040" y="3968496"/>
            <a:ext cx="2697480" cy="12252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448056" y="4069080"/>
            <a:ext cx="2441448" cy="219456"/>
          </a:xfrm>
          <a:prstGeom prst="rect">
            <a:avLst/>
          </a:prstGeom>
          <a:noFill/>
        </p:spPr>
        <p:txBody>
          <a:bodyPr wrap="square" lIns="27432" tIns="0" rIns="27432" bIns="0" anchor="t">
            <a:spAutoFit/>
          </a:bodyPr>
          <a:lstStyle/>
          <a:p>
            <a:pPr algn="l"/>
            <a:r>
              <a:rPr sz="1100" b="1" i="0">
                <a:solidFill>
                  <a:srgbClr val="8C1515"/>
                </a:solidFill>
                <a:latin typeface="Calibri"/>
              </a:rPr>
              <a:t>Physiological</a:t>
            </a:r>
          </a:p>
        </p:txBody>
      </p:sp>
      <p:sp>
        <p:nvSpPr>
          <p:cNvPr id="14" name="TextBox 13"/>
          <p:cNvSpPr txBox="1"/>
          <p:nvPr/>
        </p:nvSpPr>
        <p:spPr>
          <a:xfrm>
            <a:off x="448056" y="4343400"/>
            <a:ext cx="2441448" cy="813816"/>
          </a:xfrm>
          <a:prstGeom prst="rect">
            <a:avLst/>
          </a:prstGeom>
          <a:noFill/>
        </p:spPr>
        <p:txBody>
          <a:bodyPr wrap="square" lIns="27432" tIns="0" rIns="27432" bIns="0">
            <a:spAutoFit/>
          </a:bodyPr>
          <a:lstStyle/>
          <a:p>
            <a:pPr>
              <a:spcAft>
                <a:spcPts val="350"/>
              </a:spcAft>
            </a:pPr>
            <a:r>
              <a:rPr sz="900">
                <a:solidFill>
                  <a:srgbClr val="8C1515"/>
                </a:solidFill>
                <a:latin typeface="Calibri"/>
              </a:rPr>
              <a:t>• </a:t>
            </a:r>
            <a:r>
              <a:rPr sz="900">
                <a:solidFill>
                  <a:srgbClr val="2E2D29"/>
                </a:solidFill>
                <a:latin typeface="Calibri"/>
              </a:rPr>
              <a:t>Morphometry of the real arteriolar bed</a:t>
            </a:r>
          </a:p>
          <a:p>
            <a:pPr>
              <a:spcAft>
                <a:spcPts val="350"/>
              </a:spcAft>
            </a:pPr>
            <a:r>
              <a:rPr sz="900">
                <a:solidFill>
                  <a:srgbClr val="8C1515"/>
                </a:solidFill>
                <a:latin typeface="Calibri"/>
              </a:rPr>
              <a:t>• </a:t>
            </a:r>
            <a:r>
              <a:rPr sz="900">
                <a:solidFill>
                  <a:srgbClr val="2E2D29"/>
                </a:solidFill>
                <a:latin typeface="Calibri"/>
              </a:rPr>
              <a:t>Terminates at capillary scale</a:t>
            </a:r>
          </a:p>
        </p:txBody>
      </p:sp>
      <p:sp>
        <p:nvSpPr>
          <p:cNvPr id="15" name="Rectangle 14"/>
          <p:cNvSpPr/>
          <p:nvPr/>
        </p:nvSpPr>
        <p:spPr>
          <a:xfrm>
            <a:off x="3200400" y="3968496"/>
            <a:ext cx="2697480" cy="12252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3328416" y="4069080"/>
            <a:ext cx="2441448" cy="219456"/>
          </a:xfrm>
          <a:prstGeom prst="rect">
            <a:avLst/>
          </a:prstGeom>
          <a:noFill/>
        </p:spPr>
        <p:txBody>
          <a:bodyPr wrap="square" lIns="27432" tIns="0" rIns="27432" bIns="0" anchor="t">
            <a:spAutoFit/>
          </a:bodyPr>
          <a:lstStyle/>
          <a:p>
            <a:pPr algn="l"/>
            <a:r>
              <a:rPr sz="1100" b="1" i="0">
                <a:solidFill>
                  <a:srgbClr val="8C1515"/>
                </a:solidFill>
                <a:latin typeface="Calibri"/>
              </a:rPr>
              <a:t>Dynamic</a:t>
            </a:r>
          </a:p>
        </p:txBody>
      </p:sp>
      <p:sp>
        <p:nvSpPr>
          <p:cNvPr id="17" name="TextBox 16"/>
          <p:cNvSpPr txBox="1"/>
          <p:nvPr/>
        </p:nvSpPr>
        <p:spPr>
          <a:xfrm>
            <a:off x="3328416" y="4343400"/>
            <a:ext cx="2441448" cy="813816"/>
          </a:xfrm>
          <a:prstGeom prst="rect">
            <a:avLst/>
          </a:prstGeom>
          <a:noFill/>
        </p:spPr>
        <p:txBody>
          <a:bodyPr wrap="square" lIns="27432" tIns="0" rIns="27432" bIns="0">
            <a:spAutoFit/>
          </a:bodyPr>
          <a:lstStyle/>
          <a:p>
            <a:pPr>
              <a:spcAft>
                <a:spcPts val="350"/>
              </a:spcAft>
            </a:pPr>
            <a:r>
              <a:rPr sz="900">
                <a:solidFill>
                  <a:srgbClr val="8C1515"/>
                </a:solidFill>
                <a:latin typeface="Calibri"/>
              </a:rPr>
              <a:t>• </a:t>
            </a:r>
            <a:r>
              <a:rPr sz="900">
                <a:solidFill>
                  <a:srgbClr val="2E2D29"/>
                </a:solidFill>
                <a:latin typeface="Calibri"/>
              </a:rPr>
              <a:t>Full impedance, not just resistance</a:t>
            </a:r>
          </a:p>
          <a:p>
            <a:pPr>
              <a:spcAft>
                <a:spcPts val="350"/>
              </a:spcAft>
            </a:pPr>
            <a:r>
              <a:rPr sz="900">
                <a:solidFill>
                  <a:srgbClr val="8C1515"/>
                </a:solidFill>
                <a:latin typeface="Calibri"/>
              </a:rPr>
              <a:t>• </a:t>
            </a:r>
            <a:r>
              <a:rPr sz="900">
                <a:solidFill>
                  <a:srgbClr val="2E2D29"/>
                </a:solidFill>
                <a:latin typeface="Calibri"/>
              </a:rPr>
              <a:t>Compatible with pulsatile 3D coupling</a:t>
            </a:r>
          </a:p>
        </p:txBody>
      </p:sp>
      <p:sp>
        <p:nvSpPr>
          <p:cNvPr id="18" name="Rectangle 17"/>
          <p:cNvSpPr/>
          <p:nvPr/>
        </p:nvSpPr>
        <p:spPr>
          <a:xfrm>
            <a:off x="6080759" y="3968496"/>
            <a:ext cx="2743200" cy="12252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208775" y="4069080"/>
            <a:ext cx="2487168" cy="219456"/>
          </a:xfrm>
          <a:prstGeom prst="rect">
            <a:avLst/>
          </a:prstGeom>
          <a:noFill/>
        </p:spPr>
        <p:txBody>
          <a:bodyPr wrap="square" lIns="27432" tIns="0" rIns="27432" bIns="0" anchor="t">
            <a:spAutoFit/>
          </a:bodyPr>
          <a:lstStyle/>
          <a:p>
            <a:pPr algn="l"/>
            <a:r>
              <a:rPr sz="1100" b="1" i="0">
                <a:solidFill>
                  <a:srgbClr val="8C1515"/>
                </a:solidFill>
                <a:latin typeface="Calibri"/>
              </a:rPr>
              <a:t>Adaptable</a:t>
            </a:r>
          </a:p>
        </p:txBody>
      </p:sp>
      <p:sp>
        <p:nvSpPr>
          <p:cNvPr id="20" name="TextBox 19"/>
          <p:cNvSpPr txBox="1"/>
          <p:nvPr/>
        </p:nvSpPr>
        <p:spPr>
          <a:xfrm>
            <a:off x="6208775" y="4343400"/>
            <a:ext cx="2487168" cy="813816"/>
          </a:xfrm>
          <a:prstGeom prst="rect">
            <a:avLst/>
          </a:prstGeom>
          <a:noFill/>
        </p:spPr>
        <p:txBody>
          <a:bodyPr wrap="square" lIns="27432" tIns="0" rIns="27432" bIns="0">
            <a:spAutoFit/>
          </a:bodyPr>
          <a:lstStyle/>
          <a:p>
            <a:pPr>
              <a:spcAft>
                <a:spcPts val="350"/>
              </a:spcAft>
            </a:pPr>
            <a:r>
              <a:rPr sz="900">
                <a:solidFill>
                  <a:srgbClr val="8C1515"/>
                </a:solidFill>
                <a:latin typeface="Calibri"/>
              </a:rPr>
              <a:t>• </a:t>
            </a:r>
            <a:r>
              <a:rPr sz="900">
                <a:solidFill>
                  <a:srgbClr val="2E2D29"/>
                </a:solidFill>
                <a:latin typeface="Calibri"/>
              </a:rPr>
              <a:t>Per-vessel state that responds to flow</a:t>
            </a:r>
          </a:p>
          <a:p>
            <a:pPr>
              <a:spcAft>
                <a:spcPts val="350"/>
              </a:spcAft>
            </a:pPr>
            <a:r>
              <a:rPr sz="900">
                <a:solidFill>
                  <a:srgbClr val="8C1515"/>
                </a:solidFill>
                <a:latin typeface="Calibri"/>
              </a:rPr>
              <a:t>• </a:t>
            </a:r>
            <a:r>
              <a:rPr sz="900">
                <a:solidFill>
                  <a:srgbClr val="2E2D29"/>
                </a:solidFill>
                <a:latin typeface="Calibri"/>
              </a:rPr>
              <a:t>Driven by mechanobiological stimuli</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sz="2200">
                <a:solidFill>
                  <a:srgbClr val="8C1515"/>
                </a:solidFill>
                <a:latin typeface="Georgia"/>
              </a:rPr>
              <a:t>Structured-tree boundary conditions</a:t>
            </a:r>
          </a:p>
        </p:txBody>
      </p:sp>
      <p:sp>
        <p:nvSpPr>
          <p:cNvPr id="3" name="Rectangle 2"/>
          <p:cNvSpPr/>
          <p:nvPr/>
        </p:nvSpPr>
        <p:spPr>
          <a:xfrm>
            <a:off x="320040" y="1005840"/>
            <a:ext cx="8503920" cy="9525"/>
          </a:xfrm>
          <a:prstGeom prst="rect">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tree_at_outlet.png"/>
          <p:cNvPicPr>
            <a:picLocks noChangeAspect="1"/>
          </p:cNvPicPr>
          <p:nvPr/>
        </p:nvPicPr>
        <p:blipFill>
          <a:blip r:embed="rId2"/>
          <a:stretch>
            <a:fillRect/>
          </a:stretch>
        </p:blipFill>
        <p:spPr>
          <a:xfrm>
            <a:off x="473867" y="1170432"/>
            <a:ext cx="2938465" cy="2697480"/>
          </a:xfrm>
          <a:prstGeom prst="rect">
            <a:avLst/>
          </a:prstGeom>
        </p:spPr>
      </p:pic>
      <p:sp>
        <p:nvSpPr>
          <p:cNvPr id="5" name="TextBox 4"/>
          <p:cNvSpPr txBox="1"/>
          <p:nvPr/>
        </p:nvSpPr>
        <p:spPr>
          <a:xfrm>
            <a:off x="320040" y="3904488"/>
            <a:ext cx="3246120" cy="201168"/>
          </a:xfrm>
          <a:prstGeom prst="rect">
            <a:avLst/>
          </a:prstGeom>
          <a:noFill/>
        </p:spPr>
        <p:txBody>
          <a:bodyPr wrap="square" lIns="27432" tIns="0" rIns="27432" bIns="0" anchor="t">
            <a:spAutoFit/>
          </a:bodyPr>
          <a:lstStyle/>
          <a:p>
            <a:pPr algn="ctr"/>
            <a:r>
              <a:rPr sz="850" b="0" i="1">
                <a:solidFill>
                  <a:srgbClr val="6B6965"/>
                </a:solidFill>
                <a:latin typeface="Calibri"/>
              </a:rPr>
              <a:t>A self-similar binary tree is appended at each 3D outlet</a:t>
            </a:r>
          </a:p>
        </p:txBody>
      </p:sp>
      <p:sp>
        <p:nvSpPr>
          <p:cNvPr id="6" name="Rectangle 5"/>
          <p:cNvSpPr/>
          <p:nvPr/>
        </p:nvSpPr>
        <p:spPr>
          <a:xfrm>
            <a:off x="3840480" y="1170432"/>
            <a:ext cx="4983480" cy="129844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3968496" y="1271016"/>
            <a:ext cx="4727448" cy="219456"/>
          </a:xfrm>
          <a:prstGeom prst="rect">
            <a:avLst/>
          </a:prstGeom>
          <a:noFill/>
        </p:spPr>
        <p:txBody>
          <a:bodyPr wrap="square" lIns="27432" tIns="0" rIns="27432" bIns="0" anchor="t">
            <a:spAutoFit/>
          </a:bodyPr>
          <a:lstStyle/>
          <a:p>
            <a:pPr algn="l"/>
            <a:r>
              <a:rPr sz="1100" b="1" i="0">
                <a:solidFill>
                  <a:srgbClr val="8C1515"/>
                </a:solidFill>
                <a:latin typeface="Calibri"/>
              </a:rPr>
              <a:t>What the tree buys us</a:t>
            </a:r>
          </a:p>
        </p:txBody>
      </p:sp>
      <p:sp>
        <p:nvSpPr>
          <p:cNvPr id="8" name="TextBox 7"/>
          <p:cNvSpPr txBox="1"/>
          <p:nvPr/>
        </p:nvSpPr>
        <p:spPr>
          <a:xfrm>
            <a:off x="3968496" y="1545336"/>
            <a:ext cx="4727448" cy="886968"/>
          </a:xfrm>
          <a:prstGeom prst="rect">
            <a:avLst/>
          </a:prstGeom>
          <a:noFill/>
        </p:spPr>
        <p:txBody>
          <a:bodyPr wrap="square" lIns="27432" tIns="0" rIns="27432" bIns="0">
            <a:spAutoFit/>
          </a:bodyPr>
          <a:lstStyle/>
          <a:p>
            <a:pPr>
              <a:spcAft>
                <a:spcPts val="350"/>
              </a:spcAft>
            </a:pPr>
            <a:r>
              <a:rPr sz="950">
                <a:solidFill>
                  <a:srgbClr val="8C1515"/>
                </a:solidFill>
                <a:latin typeface="Calibri"/>
              </a:rPr>
              <a:t>• </a:t>
            </a:r>
            <a:r>
              <a:rPr sz="950">
                <a:solidFill>
                  <a:srgbClr val="2E2D29"/>
                </a:solidFill>
                <a:latin typeface="Calibri"/>
              </a:rPr>
              <a:t>Impedance is computed recursively from the vessel network, giving a physically grounded pulsatile BC</a:t>
            </a:r>
          </a:p>
          <a:p>
            <a:pPr>
              <a:spcAft>
                <a:spcPts val="350"/>
              </a:spcAft>
            </a:pPr>
            <a:r>
              <a:rPr sz="950">
                <a:solidFill>
                  <a:srgbClr val="8C1515"/>
                </a:solidFill>
                <a:latin typeface="Calibri"/>
              </a:rPr>
              <a:t>• </a:t>
            </a:r>
            <a:r>
              <a:rPr sz="950">
                <a:solidFill>
                  <a:srgbClr val="2E2D29"/>
                </a:solidFill>
                <a:latin typeface="Calibri"/>
              </a:rPr>
              <a:t>Every vessel carries its own radius, thickness, flow and pressure — the state that adaptation acts on</a:t>
            </a:r>
          </a:p>
        </p:txBody>
      </p:sp>
      <p:sp>
        <p:nvSpPr>
          <p:cNvPr id="9" name="Rectangle 8"/>
          <p:cNvSpPr/>
          <p:nvPr/>
        </p:nvSpPr>
        <p:spPr>
          <a:xfrm>
            <a:off x="3840480" y="2578608"/>
            <a:ext cx="4983480" cy="129844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968496" y="2679191"/>
            <a:ext cx="4727448" cy="219456"/>
          </a:xfrm>
          <a:prstGeom prst="rect">
            <a:avLst/>
          </a:prstGeom>
          <a:noFill/>
        </p:spPr>
        <p:txBody>
          <a:bodyPr wrap="square" lIns="27432" tIns="0" rIns="27432" bIns="0" anchor="t">
            <a:spAutoFit/>
          </a:bodyPr>
          <a:lstStyle/>
          <a:p>
            <a:pPr algn="l"/>
            <a:r>
              <a:rPr sz="1100" b="1" i="0">
                <a:solidFill>
                  <a:srgbClr val="E98300"/>
                </a:solidFill>
                <a:latin typeface="Calibri"/>
              </a:rPr>
              <a:t>Cost of the choice</a:t>
            </a:r>
          </a:p>
        </p:txBody>
      </p:sp>
      <p:sp>
        <p:nvSpPr>
          <p:cNvPr id="11" name="TextBox 10"/>
          <p:cNvSpPr txBox="1"/>
          <p:nvPr/>
        </p:nvSpPr>
        <p:spPr>
          <a:xfrm>
            <a:off x="3968496" y="2953511"/>
            <a:ext cx="4727448" cy="886968"/>
          </a:xfrm>
          <a:prstGeom prst="rect">
            <a:avLst/>
          </a:prstGeom>
          <a:noFill/>
        </p:spPr>
        <p:txBody>
          <a:bodyPr wrap="square" lIns="27432" tIns="0" rIns="27432" bIns="0">
            <a:spAutoFit/>
          </a:bodyPr>
          <a:lstStyle/>
          <a:p>
            <a:pPr>
              <a:spcAft>
                <a:spcPts val="350"/>
              </a:spcAft>
            </a:pPr>
            <a:r>
              <a:rPr sz="950">
                <a:solidFill>
                  <a:srgbClr val="E98300"/>
                </a:solidFill>
                <a:latin typeface="Calibri"/>
              </a:rPr>
              <a:t>• </a:t>
            </a:r>
            <a:r>
              <a:rPr sz="950">
                <a:solidFill>
                  <a:srgbClr val="2E2D29"/>
                </a:solidFill>
                <a:latin typeface="Calibri"/>
              </a:rPr>
              <a:t>Tree morphometry introduces parameters that must be identified per patient</a:t>
            </a:r>
          </a:p>
          <a:p>
            <a:pPr>
              <a:spcAft>
                <a:spcPts val="350"/>
              </a:spcAft>
            </a:pPr>
            <a:r>
              <a:rPr sz="950">
                <a:solidFill>
                  <a:srgbClr val="E98300"/>
                </a:solidFill>
                <a:latin typeface="Calibri"/>
              </a:rPr>
              <a:t>• </a:t>
            </a:r>
            <a:r>
              <a:rPr sz="950">
                <a:solidFill>
                  <a:srgbClr val="2E2D29"/>
                </a:solidFill>
                <a:latin typeface="Calibri"/>
              </a:rPr>
              <a:t>Impedance evaluation is expensive, so tuning happens against a reduced-order surrogate</a:t>
            </a:r>
          </a:p>
        </p:txBody>
      </p:sp>
      <p:sp>
        <p:nvSpPr>
          <p:cNvPr id="12" name="Rectangle 11"/>
          <p:cNvSpPr/>
          <p:nvPr/>
        </p:nvSpPr>
        <p:spPr>
          <a:xfrm>
            <a:off x="320040" y="4133087"/>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429768" y="4133087"/>
            <a:ext cx="8284464" cy="310896"/>
          </a:xfrm>
          <a:prstGeom prst="rect">
            <a:avLst/>
          </a:prstGeom>
          <a:noFill/>
        </p:spPr>
        <p:txBody>
          <a:bodyPr wrap="square" lIns="27432" tIns="0" rIns="27432" bIns="0" anchor="ctr">
            <a:spAutoFit/>
          </a:bodyPr>
          <a:lstStyle/>
          <a:p>
            <a:pPr algn="l"/>
            <a:r>
              <a:rPr sz="1000" b="1" i="0">
                <a:solidFill>
                  <a:srgbClr val="8C1515"/>
                </a:solidFill>
                <a:latin typeface="Calibri"/>
              </a:rPr>
              <a:t>Structured trees turn the outlet BC from a fitted constant into a model that can be perturbed.</a:t>
            </a:r>
          </a:p>
        </p:txBody>
      </p:sp>
      <p:sp>
        <p:nvSpPr>
          <p:cNvPr id="14" name="TextBox 13"/>
          <p:cNvSpPr txBox="1"/>
          <p:nvPr/>
        </p:nvSpPr>
        <p:spPr>
          <a:xfrm>
            <a:off x="320040" y="4590288"/>
            <a:ext cx="8503920" cy="457200"/>
          </a:xfrm>
          <a:prstGeom prst="rect">
            <a:avLst/>
          </a:prstGeom>
          <a:noFill/>
        </p:spPr>
        <p:txBody>
          <a:bodyPr wrap="square" lIns="27432" tIns="0" rIns="27432" bIns="0" anchor="t">
            <a:spAutoFit/>
          </a:bodyPr>
          <a:lstStyle/>
          <a:p>
            <a:pPr algn="l"/>
            <a:r>
              <a:rPr sz="1050" b="0" i="1">
                <a:solidFill>
                  <a:srgbClr val="6B6965"/>
                </a:solidFill>
                <a:latin typeface="Calibri"/>
              </a:rPr>
              <a:t>The rest of this deck walks the seven pipeline stages that build, tune, apply and adapt these boundary conditions.</a:t>
            </a:r>
          </a:p>
        </p:txBody>
      </p:sp>
      <p:sp>
        <p:nvSpPr>
          <p:cNvPr id="15" name="TextBox 14"/>
          <p:cNvSpPr txBox="1"/>
          <p:nvPr/>
        </p:nvSpPr>
        <p:spPr>
          <a:xfrm>
            <a:off x="2011680" y="5376672"/>
            <a:ext cx="6812280" cy="201168"/>
          </a:xfrm>
          <a:prstGeom prst="rect">
            <a:avLst/>
          </a:prstGeom>
          <a:noFill/>
        </p:spPr>
        <p:txBody>
          <a:bodyPr wrap="square" lIns="27432" tIns="0" rIns="27432" bIns="0" anchor="t">
            <a:spAutoFit/>
          </a:bodyPr>
          <a:lstStyle/>
          <a:p>
            <a:pPr algn="l"/>
            <a:r>
              <a:rPr sz="700" b="0" i="1">
                <a:solidFill>
                  <a:srgbClr val="6B6965"/>
                </a:solidFill>
                <a:latin typeface="Calibri"/>
              </a:rPr>
              <a:t>Tree construction and impedance formulation after Olufsen, Ann Biomed Eng (1999, 2000).</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274320"/>
            <a:ext cx="8503920" cy="365760"/>
          </a:xfrm>
          <a:prstGeom prst="rect">
            <a:avLst/>
          </a:prstGeom>
          <a:noFill/>
        </p:spPr>
        <p:txBody>
          <a:bodyPr wrap="square" lIns="27432" tIns="0" rIns="27432" bIns="0" anchor="t">
            <a:spAutoFit/>
          </a:bodyPr>
          <a:lstStyle/>
          <a:p>
            <a:pPr algn="l"/>
            <a:r>
              <a:rPr sz="2400" b="0" i="0">
                <a:solidFill>
                  <a:srgbClr val="8C1515"/>
                </a:solidFill>
                <a:latin typeface="Georgia"/>
              </a:rPr>
              <a:t>The pipeline</a:t>
            </a:r>
          </a:p>
        </p:txBody>
      </p:sp>
      <p:sp>
        <p:nvSpPr>
          <p:cNvPr id="4" name="Rectangle 3"/>
          <p:cNvSpPr/>
          <p:nvPr/>
        </p:nvSpPr>
        <p:spPr>
          <a:xfrm>
            <a:off x="320040" y="1133856"/>
            <a:ext cx="1161288" cy="178308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Rectangle 4"/>
          <p:cNvSpPr/>
          <p:nvPr/>
        </p:nvSpPr>
        <p:spPr>
          <a:xfrm>
            <a:off x="320040" y="1133856"/>
            <a:ext cx="1161288" cy="274320"/>
          </a:xfrm>
          <a:prstGeom prst="rect">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374904" y="1133856"/>
            <a:ext cx="1051560" cy="274320"/>
          </a:xfrm>
          <a:prstGeom prst="rect">
            <a:avLst/>
          </a:prstGeom>
          <a:noFill/>
        </p:spPr>
        <p:txBody>
          <a:bodyPr wrap="square" lIns="27432" tIns="0" rIns="27432" bIns="0" anchor="ctr">
            <a:spAutoFit/>
          </a:bodyPr>
          <a:lstStyle/>
          <a:p>
            <a:pPr algn="l"/>
            <a:r>
              <a:rPr sz="800" b="1" i="0">
                <a:solidFill>
                  <a:srgbClr val="FFFFFF"/>
                </a:solidFill>
                <a:latin typeface="Calibri"/>
              </a:rPr>
              <a:t>1</a:t>
            </a:r>
          </a:p>
        </p:txBody>
      </p:sp>
      <p:sp>
        <p:nvSpPr>
          <p:cNvPr id="7" name="TextBox 6"/>
          <p:cNvSpPr txBox="1"/>
          <p:nvPr/>
        </p:nvSpPr>
        <p:spPr>
          <a:xfrm>
            <a:off x="320040" y="1133856"/>
            <a:ext cx="1161288" cy="274320"/>
          </a:xfrm>
          <a:prstGeom prst="rect">
            <a:avLst/>
          </a:prstGeom>
          <a:noFill/>
        </p:spPr>
        <p:txBody>
          <a:bodyPr wrap="square" lIns="27432" tIns="0" rIns="27432" bIns="0" anchor="ctr">
            <a:spAutoFit/>
          </a:bodyPr>
          <a:lstStyle/>
          <a:p>
            <a:pPr algn="ctr"/>
            <a:r>
              <a:rPr sz="850" b="1" i="0">
                <a:solidFill>
                  <a:srgbClr val="FFFFFF"/>
                </a:solidFill>
                <a:latin typeface="Calibri"/>
              </a:rPr>
              <a:t>Inputs</a:t>
            </a:r>
          </a:p>
        </p:txBody>
      </p:sp>
      <p:sp>
        <p:nvSpPr>
          <p:cNvPr id="8" name="TextBox 7"/>
          <p:cNvSpPr txBox="1"/>
          <p:nvPr/>
        </p:nvSpPr>
        <p:spPr>
          <a:xfrm>
            <a:off x="393192" y="1499616"/>
            <a:ext cx="1014984" cy="822960"/>
          </a:xfrm>
          <a:prstGeom prst="rect">
            <a:avLst/>
          </a:prstGeom>
          <a:noFill/>
        </p:spPr>
        <p:txBody>
          <a:bodyPr wrap="square" lIns="27432" tIns="0" rIns="27432" bIns="0" anchor="t">
            <a:spAutoFit/>
          </a:bodyPr>
          <a:lstStyle/>
          <a:p>
            <a:pPr algn="ctr">
              <a:lnSpc>
                <a:spcPct val="110000"/>
              </a:lnSpc>
            </a:pPr>
            <a:r>
              <a:rPr sz="750" b="0" i="0">
                <a:solidFill>
                  <a:srgbClr val="2E2D29"/>
                </a:solidFill>
                <a:latin typeface="Calibri"/>
              </a:rPr>
              <a:t>Imaging, segmentation,</a:t>
            </a:r>
          </a:p>
          <a:p>
            <a:pPr algn="ctr">
              <a:lnSpc>
                <a:spcPct val="110000"/>
              </a:lnSpc>
            </a:pPr>
            <a:r>
              <a:rPr sz="750" b="0" i="0">
                <a:solidFill>
                  <a:srgbClr val="2E2D29"/>
                </a:solidFill>
                <a:latin typeface="Calibri"/>
              </a:rPr>
              <a:t>clinical targets, inflow</a:t>
            </a:r>
          </a:p>
        </p:txBody>
      </p:sp>
      <p:sp>
        <p:nvSpPr>
          <p:cNvPr id="9" name="Rectangle 8"/>
          <p:cNvSpPr/>
          <p:nvPr/>
        </p:nvSpPr>
        <p:spPr>
          <a:xfrm>
            <a:off x="420623" y="2642616"/>
            <a:ext cx="960120" cy="164592"/>
          </a:xfrm>
          <a:prstGeom prst="rect">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420623" y="2642616"/>
            <a:ext cx="960120" cy="164592"/>
          </a:xfrm>
          <a:prstGeom prst="rect">
            <a:avLst/>
          </a:prstGeom>
          <a:noFill/>
        </p:spPr>
        <p:txBody>
          <a:bodyPr wrap="square" lIns="18288" tIns="0" rIns="18288" bIns="0" anchor="ctr">
            <a:spAutoFit/>
          </a:bodyPr>
          <a:lstStyle/>
          <a:p>
            <a:pPr algn="ctr"/>
            <a:r>
              <a:rPr sz="550" b="1">
                <a:solidFill>
                  <a:srgbClr val="FFFFFF"/>
                </a:solidFill>
                <a:latin typeface="Calibri"/>
              </a:rPr>
              <a:t>VALIDATED</a:t>
            </a:r>
          </a:p>
        </p:txBody>
      </p:sp>
      <p:sp>
        <p:nvSpPr>
          <p:cNvPr id="11" name="Right Arrow 10"/>
          <p:cNvSpPr/>
          <p:nvPr/>
        </p:nvSpPr>
        <p:spPr>
          <a:xfrm>
            <a:off x="1485900" y="1975104"/>
            <a:ext cx="59436" cy="128016"/>
          </a:xfrm>
          <a:prstGeom prst="rightArrow">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549907" y="1133856"/>
            <a:ext cx="1161288" cy="178308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1549907" y="1133856"/>
            <a:ext cx="1161288" cy="274320"/>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1604772" y="1133856"/>
            <a:ext cx="1051560" cy="274320"/>
          </a:xfrm>
          <a:prstGeom prst="rect">
            <a:avLst/>
          </a:prstGeom>
          <a:noFill/>
        </p:spPr>
        <p:txBody>
          <a:bodyPr wrap="square" lIns="27432" tIns="0" rIns="27432" bIns="0" anchor="ctr">
            <a:spAutoFit/>
          </a:bodyPr>
          <a:lstStyle/>
          <a:p>
            <a:pPr algn="l"/>
            <a:r>
              <a:rPr sz="800" b="1" i="0">
                <a:solidFill>
                  <a:srgbClr val="FFFFFF"/>
                </a:solidFill>
                <a:latin typeface="Calibri"/>
              </a:rPr>
              <a:t>2</a:t>
            </a:r>
          </a:p>
        </p:txBody>
      </p:sp>
      <p:sp>
        <p:nvSpPr>
          <p:cNvPr id="15" name="TextBox 14"/>
          <p:cNvSpPr txBox="1"/>
          <p:nvPr/>
        </p:nvSpPr>
        <p:spPr>
          <a:xfrm>
            <a:off x="1549907" y="1133856"/>
            <a:ext cx="1161288" cy="274320"/>
          </a:xfrm>
          <a:prstGeom prst="rect">
            <a:avLst/>
          </a:prstGeom>
          <a:noFill/>
        </p:spPr>
        <p:txBody>
          <a:bodyPr wrap="square" lIns="27432" tIns="0" rIns="27432" bIns="0" anchor="ctr">
            <a:spAutoFit/>
          </a:bodyPr>
          <a:lstStyle/>
          <a:p>
            <a:pPr algn="ctr"/>
            <a:r>
              <a:rPr sz="850" b="1" i="0">
                <a:solidFill>
                  <a:srgbClr val="FFFFFF"/>
                </a:solidFill>
                <a:latin typeface="Calibri"/>
              </a:rPr>
              <a:t>BC Tuning</a:t>
            </a:r>
          </a:p>
        </p:txBody>
      </p:sp>
      <p:sp>
        <p:nvSpPr>
          <p:cNvPr id="16" name="TextBox 15"/>
          <p:cNvSpPr txBox="1"/>
          <p:nvPr/>
        </p:nvSpPr>
        <p:spPr>
          <a:xfrm>
            <a:off x="1623060" y="1499616"/>
            <a:ext cx="1014984" cy="822960"/>
          </a:xfrm>
          <a:prstGeom prst="rect">
            <a:avLst/>
          </a:prstGeom>
          <a:noFill/>
        </p:spPr>
        <p:txBody>
          <a:bodyPr wrap="square" lIns="27432" tIns="0" rIns="27432" bIns="0" anchor="t">
            <a:spAutoFit/>
          </a:bodyPr>
          <a:lstStyle/>
          <a:p>
            <a:pPr algn="ctr">
              <a:lnSpc>
                <a:spcPct val="110000"/>
              </a:lnSpc>
            </a:pPr>
            <a:r>
              <a:rPr sz="750" b="0" i="0">
                <a:solidFill>
                  <a:srgbClr val="2E2D29"/>
                </a:solidFill>
                <a:latin typeface="Calibri"/>
              </a:rPr>
              <a:t>Structured-tree BCs fit</a:t>
            </a:r>
          </a:p>
          <a:p>
            <a:pPr algn="ctr">
              <a:lnSpc>
                <a:spcPct val="110000"/>
              </a:lnSpc>
            </a:pPr>
            <a:r>
              <a:rPr sz="750" b="0" i="0">
                <a:solidFill>
                  <a:srgbClr val="2E2D29"/>
                </a:solidFill>
                <a:latin typeface="Calibri"/>
              </a:rPr>
              <a:t>to catheter + LPS targets</a:t>
            </a:r>
          </a:p>
        </p:txBody>
      </p:sp>
      <p:sp>
        <p:nvSpPr>
          <p:cNvPr id="17" name="Rectangle 16"/>
          <p:cNvSpPr/>
          <p:nvPr/>
        </p:nvSpPr>
        <p:spPr>
          <a:xfrm>
            <a:off x="1650491" y="2642616"/>
            <a:ext cx="960120" cy="164592"/>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1650491" y="2642616"/>
            <a:ext cx="960120" cy="164592"/>
          </a:xfrm>
          <a:prstGeom prst="rect">
            <a:avLst/>
          </a:prstGeom>
          <a:noFill/>
        </p:spPr>
        <p:txBody>
          <a:bodyPr wrap="square" lIns="18288" tIns="0" rIns="18288" bIns="0" anchor="ctr">
            <a:spAutoFit/>
          </a:bodyPr>
          <a:lstStyle/>
          <a:p>
            <a:pPr algn="ctr"/>
            <a:r>
              <a:rPr sz="550" b="1">
                <a:solidFill>
                  <a:srgbClr val="FFFFFF"/>
                </a:solidFill>
                <a:latin typeface="Calibri"/>
              </a:rPr>
              <a:t>IN DEVELOPMENT</a:t>
            </a:r>
          </a:p>
        </p:txBody>
      </p:sp>
      <p:sp>
        <p:nvSpPr>
          <p:cNvPr id="19" name="Right Arrow 18"/>
          <p:cNvSpPr/>
          <p:nvPr/>
        </p:nvSpPr>
        <p:spPr>
          <a:xfrm>
            <a:off x="2715768" y="1975104"/>
            <a:ext cx="59436" cy="128016"/>
          </a:xfrm>
          <a:prstGeom prst="rightArrow">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2779776" y="1133856"/>
            <a:ext cx="1161288" cy="178308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2779776" y="1133856"/>
            <a:ext cx="1161288" cy="274320"/>
          </a:xfrm>
          <a:prstGeom prst="rect">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2834640" y="1133856"/>
            <a:ext cx="1051560" cy="274320"/>
          </a:xfrm>
          <a:prstGeom prst="rect">
            <a:avLst/>
          </a:prstGeom>
          <a:noFill/>
        </p:spPr>
        <p:txBody>
          <a:bodyPr wrap="square" lIns="27432" tIns="0" rIns="27432" bIns="0" anchor="ctr">
            <a:spAutoFit/>
          </a:bodyPr>
          <a:lstStyle/>
          <a:p>
            <a:pPr algn="l"/>
            <a:r>
              <a:rPr sz="800" b="1" i="0">
                <a:solidFill>
                  <a:srgbClr val="FFFFFF"/>
                </a:solidFill>
                <a:latin typeface="Calibri"/>
              </a:rPr>
              <a:t>3</a:t>
            </a:r>
          </a:p>
        </p:txBody>
      </p:sp>
      <p:sp>
        <p:nvSpPr>
          <p:cNvPr id="23" name="TextBox 22"/>
          <p:cNvSpPr txBox="1"/>
          <p:nvPr/>
        </p:nvSpPr>
        <p:spPr>
          <a:xfrm>
            <a:off x="2779776" y="1133856"/>
            <a:ext cx="1161288" cy="274320"/>
          </a:xfrm>
          <a:prstGeom prst="rect">
            <a:avLst/>
          </a:prstGeom>
          <a:noFill/>
        </p:spPr>
        <p:txBody>
          <a:bodyPr wrap="square" lIns="27432" tIns="0" rIns="27432" bIns="0" anchor="ctr">
            <a:spAutoFit/>
          </a:bodyPr>
          <a:lstStyle/>
          <a:p>
            <a:pPr algn="ctr"/>
            <a:r>
              <a:rPr sz="850" b="1" i="0">
                <a:solidFill>
                  <a:srgbClr val="FFFFFF"/>
                </a:solidFill>
                <a:latin typeface="Calibri"/>
              </a:rPr>
              <a:t>Pre-op Sim</a:t>
            </a:r>
          </a:p>
        </p:txBody>
      </p:sp>
      <p:sp>
        <p:nvSpPr>
          <p:cNvPr id="24" name="TextBox 23"/>
          <p:cNvSpPr txBox="1"/>
          <p:nvPr/>
        </p:nvSpPr>
        <p:spPr>
          <a:xfrm>
            <a:off x="2852928" y="1499616"/>
            <a:ext cx="1014984" cy="822960"/>
          </a:xfrm>
          <a:prstGeom prst="rect">
            <a:avLst/>
          </a:prstGeom>
          <a:noFill/>
        </p:spPr>
        <p:txBody>
          <a:bodyPr wrap="square" lIns="27432" tIns="0" rIns="27432" bIns="0" anchor="t">
            <a:spAutoFit/>
          </a:bodyPr>
          <a:lstStyle/>
          <a:p>
            <a:pPr algn="ctr">
              <a:lnSpc>
                <a:spcPct val="110000"/>
              </a:lnSpc>
            </a:pPr>
            <a:r>
              <a:rPr sz="750" b="0" i="0">
                <a:solidFill>
                  <a:srgbClr val="2E2D29"/>
                </a:solidFill>
                <a:latin typeface="Calibri"/>
              </a:rPr>
              <a:t>svMultiPhysics CMM</a:t>
            </a:r>
          </a:p>
          <a:p>
            <a:pPr algn="ctr">
              <a:lnSpc>
                <a:spcPct val="110000"/>
              </a:lnSpc>
            </a:pPr>
            <a:r>
              <a:rPr sz="750" b="0" i="0">
                <a:solidFill>
                  <a:srgbClr val="2E2D29"/>
                </a:solidFill>
                <a:latin typeface="Calibri"/>
              </a:rPr>
              <a:t>deformable-wall 3D CFD</a:t>
            </a:r>
          </a:p>
        </p:txBody>
      </p:sp>
      <p:sp>
        <p:nvSpPr>
          <p:cNvPr id="25" name="Rectangle 24"/>
          <p:cNvSpPr/>
          <p:nvPr/>
        </p:nvSpPr>
        <p:spPr>
          <a:xfrm>
            <a:off x="2880360" y="2642616"/>
            <a:ext cx="960120" cy="164592"/>
          </a:xfrm>
          <a:prstGeom prst="rect">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2880360" y="2642616"/>
            <a:ext cx="960120" cy="164592"/>
          </a:xfrm>
          <a:prstGeom prst="rect">
            <a:avLst/>
          </a:prstGeom>
          <a:noFill/>
        </p:spPr>
        <p:txBody>
          <a:bodyPr wrap="square" lIns="18288" tIns="0" rIns="18288" bIns="0" anchor="ctr">
            <a:spAutoFit/>
          </a:bodyPr>
          <a:lstStyle/>
          <a:p>
            <a:pPr algn="ctr"/>
            <a:r>
              <a:rPr sz="550" b="1">
                <a:solidFill>
                  <a:srgbClr val="FFFFFF"/>
                </a:solidFill>
                <a:latin typeface="Calibri"/>
              </a:rPr>
              <a:t>VALIDATED</a:t>
            </a:r>
          </a:p>
        </p:txBody>
      </p:sp>
      <p:sp>
        <p:nvSpPr>
          <p:cNvPr id="27" name="Right Arrow 26"/>
          <p:cNvSpPr/>
          <p:nvPr/>
        </p:nvSpPr>
        <p:spPr>
          <a:xfrm>
            <a:off x="3945636" y="1975104"/>
            <a:ext cx="59436" cy="128016"/>
          </a:xfrm>
          <a:prstGeom prst="rightArrow">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4009644" y="1133856"/>
            <a:ext cx="1161288" cy="178308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p:cNvSpPr/>
          <p:nvPr/>
        </p:nvSpPr>
        <p:spPr>
          <a:xfrm>
            <a:off x="4009644" y="1133856"/>
            <a:ext cx="1161288" cy="274320"/>
          </a:xfrm>
          <a:prstGeom prst="rect">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4064507" y="1133856"/>
            <a:ext cx="1051560" cy="274320"/>
          </a:xfrm>
          <a:prstGeom prst="rect">
            <a:avLst/>
          </a:prstGeom>
          <a:noFill/>
        </p:spPr>
        <p:txBody>
          <a:bodyPr wrap="square" lIns="27432" tIns="0" rIns="27432" bIns="0" anchor="ctr">
            <a:spAutoFit/>
          </a:bodyPr>
          <a:lstStyle/>
          <a:p>
            <a:pPr algn="l"/>
            <a:r>
              <a:rPr sz="800" b="1" i="0">
                <a:solidFill>
                  <a:srgbClr val="FFFFFF"/>
                </a:solidFill>
                <a:latin typeface="Calibri"/>
              </a:rPr>
              <a:t>4</a:t>
            </a:r>
          </a:p>
        </p:txBody>
      </p:sp>
      <p:sp>
        <p:nvSpPr>
          <p:cNvPr id="31" name="TextBox 30"/>
          <p:cNvSpPr txBox="1"/>
          <p:nvPr/>
        </p:nvSpPr>
        <p:spPr>
          <a:xfrm>
            <a:off x="4009644" y="1133856"/>
            <a:ext cx="1161288" cy="274320"/>
          </a:xfrm>
          <a:prstGeom prst="rect">
            <a:avLst/>
          </a:prstGeom>
          <a:noFill/>
        </p:spPr>
        <p:txBody>
          <a:bodyPr wrap="square" lIns="27432" tIns="0" rIns="27432" bIns="0" anchor="ctr">
            <a:spAutoFit/>
          </a:bodyPr>
          <a:lstStyle/>
          <a:p>
            <a:pPr algn="ctr"/>
            <a:r>
              <a:rPr sz="850" b="1" i="0">
                <a:solidFill>
                  <a:srgbClr val="FFFFFF"/>
                </a:solidFill>
                <a:latin typeface="Calibri"/>
              </a:rPr>
              <a:t>Post-op Sim</a:t>
            </a:r>
          </a:p>
        </p:txBody>
      </p:sp>
      <p:sp>
        <p:nvSpPr>
          <p:cNvPr id="32" name="TextBox 31"/>
          <p:cNvSpPr txBox="1"/>
          <p:nvPr/>
        </p:nvSpPr>
        <p:spPr>
          <a:xfrm>
            <a:off x="4082796" y="1499616"/>
            <a:ext cx="1014984" cy="822960"/>
          </a:xfrm>
          <a:prstGeom prst="rect">
            <a:avLst/>
          </a:prstGeom>
          <a:noFill/>
        </p:spPr>
        <p:txBody>
          <a:bodyPr wrap="square" lIns="27432" tIns="0" rIns="27432" bIns="0" anchor="t">
            <a:spAutoFit/>
          </a:bodyPr>
          <a:lstStyle/>
          <a:p>
            <a:pPr algn="ctr">
              <a:lnSpc>
                <a:spcPct val="110000"/>
              </a:lnSpc>
            </a:pPr>
            <a:r>
              <a:rPr sz="750" b="0" i="0">
                <a:solidFill>
                  <a:srgbClr val="2E2D29"/>
                </a:solidFill>
                <a:latin typeface="Calibri"/>
              </a:rPr>
              <a:t>SDF virtual stenting,</a:t>
            </a:r>
          </a:p>
          <a:p>
            <a:pPr algn="ctr">
              <a:lnSpc>
                <a:spcPct val="110000"/>
              </a:lnSpc>
            </a:pPr>
            <a:r>
              <a:rPr sz="750" b="0" i="0">
                <a:solidFill>
                  <a:srgbClr val="2E2D29"/>
                </a:solidFill>
                <a:latin typeface="Calibri"/>
              </a:rPr>
              <a:t>pre-op BCs retained</a:t>
            </a:r>
          </a:p>
        </p:txBody>
      </p:sp>
      <p:sp>
        <p:nvSpPr>
          <p:cNvPr id="33" name="Rectangle 32"/>
          <p:cNvSpPr/>
          <p:nvPr/>
        </p:nvSpPr>
        <p:spPr>
          <a:xfrm>
            <a:off x="4110228" y="2642616"/>
            <a:ext cx="960120" cy="164592"/>
          </a:xfrm>
          <a:prstGeom prst="rect">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Box 33"/>
          <p:cNvSpPr txBox="1"/>
          <p:nvPr/>
        </p:nvSpPr>
        <p:spPr>
          <a:xfrm>
            <a:off x="4110228" y="2642616"/>
            <a:ext cx="960120" cy="164592"/>
          </a:xfrm>
          <a:prstGeom prst="rect">
            <a:avLst/>
          </a:prstGeom>
          <a:noFill/>
        </p:spPr>
        <p:txBody>
          <a:bodyPr wrap="square" lIns="18288" tIns="0" rIns="18288" bIns="0" anchor="ctr">
            <a:spAutoFit/>
          </a:bodyPr>
          <a:lstStyle/>
          <a:p>
            <a:pPr algn="ctr"/>
            <a:r>
              <a:rPr sz="550" b="1">
                <a:solidFill>
                  <a:srgbClr val="FFFFFF"/>
                </a:solidFill>
                <a:latin typeface="Calibri"/>
              </a:rPr>
              <a:t>VALIDATED</a:t>
            </a:r>
          </a:p>
        </p:txBody>
      </p:sp>
      <p:sp>
        <p:nvSpPr>
          <p:cNvPr id="35" name="Right Arrow 34"/>
          <p:cNvSpPr/>
          <p:nvPr/>
        </p:nvSpPr>
        <p:spPr>
          <a:xfrm>
            <a:off x="5175503" y="1975104"/>
            <a:ext cx="59436" cy="128016"/>
          </a:xfrm>
          <a:prstGeom prst="rightArrow">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5239512" y="1133856"/>
            <a:ext cx="1161288" cy="178308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Rectangle 36"/>
          <p:cNvSpPr/>
          <p:nvPr/>
        </p:nvSpPr>
        <p:spPr>
          <a:xfrm>
            <a:off x="5239512" y="1133856"/>
            <a:ext cx="1161288" cy="274320"/>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5294375" y="1133856"/>
            <a:ext cx="1051560" cy="274320"/>
          </a:xfrm>
          <a:prstGeom prst="rect">
            <a:avLst/>
          </a:prstGeom>
          <a:noFill/>
        </p:spPr>
        <p:txBody>
          <a:bodyPr wrap="square" lIns="27432" tIns="0" rIns="27432" bIns="0" anchor="ctr">
            <a:spAutoFit/>
          </a:bodyPr>
          <a:lstStyle/>
          <a:p>
            <a:pPr algn="l"/>
            <a:r>
              <a:rPr sz="800" b="1" i="0">
                <a:solidFill>
                  <a:srgbClr val="FFFFFF"/>
                </a:solidFill>
                <a:latin typeface="Calibri"/>
              </a:rPr>
              <a:t>5</a:t>
            </a:r>
          </a:p>
        </p:txBody>
      </p:sp>
      <p:sp>
        <p:nvSpPr>
          <p:cNvPr id="39" name="TextBox 38"/>
          <p:cNvSpPr txBox="1"/>
          <p:nvPr/>
        </p:nvSpPr>
        <p:spPr>
          <a:xfrm>
            <a:off x="5239512" y="1133856"/>
            <a:ext cx="1161288" cy="274320"/>
          </a:xfrm>
          <a:prstGeom prst="rect">
            <a:avLst/>
          </a:prstGeom>
          <a:noFill/>
        </p:spPr>
        <p:txBody>
          <a:bodyPr wrap="square" lIns="27432" tIns="0" rIns="27432" bIns="0" anchor="ctr">
            <a:spAutoFit/>
          </a:bodyPr>
          <a:lstStyle/>
          <a:p>
            <a:pPr algn="ctr"/>
            <a:r>
              <a:rPr sz="850" b="1" i="0">
                <a:solidFill>
                  <a:srgbClr val="FFFFFF"/>
                </a:solidFill>
                <a:latin typeface="Calibri"/>
              </a:rPr>
              <a:t>Adaptation</a:t>
            </a:r>
          </a:p>
        </p:txBody>
      </p:sp>
      <p:sp>
        <p:nvSpPr>
          <p:cNvPr id="40" name="TextBox 39"/>
          <p:cNvSpPr txBox="1"/>
          <p:nvPr/>
        </p:nvSpPr>
        <p:spPr>
          <a:xfrm>
            <a:off x="5312664" y="1499616"/>
            <a:ext cx="1014984" cy="822960"/>
          </a:xfrm>
          <a:prstGeom prst="rect">
            <a:avLst/>
          </a:prstGeom>
          <a:noFill/>
        </p:spPr>
        <p:txBody>
          <a:bodyPr wrap="square" lIns="27432" tIns="0" rIns="27432" bIns="0" anchor="t">
            <a:spAutoFit/>
          </a:bodyPr>
          <a:lstStyle/>
          <a:p>
            <a:pPr algn="ctr">
              <a:lnSpc>
                <a:spcPct val="110000"/>
              </a:lnSpc>
            </a:pPr>
            <a:r>
              <a:rPr sz="750" b="0" i="0">
                <a:solidFill>
                  <a:srgbClr val="2E2D29"/>
                </a:solidFill>
                <a:latin typeface="Calibri"/>
              </a:rPr>
              <a:t>CWSS-IMS integration</a:t>
            </a:r>
          </a:p>
          <a:p>
            <a:pPr algn="ctr">
              <a:lnSpc>
                <a:spcPct val="110000"/>
              </a:lnSpc>
            </a:pPr>
            <a:r>
              <a:rPr sz="750" b="0" i="0">
                <a:solidFill>
                  <a:srgbClr val="2E2D29"/>
                </a:solidFill>
                <a:latin typeface="Calibri"/>
              </a:rPr>
              <a:t>of the microvascular trees</a:t>
            </a:r>
          </a:p>
        </p:txBody>
      </p:sp>
      <p:sp>
        <p:nvSpPr>
          <p:cNvPr id="41" name="Rectangle 40"/>
          <p:cNvSpPr/>
          <p:nvPr/>
        </p:nvSpPr>
        <p:spPr>
          <a:xfrm>
            <a:off x="5340096" y="2642616"/>
            <a:ext cx="960120" cy="164592"/>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5340096" y="2642616"/>
            <a:ext cx="960120" cy="164592"/>
          </a:xfrm>
          <a:prstGeom prst="rect">
            <a:avLst/>
          </a:prstGeom>
          <a:noFill/>
        </p:spPr>
        <p:txBody>
          <a:bodyPr wrap="square" lIns="18288" tIns="0" rIns="18288" bIns="0" anchor="ctr">
            <a:spAutoFit/>
          </a:bodyPr>
          <a:lstStyle/>
          <a:p>
            <a:pPr algn="ctr"/>
            <a:r>
              <a:rPr sz="550" b="1">
                <a:solidFill>
                  <a:srgbClr val="FFFFFF"/>
                </a:solidFill>
                <a:latin typeface="Calibri"/>
              </a:rPr>
              <a:t>IN DEVELOPMENT</a:t>
            </a:r>
          </a:p>
        </p:txBody>
      </p:sp>
      <p:sp>
        <p:nvSpPr>
          <p:cNvPr id="43" name="Right Arrow 42"/>
          <p:cNvSpPr/>
          <p:nvPr/>
        </p:nvSpPr>
        <p:spPr>
          <a:xfrm>
            <a:off x="6405372" y="1975104"/>
            <a:ext cx="59436" cy="128016"/>
          </a:xfrm>
          <a:prstGeom prst="rightArrow">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6469379" y="1133856"/>
            <a:ext cx="1161288" cy="178308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Rectangle 44"/>
          <p:cNvSpPr/>
          <p:nvPr/>
        </p:nvSpPr>
        <p:spPr>
          <a:xfrm>
            <a:off x="6469379" y="1133856"/>
            <a:ext cx="1161288" cy="274320"/>
          </a:xfrm>
          <a:prstGeom prst="rect">
            <a:avLst/>
          </a:prstGeom>
          <a:solidFill>
            <a:srgbClr val="6B69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Box 45"/>
          <p:cNvSpPr txBox="1"/>
          <p:nvPr/>
        </p:nvSpPr>
        <p:spPr>
          <a:xfrm>
            <a:off x="6524243" y="1133856"/>
            <a:ext cx="1051560" cy="274320"/>
          </a:xfrm>
          <a:prstGeom prst="rect">
            <a:avLst/>
          </a:prstGeom>
          <a:noFill/>
        </p:spPr>
        <p:txBody>
          <a:bodyPr wrap="square" lIns="27432" tIns="0" rIns="27432" bIns="0" anchor="ctr">
            <a:spAutoFit/>
          </a:bodyPr>
          <a:lstStyle/>
          <a:p>
            <a:pPr algn="l"/>
            <a:r>
              <a:rPr sz="800" b="1" i="0">
                <a:solidFill>
                  <a:srgbClr val="FFFFFF"/>
                </a:solidFill>
                <a:latin typeface="Calibri"/>
              </a:rPr>
              <a:t>6</a:t>
            </a:r>
          </a:p>
        </p:txBody>
      </p:sp>
      <p:sp>
        <p:nvSpPr>
          <p:cNvPr id="47" name="TextBox 46"/>
          <p:cNvSpPr txBox="1"/>
          <p:nvPr/>
        </p:nvSpPr>
        <p:spPr>
          <a:xfrm>
            <a:off x="6469379" y="1133856"/>
            <a:ext cx="1161288" cy="274320"/>
          </a:xfrm>
          <a:prstGeom prst="rect">
            <a:avLst/>
          </a:prstGeom>
          <a:noFill/>
        </p:spPr>
        <p:txBody>
          <a:bodyPr wrap="square" lIns="27432" tIns="0" rIns="27432" bIns="0" anchor="ctr">
            <a:spAutoFit/>
          </a:bodyPr>
          <a:lstStyle/>
          <a:p>
            <a:pPr algn="ctr"/>
            <a:r>
              <a:rPr sz="850" b="1" i="0">
                <a:solidFill>
                  <a:srgbClr val="FFFFFF"/>
                </a:solidFill>
                <a:latin typeface="Calibri"/>
              </a:rPr>
              <a:t>Adapted Sim</a:t>
            </a:r>
          </a:p>
        </p:txBody>
      </p:sp>
      <p:sp>
        <p:nvSpPr>
          <p:cNvPr id="48" name="TextBox 47"/>
          <p:cNvSpPr txBox="1"/>
          <p:nvPr/>
        </p:nvSpPr>
        <p:spPr>
          <a:xfrm>
            <a:off x="6542531" y="1499616"/>
            <a:ext cx="1014984" cy="822960"/>
          </a:xfrm>
          <a:prstGeom prst="rect">
            <a:avLst/>
          </a:prstGeom>
          <a:noFill/>
        </p:spPr>
        <p:txBody>
          <a:bodyPr wrap="square" lIns="27432" tIns="0" rIns="27432" bIns="0" anchor="t">
            <a:spAutoFit/>
          </a:bodyPr>
          <a:lstStyle/>
          <a:p>
            <a:pPr algn="ctr">
              <a:lnSpc>
                <a:spcPct val="110000"/>
              </a:lnSpc>
            </a:pPr>
            <a:r>
              <a:rPr sz="750" b="0" i="0">
                <a:solidFill>
                  <a:srgbClr val="2E2D29"/>
                </a:solidFill>
                <a:latin typeface="Calibri"/>
              </a:rPr>
              <a:t>3D re-run with the</a:t>
            </a:r>
          </a:p>
          <a:p>
            <a:pPr algn="ctr">
              <a:lnSpc>
                <a:spcPct val="110000"/>
              </a:lnSpc>
            </a:pPr>
            <a:r>
              <a:rPr sz="750" b="0" i="0">
                <a:solidFill>
                  <a:srgbClr val="2E2D29"/>
                </a:solidFill>
                <a:latin typeface="Calibri"/>
              </a:rPr>
              <a:t>adapted tree impedances</a:t>
            </a:r>
          </a:p>
        </p:txBody>
      </p:sp>
      <p:sp>
        <p:nvSpPr>
          <p:cNvPr id="49" name="Rectangle 48"/>
          <p:cNvSpPr/>
          <p:nvPr/>
        </p:nvSpPr>
        <p:spPr>
          <a:xfrm>
            <a:off x="6569964" y="2642616"/>
            <a:ext cx="960120" cy="164592"/>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p:cNvSpPr txBox="1"/>
          <p:nvPr/>
        </p:nvSpPr>
        <p:spPr>
          <a:xfrm>
            <a:off x="6569964" y="2642616"/>
            <a:ext cx="960120" cy="164592"/>
          </a:xfrm>
          <a:prstGeom prst="rect">
            <a:avLst/>
          </a:prstGeom>
          <a:noFill/>
        </p:spPr>
        <p:txBody>
          <a:bodyPr wrap="square" lIns="18288" tIns="0" rIns="18288" bIns="0" anchor="ctr">
            <a:spAutoFit/>
          </a:bodyPr>
          <a:lstStyle/>
          <a:p>
            <a:pPr algn="ctr"/>
            <a:r>
              <a:rPr sz="550" b="1">
                <a:solidFill>
                  <a:srgbClr val="6B6965"/>
                </a:solidFill>
                <a:latin typeface="Calibri"/>
              </a:rPr>
              <a:t>PLANNED</a:t>
            </a:r>
          </a:p>
        </p:txBody>
      </p:sp>
      <p:sp>
        <p:nvSpPr>
          <p:cNvPr id="51" name="Right Arrow 50"/>
          <p:cNvSpPr/>
          <p:nvPr/>
        </p:nvSpPr>
        <p:spPr>
          <a:xfrm>
            <a:off x="7635240" y="1975104"/>
            <a:ext cx="59436" cy="128016"/>
          </a:xfrm>
          <a:prstGeom prst="rightArrow">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a:off x="7699248" y="1133856"/>
            <a:ext cx="1161288" cy="178308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Rectangle 52"/>
          <p:cNvSpPr/>
          <p:nvPr/>
        </p:nvSpPr>
        <p:spPr>
          <a:xfrm>
            <a:off x="7699248" y="1133856"/>
            <a:ext cx="1161288" cy="274320"/>
          </a:xfrm>
          <a:prstGeom prst="rect">
            <a:avLst/>
          </a:prstGeom>
          <a:solidFill>
            <a:srgbClr val="6B69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Box 53"/>
          <p:cNvSpPr txBox="1"/>
          <p:nvPr/>
        </p:nvSpPr>
        <p:spPr>
          <a:xfrm>
            <a:off x="7754112" y="1133856"/>
            <a:ext cx="1051560" cy="274320"/>
          </a:xfrm>
          <a:prstGeom prst="rect">
            <a:avLst/>
          </a:prstGeom>
          <a:noFill/>
        </p:spPr>
        <p:txBody>
          <a:bodyPr wrap="square" lIns="27432" tIns="0" rIns="27432" bIns="0" anchor="ctr">
            <a:spAutoFit/>
          </a:bodyPr>
          <a:lstStyle/>
          <a:p>
            <a:pPr algn="l"/>
            <a:r>
              <a:rPr sz="800" b="1" i="0">
                <a:solidFill>
                  <a:srgbClr val="FFFFFF"/>
                </a:solidFill>
                <a:latin typeface="Calibri"/>
              </a:rPr>
              <a:t>7</a:t>
            </a:r>
          </a:p>
        </p:txBody>
      </p:sp>
      <p:sp>
        <p:nvSpPr>
          <p:cNvPr id="55" name="TextBox 54"/>
          <p:cNvSpPr txBox="1"/>
          <p:nvPr/>
        </p:nvSpPr>
        <p:spPr>
          <a:xfrm>
            <a:off x="7699248" y="1133856"/>
            <a:ext cx="1161288" cy="274320"/>
          </a:xfrm>
          <a:prstGeom prst="rect">
            <a:avLst/>
          </a:prstGeom>
          <a:noFill/>
        </p:spPr>
        <p:txBody>
          <a:bodyPr wrap="square" lIns="27432" tIns="0" rIns="27432" bIns="0" anchor="ctr">
            <a:spAutoFit/>
          </a:bodyPr>
          <a:lstStyle/>
          <a:p>
            <a:pPr algn="ctr"/>
            <a:r>
              <a:rPr sz="850" b="1" i="0">
                <a:solidFill>
                  <a:srgbClr val="FFFFFF"/>
                </a:solidFill>
                <a:latin typeface="Calibri"/>
              </a:rPr>
              <a:t>Metrics</a:t>
            </a:r>
          </a:p>
        </p:txBody>
      </p:sp>
      <p:sp>
        <p:nvSpPr>
          <p:cNvPr id="56" name="TextBox 55"/>
          <p:cNvSpPr txBox="1"/>
          <p:nvPr/>
        </p:nvSpPr>
        <p:spPr>
          <a:xfrm>
            <a:off x="7772400" y="1499616"/>
            <a:ext cx="1014984" cy="822960"/>
          </a:xfrm>
          <a:prstGeom prst="rect">
            <a:avLst/>
          </a:prstGeom>
          <a:noFill/>
        </p:spPr>
        <p:txBody>
          <a:bodyPr wrap="square" lIns="27432" tIns="0" rIns="27432" bIns="0" anchor="t">
            <a:spAutoFit/>
          </a:bodyPr>
          <a:lstStyle/>
          <a:p>
            <a:pPr algn="ctr">
              <a:lnSpc>
                <a:spcPct val="110000"/>
              </a:lnSpc>
            </a:pPr>
            <a:r>
              <a:rPr sz="750" b="0" i="0">
                <a:solidFill>
                  <a:srgbClr val="2E2D29"/>
                </a:solidFill>
                <a:latin typeface="Calibri"/>
              </a:rPr>
              <a:t>Pressure, flow split, PVR,</a:t>
            </a:r>
          </a:p>
          <a:p>
            <a:pPr algn="ctr">
              <a:lnSpc>
                <a:spcPct val="110000"/>
              </a:lnSpc>
            </a:pPr>
            <a:r>
              <a:rPr sz="750" b="0" i="0">
                <a:solidFill>
                  <a:srgbClr val="2E2D29"/>
                </a:solidFill>
                <a:latin typeface="Calibri"/>
              </a:rPr>
              <a:t>WSS vs. measured post-op</a:t>
            </a:r>
          </a:p>
        </p:txBody>
      </p:sp>
      <p:sp>
        <p:nvSpPr>
          <p:cNvPr id="57" name="Rectangle 56"/>
          <p:cNvSpPr/>
          <p:nvPr/>
        </p:nvSpPr>
        <p:spPr>
          <a:xfrm>
            <a:off x="7799831" y="2642616"/>
            <a:ext cx="960120" cy="164592"/>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TextBox 57"/>
          <p:cNvSpPr txBox="1"/>
          <p:nvPr/>
        </p:nvSpPr>
        <p:spPr>
          <a:xfrm>
            <a:off x="7799831" y="2642616"/>
            <a:ext cx="960120" cy="164592"/>
          </a:xfrm>
          <a:prstGeom prst="rect">
            <a:avLst/>
          </a:prstGeom>
          <a:noFill/>
        </p:spPr>
        <p:txBody>
          <a:bodyPr wrap="square" lIns="18288" tIns="0" rIns="18288" bIns="0" anchor="ctr">
            <a:spAutoFit/>
          </a:bodyPr>
          <a:lstStyle/>
          <a:p>
            <a:pPr algn="ctr"/>
            <a:r>
              <a:rPr sz="550" b="1">
                <a:solidFill>
                  <a:srgbClr val="6B6965"/>
                </a:solidFill>
                <a:latin typeface="Calibri"/>
              </a:rPr>
              <a:t>PLANNED</a:t>
            </a:r>
          </a:p>
        </p:txBody>
      </p:sp>
      <p:sp>
        <p:nvSpPr>
          <p:cNvPr id="59" name="TextBox 58"/>
          <p:cNvSpPr txBox="1"/>
          <p:nvPr/>
        </p:nvSpPr>
        <p:spPr>
          <a:xfrm>
            <a:off x="320040" y="3054096"/>
            <a:ext cx="8503920" cy="219456"/>
          </a:xfrm>
          <a:prstGeom prst="rect">
            <a:avLst/>
          </a:prstGeom>
          <a:noFill/>
        </p:spPr>
        <p:txBody>
          <a:bodyPr wrap="square" lIns="27432" tIns="0" rIns="27432" bIns="0" anchor="t">
            <a:spAutoFit/>
          </a:bodyPr>
          <a:lstStyle/>
          <a:p>
            <a:pPr algn="l"/>
            <a:r>
              <a:rPr sz="1200" b="1" i="0">
                <a:solidFill>
                  <a:srgbClr val="8C1515"/>
                </a:solidFill>
                <a:latin typeface="Georgia"/>
              </a:rPr>
              <a:t>Two feedback loops sit inside the pipeline</a:t>
            </a:r>
          </a:p>
        </p:txBody>
      </p:sp>
      <p:sp>
        <p:nvSpPr>
          <p:cNvPr id="60" name="Rectangle 59"/>
          <p:cNvSpPr/>
          <p:nvPr/>
        </p:nvSpPr>
        <p:spPr>
          <a:xfrm>
            <a:off x="320040" y="3346704"/>
            <a:ext cx="4160520" cy="1060704"/>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Box 60"/>
          <p:cNvSpPr txBox="1"/>
          <p:nvPr/>
        </p:nvSpPr>
        <p:spPr>
          <a:xfrm>
            <a:off x="448056" y="3447288"/>
            <a:ext cx="3904487" cy="219456"/>
          </a:xfrm>
          <a:prstGeom prst="rect">
            <a:avLst/>
          </a:prstGeom>
          <a:noFill/>
        </p:spPr>
        <p:txBody>
          <a:bodyPr wrap="square" lIns="27432" tIns="0" rIns="27432" bIns="0" anchor="t">
            <a:spAutoFit/>
          </a:bodyPr>
          <a:lstStyle/>
          <a:p>
            <a:pPr algn="l"/>
            <a:r>
              <a:rPr sz="1100" b="1" i="0">
                <a:solidFill>
                  <a:srgbClr val="E98300"/>
                </a:solidFill>
                <a:latin typeface="Calibri"/>
              </a:rPr>
              <a:t>Inner loop  ·  Stage 2</a:t>
            </a:r>
          </a:p>
        </p:txBody>
      </p:sp>
      <p:sp>
        <p:nvSpPr>
          <p:cNvPr id="62" name="TextBox 61"/>
          <p:cNvSpPr txBox="1"/>
          <p:nvPr/>
        </p:nvSpPr>
        <p:spPr>
          <a:xfrm>
            <a:off x="448056" y="3721608"/>
            <a:ext cx="3904487" cy="649224"/>
          </a:xfrm>
          <a:prstGeom prst="rect">
            <a:avLst/>
          </a:prstGeom>
          <a:noFill/>
        </p:spPr>
        <p:txBody>
          <a:bodyPr wrap="square" lIns="27432" tIns="0" rIns="27432" bIns="0">
            <a:spAutoFit/>
          </a:bodyPr>
          <a:lstStyle/>
          <a:p>
            <a:pPr>
              <a:spcAft>
                <a:spcPts val="350"/>
              </a:spcAft>
            </a:pPr>
            <a:r>
              <a:rPr sz="900">
                <a:solidFill>
                  <a:srgbClr val="E98300"/>
                </a:solidFill>
                <a:latin typeface="Calibri"/>
              </a:rPr>
              <a:t>• </a:t>
            </a:r>
            <a:r>
              <a:rPr sz="900">
                <a:solidFill>
                  <a:srgbClr val="2E2D29"/>
                </a:solidFill>
                <a:latin typeface="Calibri"/>
              </a:rPr>
              <a:t>Tree parameters are tuned against clinical targets on the full branched 0D model (learnedZeroD seed, centerline-mapped outlet BCs)</a:t>
            </a:r>
          </a:p>
        </p:txBody>
      </p:sp>
      <p:sp>
        <p:nvSpPr>
          <p:cNvPr id="63" name="Rectangle 62"/>
          <p:cNvSpPr/>
          <p:nvPr/>
        </p:nvSpPr>
        <p:spPr>
          <a:xfrm>
            <a:off x="4663440" y="3346704"/>
            <a:ext cx="4160520" cy="1060704"/>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4" name="TextBox 63"/>
          <p:cNvSpPr txBox="1"/>
          <p:nvPr/>
        </p:nvSpPr>
        <p:spPr>
          <a:xfrm>
            <a:off x="4791455" y="3447288"/>
            <a:ext cx="3904487" cy="219456"/>
          </a:xfrm>
          <a:prstGeom prst="rect">
            <a:avLst/>
          </a:prstGeom>
          <a:noFill/>
        </p:spPr>
        <p:txBody>
          <a:bodyPr wrap="square" lIns="27432" tIns="0" rIns="27432" bIns="0" anchor="t">
            <a:spAutoFit/>
          </a:bodyPr>
          <a:lstStyle/>
          <a:p>
            <a:pPr algn="l"/>
            <a:r>
              <a:rPr sz="1100" b="1" i="0">
                <a:solidFill>
                  <a:srgbClr val="E98300"/>
                </a:solidFill>
                <a:latin typeface="Calibri"/>
              </a:rPr>
              <a:t>Outer loop  ·  Stages 2 ↔ 3</a:t>
            </a:r>
          </a:p>
        </p:txBody>
      </p:sp>
      <p:sp>
        <p:nvSpPr>
          <p:cNvPr id="65" name="TextBox 64"/>
          <p:cNvSpPr txBox="1"/>
          <p:nvPr/>
        </p:nvSpPr>
        <p:spPr>
          <a:xfrm>
            <a:off x="4791455" y="3721608"/>
            <a:ext cx="3904487" cy="649224"/>
          </a:xfrm>
          <a:prstGeom prst="rect">
            <a:avLst/>
          </a:prstGeom>
          <a:noFill/>
        </p:spPr>
        <p:txBody>
          <a:bodyPr wrap="square" lIns="27432" tIns="0" rIns="27432" bIns="0">
            <a:spAutoFit/>
          </a:bodyPr>
          <a:lstStyle/>
          <a:p>
            <a:pPr>
              <a:spcAft>
                <a:spcPts val="350"/>
              </a:spcAft>
            </a:pPr>
            <a:r>
              <a:rPr sz="900">
                <a:solidFill>
                  <a:srgbClr val="E98300"/>
                </a:solidFill>
                <a:latin typeface="Calibri"/>
              </a:rPr>
              <a:t>• </a:t>
            </a:r>
            <a:r>
              <a:rPr sz="900">
                <a:solidFill>
                  <a:srgbClr val="2E2D29"/>
                </a:solidFill>
                <a:latin typeface="Calibri"/>
              </a:rPr>
              <a:t>svZeroDCalibrator refits the full 0D model to the 3D CFD result; the calibrated model seeds the next tuning iteration</a:t>
            </a:r>
          </a:p>
        </p:txBody>
      </p:sp>
      <p:sp>
        <p:nvSpPr>
          <p:cNvPr id="66" name="TextBox 65"/>
          <p:cNvSpPr txBox="1"/>
          <p:nvPr/>
        </p:nvSpPr>
        <p:spPr>
          <a:xfrm>
            <a:off x="320040" y="4425696"/>
            <a:ext cx="914400" cy="201168"/>
          </a:xfrm>
          <a:prstGeom prst="rect">
            <a:avLst/>
          </a:prstGeom>
          <a:noFill/>
        </p:spPr>
        <p:txBody>
          <a:bodyPr wrap="square" lIns="27432" tIns="0" rIns="27432" bIns="0" anchor="t">
            <a:spAutoFit/>
          </a:bodyPr>
          <a:lstStyle/>
          <a:p>
            <a:pPr algn="l"/>
            <a:r>
              <a:rPr sz="900" b="1" i="0">
                <a:solidFill>
                  <a:srgbClr val="2E2D29"/>
                </a:solidFill>
                <a:latin typeface="Calibri"/>
              </a:rPr>
              <a:t>Status key</a:t>
            </a:r>
          </a:p>
        </p:txBody>
      </p:sp>
      <p:sp>
        <p:nvSpPr>
          <p:cNvPr id="67" name="Rectangle 66"/>
          <p:cNvSpPr/>
          <p:nvPr/>
        </p:nvSpPr>
        <p:spPr>
          <a:xfrm>
            <a:off x="320040" y="4663440"/>
            <a:ext cx="1078992" cy="164592"/>
          </a:xfrm>
          <a:prstGeom prst="rect">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TextBox 67"/>
          <p:cNvSpPr txBox="1"/>
          <p:nvPr/>
        </p:nvSpPr>
        <p:spPr>
          <a:xfrm>
            <a:off x="320040" y="4663440"/>
            <a:ext cx="1078992" cy="164592"/>
          </a:xfrm>
          <a:prstGeom prst="rect">
            <a:avLst/>
          </a:prstGeom>
          <a:noFill/>
        </p:spPr>
        <p:txBody>
          <a:bodyPr wrap="square" lIns="18288" tIns="0" rIns="18288" bIns="0" anchor="ctr">
            <a:spAutoFit/>
          </a:bodyPr>
          <a:lstStyle/>
          <a:p>
            <a:pPr algn="ctr"/>
            <a:r>
              <a:rPr sz="550" b="1">
                <a:solidFill>
                  <a:srgbClr val="FFFFFF"/>
                </a:solidFill>
                <a:latin typeface="Calibri"/>
              </a:rPr>
              <a:t>VALIDATED</a:t>
            </a:r>
          </a:p>
        </p:txBody>
      </p:sp>
      <p:sp>
        <p:nvSpPr>
          <p:cNvPr id="69" name="TextBox 68"/>
          <p:cNvSpPr txBox="1"/>
          <p:nvPr/>
        </p:nvSpPr>
        <p:spPr>
          <a:xfrm>
            <a:off x="1508760" y="4663440"/>
            <a:ext cx="6858000" cy="164592"/>
          </a:xfrm>
          <a:prstGeom prst="rect">
            <a:avLst/>
          </a:prstGeom>
          <a:noFill/>
        </p:spPr>
        <p:txBody>
          <a:bodyPr wrap="square" lIns="27432" tIns="0" rIns="27432" bIns="0" anchor="ctr">
            <a:spAutoFit/>
          </a:bodyPr>
          <a:lstStyle/>
          <a:p>
            <a:pPr algn="l"/>
            <a:r>
              <a:rPr sz="850" b="0" i="0">
                <a:solidFill>
                  <a:srgbClr val="6B6965"/>
                </a:solidFill>
                <a:latin typeface="Calibri"/>
              </a:rPr>
              <a:t>established, in use across the cohort</a:t>
            </a:r>
          </a:p>
        </p:txBody>
      </p:sp>
      <p:sp>
        <p:nvSpPr>
          <p:cNvPr id="70" name="Rectangle 69"/>
          <p:cNvSpPr/>
          <p:nvPr/>
        </p:nvSpPr>
        <p:spPr>
          <a:xfrm>
            <a:off x="320040" y="4864607"/>
            <a:ext cx="1078992" cy="164592"/>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Box 70"/>
          <p:cNvSpPr txBox="1"/>
          <p:nvPr/>
        </p:nvSpPr>
        <p:spPr>
          <a:xfrm>
            <a:off x="320040" y="4864607"/>
            <a:ext cx="1078992" cy="164592"/>
          </a:xfrm>
          <a:prstGeom prst="rect">
            <a:avLst/>
          </a:prstGeom>
          <a:noFill/>
        </p:spPr>
        <p:txBody>
          <a:bodyPr wrap="square" lIns="18288" tIns="0" rIns="18288" bIns="0" anchor="ctr">
            <a:spAutoFit/>
          </a:bodyPr>
          <a:lstStyle/>
          <a:p>
            <a:pPr algn="ctr"/>
            <a:r>
              <a:rPr sz="550" b="1">
                <a:solidFill>
                  <a:srgbClr val="FFFFFF"/>
                </a:solidFill>
                <a:latin typeface="Calibri"/>
              </a:rPr>
              <a:t>IN DEVELOPMENT</a:t>
            </a:r>
          </a:p>
        </p:txBody>
      </p:sp>
      <p:sp>
        <p:nvSpPr>
          <p:cNvPr id="72" name="TextBox 71"/>
          <p:cNvSpPr txBox="1"/>
          <p:nvPr/>
        </p:nvSpPr>
        <p:spPr>
          <a:xfrm>
            <a:off x="1508760" y="4864607"/>
            <a:ext cx="6858000" cy="164592"/>
          </a:xfrm>
          <a:prstGeom prst="rect">
            <a:avLst/>
          </a:prstGeom>
          <a:noFill/>
        </p:spPr>
        <p:txBody>
          <a:bodyPr wrap="square" lIns="27432" tIns="0" rIns="27432" bIns="0" anchor="ctr">
            <a:spAutoFit/>
          </a:bodyPr>
          <a:lstStyle/>
          <a:p>
            <a:pPr algn="l"/>
            <a:r>
              <a:rPr sz="850" b="0" i="0">
                <a:solidFill>
                  <a:srgbClr val="6B6965"/>
                </a:solidFill>
                <a:latin typeface="Calibri"/>
              </a:rPr>
              <a:t>actively being changed this cycle</a:t>
            </a:r>
          </a:p>
        </p:txBody>
      </p:sp>
      <p:sp>
        <p:nvSpPr>
          <p:cNvPr id="73" name="Rectangle 72"/>
          <p:cNvSpPr/>
          <p:nvPr/>
        </p:nvSpPr>
        <p:spPr>
          <a:xfrm>
            <a:off x="320040" y="5065776"/>
            <a:ext cx="1078992" cy="164592"/>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Box 73"/>
          <p:cNvSpPr txBox="1"/>
          <p:nvPr/>
        </p:nvSpPr>
        <p:spPr>
          <a:xfrm>
            <a:off x="320040" y="5065776"/>
            <a:ext cx="1078992" cy="164592"/>
          </a:xfrm>
          <a:prstGeom prst="rect">
            <a:avLst/>
          </a:prstGeom>
          <a:noFill/>
        </p:spPr>
        <p:txBody>
          <a:bodyPr wrap="square" lIns="18288" tIns="0" rIns="18288" bIns="0" anchor="ctr">
            <a:spAutoFit/>
          </a:bodyPr>
          <a:lstStyle/>
          <a:p>
            <a:pPr algn="ctr"/>
            <a:r>
              <a:rPr sz="550" b="1">
                <a:solidFill>
                  <a:srgbClr val="6B6965"/>
                </a:solidFill>
                <a:latin typeface="Calibri"/>
              </a:rPr>
              <a:t>PLANNED</a:t>
            </a:r>
          </a:p>
        </p:txBody>
      </p:sp>
      <p:sp>
        <p:nvSpPr>
          <p:cNvPr id="75" name="TextBox 74"/>
          <p:cNvSpPr txBox="1"/>
          <p:nvPr/>
        </p:nvSpPr>
        <p:spPr>
          <a:xfrm>
            <a:off x="1508760" y="5065776"/>
            <a:ext cx="6858000" cy="164592"/>
          </a:xfrm>
          <a:prstGeom prst="rect">
            <a:avLst/>
          </a:prstGeom>
          <a:noFill/>
        </p:spPr>
        <p:txBody>
          <a:bodyPr wrap="square" lIns="27432" tIns="0" rIns="27432" bIns="0" anchor="ctr">
            <a:spAutoFit/>
          </a:bodyPr>
          <a:lstStyle/>
          <a:p>
            <a:pPr algn="l"/>
            <a:r>
              <a:rPr sz="850" b="0" i="0">
                <a:solidFill>
                  <a:srgbClr val="6B6965"/>
                </a:solidFill>
                <a:latin typeface="Calibri"/>
              </a:rPr>
              <a:t>designed, not yet executed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34807E-092C-EF10-D1E3-2E5C391B064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29064A7-61B5-2F36-03CA-319D45B3DE2B}"/>
              </a:ext>
            </a:extLst>
          </p:cNvPr>
          <p:cNvSpPr txBox="1"/>
          <p:nvPr/>
        </p:nvSpPr>
        <p:spPr>
          <a:xfrm>
            <a:off x="320040" y="274320"/>
            <a:ext cx="8503920" cy="365760"/>
          </a:xfrm>
          <a:prstGeom prst="rect">
            <a:avLst/>
          </a:prstGeom>
          <a:noFill/>
        </p:spPr>
        <p:txBody>
          <a:bodyPr wrap="square" lIns="27432" tIns="0" rIns="27432" bIns="0" anchor="t">
            <a:spAutoFit/>
          </a:bodyPr>
          <a:lstStyle/>
          <a:p>
            <a:pPr algn="l"/>
            <a:r>
              <a:rPr sz="2400" b="0" i="0">
                <a:solidFill>
                  <a:srgbClr val="8C1515"/>
                </a:solidFill>
                <a:latin typeface="Georgia"/>
              </a:rPr>
              <a:t>The pipeline</a:t>
            </a:r>
          </a:p>
        </p:txBody>
      </p:sp>
      <p:sp>
        <p:nvSpPr>
          <p:cNvPr id="4" name="Rectangle 3">
            <a:extLst>
              <a:ext uri="{FF2B5EF4-FFF2-40B4-BE49-F238E27FC236}">
                <a16:creationId xmlns:a16="http://schemas.microsoft.com/office/drawing/2014/main" id="{E81E7FBB-9157-571D-A3B9-5287F034F184}"/>
              </a:ext>
            </a:extLst>
          </p:cNvPr>
          <p:cNvSpPr/>
          <p:nvPr/>
        </p:nvSpPr>
        <p:spPr>
          <a:xfrm>
            <a:off x="320040" y="1133856"/>
            <a:ext cx="1161288" cy="178308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Rectangle 4">
            <a:extLst>
              <a:ext uri="{FF2B5EF4-FFF2-40B4-BE49-F238E27FC236}">
                <a16:creationId xmlns:a16="http://schemas.microsoft.com/office/drawing/2014/main" id="{40D75308-28AC-D377-242D-63F5C4514B11}"/>
              </a:ext>
            </a:extLst>
          </p:cNvPr>
          <p:cNvSpPr/>
          <p:nvPr/>
        </p:nvSpPr>
        <p:spPr>
          <a:xfrm>
            <a:off x="320040" y="1133856"/>
            <a:ext cx="1161288" cy="274320"/>
          </a:xfrm>
          <a:prstGeom prst="rect">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a:extLst>
              <a:ext uri="{FF2B5EF4-FFF2-40B4-BE49-F238E27FC236}">
                <a16:creationId xmlns:a16="http://schemas.microsoft.com/office/drawing/2014/main" id="{E6487CF5-44DA-9FE4-5019-242FC66DE387}"/>
              </a:ext>
            </a:extLst>
          </p:cNvPr>
          <p:cNvSpPr txBox="1"/>
          <p:nvPr/>
        </p:nvSpPr>
        <p:spPr>
          <a:xfrm>
            <a:off x="374904" y="1133856"/>
            <a:ext cx="1051560" cy="274320"/>
          </a:xfrm>
          <a:prstGeom prst="rect">
            <a:avLst/>
          </a:prstGeom>
          <a:noFill/>
        </p:spPr>
        <p:txBody>
          <a:bodyPr wrap="square" lIns="27432" tIns="0" rIns="27432" bIns="0" anchor="ctr">
            <a:spAutoFit/>
          </a:bodyPr>
          <a:lstStyle/>
          <a:p>
            <a:pPr algn="l"/>
            <a:r>
              <a:rPr sz="800" b="1" i="0">
                <a:solidFill>
                  <a:srgbClr val="FFFFFF"/>
                </a:solidFill>
                <a:latin typeface="Calibri"/>
              </a:rPr>
              <a:t>1</a:t>
            </a:r>
          </a:p>
        </p:txBody>
      </p:sp>
      <p:sp>
        <p:nvSpPr>
          <p:cNvPr id="7" name="TextBox 6">
            <a:extLst>
              <a:ext uri="{FF2B5EF4-FFF2-40B4-BE49-F238E27FC236}">
                <a16:creationId xmlns:a16="http://schemas.microsoft.com/office/drawing/2014/main" id="{BF7D64B2-E973-355B-21FF-0FFD02637CD6}"/>
              </a:ext>
            </a:extLst>
          </p:cNvPr>
          <p:cNvSpPr txBox="1"/>
          <p:nvPr/>
        </p:nvSpPr>
        <p:spPr>
          <a:xfrm>
            <a:off x="320040" y="1133856"/>
            <a:ext cx="1161288" cy="274320"/>
          </a:xfrm>
          <a:prstGeom prst="rect">
            <a:avLst/>
          </a:prstGeom>
          <a:noFill/>
        </p:spPr>
        <p:txBody>
          <a:bodyPr wrap="square" lIns="27432" tIns="0" rIns="27432" bIns="0" anchor="ctr">
            <a:spAutoFit/>
          </a:bodyPr>
          <a:lstStyle/>
          <a:p>
            <a:pPr algn="ctr"/>
            <a:r>
              <a:rPr sz="850" b="1" i="0">
                <a:solidFill>
                  <a:srgbClr val="FFFFFF"/>
                </a:solidFill>
                <a:latin typeface="Calibri"/>
              </a:rPr>
              <a:t>Inputs</a:t>
            </a:r>
          </a:p>
        </p:txBody>
      </p:sp>
      <p:sp>
        <p:nvSpPr>
          <p:cNvPr id="8" name="TextBox 7">
            <a:extLst>
              <a:ext uri="{FF2B5EF4-FFF2-40B4-BE49-F238E27FC236}">
                <a16:creationId xmlns:a16="http://schemas.microsoft.com/office/drawing/2014/main" id="{567B6097-830C-33C5-0E18-4F2B7E36E978}"/>
              </a:ext>
            </a:extLst>
          </p:cNvPr>
          <p:cNvSpPr txBox="1"/>
          <p:nvPr/>
        </p:nvSpPr>
        <p:spPr>
          <a:xfrm>
            <a:off x="393192" y="1499616"/>
            <a:ext cx="1014984" cy="822960"/>
          </a:xfrm>
          <a:prstGeom prst="rect">
            <a:avLst/>
          </a:prstGeom>
          <a:noFill/>
        </p:spPr>
        <p:txBody>
          <a:bodyPr wrap="square" lIns="27432" tIns="0" rIns="27432" bIns="0" anchor="t">
            <a:spAutoFit/>
          </a:bodyPr>
          <a:lstStyle/>
          <a:p>
            <a:pPr algn="ctr">
              <a:lnSpc>
                <a:spcPct val="110000"/>
              </a:lnSpc>
            </a:pPr>
            <a:r>
              <a:rPr sz="750" b="0" i="0">
                <a:solidFill>
                  <a:srgbClr val="2E2D29"/>
                </a:solidFill>
                <a:latin typeface="Calibri"/>
              </a:rPr>
              <a:t>Imaging, segmentation,</a:t>
            </a:r>
          </a:p>
          <a:p>
            <a:pPr algn="ctr">
              <a:lnSpc>
                <a:spcPct val="110000"/>
              </a:lnSpc>
            </a:pPr>
            <a:r>
              <a:rPr sz="750" b="0" i="0">
                <a:solidFill>
                  <a:srgbClr val="2E2D29"/>
                </a:solidFill>
                <a:latin typeface="Calibri"/>
              </a:rPr>
              <a:t>clinical targets, inflow</a:t>
            </a:r>
          </a:p>
        </p:txBody>
      </p:sp>
      <p:sp>
        <p:nvSpPr>
          <p:cNvPr id="9" name="Rectangle 8">
            <a:extLst>
              <a:ext uri="{FF2B5EF4-FFF2-40B4-BE49-F238E27FC236}">
                <a16:creationId xmlns:a16="http://schemas.microsoft.com/office/drawing/2014/main" id="{06E56D36-FA5C-F662-1D70-C4FF2BA6CA78}"/>
              </a:ext>
            </a:extLst>
          </p:cNvPr>
          <p:cNvSpPr/>
          <p:nvPr/>
        </p:nvSpPr>
        <p:spPr>
          <a:xfrm>
            <a:off x="420623" y="2642616"/>
            <a:ext cx="960120" cy="164592"/>
          </a:xfrm>
          <a:prstGeom prst="rect">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a:extLst>
              <a:ext uri="{FF2B5EF4-FFF2-40B4-BE49-F238E27FC236}">
                <a16:creationId xmlns:a16="http://schemas.microsoft.com/office/drawing/2014/main" id="{006262B3-E8A1-4867-D168-8A1936F4EB64}"/>
              </a:ext>
            </a:extLst>
          </p:cNvPr>
          <p:cNvSpPr txBox="1"/>
          <p:nvPr/>
        </p:nvSpPr>
        <p:spPr>
          <a:xfrm>
            <a:off x="420623" y="2642616"/>
            <a:ext cx="960120" cy="164592"/>
          </a:xfrm>
          <a:prstGeom prst="rect">
            <a:avLst/>
          </a:prstGeom>
          <a:noFill/>
        </p:spPr>
        <p:txBody>
          <a:bodyPr wrap="square" lIns="18288" tIns="0" rIns="18288" bIns="0" anchor="ctr">
            <a:spAutoFit/>
          </a:bodyPr>
          <a:lstStyle/>
          <a:p>
            <a:pPr algn="ctr"/>
            <a:r>
              <a:rPr sz="550" b="1">
                <a:solidFill>
                  <a:srgbClr val="FFFFFF"/>
                </a:solidFill>
                <a:latin typeface="Calibri"/>
              </a:rPr>
              <a:t>VALIDATED</a:t>
            </a:r>
          </a:p>
        </p:txBody>
      </p:sp>
      <p:sp>
        <p:nvSpPr>
          <p:cNvPr id="11" name="Right Arrow 10">
            <a:extLst>
              <a:ext uri="{FF2B5EF4-FFF2-40B4-BE49-F238E27FC236}">
                <a16:creationId xmlns:a16="http://schemas.microsoft.com/office/drawing/2014/main" id="{D6359ABD-5619-48C9-6357-5B2F9F27E4A0}"/>
              </a:ext>
            </a:extLst>
          </p:cNvPr>
          <p:cNvSpPr/>
          <p:nvPr/>
        </p:nvSpPr>
        <p:spPr>
          <a:xfrm>
            <a:off x="1485900" y="1975104"/>
            <a:ext cx="59436" cy="128016"/>
          </a:xfrm>
          <a:prstGeom prst="rightArrow">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a:extLst>
              <a:ext uri="{FF2B5EF4-FFF2-40B4-BE49-F238E27FC236}">
                <a16:creationId xmlns:a16="http://schemas.microsoft.com/office/drawing/2014/main" id="{DFAE3538-ACDF-0A4D-8279-977526187EF3}"/>
              </a:ext>
            </a:extLst>
          </p:cNvPr>
          <p:cNvSpPr/>
          <p:nvPr/>
        </p:nvSpPr>
        <p:spPr>
          <a:xfrm>
            <a:off x="1549907" y="1133856"/>
            <a:ext cx="1161288" cy="178308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a:extLst>
              <a:ext uri="{FF2B5EF4-FFF2-40B4-BE49-F238E27FC236}">
                <a16:creationId xmlns:a16="http://schemas.microsoft.com/office/drawing/2014/main" id="{DFAF0383-9D41-FEAD-31C8-7841FFC601A7}"/>
              </a:ext>
            </a:extLst>
          </p:cNvPr>
          <p:cNvSpPr/>
          <p:nvPr/>
        </p:nvSpPr>
        <p:spPr>
          <a:xfrm>
            <a:off x="1549907" y="1133856"/>
            <a:ext cx="1161288" cy="274320"/>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a:extLst>
              <a:ext uri="{FF2B5EF4-FFF2-40B4-BE49-F238E27FC236}">
                <a16:creationId xmlns:a16="http://schemas.microsoft.com/office/drawing/2014/main" id="{19F875AD-BCD7-61A6-45D6-47A641BEE62D}"/>
              </a:ext>
            </a:extLst>
          </p:cNvPr>
          <p:cNvSpPr txBox="1"/>
          <p:nvPr/>
        </p:nvSpPr>
        <p:spPr>
          <a:xfrm>
            <a:off x="1604772" y="1133856"/>
            <a:ext cx="1051560" cy="274320"/>
          </a:xfrm>
          <a:prstGeom prst="rect">
            <a:avLst/>
          </a:prstGeom>
          <a:noFill/>
        </p:spPr>
        <p:txBody>
          <a:bodyPr wrap="square" lIns="27432" tIns="0" rIns="27432" bIns="0" anchor="ctr">
            <a:spAutoFit/>
          </a:bodyPr>
          <a:lstStyle/>
          <a:p>
            <a:pPr algn="l"/>
            <a:r>
              <a:rPr sz="800" b="1" i="0">
                <a:solidFill>
                  <a:srgbClr val="FFFFFF"/>
                </a:solidFill>
                <a:latin typeface="Calibri"/>
              </a:rPr>
              <a:t>2</a:t>
            </a:r>
          </a:p>
        </p:txBody>
      </p:sp>
      <p:sp>
        <p:nvSpPr>
          <p:cNvPr id="15" name="TextBox 14">
            <a:extLst>
              <a:ext uri="{FF2B5EF4-FFF2-40B4-BE49-F238E27FC236}">
                <a16:creationId xmlns:a16="http://schemas.microsoft.com/office/drawing/2014/main" id="{EF943DBE-E533-C416-2619-9CB68D8932E8}"/>
              </a:ext>
            </a:extLst>
          </p:cNvPr>
          <p:cNvSpPr txBox="1"/>
          <p:nvPr/>
        </p:nvSpPr>
        <p:spPr>
          <a:xfrm>
            <a:off x="1549907" y="1133856"/>
            <a:ext cx="1161288" cy="274320"/>
          </a:xfrm>
          <a:prstGeom prst="rect">
            <a:avLst/>
          </a:prstGeom>
          <a:noFill/>
        </p:spPr>
        <p:txBody>
          <a:bodyPr wrap="square" lIns="27432" tIns="0" rIns="27432" bIns="0" anchor="ctr">
            <a:spAutoFit/>
          </a:bodyPr>
          <a:lstStyle/>
          <a:p>
            <a:pPr algn="ctr"/>
            <a:r>
              <a:rPr sz="850" b="1" i="0">
                <a:solidFill>
                  <a:srgbClr val="FFFFFF"/>
                </a:solidFill>
                <a:latin typeface="Calibri"/>
              </a:rPr>
              <a:t>BC Tuning</a:t>
            </a:r>
          </a:p>
        </p:txBody>
      </p:sp>
      <p:sp>
        <p:nvSpPr>
          <p:cNvPr id="16" name="TextBox 15">
            <a:extLst>
              <a:ext uri="{FF2B5EF4-FFF2-40B4-BE49-F238E27FC236}">
                <a16:creationId xmlns:a16="http://schemas.microsoft.com/office/drawing/2014/main" id="{3AC29887-C404-D7E3-75C3-038D378C7966}"/>
              </a:ext>
            </a:extLst>
          </p:cNvPr>
          <p:cNvSpPr txBox="1"/>
          <p:nvPr/>
        </p:nvSpPr>
        <p:spPr>
          <a:xfrm>
            <a:off x="1623060" y="1499616"/>
            <a:ext cx="1014984" cy="822960"/>
          </a:xfrm>
          <a:prstGeom prst="rect">
            <a:avLst/>
          </a:prstGeom>
          <a:noFill/>
        </p:spPr>
        <p:txBody>
          <a:bodyPr wrap="square" lIns="27432" tIns="0" rIns="27432" bIns="0" anchor="t">
            <a:spAutoFit/>
          </a:bodyPr>
          <a:lstStyle/>
          <a:p>
            <a:pPr algn="ctr">
              <a:lnSpc>
                <a:spcPct val="110000"/>
              </a:lnSpc>
            </a:pPr>
            <a:r>
              <a:rPr sz="750" b="0" i="0">
                <a:solidFill>
                  <a:srgbClr val="2E2D29"/>
                </a:solidFill>
                <a:latin typeface="Calibri"/>
              </a:rPr>
              <a:t>Structured-tree BCs fit</a:t>
            </a:r>
          </a:p>
          <a:p>
            <a:pPr algn="ctr">
              <a:lnSpc>
                <a:spcPct val="110000"/>
              </a:lnSpc>
            </a:pPr>
            <a:r>
              <a:rPr sz="750" b="0" i="0">
                <a:solidFill>
                  <a:srgbClr val="2E2D29"/>
                </a:solidFill>
                <a:latin typeface="Calibri"/>
              </a:rPr>
              <a:t>to catheter + LPS targets</a:t>
            </a:r>
          </a:p>
        </p:txBody>
      </p:sp>
      <p:sp>
        <p:nvSpPr>
          <p:cNvPr id="17" name="Rectangle 16">
            <a:extLst>
              <a:ext uri="{FF2B5EF4-FFF2-40B4-BE49-F238E27FC236}">
                <a16:creationId xmlns:a16="http://schemas.microsoft.com/office/drawing/2014/main" id="{888A29E2-3285-B7E4-0D4E-EEFC790612C3}"/>
              </a:ext>
            </a:extLst>
          </p:cNvPr>
          <p:cNvSpPr/>
          <p:nvPr/>
        </p:nvSpPr>
        <p:spPr>
          <a:xfrm>
            <a:off x="1650491" y="2642616"/>
            <a:ext cx="960120" cy="164592"/>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a:extLst>
              <a:ext uri="{FF2B5EF4-FFF2-40B4-BE49-F238E27FC236}">
                <a16:creationId xmlns:a16="http://schemas.microsoft.com/office/drawing/2014/main" id="{EA5CA40E-4E21-1E57-4B85-D91C99B67CF0}"/>
              </a:ext>
            </a:extLst>
          </p:cNvPr>
          <p:cNvSpPr txBox="1"/>
          <p:nvPr/>
        </p:nvSpPr>
        <p:spPr>
          <a:xfrm>
            <a:off x="1650491" y="2642616"/>
            <a:ext cx="960120" cy="164592"/>
          </a:xfrm>
          <a:prstGeom prst="rect">
            <a:avLst/>
          </a:prstGeom>
          <a:noFill/>
        </p:spPr>
        <p:txBody>
          <a:bodyPr wrap="square" lIns="18288" tIns="0" rIns="18288" bIns="0" anchor="ctr">
            <a:spAutoFit/>
          </a:bodyPr>
          <a:lstStyle/>
          <a:p>
            <a:pPr algn="ctr"/>
            <a:r>
              <a:rPr sz="550" b="1" dirty="0">
                <a:solidFill>
                  <a:srgbClr val="FFFFFF"/>
                </a:solidFill>
                <a:latin typeface="Calibri"/>
              </a:rPr>
              <a:t>IN DEVELOPMENT</a:t>
            </a:r>
          </a:p>
        </p:txBody>
      </p:sp>
      <p:sp>
        <p:nvSpPr>
          <p:cNvPr id="19" name="Right Arrow 18">
            <a:extLst>
              <a:ext uri="{FF2B5EF4-FFF2-40B4-BE49-F238E27FC236}">
                <a16:creationId xmlns:a16="http://schemas.microsoft.com/office/drawing/2014/main" id="{473DECD4-F1E5-DB3F-A0F7-BA80445EF7B5}"/>
              </a:ext>
            </a:extLst>
          </p:cNvPr>
          <p:cNvSpPr/>
          <p:nvPr/>
        </p:nvSpPr>
        <p:spPr>
          <a:xfrm>
            <a:off x="2715768" y="1975104"/>
            <a:ext cx="59436" cy="128016"/>
          </a:xfrm>
          <a:prstGeom prst="rightArrow">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a:extLst>
              <a:ext uri="{FF2B5EF4-FFF2-40B4-BE49-F238E27FC236}">
                <a16:creationId xmlns:a16="http://schemas.microsoft.com/office/drawing/2014/main" id="{4E71BC7B-FB39-003D-E7A1-040673D69BBA}"/>
              </a:ext>
            </a:extLst>
          </p:cNvPr>
          <p:cNvSpPr/>
          <p:nvPr/>
        </p:nvSpPr>
        <p:spPr>
          <a:xfrm>
            <a:off x="2779776" y="1133856"/>
            <a:ext cx="1161288" cy="178308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a:extLst>
              <a:ext uri="{FF2B5EF4-FFF2-40B4-BE49-F238E27FC236}">
                <a16:creationId xmlns:a16="http://schemas.microsoft.com/office/drawing/2014/main" id="{A28EE24D-AFAB-276D-ED7B-6AAE31BAC7F5}"/>
              </a:ext>
            </a:extLst>
          </p:cNvPr>
          <p:cNvSpPr/>
          <p:nvPr/>
        </p:nvSpPr>
        <p:spPr>
          <a:xfrm>
            <a:off x="2779776" y="1133856"/>
            <a:ext cx="1161288" cy="274320"/>
          </a:xfrm>
          <a:prstGeom prst="rect">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a:extLst>
              <a:ext uri="{FF2B5EF4-FFF2-40B4-BE49-F238E27FC236}">
                <a16:creationId xmlns:a16="http://schemas.microsoft.com/office/drawing/2014/main" id="{96712693-F99F-AD41-31A0-650C8222DFEE}"/>
              </a:ext>
            </a:extLst>
          </p:cNvPr>
          <p:cNvSpPr txBox="1"/>
          <p:nvPr/>
        </p:nvSpPr>
        <p:spPr>
          <a:xfrm>
            <a:off x="2834640" y="1133856"/>
            <a:ext cx="1051560" cy="274320"/>
          </a:xfrm>
          <a:prstGeom prst="rect">
            <a:avLst/>
          </a:prstGeom>
          <a:noFill/>
        </p:spPr>
        <p:txBody>
          <a:bodyPr wrap="square" lIns="27432" tIns="0" rIns="27432" bIns="0" anchor="ctr">
            <a:spAutoFit/>
          </a:bodyPr>
          <a:lstStyle/>
          <a:p>
            <a:pPr algn="l"/>
            <a:r>
              <a:rPr sz="800" b="1" i="0">
                <a:solidFill>
                  <a:srgbClr val="FFFFFF"/>
                </a:solidFill>
                <a:latin typeface="Calibri"/>
              </a:rPr>
              <a:t>3</a:t>
            </a:r>
          </a:p>
        </p:txBody>
      </p:sp>
      <p:sp>
        <p:nvSpPr>
          <p:cNvPr id="23" name="TextBox 22">
            <a:extLst>
              <a:ext uri="{FF2B5EF4-FFF2-40B4-BE49-F238E27FC236}">
                <a16:creationId xmlns:a16="http://schemas.microsoft.com/office/drawing/2014/main" id="{669F4B81-9ADD-9D89-4538-C53F95703929}"/>
              </a:ext>
            </a:extLst>
          </p:cNvPr>
          <p:cNvSpPr txBox="1"/>
          <p:nvPr/>
        </p:nvSpPr>
        <p:spPr>
          <a:xfrm>
            <a:off x="2779776" y="1133856"/>
            <a:ext cx="1161288" cy="274320"/>
          </a:xfrm>
          <a:prstGeom prst="rect">
            <a:avLst/>
          </a:prstGeom>
          <a:noFill/>
        </p:spPr>
        <p:txBody>
          <a:bodyPr wrap="square" lIns="27432" tIns="0" rIns="27432" bIns="0" anchor="ctr">
            <a:spAutoFit/>
          </a:bodyPr>
          <a:lstStyle/>
          <a:p>
            <a:pPr algn="ctr"/>
            <a:r>
              <a:rPr sz="850" b="1" i="0">
                <a:solidFill>
                  <a:srgbClr val="FFFFFF"/>
                </a:solidFill>
                <a:latin typeface="Calibri"/>
              </a:rPr>
              <a:t>Pre-op Sim</a:t>
            </a:r>
          </a:p>
        </p:txBody>
      </p:sp>
      <p:sp>
        <p:nvSpPr>
          <p:cNvPr id="24" name="TextBox 23">
            <a:extLst>
              <a:ext uri="{FF2B5EF4-FFF2-40B4-BE49-F238E27FC236}">
                <a16:creationId xmlns:a16="http://schemas.microsoft.com/office/drawing/2014/main" id="{4D8FB77B-BD96-86E4-1932-7C481D2DD282}"/>
              </a:ext>
            </a:extLst>
          </p:cNvPr>
          <p:cNvSpPr txBox="1"/>
          <p:nvPr/>
        </p:nvSpPr>
        <p:spPr>
          <a:xfrm>
            <a:off x="2852928" y="1499616"/>
            <a:ext cx="1014984" cy="822960"/>
          </a:xfrm>
          <a:prstGeom prst="rect">
            <a:avLst/>
          </a:prstGeom>
          <a:noFill/>
        </p:spPr>
        <p:txBody>
          <a:bodyPr wrap="square" lIns="27432" tIns="0" rIns="27432" bIns="0" anchor="t">
            <a:spAutoFit/>
          </a:bodyPr>
          <a:lstStyle/>
          <a:p>
            <a:pPr algn="ctr">
              <a:lnSpc>
                <a:spcPct val="110000"/>
              </a:lnSpc>
            </a:pPr>
            <a:r>
              <a:rPr sz="750" b="0" i="0">
                <a:solidFill>
                  <a:srgbClr val="2E2D29"/>
                </a:solidFill>
                <a:latin typeface="Calibri"/>
              </a:rPr>
              <a:t>svMultiPhysics CMM</a:t>
            </a:r>
          </a:p>
          <a:p>
            <a:pPr algn="ctr">
              <a:lnSpc>
                <a:spcPct val="110000"/>
              </a:lnSpc>
            </a:pPr>
            <a:r>
              <a:rPr sz="750" b="0" i="0">
                <a:solidFill>
                  <a:srgbClr val="2E2D29"/>
                </a:solidFill>
                <a:latin typeface="Calibri"/>
              </a:rPr>
              <a:t>deformable-wall 3D CFD</a:t>
            </a:r>
          </a:p>
        </p:txBody>
      </p:sp>
      <p:sp>
        <p:nvSpPr>
          <p:cNvPr id="25" name="Rectangle 24">
            <a:extLst>
              <a:ext uri="{FF2B5EF4-FFF2-40B4-BE49-F238E27FC236}">
                <a16:creationId xmlns:a16="http://schemas.microsoft.com/office/drawing/2014/main" id="{1B7379EF-ECAB-1C2E-5FE4-39BADD0969FE}"/>
              </a:ext>
            </a:extLst>
          </p:cNvPr>
          <p:cNvSpPr/>
          <p:nvPr/>
        </p:nvSpPr>
        <p:spPr>
          <a:xfrm>
            <a:off x="2880360" y="2642616"/>
            <a:ext cx="960120" cy="164592"/>
          </a:xfrm>
          <a:prstGeom prst="rect">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a:extLst>
              <a:ext uri="{FF2B5EF4-FFF2-40B4-BE49-F238E27FC236}">
                <a16:creationId xmlns:a16="http://schemas.microsoft.com/office/drawing/2014/main" id="{8A2A646F-A9F8-AF72-044C-443A397A6862}"/>
              </a:ext>
            </a:extLst>
          </p:cNvPr>
          <p:cNvSpPr txBox="1"/>
          <p:nvPr/>
        </p:nvSpPr>
        <p:spPr>
          <a:xfrm>
            <a:off x="2880360" y="2642616"/>
            <a:ext cx="960120" cy="164592"/>
          </a:xfrm>
          <a:prstGeom prst="rect">
            <a:avLst/>
          </a:prstGeom>
          <a:noFill/>
        </p:spPr>
        <p:txBody>
          <a:bodyPr wrap="square" lIns="18288" tIns="0" rIns="18288" bIns="0" anchor="ctr">
            <a:spAutoFit/>
          </a:bodyPr>
          <a:lstStyle/>
          <a:p>
            <a:pPr algn="ctr"/>
            <a:r>
              <a:rPr sz="550" b="1">
                <a:solidFill>
                  <a:srgbClr val="FFFFFF"/>
                </a:solidFill>
                <a:latin typeface="Calibri"/>
              </a:rPr>
              <a:t>VALIDATED</a:t>
            </a:r>
          </a:p>
        </p:txBody>
      </p:sp>
      <p:sp>
        <p:nvSpPr>
          <p:cNvPr id="27" name="Right Arrow 26">
            <a:extLst>
              <a:ext uri="{FF2B5EF4-FFF2-40B4-BE49-F238E27FC236}">
                <a16:creationId xmlns:a16="http://schemas.microsoft.com/office/drawing/2014/main" id="{1A7E8DED-00F5-8686-B836-A28D63E583E4}"/>
              </a:ext>
            </a:extLst>
          </p:cNvPr>
          <p:cNvSpPr/>
          <p:nvPr/>
        </p:nvSpPr>
        <p:spPr>
          <a:xfrm>
            <a:off x="3945636" y="1975104"/>
            <a:ext cx="59436" cy="128016"/>
          </a:xfrm>
          <a:prstGeom prst="rightArrow">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a:extLst>
              <a:ext uri="{FF2B5EF4-FFF2-40B4-BE49-F238E27FC236}">
                <a16:creationId xmlns:a16="http://schemas.microsoft.com/office/drawing/2014/main" id="{F1E72DF8-CF62-8E00-4C19-8C19C8D13D3D}"/>
              </a:ext>
            </a:extLst>
          </p:cNvPr>
          <p:cNvSpPr/>
          <p:nvPr/>
        </p:nvSpPr>
        <p:spPr>
          <a:xfrm>
            <a:off x="4009644" y="1133856"/>
            <a:ext cx="1161288" cy="178308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a:extLst>
              <a:ext uri="{FF2B5EF4-FFF2-40B4-BE49-F238E27FC236}">
                <a16:creationId xmlns:a16="http://schemas.microsoft.com/office/drawing/2014/main" id="{22F6197B-9689-9902-5E4E-508607B727FB}"/>
              </a:ext>
            </a:extLst>
          </p:cNvPr>
          <p:cNvSpPr/>
          <p:nvPr/>
        </p:nvSpPr>
        <p:spPr>
          <a:xfrm>
            <a:off x="4009644" y="1133856"/>
            <a:ext cx="1161288" cy="274320"/>
          </a:xfrm>
          <a:prstGeom prst="rect">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a:extLst>
              <a:ext uri="{FF2B5EF4-FFF2-40B4-BE49-F238E27FC236}">
                <a16:creationId xmlns:a16="http://schemas.microsoft.com/office/drawing/2014/main" id="{166F21C7-7CA5-EBD6-4DFB-7F555855FDF6}"/>
              </a:ext>
            </a:extLst>
          </p:cNvPr>
          <p:cNvSpPr txBox="1"/>
          <p:nvPr/>
        </p:nvSpPr>
        <p:spPr>
          <a:xfrm>
            <a:off x="4064507" y="1133856"/>
            <a:ext cx="1051560" cy="274320"/>
          </a:xfrm>
          <a:prstGeom prst="rect">
            <a:avLst/>
          </a:prstGeom>
          <a:noFill/>
        </p:spPr>
        <p:txBody>
          <a:bodyPr wrap="square" lIns="27432" tIns="0" rIns="27432" bIns="0" anchor="ctr">
            <a:spAutoFit/>
          </a:bodyPr>
          <a:lstStyle/>
          <a:p>
            <a:pPr algn="l"/>
            <a:r>
              <a:rPr sz="800" b="1" i="0">
                <a:solidFill>
                  <a:srgbClr val="FFFFFF"/>
                </a:solidFill>
                <a:latin typeface="Calibri"/>
              </a:rPr>
              <a:t>4</a:t>
            </a:r>
          </a:p>
        </p:txBody>
      </p:sp>
      <p:sp>
        <p:nvSpPr>
          <p:cNvPr id="31" name="TextBox 30">
            <a:extLst>
              <a:ext uri="{FF2B5EF4-FFF2-40B4-BE49-F238E27FC236}">
                <a16:creationId xmlns:a16="http://schemas.microsoft.com/office/drawing/2014/main" id="{CB26B391-22EF-AA94-D0FB-3B5F1911DAEA}"/>
              </a:ext>
            </a:extLst>
          </p:cNvPr>
          <p:cNvSpPr txBox="1"/>
          <p:nvPr/>
        </p:nvSpPr>
        <p:spPr>
          <a:xfrm>
            <a:off x="4009644" y="1133856"/>
            <a:ext cx="1161288" cy="274320"/>
          </a:xfrm>
          <a:prstGeom prst="rect">
            <a:avLst/>
          </a:prstGeom>
          <a:solidFill>
            <a:schemeClr val="accent5"/>
          </a:solidFill>
        </p:spPr>
        <p:txBody>
          <a:bodyPr wrap="square" lIns="27432" tIns="0" rIns="27432" bIns="0" anchor="ctr">
            <a:spAutoFit/>
          </a:bodyPr>
          <a:lstStyle/>
          <a:p>
            <a:pPr algn="ctr"/>
            <a:r>
              <a:rPr sz="850" b="1" i="0">
                <a:solidFill>
                  <a:srgbClr val="FFFFFF"/>
                </a:solidFill>
                <a:latin typeface="Calibri"/>
              </a:rPr>
              <a:t>Post-op Sim</a:t>
            </a:r>
          </a:p>
        </p:txBody>
      </p:sp>
      <p:sp>
        <p:nvSpPr>
          <p:cNvPr id="32" name="TextBox 31">
            <a:extLst>
              <a:ext uri="{FF2B5EF4-FFF2-40B4-BE49-F238E27FC236}">
                <a16:creationId xmlns:a16="http://schemas.microsoft.com/office/drawing/2014/main" id="{536D897C-8FD0-57F0-008A-1D36D4AA1612}"/>
              </a:ext>
            </a:extLst>
          </p:cNvPr>
          <p:cNvSpPr txBox="1"/>
          <p:nvPr/>
        </p:nvSpPr>
        <p:spPr>
          <a:xfrm>
            <a:off x="4082796" y="1499616"/>
            <a:ext cx="1014984" cy="822960"/>
          </a:xfrm>
          <a:prstGeom prst="rect">
            <a:avLst/>
          </a:prstGeom>
          <a:noFill/>
        </p:spPr>
        <p:txBody>
          <a:bodyPr wrap="square" lIns="27432" tIns="0" rIns="27432" bIns="0" anchor="t">
            <a:spAutoFit/>
          </a:bodyPr>
          <a:lstStyle/>
          <a:p>
            <a:pPr algn="ctr">
              <a:lnSpc>
                <a:spcPct val="110000"/>
              </a:lnSpc>
            </a:pPr>
            <a:r>
              <a:rPr sz="750" b="0" i="0">
                <a:solidFill>
                  <a:srgbClr val="2E2D29"/>
                </a:solidFill>
                <a:latin typeface="Calibri"/>
              </a:rPr>
              <a:t>SDF virtual stenting,</a:t>
            </a:r>
          </a:p>
          <a:p>
            <a:pPr algn="ctr">
              <a:lnSpc>
                <a:spcPct val="110000"/>
              </a:lnSpc>
            </a:pPr>
            <a:r>
              <a:rPr sz="750" b="0" i="0">
                <a:solidFill>
                  <a:srgbClr val="2E2D29"/>
                </a:solidFill>
                <a:latin typeface="Calibri"/>
              </a:rPr>
              <a:t>pre-op BCs retained</a:t>
            </a:r>
          </a:p>
        </p:txBody>
      </p:sp>
      <p:sp>
        <p:nvSpPr>
          <p:cNvPr id="33" name="Rectangle 32">
            <a:extLst>
              <a:ext uri="{FF2B5EF4-FFF2-40B4-BE49-F238E27FC236}">
                <a16:creationId xmlns:a16="http://schemas.microsoft.com/office/drawing/2014/main" id="{EF96D022-095F-944F-EBF0-70273D23C7D2}"/>
              </a:ext>
            </a:extLst>
          </p:cNvPr>
          <p:cNvSpPr/>
          <p:nvPr/>
        </p:nvSpPr>
        <p:spPr>
          <a:xfrm>
            <a:off x="4110228" y="2642616"/>
            <a:ext cx="960120" cy="164592"/>
          </a:xfrm>
          <a:prstGeom prst="rect">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550" b="1" dirty="0"/>
              <a:t>IN DEVELOPMENT</a:t>
            </a:r>
            <a:endParaRPr sz="550" b="1" dirty="0"/>
          </a:p>
        </p:txBody>
      </p:sp>
      <p:sp>
        <p:nvSpPr>
          <p:cNvPr id="35" name="Right Arrow 34">
            <a:extLst>
              <a:ext uri="{FF2B5EF4-FFF2-40B4-BE49-F238E27FC236}">
                <a16:creationId xmlns:a16="http://schemas.microsoft.com/office/drawing/2014/main" id="{6011C4D5-7F28-B8E4-9FC0-FC0FB6CEC785}"/>
              </a:ext>
            </a:extLst>
          </p:cNvPr>
          <p:cNvSpPr/>
          <p:nvPr/>
        </p:nvSpPr>
        <p:spPr>
          <a:xfrm>
            <a:off x="5175503" y="1975104"/>
            <a:ext cx="59436" cy="128016"/>
          </a:xfrm>
          <a:prstGeom prst="rightArrow">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a:extLst>
              <a:ext uri="{FF2B5EF4-FFF2-40B4-BE49-F238E27FC236}">
                <a16:creationId xmlns:a16="http://schemas.microsoft.com/office/drawing/2014/main" id="{6453D274-DD3B-12A1-2AE0-76147B1D99FE}"/>
              </a:ext>
            </a:extLst>
          </p:cNvPr>
          <p:cNvSpPr/>
          <p:nvPr/>
        </p:nvSpPr>
        <p:spPr>
          <a:xfrm>
            <a:off x="5239512" y="1133856"/>
            <a:ext cx="1161288" cy="178308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Rectangle 36">
            <a:extLst>
              <a:ext uri="{FF2B5EF4-FFF2-40B4-BE49-F238E27FC236}">
                <a16:creationId xmlns:a16="http://schemas.microsoft.com/office/drawing/2014/main" id="{BB722987-51C2-98B2-BCB5-C3249877125E}"/>
              </a:ext>
            </a:extLst>
          </p:cNvPr>
          <p:cNvSpPr/>
          <p:nvPr/>
        </p:nvSpPr>
        <p:spPr>
          <a:xfrm>
            <a:off x="5239512" y="1133856"/>
            <a:ext cx="1161288" cy="274320"/>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a:extLst>
              <a:ext uri="{FF2B5EF4-FFF2-40B4-BE49-F238E27FC236}">
                <a16:creationId xmlns:a16="http://schemas.microsoft.com/office/drawing/2014/main" id="{A3E63182-8263-7171-0AEA-15F8FCB59BF8}"/>
              </a:ext>
            </a:extLst>
          </p:cNvPr>
          <p:cNvSpPr txBox="1"/>
          <p:nvPr/>
        </p:nvSpPr>
        <p:spPr>
          <a:xfrm>
            <a:off x="5294375" y="1133856"/>
            <a:ext cx="1051560" cy="274320"/>
          </a:xfrm>
          <a:prstGeom prst="rect">
            <a:avLst/>
          </a:prstGeom>
          <a:noFill/>
        </p:spPr>
        <p:txBody>
          <a:bodyPr wrap="square" lIns="27432" tIns="0" rIns="27432" bIns="0" anchor="ctr">
            <a:spAutoFit/>
          </a:bodyPr>
          <a:lstStyle/>
          <a:p>
            <a:pPr algn="l"/>
            <a:r>
              <a:rPr sz="800" b="1" i="0">
                <a:solidFill>
                  <a:srgbClr val="FFFFFF"/>
                </a:solidFill>
                <a:latin typeface="Calibri"/>
              </a:rPr>
              <a:t>5</a:t>
            </a:r>
          </a:p>
        </p:txBody>
      </p:sp>
      <p:sp>
        <p:nvSpPr>
          <p:cNvPr id="39" name="TextBox 38">
            <a:extLst>
              <a:ext uri="{FF2B5EF4-FFF2-40B4-BE49-F238E27FC236}">
                <a16:creationId xmlns:a16="http://schemas.microsoft.com/office/drawing/2014/main" id="{AA2FC58A-1373-2F03-1CDD-1F8249928458}"/>
              </a:ext>
            </a:extLst>
          </p:cNvPr>
          <p:cNvSpPr txBox="1"/>
          <p:nvPr/>
        </p:nvSpPr>
        <p:spPr>
          <a:xfrm>
            <a:off x="5239512" y="1133856"/>
            <a:ext cx="1161288" cy="274320"/>
          </a:xfrm>
          <a:prstGeom prst="rect">
            <a:avLst/>
          </a:prstGeom>
          <a:noFill/>
        </p:spPr>
        <p:txBody>
          <a:bodyPr wrap="square" lIns="27432" tIns="0" rIns="27432" bIns="0" anchor="ctr">
            <a:spAutoFit/>
          </a:bodyPr>
          <a:lstStyle/>
          <a:p>
            <a:pPr algn="ctr"/>
            <a:r>
              <a:rPr sz="850" b="1" i="0">
                <a:solidFill>
                  <a:srgbClr val="FFFFFF"/>
                </a:solidFill>
                <a:latin typeface="Calibri"/>
              </a:rPr>
              <a:t>Adaptation</a:t>
            </a:r>
          </a:p>
        </p:txBody>
      </p:sp>
      <p:sp>
        <p:nvSpPr>
          <p:cNvPr id="40" name="TextBox 39">
            <a:extLst>
              <a:ext uri="{FF2B5EF4-FFF2-40B4-BE49-F238E27FC236}">
                <a16:creationId xmlns:a16="http://schemas.microsoft.com/office/drawing/2014/main" id="{52AE8F42-E7A6-5DB8-AE76-20615B73DF71}"/>
              </a:ext>
            </a:extLst>
          </p:cNvPr>
          <p:cNvSpPr txBox="1"/>
          <p:nvPr/>
        </p:nvSpPr>
        <p:spPr>
          <a:xfrm>
            <a:off x="5312664" y="1499616"/>
            <a:ext cx="1014984" cy="822960"/>
          </a:xfrm>
          <a:prstGeom prst="rect">
            <a:avLst/>
          </a:prstGeom>
          <a:noFill/>
        </p:spPr>
        <p:txBody>
          <a:bodyPr wrap="square" lIns="27432" tIns="0" rIns="27432" bIns="0" anchor="t">
            <a:spAutoFit/>
          </a:bodyPr>
          <a:lstStyle/>
          <a:p>
            <a:pPr algn="ctr">
              <a:lnSpc>
                <a:spcPct val="110000"/>
              </a:lnSpc>
            </a:pPr>
            <a:r>
              <a:rPr sz="750" b="0" i="0">
                <a:solidFill>
                  <a:srgbClr val="2E2D29"/>
                </a:solidFill>
                <a:latin typeface="Calibri"/>
              </a:rPr>
              <a:t>CWSS-IMS integration</a:t>
            </a:r>
          </a:p>
          <a:p>
            <a:pPr algn="ctr">
              <a:lnSpc>
                <a:spcPct val="110000"/>
              </a:lnSpc>
            </a:pPr>
            <a:r>
              <a:rPr sz="750" b="0" i="0">
                <a:solidFill>
                  <a:srgbClr val="2E2D29"/>
                </a:solidFill>
                <a:latin typeface="Calibri"/>
              </a:rPr>
              <a:t>of the microvascular trees</a:t>
            </a:r>
          </a:p>
        </p:txBody>
      </p:sp>
      <p:sp>
        <p:nvSpPr>
          <p:cNvPr id="41" name="Rectangle 40">
            <a:extLst>
              <a:ext uri="{FF2B5EF4-FFF2-40B4-BE49-F238E27FC236}">
                <a16:creationId xmlns:a16="http://schemas.microsoft.com/office/drawing/2014/main" id="{5191AC8C-E8C4-E5F5-D4DB-1337C04A1BD1}"/>
              </a:ext>
            </a:extLst>
          </p:cNvPr>
          <p:cNvSpPr/>
          <p:nvPr/>
        </p:nvSpPr>
        <p:spPr>
          <a:xfrm>
            <a:off x="5340096" y="2642616"/>
            <a:ext cx="960120" cy="164592"/>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a:extLst>
              <a:ext uri="{FF2B5EF4-FFF2-40B4-BE49-F238E27FC236}">
                <a16:creationId xmlns:a16="http://schemas.microsoft.com/office/drawing/2014/main" id="{66E8E301-9820-7B4C-3191-608D5435D28E}"/>
              </a:ext>
            </a:extLst>
          </p:cNvPr>
          <p:cNvSpPr txBox="1"/>
          <p:nvPr/>
        </p:nvSpPr>
        <p:spPr>
          <a:xfrm>
            <a:off x="5340096" y="2642616"/>
            <a:ext cx="960120" cy="164592"/>
          </a:xfrm>
          <a:prstGeom prst="rect">
            <a:avLst/>
          </a:prstGeom>
          <a:noFill/>
        </p:spPr>
        <p:txBody>
          <a:bodyPr wrap="square" lIns="18288" tIns="0" rIns="18288" bIns="0" anchor="ctr">
            <a:spAutoFit/>
          </a:bodyPr>
          <a:lstStyle/>
          <a:p>
            <a:pPr algn="ctr"/>
            <a:r>
              <a:rPr sz="550" b="1">
                <a:solidFill>
                  <a:srgbClr val="FFFFFF"/>
                </a:solidFill>
                <a:latin typeface="Calibri"/>
              </a:rPr>
              <a:t>IN DEVELOPMENT</a:t>
            </a:r>
          </a:p>
        </p:txBody>
      </p:sp>
      <p:sp>
        <p:nvSpPr>
          <p:cNvPr id="43" name="Right Arrow 42">
            <a:extLst>
              <a:ext uri="{FF2B5EF4-FFF2-40B4-BE49-F238E27FC236}">
                <a16:creationId xmlns:a16="http://schemas.microsoft.com/office/drawing/2014/main" id="{88EC47CD-5018-CF9A-87F6-7221B330B2DD}"/>
              </a:ext>
            </a:extLst>
          </p:cNvPr>
          <p:cNvSpPr/>
          <p:nvPr/>
        </p:nvSpPr>
        <p:spPr>
          <a:xfrm>
            <a:off x="6405372" y="1975104"/>
            <a:ext cx="59436" cy="128016"/>
          </a:xfrm>
          <a:prstGeom prst="rightArrow">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a:extLst>
              <a:ext uri="{FF2B5EF4-FFF2-40B4-BE49-F238E27FC236}">
                <a16:creationId xmlns:a16="http://schemas.microsoft.com/office/drawing/2014/main" id="{D0E3C1C4-425C-BD25-C7BD-B2EA70144323}"/>
              </a:ext>
            </a:extLst>
          </p:cNvPr>
          <p:cNvSpPr/>
          <p:nvPr/>
        </p:nvSpPr>
        <p:spPr>
          <a:xfrm>
            <a:off x="6469379" y="1133856"/>
            <a:ext cx="1161288" cy="178308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Rectangle 44">
            <a:extLst>
              <a:ext uri="{FF2B5EF4-FFF2-40B4-BE49-F238E27FC236}">
                <a16:creationId xmlns:a16="http://schemas.microsoft.com/office/drawing/2014/main" id="{AA36B229-0FB6-5482-A474-122F7009F7EF}"/>
              </a:ext>
            </a:extLst>
          </p:cNvPr>
          <p:cNvSpPr/>
          <p:nvPr/>
        </p:nvSpPr>
        <p:spPr>
          <a:xfrm>
            <a:off x="6469379" y="1133856"/>
            <a:ext cx="1161288" cy="274320"/>
          </a:xfrm>
          <a:prstGeom prst="rect">
            <a:avLst/>
          </a:prstGeom>
          <a:solidFill>
            <a:srgbClr val="6B69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Box 45">
            <a:extLst>
              <a:ext uri="{FF2B5EF4-FFF2-40B4-BE49-F238E27FC236}">
                <a16:creationId xmlns:a16="http://schemas.microsoft.com/office/drawing/2014/main" id="{0EF228AC-291D-6E30-4D95-1BD91ACE69B2}"/>
              </a:ext>
            </a:extLst>
          </p:cNvPr>
          <p:cNvSpPr txBox="1"/>
          <p:nvPr/>
        </p:nvSpPr>
        <p:spPr>
          <a:xfrm>
            <a:off x="6524243" y="1133856"/>
            <a:ext cx="1051560" cy="274320"/>
          </a:xfrm>
          <a:prstGeom prst="rect">
            <a:avLst/>
          </a:prstGeom>
          <a:noFill/>
        </p:spPr>
        <p:txBody>
          <a:bodyPr wrap="square" lIns="27432" tIns="0" rIns="27432" bIns="0" anchor="ctr">
            <a:spAutoFit/>
          </a:bodyPr>
          <a:lstStyle/>
          <a:p>
            <a:pPr algn="l"/>
            <a:r>
              <a:rPr sz="800" b="1" i="0">
                <a:solidFill>
                  <a:srgbClr val="FFFFFF"/>
                </a:solidFill>
                <a:latin typeface="Calibri"/>
              </a:rPr>
              <a:t>6</a:t>
            </a:r>
          </a:p>
        </p:txBody>
      </p:sp>
      <p:sp>
        <p:nvSpPr>
          <p:cNvPr id="47" name="TextBox 46">
            <a:extLst>
              <a:ext uri="{FF2B5EF4-FFF2-40B4-BE49-F238E27FC236}">
                <a16:creationId xmlns:a16="http://schemas.microsoft.com/office/drawing/2014/main" id="{FA38E65F-84E1-BBB7-DF92-3D0E6811B000}"/>
              </a:ext>
            </a:extLst>
          </p:cNvPr>
          <p:cNvSpPr txBox="1"/>
          <p:nvPr/>
        </p:nvSpPr>
        <p:spPr>
          <a:xfrm>
            <a:off x="6469379" y="1133856"/>
            <a:ext cx="1161288" cy="274320"/>
          </a:xfrm>
          <a:prstGeom prst="rect">
            <a:avLst/>
          </a:prstGeom>
          <a:noFill/>
        </p:spPr>
        <p:txBody>
          <a:bodyPr wrap="square" lIns="27432" tIns="0" rIns="27432" bIns="0" anchor="ctr">
            <a:spAutoFit/>
          </a:bodyPr>
          <a:lstStyle/>
          <a:p>
            <a:pPr algn="ctr"/>
            <a:r>
              <a:rPr sz="850" b="1" i="0">
                <a:solidFill>
                  <a:srgbClr val="FFFFFF"/>
                </a:solidFill>
                <a:latin typeface="Calibri"/>
              </a:rPr>
              <a:t>Adapted Sim</a:t>
            </a:r>
          </a:p>
        </p:txBody>
      </p:sp>
      <p:sp>
        <p:nvSpPr>
          <p:cNvPr id="48" name="TextBox 47">
            <a:extLst>
              <a:ext uri="{FF2B5EF4-FFF2-40B4-BE49-F238E27FC236}">
                <a16:creationId xmlns:a16="http://schemas.microsoft.com/office/drawing/2014/main" id="{7679C309-3944-B22E-95BC-478E392201CB}"/>
              </a:ext>
            </a:extLst>
          </p:cNvPr>
          <p:cNvSpPr txBox="1"/>
          <p:nvPr/>
        </p:nvSpPr>
        <p:spPr>
          <a:xfrm>
            <a:off x="6542531" y="1499616"/>
            <a:ext cx="1014984" cy="822960"/>
          </a:xfrm>
          <a:prstGeom prst="rect">
            <a:avLst/>
          </a:prstGeom>
          <a:noFill/>
        </p:spPr>
        <p:txBody>
          <a:bodyPr wrap="square" lIns="27432" tIns="0" rIns="27432" bIns="0" anchor="t">
            <a:spAutoFit/>
          </a:bodyPr>
          <a:lstStyle/>
          <a:p>
            <a:pPr algn="ctr">
              <a:lnSpc>
                <a:spcPct val="110000"/>
              </a:lnSpc>
            </a:pPr>
            <a:r>
              <a:rPr sz="750" b="0" i="0">
                <a:solidFill>
                  <a:srgbClr val="2E2D29"/>
                </a:solidFill>
                <a:latin typeface="Calibri"/>
              </a:rPr>
              <a:t>3D re-run with the</a:t>
            </a:r>
          </a:p>
          <a:p>
            <a:pPr algn="ctr">
              <a:lnSpc>
                <a:spcPct val="110000"/>
              </a:lnSpc>
            </a:pPr>
            <a:r>
              <a:rPr sz="750" b="0" i="0">
                <a:solidFill>
                  <a:srgbClr val="2E2D29"/>
                </a:solidFill>
                <a:latin typeface="Calibri"/>
              </a:rPr>
              <a:t>adapted tree impedances</a:t>
            </a:r>
          </a:p>
        </p:txBody>
      </p:sp>
      <p:sp>
        <p:nvSpPr>
          <p:cNvPr id="49" name="Rectangle 48">
            <a:extLst>
              <a:ext uri="{FF2B5EF4-FFF2-40B4-BE49-F238E27FC236}">
                <a16:creationId xmlns:a16="http://schemas.microsoft.com/office/drawing/2014/main" id="{961FD486-B3B6-00B8-4C40-E18E30A061D9}"/>
              </a:ext>
            </a:extLst>
          </p:cNvPr>
          <p:cNvSpPr/>
          <p:nvPr/>
        </p:nvSpPr>
        <p:spPr>
          <a:xfrm>
            <a:off x="6569964" y="2642616"/>
            <a:ext cx="960120" cy="164592"/>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a:extLst>
              <a:ext uri="{FF2B5EF4-FFF2-40B4-BE49-F238E27FC236}">
                <a16:creationId xmlns:a16="http://schemas.microsoft.com/office/drawing/2014/main" id="{A9B5AAA9-9BE4-0ED3-9B59-D040FE060091}"/>
              </a:ext>
            </a:extLst>
          </p:cNvPr>
          <p:cNvSpPr txBox="1"/>
          <p:nvPr/>
        </p:nvSpPr>
        <p:spPr>
          <a:xfrm>
            <a:off x="6569964" y="2642616"/>
            <a:ext cx="960120" cy="164592"/>
          </a:xfrm>
          <a:prstGeom prst="rect">
            <a:avLst/>
          </a:prstGeom>
          <a:noFill/>
        </p:spPr>
        <p:txBody>
          <a:bodyPr wrap="square" lIns="18288" tIns="0" rIns="18288" bIns="0" anchor="ctr">
            <a:spAutoFit/>
          </a:bodyPr>
          <a:lstStyle/>
          <a:p>
            <a:pPr algn="ctr"/>
            <a:r>
              <a:rPr sz="550" b="1">
                <a:solidFill>
                  <a:srgbClr val="6B6965"/>
                </a:solidFill>
                <a:latin typeface="Calibri"/>
              </a:rPr>
              <a:t>PLANNED</a:t>
            </a:r>
          </a:p>
        </p:txBody>
      </p:sp>
      <p:sp>
        <p:nvSpPr>
          <p:cNvPr id="51" name="Right Arrow 50">
            <a:extLst>
              <a:ext uri="{FF2B5EF4-FFF2-40B4-BE49-F238E27FC236}">
                <a16:creationId xmlns:a16="http://schemas.microsoft.com/office/drawing/2014/main" id="{3A82AB33-3E29-7C4A-A247-4B6BB7F7D550}"/>
              </a:ext>
            </a:extLst>
          </p:cNvPr>
          <p:cNvSpPr/>
          <p:nvPr/>
        </p:nvSpPr>
        <p:spPr>
          <a:xfrm>
            <a:off x="7635240" y="1975104"/>
            <a:ext cx="59436" cy="128016"/>
          </a:xfrm>
          <a:prstGeom prst="rightArrow">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a:extLst>
              <a:ext uri="{FF2B5EF4-FFF2-40B4-BE49-F238E27FC236}">
                <a16:creationId xmlns:a16="http://schemas.microsoft.com/office/drawing/2014/main" id="{DFD502A8-00A8-EBCC-29D9-035B484CA313}"/>
              </a:ext>
            </a:extLst>
          </p:cNvPr>
          <p:cNvSpPr/>
          <p:nvPr/>
        </p:nvSpPr>
        <p:spPr>
          <a:xfrm>
            <a:off x="7699248" y="1133856"/>
            <a:ext cx="1161288" cy="178308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Rectangle 52">
            <a:extLst>
              <a:ext uri="{FF2B5EF4-FFF2-40B4-BE49-F238E27FC236}">
                <a16:creationId xmlns:a16="http://schemas.microsoft.com/office/drawing/2014/main" id="{A7DBD663-0D42-8716-50CA-954BB1B501CB}"/>
              </a:ext>
            </a:extLst>
          </p:cNvPr>
          <p:cNvSpPr/>
          <p:nvPr/>
        </p:nvSpPr>
        <p:spPr>
          <a:xfrm>
            <a:off x="7699248" y="1133856"/>
            <a:ext cx="1161288" cy="274320"/>
          </a:xfrm>
          <a:prstGeom prst="rect">
            <a:avLst/>
          </a:prstGeom>
          <a:solidFill>
            <a:srgbClr val="6B69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Box 53">
            <a:extLst>
              <a:ext uri="{FF2B5EF4-FFF2-40B4-BE49-F238E27FC236}">
                <a16:creationId xmlns:a16="http://schemas.microsoft.com/office/drawing/2014/main" id="{35BC3B1B-6353-0E9C-A223-618CF0631AC0}"/>
              </a:ext>
            </a:extLst>
          </p:cNvPr>
          <p:cNvSpPr txBox="1"/>
          <p:nvPr/>
        </p:nvSpPr>
        <p:spPr>
          <a:xfrm>
            <a:off x="7754112" y="1133856"/>
            <a:ext cx="1051560" cy="274320"/>
          </a:xfrm>
          <a:prstGeom prst="rect">
            <a:avLst/>
          </a:prstGeom>
          <a:noFill/>
        </p:spPr>
        <p:txBody>
          <a:bodyPr wrap="square" lIns="27432" tIns="0" rIns="27432" bIns="0" anchor="ctr">
            <a:spAutoFit/>
          </a:bodyPr>
          <a:lstStyle/>
          <a:p>
            <a:pPr algn="l"/>
            <a:r>
              <a:rPr sz="800" b="1" i="0">
                <a:solidFill>
                  <a:srgbClr val="FFFFFF"/>
                </a:solidFill>
                <a:latin typeface="Calibri"/>
              </a:rPr>
              <a:t>7</a:t>
            </a:r>
          </a:p>
        </p:txBody>
      </p:sp>
      <p:sp>
        <p:nvSpPr>
          <p:cNvPr id="55" name="TextBox 54">
            <a:extLst>
              <a:ext uri="{FF2B5EF4-FFF2-40B4-BE49-F238E27FC236}">
                <a16:creationId xmlns:a16="http://schemas.microsoft.com/office/drawing/2014/main" id="{1DA9501C-3D7C-0AB4-9CA9-D7048F24C586}"/>
              </a:ext>
            </a:extLst>
          </p:cNvPr>
          <p:cNvSpPr txBox="1"/>
          <p:nvPr/>
        </p:nvSpPr>
        <p:spPr>
          <a:xfrm>
            <a:off x="7699248" y="1133856"/>
            <a:ext cx="1161288" cy="274320"/>
          </a:xfrm>
          <a:prstGeom prst="rect">
            <a:avLst/>
          </a:prstGeom>
          <a:noFill/>
        </p:spPr>
        <p:txBody>
          <a:bodyPr wrap="square" lIns="27432" tIns="0" rIns="27432" bIns="0" anchor="ctr">
            <a:spAutoFit/>
          </a:bodyPr>
          <a:lstStyle/>
          <a:p>
            <a:pPr algn="ctr"/>
            <a:r>
              <a:rPr sz="850" b="1" i="0">
                <a:solidFill>
                  <a:srgbClr val="FFFFFF"/>
                </a:solidFill>
                <a:latin typeface="Calibri"/>
              </a:rPr>
              <a:t>Metrics</a:t>
            </a:r>
          </a:p>
        </p:txBody>
      </p:sp>
      <p:sp>
        <p:nvSpPr>
          <p:cNvPr id="56" name="TextBox 55">
            <a:extLst>
              <a:ext uri="{FF2B5EF4-FFF2-40B4-BE49-F238E27FC236}">
                <a16:creationId xmlns:a16="http://schemas.microsoft.com/office/drawing/2014/main" id="{D77413A8-2C5F-0DD1-7EB3-4813B28174F1}"/>
              </a:ext>
            </a:extLst>
          </p:cNvPr>
          <p:cNvSpPr txBox="1"/>
          <p:nvPr/>
        </p:nvSpPr>
        <p:spPr>
          <a:xfrm>
            <a:off x="7772400" y="1499616"/>
            <a:ext cx="1014984" cy="822960"/>
          </a:xfrm>
          <a:prstGeom prst="rect">
            <a:avLst/>
          </a:prstGeom>
          <a:noFill/>
        </p:spPr>
        <p:txBody>
          <a:bodyPr wrap="square" lIns="27432" tIns="0" rIns="27432" bIns="0" anchor="t">
            <a:spAutoFit/>
          </a:bodyPr>
          <a:lstStyle/>
          <a:p>
            <a:pPr algn="ctr">
              <a:lnSpc>
                <a:spcPct val="110000"/>
              </a:lnSpc>
            </a:pPr>
            <a:r>
              <a:rPr sz="750" b="0" i="0">
                <a:solidFill>
                  <a:srgbClr val="2E2D29"/>
                </a:solidFill>
                <a:latin typeface="Calibri"/>
              </a:rPr>
              <a:t>Pressure, flow split, PVR,</a:t>
            </a:r>
          </a:p>
          <a:p>
            <a:pPr algn="ctr">
              <a:lnSpc>
                <a:spcPct val="110000"/>
              </a:lnSpc>
            </a:pPr>
            <a:r>
              <a:rPr sz="750" b="0" i="0">
                <a:solidFill>
                  <a:srgbClr val="2E2D29"/>
                </a:solidFill>
                <a:latin typeface="Calibri"/>
              </a:rPr>
              <a:t>WSS vs. measured post-op</a:t>
            </a:r>
          </a:p>
        </p:txBody>
      </p:sp>
      <p:sp>
        <p:nvSpPr>
          <p:cNvPr id="57" name="Rectangle 56">
            <a:extLst>
              <a:ext uri="{FF2B5EF4-FFF2-40B4-BE49-F238E27FC236}">
                <a16:creationId xmlns:a16="http://schemas.microsoft.com/office/drawing/2014/main" id="{978E71EE-5C0C-C09D-00ED-C53180044816}"/>
              </a:ext>
            </a:extLst>
          </p:cNvPr>
          <p:cNvSpPr/>
          <p:nvPr/>
        </p:nvSpPr>
        <p:spPr>
          <a:xfrm>
            <a:off x="7799831" y="2642616"/>
            <a:ext cx="960120" cy="164592"/>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TextBox 57">
            <a:extLst>
              <a:ext uri="{FF2B5EF4-FFF2-40B4-BE49-F238E27FC236}">
                <a16:creationId xmlns:a16="http://schemas.microsoft.com/office/drawing/2014/main" id="{32BA33B2-8A43-F195-35F9-9A7BE5A9779C}"/>
              </a:ext>
            </a:extLst>
          </p:cNvPr>
          <p:cNvSpPr txBox="1"/>
          <p:nvPr/>
        </p:nvSpPr>
        <p:spPr>
          <a:xfrm>
            <a:off x="7799831" y="2642616"/>
            <a:ext cx="960120" cy="164592"/>
          </a:xfrm>
          <a:prstGeom prst="rect">
            <a:avLst/>
          </a:prstGeom>
          <a:noFill/>
        </p:spPr>
        <p:txBody>
          <a:bodyPr wrap="square" lIns="18288" tIns="0" rIns="18288" bIns="0" anchor="ctr">
            <a:spAutoFit/>
          </a:bodyPr>
          <a:lstStyle/>
          <a:p>
            <a:pPr algn="ctr"/>
            <a:r>
              <a:rPr sz="550" b="1">
                <a:solidFill>
                  <a:srgbClr val="6B6965"/>
                </a:solidFill>
                <a:latin typeface="Calibri"/>
              </a:rPr>
              <a:t>PLANNED</a:t>
            </a:r>
          </a:p>
        </p:txBody>
      </p:sp>
      <p:sp>
        <p:nvSpPr>
          <p:cNvPr id="60" name="Rectangle 59">
            <a:extLst>
              <a:ext uri="{FF2B5EF4-FFF2-40B4-BE49-F238E27FC236}">
                <a16:creationId xmlns:a16="http://schemas.microsoft.com/office/drawing/2014/main" id="{9842291D-BC7D-99BE-CB70-A7BD38080F89}"/>
              </a:ext>
            </a:extLst>
          </p:cNvPr>
          <p:cNvSpPr/>
          <p:nvPr/>
        </p:nvSpPr>
        <p:spPr>
          <a:xfrm>
            <a:off x="1050086" y="3746676"/>
            <a:ext cx="2374946" cy="424870"/>
          </a:xfrm>
          <a:prstGeom prst="rect">
            <a:avLst/>
          </a:prstGeom>
          <a:solidFill>
            <a:schemeClr val="accent4">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900" dirty="0">
                <a:solidFill>
                  <a:schemeClr val="tx2"/>
                </a:solidFill>
              </a:rPr>
              <a:t>Implement </a:t>
            </a:r>
            <a:r>
              <a:rPr lang="en-US" sz="900" dirty="0" err="1">
                <a:solidFill>
                  <a:schemeClr val="tx2"/>
                </a:solidFill>
              </a:rPr>
              <a:t>svZeroDCalibrator</a:t>
            </a:r>
            <a:r>
              <a:rPr lang="en-US" sz="900" dirty="0">
                <a:solidFill>
                  <a:schemeClr val="tx2"/>
                </a:solidFill>
              </a:rPr>
              <a:t> to improve 0D estimate for BC tuning + adaptation modeling</a:t>
            </a:r>
          </a:p>
        </p:txBody>
      </p:sp>
      <p:sp>
        <p:nvSpPr>
          <p:cNvPr id="66" name="TextBox 65">
            <a:extLst>
              <a:ext uri="{FF2B5EF4-FFF2-40B4-BE49-F238E27FC236}">
                <a16:creationId xmlns:a16="http://schemas.microsoft.com/office/drawing/2014/main" id="{9B69E8BD-0F24-8387-677A-825F6C6A9209}"/>
              </a:ext>
            </a:extLst>
          </p:cNvPr>
          <p:cNvSpPr txBox="1"/>
          <p:nvPr/>
        </p:nvSpPr>
        <p:spPr>
          <a:xfrm>
            <a:off x="320040" y="4425696"/>
            <a:ext cx="914400" cy="201168"/>
          </a:xfrm>
          <a:prstGeom prst="rect">
            <a:avLst/>
          </a:prstGeom>
          <a:noFill/>
        </p:spPr>
        <p:txBody>
          <a:bodyPr wrap="square" lIns="27432" tIns="0" rIns="27432" bIns="0" anchor="t">
            <a:spAutoFit/>
          </a:bodyPr>
          <a:lstStyle/>
          <a:p>
            <a:pPr algn="l"/>
            <a:r>
              <a:rPr sz="900" b="1" i="0">
                <a:solidFill>
                  <a:srgbClr val="2E2D29"/>
                </a:solidFill>
                <a:latin typeface="Calibri"/>
              </a:rPr>
              <a:t>Status key</a:t>
            </a:r>
          </a:p>
        </p:txBody>
      </p:sp>
      <p:sp>
        <p:nvSpPr>
          <p:cNvPr id="67" name="Rectangle 66">
            <a:extLst>
              <a:ext uri="{FF2B5EF4-FFF2-40B4-BE49-F238E27FC236}">
                <a16:creationId xmlns:a16="http://schemas.microsoft.com/office/drawing/2014/main" id="{AB14DA6F-6EB5-55E0-37A6-77D1C16D74AC}"/>
              </a:ext>
            </a:extLst>
          </p:cNvPr>
          <p:cNvSpPr/>
          <p:nvPr/>
        </p:nvSpPr>
        <p:spPr>
          <a:xfrm>
            <a:off x="320040" y="4663440"/>
            <a:ext cx="1078992" cy="164592"/>
          </a:xfrm>
          <a:prstGeom prst="rect">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TextBox 67">
            <a:extLst>
              <a:ext uri="{FF2B5EF4-FFF2-40B4-BE49-F238E27FC236}">
                <a16:creationId xmlns:a16="http://schemas.microsoft.com/office/drawing/2014/main" id="{D13DF6E5-E986-0A0E-F492-04E9E86BAC89}"/>
              </a:ext>
            </a:extLst>
          </p:cNvPr>
          <p:cNvSpPr txBox="1"/>
          <p:nvPr/>
        </p:nvSpPr>
        <p:spPr>
          <a:xfrm>
            <a:off x="320040" y="4663440"/>
            <a:ext cx="1078992" cy="164592"/>
          </a:xfrm>
          <a:prstGeom prst="rect">
            <a:avLst/>
          </a:prstGeom>
          <a:noFill/>
        </p:spPr>
        <p:txBody>
          <a:bodyPr wrap="square" lIns="18288" tIns="0" rIns="18288" bIns="0" anchor="ctr">
            <a:spAutoFit/>
          </a:bodyPr>
          <a:lstStyle/>
          <a:p>
            <a:pPr algn="ctr"/>
            <a:r>
              <a:rPr sz="550" b="1">
                <a:solidFill>
                  <a:srgbClr val="FFFFFF"/>
                </a:solidFill>
                <a:latin typeface="Calibri"/>
              </a:rPr>
              <a:t>VALIDATED</a:t>
            </a:r>
          </a:p>
        </p:txBody>
      </p:sp>
      <p:sp>
        <p:nvSpPr>
          <p:cNvPr id="69" name="TextBox 68">
            <a:extLst>
              <a:ext uri="{FF2B5EF4-FFF2-40B4-BE49-F238E27FC236}">
                <a16:creationId xmlns:a16="http://schemas.microsoft.com/office/drawing/2014/main" id="{926C7B21-EFF4-0F01-2B47-F919BFF5B771}"/>
              </a:ext>
            </a:extLst>
          </p:cNvPr>
          <p:cNvSpPr txBox="1"/>
          <p:nvPr/>
        </p:nvSpPr>
        <p:spPr>
          <a:xfrm>
            <a:off x="1508760" y="4663440"/>
            <a:ext cx="6858000" cy="164592"/>
          </a:xfrm>
          <a:prstGeom prst="rect">
            <a:avLst/>
          </a:prstGeom>
          <a:noFill/>
        </p:spPr>
        <p:txBody>
          <a:bodyPr wrap="square" lIns="27432" tIns="0" rIns="27432" bIns="0" anchor="ctr">
            <a:spAutoFit/>
          </a:bodyPr>
          <a:lstStyle/>
          <a:p>
            <a:pPr algn="l"/>
            <a:r>
              <a:rPr sz="850" b="0" i="0">
                <a:solidFill>
                  <a:srgbClr val="6B6965"/>
                </a:solidFill>
                <a:latin typeface="Calibri"/>
              </a:rPr>
              <a:t>established, in use across the cohort</a:t>
            </a:r>
          </a:p>
        </p:txBody>
      </p:sp>
      <p:sp>
        <p:nvSpPr>
          <p:cNvPr id="70" name="Rectangle 69">
            <a:extLst>
              <a:ext uri="{FF2B5EF4-FFF2-40B4-BE49-F238E27FC236}">
                <a16:creationId xmlns:a16="http://schemas.microsoft.com/office/drawing/2014/main" id="{77B74092-D5A8-133B-70EB-4B58F2179FDF}"/>
              </a:ext>
            </a:extLst>
          </p:cNvPr>
          <p:cNvSpPr/>
          <p:nvPr/>
        </p:nvSpPr>
        <p:spPr>
          <a:xfrm>
            <a:off x="320040" y="4864607"/>
            <a:ext cx="1078992" cy="164592"/>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Box 70">
            <a:extLst>
              <a:ext uri="{FF2B5EF4-FFF2-40B4-BE49-F238E27FC236}">
                <a16:creationId xmlns:a16="http://schemas.microsoft.com/office/drawing/2014/main" id="{5D254D80-3486-7747-53FA-802943164D52}"/>
              </a:ext>
            </a:extLst>
          </p:cNvPr>
          <p:cNvSpPr txBox="1"/>
          <p:nvPr/>
        </p:nvSpPr>
        <p:spPr>
          <a:xfrm>
            <a:off x="320040" y="4864607"/>
            <a:ext cx="1078992" cy="164592"/>
          </a:xfrm>
          <a:prstGeom prst="rect">
            <a:avLst/>
          </a:prstGeom>
          <a:noFill/>
        </p:spPr>
        <p:txBody>
          <a:bodyPr wrap="square" lIns="18288" tIns="0" rIns="18288" bIns="0" anchor="ctr">
            <a:spAutoFit/>
          </a:bodyPr>
          <a:lstStyle/>
          <a:p>
            <a:pPr algn="ctr"/>
            <a:r>
              <a:rPr sz="550" b="1">
                <a:solidFill>
                  <a:srgbClr val="FFFFFF"/>
                </a:solidFill>
                <a:latin typeface="Calibri"/>
              </a:rPr>
              <a:t>IN DEVELOPMENT</a:t>
            </a:r>
          </a:p>
        </p:txBody>
      </p:sp>
      <p:sp>
        <p:nvSpPr>
          <p:cNvPr id="72" name="TextBox 71">
            <a:extLst>
              <a:ext uri="{FF2B5EF4-FFF2-40B4-BE49-F238E27FC236}">
                <a16:creationId xmlns:a16="http://schemas.microsoft.com/office/drawing/2014/main" id="{8ACDFD44-82D5-69FE-323D-3BB09BE25A3D}"/>
              </a:ext>
            </a:extLst>
          </p:cNvPr>
          <p:cNvSpPr txBox="1"/>
          <p:nvPr/>
        </p:nvSpPr>
        <p:spPr>
          <a:xfrm>
            <a:off x="1508760" y="4864607"/>
            <a:ext cx="6858000" cy="164592"/>
          </a:xfrm>
          <a:prstGeom prst="rect">
            <a:avLst/>
          </a:prstGeom>
          <a:noFill/>
        </p:spPr>
        <p:txBody>
          <a:bodyPr wrap="square" lIns="27432" tIns="0" rIns="27432" bIns="0" anchor="ctr">
            <a:spAutoFit/>
          </a:bodyPr>
          <a:lstStyle/>
          <a:p>
            <a:pPr algn="l"/>
            <a:r>
              <a:rPr sz="850" b="0" i="0">
                <a:solidFill>
                  <a:srgbClr val="6B6965"/>
                </a:solidFill>
                <a:latin typeface="Calibri"/>
              </a:rPr>
              <a:t>actively being changed this cycle</a:t>
            </a:r>
          </a:p>
        </p:txBody>
      </p:sp>
      <p:sp>
        <p:nvSpPr>
          <p:cNvPr id="73" name="Rectangle 72">
            <a:extLst>
              <a:ext uri="{FF2B5EF4-FFF2-40B4-BE49-F238E27FC236}">
                <a16:creationId xmlns:a16="http://schemas.microsoft.com/office/drawing/2014/main" id="{1EC178FE-3A01-9FE0-EFD7-67C954B29041}"/>
              </a:ext>
            </a:extLst>
          </p:cNvPr>
          <p:cNvSpPr/>
          <p:nvPr/>
        </p:nvSpPr>
        <p:spPr>
          <a:xfrm>
            <a:off x="320040" y="5065776"/>
            <a:ext cx="1078992" cy="164592"/>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Box 73">
            <a:extLst>
              <a:ext uri="{FF2B5EF4-FFF2-40B4-BE49-F238E27FC236}">
                <a16:creationId xmlns:a16="http://schemas.microsoft.com/office/drawing/2014/main" id="{F67F0FAD-6F4E-E9C4-3310-4D526DCE03BC}"/>
              </a:ext>
            </a:extLst>
          </p:cNvPr>
          <p:cNvSpPr txBox="1"/>
          <p:nvPr/>
        </p:nvSpPr>
        <p:spPr>
          <a:xfrm>
            <a:off x="320040" y="5065776"/>
            <a:ext cx="1078992" cy="164592"/>
          </a:xfrm>
          <a:prstGeom prst="rect">
            <a:avLst/>
          </a:prstGeom>
          <a:noFill/>
        </p:spPr>
        <p:txBody>
          <a:bodyPr wrap="square" lIns="18288" tIns="0" rIns="18288" bIns="0" anchor="ctr">
            <a:spAutoFit/>
          </a:bodyPr>
          <a:lstStyle/>
          <a:p>
            <a:pPr algn="ctr"/>
            <a:r>
              <a:rPr sz="550" b="1">
                <a:solidFill>
                  <a:srgbClr val="6B6965"/>
                </a:solidFill>
                <a:latin typeface="Calibri"/>
              </a:rPr>
              <a:t>PLANNED</a:t>
            </a:r>
          </a:p>
        </p:txBody>
      </p:sp>
      <p:sp>
        <p:nvSpPr>
          <p:cNvPr id="75" name="TextBox 74">
            <a:extLst>
              <a:ext uri="{FF2B5EF4-FFF2-40B4-BE49-F238E27FC236}">
                <a16:creationId xmlns:a16="http://schemas.microsoft.com/office/drawing/2014/main" id="{40ABF2E3-E3AE-FEC4-D972-94DCF1404D16}"/>
              </a:ext>
            </a:extLst>
          </p:cNvPr>
          <p:cNvSpPr txBox="1"/>
          <p:nvPr/>
        </p:nvSpPr>
        <p:spPr>
          <a:xfrm>
            <a:off x="1508760" y="5065776"/>
            <a:ext cx="6858000" cy="164592"/>
          </a:xfrm>
          <a:prstGeom prst="rect">
            <a:avLst/>
          </a:prstGeom>
          <a:noFill/>
        </p:spPr>
        <p:txBody>
          <a:bodyPr wrap="square" lIns="27432" tIns="0" rIns="27432" bIns="0" anchor="ctr">
            <a:spAutoFit/>
          </a:bodyPr>
          <a:lstStyle/>
          <a:p>
            <a:pPr algn="l"/>
            <a:r>
              <a:rPr sz="850" b="0" i="0">
                <a:solidFill>
                  <a:srgbClr val="6B6965"/>
                </a:solidFill>
                <a:latin typeface="Calibri"/>
              </a:rPr>
              <a:t>designed, not yet executed</a:t>
            </a:r>
          </a:p>
        </p:txBody>
      </p:sp>
      <p:sp>
        <p:nvSpPr>
          <p:cNvPr id="78" name="Rectangle 77">
            <a:extLst>
              <a:ext uri="{FF2B5EF4-FFF2-40B4-BE49-F238E27FC236}">
                <a16:creationId xmlns:a16="http://schemas.microsoft.com/office/drawing/2014/main" id="{03527EF2-6E34-8D0E-4AD0-22FCB02D4AD2}"/>
              </a:ext>
            </a:extLst>
          </p:cNvPr>
          <p:cNvSpPr/>
          <p:nvPr/>
        </p:nvSpPr>
        <p:spPr>
          <a:xfrm>
            <a:off x="320040" y="3059469"/>
            <a:ext cx="5309583" cy="175623"/>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800" dirty="0"/>
              <a:t>DEVELOPMENT WORKSTREAMS</a:t>
            </a:r>
            <a:endParaRPr sz="800" dirty="0"/>
          </a:p>
        </p:txBody>
      </p:sp>
      <p:sp>
        <p:nvSpPr>
          <p:cNvPr id="80" name="Rectangle 79">
            <a:extLst>
              <a:ext uri="{FF2B5EF4-FFF2-40B4-BE49-F238E27FC236}">
                <a16:creationId xmlns:a16="http://schemas.microsoft.com/office/drawing/2014/main" id="{58EFE33C-95BE-847F-8807-EBDFECD55C33}"/>
              </a:ext>
            </a:extLst>
          </p:cNvPr>
          <p:cNvSpPr/>
          <p:nvPr/>
        </p:nvSpPr>
        <p:spPr>
          <a:xfrm>
            <a:off x="3458863" y="3733137"/>
            <a:ext cx="2170760" cy="424870"/>
          </a:xfrm>
          <a:prstGeom prst="rect">
            <a:avLst/>
          </a:prstGeom>
          <a:solidFill>
            <a:schemeClr val="accent4">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900" dirty="0">
                <a:solidFill>
                  <a:schemeClr val="tx2"/>
                </a:solidFill>
              </a:rPr>
              <a:t>May need to </a:t>
            </a:r>
            <a:r>
              <a:rPr lang="en-US" sz="900" dirty="0" err="1">
                <a:solidFill>
                  <a:schemeClr val="tx2"/>
                </a:solidFill>
              </a:rPr>
              <a:t>resegment</a:t>
            </a:r>
            <a:r>
              <a:rPr lang="en-US" sz="900" dirty="0">
                <a:solidFill>
                  <a:schemeClr val="tx2"/>
                </a:solidFill>
              </a:rPr>
              <a:t> a missing lobe while comparing against the angiogram</a:t>
            </a:r>
          </a:p>
        </p:txBody>
      </p:sp>
      <p:sp>
        <p:nvSpPr>
          <p:cNvPr id="81" name="Rectangle 80">
            <a:extLst>
              <a:ext uri="{FF2B5EF4-FFF2-40B4-BE49-F238E27FC236}">
                <a16:creationId xmlns:a16="http://schemas.microsoft.com/office/drawing/2014/main" id="{7B9C9457-C2D3-46B7-444B-702D74AB686D}"/>
              </a:ext>
            </a:extLst>
          </p:cNvPr>
          <p:cNvSpPr/>
          <p:nvPr/>
        </p:nvSpPr>
        <p:spPr>
          <a:xfrm>
            <a:off x="1050087" y="3272934"/>
            <a:ext cx="2374945" cy="42487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900" dirty="0">
                <a:solidFill>
                  <a:srgbClr val="2E2D29"/>
                </a:solidFill>
              </a:rPr>
              <a:t>0D-3D model agreement is not good enough, for BC tuning and adaptation integration</a:t>
            </a:r>
          </a:p>
        </p:txBody>
      </p:sp>
      <p:sp>
        <p:nvSpPr>
          <p:cNvPr id="82" name="Rectangle 81">
            <a:extLst>
              <a:ext uri="{FF2B5EF4-FFF2-40B4-BE49-F238E27FC236}">
                <a16:creationId xmlns:a16="http://schemas.microsoft.com/office/drawing/2014/main" id="{8E648A64-173C-FC3E-3C86-BB814DBCA776}"/>
              </a:ext>
            </a:extLst>
          </p:cNvPr>
          <p:cNvSpPr/>
          <p:nvPr/>
        </p:nvSpPr>
        <p:spPr>
          <a:xfrm>
            <a:off x="320040" y="3746676"/>
            <a:ext cx="690266" cy="424870"/>
          </a:xfrm>
          <a:prstGeom prst="rect">
            <a:avLst/>
          </a:prstGeom>
          <a:solidFill>
            <a:schemeClr val="accent4">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900" b="1" dirty="0">
                <a:solidFill>
                  <a:schemeClr val="tx2"/>
                </a:solidFill>
              </a:rPr>
              <a:t>Proposed Solution</a:t>
            </a:r>
          </a:p>
        </p:txBody>
      </p:sp>
      <p:sp>
        <p:nvSpPr>
          <p:cNvPr id="83" name="Rectangle 82">
            <a:extLst>
              <a:ext uri="{FF2B5EF4-FFF2-40B4-BE49-F238E27FC236}">
                <a16:creationId xmlns:a16="http://schemas.microsoft.com/office/drawing/2014/main" id="{38A7E0EB-0929-0DBE-01C7-F207189BE110}"/>
              </a:ext>
            </a:extLst>
          </p:cNvPr>
          <p:cNvSpPr/>
          <p:nvPr/>
        </p:nvSpPr>
        <p:spPr>
          <a:xfrm>
            <a:off x="320040" y="3272934"/>
            <a:ext cx="690266" cy="42487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900" b="1" dirty="0">
                <a:solidFill>
                  <a:srgbClr val="2E2D29"/>
                </a:solidFill>
              </a:rPr>
              <a:t>Problem</a:t>
            </a:r>
          </a:p>
        </p:txBody>
      </p:sp>
      <p:sp>
        <p:nvSpPr>
          <p:cNvPr id="84" name="Rectangle 83">
            <a:extLst>
              <a:ext uri="{FF2B5EF4-FFF2-40B4-BE49-F238E27FC236}">
                <a16:creationId xmlns:a16="http://schemas.microsoft.com/office/drawing/2014/main" id="{236C8408-831E-875E-453B-4CB061B4956A}"/>
              </a:ext>
            </a:extLst>
          </p:cNvPr>
          <p:cNvSpPr/>
          <p:nvPr/>
        </p:nvSpPr>
        <p:spPr>
          <a:xfrm>
            <a:off x="3464812" y="3271680"/>
            <a:ext cx="2164811" cy="42487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900" dirty="0">
                <a:solidFill>
                  <a:srgbClr val="2E2D29"/>
                </a:solidFill>
              </a:rPr>
              <a:t>Flow split disagreeing for TST-STAN-2</a:t>
            </a:r>
          </a:p>
        </p:txBody>
      </p:sp>
      <p:sp>
        <p:nvSpPr>
          <p:cNvPr id="85" name="Rectangle 84">
            <a:extLst>
              <a:ext uri="{FF2B5EF4-FFF2-40B4-BE49-F238E27FC236}">
                <a16:creationId xmlns:a16="http://schemas.microsoft.com/office/drawing/2014/main" id="{754EA710-97B8-B3DB-BF55-7E856DEC275C}"/>
              </a:ext>
            </a:extLst>
          </p:cNvPr>
          <p:cNvSpPr/>
          <p:nvPr/>
        </p:nvSpPr>
        <p:spPr>
          <a:xfrm>
            <a:off x="5684069" y="3733137"/>
            <a:ext cx="2170760" cy="424870"/>
          </a:xfrm>
          <a:prstGeom prst="rect">
            <a:avLst/>
          </a:prstGeom>
          <a:solidFill>
            <a:schemeClr val="accent4">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900" dirty="0">
                <a:solidFill>
                  <a:schemeClr val="tx2"/>
                </a:solidFill>
              </a:rPr>
              <a:t>Enforce rigorous adherence between angiogram postop diameters and </a:t>
            </a:r>
          </a:p>
        </p:txBody>
      </p:sp>
      <p:sp>
        <p:nvSpPr>
          <p:cNvPr id="86" name="Rectangle 85">
            <a:extLst>
              <a:ext uri="{FF2B5EF4-FFF2-40B4-BE49-F238E27FC236}">
                <a16:creationId xmlns:a16="http://schemas.microsoft.com/office/drawing/2014/main" id="{42B2454D-23BB-36CA-6D00-C61F91F9B4E2}"/>
              </a:ext>
            </a:extLst>
          </p:cNvPr>
          <p:cNvSpPr/>
          <p:nvPr/>
        </p:nvSpPr>
        <p:spPr>
          <a:xfrm>
            <a:off x="5690018" y="3267986"/>
            <a:ext cx="2164811" cy="42487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900" dirty="0">
                <a:solidFill>
                  <a:srgbClr val="2E2D29"/>
                </a:solidFill>
              </a:rPr>
              <a:t>Some simulated postop flow splits overshooting the postop measurement</a:t>
            </a:r>
          </a:p>
        </p:txBody>
      </p:sp>
    </p:spTree>
    <p:extLst>
      <p:ext uri="{BB962C8B-B14F-4D97-AF65-F5344CB8AC3E}">
        <p14:creationId xmlns:p14="http://schemas.microsoft.com/office/powerpoint/2010/main" val="40664784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sz="2200">
                <a:solidFill>
                  <a:srgbClr val="8C1515"/>
                </a:solidFill>
                <a:latin typeface="Georgia"/>
              </a:rPr>
              <a:t>Cohort progress across the pipeline</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320040" y="1463040"/>
            <a:ext cx="8503920" cy="274320"/>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374904" y="1463040"/>
            <a:ext cx="1810512" cy="274320"/>
          </a:xfrm>
          <a:prstGeom prst="rect">
            <a:avLst/>
          </a:prstGeom>
          <a:noFill/>
        </p:spPr>
        <p:txBody>
          <a:bodyPr wrap="square" lIns="27432" tIns="0" rIns="27432" bIns="0" anchor="ctr">
            <a:spAutoFit/>
          </a:bodyPr>
          <a:lstStyle/>
          <a:p>
            <a:pPr algn="l"/>
            <a:endParaRPr/>
          </a:p>
        </p:txBody>
      </p:sp>
      <p:sp>
        <p:nvSpPr>
          <p:cNvPr id="19" name="TextBox 18"/>
          <p:cNvSpPr txBox="1"/>
          <p:nvPr/>
        </p:nvSpPr>
        <p:spPr>
          <a:xfrm>
            <a:off x="2295144" y="1463040"/>
            <a:ext cx="1207007" cy="274320"/>
          </a:xfrm>
          <a:prstGeom prst="rect">
            <a:avLst/>
          </a:prstGeom>
          <a:noFill/>
        </p:spPr>
        <p:txBody>
          <a:bodyPr wrap="square" lIns="27432" tIns="0" rIns="27432" bIns="0" anchor="ctr">
            <a:spAutoFit/>
          </a:bodyPr>
          <a:lstStyle/>
          <a:p>
            <a:pPr algn="l"/>
            <a:r>
              <a:rPr sz="800" b="1" i="0">
                <a:solidFill>
                  <a:srgbClr val="FFFFFF"/>
                </a:solidFill>
                <a:latin typeface="Calibri"/>
              </a:rPr>
              <a:t>TST-STAN-1</a:t>
            </a:r>
          </a:p>
        </p:txBody>
      </p:sp>
      <p:sp>
        <p:nvSpPr>
          <p:cNvPr id="20" name="TextBox 19"/>
          <p:cNvSpPr txBox="1"/>
          <p:nvPr/>
        </p:nvSpPr>
        <p:spPr>
          <a:xfrm>
            <a:off x="3611880" y="1463040"/>
            <a:ext cx="1207007" cy="274320"/>
          </a:xfrm>
          <a:prstGeom prst="rect">
            <a:avLst/>
          </a:prstGeom>
          <a:noFill/>
        </p:spPr>
        <p:txBody>
          <a:bodyPr wrap="square" lIns="27432" tIns="0" rIns="27432" bIns="0" anchor="ctr">
            <a:spAutoFit/>
          </a:bodyPr>
          <a:lstStyle/>
          <a:p>
            <a:pPr algn="l"/>
            <a:r>
              <a:rPr sz="800" b="1" i="0">
                <a:solidFill>
                  <a:srgbClr val="FFFFFF"/>
                </a:solidFill>
                <a:latin typeface="Calibri"/>
              </a:rPr>
              <a:t>TST-STAN-2</a:t>
            </a:r>
          </a:p>
        </p:txBody>
      </p:sp>
      <p:sp>
        <p:nvSpPr>
          <p:cNvPr id="21" name="TextBox 20"/>
          <p:cNvSpPr txBox="1"/>
          <p:nvPr/>
        </p:nvSpPr>
        <p:spPr>
          <a:xfrm>
            <a:off x="4928616" y="1463040"/>
            <a:ext cx="1207007" cy="274320"/>
          </a:xfrm>
          <a:prstGeom prst="rect">
            <a:avLst/>
          </a:prstGeom>
          <a:noFill/>
        </p:spPr>
        <p:txBody>
          <a:bodyPr wrap="square" lIns="27432" tIns="0" rIns="27432" bIns="0" anchor="ctr">
            <a:spAutoFit/>
          </a:bodyPr>
          <a:lstStyle/>
          <a:p>
            <a:pPr algn="l"/>
            <a:r>
              <a:rPr sz="800" b="1" i="0">
                <a:solidFill>
                  <a:srgbClr val="FFFFFF"/>
                </a:solidFill>
                <a:latin typeface="Calibri"/>
              </a:rPr>
              <a:t>TST-STAN-3</a:t>
            </a:r>
          </a:p>
        </p:txBody>
      </p:sp>
      <p:sp>
        <p:nvSpPr>
          <p:cNvPr id="22" name="TextBox 21"/>
          <p:cNvSpPr txBox="1"/>
          <p:nvPr/>
        </p:nvSpPr>
        <p:spPr>
          <a:xfrm>
            <a:off x="6245351" y="1463040"/>
            <a:ext cx="1207007" cy="274320"/>
          </a:xfrm>
          <a:prstGeom prst="rect">
            <a:avLst/>
          </a:prstGeom>
          <a:noFill/>
        </p:spPr>
        <p:txBody>
          <a:bodyPr wrap="square" lIns="27432" tIns="0" rIns="27432" bIns="0" anchor="ctr">
            <a:spAutoFit/>
          </a:bodyPr>
          <a:lstStyle/>
          <a:p>
            <a:pPr algn="l"/>
            <a:r>
              <a:rPr sz="800" b="1" i="0">
                <a:solidFill>
                  <a:srgbClr val="FFFFFF"/>
                </a:solidFill>
                <a:latin typeface="Calibri"/>
              </a:rPr>
              <a:t>TST-STAN-5</a:t>
            </a:r>
          </a:p>
        </p:txBody>
      </p:sp>
      <p:sp>
        <p:nvSpPr>
          <p:cNvPr id="23" name="TextBox 22"/>
          <p:cNvSpPr txBox="1"/>
          <p:nvPr/>
        </p:nvSpPr>
        <p:spPr>
          <a:xfrm>
            <a:off x="7562088" y="1463040"/>
            <a:ext cx="1207007" cy="274320"/>
          </a:xfrm>
          <a:prstGeom prst="rect">
            <a:avLst/>
          </a:prstGeom>
          <a:noFill/>
        </p:spPr>
        <p:txBody>
          <a:bodyPr wrap="square" lIns="27432" tIns="0" rIns="27432" bIns="0" anchor="ctr">
            <a:spAutoFit/>
          </a:bodyPr>
          <a:lstStyle/>
          <a:p>
            <a:pPr algn="l"/>
            <a:r>
              <a:rPr sz="800" b="1" i="0">
                <a:solidFill>
                  <a:srgbClr val="FFFFFF"/>
                </a:solidFill>
                <a:latin typeface="Calibri"/>
              </a:rPr>
              <a:t>TST-STAN-9</a:t>
            </a:r>
          </a:p>
        </p:txBody>
      </p:sp>
      <p:sp>
        <p:nvSpPr>
          <p:cNvPr id="24" name="Rectangle 23"/>
          <p:cNvSpPr/>
          <p:nvPr/>
        </p:nvSpPr>
        <p:spPr>
          <a:xfrm>
            <a:off x="320040" y="1737360"/>
            <a:ext cx="8503920" cy="27432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374904" y="1737360"/>
            <a:ext cx="1810512" cy="274320"/>
          </a:xfrm>
          <a:prstGeom prst="rect">
            <a:avLst/>
          </a:prstGeom>
          <a:noFill/>
        </p:spPr>
        <p:txBody>
          <a:bodyPr wrap="square" lIns="27432" tIns="0" rIns="27432" bIns="0" anchor="ctr">
            <a:spAutoFit/>
          </a:bodyPr>
          <a:lstStyle/>
          <a:p>
            <a:pPr algn="l"/>
            <a:r>
              <a:rPr sz="850" b="1" i="0">
                <a:solidFill>
                  <a:srgbClr val="2E2D29"/>
                </a:solidFill>
                <a:latin typeface="Calibri"/>
              </a:rPr>
              <a:t>1  Model finalized</a:t>
            </a:r>
          </a:p>
        </p:txBody>
      </p:sp>
      <p:sp>
        <p:nvSpPr>
          <p:cNvPr id="26" name="TextBox 25"/>
          <p:cNvSpPr txBox="1"/>
          <p:nvPr/>
        </p:nvSpPr>
        <p:spPr>
          <a:xfrm>
            <a:off x="2295144" y="1737360"/>
            <a:ext cx="1207007" cy="274320"/>
          </a:xfrm>
          <a:prstGeom prst="rect">
            <a:avLst/>
          </a:prstGeom>
          <a:noFill/>
        </p:spPr>
        <p:txBody>
          <a:bodyPr wrap="square" lIns="27432" tIns="0" rIns="27432" bIns="0" anchor="ctr">
            <a:spAutoFit/>
          </a:bodyPr>
          <a:lstStyle/>
          <a:p>
            <a:pPr algn="l"/>
            <a:r>
              <a:rPr sz="850" b="0" i="0">
                <a:solidFill>
                  <a:srgbClr val="6B6965"/>
                </a:solidFill>
                <a:latin typeface="Calibri"/>
              </a:rPr>
              <a:t>Done</a:t>
            </a:r>
          </a:p>
        </p:txBody>
      </p:sp>
      <p:sp>
        <p:nvSpPr>
          <p:cNvPr id="27" name="TextBox 26"/>
          <p:cNvSpPr txBox="1"/>
          <p:nvPr/>
        </p:nvSpPr>
        <p:spPr>
          <a:xfrm>
            <a:off x="3611880" y="1737360"/>
            <a:ext cx="1207007" cy="274320"/>
          </a:xfrm>
          <a:prstGeom prst="rect">
            <a:avLst/>
          </a:prstGeom>
          <a:noFill/>
        </p:spPr>
        <p:txBody>
          <a:bodyPr wrap="square" lIns="27432" tIns="0" rIns="27432" bIns="0" anchor="ctr">
            <a:spAutoFit/>
          </a:bodyPr>
          <a:lstStyle/>
          <a:p>
            <a:pPr algn="l"/>
            <a:r>
              <a:rPr sz="850" b="0" i="0">
                <a:solidFill>
                  <a:srgbClr val="6B6965"/>
                </a:solidFill>
                <a:latin typeface="Calibri"/>
              </a:rPr>
              <a:t>Done</a:t>
            </a:r>
          </a:p>
        </p:txBody>
      </p:sp>
      <p:sp>
        <p:nvSpPr>
          <p:cNvPr id="28" name="TextBox 27"/>
          <p:cNvSpPr txBox="1"/>
          <p:nvPr/>
        </p:nvSpPr>
        <p:spPr>
          <a:xfrm>
            <a:off x="4928616" y="1737360"/>
            <a:ext cx="1207007" cy="274320"/>
          </a:xfrm>
          <a:prstGeom prst="rect">
            <a:avLst/>
          </a:prstGeom>
          <a:noFill/>
        </p:spPr>
        <p:txBody>
          <a:bodyPr wrap="square" lIns="27432" tIns="0" rIns="27432" bIns="0" anchor="ctr">
            <a:spAutoFit/>
          </a:bodyPr>
          <a:lstStyle/>
          <a:p>
            <a:pPr algn="l"/>
            <a:r>
              <a:rPr sz="850" b="0" i="0">
                <a:solidFill>
                  <a:srgbClr val="6B6965"/>
                </a:solidFill>
                <a:latin typeface="Calibri"/>
              </a:rPr>
              <a:t>Done</a:t>
            </a:r>
          </a:p>
        </p:txBody>
      </p:sp>
      <p:sp>
        <p:nvSpPr>
          <p:cNvPr id="29" name="TextBox 28"/>
          <p:cNvSpPr txBox="1"/>
          <p:nvPr/>
        </p:nvSpPr>
        <p:spPr>
          <a:xfrm>
            <a:off x="6245351" y="1737360"/>
            <a:ext cx="1207007" cy="274320"/>
          </a:xfrm>
          <a:prstGeom prst="rect">
            <a:avLst/>
          </a:prstGeom>
          <a:noFill/>
        </p:spPr>
        <p:txBody>
          <a:bodyPr wrap="square" lIns="27432" tIns="0" rIns="27432" bIns="0" anchor="ctr">
            <a:spAutoFit/>
          </a:bodyPr>
          <a:lstStyle/>
          <a:p>
            <a:pPr algn="l"/>
            <a:r>
              <a:rPr sz="850" b="0" i="0">
                <a:solidFill>
                  <a:srgbClr val="6B6965"/>
                </a:solidFill>
                <a:latin typeface="Calibri"/>
              </a:rPr>
              <a:t>Done</a:t>
            </a:r>
          </a:p>
        </p:txBody>
      </p:sp>
      <p:sp>
        <p:nvSpPr>
          <p:cNvPr id="30" name="TextBox 29"/>
          <p:cNvSpPr txBox="1"/>
          <p:nvPr/>
        </p:nvSpPr>
        <p:spPr>
          <a:xfrm>
            <a:off x="7562088" y="1737360"/>
            <a:ext cx="1207007" cy="274320"/>
          </a:xfrm>
          <a:prstGeom prst="rect">
            <a:avLst/>
          </a:prstGeom>
          <a:noFill/>
        </p:spPr>
        <p:txBody>
          <a:bodyPr wrap="square" lIns="27432" tIns="0" rIns="27432" bIns="0" anchor="ctr">
            <a:spAutoFit/>
          </a:bodyPr>
          <a:lstStyle/>
          <a:p>
            <a:pPr algn="l"/>
            <a:r>
              <a:rPr sz="850" b="0" i="0">
                <a:solidFill>
                  <a:srgbClr val="6B6965"/>
                </a:solidFill>
                <a:latin typeface="Calibri"/>
              </a:rPr>
              <a:t>Done</a:t>
            </a:r>
          </a:p>
        </p:txBody>
      </p:sp>
      <p:sp>
        <p:nvSpPr>
          <p:cNvPr id="31" name="TextBox 30"/>
          <p:cNvSpPr txBox="1"/>
          <p:nvPr/>
        </p:nvSpPr>
        <p:spPr>
          <a:xfrm>
            <a:off x="374904" y="2011680"/>
            <a:ext cx="1810512" cy="274320"/>
          </a:xfrm>
          <a:prstGeom prst="rect">
            <a:avLst/>
          </a:prstGeom>
          <a:noFill/>
        </p:spPr>
        <p:txBody>
          <a:bodyPr wrap="square" lIns="27432" tIns="0" rIns="27432" bIns="0" anchor="ctr">
            <a:spAutoFit/>
          </a:bodyPr>
          <a:lstStyle/>
          <a:p>
            <a:pPr algn="l"/>
            <a:r>
              <a:rPr sz="850" b="1" i="0">
                <a:solidFill>
                  <a:srgbClr val="2E2D29"/>
                </a:solidFill>
                <a:latin typeface="Calibri"/>
              </a:rPr>
              <a:t>2  BCs tuned</a:t>
            </a:r>
          </a:p>
        </p:txBody>
      </p:sp>
      <p:sp>
        <p:nvSpPr>
          <p:cNvPr id="32" name="TextBox 31"/>
          <p:cNvSpPr txBox="1"/>
          <p:nvPr/>
        </p:nvSpPr>
        <p:spPr>
          <a:xfrm>
            <a:off x="2295144" y="2011680"/>
            <a:ext cx="1207007" cy="274320"/>
          </a:xfrm>
          <a:prstGeom prst="rect">
            <a:avLst/>
          </a:prstGeom>
          <a:noFill/>
        </p:spPr>
        <p:txBody>
          <a:bodyPr wrap="square" lIns="27432" tIns="0" rIns="27432" bIns="0" anchor="ctr">
            <a:spAutoFit/>
          </a:bodyPr>
          <a:lstStyle/>
          <a:p>
            <a:pPr algn="l"/>
            <a:r>
              <a:rPr sz="850" b="0" i="0">
                <a:solidFill>
                  <a:srgbClr val="6B6965"/>
                </a:solidFill>
                <a:latin typeface="Calibri"/>
              </a:rPr>
              <a:t>Done</a:t>
            </a:r>
          </a:p>
        </p:txBody>
      </p:sp>
      <p:sp>
        <p:nvSpPr>
          <p:cNvPr id="33" name="TextBox 32"/>
          <p:cNvSpPr txBox="1"/>
          <p:nvPr/>
        </p:nvSpPr>
        <p:spPr>
          <a:xfrm>
            <a:off x="3611880" y="2011680"/>
            <a:ext cx="1207007" cy="274320"/>
          </a:xfrm>
          <a:prstGeom prst="rect">
            <a:avLst/>
          </a:prstGeom>
          <a:noFill/>
        </p:spPr>
        <p:txBody>
          <a:bodyPr wrap="square" lIns="27432" tIns="0" rIns="27432" bIns="0" anchor="ctr">
            <a:spAutoFit/>
          </a:bodyPr>
          <a:lstStyle/>
          <a:p>
            <a:pPr algn="l"/>
            <a:r>
              <a:rPr sz="850" b="0" i="0">
                <a:solidFill>
                  <a:srgbClr val="6B6965"/>
                </a:solidFill>
                <a:latin typeface="Calibri"/>
              </a:rPr>
              <a:t>In progress</a:t>
            </a:r>
          </a:p>
        </p:txBody>
      </p:sp>
      <p:sp>
        <p:nvSpPr>
          <p:cNvPr id="34" name="TextBox 33"/>
          <p:cNvSpPr txBox="1"/>
          <p:nvPr/>
        </p:nvSpPr>
        <p:spPr>
          <a:xfrm>
            <a:off x="4928616" y="2011680"/>
            <a:ext cx="1207007" cy="274320"/>
          </a:xfrm>
          <a:prstGeom prst="rect">
            <a:avLst/>
          </a:prstGeom>
          <a:noFill/>
        </p:spPr>
        <p:txBody>
          <a:bodyPr wrap="square" lIns="27432" tIns="0" rIns="27432" bIns="0" anchor="ctr">
            <a:spAutoFit/>
          </a:bodyPr>
          <a:lstStyle/>
          <a:p>
            <a:pPr algn="l"/>
            <a:r>
              <a:rPr sz="850" b="0" i="0">
                <a:solidFill>
                  <a:srgbClr val="6B6965"/>
                </a:solidFill>
                <a:latin typeface="Calibri"/>
              </a:rPr>
              <a:t>Done</a:t>
            </a:r>
          </a:p>
        </p:txBody>
      </p:sp>
      <p:sp>
        <p:nvSpPr>
          <p:cNvPr id="35" name="TextBox 34"/>
          <p:cNvSpPr txBox="1"/>
          <p:nvPr/>
        </p:nvSpPr>
        <p:spPr>
          <a:xfrm>
            <a:off x="6245351" y="2011680"/>
            <a:ext cx="1207007" cy="274320"/>
          </a:xfrm>
          <a:prstGeom prst="rect">
            <a:avLst/>
          </a:prstGeom>
          <a:noFill/>
        </p:spPr>
        <p:txBody>
          <a:bodyPr wrap="square" lIns="27432" tIns="0" rIns="27432" bIns="0" anchor="ctr">
            <a:spAutoFit/>
          </a:bodyPr>
          <a:lstStyle/>
          <a:p>
            <a:pPr algn="l"/>
            <a:r>
              <a:rPr sz="850" b="0" i="0">
                <a:solidFill>
                  <a:srgbClr val="6B6965"/>
                </a:solidFill>
                <a:latin typeface="Calibri"/>
              </a:rPr>
              <a:t>Re-run pending</a:t>
            </a:r>
          </a:p>
        </p:txBody>
      </p:sp>
      <p:sp>
        <p:nvSpPr>
          <p:cNvPr id="36" name="TextBox 35"/>
          <p:cNvSpPr txBox="1"/>
          <p:nvPr/>
        </p:nvSpPr>
        <p:spPr>
          <a:xfrm>
            <a:off x="7562088" y="2011680"/>
            <a:ext cx="1207007" cy="274320"/>
          </a:xfrm>
          <a:prstGeom prst="rect">
            <a:avLst/>
          </a:prstGeom>
          <a:noFill/>
        </p:spPr>
        <p:txBody>
          <a:bodyPr wrap="square" lIns="27432" tIns="0" rIns="27432" bIns="0" anchor="ctr">
            <a:spAutoFit/>
          </a:bodyPr>
          <a:lstStyle/>
          <a:p>
            <a:pPr algn="l"/>
            <a:r>
              <a:rPr sz="850" b="0" i="0">
                <a:solidFill>
                  <a:srgbClr val="6B6965"/>
                </a:solidFill>
                <a:latin typeface="Calibri"/>
              </a:rPr>
              <a:t>Done</a:t>
            </a:r>
          </a:p>
        </p:txBody>
      </p:sp>
      <p:sp>
        <p:nvSpPr>
          <p:cNvPr id="37" name="Rectangle 36"/>
          <p:cNvSpPr/>
          <p:nvPr/>
        </p:nvSpPr>
        <p:spPr>
          <a:xfrm>
            <a:off x="320040" y="2286000"/>
            <a:ext cx="8503920" cy="27432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374904" y="2286000"/>
            <a:ext cx="1810512" cy="274320"/>
          </a:xfrm>
          <a:prstGeom prst="rect">
            <a:avLst/>
          </a:prstGeom>
          <a:noFill/>
        </p:spPr>
        <p:txBody>
          <a:bodyPr wrap="square" lIns="27432" tIns="0" rIns="27432" bIns="0" anchor="ctr">
            <a:spAutoFit/>
          </a:bodyPr>
          <a:lstStyle/>
          <a:p>
            <a:pPr algn="l"/>
            <a:r>
              <a:rPr sz="850" b="1" i="0">
                <a:solidFill>
                  <a:srgbClr val="2E2D29"/>
                </a:solidFill>
                <a:latin typeface="Calibri"/>
              </a:rPr>
              <a:t>3  Pre-op simulation</a:t>
            </a:r>
          </a:p>
        </p:txBody>
      </p:sp>
      <p:sp>
        <p:nvSpPr>
          <p:cNvPr id="39" name="TextBox 38"/>
          <p:cNvSpPr txBox="1"/>
          <p:nvPr/>
        </p:nvSpPr>
        <p:spPr>
          <a:xfrm>
            <a:off x="2295144" y="2286000"/>
            <a:ext cx="1207007" cy="274320"/>
          </a:xfrm>
          <a:prstGeom prst="rect">
            <a:avLst/>
          </a:prstGeom>
          <a:noFill/>
        </p:spPr>
        <p:txBody>
          <a:bodyPr wrap="square" lIns="27432" tIns="0" rIns="27432" bIns="0" anchor="ctr">
            <a:spAutoFit/>
          </a:bodyPr>
          <a:lstStyle/>
          <a:p>
            <a:pPr algn="l"/>
            <a:r>
              <a:rPr sz="850" b="0" i="0">
                <a:solidFill>
                  <a:srgbClr val="6B6965"/>
                </a:solidFill>
                <a:latin typeface="Calibri"/>
              </a:rPr>
              <a:t>Done</a:t>
            </a:r>
          </a:p>
        </p:txBody>
      </p:sp>
      <p:sp>
        <p:nvSpPr>
          <p:cNvPr id="40" name="TextBox 39"/>
          <p:cNvSpPr txBox="1"/>
          <p:nvPr/>
        </p:nvSpPr>
        <p:spPr>
          <a:xfrm>
            <a:off x="3611880" y="2286000"/>
            <a:ext cx="1207007" cy="274320"/>
          </a:xfrm>
          <a:prstGeom prst="rect">
            <a:avLst/>
          </a:prstGeom>
          <a:noFill/>
        </p:spPr>
        <p:txBody>
          <a:bodyPr wrap="square" lIns="27432" tIns="0" rIns="27432" bIns="0" anchor="ctr">
            <a:spAutoFit/>
          </a:bodyPr>
          <a:lstStyle/>
          <a:p>
            <a:pPr algn="l"/>
            <a:r>
              <a:rPr sz="850" b="0" i="0">
                <a:solidFill>
                  <a:srgbClr val="6B6965"/>
                </a:solidFill>
                <a:latin typeface="Calibri"/>
              </a:rPr>
              <a:t>In progress</a:t>
            </a:r>
          </a:p>
        </p:txBody>
      </p:sp>
      <p:sp>
        <p:nvSpPr>
          <p:cNvPr id="41" name="TextBox 40"/>
          <p:cNvSpPr txBox="1"/>
          <p:nvPr/>
        </p:nvSpPr>
        <p:spPr>
          <a:xfrm>
            <a:off x="4928616" y="2286000"/>
            <a:ext cx="1207007" cy="274320"/>
          </a:xfrm>
          <a:prstGeom prst="rect">
            <a:avLst/>
          </a:prstGeom>
          <a:noFill/>
        </p:spPr>
        <p:txBody>
          <a:bodyPr wrap="square" lIns="27432" tIns="0" rIns="27432" bIns="0" anchor="ctr">
            <a:spAutoFit/>
          </a:bodyPr>
          <a:lstStyle/>
          <a:p>
            <a:pPr algn="l"/>
            <a:r>
              <a:rPr sz="850" b="0" i="0">
                <a:solidFill>
                  <a:srgbClr val="6B6965"/>
                </a:solidFill>
                <a:latin typeface="Calibri"/>
              </a:rPr>
              <a:t>Done</a:t>
            </a:r>
          </a:p>
        </p:txBody>
      </p:sp>
      <p:sp>
        <p:nvSpPr>
          <p:cNvPr id="42" name="TextBox 41"/>
          <p:cNvSpPr txBox="1"/>
          <p:nvPr/>
        </p:nvSpPr>
        <p:spPr>
          <a:xfrm>
            <a:off x="6245351" y="2286000"/>
            <a:ext cx="1207007" cy="274320"/>
          </a:xfrm>
          <a:prstGeom prst="rect">
            <a:avLst/>
          </a:prstGeom>
          <a:noFill/>
        </p:spPr>
        <p:txBody>
          <a:bodyPr wrap="square" lIns="27432" tIns="0" rIns="27432" bIns="0" anchor="ctr">
            <a:spAutoFit/>
          </a:bodyPr>
          <a:lstStyle/>
          <a:p>
            <a:pPr algn="l"/>
            <a:r>
              <a:rPr sz="850" b="0" i="0">
                <a:solidFill>
                  <a:srgbClr val="6B6965"/>
                </a:solidFill>
                <a:latin typeface="Calibri"/>
              </a:rPr>
              <a:t>Re-run pending</a:t>
            </a:r>
          </a:p>
        </p:txBody>
      </p:sp>
      <p:sp>
        <p:nvSpPr>
          <p:cNvPr id="43" name="TextBox 42"/>
          <p:cNvSpPr txBox="1"/>
          <p:nvPr/>
        </p:nvSpPr>
        <p:spPr>
          <a:xfrm>
            <a:off x="7562088" y="2286000"/>
            <a:ext cx="1207007" cy="274320"/>
          </a:xfrm>
          <a:prstGeom prst="rect">
            <a:avLst/>
          </a:prstGeom>
          <a:noFill/>
        </p:spPr>
        <p:txBody>
          <a:bodyPr wrap="square" lIns="27432" tIns="0" rIns="27432" bIns="0" anchor="ctr">
            <a:spAutoFit/>
          </a:bodyPr>
          <a:lstStyle/>
          <a:p>
            <a:pPr algn="l"/>
            <a:r>
              <a:rPr sz="850" b="0" i="0">
                <a:solidFill>
                  <a:srgbClr val="6B6965"/>
                </a:solidFill>
                <a:latin typeface="Calibri"/>
              </a:rPr>
              <a:t>Done</a:t>
            </a:r>
          </a:p>
        </p:txBody>
      </p:sp>
      <p:sp>
        <p:nvSpPr>
          <p:cNvPr id="44" name="TextBox 43"/>
          <p:cNvSpPr txBox="1"/>
          <p:nvPr/>
        </p:nvSpPr>
        <p:spPr>
          <a:xfrm>
            <a:off x="374904" y="2560320"/>
            <a:ext cx="1810512" cy="274320"/>
          </a:xfrm>
          <a:prstGeom prst="rect">
            <a:avLst/>
          </a:prstGeom>
          <a:noFill/>
        </p:spPr>
        <p:txBody>
          <a:bodyPr wrap="square" lIns="27432" tIns="0" rIns="27432" bIns="0" anchor="ctr">
            <a:spAutoFit/>
          </a:bodyPr>
          <a:lstStyle/>
          <a:p>
            <a:pPr algn="l"/>
            <a:r>
              <a:rPr sz="850" b="1" i="0">
                <a:solidFill>
                  <a:srgbClr val="2E2D29"/>
                </a:solidFill>
                <a:latin typeface="Calibri"/>
              </a:rPr>
              <a:t>4  Post-op simulation</a:t>
            </a:r>
          </a:p>
        </p:txBody>
      </p:sp>
      <p:sp>
        <p:nvSpPr>
          <p:cNvPr id="45" name="TextBox 44"/>
          <p:cNvSpPr txBox="1"/>
          <p:nvPr/>
        </p:nvSpPr>
        <p:spPr>
          <a:xfrm>
            <a:off x="2295144" y="2560320"/>
            <a:ext cx="1207007" cy="274320"/>
          </a:xfrm>
          <a:prstGeom prst="rect">
            <a:avLst/>
          </a:prstGeom>
          <a:noFill/>
        </p:spPr>
        <p:txBody>
          <a:bodyPr wrap="square" lIns="27432" tIns="0" rIns="27432" bIns="0" anchor="ctr">
            <a:spAutoFit/>
          </a:bodyPr>
          <a:lstStyle/>
          <a:p>
            <a:pPr algn="l"/>
            <a:r>
              <a:rPr sz="850" b="0" i="0">
                <a:solidFill>
                  <a:srgbClr val="6B6965"/>
                </a:solidFill>
                <a:latin typeface="Calibri"/>
              </a:rPr>
              <a:t>Done</a:t>
            </a:r>
          </a:p>
        </p:txBody>
      </p:sp>
      <p:sp>
        <p:nvSpPr>
          <p:cNvPr id="46" name="TextBox 45"/>
          <p:cNvSpPr txBox="1"/>
          <p:nvPr/>
        </p:nvSpPr>
        <p:spPr>
          <a:xfrm>
            <a:off x="3611880" y="2560320"/>
            <a:ext cx="1207007" cy="274320"/>
          </a:xfrm>
          <a:prstGeom prst="rect">
            <a:avLst/>
          </a:prstGeom>
          <a:noFill/>
        </p:spPr>
        <p:txBody>
          <a:bodyPr wrap="square" lIns="27432" tIns="0" rIns="27432" bIns="0" anchor="ctr">
            <a:spAutoFit/>
          </a:bodyPr>
          <a:lstStyle/>
          <a:p>
            <a:pPr algn="l"/>
            <a:r>
              <a:rPr sz="850" b="0" i="0">
                <a:solidFill>
                  <a:srgbClr val="6B6965"/>
                </a:solidFill>
                <a:latin typeface="Calibri"/>
              </a:rPr>
              <a:t>In progress</a:t>
            </a:r>
          </a:p>
        </p:txBody>
      </p:sp>
      <p:sp>
        <p:nvSpPr>
          <p:cNvPr id="47" name="TextBox 46"/>
          <p:cNvSpPr txBox="1"/>
          <p:nvPr/>
        </p:nvSpPr>
        <p:spPr>
          <a:xfrm>
            <a:off x="4928616" y="2560320"/>
            <a:ext cx="1207007" cy="274320"/>
          </a:xfrm>
          <a:prstGeom prst="rect">
            <a:avLst/>
          </a:prstGeom>
          <a:noFill/>
        </p:spPr>
        <p:txBody>
          <a:bodyPr wrap="square" lIns="27432" tIns="0" rIns="27432" bIns="0" anchor="ctr">
            <a:spAutoFit/>
          </a:bodyPr>
          <a:lstStyle/>
          <a:p>
            <a:pPr algn="l"/>
            <a:r>
              <a:rPr sz="850" b="0" i="0">
                <a:solidFill>
                  <a:srgbClr val="6B6965"/>
                </a:solidFill>
                <a:latin typeface="Calibri"/>
              </a:rPr>
              <a:t>Done</a:t>
            </a:r>
          </a:p>
        </p:txBody>
      </p:sp>
      <p:sp>
        <p:nvSpPr>
          <p:cNvPr id="48" name="TextBox 47"/>
          <p:cNvSpPr txBox="1"/>
          <p:nvPr/>
        </p:nvSpPr>
        <p:spPr>
          <a:xfrm>
            <a:off x="6245351" y="2560320"/>
            <a:ext cx="1207007" cy="274320"/>
          </a:xfrm>
          <a:prstGeom prst="rect">
            <a:avLst/>
          </a:prstGeom>
          <a:noFill/>
        </p:spPr>
        <p:txBody>
          <a:bodyPr wrap="square" lIns="27432" tIns="0" rIns="27432" bIns="0" anchor="ctr">
            <a:spAutoFit/>
          </a:bodyPr>
          <a:lstStyle/>
          <a:p>
            <a:pPr algn="l"/>
            <a:r>
              <a:rPr sz="850" b="0" i="0">
                <a:solidFill>
                  <a:srgbClr val="6B6965"/>
                </a:solidFill>
                <a:latin typeface="Calibri"/>
              </a:rPr>
              <a:t>Re-run pending</a:t>
            </a:r>
          </a:p>
        </p:txBody>
      </p:sp>
      <p:sp>
        <p:nvSpPr>
          <p:cNvPr id="49" name="TextBox 48"/>
          <p:cNvSpPr txBox="1"/>
          <p:nvPr/>
        </p:nvSpPr>
        <p:spPr>
          <a:xfrm>
            <a:off x="7562088" y="2560320"/>
            <a:ext cx="1207007" cy="274320"/>
          </a:xfrm>
          <a:prstGeom prst="rect">
            <a:avLst/>
          </a:prstGeom>
          <a:noFill/>
        </p:spPr>
        <p:txBody>
          <a:bodyPr wrap="square" lIns="27432" tIns="0" rIns="27432" bIns="0" anchor="ctr">
            <a:spAutoFit/>
          </a:bodyPr>
          <a:lstStyle/>
          <a:p>
            <a:pPr algn="l"/>
            <a:r>
              <a:rPr sz="850" b="0" i="0">
                <a:solidFill>
                  <a:srgbClr val="6B6965"/>
                </a:solidFill>
                <a:latin typeface="Calibri"/>
              </a:rPr>
              <a:t>Done</a:t>
            </a:r>
          </a:p>
        </p:txBody>
      </p:sp>
      <p:sp>
        <p:nvSpPr>
          <p:cNvPr id="50" name="Rectangle 49"/>
          <p:cNvSpPr/>
          <p:nvPr/>
        </p:nvSpPr>
        <p:spPr>
          <a:xfrm>
            <a:off x="320040" y="2834640"/>
            <a:ext cx="8503920" cy="27432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Box 50"/>
          <p:cNvSpPr txBox="1"/>
          <p:nvPr/>
        </p:nvSpPr>
        <p:spPr>
          <a:xfrm>
            <a:off x="374904" y="2834640"/>
            <a:ext cx="1810512" cy="274320"/>
          </a:xfrm>
          <a:prstGeom prst="rect">
            <a:avLst/>
          </a:prstGeom>
          <a:noFill/>
        </p:spPr>
        <p:txBody>
          <a:bodyPr wrap="square" lIns="27432" tIns="0" rIns="27432" bIns="0" anchor="ctr">
            <a:spAutoFit/>
          </a:bodyPr>
          <a:lstStyle/>
          <a:p>
            <a:pPr algn="l"/>
            <a:r>
              <a:rPr sz="850" b="1" i="0">
                <a:solidFill>
                  <a:srgbClr val="2E2D29"/>
                </a:solidFill>
                <a:latin typeface="Calibri"/>
              </a:rPr>
              <a:t>5  Adaptation (0D)</a:t>
            </a:r>
          </a:p>
        </p:txBody>
      </p:sp>
      <p:sp>
        <p:nvSpPr>
          <p:cNvPr id="52" name="TextBox 51"/>
          <p:cNvSpPr txBox="1"/>
          <p:nvPr/>
        </p:nvSpPr>
        <p:spPr>
          <a:xfrm>
            <a:off x="2295144" y="2834640"/>
            <a:ext cx="1207007" cy="274320"/>
          </a:xfrm>
          <a:prstGeom prst="rect">
            <a:avLst/>
          </a:prstGeom>
          <a:noFill/>
        </p:spPr>
        <p:txBody>
          <a:bodyPr wrap="square" lIns="27432" tIns="0" rIns="27432" bIns="0" anchor="ctr">
            <a:spAutoFit/>
          </a:bodyPr>
          <a:lstStyle/>
          <a:p>
            <a:pPr algn="l"/>
            <a:r>
              <a:rPr sz="850" b="0" i="0">
                <a:solidFill>
                  <a:srgbClr val="6B6965"/>
                </a:solidFill>
                <a:latin typeface="Calibri"/>
              </a:rPr>
              <a:t>Tested</a:t>
            </a:r>
          </a:p>
        </p:txBody>
      </p:sp>
      <p:sp>
        <p:nvSpPr>
          <p:cNvPr id="53" name="TextBox 52"/>
          <p:cNvSpPr txBox="1"/>
          <p:nvPr/>
        </p:nvSpPr>
        <p:spPr>
          <a:xfrm>
            <a:off x="3611880" y="2834640"/>
            <a:ext cx="1207007" cy="274320"/>
          </a:xfrm>
          <a:prstGeom prst="rect">
            <a:avLst/>
          </a:prstGeom>
          <a:noFill/>
        </p:spPr>
        <p:txBody>
          <a:bodyPr wrap="square" lIns="27432" tIns="0" rIns="27432" bIns="0" anchor="ctr">
            <a:spAutoFit/>
          </a:bodyPr>
          <a:lstStyle/>
          <a:p>
            <a:pPr algn="l"/>
            <a:r>
              <a:rPr sz="850" b="0" i="0">
                <a:solidFill>
                  <a:srgbClr val="6B6965"/>
                </a:solidFill>
                <a:latin typeface="Calibri"/>
              </a:rPr>
              <a:t>—</a:t>
            </a:r>
          </a:p>
        </p:txBody>
      </p:sp>
      <p:sp>
        <p:nvSpPr>
          <p:cNvPr id="54" name="TextBox 53"/>
          <p:cNvSpPr txBox="1"/>
          <p:nvPr/>
        </p:nvSpPr>
        <p:spPr>
          <a:xfrm>
            <a:off x="4928616" y="2834640"/>
            <a:ext cx="1207007" cy="274320"/>
          </a:xfrm>
          <a:prstGeom prst="rect">
            <a:avLst/>
          </a:prstGeom>
          <a:noFill/>
        </p:spPr>
        <p:txBody>
          <a:bodyPr wrap="square" lIns="27432" tIns="0" rIns="27432" bIns="0" anchor="ctr">
            <a:spAutoFit/>
          </a:bodyPr>
          <a:lstStyle/>
          <a:p>
            <a:pPr algn="l"/>
            <a:r>
              <a:rPr sz="850" b="0" i="0">
                <a:solidFill>
                  <a:srgbClr val="6B6965"/>
                </a:solidFill>
                <a:latin typeface="Calibri"/>
              </a:rPr>
              <a:t>—</a:t>
            </a:r>
          </a:p>
        </p:txBody>
      </p:sp>
      <p:sp>
        <p:nvSpPr>
          <p:cNvPr id="55" name="TextBox 54"/>
          <p:cNvSpPr txBox="1"/>
          <p:nvPr/>
        </p:nvSpPr>
        <p:spPr>
          <a:xfrm>
            <a:off x="6245351" y="2834640"/>
            <a:ext cx="1207007" cy="274320"/>
          </a:xfrm>
          <a:prstGeom prst="rect">
            <a:avLst/>
          </a:prstGeom>
          <a:noFill/>
        </p:spPr>
        <p:txBody>
          <a:bodyPr wrap="square" lIns="27432" tIns="0" rIns="27432" bIns="0" anchor="ctr">
            <a:spAutoFit/>
          </a:bodyPr>
          <a:lstStyle/>
          <a:p>
            <a:pPr algn="l"/>
            <a:r>
              <a:rPr sz="850" b="0" i="0">
                <a:solidFill>
                  <a:srgbClr val="6B6965"/>
                </a:solidFill>
                <a:latin typeface="Calibri"/>
              </a:rPr>
              <a:t>—</a:t>
            </a:r>
          </a:p>
        </p:txBody>
      </p:sp>
      <p:sp>
        <p:nvSpPr>
          <p:cNvPr id="56" name="TextBox 55"/>
          <p:cNvSpPr txBox="1"/>
          <p:nvPr/>
        </p:nvSpPr>
        <p:spPr>
          <a:xfrm>
            <a:off x="7562088" y="2834640"/>
            <a:ext cx="1207007" cy="274320"/>
          </a:xfrm>
          <a:prstGeom prst="rect">
            <a:avLst/>
          </a:prstGeom>
          <a:noFill/>
        </p:spPr>
        <p:txBody>
          <a:bodyPr wrap="square" lIns="27432" tIns="0" rIns="27432" bIns="0" anchor="ctr">
            <a:spAutoFit/>
          </a:bodyPr>
          <a:lstStyle/>
          <a:p>
            <a:pPr algn="l"/>
            <a:r>
              <a:rPr sz="850" b="0" i="0">
                <a:solidFill>
                  <a:srgbClr val="6B6965"/>
                </a:solidFill>
                <a:latin typeface="Calibri"/>
              </a:rPr>
              <a:t>Tested</a:t>
            </a:r>
          </a:p>
        </p:txBody>
      </p:sp>
      <p:sp>
        <p:nvSpPr>
          <p:cNvPr id="57" name="TextBox 56"/>
          <p:cNvSpPr txBox="1"/>
          <p:nvPr/>
        </p:nvSpPr>
        <p:spPr>
          <a:xfrm>
            <a:off x="374904" y="3108960"/>
            <a:ext cx="1810512" cy="274320"/>
          </a:xfrm>
          <a:prstGeom prst="rect">
            <a:avLst/>
          </a:prstGeom>
          <a:noFill/>
        </p:spPr>
        <p:txBody>
          <a:bodyPr wrap="square" lIns="27432" tIns="0" rIns="27432" bIns="0" anchor="ctr">
            <a:spAutoFit/>
          </a:bodyPr>
          <a:lstStyle/>
          <a:p>
            <a:pPr algn="l"/>
            <a:r>
              <a:rPr sz="850" b="1" i="0">
                <a:solidFill>
                  <a:srgbClr val="2E2D29"/>
                </a:solidFill>
                <a:latin typeface="Calibri"/>
              </a:rPr>
              <a:t>6  Adapted 3D simulation</a:t>
            </a:r>
          </a:p>
        </p:txBody>
      </p:sp>
      <p:sp>
        <p:nvSpPr>
          <p:cNvPr id="58" name="TextBox 57"/>
          <p:cNvSpPr txBox="1"/>
          <p:nvPr/>
        </p:nvSpPr>
        <p:spPr>
          <a:xfrm>
            <a:off x="2295144" y="3108960"/>
            <a:ext cx="1207007" cy="274320"/>
          </a:xfrm>
          <a:prstGeom prst="rect">
            <a:avLst/>
          </a:prstGeom>
          <a:noFill/>
        </p:spPr>
        <p:txBody>
          <a:bodyPr wrap="square" lIns="27432" tIns="0" rIns="27432" bIns="0" anchor="ctr">
            <a:spAutoFit/>
          </a:bodyPr>
          <a:lstStyle/>
          <a:p>
            <a:pPr algn="l"/>
            <a:r>
              <a:rPr sz="850" b="0" i="0">
                <a:solidFill>
                  <a:srgbClr val="6B6965"/>
                </a:solidFill>
                <a:latin typeface="Calibri"/>
              </a:rPr>
              <a:t>—</a:t>
            </a:r>
          </a:p>
        </p:txBody>
      </p:sp>
      <p:sp>
        <p:nvSpPr>
          <p:cNvPr id="59" name="TextBox 58"/>
          <p:cNvSpPr txBox="1"/>
          <p:nvPr/>
        </p:nvSpPr>
        <p:spPr>
          <a:xfrm>
            <a:off x="3611880" y="3108960"/>
            <a:ext cx="1207007" cy="274320"/>
          </a:xfrm>
          <a:prstGeom prst="rect">
            <a:avLst/>
          </a:prstGeom>
          <a:noFill/>
        </p:spPr>
        <p:txBody>
          <a:bodyPr wrap="square" lIns="27432" tIns="0" rIns="27432" bIns="0" anchor="ctr">
            <a:spAutoFit/>
          </a:bodyPr>
          <a:lstStyle/>
          <a:p>
            <a:pPr algn="l"/>
            <a:r>
              <a:rPr sz="850" b="0" i="0">
                <a:solidFill>
                  <a:srgbClr val="6B6965"/>
                </a:solidFill>
                <a:latin typeface="Calibri"/>
              </a:rPr>
              <a:t>—</a:t>
            </a:r>
          </a:p>
        </p:txBody>
      </p:sp>
      <p:sp>
        <p:nvSpPr>
          <p:cNvPr id="60" name="TextBox 59"/>
          <p:cNvSpPr txBox="1"/>
          <p:nvPr/>
        </p:nvSpPr>
        <p:spPr>
          <a:xfrm>
            <a:off x="4928616" y="3108960"/>
            <a:ext cx="1207007" cy="274320"/>
          </a:xfrm>
          <a:prstGeom prst="rect">
            <a:avLst/>
          </a:prstGeom>
          <a:noFill/>
        </p:spPr>
        <p:txBody>
          <a:bodyPr wrap="square" lIns="27432" tIns="0" rIns="27432" bIns="0" anchor="ctr">
            <a:spAutoFit/>
          </a:bodyPr>
          <a:lstStyle/>
          <a:p>
            <a:pPr algn="l"/>
            <a:r>
              <a:rPr sz="850" b="0" i="0">
                <a:solidFill>
                  <a:srgbClr val="6B6965"/>
                </a:solidFill>
                <a:latin typeface="Calibri"/>
              </a:rPr>
              <a:t>—</a:t>
            </a:r>
          </a:p>
        </p:txBody>
      </p:sp>
      <p:sp>
        <p:nvSpPr>
          <p:cNvPr id="61" name="TextBox 60"/>
          <p:cNvSpPr txBox="1"/>
          <p:nvPr/>
        </p:nvSpPr>
        <p:spPr>
          <a:xfrm>
            <a:off x="6245351" y="3108960"/>
            <a:ext cx="1207007" cy="274320"/>
          </a:xfrm>
          <a:prstGeom prst="rect">
            <a:avLst/>
          </a:prstGeom>
          <a:noFill/>
        </p:spPr>
        <p:txBody>
          <a:bodyPr wrap="square" lIns="27432" tIns="0" rIns="27432" bIns="0" anchor="ctr">
            <a:spAutoFit/>
          </a:bodyPr>
          <a:lstStyle/>
          <a:p>
            <a:pPr algn="l"/>
            <a:r>
              <a:rPr sz="850" b="0" i="0">
                <a:solidFill>
                  <a:srgbClr val="6B6965"/>
                </a:solidFill>
                <a:latin typeface="Calibri"/>
              </a:rPr>
              <a:t>—</a:t>
            </a:r>
          </a:p>
        </p:txBody>
      </p:sp>
      <p:sp>
        <p:nvSpPr>
          <p:cNvPr id="62" name="TextBox 61"/>
          <p:cNvSpPr txBox="1"/>
          <p:nvPr/>
        </p:nvSpPr>
        <p:spPr>
          <a:xfrm>
            <a:off x="7562088" y="3108960"/>
            <a:ext cx="1207007" cy="274320"/>
          </a:xfrm>
          <a:prstGeom prst="rect">
            <a:avLst/>
          </a:prstGeom>
          <a:noFill/>
        </p:spPr>
        <p:txBody>
          <a:bodyPr wrap="square" lIns="27432" tIns="0" rIns="27432" bIns="0" anchor="ctr">
            <a:spAutoFit/>
          </a:bodyPr>
          <a:lstStyle/>
          <a:p>
            <a:pPr algn="l"/>
            <a:r>
              <a:rPr sz="850" b="0" i="0">
                <a:solidFill>
                  <a:srgbClr val="6B6965"/>
                </a:solidFill>
                <a:latin typeface="Calibri"/>
              </a:rPr>
              <a:t>—</a:t>
            </a:r>
          </a:p>
        </p:txBody>
      </p:sp>
      <p:sp>
        <p:nvSpPr>
          <p:cNvPr id="63" name="Rectangle 62"/>
          <p:cNvSpPr/>
          <p:nvPr/>
        </p:nvSpPr>
        <p:spPr>
          <a:xfrm>
            <a:off x="320040" y="3383280"/>
            <a:ext cx="8503920" cy="27432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4" name="TextBox 63"/>
          <p:cNvSpPr txBox="1"/>
          <p:nvPr/>
        </p:nvSpPr>
        <p:spPr>
          <a:xfrm>
            <a:off x="374904" y="3383280"/>
            <a:ext cx="1810512" cy="274320"/>
          </a:xfrm>
          <a:prstGeom prst="rect">
            <a:avLst/>
          </a:prstGeom>
          <a:noFill/>
        </p:spPr>
        <p:txBody>
          <a:bodyPr wrap="square" lIns="27432" tIns="0" rIns="27432" bIns="0" anchor="ctr">
            <a:spAutoFit/>
          </a:bodyPr>
          <a:lstStyle/>
          <a:p>
            <a:pPr algn="l"/>
            <a:r>
              <a:rPr sz="850" b="1" i="0">
                <a:solidFill>
                  <a:srgbClr val="2E2D29"/>
                </a:solidFill>
                <a:latin typeface="Calibri"/>
              </a:rPr>
              <a:t>7  Metrics extracted</a:t>
            </a:r>
          </a:p>
        </p:txBody>
      </p:sp>
      <p:sp>
        <p:nvSpPr>
          <p:cNvPr id="65" name="TextBox 64"/>
          <p:cNvSpPr txBox="1"/>
          <p:nvPr/>
        </p:nvSpPr>
        <p:spPr>
          <a:xfrm>
            <a:off x="2295144" y="3383280"/>
            <a:ext cx="1207007" cy="274320"/>
          </a:xfrm>
          <a:prstGeom prst="rect">
            <a:avLst/>
          </a:prstGeom>
          <a:noFill/>
        </p:spPr>
        <p:txBody>
          <a:bodyPr wrap="square" lIns="27432" tIns="0" rIns="27432" bIns="0" anchor="ctr">
            <a:spAutoFit/>
          </a:bodyPr>
          <a:lstStyle/>
          <a:p>
            <a:pPr algn="l"/>
            <a:r>
              <a:rPr sz="850" b="0" i="0">
                <a:solidFill>
                  <a:srgbClr val="6B6965"/>
                </a:solidFill>
                <a:latin typeface="Calibri"/>
              </a:rPr>
              <a:t>Partial</a:t>
            </a:r>
          </a:p>
        </p:txBody>
      </p:sp>
      <p:sp>
        <p:nvSpPr>
          <p:cNvPr id="66" name="TextBox 65"/>
          <p:cNvSpPr txBox="1"/>
          <p:nvPr/>
        </p:nvSpPr>
        <p:spPr>
          <a:xfrm>
            <a:off x="3611880" y="3383280"/>
            <a:ext cx="1207007" cy="274320"/>
          </a:xfrm>
          <a:prstGeom prst="rect">
            <a:avLst/>
          </a:prstGeom>
          <a:noFill/>
        </p:spPr>
        <p:txBody>
          <a:bodyPr wrap="square" lIns="27432" tIns="0" rIns="27432" bIns="0" anchor="ctr">
            <a:spAutoFit/>
          </a:bodyPr>
          <a:lstStyle/>
          <a:p>
            <a:pPr algn="l"/>
            <a:r>
              <a:rPr sz="850" b="0" i="0">
                <a:solidFill>
                  <a:srgbClr val="6B6965"/>
                </a:solidFill>
                <a:latin typeface="Calibri"/>
              </a:rPr>
              <a:t>—</a:t>
            </a:r>
          </a:p>
        </p:txBody>
      </p:sp>
      <p:sp>
        <p:nvSpPr>
          <p:cNvPr id="67" name="TextBox 66"/>
          <p:cNvSpPr txBox="1"/>
          <p:nvPr/>
        </p:nvSpPr>
        <p:spPr>
          <a:xfrm>
            <a:off x="4928616" y="3383280"/>
            <a:ext cx="1207007" cy="274320"/>
          </a:xfrm>
          <a:prstGeom prst="rect">
            <a:avLst/>
          </a:prstGeom>
          <a:noFill/>
        </p:spPr>
        <p:txBody>
          <a:bodyPr wrap="square" lIns="27432" tIns="0" rIns="27432" bIns="0" anchor="ctr">
            <a:spAutoFit/>
          </a:bodyPr>
          <a:lstStyle/>
          <a:p>
            <a:pPr algn="l"/>
            <a:r>
              <a:rPr sz="850" b="0" i="0">
                <a:solidFill>
                  <a:srgbClr val="6B6965"/>
                </a:solidFill>
                <a:latin typeface="Calibri"/>
              </a:rPr>
              <a:t>Partial</a:t>
            </a:r>
          </a:p>
        </p:txBody>
      </p:sp>
      <p:sp>
        <p:nvSpPr>
          <p:cNvPr id="68" name="TextBox 67"/>
          <p:cNvSpPr txBox="1"/>
          <p:nvPr/>
        </p:nvSpPr>
        <p:spPr>
          <a:xfrm>
            <a:off x="6245351" y="3383280"/>
            <a:ext cx="1207007" cy="274320"/>
          </a:xfrm>
          <a:prstGeom prst="rect">
            <a:avLst/>
          </a:prstGeom>
          <a:noFill/>
        </p:spPr>
        <p:txBody>
          <a:bodyPr wrap="square" lIns="27432" tIns="0" rIns="27432" bIns="0" anchor="ctr">
            <a:spAutoFit/>
          </a:bodyPr>
          <a:lstStyle/>
          <a:p>
            <a:pPr algn="l"/>
            <a:r>
              <a:rPr sz="850" b="0" i="0">
                <a:solidFill>
                  <a:srgbClr val="6B6965"/>
                </a:solidFill>
                <a:latin typeface="Calibri"/>
              </a:rPr>
              <a:t>—</a:t>
            </a:r>
          </a:p>
        </p:txBody>
      </p:sp>
      <p:sp>
        <p:nvSpPr>
          <p:cNvPr id="69" name="TextBox 68"/>
          <p:cNvSpPr txBox="1"/>
          <p:nvPr/>
        </p:nvSpPr>
        <p:spPr>
          <a:xfrm>
            <a:off x="7562088" y="3383280"/>
            <a:ext cx="1207007" cy="274320"/>
          </a:xfrm>
          <a:prstGeom prst="rect">
            <a:avLst/>
          </a:prstGeom>
          <a:noFill/>
        </p:spPr>
        <p:txBody>
          <a:bodyPr wrap="square" lIns="27432" tIns="0" rIns="27432" bIns="0" anchor="ctr">
            <a:spAutoFit/>
          </a:bodyPr>
          <a:lstStyle/>
          <a:p>
            <a:pPr algn="l"/>
            <a:r>
              <a:rPr sz="850" b="0" i="0">
                <a:solidFill>
                  <a:srgbClr val="6B6965"/>
                </a:solidFill>
                <a:latin typeface="Calibri"/>
              </a:rPr>
              <a:t>Partial</a:t>
            </a:r>
          </a:p>
        </p:txBody>
      </p:sp>
      <p:sp>
        <p:nvSpPr>
          <p:cNvPr id="70" name="TextBox 69"/>
          <p:cNvSpPr txBox="1"/>
          <p:nvPr/>
        </p:nvSpPr>
        <p:spPr>
          <a:xfrm>
            <a:off x="320040" y="3950208"/>
            <a:ext cx="8503920" cy="219456"/>
          </a:xfrm>
          <a:prstGeom prst="rect">
            <a:avLst/>
          </a:prstGeom>
          <a:noFill/>
        </p:spPr>
        <p:txBody>
          <a:bodyPr wrap="square" lIns="27432" tIns="0" rIns="27432" bIns="0" anchor="t">
            <a:spAutoFit/>
          </a:bodyPr>
          <a:lstStyle/>
          <a:p>
            <a:pPr algn="l"/>
            <a:r>
              <a:rPr sz="950" b="0" i="1">
                <a:solidFill>
                  <a:srgbClr val="6B6965"/>
                </a:solidFill>
                <a:latin typeface="Calibri"/>
              </a:rPr>
              <a:t>TST-STAN-2 is the outstanding tuning case: the stenosis and the flow-split bias are both right-sided, so no tree parameter set satisfies pressure and split simultaneously.</a:t>
            </a:r>
          </a:p>
        </p:txBody>
      </p:sp>
      <p:sp>
        <p:nvSpPr>
          <p:cNvPr id="71" name="Rectangle 70"/>
          <p:cNvSpPr/>
          <p:nvPr/>
        </p:nvSpPr>
        <p:spPr>
          <a:xfrm>
            <a:off x="320040" y="4315968"/>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Box 71"/>
          <p:cNvSpPr txBox="1"/>
          <p:nvPr/>
        </p:nvSpPr>
        <p:spPr>
          <a:xfrm>
            <a:off x="429768" y="4315968"/>
            <a:ext cx="8284464" cy="310896"/>
          </a:xfrm>
          <a:prstGeom prst="rect">
            <a:avLst/>
          </a:prstGeom>
          <a:noFill/>
        </p:spPr>
        <p:txBody>
          <a:bodyPr wrap="square" lIns="27432" tIns="0" rIns="27432" bIns="0" anchor="ctr">
            <a:spAutoFit/>
          </a:bodyPr>
          <a:lstStyle/>
          <a:p>
            <a:pPr algn="l"/>
            <a:r>
              <a:rPr sz="1000" b="1" i="0">
                <a:solidFill>
                  <a:srgbClr val="8C1515"/>
                </a:solidFill>
                <a:latin typeface="Calibri"/>
              </a:rPr>
              <a:t>Five patients, one publication target. Stage 6 is the near-term gate for all of them.</a:t>
            </a:r>
          </a:p>
        </p:txBody>
      </p:sp>
      <p:sp>
        <p:nvSpPr>
          <p:cNvPr id="73" name="TextBox 72"/>
          <p:cNvSpPr txBox="1"/>
          <p:nvPr/>
        </p:nvSpPr>
        <p:spPr>
          <a:xfrm>
            <a:off x="2011680" y="5376672"/>
            <a:ext cx="6812280" cy="201168"/>
          </a:xfrm>
          <a:prstGeom prst="rect">
            <a:avLst/>
          </a:prstGeom>
          <a:noFill/>
        </p:spPr>
        <p:txBody>
          <a:bodyPr wrap="square" lIns="27432" tIns="0" rIns="27432" bIns="0" anchor="t">
            <a:spAutoFit/>
          </a:bodyPr>
          <a:lstStyle/>
          <a:p>
            <a:pPr algn="l"/>
            <a:r>
              <a:rPr sz="700" b="0" i="1">
                <a:solidFill>
                  <a:srgbClr val="6B6965"/>
                </a:solidFill>
                <a:latin typeface="Calibri"/>
              </a:rPr>
              <a:t>Status as of September 2026. Update this table each cycle — it is the deck's single progress record.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a:xfrm>
            <a:off x="1362456" y="2971800"/>
            <a:ext cx="6400800" cy="658368"/>
          </a:xfrm>
        </p:spPr>
        <p:txBody>
          <a:bodyPr wrap="square" lIns="0" rIns="0"/>
          <a:lstStyle/>
          <a:p>
            <a:r>
              <a:rPr sz="1300">
                <a:solidFill>
                  <a:srgbClr val="FFFFFF"/>
                </a:solidFill>
                <a:latin typeface="Calibri"/>
              </a:rPr>
              <a:t>Patient imaging, segmentation, catheter and perfusion targets, and the prescribed inflow waveform.</a:t>
            </a:r>
          </a:p>
        </p:txBody>
      </p:sp>
      <p:sp>
        <p:nvSpPr>
          <p:cNvPr id="3" name="Title 2"/>
          <p:cNvSpPr>
            <a:spLocks noGrp="1"/>
          </p:cNvSpPr>
          <p:nvPr>
            <p:ph type="ctrTitle"/>
          </p:nvPr>
        </p:nvSpPr>
        <p:spPr>
          <a:xfrm>
            <a:off x="1362456" y="1874519"/>
            <a:ext cx="7479792" cy="1005840"/>
          </a:xfrm>
        </p:spPr>
        <p:txBody>
          <a:bodyPr lIns="0" rIns="0" anchor="b"/>
          <a:lstStyle/>
          <a:p>
            <a:r>
              <a:rPr sz="3200">
                <a:solidFill>
                  <a:srgbClr val="FFFFFF"/>
                </a:solidFill>
                <a:latin typeface="Georgia"/>
              </a:rPr>
              <a:t>Inputs &amp; Dataset</a:t>
            </a:r>
          </a:p>
        </p:txBody>
      </p:sp>
      <p:sp>
        <p:nvSpPr>
          <p:cNvPr id="4" name="TextBox 3"/>
          <p:cNvSpPr txBox="1"/>
          <p:nvPr/>
        </p:nvSpPr>
        <p:spPr>
          <a:xfrm>
            <a:off x="1362456" y="1517904"/>
            <a:ext cx="7479792" cy="256032"/>
          </a:xfrm>
          <a:prstGeom prst="rect">
            <a:avLst/>
          </a:prstGeom>
          <a:noFill/>
        </p:spPr>
        <p:txBody>
          <a:bodyPr wrap="square" lIns="27432" tIns="0" rIns="27432" bIns="0" anchor="t">
            <a:spAutoFit/>
          </a:bodyPr>
          <a:lstStyle/>
          <a:p>
            <a:pPr algn="l"/>
            <a:r>
              <a:rPr sz="1050" b="1" i="0">
                <a:solidFill>
                  <a:srgbClr val="FFFFFF"/>
                </a:solidFill>
                <a:latin typeface="Calibri"/>
              </a:rPr>
              <a:t>STAGE 1 OF 7</a:t>
            </a:r>
          </a:p>
        </p:txBody>
      </p:sp>
      <p:sp>
        <p:nvSpPr>
          <p:cNvPr id="5" name="Rectangle 4"/>
          <p:cNvSpPr/>
          <p:nvPr/>
        </p:nvSpPr>
        <p:spPr>
          <a:xfrm>
            <a:off x="1362456" y="4041648"/>
            <a:ext cx="869986" cy="2560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362456" y="4041648"/>
            <a:ext cx="869986" cy="256032"/>
          </a:xfrm>
          <a:prstGeom prst="rect">
            <a:avLst/>
          </a:prstGeom>
          <a:noFill/>
        </p:spPr>
        <p:txBody>
          <a:bodyPr wrap="square" lIns="9144" tIns="0" rIns="9144" bIns="0" anchor="ctr">
            <a:spAutoFit/>
          </a:bodyPr>
          <a:lstStyle/>
          <a:p>
            <a:pPr algn="ctr"/>
            <a:r>
              <a:rPr sz="700" b="1">
                <a:solidFill>
                  <a:srgbClr val="007C92"/>
                </a:solidFill>
                <a:latin typeface="Calibri"/>
              </a:rPr>
              <a:t>1  Inputs</a:t>
            </a:r>
          </a:p>
        </p:txBody>
      </p:sp>
      <p:sp>
        <p:nvSpPr>
          <p:cNvPr id="7" name="Rectangle 6"/>
          <p:cNvSpPr/>
          <p:nvPr/>
        </p:nvSpPr>
        <p:spPr>
          <a:xfrm>
            <a:off x="2287306" y="4041648"/>
            <a:ext cx="869986" cy="256032"/>
          </a:xfrm>
          <a:prstGeom prst="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287306" y="4041648"/>
            <a:ext cx="869986" cy="256032"/>
          </a:xfrm>
          <a:prstGeom prst="rect">
            <a:avLst/>
          </a:prstGeom>
          <a:noFill/>
        </p:spPr>
        <p:txBody>
          <a:bodyPr wrap="square" lIns="9144" tIns="0" rIns="9144" bIns="0" anchor="ctr">
            <a:spAutoFit/>
          </a:bodyPr>
          <a:lstStyle/>
          <a:p>
            <a:pPr algn="ctr"/>
            <a:r>
              <a:rPr sz="700" b="0">
                <a:solidFill>
                  <a:srgbClr val="FFFFFF"/>
                </a:solidFill>
                <a:latin typeface="Calibri"/>
              </a:rPr>
              <a:t>2  BC Tuning</a:t>
            </a:r>
          </a:p>
        </p:txBody>
      </p:sp>
      <p:sp>
        <p:nvSpPr>
          <p:cNvPr id="9" name="Rectangle 8"/>
          <p:cNvSpPr/>
          <p:nvPr/>
        </p:nvSpPr>
        <p:spPr>
          <a:xfrm>
            <a:off x="3212156" y="4041648"/>
            <a:ext cx="869986" cy="256032"/>
          </a:xfrm>
          <a:prstGeom prst="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212156" y="4041648"/>
            <a:ext cx="869986" cy="256032"/>
          </a:xfrm>
          <a:prstGeom prst="rect">
            <a:avLst/>
          </a:prstGeom>
          <a:noFill/>
        </p:spPr>
        <p:txBody>
          <a:bodyPr wrap="square" lIns="9144" tIns="0" rIns="9144" bIns="0" anchor="ctr">
            <a:spAutoFit/>
          </a:bodyPr>
          <a:lstStyle/>
          <a:p>
            <a:pPr algn="ctr"/>
            <a:r>
              <a:rPr sz="700" b="0">
                <a:solidFill>
                  <a:srgbClr val="FFFFFF"/>
                </a:solidFill>
                <a:latin typeface="Calibri"/>
              </a:rPr>
              <a:t>3  Pre-op Sim</a:t>
            </a:r>
          </a:p>
        </p:txBody>
      </p:sp>
      <p:sp>
        <p:nvSpPr>
          <p:cNvPr id="11" name="Rectangle 10"/>
          <p:cNvSpPr/>
          <p:nvPr/>
        </p:nvSpPr>
        <p:spPr>
          <a:xfrm>
            <a:off x="4137006" y="4041648"/>
            <a:ext cx="869986" cy="256032"/>
          </a:xfrm>
          <a:prstGeom prst="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137006" y="4041648"/>
            <a:ext cx="869986" cy="256032"/>
          </a:xfrm>
          <a:prstGeom prst="rect">
            <a:avLst/>
          </a:prstGeom>
          <a:noFill/>
        </p:spPr>
        <p:txBody>
          <a:bodyPr wrap="square" lIns="9144" tIns="0" rIns="9144" bIns="0" anchor="ctr">
            <a:spAutoFit/>
          </a:bodyPr>
          <a:lstStyle/>
          <a:p>
            <a:pPr algn="ctr"/>
            <a:r>
              <a:rPr sz="700" b="0">
                <a:solidFill>
                  <a:srgbClr val="FFFFFF"/>
                </a:solidFill>
                <a:latin typeface="Calibri"/>
              </a:rPr>
              <a:t>4  Post-op Sim</a:t>
            </a:r>
          </a:p>
        </p:txBody>
      </p:sp>
      <p:sp>
        <p:nvSpPr>
          <p:cNvPr id="13" name="Rectangle 12"/>
          <p:cNvSpPr/>
          <p:nvPr/>
        </p:nvSpPr>
        <p:spPr>
          <a:xfrm>
            <a:off x="5061857" y="4041648"/>
            <a:ext cx="869986" cy="256032"/>
          </a:xfrm>
          <a:prstGeom prst="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5061857" y="4041648"/>
            <a:ext cx="869986" cy="256032"/>
          </a:xfrm>
          <a:prstGeom prst="rect">
            <a:avLst/>
          </a:prstGeom>
          <a:noFill/>
        </p:spPr>
        <p:txBody>
          <a:bodyPr wrap="square" lIns="9144" tIns="0" rIns="9144" bIns="0" anchor="ctr">
            <a:spAutoFit/>
          </a:bodyPr>
          <a:lstStyle/>
          <a:p>
            <a:pPr algn="ctr"/>
            <a:r>
              <a:rPr sz="700" b="0">
                <a:solidFill>
                  <a:srgbClr val="FFFFFF"/>
                </a:solidFill>
                <a:latin typeface="Calibri"/>
              </a:rPr>
              <a:t>5  Adaptation</a:t>
            </a:r>
          </a:p>
        </p:txBody>
      </p:sp>
      <p:sp>
        <p:nvSpPr>
          <p:cNvPr id="15" name="Rectangle 14"/>
          <p:cNvSpPr/>
          <p:nvPr/>
        </p:nvSpPr>
        <p:spPr>
          <a:xfrm>
            <a:off x="5986707" y="4041648"/>
            <a:ext cx="869986" cy="256032"/>
          </a:xfrm>
          <a:prstGeom prst="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86707" y="4041648"/>
            <a:ext cx="869986" cy="256032"/>
          </a:xfrm>
          <a:prstGeom prst="rect">
            <a:avLst/>
          </a:prstGeom>
          <a:noFill/>
        </p:spPr>
        <p:txBody>
          <a:bodyPr wrap="square" lIns="9144" tIns="0" rIns="9144" bIns="0" anchor="ctr">
            <a:spAutoFit/>
          </a:bodyPr>
          <a:lstStyle/>
          <a:p>
            <a:pPr algn="ctr"/>
            <a:r>
              <a:rPr sz="700" b="0">
                <a:solidFill>
                  <a:srgbClr val="FFFFFF"/>
                </a:solidFill>
                <a:latin typeface="Calibri"/>
              </a:rPr>
              <a:t>6  Adapted Sim</a:t>
            </a:r>
          </a:p>
        </p:txBody>
      </p:sp>
      <p:sp>
        <p:nvSpPr>
          <p:cNvPr id="17" name="Rectangle 16"/>
          <p:cNvSpPr/>
          <p:nvPr/>
        </p:nvSpPr>
        <p:spPr>
          <a:xfrm>
            <a:off x="6911557" y="4041648"/>
            <a:ext cx="869986" cy="256032"/>
          </a:xfrm>
          <a:prstGeom prst="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6911557" y="4041648"/>
            <a:ext cx="869986" cy="256032"/>
          </a:xfrm>
          <a:prstGeom prst="rect">
            <a:avLst/>
          </a:prstGeom>
          <a:noFill/>
        </p:spPr>
        <p:txBody>
          <a:bodyPr wrap="square" lIns="9144" tIns="0" rIns="9144" bIns="0" anchor="ctr">
            <a:spAutoFit/>
          </a:bodyPr>
          <a:lstStyle/>
          <a:p>
            <a:pPr algn="ctr"/>
            <a:r>
              <a:rPr sz="700" b="0">
                <a:solidFill>
                  <a:srgbClr val="FFFFFF"/>
                </a:solidFill>
                <a:latin typeface="Calibri"/>
              </a:rPr>
              <a:t>7  Metrics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sz="2200">
                <a:solidFill>
                  <a:srgbClr val="8C1515"/>
                </a:solidFill>
                <a:latin typeface="Georgia"/>
              </a:rPr>
              <a:t>Five Tetralogy of Fallot stent patients</a:t>
            </a:r>
          </a:p>
        </p:txBody>
      </p:sp>
      <p:sp>
        <p:nvSpPr>
          <p:cNvPr id="3" name="Rectangle 2"/>
          <p:cNvSpPr/>
          <p:nvPr/>
        </p:nvSpPr>
        <p:spPr>
          <a:xfrm>
            <a:off x="320040"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1  Inputs</a:t>
            </a:r>
          </a:p>
        </p:txBody>
      </p:sp>
      <p:sp>
        <p:nvSpPr>
          <p:cNvPr id="5" name="Rectangle 4"/>
          <p:cNvSpPr/>
          <p:nvPr/>
        </p:nvSpPr>
        <p:spPr>
          <a:xfrm>
            <a:off x="125468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VALIDATED</a:t>
            </a:r>
          </a:p>
        </p:txBody>
      </p:sp>
      <p:sp>
        <p:nvSpPr>
          <p:cNvPr id="19" name="Rectangle 18"/>
          <p:cNvSpPr/>
          <p:nvPr/>
        </p:nvSpPr>
        <p:spPr>
          <a:xfrm>
            <a:off x="320040" y="1444752"/>
            <a:ext cx="8503920" cy="274320"/>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374904" y="1444752"/>
            <a:ext cx="1033271" cy="274320"/>
          </a:xfrm>
          <a:prstGeom prst="rect">
            <a:avLst/>
          </a:prstGeom>
          <a:noFill/>
        </p:spPr>
        <p:txBody>
          <a:bodyPr wrap="square" lIns="27432" tIns="0" rIns="27432" bIns="0" anchor="ctr">
            <a:spAutoFit/>
          </a:bodyPr>
          <a:lstStyle/>
          <a:p>
            <a:pPr algn="l"/>
            <a:r>
              <a:rPr sz="800" b="1" i="0">
                <a:solidFill>
                  <a:srgbClr val="FFFFFF"/>
                </a:solidFill>
                <a:latin typeface="Calibri"/>
              </a:rPr>
              <a:t>Patient</a:t>
            </a:r>
          </a:p>
        </p:txBody>
      </p:sp>
      <p:sp>
        <p:nvSpPr>
          <p:cNvPr id="21" name="TextBox 20"/>
          <p:cNvSpPr txBox="1"/>
          <p:nvPr/>
        </p:nvSpPr>
        <p:spPr>
          <a:xfrm>
            <a:off x="1517904" y="1444752"/>
            <a:ext cx="758952" cy="274320"/>
          </a:xfrm>
          <a:prstGeom prst="rect">
            <a:avLst/>
          </a:prstGeom>
          <a:noFill/>
        </p:spPr>
        <p:txBody>
          <a:bodyPr wrap="square" lIns="27432" tIns="0" rIns="27432" bIns="0" anchor="ctr">
            <a:spAutoFit/>
          </a:bodyPr>
          <a:lstStyle/>
          <a:p>
            <a:pPr algn="l"/>
            <a:r>
              <a:rPr sz="800" b="1" i="0">
                <a:solidFill>
                  <a:srgbClr val="FFFFFF"/>
                </a:solidFill>
                <a:latin typeface="Calibri"/>
              </a:rPr>
              <a:t>Age / Sex</a:t>
            </a:r>
          </a:p>
        </p:txBody>
      </p:sp>
      <p:sp>
        <p:nvSpPr>
          <p:cNvPr id="22" name="TextBox 21"/>
          <p:cNvSpPr txBox="1"/>
          <p:nvPr/>
        </p:nvSpPr>
        <p:spPr>
          <a:xfrm>
            <a:off x="2386584" y="1444752"/>
            <a:ext cx="1078992" cy="274320"/>
          </a:xfrm>
          <a:prstGeom prst="rect">
            <a:avLst/>
          </a:prstGeom>
          <a:noFill/>
        </p:spPr>
        <p:txBody>
          <a:bodyPr wrap="square" lIns="27432" tIns="0" rIns="27432" bIns="0" anchor="ctr">
            <a:spAutoFit/>
          </a:bodyPr>
          <a:lstStyle/>
          <a:p>
            <a:pPr algn="l"/>
            <a:r>
              <a:rPr sz="800" b="1" i="0">
                <a:solidFill>
                  <a:srgbClr val="FFFFFF"/>
                </a:solidFill>
                <a:latin typeface="Calibri"/>
              </a:rPr>
              <a:t>Weight · BSA</a:t>
            </a:r>
          </a:p>
        </p:txBody>
      </p:sp>
      <p:sp>
        <p:nvSpPr>
          <p:cNvPr id="23" name="TextBox 22"/>
          <p:cNvSpPr txBox="1"/>
          <p:nvPr/>
        </p:nvSpPr>
        <p:spPr>
          <a:xfrm>
            <a:off x="3575304" y="1444752"/>
            <a:ext cx="987552" cy="274320"/>
          </a:xfrm>
          <a:prstGeom prst="rect">
            <a:avLst/>
          </a:prstGeom>
          <a:noFill/>
        </p:spPr>
        <p:txBody>
          <a:bodyPr wrap="square" lIns="27432" tIns="0" rIns="27432" bIns="0" anchor="ctr">
            <a:spAutoFit/>
          </a:bodyPr>
          <a:lstStyle/>
          <a:p>
            <a:pPr algn="l"/>
            <a:r>
              <a:rPr sz="800" b="1" i="0">
                <a:solidFill>
                  <a:srgbClr val="FFFFFF"/>
                </a:solidFill>
                <a:latin typeface="Calibri"/>
              </a:rPr>
              <a:t>Lesion</a:t>
            </a:r>
          </a:p>
        </p:txBody>
      </p:sp>
      <p:sp>
        <p:nvSpPr>
          <p:cNvPr id="24" name="TextBox 23"/>
          <p:cNvSpPr txBox="1"/>
          <p:nvPr/>
        </p:nvSpPr>
        <p:spPr>
          <a:xfrm>
            <a:off x="4672584" y="1444752"/>
            <a:ext cx="3227832" cy="274320"/>
          </a:xfrm>
          <a:prstGeom prst="rect">
            <a:avLst/>
          </a:prstGeom>
          <a:noFill/>
        </p:spPr>
        <p:txBody>
          <a:bodyPr wrap="square" lIns="27432" tIns="0" rIns="27432" bIns="0" anchor="ctr">
            <a:spAutoFit/>
          </a:bodyPr>
          <a:lstStyle/>
          <a:p>
            <a:pPr algn="l"/>
            <a:r>
              <a:rPr sz="800" b="1" i="0">
                <a:solidFill>
                  <a:srgbClr val="FFFFFF"/>
                </a:solidFill>
                <a:latin typeface="Calibri"/>
              </a:rPr>
              <a:t>Intervention (from cath report)</a:t>
            </a:r>
          </a:p>
        </p:txBody>
      </p:sp>
      <p:sp>
        <p:nvSpPr>
          <p:cNvPr id="25" name="TextBox 24"/>
          <p:cNvSpPr txBox="1"/>
          <p:nvPr/>
        </p:nvSpPr>
        <p:spPr>
          <a:xfrm>
            <a:off x="8010144" y="1444752"/>
            <a:ext cx="758952" cy="274320"/>
          </a:xfrm>
          <a:prstGeom prst="rect">
            <a:avLst/>
          </a:prstGeom>
          <a:noFill/>
        </p:spPr>
        <p:txBody>
          <a:bodyPr wrap="square" lIns="27432" tIns="0" rIns="27432" bIns="0" anchor="ctr">
            <a:spAutoFit/>
          </a:bodyPr>
          <a:lstStyle/>
          <a:p>
            <a:pPr algn="l"/>
            <a:r>
              <a:rPr sz="800" b="1" i="0">
                <a:solidFill>
                  <a:srgbClr val="FFFFFF"/>
                </a:solidFill>
                <a:latin typeface="Calibri"/>
              </a:rPr>
              <a:t>PV regurg.</a:t>
            </a:r>
          </a:p>
        </p:txBody>
      </p:sp>
      <p:sp>
        <p:nvSpPr>
          <p:cNvPr id="26" name="Rectangle 25"/>
          <p:cNvSpPr/>
          <p:nvPr/>
        </p:nvSpPr>
        <p:spPr>
          <a:xfrm>
            <a:off x="320040" y="1719072"/>
            <a:ext cx="8503920" cy="27432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374904" y="1719072"/>
            <a:ext cx="1033271" cy="274320"/>
          </a:xfrm>
          <a:prstGeom prst="rect">
            <a:avLst/>
          </a:prstGeom>
          <a:noFill/>
        </p:spPr>
        <p:txBody>
          <a:bodyPr wrap="square" lIns="27432" tIns="0" rIns="27432" bIns="0" anchor="ctr">
            <a:spAutoFit/>
          </a:bodyPr>
          <a:lstStyle/>
          <a:p>
            <a:pPr algn="l"/>
            <a:r>
              <a:rPr sz="800" b="1" i="0">
                <a:solidFill>
                  <a:srgbClr val="2E2D29"/>
                </a:solidFill>
                <a:latin typeface="Calibri"/>
              </a:rPr>
              <a:t>TST-STAN-1</a:t>
            </a:r>
          </a:p>
        </p:txBody>
      </p:sp>
      <p:sp>
        <p:nvSpPr>
          <p:cNvPr id="28" name="TextBox 27"/>
          <p:cNvSpPr txBox="1"/>
          <p:nvPr/>
        </p:nvSpPr>
        <p:spPr>
          <a:xfrm>
            <a:off x="1517904" y="1719072"/>
            <a:ext cx="758952" cy="274320"/>
          </a:xfrm>
          <a:prstGeom prst="rect">
            <a:avLst/>
          </a:prstGeom>
          <a:noFill/>
        </p:spPr>
        <p:txBody>
          <a:bodyPr wrap="square" lIns="27432" tIns="0" rIns="27432" bIns="0" anchor="ctr">
            <a:spAutoFit/>
          </a:bodyPr>
          <a:lstStyle/>
          <a:p>
            <a:pPr algn="l"/>
            <a:r>
              <a:rPr sz="800" b="0" i="0">
                <a:solidFill>
                  <a:srgbClr val="6B6965"/>
                </a:solidFill>
                <a:latin typeface="Calibri"/>
              </a:rPr>
              <a:t>2 yr · M</a:t>
            </a:r>
          </a:p>
        </p:txBody>
      </p:sp>
      <p:sp>
        <p:nvSpPr>
          <p:cNvPr id="29" name="TextBox 28"/>
          <p:cNvSpPr txBox="1"/>
          <p:nvPr/>
        </p:nvSpPr>
        <p:spPr>
          <a:xfrm>
            <a:off x="2386584" y="1719072"/>
            <a:ext cx="1078992" cy="274320"/>
          </a:xfrm>
          <a:prstGeom prst="rect">
            <a:avLst/>
          </a:prstGeom>
          <a:noFill/>
        </p:spPr>
        <p:txBody>
          <a:bodyPr wrap="square" lIns="27432" tIns="0" rIns="27432" bIns="0" anchor="ctr">
            <a:spAutoFit/>
          </a:bodyPr>
          <a:lstStyle/>
          <a:p>
            <a:pPr algn="l"/>
            <a:r>
              <a:rPr sz="800" b="0" i="0">
                <a:solidFill>
                  <a:srgbClr val="6B6965"/>
                </a:solidFill>
                <a:latin typeface="Calibri"/>
              </a:rPr>
              <a:t>8.9 kg · 0.39 m²</a:t>
            </a:r>
          </a:p>
        </p:txBody>
      </p:sp>
      <p:sp>
        <p:nvSpPr>
          <p:cNvPr id="30" name="TextBox 29"/>
          <p:cNvSpPr txBox="1"/>
          <p:nvPr/>
        </p:nvSpPr>
        <p:spPr>
          <a:xfrm>
            <a:off x="3575304" y="1719072"/>
            <a:ext cx="987552" cy="274320"/>
          </a:xfrm>
          <a:prstGeom prst="rect">
            <a:avLst/>
          </a:prstGeom>
          <a:noFill/>
        </p:spPr>
        <p:txBody>
          <a:bodyPr wrap="square" lIns="27432" tIns="0" rIns="27432" bIns="0" anchor="ctr">
            <a:spAutoFit/>
          </a:bodyPr>
          <a:lstStyle/>
          <a:p>
            <a:pPr algn="l"/>
            <a:r>
              <a:rPr sz="800" b="0" i="0">
                <a:solidFill>
                  <a:srgbClr val="6B6965"/>
                </a:solidFill>
                <a:latin typeface="Calibri"/>
              </a:rPr>
              <a:t>LPA stenosis</a:t>
            </a:r>
          </a:p>
        </p:txBody>
      </p:sp>
      <p:sp>
        <p:nvSpPr>
          <p:cNvPr id="31" name="TextBox 30"/>
          <p:cNvSpPr txBox="1"/>
          <p:nvPr/>
        </p:nvSpPr>
        <p:spPr>
          <a:xfrm>
            <a:off x="4672584" y="1719072"/>
            <a:ext cx="3227832" cy="274320"/>
          </a:xfrm>
          <a:prstGeom prst="rect">
            <a:avLst/>
          </a:prstGeom>
          <a:noFill/>
        </p:spPr>
        <p:txBody>
          <a:bodyPr wrap="square" lIns="27432" tIns="0" rIns="27432" bIns="0" anchor="ctr">
            <a:spAutoFit/>
          </a:bodyPr>
          <a:lstStyle/>
          <a:p>
            <a:pPr algn="l"/>
            <a:r>
              <a:rPr sz="800" b="0" i="0">
                <a:solidFill>
                  <a:srgbClr val="6B6965"/>
                </a:solidFill>
                <a:latin typeface="Calibri"/>
              </a:rPr>
              <a:t>Formula 8 × 16 mm stent, LPA</a:t>
            </a:r>
          </a:p>
        </p:txBody>
      </p:sp>
      <p:sp>
        <p:nvSpPr>
          <p:cNvPr id="32" name="TextBox 31"/>
          <p:cNvSpPr txBox="1"/>
          <p:nvPr/>
        </p:nvSpPr>
        <p:spPr>
          <a:xfrm>
            <a:off x="8010144" y="1719072"/>
            <a:ext cx="758952" cy="274320"/>
          </a:xfrm>
          <a:prstGeom prst="rect">
            <a:avLst/>
          </a:prstGeom>
          <a:noFill/>
        </p:spPr>
        <p:txBody>
          <a:bodyPr wrap="square" lIns="27432" tIns="0" rIns="27432" bIns="0" anchor="ctr">
            <a:spAutoFit/>
          </a:bodyPr>
          <a:lstStyle/>
          <a:p>
            <a:pPr algn="l"/>
            <a:r>
              <a:rPr sz="800" b="0" i="0">
                <a:solidFill>
                  <a:srgbClr val="6B6965"/>
                </a:solidFill>
                <a:latin typeface="Calibri"/>
              </a:rPr>
              <a:t>Yes</a:t>
            </a:r>
          </a:p>
        </p:txBody>
      </p:sp>
      <p:sp>
        <p:nvSpPr>
          <p:cNvPr id="33" name="TextBox 32"/>
          <p:cNvSpPr txBox="1"/>
          <p:nvPr/>
        </p:nvSpPr>
        <p:spPr>
          <a:xfrm>
            <a:off x="374904" y="1993392"/>
            <a:ext cx="1033271" cy="274320"/>
          </a:xfrm>
          <a:prstGeom prst="rect">
            <a:avLst/>
          </a:prstGeom>
          <a:noFill/>
        </p:spPr>
        <p:txBody>
          <a:bodyPr wrap="square" lIns="27432" tIns="0" rIns="27432" bIns="0" anchor="ctr">
            <a:spAutoFit/>
          </a:bodyPr>
          <a:lstStyle/>
          <a:p>
            <a:pPr algn="l"/>
            <a:r>
              <a:rPr sz="800" b="1" i="0">
                <a:solidFill>
                  <a:srgbClr val="2E2D29"/>
                </a:solidFill>
                <a:latin typeface="Calibri"/>
              </a:rPr>
              <a:t>TST-STAN-2</a:t>
            </a:r>
          </a:p>
        </p:txBody>
      </p:sp>
      <p:sp>
        <p:nvSpPr>
          <p:cNvPr id="34" name="TextBox 33"/>
          <p:cNvSpPr txBox="1"/>
          <p:nvPr/>
        </p:nvSpPr>
        <p:spPr>
          <a:xfrm>
            <a:off x="1517904" y="1993392"/>
            <a:ext cx="758952" cy="274320"/>
          </a:xfrm>
          <a:prstGeom prst="rect">
            <a:avLst/>
          </a:prstGeom>
          <a:noFill/>
        </p:spPr>
        <p:txBody>
          <a:bodyPr wrap="square" lIns="27432" tIns="0" rIns="27432" bIns="0" anchor="ctr">
            <a:spAutoFit/>
          </a:bodyPr>
          <a:lstStyle/>
          <a:p>
            <a:pPr algn="l"/>
            <a:r>
              <a:rPr sz="800" b="0" i="0">
                <a:solidFill>
                  <a:srgbClr val="6B6965"/>
                </a:solidFill>
                <a:latin typeface="Calibri"/>
              </a:rPr>
              <a:t>1 yr · M</a:t>
            </a:r>
          </a:p>
        </p:txBody>
      </p:sp>
      <p:sp>
        <p:nvSpPr>
          <p:cNvPr id="35" name="TextBox 34"/>
          <p:cNvSpPr txBox="1"/>
          <p:nvPr/>
        </p:nvSpPr>
        <p:spPr>
          <a:xfrm>
            <a:off x="2386584" y="1993392"/>
            <a:ext cx="1078992" cy="274320"/>
          </a:xfrm>
          <a:prstGeom prst="rect">
            <a:avLst/>
          </a:prstGeom>
          <a:noFill/>
        </p:spPr>
        <p:txBody>
          <a:bodyPr wrap="square" lIns="27432" tIns="0" rIns="27432" bIns="0" anchor="ctr">
            <a:spAutoFit/>
          </a:bodyPr>
          <a:lstStyle/>
          <a:p>
            <a:pPr algn="l"/>
            <a:r>
              <a:rPr sz="800" b="0" i="0">
                <a:solidFill>
                  <a:srgbClr val="6B6965"/>
                </a:solidFill>
                <a:latin typeface="Calibri"/>
              </a:rPr>
              <a:t>8.4 kg · —</a:t>
            </a:r>
          </a:p>
        </p:txBody>
      </p:sp>
      <p:sp>
        <p:nvSpPr>
          <p:cNvPr id="36" name="TextBox 35"/>
          <p:cNvSpPr txBox="1"/>
          <p:nvPr/>
        </p:nvSpPr>
        <p:spPr>
          <a:xfrm>
            <a:off x="3575304" y="1993392"/>
            <a:ext cx="987552" cy="274320"/>
          </a:xfrm>
          <a:prstGeom prst="rect">
            <a:avLst/>
          </a:prstGeom>
          <a:noFill/>
        </p:spPr>
        <p:txBody>
          <a:bodyPr wrap="square" lIns="27432" tIns="0" rIns="27432" bIns="0" anchor="ctr">
            <a:spAutoFit/>
          </a:bodyPr>
          <a:lstStyle/>
          <a:p>
            <a:pPr algn="l"/>
            <a:r>
              <a:rPr sz="800" b="0" i="0">
                <a:solidFill>
                  <a:srgbClr val="6B6965"/>
                </a:solidFill>
                <a:latin typeface="Calibri"/>
              </a:rPr>
              <a:t>RPA stenosis</a:t>
            </a:r>
          </a:p>
        </p:txBody>
      </p:sp>
      <p:sp>
        <p:nvSpPr>
          <p:cNvPr id="37" name="TextBox 36"/>
          <p:cNvSpPr txBox="1"/>
          <p:nvPr/>
        </p:nvSpPr>
        <p:spPr>
          <a:xfrm>
            <a:off x="4672584" y="1993392"/>
            <a:ext cx="3227832" cy="274320"/>
          </a:xfrm>
          <a:prstGeom prst="rect">
            <a:avLst/>
          </a:prstGeom>
          <a:noFill/>
        </p:spPr>
        <p:txBody>
          <a:bodyPr wrap="square" lIns="27432" tIns="0" rIns="27432" bIns="0" anchor="ctr">
            <a:spAutoFit/>
          </a:bodyPr>
          <a:lstStyle/>
          <a:p>
            <a:pPr algn="l"/>
            <a:r>
              <a:rPr sz="800" b="0" i="0">
                <a:solidFill>
                  <a:srgbClr val="6B6965"/>
                </a:solidFill>
                <a:latin typeface="Calibri"/>
              </a:rPr>
              <a:t>Visi-Pro 10 × 17 mm stent, RPA</a:t>
            </a:r>
          </a:p>
        </p:txBody>
      </p:sp>
      <p:sp>
        <p:nvSpPr>
          <p:cNvPr id="38" name="TextBox 37"/>
          <p:cNvSpPr txBox="1"/>
          <p:nvPr/>
        </p:nvSpPr>
        <p:spPr>
          <a:xfrm>
            <a:off x="8010144" y="1993392"/>
            <a:ext cx="758952" cy="274320"/>
          </a:xfrm>
          <a:prstGeom prst="rect">
            <a:avLst/>
          </a:prstGeom>
          <a:noFill/>
        </p:spPr>
        <p:txBody>
          <a:bodyPr wrap="square" lIns="27432" tIns="0" rIns="27432" bIns="0" anchor="ctr">
            <a:spAutoFit/>
          </a:bodyPr>
          <a:lstStyle/>
          <a:p>
            <a:pPr algn="l"/>
            <a:r>
              <a:rPr sz="800" b="0" i="0">
                <a:solidFill>
                  <a:srgbClr val="6B6965"/>
                </a:solidFill>
                <a:latin typeface="Calibri"/>
              </a:rPr>
              <a:t>No</a:t>
            </a:r>
          </a:p>
        </p:txBody>
      </p:sp>
      <p:sp>
        <p:nvSpPr>
          <p:cNvPr id="39" name="Rectangle 38"/>
          <p:cNvSpPr/>
          <p:nvPr/>
        </p:nvSpPr>
        <p:spPr>
          <a:xfrm>
            <a:off x="320040" y="2267712"/>
            <a:ext cx="8503920" cy="27432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374904" y="2267712"/>
            <a:ext cx="1033271" cy="274320"/>
          </a:xfrm>
          <a:prstGeom prst="rect">
            <a:avLst/>
          </a:prstGeom>
          <a:noFill/>
        </p:spPr>
        <p:txBody>
          <a:bodyPr wrap="square" lIns="27432" tIns="0" rIns="27432" bIns="0" anchor="ctr">
            <a:spAutoFit/>
          </a:bodyPr>
          <a:lstStyle/>
          <a:p>
            <a:pPr algn="l"/>
            <a:r>
              <a:rPr sz="800" b="1" i="0">
                <a:solidFill>
                  <a:srgbClr val="2E2D29"/>
                </a:solidFill>
                <a:latin typeface="Calibri"/>
              </a:rPr>
              <a:t>TST-STAN-3</a:t>
            </a:r>
          </a:p>
        </p:txBody>
      </p:sp>
      <p:sp>
        <p:nvSpPr>
          <p:cNvPr id="41" name="TextBox 40"/>
          <p:cNvSpPr txBox="1"/>
          <p:nvPr/>
        </p:nvSpPr>
        <p:spPr>
          <a:xfrm>
            <a:off x="1517904" y="2267712"/>
            <a:ext cx="758952" cy="274320"/>
          </a:xfrm>
          <a:prstGeom prst="rect">
            <a:avLst/>
          </a:prstGeom>
          <a:noFill/>
        </p:spPr>
        <p:txBody>
          <a:bodyPr wrap="square" lIns="27432" tIns="0" rIns="27432" bIns="0" anchor="ctr">
            <a:spAutoFit/>
          </a:bodyPr>
          <a:lstStyle/>
          <a:p>
            <a:pPr algn="l"/>
            <a:r>
              <a:rPr sz="800" b="0" i="0">
                <a:solidFill>
                  <a:srgbClr val="6B6965"/>
                </a:solidFill>
                <a:latin typeface="Calibri"/>
              </a:rPr>
              <a:t>21 yr · F</a:t>
            </a:r>
          </a:p>
        </p:txBody>
      </p:sp>
      <p:sp>
        <p:nvSpPr>
          <p:cNvPr id="42" name="TextBox 41"/>
          <p:cNvSpPr txBox="1"/>
          <p:nvPr/>
        </p:nvSpPr>
        <p:spPr>
          <a:xfrm>
            <a:off x="2386584" y="2267712"/>
            <a:ext cx="1078992" cy="274320"/>
          </a:xfrm>
          <a:prstGeom prst="rect">
            <a:avLst/>
          </a:prstGeom>
          <a:noFill/>
        </p:spPr>
        <p:txBody>
          <a:bodyPr wrap="square" lIns="27432" tIns="0" rIns="27432" bIns="0" anchor="ctr">
            <a:spAutoFit/>
          </a:bodyPr>
          <a:lstStyle/>
          <a:p>
            <a:pPr algn="l"/>
            <a:r>
              <a:rPr sz="800" b="0" i="0">
                <a:solidFill>
                  <a:srgbClr val="6B6965"/>
                </a:solidFill>
                <a:latin typeface="Calibri"/>
              </a:rPr>
              <a:t>62.2 kg · 1.56 m²</a:t>
            </a:r>
          </a:p>
        </p:txBody>
      </p:sp>
      <p:sp>
        <p:nvSpPr>
          <p:cNvPr id="43" name="TextBox 42"/>
          <p:cNvSpPr txBox="1"/>
          <p:nvPr/>
        </p:nvSpPr>
        <p:spPr>
          <a:xfrm>
            <a:off x="3575304" y="2267712"/>
            <a:ext cx="987552" cy="274320"/>
          </a:xfrm>
          <a:prstGeom prst="rect">
            <a:avLst/>
          </a:prstGeom>
          <a:noFill/>
        </p:spPr>
        <p:txBody>
          <a:bodyPr wrap="square" lIns="27432" tIns="0" rIns="27432" bIns="0" anchor="ctr">
            <a:spAutoFit/>
          </a:bodyPr>
          <a:lstStyle/>
          <a:p>
            <a:pPr algn="l"/>
            <a:r>
              <a:rPr sz="800" b="0" i="0">
                <a:solidFill>
                  <a:srgbClr val="6B6965"/>
                </a:solidFill>
                <a:latin typeface="Calibri"/>
              </a:rPr>
              <a:t>RPA stenosis</a:t>
            </a:r>
          </a:p>
        </p:txBody>
      </p:sp>
      <p:sp>
        <p:nvSpPr>
          <p:cNvPr id="44" name="TextBox 43"/>
          <p:cNvSpPr txBox="1"/>
          <p:nvPr/>
        </p:nvSpPr>
        <p:spPr>
          <a:xfrm>
            <a:off x="4672584" y="2267712"/>
            <a:ext cx="3227832" cy="274320"/>
          </a:xfrm>
          <a:prstGeom prst="rect">
            <a:avLst/>
          </a:prstGeom>
          <a:noFill/>
        </p:spPr>
        <p:txBody>
          <a:bodyPr wrap="square" lIns="27432" tIns="0" rIns="27432" bIns="0" anchor="ctr">
            <a:spAutoFit/>
          </a:bodyPr>
          <a:lstStyle/>
          <a:p>
            <a:pPr algn="l"/>
            <a:r>
              <a:rPr sz="800" b="0" i="0">
                <a:solidFill>
                  <a:srgbClr val="6B6965"/>
                </a:solidFill>
                <a:latin typeface="Calibri"/>
              </a:rPr>
              <a:t>Visi-Pro 10 × 27 mm stent, RPA</a:t>
            </a:r>
          </a:p>
        </p:txBody>
      </p:sp>
      <p:sp>
        <p:nvSpPr>
          <p:cNvPr id="45" name="TextBox 44"/>
          <p:cNvSpPr txBox="1"/>
          <p:nvPr/>
        </p:nvSpPr>
        <p:spPr>
          <a:xfrm>
            <a:off x="8010144" y="2267712"/>
            <a:ext cx="758952" cy="274320"/>
          </a:xfrm>
          <a:prstGeom prst="rect">
            <a:avLst/>
          </a:prstGeom>
          <a:noFill/>
        </p:spPr>
        <p:txBody>
          <a:bodyPr wrap="square" lIns="27432" tIns="0" rIns="27432" bIns="0" anchor="ctr">
            <a:spAutoFit/>
          </a:bodyPr>
          <a:lstStyle/>
          <a:p>
            <a:pPr algn="l"/>
            <a:r>
              <a:rPr sz="800" b="0" i="0">
                <a:solidFill>
                  <a:srgbClr val="6B6965"/>
                </a:solidFill>
                <a:latin typeface="Calibri"/>
              </a:rPr>
              <a:t>No</a:t>
            </a:r>
          </a:p>
        </p:txBody>
      </p:sp>
      <p:sp>
        <p:nvSpPr>
          <p:cNvPr id="46" name="TextBox 45"/>
          <p:cNvSpPr txBox="1"/>
          <p:nvPr/>
        </p:nvSpPr>
        <p:spPr>
          <a:xfrm>
            <a:off x="374904" y="2542032"/>
            <a:ext cx="1033271" cy="274320"/>
          </a:xfrm>
          <a:prstGeom prst="rect">
            <a:avLst/>
          </a:prstGeom>
          <a:noFill/>
        </p:spPr>
        <p:txBody>
          <a:bodyPr wrap="square" lIns="27432" tIns="0" rIns="27432" bIns="0" anchor="ctr">
            <a:spAutoFit/>
          </a:bodyPr>
          <a:lstStyle/>
          <a:p>
            <a:pPr algn="l"/>
            <a:r>
              <a:rPr sz="800" b="1" i="0">
                <a:solidFill>
                  <a:srgbClr val="2E2D29"/>
                </a:solidFill>
                <a:latin typeface="Calibri"/>
              </a:rPr>
              <a:t>TST-STAN-5</a:t>
            </a:r>
          </a:p>
        </p:txBody>
      </p:sp>
      <p:sp>
        <p:nvSpPr>
          <p:cNvPr id="47" name="TextBox 46"/>
          <p:cNvSpPr txBox="1"/>
          <p:nvPr/>
        </p:nvSpPr>
        <p:spPr>
          <a:xfrm>
            <a:off x="1517904" y="2542032"/>
            <a:ext cx="758952" cy="274320"/>
          </a:xfrm>
          <a:prstGeom prst="rect">
            <a:avLst/>
          </a:prstGeom>
          <a:noFill/>
        </p:spPr>
        <p:txBody>
          <a:bodyPr wrap="square" lIns="27432" tIns="0" rIns="27432" bIns="0" anchor="ctr">
            <a:spAutoFit/>
          </a:bodyPr>
          <a:lstStyle/>
          <a:p>
            <a:pPr algn="l"/>
            <a:r>
              <a:rPr sz="800" b="0" i="0">
                <a:solidFill>
                  <a:srgbClr val="6B6965"/>
                </a:solidFill>
                <a:latin typeface="Calibri"/>
              </a:rPr>
              <a:t>4 yr · M</a:t>
            </a:r>
          </a:p>
        </p:txBody>
      </p:sp>
      <p:sp>
        <p:nvSpPr>
          <p:cNvPr id="48" name="TextBox 47"/>
          <p:cNvSpPr txBox="1"/>
          <p:nvPr/>
        </p:nvSpPr>
        <p:spPr>
          <a:xfrm>
            <a:off x="2386584" y="2542032"/>
            <a:ext cx="1078992" cy="274320"/>
          </a:xfrm>
          <a:prstGeom prst="rect">
            <a:avLst/>
          </a:prstGeom>
          <a:noFill/>
        </p:spPr>
        <p:txBody>
          <a:bodyPr wrap="square" lIns="27432" tIns="0" rIns="27432" bIns="0" anchor="ctr">
            <a:spAutoFit/>
          </a:bodyPr>
          <a:lstStyle/>
          <a:p>
            <a:pPr algn="l"/>
            <a:r>
              <a:rPr sz="800" b="0" i="0">
                <a:solidFill>
                  <a:srgbClr val="6B6965"/>
                </a:solidFill>
                <a:latin typeface="Calibri"/>
              </a:rPr>
              <a:t>14.3 kg · 0.62 m²</a:t>
            </a:r>
          </a:p>
        </p:txBody>
      </p:sp>
      <p:sp>
        <p:nvSpPr>
          <p:cNvPr id="49" name="TextBox 48"/>
          <p:cNvSpPr txBox="1"/>
          <p:nvPr/>
        </p:nvSpPr>
        <p:spPr>
          <a:xfrm>
            <a:off x="3575304" y="2542032"/>
            <a:ext cx="987552" cy="274320"/>
          </a:xfrm>
          <a:prstGeom prst="rect">
            <a:avLst/>
          </a:prstGeom>
          <a:noFill/>
        </p:spPr>
        <p:txBody>
          <a:bodyPr wrap="square" lIns="27432" tIns="0" rIns="27432" bIns="0" anchor="ctr">
            <a:spAutoFit/>
          </a:bodyPr>
          <a:lstStyle/>
          <a:p>
            <a:pPr algn="l"/>
            <a:r>
              <a:rPr sz="800" b="0" i="0">
                <a:solidFill>
                  <a:srgbClr val="6B6965"/>
                </a:solidFill>
                <a:latin typeface="Calibri"/>
              </a:rPr>
              <a:t>LPA stenosis</a:t>
            </a:r>
          </a:p>
        </p:txBody>
      </p:sp>
      <p:sp>
        <p:nvSpPr>
          <p:cNvPr id="50" name="TextBox 49"/>
          <p:cNvSpPr txBox="1"/>
          <p:nvPr/>
        </p:nvSpPr>
        <p:spPr>
          <a:xfrm>
            <a:off x="4672584" y="2542032"/>
            <a:ext cx="3227832" cy="274320"/>
          </a:xfrm>
          <a:prstGeom prst="rect">
            <a:avLst/>
          </a:prstGeom>
          <a:noFill/>
        </p:spPr>
        <p:txBody>
          <a:bodyPr wrap="square" lIns="27432" tIns="0" rIns="27432" bIns="0" anchor="ctr">
            <a:spAutoFit/>
          </a:bodyPr>
          <a:lstStyle/>
          <a:p>
            <a:pPr algn="l"/>
            <a:r>
              <a:rPr sz="800" b="0" i="0">
                <a:solidFill>
                  <a:srgbClr val="6B6965"/>
                </a:solidFill>
                <a:latin typeface="Calibri"/>
              </a:rPr>
              <a:t>Visi-Pro 10 × 17 mm stent, post-dilated 9 mm</a:t>
            </a:r>
          </a:p>
        </p:txBody>
      </p:sp>
      <p:sp>
        <p:nvSpPr>
          <p:cNvPr id="51" name="TextBox 50"/>
          <p:cNvSpPr txBox="1"/>
          <p:nvPr/>
        </p:nvSpPr>
        <p:spPr>
          <a:xfrm>
            <a:off x="8010144" y="2542032"/>
            <a:ext cx="758952" cy="274320"/>
          </a:xfrm>
          <a:prstGeom prst="rect">
            <a:avLst/>
          </a:prstGeom>
          <a:noFill/>
        </p:spPr>
        <p:txBody>
          <a:bodyPr wrap="square" lIns="27432" tIns="0" rIns="27432" bIns="0" anchor="ctr">
            <a:spAutoFit/>
          </a:bodyPr>
          <a:lstStyle/>
          <a:p>
            <a:pPr algn="l"/>
            <a:r>
              <a:rPr sz="800" b="0" i="0">
                <a:solidFill>
                  <a:srgbClr val="6B6965"/>
                </a:solidFill>
                <a:latin typeface="Calibri"/>
              </a:rPr>
              <a:t>Yes</a:t>
            </a:r>
          </a:p>
        </p:txBody>
      </p:sp>
      <p:sp>
        <p:nvSpPr>
          <p:cNvPr id="52" name="Rectangle 51"/>
          <p:cNvSpPr/>
          <p:nvPr/>
        </p:nvSpPr>
        <p:spPr>
          <a:xfrm>
            <a:off x="320040" y="2816352"/>
            <a:ext cx="8503920" cy="27432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374904" y="2816352"/>
            <a:ext cx="1033271" cy="274320"/>
          </a:xfrm>
          <a:prstGeom prst="rect">
            <a:avLst/>
          </a:prstGeom>
          <a:noFill/>
        </p:spPr>
        <p:txBody>
          <a:bodyPr wrap="square" lIns="27432" tIns="0" rIns="27432" bIns="0" anchor="ctr">
            <a:spAutoFit/>
          </a:bodyPr>
          <a:lstStyle/>
          <a:p>
            <a:pPr algn="l"/>
            <a:r>
              <a:rPr sz="800" b="1" i="0">
                <a:solidFill>
                  <a:srgbClr val="2E2D29"/>
                </a:solidFill>
                <a:latin typeface="Calibri"/>
              </a:rPr>
              <a:t>TST-STAN-9</a:t>
            </a:r>
          </a:p>
        </p:txBody>
      </p:sp>
      <p:sp>
        <p:nvSpPr>
          <p:cNvPr id="54" name="TextBox 53"/>
          <p:cNvSpPr txBox="1"/>
          <p:nvPr/>
        </p:nvSpPr>
        <p:spPr>
          <a:xfrm>
            <a:off x="1517904" y="2816352"/>
            <a:ext cx="758952" cy="274320"/>
          </a:xfrm>
          <a:prstGeom prst="rect">
            <a:avLst/>
          </a:prstGeom>
          <a:noFill/>
        </p:spPr>
        <p:txBody>
          <a:bodyPr wrap="square" lIns="27432" tIns="0" rIns="27432" bIns="0" anchor="ctr">
            <a:spAutoFit/>
          </a:bodyPr>
          <a:lstStyle/>
          <a:p>
            <a:pPr algn="l"/>
            <a:r>
              <a:rPr sz="800" b="0" i="0">
                <a:solidFill>
                  <a:srgbClr val="6B6965"/>
                </a:solidFill>
                <a:latin typeface="Calibri"/>
              </a:rPr>
              <a:t>2 yr · M</a:t>
            </a:r>
          </a:p>
        </p:txBody>
      </p:sp>
      <p:sp>
        <p:nvSpPr>
          <p:cNvPr id="55" name="TextBox 54"/>
          <p:cNvSpPr txBox="1"/>
          <p:nvPr/>
        </p:nvSpPr>
        <p:spPr>
          <a:xfrm>
            <a:off x="2386584" y="2816352"/>
            <a:ext cx="1078992" cy="274320"/>
          </a:xfrm>
          <a:prstGeom prst="rect">
            <a:avLst/>
          </a:prstGeom>
          <a:noFill/>
        </p:spPr>
        <p:txBody>
          <a:bodyPr wrap="square" lIns="27432" tIns="0" rIns="27432" bIns="0" anchor="ctr">
            <a:spAutoFit/>
          </a:bodyPr>
          <a:lstStyle/>
          <a:p>
            <a:pPr algn="l"/>
            <a:r>
              <a:rPr sz="800" b="0" i="0">
                <a:solidFill>
                  <a:srgbClr val="6B6965"/>
                </a:solidFill>
                <a:latin typeface="Calibri"/>
              </a:rPr>
              <a:t>14 kg · 0.57 m²</a:t>
            </a:r>
          </a:p>
        </p:txBody>
      </p:sp>
      <p:sp>
        <p:nvSpPr>
          <p:cNvPr id="56" name="TextBox 55"/>
          <p:cNvSpPr txBox="1"/>
          <p:nvPr/>
        </p:nvSpPr>
        <p:spPr>
          <a:xfrm>
            <a:off x="3575304" y="2816352"/>
            <a:ext cx="987552" cy="274320"/>
          </a:xfrm>
          <a:prstGeom prst="rect">
            <a:avLst/>
          </a:prstGeom>
          <a:noFill/>
        </p:spPr>
        <p:txBody>
          <a:bodyPr wrap="square" lIns="27432" tIns="0" rIns="27432" bIns="0" anchor="ctr">
            <a:spAutoFit/>
          </a:bodyPr>
          <a:lstStyle/>
          <a:p>
            <a:pPr algn="l"/>
            <a:r>
              <a:rPr sz="800" b="0" i="0">
                <a:solidFill>
                  <a:srgbClr val="6B6965"/>
                </a:solidFill>
                <a:latin typeface="Calibri"/>
              </a:rPr>
              <a:t>Bilateral branch</a:t>
            </a:r>
          </a:p>
        </p:txBody>
      </p:sp>
      <p:sp>
        <p:nvSpPr>
          <p:cNvPr id="57" name="TextBox 56"/>
          <p:cNvSpPr txBox="1"/>
          <p:nvPr/>
        </p:nvSpPr>
        <p:spPr>
          <a:xfrm>
            <a:off x="4672584" y="2816352"/>
            <a:ext cx="3227832" cy="274320"/>
          </a:xfrm>
          <a:prstGeom prst="rect">
            <a:avLst/>
          </a:prstGeom>
          <a:noFill/>
        </p:spPr>
        <p:txBody>
          <a:bodyPr wrap="square" lIns="27432" tIns="0" rIns="27432" bIns="0" anchor="ctr">
            <a:spAutoFit/>
          </a:bodyPr>
          <a:lstStyle/>
          <a:p>
            <a:pPr algn="l"/>
            <a:r>
              <a:rPr sz="800" b="0" i="0">
                <a:solidFill>
                  <a:srgbClr val="6B6965"/>
                </a:solidFill>
                <a:latin typeface="Calibri"/>
              </a:rPr>
              <a:t>RPA 7 × 20 mm balloon; LPA 5 × 15 mm Herculink stent</a:t>
            </a:r>
          </a:p>
        </p:txBody>
      </p:sp>
      <p:sp>
        <p:nvSpPr>
          <p:cNvPr id="58" name="TextBox 57"/>
          <p:cNvSpPr txBox="1"/>
          <p:nvPr/>
        </p:nvSpPr>
        <p:spPr>
          <a:xfrm>
            <a:off x="8010144" y="2816352"/>
            <a:ext cx="758952" cy="274320"/>
          </a:xfrm>
          <a:prstGeom prst="rect">
            <a:avLst/>
          </a:prstGeom>
          <a:noFill/>
        </p:spPr>
        <p:txBody>
          <a:bodyPr wrap="square" lIns="27432" tIns="0" rIns="27432" bIns="0" anchor="ctr">
            <a:spAutoFit/>
          </a:bodyPr>
          <a:lstStyle/>
          <a:p>
            <a:pPr algn="l"/>
            <a:r>
              <a:rPr sz="800" b="0" i="0">
                <a:solidFill>
                  <a:srgbClr val="6B6965"/>
                </a:solidFill>
                <a:latin typeface="Calibri"/>
              </a:rPr>
              <a:t>No</a:t>
            </a:r>
          </a:p>
        </p:txBody>
      </p:sp>
      <p:pic>
        <p:nvPicPr>
          <p:cNvPr id="59" name="Picture 58" descr="model_T1.png"/>
          <p:cNvPicPr>
            <a:picLocks noChangeAspect="1"/>
          </p:cNvPicPr>
          <p:nvPr/>
        </p:nvPicPr>
        <p:blipFill>
          <a:blip r:embed="rId2"/>
          <a:stretch>
            <a:fillRect/>
          </a:stretch>
        </p:blipFill>
        <p:spPr>
          <a:xfrm>
            <a:off x="320040" y="3429346"/>
            <a:ext cx="1598371" cy="1142306"/>
          </a:xfrm>
          <a:prstGeom prst="rect">
            <a:avLst/>
          </a:prstGeom>
        </p:spPr>
      </p:pic>
      <p:sp>
        <p:nvSpPr>
          <p:cNvPr id="60" name="TextBox 59"/>
          <p:cNvSpPr txBox="1"/>
          <p:nvPr/>
        </p:nvSpPr>
        <p:spPr>
          <a:xfrm>
            <a:off x="320040" y="4745736"/>
            <a:ext cx="1598371" cy="201168"/>
          </a:xfrm>
          <a:prstGeom prst="rect">
            <a:avLst/>
          </a:prstGeom>
          <a:noFill/>
        </p:spPr>
        <p:txBody>
          <a:bodyPr wrap="square" lIns="27432" tIns="0" rIns="27432" bIns="0" anchor="t">
            <a:spAutoFit/>
          </a:bodyPr>
          <a:lstStyle/>
          <a:p>
            <a:pPr algn="ctr"/>
            <a:r>
              <a:rPr sz="800" b="0" i="1">
                <a:solidFill>
                  <a:srgbClr val="6B6965"/>
                </a:solidFill>
                <a:latin typeface="Calibri"/>
              </a:rPr>
              <a:t>TST-STAN-1</a:t>
            </a:r>
          </a:p>
        </p:txBody>
      </p:sp>
      <p:pic>
        <p:nvPicPr>
          <p:cNvPr id="61" name="Picture 60" descr="model_T2.png"/>
          <p:cNvPicPr>
            <a:picLocks noChangeAspect="1"/>
          </p:cNvPicPr>
          <p:nvPr/>
        </p:nvPicPr>
        <p:blipFill>
          <a:blip r:embed="rId3"/>
          <a:stretch>
            <a:fillRect/>
          </a:stretch>
        </p:blipFill>
        <p:spPr>
          <a:xfrm>
            <a:off x="2046427" y="3429346"/>
            <a:ext cx="1598371" cy="1142306"/>
          </a:xfrm>
          <a:prstGeom prst="rect">
            <a:avLst/>
          </a:prstGeom>
        </p:spPr>
      </p:pic>
      <p:sp>
        <p:nvSpPr>
          <p:cNvPr id="62" name="TextBox 61"/>
          <p:cNvSpPr txBox="1"/>
          <p:nvPr/>
        </p:nvSpPr>
        <p:spPr>
          <a:xfrm>
            <a:off x="2046427" y="4745736"/>
            <a:ext cx="1598371" cy="201168"/>
          </a:xfrm>
          <a:prstGeom prst="rect">
            <a:avLst/>
          </a:prstGeom>
          <a:noFill/>
        </p:spPr>
        <p:txBody>
          <a:bodyPr wrap="square" lIns="27432" tIns="0" rIns="27432" bIns="0" anchor="t">
            <a:spAutoFit/>
          </a:bodyPr>
          <a:lstStyle/>
          <a:p>
            <a:pPr algn="ctr"/>
            <a:r>
              <a:rPr sz="800" b="0" i="1">
                <a:solidFill>
                  <a:srgbClr val="6B6965"/>
                </a:solidFill>
                <a:latin typeface="Calibri"/>
              </a:rPr>
              <a:t>TST-STAN-2</a:t>
            </a:r>
          </a:p>
        </p:txBody>
      </p:sp>
      <p:pic>
        <p:nvPicPr>
          <p:cNvPr id="63" name="Picture 62" descr="model_T3.png"/>
          <p:cNvPicPr>
            <a:picLocks noChangeAspect="1"/>
          </p:cNvPicPr>
          <p:nvPr/>
        </p:nvPicPr>
        <p:blipFill>
          <a:blip r:embed="rId4"/>
          <a:stretch>
            <a:fillRect/>
          </a:stretch>
        </p:blipFill>
        <p:spPr>
          <a:xfrm>
            <a:off x="3772814" y="3429346"/>
            <a:ext cx="1598371" cy="1142306"/>
          </a:xfrm>
          <a:prstGeom prst="rect">
            <a:avLst/>
          </a:prstGeom>
        </p:spPr>
      </p:pic>
      <p:sp>
        <p:nvSpPr>
          <p:cNvPr id="64" name="TextBox 63"/>
          <p:cNvSpPr txBox="1"/>
          <p:nvPr/>
        </p:nvSpPr>
        <p:spPr>
          <a:xfrm>
            <a:off x="3772814" y="4745736"/>
            <a:ext cx="1598371" cy="201168"/>
          </a:xfrm>
          <a:prstGeom prst="rect">
            <a:avLst/>
          </a:prstGeom>
          <a:noFill/>
        </p:spPr>
        <p:txBody>
          <a:bodyPr wrap="square" lIns="27432" tIns="0" rIns="27432" bIns="0" anchor="t">
            <a:spAutoFit/>
          </a:bodyPr>
          <a:lstStyle/>
          <a:p>
            <a:pPr algn="ctr"/>
            <a:r>
              <a:rPr sz="800" b="0" i="1">
                <a:solidFill>
                  <a:srgbClr val="6B6965"/>
                </a:solidFill>
                <a:latin typeface="Calibri"/>
              </a:rPr>
              <a:t>TST-STAN-3</a:t>
            </a:r>
          </a:p>
        </p:txBody>
      </p:sp>
      <p:pic>
        <p:nvPicPr>
          <p:cNvPr id="65" name="Picture 64" descr="model_T5.png"/>
          <p:cNvPicPr>
            <a:picLocks noChangeAspect="1"/>
          </p:cNvPicPr>
          <p:nvPr/>
        </p:nvPicPr>
        <p:blipFill>
          <a:blip r:embed="rId5"/>
          <a:stretch>
            <a:fillRect/>
          </a:stretch>
        </p:blipFill>
        <p:spPr>
          <a:xfrm>
            <a:off x="5499201" y="3429346"/>
            <a:ext cx="1598371" cy="1142306"/>
          </a:xfrm>
          <a:prstGeom prst="rect">
            <a:avLst/>
          </a:prstGeom>
        </p:spPr>
      </p:pic>
      <p:sp>
        <p:nvSpPr>
          <p:cNvPr id="66" name="TextBox 65"/>
          <p:cNvSpPr txBox="1"/>
          <p:nvPr/>
        </p:nvSpPr>
        <p:spPr>
          <a:xfrm>
            <a:off x="5499201" y="4745736"/>
            <a:ext cx="1598371" cy="201168"/>
          </a:xfrm>
          <a:prstGeom prst="rect">
            <a:avLst/>
          </a:prstGeom>
          <a:noFill/>
        </p:spPr>
        <p:txBody>
          <a:bodyPr wrap="square" lIns="27432" tIns="0" rIns="27432" bIns="0" anchor="t">
            <a:spAutoFit/>
          </a:bodyPr>
          <a:lstStyle/>
          <a:p>
            <a:pPr algn="ctr"/>
            <a:r>
              <a:rPr sz="800" b="0" i="1">
                <a:solidFill>
                  <a:srgbClr val="6B6965"/>
                </a:solidFill>
                <a:latin typeface="Calibri"/>
              </a:rPr>
              <a:t>TST-STAN-5</a:t>
            </a:r>
          </a:p>
        </p:txBody>
      </p:sp>
      <p:pic>
        <p:nvPicPr>
          <p:cNvPr id="67" name="Picture 66" descr="model_T9.png"/>
          <p:cNvPicPr>
            <a:picLocks noChangeAspect="1"/>
          </p:cNvPicPr>
          <p:nvPr/>
        </p:nvPicPr>
        <p:blipFill>
          <a:blip r:embed="rId6"/>
          <a:stretch>
            <a:fillRect/>
          </a:stretch>
        </p:blipFill>
        <p:spPr>
          <a:xfrm>
            <a:off x="7225588" y="3429346"/>
            <a:ext cx="1598371" cy="1142306"/>
          </a:xfrm>
          <a:prstGeom prst="rect">
            <a:avLst/>
          </a:prstGeom>
        </p:spPr>
      </p:pic>
      <p:sp>
        <p:nvSpPr>
          <p:cNvPr id="68" name="TextBox 67"/>
          <p:cNvSpPr txBox="1"/>
          <p:nvPr/>
        </p:nvSpPr>
        <p:spPr>
          <a:xfrm>
            <a:off x="7225588" y="4745736"/>
            <a:ext cx="1598371" cy="201168"/>
          </a:xfrm>
          <a:prstGeom prst="rect">
            <a:avLst/>
          </a:prstGeom>
          <a:noFill/>
        </p:spPr>
        <p:txBody>
          <a:bodyPr wrap="square" lIns="27432" tIns="0" rIns="27432" bIns="0" anchor="t">
            <a:spAutoFit/>
          </a:bodyPr>
          <a:lstStyle/>
          <a:p>
            <a:pPr algn="ctr"/>
            <a:r>
              <a:rPr sz="800" b="0" i="1">
                <a:solidFill>
                  <a:srgbClr val="6B6965"/>
                </a:solidFill>
                <a:latin typeface="Calibri"/>
              </a:rPr>
              <a:t>TST-STAN-9</a:t>
            </a:r>
          </a:p>
        </p:txBody>
      </p:sp>
      <p:sp>
        <p:nvSpPr>
          <p:cNvPr id="69" name="Rectangle 68"/>
          <p:cNvSpPr/>
          <p:nvPr/>
        </p:nvSpPr>
        <p:spPr>
          <a:xfrm>
            <a:off x="320040" y="4956048"/>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TextBox 69"/>
          <p:cNvSpPr txBox="1"/>
          <p:nvPr/>
        </p:nvSpPr>
        <p:spPr>
          <a:xfrm>
            <a:off x="429768" y="4956048"/>
            <a:ext cx="8284464" cy="310896"/>
          </a:xfrm>
          <a:prstGeom prst="rect">
            <a:avLst/>
          </a:prstGeom>
          <a:noFill/>
        </p:spPr>
        <p:txBody>
          <a:bodyPr wrap="square" lIns="27432" tIns="0" rIns="27432" bIns="0" anchor="ctr">
            <a:spAutoFit/>
          </a:bodyPr>
          <a:lstStyle/>
          <a:p>
            <a:pPr algn="l"/>
            <a:r>
              <a:rPr sz="1000" b="1" i="0">
                <a:solidFill>
                  <a:srgbClr val="8C1515"/>
                </a:solidFill>
                <a:latin typeface="Calibri"/>
              </a:rPr>
              <a:t>Two regurgitant (1, 5) and three non-regurgitant (2, 3, 9) — the split that determines inflow assignment.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sz="2200">
                <a:solidFill>
                  <a:srgbClr val="8C1515"/>
                </a:solidFill>
                <a:latin typeface="Georgia"/>
              </a:rPr>
              <a:t>Imaging and segmentation</a:t>
            </a:r>
          </a:p>
        </p:txBody>
      </p:sp>
      <p:sp>
        <p:nvSpPr>
          <p:cNvPr id="3" name="Rectangle 2"/>
          <p:cNvSpPr/>
          <p:nvPr/>
        </p:nvSpPr>
        <p:spPr>
          <a:xfrm>
            <a:off x="320040"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1  Inputs</a:t>
            </a:r>
          </a:p>
        </p:txBody>
      </p:sp>
      <p:sp>
        <p:nvSpPr>
          <p:cNvPr id="5" name="Rectangle 4"/>
          <p:cNvSpPr/>
          <p:nvPr/>
        </p:nvSpPr>
        <p:spPr>
          <a:xfrm>
            <a:off x="125468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VALIDATED</a:t>
            </a:r>
          </a:p>
        </p:txBody>
      </p:sp>
      <p:sp>
        <p:nvSpPr>
          <p:cNvPr id="19" name="Rectangle 18"/>
          <p:cNvSpPr/>
          <p:nvPr/>
        </p:nvSpPr>
        <p:spPr>
          <a:xfrm>
            <a:off x="320040" y="1426464"/>
            <a:ext cx="4160520" cy="148132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448056" y="1527048"/>
            <a:ext cx="3904487" cy="219456"/>
          </a:xfrm>
          <a:prstGeom prst="rect">
            <a:avLst/>
          </a:prstGeom>
          <a:noFill/>
        </p:spPr>
        <p:txBody>
          <a:bodyPr wrap="square" lIns="27432" tIns="0" rIns="27432" bIns="0" anchor="t">
            <a:spAutoFit/>
          </a:bodyPr>
          <a:lstStyle/>
          <a:p>
            <a:pPr algn="l"/>
            <a:r>
              <a:rPr sz="1100" b="1" i="0">
                <a:solidFill>
                  <a:srgbClr val="8C1515"/>
                </a:solidFill>
                <a:latin typeface="Calibri"/>
              </a:rPr>
              <a:t>Source imaging</a:t>
            </a:r>
          </a:p>
        </p:txBody>
      </p:sp>
      <p:sp>
        <p:nvSpPr>
          <p:cNvPr id="21" name="TextBox 20"/>
          <p:cNvSpPr txBox="1"/>
          <p:nvPr/>
        </p:nvSpPr>
        <p:spPr>
          <a:xfrm>
            <a:off x="448056" y="1801368"/>
            <a:ext cx="3904487" cy="1069848"/>
          </a:xfrm>
          <a:prstGeom prst="rect">
            <a:avLst/>
          </a:prstGeom>
          <a:noFill/>
        </p:spPr>
        <p:txBody>
          <a:bodyPr wrap="square" lIns="27432" tIns="0" rIns="27432" bIns="0">
            <a:spAutoFit/>
          </a:bodyPr>
          <a:lstStyle/>
          <a:p>
            <a:pPr>
              <a:spcAft>
                <a:spcPts val="350"/>
              </a:spcAft>
            </a:pPr>
            <a:r>
              <a:rPr sz="950">
                <a:solidFill>
                  <a:srgbClr val="8C1515"/>
                </a:solidFill>
                <a:latin typeface="Calibri"/>
              </a:rPr>
              <a:t>• </a:t>
            </a:r>
            <a:r>
              <a:rPr sz="950">
                <a:solidFill>
                  <a:srgbClr val="2E2D29"/>
                </a:solidFill>
                <a:latin typeface="Calibri"/>
              </a:rPr>
              <a:t>TST-STAN-1, -2, -9: pre-operative CT angiography</a:t>
            </a:r>
          </a:p>
          <a:p>
            <a:pPr>
              <a:spcAft>
                <a:spcPts val="350"/>
              </a:spcAft>
            </a:pPr>
            <a:r>
              <a:rPr sz="950">
                <a:solidFill>
                  <a:srgbClr val="8C1515"/>
                </a:solidFill>
                <a:latin typeface="Calibri"/>
              </a:rPr>
              <a:t>• </a:t>
            </a:r>
            <a:r>
              <a:rPr sz="950">
                <a:solidFill>
                  <a:srgbClr val="2E2D29"/>
                </a:solidFill>
                <a:latin typeface="Calibri"/>
              </a:rPr>
              <a:t>TST-STAN-3, -5: pre-operative cardiac MR</a:t>
            </a:r>
          </a:p>
          <a:p>
            <a:pPr>
              <a:spcAft>
                <a:spcPts val="350"/>
              </a:spcAft>
            </a:pPr>
            <a:r>
              <a:rPr sz="950">
                <a:solidFill>
                  <a:srgbClr val="8C1515"/>
                </a:solidFill>
                <a:latin typeface="Calibri"/>
              </a:rPr>
              <a:t>• </a:t>
            </a:r>
            <a:r>
              <a:rPr sz="950">
                <a:solidFill>
                  <a:srgbClr val="2E2D29"/>
                </a:solidFill>
                <a:latin typeface="Calibri"/>
              </a:rPr>
              <a:t>Pre-op imaging to catheterization interval ranges 8 to 84 weeks</a:t>
            </a:r>
          </a:p>
        </p:txBody>
      </p:sp>
      <p:sp>
        <p:nvSpPr>
          <p:cNvPr id="22" name="Rectangle 21"/>
          <p:cNvSpPr/>
          <p:nvPr/>
        </p:nvSpPr>
        <p:spPr>
          <a:xfrm>
            <a:off x="320040" y="3035808"/>
            <a:ext cx="4160520" cy="148132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448056" y="3136391"/>
            <a:ext cx="3904487" cy="219456"/>
          </a:xfrm>
          <a:prstGeom prst="rect">
            <a:avLst/>
          </a:prstGeom>
          <a:noFill/>
        </p:spPr>
        <p:txBody>
          <a:bodyPr wrap="square" lIns="27432" tIns="0" rIns="27432" bIns="0" anchor="t">
            <a:spAutoFit/>
          </a:bodyPr>
          <a:lstStyle/>
          <a:p>
            <a:pPr algn="l"/>
            <a:r>
              <a:rPr sz="1100" b="1" i="0">
                <a:solidFill>
                  <a:srgbClr val="8C1515"/>
                </a:solidFill>
                <a:latin typeface="Calibri"/>
              </a:rPr>
              <a:t>Segmentation</a:t>
            </a:r>
          </a:p>
        </p:txBody>
      </p:sp>
      <p:sp>
        <p:nvSpPr>
          <p:cNvPr id="24" name="TextBox 23"/>
          <p:cNvSpPr txBox="1"/>
          <p:nvPr/>
        </p:nvSpPr>
        <p:spPr>
          <a:xfrm>
            <a:off x="448056" y="3410711"/>
            <a:ext cx="3904487" cy="1069848"/>
          </a:xfrm>
          <a:prstGeom prst="rect">
            <a:avLst/>
          </a:prstGeom>
          <a:noFill/>
        </p:spPr>
        <p:txBody>
          <a:bodyPr wrap="square" lIns="27432" tIns="0" rIns="27432" bIns="0">
            <a:spAutoFit/>
          </a:bodyPr>
          <a:lstStyle/>
          <a:p>
            <a:pPr>
              <a:spcAft>
                <a:spcPts val="350"/>
              </a:spcAft>
            </a:pPr>
            <a:r>
              <a:rPr sz="950">
                <a:solidFill>
                  <a:srgbClr val="8C1515"/>
                </a:solidFill>
                <a:latin typeface="Calibri"/>
              </a:rPr>
              <a:t>• </a:t>
            </a:r>
            <a:r>
              <a:rPr sz="950">
                <a:solidFill>
                  <a:srgbClr val="2E2D29"/>
                </a:solidFill>
                <a:latin typeface="Calibri"/>
              </a:rPr>
              <a:t>Manual 2D segmentation along centerline pathlines in SimVascular</a:t>
            </a:r>
          </a:p>
          <a:p>
            <a:pPr>
              <a:spcAft>
                <a:spcPts val="350"/>
              </a:spcAft>
            </a:pPr>
            <a:r>
              <a:rPr sz="950">
                <a:solidFill>
                  <a:srgbClr val="8C1515"/>
                </a:solidFill>
                <a:latin typeface="Calibri"/>
              </a:rPr>
              <a:t>• </a:t>
            </a:r>
            <a:r>
              <a:rPr sz="950">
                <a:solidFill>
                  <a:srgbClr val="2E2D29"/>
                </a:solidFill>
                <a:latin typeface="Calibri"/>
              </a:rPr>
              <a:t>Lofted and unioned to a solid model, then meshed with TetGen</a:t>
            </a:r>
          </a:p>
          <a:p>
            <a:pPr>
              <a:spcAft>
                <a:spcPts val="350"/>
              </a:spcAft>
            </a:pPr>
            <a:r>
              <a:rPr sz="950">
                <a:solidFill>
                  <a:srgbClr val="8C1515"/>
                </a:solidFill>
                <a:latin typeface="Calibri"/>
              </a:rPr>
              <a:t>• </a:t>
            </a:r>
            <a:r>
              <a:rPr sz="950">
                <a:solidFill>
                  <a:srgbClr val="2E2D29"/>
                </a:solidFill>
                <a:latin typeface="Calibri"/>
              </a:rPr>
              <a:t>Resolves MPA through lobar and early segmental branches</a:t>
            </a:r>
          </a:p>
        </p:txBody>
      </p:sp>
      <p:pic>
        <p:nvPicPr>
          <p:cNvPr id="25" name="Picture 24" descr="pa_model_white.png"/>
          <p:cNvPicPr>
            <a:picLocks noChangeAspect="1"/>
          </p:cNvPicPr>
          <p:nvPr/>
        </p:nvPicPr>
        <p:blipFill>
          <a:blip r:embed="rId2"/>
          <a:stretch>
            <a:fillRect/>
          </a:stretch>
        </p:blipFill>
        <p:spPr>
          <a:xfrm>
            <a:off x="4897031" y="1426464"/>
            <a:ext cx="3876217" cy="3090672"/>
          </a:xfrm>
          <a:prstGeom prst="rect">
            <a:avLst/>
          </a:prstGeom>
        </p:spPr>
      </p:pic>
      <p:sp>
        <p:nvSpPr>
          <p:cNvPr id="26" name="TextBox 25"/>
          <p:cNvSpPr txBox="1"/>
          <p:nvPr/>
        </p:nvSpPr>
        <p:spPr>
          <a:xfrm>
            <a:off x="4846320" y="4553712"/>
            <a:ext cx="3977639" cy="201168"/>
          </a:xfrm>
          <a:prstGeom prst="rect">
            <a:avLst/>
          </a:prstGeom>
          <a:noFill/>
        </p:spPr>
        <p:txBody>
          <a:bodyPr wrap="square" lIns="27432" tIns="0" rIns="27432" bIns="0" anchor="t">
            <a:spAutoFit/>
          </a:bodyPr>
          <a:lstStyle/>
          <a:p>
            <a:pPr algn="ctr"/>
            <a:r>
              <a:rPr sz="850" b="0" i="1">
                <a:solidFill>
                  <a:srgbClr val="6B6965"/>
                </a:solidFill>
                <a:latin typeface="Calibri"/>
              </a:rPr>
              <a:t>Representative segmented pulmonary artery model with outlet caps</a:t>
            </a:r>
          </a:p>
        </p:txBody>
      </p:sp>
      <p:sp>
        <p:nvSpPr>
          <p:cNvPr id="27" name="Rectangle 26"/>
          <p:cNvSpPr/>
          <p:nvPr/>
        </p:nvSpPr>
        <p:spPr>
          <a:xfrm>
            <a:off x="320040" y="4663440"/>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429768" y="4663440"/>
            <a:ext cx="8284464" cy="310896"/>
          </a:xfrm>
          <a:prstGeom prst="rect">
            <a:avLst/>
          </a:prstGeom>
          <a:noFill/>
        </p:spPr>
        <p:txBody>
          <a:bodyPr wrap="square" lIns="27432" tIns="0" rIns="27432" bIns="0" anchor="ctr">
            <a:spAutoFit/>
          </a:bodyPr>
          <a:lstStyle/>
          <a:p>
            <a:pPr algn="l"/>
            <a:r>
              <a:rPr sz="1000" b="1" i="0">
                <a:solidFill>
                  <a:srgbClr val="8C1515"/>
                </a:solidFill>
                <a:latin typeface="Calibri"/>
              </a:rPr>
              <a:t>Manual segmentation is the pipeline's main human-time cost and the main source of inter-model variability.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sz="2200">
                <a:solidFill>
                  <a:srgbClr val="8C1515"/>
                </a:solidFill>
                <a:latin typeface="Georgia"/>
              </a:rPr>
              <a:t>Clinical targets</a:t>
            </a:r>
          </a:p>
        </p:txBody>
      </p:sp>
      <p:sp>
        <p:nvSpPr>
          <p:cNvPr id="3" name="Rectangle 2"/>
          <p:cNvSpPr/>
          <p:nvPr/>
        </p:nvSpPr>
        <p:spPr>
          <a:xfrm>
            <a:off x="320040"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1  Inputs</a:t>
            </a:r>
          </a:p>
        </p:txBody>
      </p:sp>
      <p:sp>
        <p:nvSpPr>
          <p:cNvPr id="5" name="Rectangle 4"/>
          <p:cNvSpPr/>
          <p:nvPr/>
        </p:nvSpPr>
        <p:spPr>
          <a:xfrm>
            <a:off x="125468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VALIDATED</a:t>
            </a:r>
          </a:p>
        </p:txBody>
      </p:sp>
      <p:sp>
        <p:nvSpPr>
          <p:cNvPr id="19" name="TextBox 18"/>
          <p:cNvSpPr txBox="1"/>
          <p:nvPr/>
        </p:nvSpPr>
        <p:spPr>
          <a:xfrm>
            <a:off x="320040" y="1389888"/>
            <a:ext cx="8503920" cy="201168"/>
          </a:xfrm>
          <a:prstGeom prst="rect">
            <a:avLst/>
          </a:prstGeom>
          <a:noFill/>
        </p:spPr>
        <p:txBody>
          <a:bodyPr wrap="square" lIns="27432" tIns="0" rIns="27432" bIns="0" anchor="t">
            <a:spAutoFit/>
          </a:bodyPr>
          <a:lstStyle/>
          <a:p>
            <a:pPr algn="l"/>
            <a:r>
              <a:rPr sz="950" b="0" i="1">
                <a:solidFill>
                  <a:srgbClr val="6B6965"/>
                </a:solidFill>
                <a:latin typeface="Calibri"/>
              </a:rPr>
              <a:t>Catheter and lung perfusion measurements define both the tuning targets (pre-op) and the validation data (post-op).</a:t>
            </a:r>
          </a:p>
        </p:txBody>
      </p:sp>
      <p:sp>
        <p:nvSpPr>
          <p:cNvPr id="20" name="Rectangle 19"/>
          <p:cNvSpPr/>
          <p:nvPr/>
        </p:nvSpPr>
        <p:spPr>
          <a:xfrm>
            <a:off x="320040" y="1645920"/>
            <a:ext cx="8503920" cy="274320"/>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374904" y="1645920"/>
            <a:ext cx="987552" cy="274320"/>
          </a:xfrm>
          <a:prstGeom prst="rect">
            <a:avLst/>
          </a:prstGeom>
          <a:noFill/>
        </p:spPr>
        <p:txBody>
          <a:bodyPr wrap="square" lIns="27432" tIns="0" rIns="27432" bIns="0" anchor="ctr">
            <a:spAutoFit/>
          </a:bodyPr>
          <a:lstStyle/>
          <a:p>
            <a:pPr algn="l"/>
            <a:r>
              <a:rPr sz="800" b="1" i="0">
                <a:solidFill>
                  <a:srgbClr val="FFFFFF"/>
                </a:solidFill>
                <a:latin typeface="Calibri"/>
              </a:rPr>
              <a:t>Patient</a:t>
            </a:r>
          </a:p>
        </p:txBody>
      </p:sp>
      <p:sp>
        <p:nvSpPr>
          <p:cNvPr id="22" name="TextBox 21"/>
          <p:cNvSpPr txBox="1"/>
          <p:nvPr/>
        </p:nvSpPr>
        <p:spPr>
          <a:xfrm>
            <a:off x="1472184" y="1645920"/>
            <a:ext cx="1901952" cy="274320"/>
          </a:xfrm>
          <a:prstGeom prst="rect">
            <a:avLst/>
          </a:prstGeom>
          <a:noFill/>
        </p:spPr>
        <p:txBody>
          <a:bodyPr wrap="square" lIns="27432" tIns="0" rIns="27432" bIns="0" anchor="ctr">
            <a:spAutoFit/>
          </a:bodyPr>
          <a:lstStyle/>
          <a:p>
            <a:pPr algn="l"/>
            <a:r>
              <a:rPr sz="800" b="1" i="0">
                <a:solidFill>
                  <a:srgbClr val="FFFFFF"/>
                </a:solidFill>
                <a:latin typeface="Calibri"/>
              </a:rPr>
              <a:t>Pre-op MPA (sys/dia/mean)</a:t>
            </a:r>
          </a:p>
        </p:txBody>
      </p:sp>
      <p:sp>
        <p:nvSpPr>
          <p:cNvPr id="23" name="TextBox 22"/>
          <p:cNvSpPr txBox="1"/>
          <p:nvPr/>
        </p:nvSpPr>
        <p:spPr>
          <a:xfrm>
            <a:off x="3483864" y="1645920"/>
            <a:ext cx="1536192" cy="274320"/>
          </a:xfrm>
          <a:prstGeom prst="rect">
            <a:avLst/>
          </a:prstGeom>
          <a:noFill/>
        </p:spPr>
        <p:txBody>
          <a:bodyPr wrap="square" lIns="27432" tIns="0" rIns="27432" bIns="0" anchor="ctr">
            <a:spAutoFit/>
          </a:bodyPr>
          <a:lstStyle/>
          <a:p>
            <a:pPr algn="l"/>
            <a:r>
              <a:rPr sz="800" b="1" i="0">
                <a:solidFill>
                  <a:srgbClr val="FFFFFF"/>
                </a:solidFill>
                <a:latin typeface="Calibri"/>
              </a:rPr>
              <a:t>Post-op MPA</a:t>
            </a:r>
          </a:p>
        </p:txBody>
      </p:sp>
      <p:sp>
        <p:nvSpPr>
          <p:cNvPr id="24" name="TextBox 23"/>
          <p:cNvSpPr txBox="1"/>
          <p:nvPr/>
        </p:nvSpPr>
        <p:spPr>
          <a:xfrm>
            <a:off x="5129783" y="1645920"/>
            <a:ext cx="1764791" cy="274320"/>
          </a:xfrm>
          <a:prstGeom prst="rect">
            <a:avLst/>
          </a:prstGeom>
          <a:noFill/>
        </p:spPr>
        <p:txBody>
          <a:bodyPr wrap="square" lIns="27432" tIns="0" rIns="27432" bIns="0" anchor="ctr">
            <a:spAutoFit/>
          </a:bodyPr>
          <a:lstStyle/>
          <a:p>
            <a:pPr algn="l"/>
            <a:r>
              <a:rPr sz="800" b="1" i="0">
                <a:solidFill>
                  <a:srgbClr val="FFFFFF"/>
                </a:solidFill>
                <a:latin typeface="Calibri"/>
              </a:rPr>
              <a:t>Pre-op LPS  R / L</a:t>
            </a:r>
          </a:p>
        </p:txBody>
      </p:sp>
      <p:sp>
        <p:nvSpPr>
          <p:cNvPr id="25" name="TextBox 24"/>
          <p:cNvSpPr txBox="1"/>
          <p:nvPr/>
        </p:nvSpPr>
        <p:spPr>
          <a:xfrm>
            <a:off x="7004303" y="1645920"/>
            <a:ext cx="1764791" cy="274320"/>
          </a:xfrm>
          <a:prstGeom prst="rect">
            <a:avLst/>
          </a:prstGeom>
          <a:noFill/>
        </p:spPr>
        <p:txBody>
          <a:bodyPr wrap="square" lIns="27432" tIns="0" rIns="27432" bIns="0" anchor="ctr">
            <a:spAutoFit/>
          </a:bodyPr>
          <a:lstStyle/>
          <a:p>
            <a:pPr algn="l"/>
            <a:r>
              <a:rPr sz="800" b="1" i="0">
                <a:solidFill>
                  <a:srgbClr val="FFFFFF"/>
                </a:solidFill>
                <a:latin typeface="Calibri"/>
              </a:rPr>
              <a:t>Post-op LPS  R / L</a:t>
            </a:r>
          </a:p>
        </p:txBody>
      </p:sp>
      <p:sp>
        <p:nvSpPr>
          <p:cNvPr id="26" name="Rectangle 25"/>
          <p:cNvSpPr/>
          <p:nvPr/>
        </p:nvSpPr>
        <p:spPr>
          <a:xfrm>
            <a:off x="320040" y="1920240"/>
            <a:ext cx="8503920" cy="27432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374904" y="1920240"/>
            <a:ext cx="987552" cy="274320"/>
          </a:xfrm>
          <a:prstGeom prst="rect">
            <a:avLst/>
          </a:prstGeom>
          <a:noFill/>
        </p:spPr>
        <p:txBody>
          <a:bodyPr wrap="square" lIns="27432" tIns="0" rIns="27432" bIns="0" anchor="ctr">
            <a:spAutoFit/>
          </a:bodyPr>
          <a:lstStyle/>
          <a:p>
            <a:pPr algn="l"/>
            <a:r>
              <a:rPr sz="850" b="1" i="0">
                <a:solidFill>
                  <a:srgbClr val="2E2D29"/>
                </a:solidFill>
                <a:latin typeface="Calibri"/>
              </a:rPr>
              <a:t>TST-STAN-1</a:t>
            </a:r>
          </a:p>
        </p:txBody>
      </p:sp>
      <p:sp>
        <p:nvSpPr>
          <p:cNvPr id="28" name="TextBox 27"/>
          <p:cNvSpPr txBox="1"/>
          <p:nvPr/>
        </p:nvSpPr>
        <p:spPr>
          <a:xfrm>
            <a:off x="1472184" y="1920240"/>
            <a:ext cx="1901952" cy="274320"/>
          </a:xfrm>
          <a:prstGeom prst="rect">
            <a:avLst/>
          </a:prstGeom>
          <a:noFill/>
        </p:spPr>
        <p:txBody>
          <a:bodyPr wrap="square" lIns="27432" tIns="0" rIns="27432" bIns="0" anchor="ctr">
            <a:spAutoFit/>
          </a:bodyPr>
          <a:lstStyle/>
          <a:p>
            <a:pPr algn="l"/>
            <a:r>
              <a:rPr sz="850" b="0" i="0">
                <a:solidFill>
                  <a:srgbClr val="6B6965"/>
                </a:solidFill>
                <a:latin typeface="Calibri"/>
              </a:rPr>
              <a:t>38 / 10 / 23 mmHg</a:t>
            </a:r>
          </a:p>
        </p:txBody>
      </p:sp>
      <p:sp>
        <p:nvSpPr>
          <p:cNvPr id="29" name="TextBox 28"/>
          <p:cNvSpPr txBox="1"/>
          <p:nvPr/>
        </p:nvSpPr>
        <p:spPr>
          <a:xfrm>
            <a:off x="3483864" y="1920240"/>
            <a:ext cx="1536192" cy="274320"/>
          </a:xfrm>
          <a:prstGeom prst="rect">
            <a:avLst/>
          </a:prstGeom>
          <a:noFill/>
        </p:spPr>
        <p:txBody>
          <a:bodyPr wrap="square" lIns="27432" tIns="0" rIns="27432" bIns="0" anchor="ctr">
            <a:spAutoFit/>
          </a:bodyPr>
          <a:lstStyle/>
          <a:p>
            <a:pPr algn="l"/>
            <a:r>
              <a:rPr sz="850" b="0" i="0">
                <a:solidFill>
                  <a:srgbClr val="6B6965"/>
                </a:solidFill>
                <a:latin typeface="Calibri"/>
              </a:rPr>
              <a:t>25 / 8 / 15 mmHg</a:t>
            </a:r>
          </a:p>
        </p:txBody>
      </p:sp>
      <p:sp>
        <p:nvSpPr>
          <p:cNvPr id="30" name="TextBox 29"/>
          <p:cNvSpPr txBox="1"/>
          <p:nvPr/>
        </p:nvSpPr>
        <p:spPr>
          <a:xfrm>
            <a:off x="5129783" y="1920240"/>
            <a:ext cx="1764791" cy="274320"/>
          </a:xfrm>
          <a:prstGeom prst="rect">
            <a:avLst/>
          </a:prstGeom>
          <a:noFill/>
        </p:spPr>
        <p:txBody>
          <a:bodyPr wrap="square" lIns="27432" tIns="0" rIns="27432" bIns="0" anchor="ctr">
            <a:spAutoFit/>
          </a:bodyPr>
          <a:lstStyle/>
          <a:p>
            <a:pPr algn="l"/>
            <a:r>
              <a:rPr sz="850" b="0" i="0">
                <a:solidFill>
                  <a:srgbClr val="6B6965"/>
                </a:solidFill>
                <a:latin typeface="Calibri"/>
              </a:rPr>
              <a:t>71.3 / 28.7 %</a:t>
            </a:r>
          </a:p>
        </p:txBody>
      </p:sp>
      <p:sp>
        <p:nvSpPr>
          <p:cNvPr id="31" name="TextBox 30"/>
          <p:cNvSpPr txBox="1"/>
          <p:nvPr/>
        </p:nvSpPr>
        <p:spPr>
          <a:xfrm>
            <a:off x="7004303" y="1920240"/>
            <a:ext cx="1764791" cy="274320"/>
          </a:xfrm>
          <a:prstGeom prst="rect">
            <a:avLst/>
          </a:prstGeom>
          <a:noFill/>
        </p:spPr>
        <p:txBody>
          <a:bodyPr wrap="square" lIns="27432" tIns="0" rIns="27432" bIns="0" anchor="ctr">
            <a:spAutoFit/>
          </a:bodyPr>
          <a:lstStyle/>
          <a:p>
            <a:pPr algn="l"/>
            <a:r>
              <a:rPr sz="850" b="0" i="0">
                <a:solidFill>
                  <a:srgbClr val="6B6965"/>
                </a:solidFill>
                <a:latin typeface="Calibri"/>
              </a:rPr>
              <a:t>55.5 / 44.5 %</a:t>
            </a:r>
          </a:p>
        </p:txBody>
      </p:sp>
      <p:sp>
        <p:nvSpPr>
          <p:cNvPr id="32" name="TextBox 31"/>
          <p:cNvSpPr txBox="1"/>
          <p:nvPr/>
        </p:nvSpPr>
        <p:spPr>
          <a:xfrm>
            <a:off x="374904" y="2194560"/>
            <a:ext cx="987552" cy="274320"/>
          </a:xfrm>
          <a:prstGeom prst="rect">
            <a:avLst/>
          </a:prstGeom>
          <a:noFill/>
        </p:spPr>
        <p:txBody>
          <a:bodyPr wrap="square" lIns="27432" tIns="0" rIns="27432" bIns="0" anchor="ctr">
            <a:spAutoFit/>
          </a:bodyPr>
          <a:lstStyle/>
          <a:p>
            <a:pPr algn="l"/>
            <a:r>
              <a:rPr sz="850" b="1" i="0">
                <a:solidFill>
                  <a:srgbClr val="2E2D29"/>
                </a:solidFill>
                <a:latin typeface="Calibri"/>
              </a:rPr>
              <a:t>TST-STAN-2</a:t>
            </a:r>
          </a:p>
        </p:txBody>
      </p:sp>
      <p:sp>
        <p:nvSpPr>
          <p:cNvPr id="33" name="TextBox 32"/>
          <p:cNvSpPr txBox="1"/>
          <p:nvPr/>
        </p:nvSpPr>
        <p:spPr>
          <a:xfrm>
            <a:off x="1472184" y="2194560"/>
            <a:ext cx="1901952" cy="274320"/>
          </a:xfrm>
          <a:prstGeom prst="rect">
            <a:avLst/>
          </a:prstGeom>
          <a:noFill/>
        </p:spPr>
        <p:txBody>
          <a:bodyPr wrap="square" lIns="27432" tIns="0" rIns="27432" bIns="0" anchor="ctr">
            <a:spAutoFit/>
          </a:bodyPr>
          <a:lstStyle/>
          <a:p>
            <a:pPr algn="l"/>
            <a:r>
              <a:rPr sz="850" b="0" i="0">
                <a:solidFill>
                  <a:srgbClr val="6B6965"/>
                </a:solidFill>
                <a:latin typeface="Calibri"/>
              </a:rPr>
              <a:t>44 / 14 / 26 mmHg</a:t>
            </a:r>
          </a:p>
        </p:txBody>
      </p:sp>
      <p:sp>
        <p:nvSpPr>
          <p:cNvPr id="34" name="TextBox 33"/>
          <p:cNvSpPr txBox="1"/>
          <p:nvPr/>
        </p:nvSpPr>
        <p:spPr>
          <a:xfrm>
            <a:off x="3483864" y="2194560"/>
            <a:ext cx="1536192" cy="274320"/>
          </a:xfrm>
          <a:prstGeom prst="rect">
            <a:avLst/>
          </a:prstGeom>
          <a:noFill/>
        </p:spPr>
        <p:txBody>
          <a:bodyPr wrap="square" lIns="27432" tIns="0" rIns="27432" bIns="0" anchor="ctr">
            <a:spAutoFit/>
          </a:bodyPr>
          <a:lstStyle/>
          <a:p>
            <a:pPr algn="l"/>
            <a:r>
              <a:rPr sz="850" b="0" i="0">
                <a:solidFill>
                  <a:srgbClr val="6B6965"/>
                </a:solidFill>
                <a:latin typeface="Calibri"/>
              </a:rPr>
              <a:t>39 / 16 / 26 mmHg</a:t>
            </a:r>
          </a:p>
        </p:txBody>
      </p:sp>
      <p:sp>
        <p:nvSpPr>
          <p:cNvPr id="35" name="TextBox 34"/>
          <p:cNvSpPr txBox="1"/>
          <p:nvPr/>
        </p:nvSpPr>
        <p:spPr>
          <a:xfrm>
            <a:off x="5129783" y="2194560"/>
            <a:ext cx="1764791" cy="274320"/>
          </a:xfrm>
          <a:prstGeom prst="rect">
            <a:avLst/>
          </a:prstGeom>
          <a:noFill/>
        </p:spPr>
        <p:txBody>
          <a:bodyPr wrap="square" lIns="27432" tIns="0" rIns="27432" bIns="0" anchor="ctr">
            <a:spAutoFit/>
          </a:bodyPr>
          <a:lstStyle/>
          <a:p>
            <a:pPr algn="l"/>
            <a:r>
              <a:rPr sz="850" b="0" i="0">
                <a:solidFill>
                  <a:srgbClr val="6B6965"/>
                </a:solidFill>
                <a:latin typeface="Calibri"/>
              </a:rPr>
              <a:t>76.2 / 23.8 %</a:t>
            </a:r>
          </a:p>
        </p:txBody>
      </p:sp>
      <p:sp>
        <p:nvSpPr>
          <p:cNvPr id="36" name="TextBox 35"/>
          <p:cNvSpPr txBox="1"/>
          <p:nvPr/>
        </p:nvSpPr>
        <p:spPr>
          <a:xfrm>
            <a:off x="7004303" y="2194560"/>
            <a:ext cx="1764791" cy="274320"/>
          </a:xfrm>
          <a:prstGeom prst="rect">
            <a:avLst/>
          </a:prstGeom>
          <a:noFill/>
        </p:spPr>
        <p:txBody>
          <a:bodyPr wrap="square" lIns="27432" tIns="0" rIns="27432" bIns="0" anchor="ctr">
            <a:spAutoFit/>
          </a:bodyPr>
          <a:lstStyle/>
          <a:p>
            <a:pPr algn="l"/>
            <a:r>
              <a:rPr sz="850" b="0" i="0">
                <a:solidFill>
                  <a:srgbClr val="6B6965"/>
                </a:solidFill>
                <a:latin typeface="Calibri"/>
              </a:rPr>
              <a:t>77.2 / 22.8 %</a:t>
            </a:r>
          </a:p>
        </p:txBody>
      </p:sp>
      <p:sp>
        <p:nvSpPr>
          <p:cNvPr id="37" name="Rectangle 36"/>
          <p:cNvSpPr/>
          <p:nvPr/>
        </p:nvSpPr>
        <p:spPr>
          <a:xfrm>
            <a:off x="320040" y="2468880"/>
            <a:ext cx="8503920" cy="27432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374904" y="2468880"/>
            <a:ext cx="987552" cy="274320"/>
          </a:xfrm>
          <a:prstGeom prst="rect">
            <a:avLst/>
          </a:prstGeom>
          <a:noFill/>
        </p:spPr>
        <p:txBody>
          <a:bodyPr wrap="square" lIns="27432" tIns="0" rIns="27432" bIns="0" anchor="ctr">
            <a:spAutoFit/>
          </a:bodyPr>
          <a:lstStyle/>
          <a:p>
            <a:pPr algn="l"/>
            <a:r>
              <a:rPr sz="850" b="1" i="0">
                <a:solidFill>
                  <a:srgbClr val="2E2D29"/>
                </a:solidFill>
                <a:latin typeface="Calibri"/>
              </a:rPr>
              <a:t>TST-STAN-3</a:t>
            </a:r>
          </a:p>
        </p:txBody>
      </p:sp>
      <p:sp>
        <p:nvSpPr>
          <p:cNvPr id="39" name="TextBox 38"/>
          <p:cNvSpPr txBox="1"/>
          <p:nvPr/>
        </p:nvSpPr>
        <p:spPr>
          <a:xfrm>
            <a:off x="1472184" y="2468880"/>
            <a:ext cx="1901952" cy="274320"/>
          </a:xfrm>
          <a:prstGeom prst="rect">
            <a:avLst/>
          </a:prstGeom>
          <a:noFill/>
        </p:spPr>
        <p:txBody>
          <a:bodyPr wrap="square" lIns="27432" tIns="0" rIns="27432" bIns="0" anchor="ctr">
            <a:spAutoFit/>
          </a:bodyPr>
          <a:lstStyle/>
          <a:p>
            <a:pPr algn="l"/>
            <a:r>
              <a:rPr sz="850" b="0" i="0">
                <a:solidFill>
                  <a:srgbClr val="6B6965"/>
                </a:solidFill>
                <a:latin typeface="Calibri"/>
              </a:rPr>
              <a:t>67 / 9 / 32 mmHg</a:t>
            </a:r>
          </a:p>
        </p:txBody>
      </p:sp>
      <p:sp>
        <p:nvSpPr>
          <p:cNvPr id="40" name="TextBox 39"/>
          <p:cNvSpPr txBox="1"/>
          <p:nvPr/>
        </p:nvSpPr>
        <p:spPr>
          <a:xfrm>
            <a:off x="3483864" y="2468880"/>
            <a:ext cx="1536192" cy="274320"/>
          </a:xfrm>
          <a:prstGeom prst="rect">
            <a:avLst/>
          </a:prstGeom>
          <a:noFill/>
        </p:spPr>
        <p:txBody>
          <a:bodyPr wrap="square" lIns="27432" tIns="0" rIns="27432" bIns="0" anchor="ctr">
            <a:spAutoFit/>
          </a:bodyPr>
          <a:lstStyle/>
          <a:p>
            <a:pPr algn="l"/>
            <a:r>
              <a:rPr sz="850" b="0" i="0">
                <a:solidFill>
                  <a:srgbClr val="6B6965"/>
                </a:solidFill>
                <a:latin typeface="Calibri"/>
              </a:rPr>
              <a:t>64 / 10 / 30 mmHg</a:t>
            </a:r>
          </a:p>
        </p:txBody>
      </p:sp>
      <p:sp>
        <p:nvSpPr>
          <p:cNvPr id="41" name="TextBox 40"/>
          <p:cNvSpPr txBox="1"/>
          <p:nvPr/>
        </p:nvSpPr>
        <p:spPr>
          <a:xfrm>
            <a:off x="5129783" y="2468880"/>
            <a:ext cx="1764791" cy="274320"/>
          </a:xfrm>
          <a:prstGeom prst="rect">
            <a:avLst/>
          </a:prstGeom>
          <a:noFill/>
        </p:spPr>
        <p:txBody>
          <a:bodyPr wrap="square" lIns="27432" tIns="0" rIns="27432" bIns="0" anchor="ctr">
            <a:spAutoFit/>
          </a:bodyPr>
          <a:lstStyle/>
          <a:p>
            <a:pPr algn="l"/>
            <a:r>
              <a:rPr sz="850" b="0" i="0">
                <a:solidFill>
                  <a:srgbClr val="6B6965"/>
                </a:solidFill>
                <a:latin typeface="Calibri"/>
              </a:rPr>
              <a:t>44.6 / 55.4 %</a:t>
            </a:r>
          </a:p>
        </p:txBody>
      </p:sp>
      <p:sp>
        <p:nvSpPr>
          <p:cNvPr id="42" name="TextBox 41"/>
          <p:cNvSpPr txBox="1"/>
          <p:nvPr/>
        </p:nvSpPr>
        <p:spPr>
          <a:xfrm>
            <a:off x="7004303" y="2468880"/>
            <a:ext cx="1764791" cy="274320"/>
          </a:xfrm>
          <a:prstGeom prst="rect">
            <a:avLst/>
          </a:prstGeom>
          <a:noFill/>
        </p:spPr>
        <p:txBody>
          <a:bodyPr wrap="square" lIns="27432" tIns="0" rIns="27432" bIns="0" anchor="ctr">
            <a:spAutoFit/>
          </a:bodyPr>
          <a:lstStyle/>
          <a:p>
            <a:pPr algn="l"/>
            <a:r>
              <a:rPr sz="850" b="0" i="0">
                <a:solidFill>
                  <a:srgbClr val="6B6965"/>
                </a:solidFill>
                <a:latin typeface="Calibri"/>
              </a:rPr>
              <a:t>46.8 / 53.2 %</a:t>
            </a:r>
          </a:p>
        </p:txBody>
      </p:sp>
      <p:sp>
        <p:nvSpPr>
          <p:cNvPr id="43" name="TextBox 42"/>
          <p:cNvSpPr txBox="1"/>
          <p:nvPr/>
        </p:nvSpPr>
        <p:spPr>
          <a:xfrm>
            <a:off x="374904" y="2743200"/>
            <a:ext cx="987552" cy="274320"/>
          </a:xfrm>
          <a:prstGeom prst="rect">
            <a:avLst/>
          </a:prstGeom>
          <a:noFill/>
        </p:spPr>
        <p:txBody>
          <a:bodyPr wrap="square" lIns="27432" tIns="0" rIns="27432" bIns="0" anchor="ctr">
            <a:spAutoFit/>
          </a:bodyPr>
          <a:lstStyle/>
          <a:p>
            <a:pPr algn="l"/>
            <a:r>
              <a:rPr sz="850" b="1" i="0">
                <a:solidFill>
                  <a:srgbClr val="2E2D29"/>
                </a:solidFill>
                <a:latin typeface="Calibri"/>
              </a:rPr>
              <a:t>TST-STAN-5</a:t>
            </a:r>
          </a:p>
        </p:txBody>
      </p:sp>
      <p:sp>
        <p:nvSpPr>
          <p:cNvPr id="44" name="TextBox 43"/>
          <p:cNvSpPr txBox="1"/>
          <p:nvPr/>
        </p:nvSpPr>
        <p:spPr>
          <a:xfrm>
            <a:off x="1472184" y="2743200"/>
            <a:ext cx="1901952" cy="274320"/>
          </a:xfrm>
          <a:prstGeom prst="rect">
            <a:avLst/>
          </a:prstGeom>
          <a:noFill/>
        </p:spPr>
        <p:txBody>
          <a:bodyPr wrap="square" lIns="27432" tIns="0" rIns="27432" bIns="0" anchor="ctr">
            <a:spAutoFit/>
          </a:bodyPr>
          <a:lstStyle/>
          <a:p>
            <a:pPr algn="l"/>
            <a:r>
              <a:rPr sz="850" b="0" i="0">
                <a:solidFill>
                  <a:srgbClr val="6B6965"/>
                </a:solidFill>
                <a:latin typeface="Calibri"/>
              </a:rPr>
              <a:t>34 / 3 / 16 mmHg</a:t>
            </a:r>
          </a:p>
        </p:txBody>
      </p:sp>
      <p:sp>
        <p:nvSpPr>
          <p:cNvPr id="45" name="TextBox 44"/>
          <p:cNvSpPr txBox="1"/>
          <p:nvPr/>
        </p:nvSpPr>
        <p:spPr>
          <a:xfrm>
            <a:off x="3483864" y="2743200"/>
            <a:ext cx="1536192" cy="274320"/>
          </a:xfrm>
          <a:prstGeom prst="rect">
            <a:avLst/>
          </a:prstGeom>
          <a:noFill/>
        </p:spPr>
        <p:txBody>
          <a:bodyPr wrap="square" lIns="27432" tIns="0" rIns="27432" bIns="0" anchor="ctr">
            <a:spAutoFit/>
          </a:bodyPr>
          <a:lstStyle/>
          <a:p>
            <a:pPr algn="l"/>
            <a:r>
              <a:rPr sz="850" b="0" i="0">
                <a:solidFill>
                  <a:srgbClr val="6B6965"/>
                </a:solidFill>
                <a:latin typeface="Calibri"/>
              </a:rPr>
              <a:t>30 / 8 / 17 mmHg</a:t>
            </a:r>
          </a:p>
        </p:txBody>
      </p:sp>
      <p:sp>
        <p:nvSpPr>
          <p:cNvPr id="46" name="TextBox 45"/>
          <p:cNvSpPr txBox="1"/>
          <p:nvPr/>
        </p:nvSpPr>
        <p:spPr>
          <a:xfrm>
            <a:off x="5129783" y="2743200"/>
            <a:ext cx="1764791" cy="274320"/>
          </a:xfrm>
          <a:prstGeom prst="rect">
            <a:avLst/>
          </a:prstGeom>
          <a:noFill/>
        </p:spPr>
        <p:txBody>
          <a:bodyPr wrap="square" lIns="27432" tIns="0" rIns="27432" bIns="0" anchor="ctr">
            <a:spAutoFit/>
          </a:bodyPr>
          <a:lstStyle/>
          <a:p>
            <a:pPr algn="l"/>
            <a:r>
              <a:rPr sz="850" b="0" i="0">
                <a:solidFill>
                  <a:srgbClr val="6B6965"/>
                </a:solidFill>
                <a:latin typeface="Calibri"/>
              </a:rPr>
              <a:t>87.0 / 13.0 %</a:t>
            </a:r>
          </a:p>
        </p:txBody>
      </p:sp>
      <p:sp>
        <p:nvSpPr>
          <p:cNvPr id="47" name="TextBox 46"/>
          <p:cNvSpPr txBox="1"/>
          <p:nvPr/>
        </p:nvSpPr>
        <p:spPr>
          <a:xfrm>
            <a:off x="7004303" y="2743200"/>
            <a:ext cx="1764791" cy="274320"/>
          </a:xfrm>
          <a:prstGeom prst="rect">
            <a:avLst/>
          </a:prstGeom>
          <a:noFill/>
        </p:spPr>
        <p:txBody>
          <a:bodyPr wrap="square" lIns="27432" tIns="0" rIns="27432" bIns="0" anchor="ctr">
            <a:spAutoFit/>
          </a:bodyPr>
          <a:lstStyle/>
          <a:p>
            <a:pPr algn="l"/>
            <a:r>
              <a:rPr sz="850" b="0" i="0">
                <a:solidFill>
                  <a:srgbClr val="6B6965"/>
                </a:solidFill>
                <a:latin typeface="Calibri"/>
              </a:rPr>
              <a:t>63.1 / 36.9 %</a:t>
            </a:r>
          </a:p>
        </p:txBody>
      </p:sp>
      <p:sp>
        <p:nvSpPr>
          <p:cNvPr id="48" name="Rectangle 47"/>
          <p:cNvSpPr/>
          <p:nvPr/>
        </p:nvSpPr>
        <p:spPr>
          <a:xfrm>
            <a:off x="320040" y="3017520"/>
            <a:ext cx="8503920" cy="27432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Box 48"/>
          <p:cNvSpPr txBox="1"/>
          <p:nvPr/>
        </p:nvSpPr>
        <p:spPr>
          <a:xfrm>
            <a:off x="374904" y="3017520"/>
            <a:ext cx="987552" cy="274320"/>
          </a:xfrm>
          <a:prstGeom prst="rect">
            <a:avLst/>
          </a:prstGeom>
          <a:noFill/>
        </p:spPr>
        <p:txBody>
          <a:bodyPr wrap="square" lIns="27432" tIns="0" rIns="27432" bIns="0" anchor="ctr">
            <a:spAutoFit/>
          </a:bodyPr>
          <a:lstStyle/>
          <a:p>
            <a:pPr algn="l"/>
            <a:r>
              <a:rPr sz="850" b="1" i="0">
                <a:solidFill>
                  <a:srgbClr val="2E2D29"/>
                </a:solidFill>
                <a:latin typeface="Calibri"/>
              </a:rPr>
              <a:t>TST-STAN-9</a:t>
            </a:r>
          </a:p>
        </p:txBody>
      </p:sp>
      <p:sp>
        <p:nvSpPr>
          <p:cNvPr id="50" name="TextBox 49"/>
          <p:cNvSpPr txBox="1"/>
          <p:nvPr/>
        </p:nvSpPr>
        <p:spPr>
          <a:xfrm>
            <a:off x="1472184" y="3017520"/>
            <a:ext cx="1901952" cy="274320"/>
          </a:xfrm>
          <a:prstGeom prst="rect">
            <a:avLst/>
          </a:prstGeom>
          <a:noFill/>
        </p:spPr>
        <p:txBody>
          <a:bodyPr wrap="square" lIns="27432" tIns="0" rIns="27432" bIns="0" anchor="ctr">
            <a:spAutoFit/>
          </a:bodyPr>
          <a:lstStyle/>
          <a:p>
            <a:pPr algn="l"/>
            <a:r>
              <a:rPr sz="850" b="0" i="0">
                <a:solidFill>
                  <a:srgbClr val="6B6965"/>
                </a:solidFill>
                <a:latin typeface="Calibri"/>
              </a:rPr>
              <a:t>29 / 5 / 15 mmHg</a:t>
            </a:r>
          </a:p>
        </p:txBody>
      </p:sp>
      <p:sp>
        <p:nvSpPr>
          <p:cNvPr id="51" name="TextBox 50"/>
          <p:cNvSpPr txBox="1"/>
          <p:nvPr/>
        </p:nvSpPr>
        <p:spPr>
          <a:xfrm>
            <a:off x="3483864" y="3017520"/>
            <a:ext cx="1536192" cy="274320"/>
          </a:xfrm>
          <a:prstGeom prst="rect">
            <a:avLst/>
          </a:prstGeom>
          <a:noFill/>
        </p:spPr>
        <p:txBody>
          <a:bodyPr wrap="square" lIns="27432" tIns="0" rIns="27432" bIns="0" anchor="ctr">
            <a:spAutoFit/>
          </a:bodyPr>
          <a:lstStyle/>
          <a:p>
            <a:pPr algn="l"/>
            <a:r>
              <a:rPr sz="850" b="0" i="0">
                <a:solidFill>
                  <a:srgbClr val="6B6965"/>
                </a:solidFill>
                <a:latin typeface="Calibri"/>
              </a:rPr>
              <a:t>27 / 8 / 16 mmHg</a:t>
            </a:r>
          </a:p>
        </p:txBody>
      </p:sp>
      <p:sp>
        <p:nvSpPr>
          <p:cNvPr id="52" name="TextBox 51"/>
          <p:cNvSpPr txBox="1"/>
          <p:nvPr/>
        </p:nvSpPr>
        <p:spPr>
          <a:xfrm>
            <a:off x="5129783" y="3017520"/>
            <a:ext cx="1764791" cy="274320"/>
          </a:xfrm>
          <a:prstGeom prst="rect">
            <a:avLst/>
          </a:prstGeom>
          <a:noFill/>
        </p:spPr>
        <p:txBody>
          <a:bodyPr wrap="square" lIns="27432" tIns="0" rIns="27432" bIns="0" anchor="ctr">
            <a:spAutoFit/>
          </a:bodyPr>
          <a:lstStyle/>
          <a:p>
            <a:pPr algn="l"/>
            <a:r>
              <a:rPr sz="850" b="0" i="0">
                <a:solidFill>
                  <a:srgbClr val="6B6965"/>
                </a:solidFill>
                <a:latin typeface="Calibri"/>
              </a:rPr>
              <a:t>90.3 / 9.7 %</a:t>
            </a:r>
          </a:p>
        </p:txBody>
      </p:sp>
      <p:sp>
        <p:nvSpPr>
          <p:cNvPr id="53" name="TextBox 52"/>
          <p:cNvSpPr txBox="1"/>
          <p:nvPr/>
        </p:nvSpPr>
        <p:spPr>
          <a:xfrm>
            <a:off x="7004303" y="3017520"/>
            <a:ext cx="1764791" cy="274320"/>
          </a:xfrm>
          <a:prstGeom prst="rect">
            <a:avLst/>
          </a:prstGeom>
          <a:noFill/>
        </p:spPr>
        <p:txBody>
          <a:bodyPr wrap="square" lIns="27432" tIns="0" rIns="27432" bIns="0" anchor="ctr">
            <a:spAutoFit/>
          </a:bodyPr>
          <a:lstStyle/>
          <a:p>
            <a:pPr algn="l"/>
            <a:r>
              <a:rPr sz="850" b="0" i="0">
                <a:solidFill>
                  <a:srgbClr val="6B6965"/>
                </a:solidFill>
                <a:latin typeface="Calibri"/>
              </a:rPr>
              <a:t>82.9 / 17.1 %</a:t>
            </a:r>
          </a:p>
        </p:txBody>
      </p:sp>
      <p:sp>
        <p:nvSpPr>
          <p:cNvPr id="54" name="Rectangle 53"/>
          <p:cNvSpPr/>
          <p:nvPr/>
        </p:nvSpPr>
        <p:spPr>
          <a:xfrm>
            <a:off x="320040" y="3529584"/>
            <a:ext cx="4160520" cy="118872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Box 54"/>
          <p:cNvSpPr txBox="1"/>
          <p:nvPr/>
        </p:nvSpPr>
        <p:spPr>
          <a:xfrm>
            <a:off x="448056" y="3630168"/>
            <a:ext cx="3904487" cy="219456"/>
          </a:xfrm>
          <a:prstGeom prst="rect">
            <a:avLst/>
          </a:prstGeom>
          <a:noFill/>
        </p:spPr>
        <p:txBody>
          <a:bodyPr wrap="square" lIns="27432" tIns="0" rIns="27432" bIns="0" anchor="t">
            <a:spAutoFit/>
          </a:bodyPr>
          <a:lstStyle/>
          <a:p>
            <a:pPr algn="l"/>
            <a:r>
              <a:rPr sz="1100" b="1" i="0">
                <a:solidFill>
                  <a:srgbClr val="E98300"/>
                </a:solidFill>
                <a:latin typeface="Calibri"/>
              </a:rPr>
              <a:t>Used as tuning targets (Stage 2)</a:t>
            </a:r>
          </a:p>
        </p:txBody>
      </p:sp>
      <p:sp>
        <p:nvSpPr>
          <p:cNvPr id="56" name="TextBox 55"/>
          <p:cNvSpPr txBox="1"/>
          <p:nvPr/>
        </p:nvSpPr>
        <p:spPr>
          <a:xfrm>
            <a:off x="448056" y="3904487"/>
            <a:ext cx="3904487" cy="777240"/>
          </a:xfrm>
          <a:prstGeom prst="rect">
            <a:avLst/>
          </a:prstGeom>
          <a:noFill/>
        </p:spPr>
        <p:txBody>
          <a:bodyPr wrap="square" lIns="27432" tIns="0" rIns="27432" bIns="0">
            <a:spAutoFit/>
          </a:bodyPr>
          <a:lstStyle/>
          <a:p>
            <a:pPr>
              <a:spcAft>
                <a:spcPts val="350"/>
              </a:spcAft>
            </a:pPr>
            <a:r>
              <a:rPr sz="900">
                <a:solidFill>
                  <a:srgbClr val="E98300"/>
                </a:solidFill>
                <a:latin typeface="Calibri"/>
              </a:rPr>
              <a:t>• </a:t>
            </a:r>
            <a:r>
              <a:rPr sz="900">
                <a:solidFill>
                  <a:srgbClr val="2E2D29"/>
                </a:solidFill>
                <a:latin typeface="Calibri"/>
              </a:rPr>
              <a:t>Pre-op MPA systolic, diastolic and mean pressure</a:t>
            </a:r>
          </a:p>
          <a:p>
            <a:pPr>
              <a:spcAft>
                <a:spcPts val="350"/>
              </a:spcAft>
            </a:pPr>
            <a:r>
              <a:rPr sz="900">
                <a:solidFill>
                  <a:srgbClr val="E98300"/>
                </a:solidFill>
                <a:latin typeface="Calibri"/>
              </a:rPr>
              <a:t>• </a:t>
            </a:r>
            <a:r>
              <a:rPr sz="900">
                <a:solidFill>
                  <a:srgbClr val="2E2D29"/>
                </a:solidFill>
                <a:latin typeface="Calibri"/>
              </a:rPr>
              <a:t>Pre-op RPA flow split from lung perfusion scan</a:t>
            </a:r>
          </a:p>
          <a:p>
            <a:pPr>
              <a:spcAft>
                <a:spcPts val="350"/>
              </a:spcAft>
            </a:pPr>
            <a:r>
              <a:rPr sz="900">
                <a:solidFill>
                  <a:srgbClr val="E98300"/>
                </a:solidFill>
                <a:latin typeface="Calibri"/>
              </a:rPr>
              <a:t>• </a:t>
            </a:r>
            <a:r>
              <a:rPr sz="900">
                <a:solidFill>
                  <a:srgbClr val="2E2D29"/>
                </a:solidFill>
                <a:latin typeface="Calibri"/>
              </a:rPr>
              <a:t>Measured PCWP sets terminal tree pressure</a:t>
            </a:r>
          </a:p>
        </p:txBody>
      </p:sp>
      <p:sp>
        <p:nvSpPr>
          <p:cNvPr id="57" name="Rectangle 56"/>
          <p:cNvSpPr/>
          <p:nvPr/>
        </p:nvSpPr>
        <p:spPr>
          <a:xfrm>
            <a:off x="4663440" y="3529584"/>
            <a:ext cx="4160520" cy="118872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TextBox 57"/>
          <p:cNvSpPr txBox="1"/>
          <p:nvPr/>
        </p:nvSpPr>
        <p:spPr>
          <a:xfrm>
            <a:off x="4791455" y="3630168"/>
            <a:ext cx="3904487" cy="219456"/>
          </a:xfrm>
          <a:prstGeom prst="rect">
            <a:avLst/>
          </a:prstGeom>
          <a:noFill/>
        </p:spPr>
        <p:txBody>
          <a:bodyPr wrap="square" lIns="27432" tIns="0" rIns="27432" bIns="0" anchor="t">
            <a:spAutoFit/>
          </a:bodyPr>
          <a:lstStyle/>
          <a:p>
            <a:pPr algn="l"/>
            <a:r>
              <a:rPr sz="1100" b="1" i="0">
                <a:solidFill>
                  <a:srgbClr val="279989"/>
                </a:solidFill>
                <a:latin typeface="Calibri"/>
              </a:rPr>
              <a:t>Held back for validation (Stage 7)</a:t>
            </a:r>
          </a:p>
        </p:txBody>
      </p:sp>
      <p:sp>
        <p:nvSpPr>
          <p:cNvPr id="59" name="TextBox 58"/>
          <p:cNvSpPr txBox="1"/>
          <p:nvPr/>
        </p:nvSpPr>
        <p:spPr>
          <a:xfrm>
            <a:off x="4791455" y="3904487"/>
            <a:ext cx="3904487" cy="777240"/>
          </a:xfrm>
          <a:prstGeom prst="rect">
            <a:avLst/>
          </a:prstGeom>
          <a:noFill/>
        </p:spPr>
        <p:txBody>
          <a:bodyPr wrap="square" lIns="27432" tIns="0" rIns="27432" bIns="0">
            <a:spAutoFit/>
          </a:bodyPr>
          <a:lstStyle/>
          <a:p>
            <a:pPr>
              <a:spcAft>
                <a:spcPts val="350"/>
              </a:spcAft>
            </a:pPr>
            <a:r>
              <a:rPr sz="900">
                <a:solidFill>
                  <a:srgbClr val="279989"/>
                </a:solidFill>
                <a:latin typeface="Calibri"/>
              </a:rPr>
              <a:t>• </a:t>
            </a:r>
            <a:r>
              <a:rPr sz="900">
                <a:solidFill>
                  <a:srgbClr val="2E2D29"/>
                </a:solidFill>
                <a:latin typeface="Calibri"/>
              </a:rPr>
              <a:t>Post-op MPA pressures at catheterization</a:t>
            </a:r>
          </a:p>
          <a:p>
            <a:pPr>
              <a:spcAft>
                <a:spcPts val="350"/>
              </a:spcAft>
            </a:pPr>
            <a:r>
              <a:rPr sz="900">
                <a:solidFill>
                  <a:srgbClr val="279989"/>
                </a:solidFill>
                <a:latin typeface="Calibri"/>
              </a:rPr>
              <a:t>• </a:t>
            </a:r>
            <a:r>
              <a:rPr sz="900">
                <a:solidFill>
                  <a:srgbClr val="2E2D29"/>
                </a:solidFill>
                <a:latin typeface="Calibri"/>
              </a:rPr>
              <a:t>Post-op RPA / LPA perfusion split</a:t>
            </a:r>
          </a:p>
        </p:txBody>
      </p:sp>
      <p:sp>
        <p:nvSpPr>
          <p:cNvPr id="60" name="Rectangle 59"/>
          <p:cNvSpPr/>
          <p:nvPr/>
        </p:nvSpPr>
        <p:spPr>
          <a:xfrm>
            <a:off x="320040" y="4846320"/>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Box 60"/>
          <p:cNvSpPr txBox="1"/>
          <p:nvPr/>
        </p:nvSpPr>
        <p:spPr>
          <a:xfrm>
            <a:off x="429768" y="4846320"/>
            <a:ext cx="8284464" cy="310896"/>
          </a:xfrm>
          <a:prstGeom prst="rect">
            <a:avLst/>
          </a:prstGeom>
          <a:noFill/>
        </p:spPr>
        <p:txBody>
          <a:bodyPr wrap="square" lIns="27432" tIns="0" rIns="27432" bIns="0" anchor="ctr">
            <a:spAutoFit/>
          </a:bodyPr>
          <a:lstStyle/>
          <a:p>
            <a:pPr algn="l"/>
            <a:r>
              <a:rPr sz="1000" b="1" i="0">
                <a:solidFill>
                  <a:srgbClr val="8C1515"/>
                </a:solidFill>
                <a:latin typeface="Calibri"/>
              </a:rPr>
              <a:t>Post-op data never enters tuning — it is the endpoint the adapted simulation must reproduce.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sz="2200">
                <a:solidFill>
                  <a:srgbClr val="8C1515"/>
                </a:solidFill>
                <a:latin typeface="Georgia"/>
              </a:rPr>
              <a:t>Inflow waveform assignment</a:t>
            </a:r>
          </a:p>
        </p:txBody>
      </p:sp>
      <p:sp>
        <p:nvSpPr>
          <p:cNvPr id="3" name="Rectangle 2"/>
          <p:cNvSpPr/>
          <p:nvPr/>
        </p:nvSpPr>
        <p:spPr>
          <a:xfrm>
            <a:off x="320040"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1  Inputs</a:t>
            </a:r>
          </a:p>
        </p:txBody>
      </p:sp>
      <p:sp>
        <p:nvSpPr>
          <p:cNvPr id="5" name="Rectangle 4"/>
          <p:cNvSpPr/>
          <p:nvPr/>
        </p:nvSpPr>
        <p:spPr>
          <a:xfrm>
            <a:off x="125468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VALIDATED</a:t>
            </a:r>
          </a:p>
        </p:txBody>
      </p:sp>
      <p:sp>
        <p:nvSpPr>
          <p:cNvPr id="19" name="TextBox 18"/>
          <p:cNvSpPr txBox="1"/>
          <p:nvPr/>
        </p:nvSpPr>
        <p:spPr>
          <a:xfrm>
            <a:off x="320040" y="1389888"/>
            <a:ext cx="8503920" cy="219456"/>
          </a:xfrm>
          <a:prstGeom prst="rect">
            <a:avLst/>
          </a:prstGeom>
          <a:noFill/>
        </p:spPr>
        <p:txBody>
          <a:bodyPr wrap="square" lIns="27432" tIns="0" rIns="27432" bIns="0" anchor="t">
            <a:spAutoFit/>
          </a:bodyPr>
          <a:lstStyle/>
          <a:p>
            <a:pPr algn="l"/>
            <a:r>
              <a:rPr sz="950" b="0" i="1">
                <a:solidFill>
                  <a:srgbClr val="6B6965"/>
                </a:solidFill>
                <a:latin typeface="Calibri"/>
              </a:rPr>
              <a:t>Not every patient has phase-contrast flow data, so waveform shape is assigned by pulmonary valve regurgitation class and then rescaled.</a:t>
            </a:r>
          </a:p>
        </p:txBody>
      </p:sp>
      <p:sp>
        <p:nvSpPr>
          <p:cNvPr id="20" name="Rectangle 19"/>
          <p:cNvSpPr/>
          <p:nvPr/>
        </p:nvSpPr>
        <p:spPr>
          <a:xfrm>
            <a:off x="320040" y="1700784"/>
            <a:ext cx="4160520" cy="1353312"/>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448056" y="1801368"/>
            <a:ext cx="3904487" cy="219456"/>
          </a:xfrm>
          <a:prstGeom prst="rect">
            <a:avLst/>
          </a:prstGeom>
          <a:noFill/>
        </p:spPr>
        <p:txBody>
          <a:bodyPr wrap="square" lIns="27432" tIns="0" rIns="27432" bIns="0" anchor="t">
            <a:spAutoFit/>
          </a:bodyPr>
          <a:lstStyle/>
          <a:p>
            <a:pPr algn="l"/>
            <a:r>
              <a:rPr sz="1100" b="1" i="0">
                <a:solidFill>
                  <a:srgbClr val="8C1515"/>
                </a:solidFill>
                <a:latin typeface="Calibri"/>
              </a:rPr>
              <a:t>Regurgitant class</a:t>
            </a:r>
          </a:p>
        </p:txBody>
      </p:sp>
      <p:sp>
        <p:nvSpPr>
          <p:cNvPr id="22" name="TextBox 21"/>
          <p:cNvSpPr txBox="1"/>
          <p:nvPr/>
        </p:nvSpPr>
        <p:spPr>
          <a:xfrm>
            <a:off x="448056" y="2075688"/>
            <a:ext cx="3904487" cy="941832"/>
          </a:xfrm>
          <a:prstGeom prst="rect">
            <a:avLst/>
          </a:prstGeom>
          <a:noFill/>
        </p:spPr>
        <p:txBody>
          <a:bodyPr wrap="square" lIns="27432" tIns="0" rIns="27432" bIns="0">
            <a:spAutoFit/>
          </a:bodyPr>
          <a:lstStyle/>
          <a:p>
            <a:pPr>
              <a:spcAft>
                <a:spcPts val="350"/>
              </a:spcAft>
            </a:pPr>
            <a:r>
              <a:rPr sz="950">
                <a:solidFill>
                  <a:srgbClr val="8C1515"/>
                </a:solidFill>
                <a:latin typeface="Calibri"/>
              </a:rPr>
              <a:t>• </a:t>
            </a:r>
            <a:r>
              <a:rPr sz="950">
                <a:solidFill>
                  <a:srgbClr val="2E2D29"/>
                </a:solidFill>
                <a:latin typeface="Calibri"/>
              </a:rPr>
              <a:t>TST-STAN-1 and TST-STAN-5</a:t>
            </a:r>
          </a:p>
          <a:p>
            <a:pPr>
              <a:spcAft>
                <a:spcPts val="350"/>
              </a:spcAft>
            </a:pPr>
            <a:r>
              <a:rPr sz="950">
                <a:solidFill>
                  <a:srgbClr val="8C1515"/>
                </a:solidFill>
                <a:latin typeface="Calibri"/>
              </a:rPr>
              <a:t>• </a:t>
            </a:r>
            <a:r>
              <a:rPr sz="950">
                <a:solidFill>
                  <a:srgbClr val="2E2D29"/>
                </a:solidFill>
                <a:latin typeface="Calibri"/>
              </a:rPr>
              <a:t>Waveform shape taken from TST-STAN-5 and applied to TST-STAN-1</a:t>
            </a:r>
          </a:p>
          <a:p>
            <a:pPr>
              <a:spcAft>
                <a:spcPts val="350"/>
              </a:spcAft>
            </a:pPr>
            <a:r>
              <a:rPr sz="950">
                <a:solidFill>
                  <a:srgbClr val="8C1515"/>
                </a:solidFill>
                <a:latin typeface="Calibri"/>
              </a:rPr>
              <a:t>• </a:t>
            </a:r>
            <a:r>
              <a:rPr sz="950">
                <a:solidFill>
                  <a:srgbClr val="2E2D29"/>
                </a:solidFill>
                <a:latin typeface="Calibri"/>
              </a:rPr>
              <a:t>Retains the retrograde diastolic component</a:t>
            </a:r>
          </a:p>
        </p:txBody>
      </p:sp>
      <p:sp>
        <p:nvSpPr>
          <p:cNvPr id="23" name="Rectangle 22"/>
          <p:cNvSpPr/>
          <p:nvPr/>
        </p:nvSpPr>
        <p:spPr>
          <a:xfrm>
            <a:off x="320040" y="3182112"/>
            <a:ext cx="4160520" cy="1353312"/>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448056" y="3282696"/>
            <a:ext cx="3904487" cy="219456"/>
          </a:xfrm>
          <a:prstGeom prst="rect">
            <a:avLst/>
          </a:prstGeom>
          <a:noFill/>
        </p:spPr>
        <p:txBody>
          <a:bodyPr wrap="square" lIns="27432" tIns="0" rIns="27432" bIns="0" anchor="t">
            <a:spAutoFit/>
          </a:bodyPr>
          <a:lstStyle/>
          <a:p>
            <a:pPr algn="l"/>
            <a:r>
              <a:rPr sz="1100" b="1" i="0">
                <a:solidFill>
                  <a:srgbClr val="8C1515"/>
                </a:solidFill>
                <a:latin typeface="Calibri"/>
              </a:rPr>
              <a:t>Non-regurgitant class</a:t>
            </a:r>
          </a:p>
        </p:txBody>
      </p:sp>
      <p:sp>
        <p:nvSpPr>
          <p:cNvPr id="25" name="TextBox 24"/>
          <p:cNvSpPr txBox="1"/>
          <p:nvPr/>
        </p:nvSpPr>
        <p:spPr>
          <a:xfrm>
            <a:off x="448056" y="3557015"/>
            <a:ext cx="3904487" cy="941832"/>
          </a:xfrm>
          <a:prstGeom prst="rect">
            <a:avLst/>
          </a:prstGeom>
          <a:noFill/>
        </p:spPr>
        <p:txBody>
          <a:bodyPr wrap="square" lIns="27432" tIns="0" rIns="27432" bIns="0">
            <a:spAutoFit/>
          </a:bodyPr>
          <a:lstStyle/>
          <a:p>
            <a:pPr>
              <a:spcAft>
                <a:spcPts val="350"/>
              </a:spcAft>
            </a:pPr>
            <a:r>
              <a:rPr sz="950">
                <a:solidFill>
                  <a:srgbClr val="8C1515"/>
                </a:solidFill>
                <a:latin typeface="Calibri"/>
              </a:rPr>
              <a:t>• </a:t>
            </a:r>
            <a:r>
              <a:rPr sz="950">
                <a:solidFill>
                  <a:srgbClr val="2E2D29"/>
                </a:solidFill>
                <a:latin typeface="Calibri"/>
              </a:rPr>
              <a:t>TST-STAN-2, TST-STAN-3 and TST-STAN-9</a:t>
            </a:r>
          </a:p>
          <a:p>
            <a:pPr>
              <a:spcAft>
                <a:spcPts val="350"/>
              </a:spcAft>
            </a:pPr>
            <a:r>
              <a:rPr sz="950">
                <a:solidFill>
                  <a:srgbClr val="8C1515"/>
                </a:solidFill>
                <a:latin typeface="Calibri"/>
              </a:rPr>
              <a:t>• </a:t>
            </a:r>
            <a:r>
              <a:rPr sz="950">
                <a:solidFill>
                  <a:srgbClr val="2E2D29"/>
                </a:solidFill>
                <a:latin typeface="Calibri"/>
              </a:rPr>
              <a:t>Waveform shape taken from TST-STAN-3 and applied to TST-STAN-2 and -9</a:t>
            </a:r>
          </a:p>
          <a:p>
            <a:pPr>
              <a:spcAft>
                <a:spcPts val="350"/>
              </a:spcAft>
            </a:pPr>
            <a:r>
              <a:rPr sz="950">
                <a:solidFill>
                  <a:srgbClr val="8C1515"/>
                </a:solidFill>
                <a:latin typeface="Calibri"/>
              </a:rPr>
              <a:t>• </a:t>
            </a:r>
            <a:r>
              <a:rPr sz="950">
                <a:solidFill>
                  <a:srgbClr val="2E2D29"/>
                </a:solidFill>
                <a:latin typeface="Calibri"/>
              </a:rPr>
              <a:t>Strictly forward flow through the cycle</a:t>
            </a:r>
          </a:p>
        </p:txBody>
      </p:sp>
      <p:pic>
        <p:nvPicPr>
          <p:cNvPr id="26" name="Picture 25" descr="inflow_waveforms_cohort.png"/>
          <p:cNvPicPr>
            <a:picLocks noChangeAspect="1"/>
          </p:cNvPicPr>
          <p:nvPr/>
        </p:nvPicPr>
        <p:blipFill>
          <a:blip r:embed="rId2"/>
          <a:stretch>
            <a:fillRect/>
          </a:stretch>
        </p:blipFill>
        <p:spPr>
          <a:xfrm>
            <a:off x="5511892" y="1559368"/>
            <a:ext cx="2437116" cy="3204656"/>
          </a:xfrm>
          <a:prstGeom prst="rect">
            <a:avLst/>
          </a:prstGeom>
        </p:spPr>
      </p:pic>
      <p:sp>
        <p:nvSpPr>
          <p:cNvPr id="27" name="TextBox 26"/>
          <p:cNvSpPr txBox="1"/>
          <p:nvPr/>
        </p:nvSpPr>
        <p:spPr>
          <a:xfrm>
            <a:off x="4639641" y="4764024"/>
            <a:ext cx="4184318" cy="130805"/>
          </a:xfrm>
          <a:prstGeom prst="rect">
            <a:avLst/>
          </a:prstGeom>
          <a:noFill/>
        </p:spPr>
        <p:txBody>
          <a:bodyPr wrap="square" lIns="27432" tIns="0" rIns="27432" bIns="0" anchor="t">
            <a:spAutoFit/>
          </a:bodyPr>
          <a:lstStyle/>
          <a:p>
            <a:pPr algn="ctr"/>
            <a:r>
              <a:rPr sz="850" b="0" i="1">
                <a:solidFill>
                  <a:srgbClr val="6B6965"/>
                </a:solidFill>
                <a:latin typeface="Calibri"/>
              </a:rPr>
              <a:t>Patient-specific inflow waveforms across the cohort</a:t>
            </a:r>
          </a:p>
        </p:txBody>
      </p:sp>
      <p:sp>
        <p:nvSpPr>
          <p:cNvPr id="28" name="Rectangle 27"/>
          <p:cNvSpPr/>
          <p:nvPr/>
        </p:nvSpPr>
        <p:spPr>
          <a:xfrm>
            <a:off x="320040" y="5019613"/>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429768" y="5019613"/>
            <a:ext cx="8284464" cy="310896"/>
          </a:xfrm>
          <a:prstGeom prst="rect">
            <a:avLst/>
          </a:prstGeom>
          <a:noFill/>
        </p:spPr>
        <p:txBody>
          <a:bodyPr wrap="square" lIns="27432" tIns="0" rIns="27432" bIns="0" anchor="ctr">
            <a:spAutoFit/>
          </a:bodyPr>
          <a:lstStyle/>
          <a:p>
            <a:pPr algn="l"/>
            <a:r>
              <a:rPr sz="1000" b="1" i="0">
                <a:solidFill>
                  <a:srgbClr val="8C1515"/>
                </a:solidFill>
                <a:latin typeface="Calibri"/>
              </a:rPr>
              <a:t>Every assigned waveform is rescaled so that its cycle-mean matches the patient's measured cardiac output.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sz="2200">
                <a:solidFill>
                  <a:srgbClr val="8C1515"/>
                </a:solidFill>
                <a:latin typeface="Georgia"/>
              </a:rPr>
              <a:t>Mesh and temporal discretization</a:t>
            </a:r>
          </a:p>
        </p:txBody>
      </p:sp>
      <p:sp>
        <p:nvSpPr>
          <p:cNvPr id="3" name="Rectangle 2"/>
          <p:cNvSpPr/>
          <p:nvPr/>
        </p:nvSpPr>
        <p:spPr>
          <a:xfrm>
            <a:off x="320040"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1  Inputs</a:t>
            </a:r>
          </a:p>
        </p:txBody>
      </p:sp>
      <p:sp>
        <p:nvSpPr>
          <p:cNvPr id="5" name="Rectangle 4"/>
          <p:cNvSpPr/>
          <p:nvPr/>
        </p:nvSpPr>
        <p:spPr>
          <a:xfrm>
            <a:off x="125468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VALIDATED</a:t>
            </a:r>
          </a:p>
        </p:txBody>
      </p:sp>
      <p:sp>
        <p:nvSpPr>
          <p:cNvPr id="19" name="TextBox 18"/>
          <p:cNvSpPr txBox="1"/>
          <p:nvPr/>
        </p:nvSpPr>
        <p:spPr>
          <a:xfrm>
            <a:off x="320040" y="1426464"/>
            <a:ext cx="4160520" cy="201168"/>
          </a:xfrm>
          <a:prstGeom prst="rect">
            <a:avLst/>
          </a:prstGeom>
          <a:noFill/>
        </p:spPr>
        <p:txBody>
          <a:bodyPr wrap="square" lIns="27432" tIns="0" rIns="27432" bIns="0" anchor="t">
            <a:spAutoFit/>
          </a:bodyPr>
          <a:lstStyle/>
          <a:p>
            <a:pPr algn="l"/>
            <a:r>
              <a:rPr sz="950" b="1" i="0">
                <a:solidFill>
                  <a:srgbClr val="8C1515"/>
                </a:solidFill>
                <a:latin typeface="Calibri"/>
              </a:rPr>
              <a:t>Discretization settings</a:t>
            </a:r>
          </a:p>
        </p:txBody>
      </p:sp>
      <p:sp>
        <p:nvSpPr>
          <p:cNvPr id="20" name="Rectangle 19"/>
          <p:cNvSpPr/>
          <p:nvPr/>
        </p:nvSpPr>
        <p:spPr>
          <a:xfrm>
            <a:off x="320040" y="1700784"/>
            <a:ext cx="4160520" cy="24688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393192" y="1700784"/>
            <a:ext cx="1323136" cy="246888"/>
          </a:xfrm>
          <a:prstGeom prst="rect">
            <a:avLst/>
          </a:prstGeom>
          <a:noFill/>
        </p:spPr>
        <p:txBody>
          <a:bodyPr wrap="square" lIns="27432" tIns="0" rIns="27432" bIns="0" anchor="ctr">
            <a:spAutoFit/>
          </a:bodyPr>
          <a:lstStyle/>
          <a:p>
            <a:pPr algn="l"/>
            <a:r>
              <a:rPr sz="950" b="1" i="0">
                <a:solidFill>
                  <a:srgbClr val="2E2D29"/>
                </a:solidFill>
                <a:latin typeface="Calibri"/>
              </a:rPr>
              <a:t>Mesh edge size</a:t>
            </a:r>
          </a:p>
        </p:txBody>
      </p:sp>
      <p:sp>
        <p:nvSpPr>
          <p:cNvPr id="22" name="TextBox 21"/>
          <p:cNvSpPr txBox="1"/>
          <p:nvPr/>
        </p:nvSpPr>
        <p:spPr>
          <a:xfrm>
            <a:off x="1734616" y="1700784"/>
            <a:ext cx="2672791" cy="246888"/>
          </a:xfrm>
          <a:prstGeom prst="rect">
            <a:avLst/>
          </a:prstGeom>
          <a:noFill/>
        </p:spPr>
        <p:txBody>
          <a:bodyPr wrap="square" lIns="27432" tIns="0" rIns="27432" bIns="0" anchor="ctr">
            <a:spAutoFit/>
          </a:bodyPr>
          <a:lstStyle/>
          <a:p>
            <a:pPr algn="l"/>
            <a:r>
              <a:rPr sz="950" b="0" i="0">
                <a:solidFill>
                  <a:srgbClr val="6B6965"/>
                </a:solidFill>
                <a:latin typeface="Calibri"/>
              </a:rPr>
              <a:t>≈ 0.035 cm, isotropic tetrahedral</a:t>
            </a:r>
          </a:p>
        </p:txBody>
      </p:sp>
      <p:sp>
        <p:nvSpPr>
          <p:cNvPr id="23" name="TextBox 22"/>
          <p:cNvSpPr txBox="1"/>
          <p:nvPr/>
        </p:nvSpPr>
        <p:spPr>
          <a:xfrm>
            <a:off x="393192" y="1947672"/>
            <a:ext cx="1323136" cy="246888"/>
          </a:xfrm>
          <a:prstGeom prst="rect">
            <a:avLst/>
          </a:prstGeom>
          <a:noFill/>
        </p:spPr>
        <p:txBody>
          <a:bodyPr wrap="square" lIns="27432" tIns="0" rIns="27432" bIns="0" anchor="ctr">
            <a:spAutoFit/>
          </a:bodyPr>
          <a:lstStyle/>
          <a:p>
            <a:pPr algn="l"/>
            <a:r>
              <a:rPr sz="950" b="1" i="0">
                <a:solidFill>
                  <a:srgbClr val="2E2D29"/>
                </a:solidFill>
                <a:latin typeface="Calibri"/>
              </a:rPr>
              <a:t>Boundary layer</a:t>
            </a:r>
          </a:p>
        </p:txBody>
      </p:sp>
      <p:sp>
        <p:nvSpPr>
          <p:cNvPr id="24" name="TextBox 23"/>
          <p:cNvSpPr txBox="1"/>
          <p:nvPr/>
        </p:nvSpPr>
        <p:spPr>
          <a:xfrm>
            <a:off x="1734616" y="1947672"/>
            <a:ext cx="2672791" cy="246888"/>
          </a:xfrm>
          <a:prstGeom prst="rect">
            <a:avLst/>
          </a:prstGeom>
          <a:noFill/>
        </p:spPr>
        <p:txBody>
          <a:bodyPr wrap="square" lIns="27432" tIns="0" rIns="27432" bIns="0" anchor="ctr">
            <a:spAutoFit/>
          </a:bodyPr>
          <a:lstStyle/>
          <a:p>
            <a:pPr algn="l"/>
            <a:r>
              <a:rPr sz="950" b="0" i="0">
                <a:solidFill>
                  <a:srgbClr val="6B6965"/>
                </a:solidFill>
                <a:latin typeface="Calibri"/>
              </a:rPr>
              <a:t>Off during tuning, on for final runs</a:t>
            </a:r>
          </a:p>
        </p:txBody>
      </p:sp>
      <p:sp>
        <p:nvSpPr>
          <p:cNvPr id="25" name="Rectangle 24"/>
          <p:cNvSpPr/>
          <p:nvPr/>
        </p:nvSpPr>
        <p:spPr>
          <a:xfrm>
            <a:off x="320040" y="2194560"/>
            <a:ext cx="4160520" cy="24688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393192" y="2194560"/>
            <a:ext cx="1323136" cy="246888"/>
          </a:xfrm>
          <a:prstGeom prst="rect">
            <a:avLst/>
          </a:prstGeom>
          <a:noFill/>
        </p:spPr>
        <p:txBody>
          <a:bodyPr wrap="square" lIns="27432" tIns="0" rIns="27432" bIns="0" anchor="ctr">
            <a:spAutoFit/>
          </a:bodyPr>
          <a:lstStyle/>
          <a:p>
            <a:pPr algn="l"/>
            <a:r>
              <a:rPr sz="950" b="1" i="0">
                <a:solidFill>
                  <a:srgbClr val="2E2D29"/>
                </a:solidFill>
                <a:latin typeface="Calibri"/>
              </a:rPr>
              <a:t>Timesteps per cycle</a:t>
            </a:r>
          </a:p>
        </p:txBody>
      </p:sp>
      <p:sp>
        <p:nvSpPr>
          <p:cNvPr id="27" name="TextBox 26"/>
          <p:cNvSpPr txBox="1"/>
          <p:nvPr/>
        </p:nvSpPr>
        <p:spPr>
          <a:xfrm>
            <a:off x="1734616" y="2194560"/>
            <a:ext cx="2672791" cy="246888"/>
          </a:xfrm>
          <a:prstGeom prst="rect">
            <a:avLst/>
          </a:prstGeom>
          <a:noFill/>
        </p:spPr>
        <p:txBody>
          <a:bodyPr wrap="square" lIns="27432" tIns="0" rIns="27432" bIns="0" anchor="ctr">
            <a:spAutoFit/>
          </a:bodyPr>
          <a:lstStyle/>
          <a:p>
            <a:pPr algn="l"/>
            <a:r>
              <a:rPr sz="950" b="0" i="0">
                <a:solidFill>
                  <a:srgbClr val="6B6965"/>
                </a:solidFill>
                <a:latin typeface="Calibri"/>
              </a:rPr>
              <a:t>2000</a:t>
            </a:r>
          </a:p>
        </p:txBody>
      </p:sp>
      <p:sp>
        <p:nvSpPr>
          <p:cNvPr id="28" name="TextBox 27"/>
          <p:cNvSpPr txBox="1"/>
          <p:nvPr/>
        </p:nvSpPr>
        <p:spPr>
          <a:xfrm>
            <a:off x="393192" y="2441448"/>
            <a:ext cx="1323136" cy="246888"/>
          </a:xfrm>
          <a:prstGeom prst="rect">
            <a:avLst/>
          </a:prstGeom>
          <a:noFill/>
        </p:spPr>
        <p:txBody>
          <a:bodyPr wrap="square" lIns="27432" tIns="0" rIns="27432" bIns="0" anchor="ctr">
            <a:spAutoFit/>
          </a:bodyPr>
          <a:lstStyle/>
          <a:p>
            <a:pPr algn="l"/>
            <a:r>
              <a:rPr sz="950" b="1" i="0">
                <a:solidFill>
                  <a:srgbClr val="2E2D29"/>
                </a:solidFill>
                <a:latin typeface="Calibri"/>
              </a:rPr>
              <a:t>Timestep size</a:t>
            </a:r>
          </a:p>
        </p:txBody>
      </p:sp>
      <p:sp>
        <p:nvSpPr>
          <p:cNvPr id="29" name="TextBox 28"/>
          <p:cNvSpPr txBox="1"/>
          <p:nvPr/>
        </p:nvSpPr>
        <p:spPr>
          <a:xfrm>
            <a:off x="1734616" y="2441448"/>
            <a:ext cx="2672791" cy="246888"/>
          </a:xfrm>
          <a:prstGeom prst="rect">
            <a:avLst/>
          </a:prstGeom>
          <a:noFill/>
        </p:spPr>
        <p:txBody>
          <a:bodyPr wrap="square" lIns="27432" tIns="0" rIns="27432" bIns="0" anchor="ctr">
            <a:spAutoFit/>
          </a:bodyPr>
          <a:lstStyle/>
          <a:p>
            <a:pPr algn="l"/>
            <a:r>
              <a:rPr sz="950" b="0" i="0">
                <a:solidFill>
                  <a:srgbClr val="6B6965"/>
                </a:solidFill>
                <a:latin typeface="Calibri"/>
              </a:rPr>
              <a:t>3 × 10⁻⁴ – 5 × 10⁻⁴ s (cycle-dependent)</a:t>
            </a:r>
          </a:p>
        </p:txBody>
      </p:sp>
      <p:sp>
        <p:nvSpPr>
          <p:cNvPr id="30" name="Rectangle 29"/>
          <p:cNvSpPr/>
          <p:nvPr/>
        </p:nvSpPr>
        <p:spPr>
          <a:xfrm>
            <a:off x="320040" y="2688336"/>
            <a:ext cx="4160520" cy="24688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393192" y="2688336"/>
            <a:ext cx="1323136" cy="246888"/>
          </a:xfrm>
          <a:prstGeom prst="rect">
            <a:avLst/>
          </a:prstGeom>
          <a:noFill/>
        </p:spPr>
        <p:txBody>
          <a:bodyPr wrap="square" lIns="27432" tIns="0" rIns="27432" bIns="0" anchor="ctr">
            <a:spAutoFit/>
          </a:bodyPr>
          <a:lstStyle/>
          <a:p>
            <a:pPr algn="l"/>
            <a:r>
              <a:rPr sz="950" b="1" i="0">
                <a:solidFill>
                  <a:srgbClr val="2E2D29"/>
                </a:solidFill>
                <a:latin typeface="Calibri"/>
              </a:rPr>
              <a:t>Cycles — tuning</a:t>
            </a:r>
          </a:p>
        </p:txBody>
      </p:sp>
      <p:sp>
        <p:nvSpPr>
          <p:cNvPr id="32" name="TextBox 31"/>
          <p:cNvSpPr txBox="1"/>
          <p:nvPr/>
        </p:nvSpPr>
        <p:spPr>
          <a:xfrm>
            <a:off x="1734616" y="2688336"/>
            <a:ext cx="2672791" cy="246888"/>
          </a:xfrm>
          <a:prstGeom prst="rect">
            <a:avLst/>
          </a:prstGeom>
          <a:noFill/>
        </p:spPr>
        <p:txBody>
          <a:bodyPr wrap="square" lIns="27432" tIns="0" rIns="27432" bIns="0" anchor="ctr">
            <a:spAutoFit/>
          </a:bodyPr>
          <a:lstStyle/>
          <a:p>
            <a:pPr algn="l"/>
            <a:r>
              <a:rPr sz="950" b="0" i="0">
                <a:solidFill>
                  <a:srgbClr val="6B6965"/>
                </a:solidFill>
                <a:latin typeface="Calibri"/>
              </a:rPr>
              <a:t>2, analysis on the second</a:t>
            </a:r>
          </a:p>
        </p:txBody>
      </p:sp>
      <p:sp>
        <p:nvSpPr>
          <p:cNvPr id="33" name="TextBox 32"/>
          <p:cNvSpPr txBox="1"/>
          <p:nvPr/>
        </p:nvSpPr>
        <p:spPr>
          <a:xfrm>
            <a:off x="393192" y="2935224"/>
            <a:ext cx="1323136" cy="246888"/>
          </a:xfrm>
          <a:prstGeom prst="rect">
            <a:avLst/>
          </a:prstGeom>
          <a:noFill/>
        </p:spPr>
        <p:txBody>
          <a:bodyPr wrap="square" lIns="27432" tIns="0" rIns="27432" bIns="0" anchor="ctr">
            <a:spAutoFit/>
          </a:bodyPr>
          <a:lstStyle/>
          <a:p>
            <a:pPr algn="l"/>
            <a:r>
              <a:rPr sz="950" b="1" i="0">
                <a:solidFill>
                  <a:srgbClr val="2E2D29"/>
                </a:solidFill>
                <a:latin typeface="Calibri"/>
              </a:rPr>
              <a:t>Cycles — final</a:t>
            </a:r>
          </a:p>
        </p:txBody>
      </p:sp>
      <p:sp>
        <p:nvSpPr>
          <p:cNvPr id="34" name="TextBox 33"/>
          <p:cNvSpPr txBox="1"/>
          <p:nvPr/>
        </p:nvSpPr>
        <p:spPr>
          <a:xfrm>
            <a:off x="1734616" y="2935224"/>
            <a:ext cx="2672791" cy="246888"/>
          </a:xfrm>
          <a:prstGeom prst="rect">
            <a:avLst/>
          </a:prstGeom>
          <a:noFill/>
        </p:spPr>
        <p:txBody>
          <a:bodyPr wrap="square" lIns="27432" tIns="0" rIns="27432" bIns="0" anchor="ctr">
            <a:spAutoFit/>
          </a:bodyPr>
          <a:lstStyle/>
          <a:p>
            <a:pPr algn="l"/>
            <a:r>
              <a:rPr sz="950" b="0" i="0">
                <a:solidFill>
                  <a:srgbClr val="6B6965"/>
                </a:solidFill>
                <a:latin typeface="Calibri"/>
              </a:rPr>
              <a:t>3</a:t>
            </a:r>
          </a:p>
        </p:txBody>
      </p:sp>
      <p:sp>
        <p:nvSpPr>
          <p:cNvPr id="35" name="Rectangle 34"/>
          <p:cNvSpPr/>
          <p:nvPr/>
        </p:nvSpPr>
        <p:spPr>
          <a:xfrm>
            <a:off x="320040" y="3182112"/>
            <a:ext cx="4160520" cy="24688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393192" y="3182112"/>
            <a:ext cx="1323136" cy="246888"/>
          </a:xfrm>
          <a:prstGeom prst="rect">
            <a:avLst/>
          </a:prstGeom>
          <a:noFill/>
        </p:spPr>
        <p:txBody>
          <a:bodyPr wrap="square" lIns="27432" tIns="0" rIns="27432" bIns="0" anchor="ctr">
            <a:spAutoFit/>
          </a:bodyPr>
          <a:lstStyle/>
          <a:p>
            <a:pPr algn="l"/>
            <a:r>
              <a:rPr sz="950" b="1" i="0">
                <a:solidFill>
                  <a:srgbClr val="2E2D29"/>
                </a:solidFill>
                <a:latin typeface="Calibri"/>
              </a:rPr>
              <a:t>Solver</a:t>
            </a:r>
          </a:p>
        </p:txBody>
      </p:sp>
      <p:sp>
        <p:nvSpPr>
          <p:cNvPr id="37" name="TextBox 36"/>
          <p:cNvSpPr txBox="1"/>
          <p:nvPr/>
        </p:nvSpPr>
        <p:spPr>
          <a:xfrm>
            <a:off x="1734616" y="3182112"/>
            <a:ext cx="2672791" cy="246888"/>
          </a:xfrm>
          <a:prstGeom prst="rect">
            <a:avLst/>
          </a:prstGeom>
          <a:noFill/>
        </p:spPr>
        <p:txBody>
          <a:bodyPr wrap="square" lIns="27432" tIns="0" rIns="27432" bIns="0" anchor="ctr">
            <a:spAutoFit/>
          </a:bodyPr>
          <a:lstStyle/>
          <a:p>
            <a:pPr algn="l"/>
            <a:r>
              <a:rPr sz="950" b="0" i="0">
                <a:solidFill>
                  <a:srgbClr val="6B6965"/>
                </a:solidFill>
                <a:latin typeface="Calibri"/>
              </a:rPr>
              <a:t>svMultiPhysics</a:t>
            </a:r>
          </a:p>
        </p:txBody>
      </p:sp>
      <p:sp>
        <p:nvSpPr>
          <p:cNvPr id="38" name="Rectangle 37"/>
          <p:cNvSpPr/>
          <p:nvPr/>
        </p:nvSpPr>
        <p:spPr>
          <a:xfrm>
            <a:off x="4663440" y="1426464"/>
            <a:ext cx="4160520" cy="173736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4791455" y="1527048"/>
            <a:ext cx="3904487" cy="219456"/>
          </a:xfrm>
          <a:prstGeom prst="rect">
            <a:avLst/>
          </a:prstGeom>
          <a:noFill/>
        </p:spPr>
        <p:txBody>
          <a:bodyPr wrap="square" lIns="27432" tIns="0" rIns="27432" bIns="0" anchor="t">
            <a:spAutoFit/>
          </a:bodyPr>
          <a:lstStyle/>
          <a:p>
            <a:pPr algn="l"/>
            <a:r>
              <a:rPr sz="1100" b="1" i="0">
                <a:solidFill>
                  <a:srgbClr val="E98300"/>
                </a:solidFill>
                <a:latin typeface="Calibri"/>
              </a:rPr>
              <a:t>Why two mesh configurations</a:t>
            </a:r>
          </a:p>
        </p:txBody>
      </p:sp>
      <p:sp>
        <p:nvSpPr>
          <p:cNvPr id="40" name="TextBox 39"/>
          <p:cNvSpPr txBox="1"/>
          <p:nvPr/>
        </p:nvSpPr>
        <p:spPr>
          <a:xfrm>
            <a:off x="4791455" y="1801368"/>
            <a:ext cx="3904487" cy="1325880"/>
          </a:xfrm>
          <a:prstGeom prst="rect">
            <a:avLst/>
          </a:prstGeom>
          <a:noFill/>
        </p:spPr>
        <p:txBody>
          <a:bodyPr wrap="square" lIns="27432" tIns="0" rIns="27432" bIns="0">
            <a:spAutoFit/>
          </a:bodyPr>
          <a:lstStyle/>
          <a:p>
            <a:pPr>
              <a:spcAft>
                <a:spcPts val="350"/>
              </a:spcAft>
            </a:pPr>
            <a:r>
              <a:rPr sz="950">
                <a:solidFill>
                  <a:srgbClr val="E98300"/>
                </a:solidFill>
                <a:latin typeface="Calibri"/>
              </a:rPr>
              <a:t>• </a:t>
            </a:r>
            <a:r>
              <a:rPr sz="950">
                <a:solidFill>
                  <a:srgbClr val="2E2D29"/>
                </a:solidFill>
                <a:latin typeface="Calibri"/>
              </a:rPr>
              <a:t>Tuning needs many 3D evaluations, so the boundary layer is dropped to keep each outer iteration affordable</a:t>
            </a:r>
          </a:p>
          <a:p>
            <a:pPr>
              <a:spcAft>
                <a:spcPts val="350"/>
              </a:spcAft>
            </a:pPr>
            <a:r>
              <a:rPr sz="950">
                <a:solidFill>
                  <a:srgbClr val="E98300"/>
                </a:solidFill>
                <a:latin typeface="Calibri"/>
              </a:rPr>
              <a:t>• </a:t>
            </a:r>
            <a:r>
              <a:rPr sz="950">
                <a:solidFill>
                  <a:srgbClr val="2E2D29"/>
                </a:solidFill>
                <a:latin typeface="Calibri"/>
              </a:rPr>
              <a:t>Final pre-op, post-op and adapted runs use the boundary-layer mesh for wall shear stress fidelity</a:t>
            </a:r>
          </a:p>
        </p:txBody>
      </p:sp>
      <p:sp>
        <p:nvSpPr>
          <p:cNvPr id="41" name="Rectangle 40"/>
          <p:cNvSpPr/>
          <p:nvPr/>
        </p:nvSpPr>
        <p:spPr>
          <a:xfrm>
            <a:off x="4663440" y="3291840"/>
            <a:ext cx="4160520" cy="141732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4791455" y="3392424"/>
            <a:ext cx="2761487" cy="219456"/>
          </a:xfrm>
          <a:prstGeom prst="rect">
            <a:avLst/>
          </a:prstGeom>
          <a:noFill/>
        </p:spPr>
        <p:txBody>
          <a:bodyPr wrap="square" lIns="27432" tIns="0" rIns="27432" bIns="0" anchor="t">
            <a:spAutoFit/>
          </a:bodyPr>
          <a:lstStyle/>
          <a:p>
            <a:pPr algn="l"/>
            <a:r>
              <a:rPr sz="1100" b="1" i="0">
                <a:solidFill>
                  <a:srgbClr val="E98300"/>
                </a:solidFill>
                <a:latin typeface="Calibri"/>
              </a:rPr>
              <a:t>Open question to document</a:t>
            </a:r>
          </a:p>
        </p:txBody>
      </p:sp>
      <p:sp>
        <p:nvSpPr>
          <p:cNvPr id="43" name="Rectangle 42"/>
          <p:cNvSpPr/>
          <p:nvPr/>
        </p:nvSpPr>
        <p:spPr>
          <a:xfrm>
            <a:off x="7580375" y="3401568"/>
            <a:ext cx="1097280" cy="173736"/>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Box 43"/>
          <p:cNvSpPr txBox="1"/>
          <p:nvPr/>
        </p:nvSpPr>
        <p:spPr>
          <a:xfrm>
            <a:off x="7580375" y="3401568"/>
            <a:ext cx="1097280" cy="173736"/>
          </a:xfrm>
          <a:prstGeom prst="rect">
            <a:avLst/>
          </a:prstGeom>
          <a:noFill/>
        </p:spPr>
        <p:txBody>
          <a:bodyPr wrap="square" lIns="18288" tIns="0" rIns="18288" bIns="0" anchor="ctr">
            <a:spAutoFit/>
          </a:bodyPr>
          <a:lstStyle/>
          <a:p>
            <a:pPr algn="ctr"/>
            <a:r>
              <a:rPr sz="600" b="1">
                <a:solidFill>
                  <a:srgbClr val="FFFFFF"/>
                </a:solidFill>
                <a:latin typeface="Calibri"/>
              </a:rPr>
              <a:t>IN DEVELOPMENT</a:t>
            </a:r>
          </a:p>
        </p:txBody>
      </p:sp>
      <p:sp>
        <p:nvSpPr>
          <p:cNvPr id="45" name="TextBox 44"/>
          <p:cNvSpPr txBox="1"/>
          <p:nvPr/>
        </p:nvSpPr>
        <p:spPr>
          <a:xfrm>
            <a:off x="4791455" y="3666744"/>
            <a:ext cx="3904487" cy="1005840"/>
          </a:xfrm>
          <a:prstGeom prst="rect">
            <a:avLst/>
          </a:prstGeom>
          <a:noFill/>
        </p:spPr>
        <p:txBody>
          <a:bodyPr wrap="square" lIns="27432" tIns="0" rIns="27432" bIns="0">
            <a:spAutoFit/>
          </a:bodyPr>
          <a:lstStyle/>
          <a:p>
            <a:pPr>
              <a:spcAft>
                <a:spcPts val="350"/>
              </a:spcAft>
            </a:pPr>
            <a:r>
              <a:rPr sz="950">
                <a:solidFill>
                  <a:srgbClr val="E98300"/>
                </a:solidFill>
                <a:latin typeface="Calibri"/>
              </a:rPr>
              <a:t>• </a:t>
            </a:r>
            <a:r>
              <a:rPr sz="950">
                <a:solidFill>
                  <a:srgbClr val="2E2D29"/>
                </a:solidFill>
                <a:latin typeface="Calibri"/>
              </a:rPr>
              <a:t>Boundary-layer meshes change the computed pressure drop, so tuned parameters are strictly valid for the mesh they were tuned on</a:t>
            </a:r>
          </a:p>
          <a:p>
            <a:pPr>
              <a:spcAft>
                <a:spcPts val="350"/>
              </a:spcAft>
            </a:pPr>
            <a:r>
              <a:rPr sz="950">
                <a:solidFill>
                  <a:srgbClr val="E98300"/>
                </a:solidFill>
                <a:latin typeface="Calibri"/>
              </a:rPr>
              <a:t>• </a:t>
            </a:r>
            <a:r>
              <a:rPr sz="950">
                <a:solidFill>
                  <a:srgbClr val="2E2D29"/>
                </a:solidFill>
                <a:latin typeface="Calibri"/>
              </a:rPr>
              <a:t>Worth quantifying the shift for the paper</a:t>
            </a:r>
          </a:p>
        </p:txBody>
      </p:sp>
      <p:sp>
        <p:nvSpPr>
          <p:cNvPr id="46" name="Rectangle 45"/>
          <p:cNvSpPr/>
          <p:nvPr/>
        </p:nvSpPr>
        <p:spPr>
          <a:xfrm>
            <a:off x="320040" y="4828032"/>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429768" y="4828032"/>
            <a:ext cx="8284464" cy="310896"/>
          </a:xfrm>
          <a:prstGeom prst="rect">
            <a:avLst/>
          </a:prstGeom>
          <a:noFill/>
        </p:spPr>
        <p:txBody>
          <a:bodyPr wrap="square" lIns="27432" tIns="0" rIns="27432" bIns="0" anchor="ctr">
            <a:spAutoFit/>
          </a:bodyPr>
          <a:lstStyle/>
          <a:p>
            <a:pPr algn="l"/>
            <a:r>
              <a:rPr sz="1000" b="1" i="0">
                <a:solidFill>
                  <a:srgbClr val="8C1515"/>
                </a:solidFill>
                <a:latin typeface="Calibri"/>
              </a:rPr>
              <a:t>Discretization is settled; the tuning-mesh to final-mesh consistency check is not.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a:xfrm>
            <a:off x="1362456" y="2971800"/>
            <a:ext cx="6400800" cy="658368"/>
          </a:xfrm>
        </p:spPr>
        <p:txBody>
          <a:bodyPr wrap="square" lIns="0" rIns="0"/>
          <a:lstStyle/>
          <a:p>
            <a:r>
              <a:rPr sz="1300">
                <a:solidFill>
                  <a:srgbClr val="FFFFFF"/>
                </a:solidFill>
                <a:latin typeface="Calibri"/>
              </a:rPr>
              <a:t>Identifying structured-tree parameters that reproduce the pre-operative catheter and perfusion measurements.</a:t>
            </a:r>
          </a:p>
        </p:txBody>
      </p:sp>
      <p:sp>
        <p:nvSpPr>
          <p:cNvPr id="3" name="Title 2"/>
          <p:cNvSpPr>
            <a:spLocks noGrp="1"/>
          </p:cNvSpPr>
          <p:nvPr>
            <p:ph type="ctrTitle"/>
          </p:nvPr>
        </p:nvSpPr>
        <p:spPr>
          <a:xfrm>
            <a:off x="1362456" y="1874519"/>
            <a:ext cx="7479792" cy="1005840"/>
          </a:xfrm>
        </p:spPr>
        <p:txBody>
          <a:bodyPr lIns="0" rIns="0" anchor="b"/>
          <a:lstStyle/>
          <a:p>
            <a:r>
              <a:rPr sz="3200">
                <a:solidFill>
                  <a:srgbClr val="FFFFFF"/>
                </a:solidFill>
                <a:latin typeface="Georgia"/>
              </a:rPr>
              <a:t>Boundary Condition Tuning</a:t>
            </a:r>
          </a:p>
        </p:txBody>
      </p:sp>
      <p:sp>
        <p:nvSpPr>
          <p:cNvPr id="4" name="TextBox 3"/>
          <p:cNvSpPr txBox="1"/>
          <p:nvPr/>
        </p:nvSpPr>
        <p:spPr>
          <a:xfrm>
            <a:off x="1362456" y="1517904"/>
            <a:ext cx="7479792" cy="256032"/>
          </a:xfrm>
          <a:prstGeom prst="rect">
            <a:avLst/>
          </a:prstGeom>
          <a:noFill/>
        </p:spPr>
        <p:txBody>
          <a:bodyPr wrap="square" lIns="27432" tIns="0" rIns="27432" bIns="0" anchor="t">
            <a:spAutoFit/>
          </a:bodyPr>
          <a:lstStyle/>
          <a:p>
            <a:pPr algn="l"/>
            <a:r>
              <a:rPr sz="1050" b="1" i="0">
                <a:solidFill>
                  <a:srgbClr val="FFFFFF"/>
                </a:solidFill>
                <a:latin typeface="Calibri"/>
              </a:rPr>
              <a:t>STAGE 2 OF 7</a:t>
            </a:r>
          </a:p>
        </p:txBody>
      </p:sp>
      <p:sp>
        <p:nvSpPr>
          <p:cNvPr id="5" name="Rectangle 4"/>
          <p:cNvSpPr/>
          <p:nvPr/>
        </p:nvSpPr>
        <p:spPr>
          <a:xfrm>
            <a:off x="1362456" y="4041648"/>
            <a:ext cx="869986" cy="256032"/>
          </a:xfrm>
          <a:prstGeom prst="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362456" y="4041648"/>
            <a:ext cx="869986" cy="256032"/>
          </a:xfrm>
          <a:prstGeom prst="rect">
            <a:avLst/>
          </a:prstGeom>
          <a:noFill/>
        </p:spPr>
        <p:txBody>
          <a:bodyPr wrap="square" lIns="9144" tIns="0" rIns="9144" bIns="0" anchor="ctr">
            <a:spAutoFit/>
          </a:bodyPr>
          <a:lstStyle/>
          <a:p>
            <a:pPr algn="ctr"/>
            <a:r>
              <a:rPr sz="700" b="0">
                <a:solidFill>
                  <a:srgbClr val="FFFFFF"/>
                </a:solidFill>
                <a:latin typeface="Calibri"/>
              </a:rPr>
              <a:t>1  Inputs</a:t>
            </a:r>
          </a:p>
        </p:txBody>
      </p:sp>
      <p:sp>
        <p:nvSpPr>
          <p:cNvPr id="7" name="Rectangle 6"/>
          <p:cNvSpPr/>
          <p:nvPr/>
        </p:nvSpPr>
        <p:spPr>
          <a:xfrm>
            <a:off x="2287306" y="4041648"/>
            <a:ext cx="869986" cy="2560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287306" y="4041648"/>
            <a:ext cx="869986" cy="256032"/>
          </a:xfrm>
          <a:prstGeom prst="rect">
            <a:avLst/>
          </a:prstGeom>
          <a:noFill/>
        </p:spPr>
        <p:txBody>
          <a:bodyPr wrap="square" lIns="9144" tIns="0" rIns="9144" bIns="0" anchor="ctr">
            <a:spAutoFit/>
          </a:bodyPr>
          <a:lstStyle/>
          <a:p>
            <a:pPr algn="ctr"/>
            <a:r>
              <a:rPr sz="700" b="1">
                <a:solidFill>
                  <a:srgbClr val="007C92"/>
                </a:solidFill>
                <a:latin typeface="Calibri"/>
              </a:rPr>
              <a:t>2  BC Tuning</a:t>
            </a:r>
          </a:p>
        </p:txBody>
      </p:sp>
      <p:sp>
        <p:nvSpPr>
          <p:cNvPr id="9" name="Rectangle 8"/>
          <p:cNvSpPr/>
          <p:nvPr/>
        </p:nvSpPr>
        <p:spPr>
          <a:xfrm>
            <a:off x="3212156" y="4041648"/>
            <a:ext cx="869986" cy="256032"/>
          </a:xfrm>
          <a:prstGeom prst="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212156" y="4041648"/>
            <a:ext cx="869986" cy="256032"/>
          </a:xfrm>
          <a:prstGeom prst="rect">
            <a:avLst/>
          </a:prstGeom>
          <a:noFill/>
        </p:spPr>
        <p:txBody>
          <a:bodyPr wrap="square" lIns="9144" tIns="0" rIns="9144" bIns="0" anchor="ctr">
            <a:spAutoFit/>
          </a:bodyPr>
          <a:lstStyle/>
          <a:p>
            <a:pPr algn="ctr"/>
            <a:r>
              <a:rPr sz="700" b="0">
                <a:solidFill>
                  <a:srgbClr val="FFFFFF"/>
                </a:solidFill>
                <a:latin typeface="Calibri"/>
              </a:rPr>
              <a:t>3  Pre-op Sim</a:t>
            </a:r>
          </a:p>
        </p:txBody>
      </p:sp>
      <p:sp>
        <p:nvSpPr>
          <p:cNvPr id="11" name="Rectangle 10"/>
          <p:cNvSpPr/>
          <p:nvPr/>
        </p:nvSpPr>
        <p:spPr>
          <a:xfrm>
            <a:off x="4137006" y="4041648"/>
            <a:ext cx="869986" cy="256032"/>
          </a:xfrm>
          <a:prstGeom prst="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137006" y="4041648"/>
            <a:ext cx="869986" cy="256032"/>
          </a:xfrm>
          <a:prstGeom prst="rect">
            <a:avLst/>
          </a:prstGeom>
          <a:noFill/>
        </p:spPr>
        <p:txBody>
          <a:bodyPr wrap="square" lIns="9144" tIns="0" rIns="9144" bIns="0" anchor="ctr">
            <a:spAutoFit/>
          </a:bodyPr>
          <a:lstStyle/>
          <a:p>
            <a:pPr algn="ctr"/>
            <a:r>
              <a:rPr sz="700" b="0">
                <a:solidFill>
                  <a:srgbClr val="FFFFFF"/>
                </a:solidFill>
                <a:latin typeface="Calibri"/>
              </a:rPr>
              <a:t>4  Post-op Sim</a:t>
            </a:r>
          </a:p>
        </p:txBody>
      </p:sp>
      <p:sp>
        <p:nvSpPr>
          <p:cNvPr id="13" name="Rectangle 12"/>
          <p:cNvSpPr/>
          <p:nvPr/>
        </p:nvSpPr>
        <p:spPr>
          <a:xfrm>
            <a:off x="5061857" y="4041648"/>
            <a:ext cx="869986" cy="256032"/>
          </a:xfrm>
          <a:prstGeom prst="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5061857" y="4041648"/>
            <a:ext cx="869986" cy="256032"/>
          </a:xfrm>
          <a:prstGeom prst="rect">
            <a:avLst/>
          </a:prstGeom>
          <a:noFill/>
        </p:spPr>
        <p:txBody>
          <a:bodyPr wrap="square" lIns="9144" tIns="0" rIns="9144" bIns="0" anchor="ctr">
            <a:spAutoFit/>
          </a:bodyPr>
          <a:lstStyle/>
          <a:p>
            <a:pPr algn="ctr"/>
            <a:r>
              <a:rPr sz="700" b="0">
                <a:solidFill>
                  <a:srgbClr val="FFFFFF"/>
                </a:solidFill>
                <a:latin typeface="Calibri"/>
              </a:rPr>
              <a:t>5  Adaptation</a:t>
            </a:r>
          </a:p>
        </p:txBody>
      </p:sp>
      <p:sp>
        <p:nvSpPr>
          <p:cNvPr id="15" name="Rectangle 14"/>
          <p:cNvSpPr/>
          <p:nvPr/>
        </p:nvSpPr>
        <p:spPr>
          <a:xfrm>
            <a:off x="5986707" y="4041648"/>
            <a:ext cx="869986" cy="256032"/>
          </a:xfrm>
          <a:prstGeom prst="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86707" y="4041648"/>
            <a:ext cx="869986" cy="256032"/>
          </a:xfrm>
          <a:prstGeom prst="rect">
            <a:avLst/>
          </a:prstGeom>
          <a:noFill/>
        </p:spPr>
        <p:txBody>
          <a:bodyPr wrap="square" lIns="9144" tIns="0" rIns="9144" bIns="0" anchor="ctr">
            <a:spAutoFit/>
          </a:bodyPr>
          <a:lstStyle/>
          <a:p>
            <a:pPr algn="ctr"/>
            <a:r>
              <a:rPr sz="700" b="0">
                <a:solidFill>
                  <a:srgbClr val="FFFFFF"/>
                </a:solidFill>
                <a:latin typeface="Calibri"/>
              </a:rPr>
              <a:t>6  Adapted Sim</a:t>
            </a:r>
          </a:p>
        </p:txBody>
      </p:sp>
      <p:sp>
        <p:nvSpPr>
          <p:cNvPr id="17" name="Rectangle 16"/>
          <p:cNvSpPr/>
          <p:nvPr/>
        </p:nvSpPr>
        <p:spPr>
          <a:xfrm>
            <a:off x="6911557" y="4041648"/>
            <a:ext cx="869986" cy="256032"/>
          </a:xfrm>
          <a:prstGeom prst="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6911557" y="4041648"/>
            <a:ext cx="869986" cy="256032"/>
          </a:xfrm>
          <a:prstGeom prst="rect">
            <a:avLst/>
          </a:prstGeom>
          <a:noFill/>
        </p:spPr>
        <p:txBody>
          <a:bodyPr wrap="square" lIns="9144" tIns="0" rIns="9144" bIns="0" anchor="ctr">
            <a:spAutoFit/>
          </a:bodyPr>
          <a:lstStyle/>
          <a:p>
            <a:pPr algn="ctr"/>
            <a:r>
              <a:rPr sz="700" b="0">
                <a:solidFill>
                  <a:srgbClr val="FFFFFF"/>
                </a:solidFill>
                <a:latin typeface="Calibri"/>
              </a:rPr>
              <a:t>7  Metrics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sz="2200">
                <a:solidFill>
                  <a:srgbClr val="8C1515"/>
                </a:solidFill>
                <a:latin typeface="Georgia"/>
              </a:rPr>
              <a:t>Structured-tree geometry and scaling</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VALIDATED</a:t>
            </a:r>
          </a:p>
        </p:txBody>
      </p:sp>
      <p:pic>
        <p:nvPicPr>
          <p:cNvPr id="19" name="Picture 18" descr="schematic_tree_geometry.png"/>
          <p:cNvPicPr>
            <a:picLocks noChangeAspect="1"/>
          </p:cNvPicPr>
          <p:nvPr/>
        </p:nvPicPr>
        <p:blipFill>
          <a:blip r:embed="rId2"/>
          <a:stretch>
            <a:fillRect/>
          </a:stretch>
        </p:blipFill>
        <p:spPr>
          <a:xfrm>
            <a:off x="472150" y="1371600"/>
            <a:ext cx="5227899" cy="3383280"/>
          </a:xfrm>
          <a:prstGeom prst="rect">
            <a:avLst/>
          </a:prstGeom>
        </p:spPr>
      </p:pic>
      <p:sp>
        <p:nvSpPr>
          <p:cNvPr id="20" name="Rectangle 19"/>
          <p:cNvSpPr/>
          <p:nvPr/>
        </p:nvSpPr>
        <p:spPr>
          <a:xfrm>
            <a:off x="5989320" y="1371600"/>
            <a:ext cx="2834640" cy="1627632"/>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6117336" y="1472184"/>
            <a:ext cx="2578608" cy="219456"/>
          </a:xfrm>
          <a:prstGeom prst="rect">
            <a:avLst/>
          </a:prstGeom>
          <a:noFill/>
        </p:spPr>
        <p:txBody>
          <a:bodyPr wrap="square" lIns="27432" tIns="0" rIns="27432" bIns="0" anchor="t">
            <a:spAutoFit/>
          </a:bodyPr>
          <a:lstStyle/>
          <a:p>
            <a:pPr algn="l"/>
            <a:r>
              <a:rPr sz="1100" b="1" i="0">
                <a:solidFill>
                  <a:srgbClr val="8C1515"/>
                </a:solidFill>
                <a:latin typeface="Calibri"/>
              </a:rPr>
              <a:t>Construction rule</a:t>
            </a:r>
          </a:p>
        </p:txBody>
      </p:sp>
      <p:sp>
        <p:nvSpPr>
          <p:cNvPr id="22" name="TextBox 21"/>
          <p:cNvSpPr txBox="1"/>
          <p:nvPr/>
        </p:nvSpPr>
        <p:spPr>
          <a:xfrm>
            <a:off x="6117336" y="1746504"/>
            <a:ext cx="2578608" cy="1216152"/>
          </a:xfrm>
          <a:prstGeom prst="rect">
            <a:avLst/>
          </a:prstGeom>
          <a:noFill/>
        </p:spPr>
        <p:txBody>
          <a:bodyPr wrap="square" lIns="27432" tIns="0" rIns="27432" bIns="0">
            <a:spAutoFit/>
          </a:bodyPr>
          <a:lstStyle/>
          <a:p>
            <a:pPr>
              <a:spcAft>
                <a:spcPts val="350"/>
              </a:spcAft>
            </a:pPr>
            <a:r>
              <a:rPr sz="900">
                <a:solidFill>
                  <a:srgbClr val="8C1515"/>
                </a:solidFill>
                <a:latin typeface="Calibri"/>
              </a:rPr>
              <a:t>• </a:t>
            </a:r>
            <a:r>
              <a:rPr sz="900">
                <a:solidFill>
                  <a:srgbClr val="2E2D29"/>
                </a:solidFill>
                <a:latin typeface="Calibri"/>
              </a:rPr>
              <a:t>Each vessel bifurcates into daughters of diameter αd and βd</a:t>
            </a:r>
          </a:p>
          <a:p>
            <a:pPr>
              <a:spcAft>
                <a:spcPts val="350"/>
              </a:spcAft>
            </a:pPr>
            <a:r>
              <a:rPr sz="900">
                <a:solidFill>
                  <a:srgbClr val="8C1515"/>
                </a:solidFill>
                <a:latin typeface="Calibri"/>
              </a:rPr>
              <a:t>• </a:t>
            </a:r>
            <a:r>
              <a:rPr sz="900">
                <a:solidFill>
                  <a:srgbClr val="2E2D29"/>
                </a:solidFill>
                <a:latin typeface="Calibri"/>
              </a:rPr>
              <a:t>ξ sets how fast the tree tapers; η = α/β sets asymmetry</a:t>
            </a:r>
          </a:p>
          <a:p>
            <a:pPr>
              <a:spcAft>
                <a:spcPts val="350"/>
              </a:spcAft>
            </a:pPr>
            <a:r>
              <a:rPr sz="900">
                <a:solidFill>
                  <a:srgbClr val="8C1515"/>
                </a:solidFill>
                <a:latin typeface="Calibri"/>
              </a:rPr>
              <a:t>• </a:t>
            </a:r>
            <a:r>
              <a:rPr sz="900">
                <a:solidFill>
                  <a:srgbClr val="2E2D29"/>
                </a:solidFill>
                <a:latin typeface="Calibri"/>
              </a:rPr>
              <a:t>Recursion stops when diameter falls below d_min</a:t>
            </a:r>
          </a:p>
        </p:txBody>
      </p:sp>
      <p:sp>
        <p:nvSpPr>
          <p:cNvPr id="23" name="Rectangle 22"/>
          <p:cNvSpPr/>
          <p:nvPr/>
        </p:nvSpPr>
        <p:spPr>
          <a:xfrm>
            <a:off x="5989320" y="3127248"/>
            <a:ext cx="2834640" cy="1627632"/>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6117336" y="3227832"/>
            <a:ext cx="2578608" cy="219456"/>
          </a:xfrm>
          <a:prstGeom prst="rect">
            <a:avLst/>
          </a:prstGeom>
          <a:noFill/>
        </p:spPr>
        <p:txBody>
          <a:bodyPr wrap="square" lIns="27432" tIns="0" rIns="27432" bIns="0" anchor="t">
            <a:spAutoFit/>
          </a:bodyPr>
          <a:lstStyle/>
          <a:p>
            <a:pPr algn="l"/>
            <a:r>
              <a:rPr sz="1100" b="1" i="0">
                <a:solidFill>
                  <a:srgbClr val="8C1515"/>
                </a:solidFill>
                <a:latin typeface="Calibri"/>
              </a:rPr>
              <a:t>Terminal condition</a:t>
            </a:r>
          </a:p>
        </p:txBody>
      </p:sp>
      <p:sp>
        <p:nvSpPr>
          <p:cNvPr id="25" name="TextBox 24"/>
          <p:cNvSpPr txBox="1"/>
          <p:nvPr/>
        </p:nvSpPr>
        <p:spPr>
          <a:xfrm>
            <a:off x="6117336" y="3502151"/>
            <a:ext cx="2578608" cy="1216152"/>
          </a:xfrm>
          <a:prstGeom prst="rect">
            <a:avLst/>
          </a:prstGeom>
          <a:noFill/>
        </p:spPr>
        <p:txBody>
          <a:bodyPr wrap="square" lIns="27432" tIns="0" rIns="27432" bIns="0">
            <a:spAutoFit/>
          </a:bodyPr>
          <a:lstStyle/>
          <a:p>
            <a:pPr>
              <a:spcAft>
                <a:spcPts val="350"/>
              </a:spcAft>
            </a:pPr>
            <a:r>
              <a:rPr sz="900">
                <a:solidFill>
                  <a:srgbClr val="8C1515"/>
                </a:solidFill>
                <a:latin typeface="Calibri"/>
              </a:rPr>
              <a:t>• </a:t>
            </a:r>
            <a:r>
              <a:rPr sz="900">
                <a:solidFill>
                  <a:srgbClr val="2E2D29"/>
                </a:solidFill>
                <a:latin typeface="Calibri"/>
              </a:rPr>
              <a:t>Terminal vessels are assigned P = PCWP, measured at catheterization</a:t>
            </a:r>
          </a:p>
          <a:p>
            <a:pPr>
              <a:spcAft>
                <a:spcPts val="350"/>
              </a:spcAft>
            </a:pPr>
            <a:r>
              <a:rPr sz="900">
                <a:solidFill>
                  <a:srgbClr val="8C1515"/>
                </a:solidFill>
                <a:latin typeface="Calibri"/>
              </a:rPr>
              <a:t>• </a:t>
            </a:r>
            <a:r>
              <a:rPr sz="900">
                <a:solidFill>
                  <a:srgbClr val="2E2D29"/>
                </a:solidFill>
                <a:latin typeface="Calibri"/>
              </a:rPr>
              <a:t>Length of each vessel is set by the length-to-radius ratio l_rr</a:t>
            </a:r>
          </a:p>
        </p:txBody>
      </p:sp>
      <p:sp>
        <p:nvSpPr>
          <p:cNvPr id="26" name="Rectangle 25"/>
          <p:cNvSpPr/>
          <p:nvPr/>
        </p:nvSpPr>
        <p:spPr>
          <a:xfrm>
            <a:off x="320040" y="4882896"/>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429768" y="4882896"/>
            <a:ext cx="8284464" cy="310896"/>
          </a:xfrm>
          <a:prstGeom prst="rect">
            <a:avLst/>
          </a:prstGeom>
          <a:noFill/>
        </p:spPr>
        <p:txBody>
          <a:bodyPr wrap="square" lIns="27432" tIns="0" rIns="27432" bIns="0" anchor="ctr">
            <a:spAutoFit/>
          </a:bodyPr>
          <a:lstStyle/>
          <a:p>
            <a:pPr algn="l"/>
            <a:r>
              <a:rPr sz="1000" b="1" i="0">
                <a:solidFill>
                  <a:srgbClr val="8C1515"/>
                </a:solidFill>
                <a:latin typeface="Calibri"/>
              </a:rPr>
              <a:t>Two shape parameters per side (ξ, η) plus a compliance parameter describe the entire distal bed.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sz="2200">
                <a:solidFill>
                  <a:srgbClr val="8C1515"/>
                </a:solidFill>
                <a:latin typeface="Georgia"/>
              </a:rPr>
              <a:t>From tree geometry to an impedance boundary condition</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VALIDATED</a:t>
            </a:r>
          </a:p>
        </p:txBody>
      </p:sp>
      <p:sp>
        <p:nvSpPr>
          <p:cNvPr id="19" name="Rectangle 18"/>
          <p:cNvSpPr/>
          <p:nvPr/>
        </p:nvSpPr>
        <p:spPr>
          <a:xfrm>
            <a:off x="320040" y="1444752"/>
            <a:ext cx="1933956" cy="1170432"/>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411479" y="1554480"/>
            <a:ext cx="1751076" cy="237744"/>
          </a:xfrm>
          <a:prstGeom prst="rect">
            <a:avLst/>
          </a:prstGeom>
          <a:noFill/>
        </p:spPr>
        <p:txBody>
          <a:bodyPr wrap="square" lIns="27432" tIns="0" rIns="27432" bIns="0" anchor="t">
            <a:spAutoFit/>
          </a:bodyPr>
          <a:lstStyle/>
          <a:p>
            <a:pPr algn="l"/>
            <a:r>
              <a:rPr sz="1050" b="1" i="0">
                <a:solidFill>
                  <a:srgbClr val="8C1515"/>
                </a:solidFill>
                <a:latin typeface="Calibri"/>
              </a:rPr>
              <a:t>Linearize</a:t>
            </a:r>
          </a:p>
        </p:txBody>
      </p:sp>
      <p:sp>
        <p:nvSpPr>
          <p:cNvPr id="21" name="TextBox 20"/>
          <p:cNvSpPr txBox="1"/>
          <p:nvPr/>
        </p:nvSpPr>
        <p:spPr>
          <a:xfrm>
            <a:off x="411479" y="1847088"/>
            <a:ext cx="1751076" cy="713232"/>
          </a:xfrm>
          <a:prstGeom prst="rect">
            <a:avLst/>
          </a:prstGeom>
          <a:noFill/>
        </p:spPr>
        <p:txBody>
          <a:bodyPr wrap="square" lIns="27432" tIns="0" rIns="27432" bIns="0" anchor="t">
            <a:spAutoFit/>
          </a:bodyPr>
          <a:lstStyle/>
          <a:p>
            <a:pPr algn="l">
              <a:lnSpc>
                <a:spcPct val="112000"/>
              </a:lnSpc>
            </a:pPr>
            <a:r>
              <a:rPr sz="850" b="0" i="0">
                <a:solidFill>
                  <a:srgbClr val="2E2D29"/>
                </a:solidFill>
                <a:latin typeface="Calibri"/>
              </a:rPr>
              <a:t>Navier–Stokes in each vessel,</a:t>
            </a:r>
          </a:p>
          <a:p>
            <a:pPr algn="l">
              <a:lnSpc>
                <a:spcPct val="112000"/>
              </a:lnSpc>
            </a:pPr>
            <a:r>
              <a:rPr sz="850" b="0" i="0">
                <a:solidFill>
                  <a:srgbClr val="2E2D29"/>
                </a:solidFill>
                <a:latin typeface="Calibri"/>
              </a:rPr>
              <a:t>Womersley solution per frequency</a:t>
            </a:r>
          </a:p>
        </p:txBody>
      </p:sp>
      <p:sp>
        <p:nvSpPr>
          <p:cNvPr id="22" name="Right Arrow 21"/>
          <p:cNvSpPr/>
          <p:nvPr/>
        </p:nvSpPr>
        <p:spPr>
          <a:xfrm>
            <a:off x="2299716" y="1920240"/>
            <a:ext cx="164592" cy="182880"/>
          </a:xfrm>
          <a:prstGeom prst="rightArrow">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2510028" y="1444752"/>
            <a:ext cx="1933956" cy="1170432"/>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2601468" y="1554480"/>
            <a:ext cx="1751076" cy="237744"/>
          </a:xfrm>
          <a:prstGeom prst="rect">
            <a:avLst/>
          </a:prstGeom>
          <a:noFill/>
        </p:spPr>
        <p:txBody>
          <a:bodyPr wrap="square" lIns="27432" tIns="0" rIns="27432" bIns="0" anchor="t">
            <a:spAutoFit/>
          </a:bodyPr>
          <a:lstStyle/>
          <a:p>
            <a:pPr algn="l"/>
            <a:r>
              <a:rPr sz="1050" b="1" i="0">
                <a:solidFill>
                  <a:srgbClr val="8C1515"/>
                </a:solidFill>
                <a:latin typeface="Calibri"/>
              </a:rPr>
              <a:t>Vessel impedance</a:t>
            </a:r>
          </a:p>
        </p:txBody>
      </p:sp>
      <p:sp>
        <p:nvSpPr>
          <p:cNvPr id="25" name="TextBox 24"/>
          <p:cNvSpPr txBox="1"/>
          <p:nvPr/>
        </p:nvSpPr>
        <p:spPr>
          <a:xfrm>
            <a:off x="2601468" y="1847088"/>
            <a:ext cx="1751076" cy="713232"/>
          </a:xfrm>
          <a:prstGeom prst="rect">
            <a:avLst/>
          </a:prstGeom>
          <a:noFill/>
        </p:spPr>
        <p:txBody>
          <a:bodyPr wrap="square" lIns="27432" tIns="0" rIns="27432" bIns="0" anchor="t">
            <a:spAutoFit/>
          </a:bodyPr>
          <a:lstStyle/>
          <a:p>
            <a:pPr algn="l">
              <a:lnSpc>
                <a:spcPct val="112000"/>
              </a:lnSpc>
            </a:pPr>
            <a:r>
              <a:rPr sz="850" b="0" i="0">
                <a:solidFill>
                  <a:srgbClr val="2E2D29"/>
                </a:solidFill>
                <a:latin typeface="Calibri"/>
              </a:rPr>
              <a:t>Wave speed and impedance</a:t>
            </a:r>
          </a:p>
          <a:p>
            <a:pPr algn="l">
              <a:lnSpc>
                <a:spcPct val="112000"/>
              </a:lnSpc>
            </a:pPr>
            <a:r>
              <a:rPr sz="850" b="0" i="0">
                <a:solidFill>
                  <a:srgbClr val="2E2D29"/>
                </a:solidFill>
                <a:latin typeface="Calibri"/>
              </a:rPr>
              <a:t>from radius and wall compliance</a:t>
            </a:r>
          </a:p>
        </p:txBody>
      </p:sp>
      <p:sp>
        <p:nvSpPr>
          <p:cNvPr id="26" name="Right Arrow 25"/>
          <p:cNvSpPr/>
          <p:nvPr/>
        </p:nvSpPr>
        <p:spPr>
          <a:xfrm>
            <a:off x="4489704" y="1920240"/>
            <a:ext cx="164592" cy="182880"/>
          </a:xfrm>
          <a:prstGeom prst="rightArrow">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4700016" y="1444752"/>
            <a:ext cx="1933956" cy="1170432"/>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4791456" y="1554480"/>
            <a:ext cx="1751076" cy="237744"/>
          </a:xfrm>
          <a:prstGeom prst="rect">
            <a:avLst/>
          </a:prstGeom>
          <a:noFill/>
        </p:spPr>
        <p:txBody>
          <a:bodyPr wrap="square" lIns="27432" tIns="0" rIns="27432" bIns="0" anchor="t">
            <a:spAutoFit/>
          </a:bodyPr>
          <a:lstStyle/>
          <a:p>
            <a:pPr algn="l"/>
            <a:r>
              <a:rPr sz="1050" b="1" i="0">
                <a:solidFill>
                  <a:srgbClr val="8C1515"/>
                </a:solidFill>
                <a:latin typeface="Calibri"/>
              </a:rPr>
              <a:t>Recurse</a:t>
            </a:r>
          </a:p>
        </p:txBody>
      </p:sp>
      <p:sp>
        <p:nvSpPr>
          <p:cNvPr id="29" name="TextBox 28"/>
          <p:cNvSpPr txBox="1"/>
          <p:nvPr/>
        </p:nvSpPr>
        <p:spPr>
          <a:xfrm>
            <a:off x="4791456" y="1847088"/>
            <a:ext cx="1751076" cy="713232"/>
          </a:xfrm>
          <a:prstGeom prst="rect">
            <a:avLst/>
          </a:prstGeom>
          <a:noFill/>
        </p:spPr>
        <p:txBody>
          <a:bodyPr wrap="square" lIns="27432" tIns="0" rIns="27432" bIns="0" anchor="t">
            <a:spAutoFit/>
          </a:bodyPr>
          <a:lstStyle/>
          <a:p>
            <a:pPr algn="l">
              <a:lnSpc>
                <a:spcPct val="112000"/>
              </a:lnSpc>
            </a:pPr>
            <a:r>
              <a:rPr sz="850" b="0" i="0">
                <a:solidFill>
                  <a:srgbClr val="2E2D29"/>
                </a:solidFill>
                <a:latin typeface="Calibri"/>
              </a:rPr>
              <a:t>Combine daughter impedances</a:t>
            </a:r>
          </a:p>
          <a:p>
            <a:pPr algn="l">
              <a:lnSpc>
                <a:spcPct val="112000"/>
              </a:lnSpc>
            </a:pPr>
            <a:r>
              <a:rPr sz="850" b="0" i="0">
                <a:solidFill>
                  <a:srgbClr val="2E2D29"/>
                </a:solidFill>
                <a:latin typeface="Calibri"/>
              </a:rPr>
              <a:t>up to the tree root</a:t>
            </a:r>
          </a:p>
        </p:txBody>
      </p:sp>
      <p:sp>
        <p:nvSpPr>
          <p:cNvPr id="30" name="Right Arrow 29"/>
          <p:cNvSpPr/>
          <p:nvPr/>
        </p:nvSpPr>
        <p:spPr>
          <a:xfrm>
            <a:off x="6679692" y="1920240"/>
            <a:ext cx="164592" cy="182880"/>
          </a:xfrm>
          <a:prstGeom prst="rightArrow">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890004" y="1444752"/>
            <a:ext cx="1933956" cy="1170432"/>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6981444" y="1554480"/>
            <a:ext cx="1751076" cy="237744"/>
          </a:xfrm>
          <a:prstGeom prst="rect">
            <a:avLst/>
          </a:prstGeom>
          <a:noFill/>
        </p:spPr>
        <p:txBody>
          <a:bodyPr wrap="square" lIns="27432" tIns="0" rIns="27432" bIns="0" anchor="t">
            <a:spAutoFit/>
          </a:bodyPr>
          <a:lstStyle/>
          <a:p>
            <a:pPr algn="l"/>
            <a:r>
              <a:rPr sz="1050" b="1" i="0">
                <a:solidFill>
                  <a:srgbClr val="8C1515"/>
                </a:solidFill>
                <a:latin typeface="Calibri"/>
              </a:rPr>
              <a:t>Inverse FFT</a:t>
            </a:r>
          </a:p>
        </p:txBody>
      </p:sp>
      <p:sp>
        <p:nvSpPr>
          <p:cNvPr id="33" name="TextBox 32"/>
          <p:cNvSpPr txBox="1"/>
          <p:nvPr/>
        </p:nvSpPr>
        <p:spPr>
          <a:xfrm>
            <a:off x="6981444" y="1847088"/>
            <a:ext cx="1751076" cy="713232"/>
          </a:xfrm>
          <a:prstGeom prst="rect">
            <a:avLst/>
          </a:prstGeom>
          <a:noFill/>
        </p:spPr>
        <p:txBody>
          <a:bodyPr wrap="square" lIns="27432" tIns="0" rIns="27432" bIns="0" anchor="t">
            <a:spAutoFit/>
          </a:bodyPr>
          <a:lstStyle/>
          <a:p>
            <a:pPr algn="l">
              <a:lnSpc>
                <a:spcPct val="112000"/>
              </a:lnSpc>
            </a:pPr>
            <a:r>
              <a:rPr sz="850" b="0" i="0">
                <a:solidFill>
                  <a:srgbClr val="2E2D29"/>
                </a:solidFill>
                <a:latin typeface="Calibri"/>
              </a:rPr>
              <a:t>Root impedance returned to the</a:t>
            </a:r>
          </a:p>
          <a:p>
            <a:pPr algn="l">
              <a:lnSpc>
                <a:spcPct val="112000"/>
              </a:lnSpc>
            </a:pPr>
            <a:r>
              <a:rPr sz="850" b="0" i="0">
                <a:solidFill>
                  <a:srgbClr val="2E2D29"/>
                </a:solidFill>
                <a:latin typeface="Calibri"/>
              </a:rPr>
              <a:t>time domain as an outlet BC</a:t>
            </a:r>
          </a:p>
        </p:txBody>
      </p:sp>
      <p:sp>
        <p:nvSpPr>
          <p:cNvPr id="34" name="Rectangle 33"/>
          <p:cNvSpPr/>
          <p:nvPr/>
        </p:nvSpPr>
        <p:spPr>
          <a:xfrm>
            <a:off x="320040" y="2798064"/>
            <a:ext cx="4160520" cy="141732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448056" y="2898648"/>
            <a:ext cx="3904487" cy="219456"/>
          </a:xfrm>
          <a:prstGeom prst="rect">
            <a:avLst/>
          </a:prstGeom>
          <a:noFill/>
        </p:spPr>
        <p:txBody>
          <a:bodyPr wrap="square" lIns="27432" tIns="0" rIns="27432" bIns="0" anchor="t">
            <a:spAutoFit/>
          </a:bodyPr>
          <a:lstStyle/>
          <a:p>
            <a:pPr algn="l"/>
            <a:r>
              <a:rPr sz="1100" b="1" i="0">
                <a:solidFill>
                  <a:srgbClr val="8C1515"/>
                </a:solidFill>
                <a:latin typeface="Calibri"/>
              </a:rPr>
              <a:t>Wall compliance model</a:t>
            </a:r>
          </a:p>
        </p:txBody>
      </p:sp>
      <p:sp>
        <p:nvSpPr>
          <p:cNvPr id="36" name="TextBox 35"/>
          <p:cNvSpPr txBox="1"/>
          <p:nvPr/>
        </p:nvSpPr>
        <p:spPr>
          <a:xfrm>
            <a:off x="448056" y="3172968"/>
            <a:ext cx="3904487" cy="1005840"/>
          </a:xfrm>
          <a:prstGeom prst="rect">
            <a:avLst/>
          </a:prstGeom>
          <a:noFill/>
        </p:spPr>
        <p:txBody>
          <a:bodyPr wrap="square" lIns="27432" tIns="0" rIns="27432" bIns="0">
            <a:spAutoFit/>
          </a:bodyPr>
          <a:lstStyle/>
          <a:p>
            <a:pPr>
              <a:spcAft>
                <a:spcPts val="350"/>
              </a:spcAft>
            </a:pPr>
            <a:r>
              <a:rPr sz="900">
                <a:solidFill>
                  <a:srgbClr val="8C1515"/>
                </a:solidFill>
                <a:latin typeface="Calibri"/>
              </a:rPr>
              <a:t>• </a:t>
            </a:r>
            <a:r>
              <a:rPr sz="900">
                <a:solidFill>
                  <a:srgbClr val="2E2D29"/>
                </a:solidFill>
                <a:latin typeface="Calibri"/>
              </a:rPr>
              <a:t>Eh/r₀ = k₁ exp(k₂r₀) + k₃, with k₁ and k₃ held fixed</a:t>
            </a:r>
          </a:p>
          <a:p>
            <a:pPr>
              <a:spcAft>
                <a:spcPts val="350"/>
              </a:spcAft>
            </a:pPr>
            <a:r>
              <a:rPr sz="900">
                <a:solidFill>
                  <a:srgbClr val="8C1515"/>
                </a:solidFill>
                <a:latin typeface="Calibri"/>
              </a:rPr>
              <a:t>• </a:t>
            </a:r>
            <a:r>
              <a:rPr sz="900">
                <a:solidFill>
                  <a:srgbClr val="2E2D29"/>
                </a:solidFill>
                <a:latin typeface="Calibri"/>
              </a:rPr>
              <a:t>k₂ is the only compliance degree of freedom, tied across LPA and RPA</a:t>
            </a:r>
          </a:p>
          <a:p>
            <a:pPr>
              <a:spcAft>
                <a:spcPts val="350"/>
              </a:spcAft>
            </a:pPr>
            <a:r>
              <a:rPr sz="900">
                <a:solidFill>
                  <a:srgbClr val="8C1515"/>
                </a:solidFill>
                <a:latin typeface="Calibri"/>
              </a:rPr>
              <a:t>• </a:t>
            </a:r>
            <a:r>
              <a:rPr sz="900">
                <a:solidFill>
                  <a:srgbClr val="2E2D29"/>
                </a:solidFill>
                <a:latin typeface="Calibri"/>
              </a:rPr>
              <a:t>Sensitivity studies place stiffness first, then asymmetry</a:t>
            </a:r>
          </a:p>
        </p:txBody>
      </p:sp>
      <p:sp>
        <p:nvSpPr>
          <p:cNvPr id="37" name="Rectangle 36"/>
          <p:cNvSpPr/>
          <p:nvPr/>
        </p:nvSpPr>
        <p:spPr>
          <a:xfrm>
            <a:off x="4663440" y="2798064"/>
            <a:ext cx="4160520" cy="141732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4791455" y="2898648"/>
            <a:ext cx="3904487" cy="219456"/>
          </a:xfrm>
          <a:prstGeom prst="rect">
            <a:avLst/>
          </a:prstGeom>
          <a:noFill/>
        </p:spPr>
        <p:txBody>
          <a:bodyPr wrap="square" lIns="27432" tIns="0" rIns="27432" bIns="0" anchor="t">
            <a:spAutoFit/>
          </a:bodyPr>
          <a:lstStyle/>
          <a:p>
            <a:pPr algn="l"/>
            <a:r>
              <a:rPr sz="1100" b="1" i="0">
                <a:solidFill>
                  <a:srgbClr val="8C1515"/>
                </a:solidFill>
                <a:latin typeface="Calibri"/>
              </a:rPr>
              <a:t>3D–0D coupling</a:t>
            </a:r>
          </a:p>
        </p:txBody>
      </p:sp>
      <p:sp>
        <p:nvSpPr>
          <p:cNvPr id="39" name="TextBox 38"/>
          <p:cNvSpPr txBox="1"/>
          <p:nvPr/>
        </p:nvSpPr>
        <p:spPr>
          <a:xfrm>
            <a:off x="4791455" y="3172968"/>
            <a:ext cx="3904487" cy="1005840"/>
          </a:xfrm>
          <a:prstGeom prst="rect">
            <a:avLst/>
          </a:prstGeom>
          <a:noFill/>
        </p:spPr>
        <p:txBody>
          <a:bodyPr wrap="square" lIns="27432" tIns="0" rIns="27432" bIns="0">
            <a:spAutoFit/>
          </a:bodyPr>
          <a:lstStyle/>
          <a:p>
            <a:pPr>
              <a:spcAft>
                <a:spcPts val="350"/>
              </a:spcAft>
            </a:pPr>
            <a:r>
              <a:rPr sz="900">
                <a:solidFill>
                  <a:srgbClr val="8C1515"/>
                </a:solidFill>
                <a:latin typeface="Calibri"/>
              </a:rPr>
              <a:t>• </a:t>
            </a:r>
            <a:r>
              <a:rPr sz="900">
                <a:solidFill>
                  <a:srgbClr val="2E2D29"/>
                </a:solidFill>
                <a:latin typeface="Calibri"/>
              </a:rPr>
              <a:t>Impedance BCs are applied through svZeroDSolver coupled to svMultiPhysics</a:t>
            </a:r>
          </a:p>
          <a:p>
            <a:pPr>
              <a:spcAft>
                <a:spcPts val="350"/>
              </a:spcAft>
            </a:pPr>
            <a:r>
              <a:rPr sz="900">
                <a:solidFill>
                  <a:srgbClr val="8C1515"/>
                </a:solidFill>
                <a:latin typeface="Calibri"/>
              </a:rPr>
              <a:t>• </a:t>
            </a:r>
            <a:r>
              <a:rPr sz="900">
                <a:solidFill>
                  <a:srgbClr val="2E2D29"/>
                </a:solidFill>
                <a:latin typeface="Calibri"/>
              </a:rPr>
              <a:t>The coupler retains the flow history over the last cardiac period for the convolution</a:t>
            </a:r>
          </a:p>
          <a:p>
            <a:pPr>
              <a:spcAft>
                <a:spcPts val="350"/>
              </a:spcAft>
            </a:pPr>
            <a:r>
              <a:rPr sz="900">
                <a:solidFill>
                  <a:srgbClr val="8C1515"/>
                </a:solidFill>
                <a:latin typeface="Calibri"/>
              </a:rPr>
              <a:t>• </a:t>
            </a:r>
            <a:r>
              <a:rPr sz="900">
                <a:solidFill>
                  <a:srgbClr val="2E2D29"/>
                </a:solidFill>
                <a:latin typeface="Calibri"/>
              </a:rPr>
              <a:t>Z[0] enters the constant global system, which is what made the coupling robust</a:t>
            </a:r>
          </a:p>
        </p:txBody>
      </p:sp>
      <p:sp>
        <p:nvSpPr>
          <p:cNvPr id="40" name="Rectangle 39"/>
          <p:cNvSpPr/>
          <p:nvPr/>
        </p:nvSpPr>
        <p:spPr>
          <a:xfrm>
            <a:off x="320040" y="4407408"/>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429768" y="4407408"/>
            <a:ext cx="8284464" cy="310896"/>
          </a:xfrm>
          <a:prstGeom prst="rect">
            <a:avLst/>
          </a:prstGeom>
          <a:noFill/>
        </p:spPr>
        <p:txBody>
          <a:bodyPr wrap="square" lIns="27432" tIns="0" rIns="27432" bIns="0" anchor="ctr">
            <a:spAutoFit/>
          </a:bodyPr>
          <a:lstStyle/>
          <a:p>
            <a:pPr algn="l"/>
            <a:r>
              <a:rPr sz="1000" b="1" i="0">
                <a:solidFill>
                  <a:srgbClr val="8C1515"/>
                </a:solidFill>
                <a:latin typeface="Calibri"/>
              </a:rPr>
              <a:t>The tree is evaluated as a frequency-domain impedance — never as a resolved 0D network at run time.</a:t>
            </a:r>
          </a:p>
        </p:txBody>
      </p:sp>
      <p:sp>
        <p:nvSpPr>
          <p:cNvPr id="42" name="TextBox 41"/>
          <p:cNvSpPr txBox="1"/>
          <p:nvPr/>
        </p:nvSpPr>
        <p:spPr>
          <a:xfrm>
            <a:off x="2011680" y="5376672"/>
            <a:ext cx="6812280" cy="201168"/>
          </a:xfrm>
          <a:prstGeom prst="rect">
            <a:avLst/>
          </a:prstGeom>
          <a:noFill/>
        </p:spPr>
        <p:txBody>
          <a:bodyPr wrap="square" lIns="27432" tIns="0" rIns="27432" bIns="0" anchor="t">
            <a:spAutoFit/>
          </a:bodyPr>
          <a:lstStyle/>
          <a:p>
            <a:pPr algn="l"/>
            <a:r>
              <a:rPr sz="700" b="0" i="1">
                <a:solidFill>
                  <a:srgbClr val="6B6965"/>
                </a:solidFill>
                <a:latin typeface="Calibri"/>
              </a:rPr>
              <a:t>Formulation after Olufsen, Ann Biomed Eng (1999, 2000); sensitivity from LaPole &amp; Olufsen.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sz="2200">
                <a:solidFill>
                  <a:srgbClr val="8C1515"/>
                </a:solidFill>
                <a:latin typeface="Georgia"/>
              </a:rPr>
              <a:t>Fixed and tuned parameters</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IN DEVELOPMENT</a:t>
            </a:r>
          </a:p>
        </p:txBody>
      </p:sp>
      <p:sp>
        <p:nvSpPr>
          <p:cNvPr id="19" name="TextBox 18"/>
          <p:cNvSpPr txBox="1"/>
          <p:nvPr/>
        </p:nvSpPr>
        <p:spPr>
          <a:xfrm>
            <a:off x="320040" y="1426464"/>
            <a:ext cx="4160520" cy="201168"/>
          </a:xfrm>
          <a:prstGeom prst="rect">
            <a:avLst/>
          </a:prstGeom>
          <a:noFill/>
        </p:spPr>
        <p:txBody>
          <a:bodyPr wrap="square" lIns="27432" tIns="0" rIns="27432" bIns="0" anchor="t">
            <a:spAutoFit/>
          </a:bodyPr>
          <a:lstStyle/>
          <a:p>
            <a:pPr algn="l"/>
            <a:r>
              <a:rPr sz="950" b="1" i="0">
                <a:solidFill>
                  <a:srgbClr val="6B6965"/>
                </a:solidFill>
                <a:latin typeface="Calibri"/>
              </a:rPr>
              <a:t>Fixed</a:t>
            </a:r>
          </a:p>
        </p:txBody>
      </p:sp>
      <p:sp>
        <p:nvSpPr>
          <p:cNvPr id="20" name="Rectangle 19"/>
          <p:cNvSpPr/>
          <p:nvPr/>
        </p:nvSpPr>
        <p:spPr>
          <a:xfrm>
            <a:off x="320040" y="1700784"/>
            <a:ext cx="4160520" cy="24688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393192" y="1700784"/>
            <a:ext cx="1323136" cy="246888"/>
          </a:xfrm>
          <a:prstGeom prst="rect">
            <a:avLst/>
          </a:prstGeom>
          <a:noFill/>
        </p:spPr>
        <p:txBody>
          <a:bodyPr wrap="square" lIns="27432" tIns="0" rIns="27432" bIns="0" anchor="ctr">
            <a:spAutoFit/>
          </a:bodyPr>
          <a:lstStyle/>
          <a:p>
            <a:pPr algn="l"/>
            <a:r>
              <a:rPr sz="950" b="1" i="0">
                <a:solidFill>
                  <a:srgbClr val="2E2D29"/>
                </a:solidFill>
                <a:latin typeface="Consolas"/>
              </a:rPr>
              <a:t>k₁</a:t>
            </a:r>
          </a:p>
        </p:txBody>
      </p:sp>
      <p:sp>
        <p:nvSpPr>
          <p:cNvPr id="22" name="TextBox 21"/>
          <p:cNvSpPr txBox="1"/>
          <p:nvPr/>
        </p:nvSpPr>
        <p:spPr>
          <a:xfrm>
            <a:off x="1734616" y="1700784"/>
            <a:ext cx="2672791" cy="246888"/>
          </a:xfrm>
          <a:prstGeom prst="rect">
            <a:avLst/>
          </a:prstGeom>
          <a:noFill/>
        </p:spPr>
        <p:txBody>
          <a:bodyPr wrap="square" lIns="27432" tIns="0" rIns="27432" bIns="0" anchor="ctr">
            <a:spAutoFit/>
          </a:bodyPr>
          <a:lstStyle/>
          <a:p>
            <a:pPr algn="l"/>
            <a:r>
              <a:rPr sz="950" b="0" i="0">
                <a:solidFill>
                  <a:srgbClr val="E98300"/>
                </a:solidFill>
                <a:latin typeface="Calibri"/>
              </a:rPr>
              <a:t>19,992,500.0 — under study (slides 35–41)</a:t>
            </a:r>
          </a:p>
        </p:txBody>
      </p:sp>
      <p:sp>
        <p:nvSpPr>
          <p:cNvPr id="23" name="TextBox 22"/>
          <p:cNvSpPr txBox="1"/>
          <p:nvPr/>
        </p:nvSpPr>
        <p:spPr>
          <a:xfrm>
            <a:off x="393192" y="1947672"/>
            <a:ext cx="1323136" cy="246888"/>
          </a:xfrm>
          <a:prstGeom prst="rect">
            <a:avLst/>
          </a:prstGeom>
          <a:noFill/>
        </p:spPr>
        <p:txBody>
          <a:bodyPr wrap="square" lIns="27432" tIns="0" rIns="27432" bIns="0" anchor="ctr">
            <a:spAutoFit/>
          </a:bodyPr>
          <a:lstStyle/>
          <a:p>
            <a:pPr algn="l"/>
            <a:r>
              <a:rPr sz="950" b="1" i="0">
                <a:solidFill>
                  <a:srgbClr val="2E2D29"/>
                </a:solidFill>
                <a:latin typeface="Consolas"/>
              </a:rPr>
              <a:t>k₃</a:t>
            </a:r>
          </a:p>
        </p:txBody>
      </p:sp>
      <p:sp>
        <p:nvSpPr>
          <p:cNvPr id="24" name="TextBox 23"/>
          <p:cNvSpPr txBox="1"/>
          <p:nvPr/>
        </p:nvSpPr>
        <p:spPr>
          <a:xfrm>
            <a:off x="1734616" y="1947672"/>
            <a:ext cx="2672791" cy="246888"/>
          </a:xfrm>
          <a:prstGeom prst="rect">
            <a:avLst/>
          </a:prstGeom>
          <a:noFill/>
        </p:spPr>
        <p:txBody>
          <a:bodyPr wrap="square" lIns="27432" tIns="0" rIns="27432" bIns="0" anchor="ctr">
            <a:spAutoFit/>
          </a:bodyPr>
          <a:lstStyle/>
          <a:p>
            <a:pPr algn="l"/>
            <a:r>
              <a:rPr sz="950" b="0" i="0">
                <a:solidFill>
                  <a:srgbClr val="E98300"/>
                </a:solidFill>
                <a:latin typeface="Calibri"/>
              </a:rPr>
              <a:t>0 — under study; literature value 10⁵</a:t>
            </a:r>
          </a:p>
        </p:txBody>
      </p:sp>
      <p:sp>
        <p:nvSpPr>
          <p:cNvPr id="25" name="Rectangle 24"/>
          <p:cNvSpPr/>
          <p:nvPr/>
        </p:nvSpPr>
        <p:spPr>
          <a:xfrm>
            <a:off x="320040" y="2194560"/>
            <a:ext cx="4160520" cy="24688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393192" y="2194560"/>
            <a:ext cx="1323136" cy="246888"/>
          </a:xfrm>
          <a:prstGeom prst="rect">
            <a:avLst/>
          </a:prstGeom>
          <a:noFill/>
        </p:spPr>
        <p:txBody>
          <a:bodyPr wrap="square" lIns="27432" tIns="0" rIns="27432" bIns="0" anchor="ctr">
            <a:spAutoFit/>
          </a:bodyPr>
          <a:lstStyle/>
          <a:p>
            <a:pPr algn="l"/>
            <a:r>
              <a:rPr sz="950" b="1" i="0">
                <a:solidFill>
                  <a:srgbClr val="2E2D29"/>
                </a:solidFill>
                <a:latin typeface="Consolas"/>
              </a:rPr>
              <a:t>l_rr</a:t>
            </a:r>
          </a:p>
        </p:txBody>
      </p:sp>
      <p:sp>
        <p:nvSpPr>
          <p:cNvPr id="27" name="TextBox 26"/>
          <p:cNvSpPr txBox="1"/>
          <p:nvPr/>
        </p:nvSpPr>
        <p:spPr>
          <a:xfrm>
            <a:off x="1734616" y="2194560"/>
            <a:ext cx="2672791" cy="246888"/>
          </a:xfrm>
          <a:prstGeom prst="rect">
            <a:avLst/>
          </a:prstGeom>
          <a:noFill/>
        </p:spPr>
        <p:txBody>
          <a:bodyPr wrap="square" lIns="27432" tIns="0" rIns="27432" bIns="0" anchor="ctr">
            <a:spAutoFit/>
          </a:bodyPr>
          <a:lstStyle/>
          <a:p>
            <a:pPr algn="l"/>
            <a:r>
              <a:rPr sz="950" b="0" i="0">
                <a:solidFill>
                  <a:srgbClr val="6B6965"/>
                </a:solidFill>
                <a:latin typeface="Calibri"/>
              </a:rPr>
              <a:t>10.0 — fixed for physiological adherence</a:t>
            </a:r>
          </a:p>
        </p:txBody>
      </p:sp>
      <p:sp>
        <p:nvSpPr>
          <p:cNvPr id="28" name="TextBox 27"/>
          <p:cNvSpPr txBox="1"/>
          <p:nvPr/>
        </p:nvSpPr>
        <p:spPr>
          <a:xfrm>
            <a:off x="393192" y="2441448"/>
            <a:ext cx="1323136" cy="246888"/>
          </a:xfrm>
          <a:prstGeom prst="rect">
            <a:avLst/>
          </a:prstGeom>
          <a:noFill/>
        </p:spPr>
        <p:txBody>
          <a:bodyPr wrap="square" lIns="27432" tIns="0" rIns="27432" bIns="0" anchor="ctr">
            <a:spAutoFit/>
          </a:bodyPr>
          <a:lstStyle/>
          <a:p>
            <a:pPr algn="l"/>
            <a:r>
              <a:rPr sz="950" b="1" i="0">
                <a:solidFill>
                  <a:srgbClr val="2E2D29"/>
                </a:solidFill>
                <a:latin typeface="Consolas"/>
              </a:rPr>
              <a:t>d_min</a:t>
            </a:r>
          </a:p>
        </p:txBody>
      </p:sp>
      <p:sp>
        <p:nvSpPr>
          <p:cNvPr id="29" name="TextBox 28"/>
          <p:cNvSpPr txBox="1"/>
          <p:nvPr/>
        </p:nvSpPr>
        <p:spPr>
          <a:xfrm>
            <a:off x="1734616" y="2441448"/>
            <a:ext cx="2672791" cy="246888"/>
          </a:xfrm>
          <a:prstGeom prst="rect">
            <a:avLst/>
          </a:prstGeom>
          <a:noFill/>
        </p:spPr>
        <p:txBody>
          <a:bodyPr wrap="square" lIns="27432" tIns="0" rIns="27432" bIns="0" anchor="ctr">
            <a:spAutoFit/>
          </a:bodyPr>
          <a:lstStyle/>
          <a:p>
            <a:pPr algn="l"/>
            <a:r>
              <a:rPr sz="950" b="0" i="0">
                <a:solidFill>
                  <a:srgbClr val="6B6965"/>
                </a:solidFill>
                <a:latin typeface="Calibri"/>
              </a:rPr>
              <a:t>0.01 cm — fixed</a:t>
            </a:r>
          </a:p>
        </p:txBody>
      </p:sp>
      <p:sp>
        <p:nvSpPr>
          <p:cNvPr id="30" name="Rectangle 29"/>
          <p:cNvSpPr/>
          <p:nvPr/>
        </p:nvSpPr>
        <p:spPr>
          <a:xfrm>
            <a:off x="320040" y="2688336"/>
            <a:ext cx="4160520" cy="24688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393192" y="2688336"/>
            <a:ext cx="1323136" cy="246888"/>
          </a:xfrm>
          <a:prstGeom prst="rect">
            <a:avLst/>
          </a:prstGeom>
          <a:noFill/>
        </p:spPr>
        <p:txBody>
          <a:bodyPr wrap="square" lIns="27432" tIns="0" rIns="27432" bIns="0" anchor="ctr">
            <a:spAutoFit/>
          </a:bodyPr>
          <a:lstStyle/>
          <a:p>
            <a:pPr algn="l"/>
            <a:r>
              <a:rPr sz="950" b="1" i="0">
                <a:solidFill>
                  <a:srgbClr val="2E2D29"/>
                </a:solidFill>
                <a:latin typeface="Consolas"/>
              </a:rPr>
              <a:t>s</a:t>
            </a:r>
          </a:p>
        </p:txBody>
      </p:sp>
      <p:sp>
        <p:nvSpPr>
          <p:cNvPr id="32" name="TextBox 31"/>
          <p:cNvSpPr txBox="1"/>
          <p:nvPr/>
        </p:nvSpPr>
        <p:spPr>
          <a:xfrm>
            <a:off x="1734616" y="2688336"/>
            <a:ext cx="2672791" cy="246888"/>
          </a:xfrm>
          <a:prstGeom prst="rect">
            <a:avLst/>
          </a:prstGeom>
          <a:noFill/>
        </p:spPr>
        <p:txBody>
          <a:bodyPr wrap="square" lIns="27432" tIns="0" rIns="27432" bIns="0" anchor="ctr">
            <a:spAutoFit/>
          </a:bodyPr>
          <a:lstStyle/>
          <a:p>
            <a:pPr algn="l"/>
            <a:r>
              <a:rPr sz="950" b="0" i="0">
                <a:solidFill>
                  <a:srgbClr val="6B6965"/>
                </a:solidFill>
                <a:latin typeface="Calibri"/>
              </a:rPr>
              <a:t>0.1 — fixed, outlet BC stability</a:t>
            </a:r>
          </a:p>
        </p:txBody>
      </p:sp>
      <p:sp>
        <p:nvSpPr>
          <p:cNvPr id="33" name="TextBox 32"/>
          <p:cNvSpPr txBox="1"/>
          <p:nvPr/>
        </p:nvSpPr>
        <p:spPr>
          <a:xfrm>
            <a:off x="320040" y="3072384"/>
            <a:ext cx="4160520" cy="201168"/>
          </a:xfrm>
          <a:prstGeom prst="rect">
            <a:avLst/>
          </a:prstGeom>
          <a:noFill/>
        </p:spPr>
        <p:txBody>
          <a:bodyPr wrap="square" lIns="27432" tIns="0" rIns="27432" bIns="0" anchor="t">
            <a:spAutoFit/>
          </a:bodyPr>
          <a:lstStyle/>
          <a:p>
            <a:pPr algn="l"/>
            <a:r>
              <a:rPr sz="950" b="1" i="0">
                <a:solidFill>
                  <a:srgbClr val="8C1515"/>
                </a:solidFill>
                <a:latin typeface="Calibri"/>
              </a:rPr>
              <a:t>Tuned</a:t>
            </a:r>
          </a:p>
        </p:txBody>
      </p:sp>
      <p:sp>
        <p:nvSpPr>
          <p:cNvPr id="34" name="Rectangle 33"/>
          <p:cNvSpPr/>
          <p:nvPr/>
        </p:nvSpPr>
        <p:spPr>
          <a:xfrm>
            <a:off x="320040" y="3346703"/>
            <a:ext cx="4160520" cy="24688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393192" y="3346703"/>
            <a:ext cx="1323136" cy="246888"/>
          </a:xfrm>
          <a:prstGeom prst="rect">
            <a:avLst/>
          </a:prstGeom>
          <a:noFill/>
        </p:spPr>
        <p:txBody>
          <a:bodyPr wrap="square" lIns="27432" tIns="0" rIns="27432" bIns="0" anchor="ctr">
            <a:spAutoFit/>
          </a:bodyPr>
          <a:lstStyle/>
          <a:p>
            <a:pPr algn="l"/>
            <a:r>
              <a:rPr sz="950" b="1" i="0">
                <a:solidFill>
                  <a:srgbClr val="2E2D29"/>
                </a:solidFill>
                <a:latin typeface="Consolas"/>
              </a:rPr>
              <a:t>k₂</a:t>
            </a:r>
          </a:p>
        </p:txBody>
      </p:sp>
      <p:sp>
        <p:nvSpPr>
          <p:cNvPr id="36" name="TextBox 35"/>
          <p:cNvSpPr txBox="1"/>
          <p:nvPr/>
        </p:nvSpPr>
        <p:spPr>
          <a:xfrm>
            <a:off x="1734616" y="3346703"/>
            <a:ext cx="2672791" cy="246888"/>
          </a:xfrm>
          <a:prstGeom prst="rect">
            <a:avLst/>
          </a:prstGeom>
          <a:noFill/>
        </p:spPr>
        <p:txBody>
          <a:bodyPr wrap="square" lIns="27432" tIns="0" rIns="27432" bIns="0" anchor="ctr">
            <a:spAutoFit/>
          </a:bodyPr>
          <a:lstStyle/>
          <a:p>
            <a:pPr algn="l"/>
            <a:r>
              <a:rPr sz="950" b="0" i="0">
                <a:solidFill>
                  <a:srgbClr val="6B6965"/>
                </a:solidFill>
                <a:latin typeface="Calibri"/>
              </a:rPr>
              <a:t>Varied, tied between LPA and RPA</a:t>
            </a:r>
          </a:p>
        </p:txBody>
      </p:sp>
      <p:sp>
        <p:nvSpPr>
          <p:cNvPr id="37" name="TextBox 36"/>
          <p:cNvSpPr txBox="1"/>
          <p:nvPr/>
        </p:nvSpPr>
        <p:spPr>
          <a:xfrm>
            <a:off x="393192" y="3593591"/>
            <a:ext cx="1323136" cy="246888"/>
          </a:xfrm>
          <a:prstGeom prst="rect">
            <a:avLst/>
          </a:prstGeom>
          <a:noFill/>
        </p:spPr>
        <p:txBody>
          <a:bodyPr wrap="square" lIns="27432" tIns="0" rIns="27432" bIns="0" anchor="ctr">
            <a:spAutoFit/>
          </a:bodyPr>
          <a:lstStyle/>
          <a:p>
            <a:pPr algn="l"/>
            <a:r>
              <a:rPr sz="950" b="1" i="0">
                <a:solidFill>
                  <a:srgbClr val="2E2D29"/>
                </a:solidFill>
                <a:latin typeface="Consolas"/>
              </a:rPr>
              <a:t>ξ_LPA , ξ_RPA</a:t>
            </a:r>
          </a:p>
        </p:txBody>
      </p:sp>
      <p:sp>
        <p:nvSpPr>
          <p:cNvPr id="38" name="TextBox 37"/>
          <p:cNvSpPr txBox="1"/>
          <p:nvPr/>
        </p:nvSpPr>
        <p:spPr>
          <a:xfrm>
            <a:off x="1734616" y="3593591"/>
            <a:ext cx="2672791" cy="246888"/>
          </a:xfrm>
          <a:prstGeom prst="rect">
            <a:avLst/>
          </a:prstGeom>
          <a:noFill/>
        </p:spPr>
        <p:txBody>
          <a:bodyPr wrap="square" lIns="27432" tIns="0" rIns="27432" bIns="0" anchor="ctr">
            <a:spAutoFit/>
          </a:bodyPr>
          <a:lstStyle/>
          <a:p>
            <a:pPr algn="l"/>
            <a:r>
              <a:rPr sz="950" b="0" i="0">
                <a:solidFill>
                  <a:srgbClr val="6B6965"/>
                </a:solidFill>
                <a:latin typeface="Calibri"/>
              </a:rPr>
              <a:t>Varied independently</a:t>
            </a:r>
          </a:p>
        </p:txBody>
      </p:sp>
      <p:sp>
        <p:nvSpPr>
          <p:cNvPr id="39" name="Rectangle 38"/>
          <p:cNvSpPr/>
          <p:nvPr/>
        </p:nvSpPr>
        <p:spPr>
          <a:xfrm>
            <a:off x="320040" y="3840479"/>
            <a:ext cx="4160520" cy="24688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393192" y="3840479"/>
            <a:ext cx="1323136" cy="246888"/>
          </a:xfrm>
          <a:prstGeom prst="rect">
            <a:avLst/>
          </a:prstGeom>
          <a:noFill/>
        </p:spPr>
        <p:txBody>
          <a:bodyPr wrap="square" lIns="27432" tIns="0" rIns="27432" bIns="0" anchor="ctr">
            <a:spAutoFit/>
          </a:bodyPr>
          <a:lstStyle/>
          <a:p>
            <a:pPr algn="l"/>
            <a:r>
              <a:rPr sz="950" b="1" i="0">
                <a:solidFill>
                  <a:srgbClr val="2E2D29"/>
                </a:solidFill>
                <a:latin typeface="Consolas"/>
              </a:rPr>
              <a:t>η_LPA , η_RPA</a:t>
            </a:r>
          </a:p>
        </p:txBody>
      </p:sp>
      <p:sp>
        <p:nvSpPr>
          <p:cNvPr id="41" name="TextBox 40"/>
          <p:cNvSpPr txBox="1"/>
          <p:nvPr/>
        </p:nvSpPr>
        <p:spPr>
          <a:xfrm>
            <a:off x="1734616" y="3840479"/>
            <a:ext cx="2672791" cy="246888"/>
          </a:xfrm>
          <a:prstGeom prst="rect">
            <a:avLst/>
          </a:prstGeom>
          <a:noFill/>
        </p:spPr>
        <p:txBody>
          <a:bodyPr wrap="square" lIns="27432" tIns="0" rIns="27432" bIns="0" anchor="ctr">
            <a:spAutoFit/>
          </a:bodyPr>
          <a:lstStyle/>
          <a:p>
            <a:pPr algn="l"/>
            <a:r>
              <a:rPr sz="950" b="0" i="0">
                <a:solidFill>
                  <a:srgbClr val="6B6965"/>
                </a:solidFill>
                <a:latin typeface="Calibri"/>
              </a:rPr>
              <a:t>Varied independently</a:t>
            </a:r>
          </a:p>
        </p:txBody>
      </p:sp>
      <p:sp>
        <p:nvSpPr>
          <p:cNvPr id="42" name="TextBox 41"/>
          <p:cNvSpPr txBox="1"/>
          <p:nvPr/>
        </p:nvSpPr>
        <p:spPr>
          <a:xfrm>
            <a:off x="393192" y="4087368"/>
            <a:ext cx="1323136" cy="246888"/>
          </a:xfrm>
          <a:prstGeom prst="rect">
            <a:avLst/>
          </a:prstGeom>
          <a:noFill/>
        </p:spPr>
        <p:txBody>
          <a:bodyPr wrap="square" lIns="27432" tIns="0" rIns="27432" bIns="0" anchor="ctr">
            <a:spAutoFit/>
          </a:bodyPr>
          <a:lstStyle/>
          <a:p>
            <a:pPr algn="l"/>
            <a:r>
              <a:rPr sz="950" b="1" i="0">
                <a:solidFill>
                  <a:srgbClr val="2E2D29"/>
                </a:solidFill>
                <a:latin typeface="Consolas"/>
              </a:rPr>
              <a:t>d₀_LPA , d₀_RPA</a:t>
            </a:r>
          </a:p>
        </p:txBody>
      </p:sp>
      <p:sp>
        <p:nvSpPr>
          <p:cNvPr id="43" name="TextBox 42"/>
          <p:cNvSpPr txBox="1"/>
          <p:nvPr/>
        </p:nvSpPr>
        <p:spPr>
          <a:xfrm>
            <a:off x="1734616" y="4087368"/>
            <a:ext cx="2672791" cy="246888"/>
          </a:xfrm>
          <a:prstGeom prst="rect">
            <a:avLst/>
          </a:prstGeom>
          <a:noFill/>
        </p:spPr>
        <p:txBody>
          <a:bodyPr wrap="square" lIns="27432" tIns="0" rIns="27432" bIns="0" anchor="ctr">
            <a:spAutoFit/>
          </a:bodyPr>
          <a:lstStyle/>
          <a:p>
            <a:pPr algn="l"/>
            <a:r>
              <a:rPr sz="950" b="0" i="0">
                <a:solidFill>
                  <a:srgbClr val="6B6965"/>
                </a:solidFill>
                <a:latin typeface="Calibri"/>
              </a:rPr>
              <a:t>Generally fixed; may be varied</a:t>
            </a:r>
          </a:p>
        </p:txBody>
      </p:sp>
      <p:sp>
        <p:nvSpPr>
          <p:cNvPr id="44" name="Rectangle 43"/>
          <p:cNvSpPr/>
          <p:nvPr/>
        </p:nvSpPr>
        <p:spPr>
          <a:xfrm>
            <a:off x="4663440" y="1426464"/>
            <a:ext cx="4160520" cy="148132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Box 44"/>
          <p:cNvSpPr txBox="1"/>
          <p:nvPr/>
        </p:nvSpPr>
        <p:spPr>
          <a:xfrm>
            <a:off x="4791455" y="1527048"/>
            <a:ext cx="2761487" cy="219456"/>
          </a:xfrm>
          <a:prstGeom prst="rect">
            <a:avLst/>
          </a:prstGeom>
          <a:noFill/>
        </p:spPr>
        <p:txBody>
          <a:bodyPr wrap="square" lIns="27432" tIns="0" rIns="27432" bIns="0" anchor="t">
            <a:spAutoFit/>
          </a:bodyPr>
          <a:lstStyle/>
          <a:p>
            <a:pPr algn="l"/>
            <a:r>
              <a:rPr sz="1100" b="1" i="0">
                <a:solidFill>
                  <a:srgbClr val="E98300"/>
                </a:solidFill>
                <a:latin typeface="Calibri"/>
              </a:rPr>
              <a:t>Why l_rr is now fixed at 10</a:t>
            </a:r>
          </a:p>
        </p:txBody>
      </p:sp>
      <p:sp>
        <p:nvSpPr>
          <p:cNvPr id="46" name="Rectangle 45"/>
          <p:cNvSpPr/>
          <p:nvPr/>
        </p:nvSpPr>
        <p:spPr>
          <a:xfrm>
            <a:off x="7580375" y="1536192"/>
            <a:ext cx="1097280" cy="173736"/>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7580375" y="1536192"/>
            <a:ext cx="1097280" cy="173736"/>
          </a:xfrm>
          <a:prstGeom prst="rect">
            <a:avLst/>
          </a:prstGeom>
          <a:noFill/>
        </p:spPr>
        <p:txBody>
          <a:bodyPr wrap="square" lIns="18288" tIns="0" rIns="18288" bIns="0" anchor="ctr">
            <a:spAutoFit/>
          </a:bodyPr>
          <a:lstStyle/>
          <a:p>
            <a:pPr algn="ctr"/>
            <a:r>
              <a:rPr sz="600" b="1">
                <a:solidFill>
                  <a:srgbClr val="FFFFFF"/>
                </a:solidFill>
                <a:latin typeface="Calibri"/>
              </a:rPr>
              <a:t>IN DEVELOPMENT</a:t>
            </a:r>
          </a:p>
        </p:txBody>
      </p:sp>
      <p:sp>
        <p:nvSpPr>
          <p:cNvPr id="48" name="TextBox 47"/>
          <p:cNvSpPr txBox="1"/>
          <p:nvPr/>
        </p:nvSpPr>
        <p:spPr>
          <a:xfrm>
            <a:off x="4791455" y="1801368"/>
            <a:ext cx="3904487" cy="1069848"/>
          </a:xfrm>
          <a:prstGeom prst="rect">
            <a:avLst/>
          </a:prstGeom>
          <a:noFill/>
        </p:spPr>
        <p:txBody>
          <a:bodyPr wrap="square" lIns="27432" tIns="0" rIns="27432" bIns="0">
            <a:spAutoFit/>
          </a:bodyPr>
          <a:lstStyle/>
          <a:p>
            <a:pPr>
              <a:spcAft>
                <a:spcPts val="350"/>
              </a:spcAft>
            </a:pPr>
            <a:r>
              <a:rPr sz="950" dirty="0">
                <a:solidFill>
                  <a:srgbClr val="E98300"/>
                </a:solidFill>
                <a:latin typeface="Calibri"/>
              </a:rPr>
              <a:t>• </a:t>
            </a:r>
            <a:r>
              <a:rPr sz="950" dirty="0">
                <a:solidFill>
                  <a:srgbClr val="2E2D29"/>
                </a:solidFill>
                <a:latin typeface="Calibri"/>
              </a:rPr>
              <a:t>Earlier tuning let </a:t>
            </a:r>
            <a:r>
              <a:rPr sz="950" dirty="0" err="1">
                <a:solidFill>
                  <a:srgbClr val="2E2D29"/>
                </a:solidFill>
                <a:latin typeface="Calibri"/>
              </a:rPr>
              <a:t>l_rr</a:t>
            </a:r>
            <a:r>
              <a:rPr sz="950" dirty="0">
                <a:solidFill>
                  <a:srgbClr val="2E2D29"/>
                </a:solidFill>
                <a:latin typeface="Calibri"/>
              </a:rPr>
              <a:t> float and it converged to 40–100, far from morphometric observation</a:t>
            </a:r>
          </a:p>
          <a:p>
            <a:pPr>
              <a:spcAft>
                <a:spcPts val="350"/>
              </a:spcAft>
            </a:pPr>
            <a:r>
              <a:rPr sz="950" dirty="0">
                <a:solidFill>
                  <a:srgbClr val="E98300"/>
                </a:solidFill>
                <a:latin typeface="Calibri"/>
              </a:rPr>
              <a:t>• </a:t>
            </a:r>
            <a:r>
              <a:rPr sz="950" dirty="0">
                <a:solidFill>
                  <a:srgbClr val="2E2D29"/>
                </a:solidFill>
                <a:latin typeface="Calibri"/>
              </a:rPr>
              <a:t>Fixing it at a physiological value removes an identifiability trade-off with </a:t>
            </a:r>
            <a:r>
              <a:rPr sz="950" dirty="0" err="1">
                <a:solidFill>
                  <a:srgbClr val="2E2D29"/>
                </a:solidFill>
                <a:latin typeface="Calibri"/>
              </a:rPr>
              <a:t>ξ</a:t>
            </a:r>
            <a:endParaRPr sz="950" dirty="0">
              <a:solidFill>
                <a:srgbClr val="2E2D29"/>
              </a:solidFill>
              <a:latin typeface="Calibri"/>
            </a:endParaRPr>
          </a:p>
        </p:txBody>
      </p:sp>
      <p:sp>
        <p:nvSpPr>
          <p:cNvPr id="49" name="Rectangle 48"/>
          <p:cNvSpPr/>
          <p:nvPr/>
        </p:nvSpPr>
        <p:spPr>
          <a:xfrm>
            <a:off x="4663440" y="3035808"/>
            <a:ext cx="4160520" cy="148132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p:cNvSpPr txBox="1"/>
          <p:nvPr/>
        </p:nvSpPr>
        <p:spPr>
          <a:xfrm>
            <a:off x="4791455" y="3136391"/>
            <a:ext cx="3904487" cy="219456"/>
          </a:xfrm>
          <a:prstGeom prst="rect">
            <a:avLst/>
          </a:prstGeom>
          <a:noFill/>
        </p:spPr>
        <p:txBody>
          <a:bodyPr wrap="square" lIns="27432" tIns="0" rIns="27432" bIns="0" anchor="t">
            <a:spAutoFit/>
          </a:bodyPr>
          <a:lstStyle/>
          <a:p>
            <a:pPr algn="l"/>
            <a:r>
              <a:rPr sz="1100" b="1" i="0">
                <a:solidFill>
                  <a:srgbClr val="8C1515"/>
                </a:solidFill>
                <a:latin typeface="Calibri"/>
              </a:rPr>
              <a:t>Effective dimensionality</a:t>
            </a:r>
          </a:p>
        </p:txBody>
      </p:sp>
      <p:sp>
        <p:nvSpPr>
          <p:cNvPr id="51" name="TextBox 50"/>
          <p:cNvSpPr txBox="1"/>
          <p:nvPr/>
        </p:nvSpPr>
        <p:spPr>
          <a:xfrm>
            <a:off x="4791455" y="3410711"/>
            <a:ext cx="3904487" cy="1069848"/>
          </a:xfrm>
          <a:prstGeom prst="rect">
            <a:avLst/>
          </a:prstGeom>
          <a:noFill/>
        </p:spPr>
        <p:txBody>
          <a:bodyPr wrap="square" lIns="27432" tIns="0" rIns="27432" bIns="0">
            <a:spAutoFit/>
          </a:bodyPr>
          <a:lstStyle/>
          <a:p>
            <a:pPr>
              <a:spcAft>
                <a:spcPts val="350"/>
              </a:spcAft>
            </a:pPr>
            <a:r>
              <a:rPr sz="950">
                <a:solidFill>
                  <a:srgbClr val="8C1515"/>
                </a:solidFill>
                <a:latin typeface="Calibri"/>
              </a:rPr>
              <a:t>• </a:t>
            </a:r>
            <a:r>
              <a:rPr sz="950">
                <a:solidFill>
                  <a:srgbClr val="2E2D29"/>
                </a:solidFill>
                <a:latin typeface="Calibri"/>
              </a:rPr>
              <a:t>Five active parameters: k₂, ξ_LPA, ξ_RPA, η_LPA, η_RPA</a:t>
            </a:r>
          </a:p>
          <a:p>
            <a:pPr>
              <a:spcAft>
                <a:spcPts val="350"/>
              </a:spcAft>
            </a:pPr>
            <a:r>
              <a:rPr sz="950">
                <a:solidFill>
                  <a:srgbClr val="8C1515"/>
                </a:solidFill>
                <a:latin typeface="Calibri"/>
              </a:rPr>
              <a:t>• </a:t>
            </a:r>
            <a:r>
              <a:rPr sz="950">
                <a:solidFill>
                  <a:srgbClr val="2E2D29"/>
                </a:solidFill>
                <a:latin typeface="Calibri"/>
              </a:rPr>
              <a:t>Four scalar targets, so the problem is near-determined rather than over-parameterized</a:t>
            </a:r>
          </a:p>
          <a:p>
            <a:pPr>
              <a:spcAft>
                <a:spcPts val="350"/>
              </a:spcAft>
            </a:pPr>
            <a:r>
              <a:rPr sz="950">
                <a:solidFill>
                  <a:srgbClr val="8C1515"/>
                </a:solidFill>
                <a:latin typeface="Calibri"/>
              </a:rPr>
              <a:t>• </a:t>
            </a:r>
            <a:r>
              <a:rPr sz="950">
                <a:solidFill>
                  <a:srgbClr val="2E2D29"/>
                </a:solidFill>
                <a:latin typeface="Calibri"/>
              </a:rPr>
              <a:t>L2 regularization on θ keeps the simplex away from extreme morphometry</a:t>
            </a:r>
          </a:p>
        </p:txBody>
      </p:sp>
      <p:sp>
        <p:nvSpPr>
          <p:cNvPr id="52" name="Rectangle 51"/>
          <p:cNvSpPr/>
          <p:nvPr/>
        </p:nvSpPr>
        <p:spPr>
          <a:xfrm>
            <a:off x="320040" y="4700016"/>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429768" y="4700016"/>
            <a:ext cx="8284464" cy="310896"/>
          </a:xfrm>
          <a:prstGeom prst="rect">
            <a:avLst/>
          </a:prstGeom>
          <a:noFill/>
        </p:spPr>
        <p:txBody>
          <a:bodyPr wrap="square" lIns="27432" tIns="0" rIns="27432" bIns="0" anchor="ctr">
            <a:spAutoFit/>
          </a:bodyPr>
          <a:lstStyle/>
          <a:p>
            <a:pPr algn="l"/>
            <a:r>
              <a:rPr sz="1000" b="1" i="0">
                <a:solidFill>
                  <a:srgbClr val="8C1515"/>
                </a:solidFill>
                <a:latin typeface="Calibri"/>
              </a:rPr>
              <a:t>Every fixed value above is a modelling commitment — this table is where to record any change.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sz="2200">
                <a:solidFill>
                  <a:srgbClr val="8C1515"/>
                </a:solidFill>
                <a:latin typeface="Georgia"/>
              </a:rPr>
              <a:t>Distributing trees across the outlets</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IN DEVELOPMENT</a:t>
            </a:r>
          </a:p>
        </p:txBody>
      </p:sp>
      <p:sp>
        <p:nvSpPr>
          <p:cNvPr id="19" name="Rectangle 18"/>
          <p:cNvSpPr/>
          <p:nvPr/>
        </p:nvSpPr>
        <p:spPr>
          <a:xfrm>
            <a:off x="320040" y="1408176"/>
            <a:ext cx="8503920" cy="56692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320040" y="1408176"/>
            <a:ext cx="8503920" cy="566928"/>
          </a:xfrm>
          <a:prstGeom prst="rect">
            <a:avLst/>
          </a:prstGeom>
          <a:noFill/>
        </p:spPr>
        <p:txBody>
          <a:bodyPr wrap="square" lIns="27432" tIns="0" rIns="27432" bIns="0" anchor="ctr">
            <a:spAutoFit/>
          </a:bodyPr>
          <a:lstStyle/>
          <a:p>
            <a:pPr algn="ctr"/>
            <a:r>
              <a:rPr sz="1700" b="1" i="0" dirty="0" err="1">
                <a:solidFill>
                  <a:srgbClr val="8C1515"/>
                </a:solidFill>
                <a:latin typeface="Consolas"/>
              </a:rPr>
              <a:t>d_tree</a:t>
            </a:r>
            <a:r>
              <a:rPr sz="1700" b="1" i="0" dirty="0">
                <a:solidFill>
                  <a:srgbClr val="8C1515"/>
                </a:solidFill>
                <a:latin typeface="Consolas"/>
              </a:rPr>
              <a:t>  =  </a:t>
            </a:r>
            <a:r>
              <a:rPr sz="1700" b="1" i="0" dirty="0" err="1">
                <a:solidFill>
                  <a:srgbClr val="8C1515"/>
                </a:solidFill>
                <a:latin typeface="Consolas"/>
              </a:rPr>
              <a:t>d_mean</a:t>
            </a:r>
            <a:r>
              <a:rPr sz="1700" b="1" i="0" dirty="0">
                <a:solidFill>
                  <a:srgbClr val="8C1515"/>
                </a:solidFill>
                <a:latin typeface="Consolas"/>
              </a:rPr>
              <a:t>, side  +  s · ( </a:t>
            </a:r>
            <a:r>
              <a:rPr sz="1700" b="1" i="0" dirty="0" err="1">
                <a:solidFill>
                  <a:srgbClr val="8C1515"/>
                </a:solidFill>
                <a:latin typeface="Consolas"/>
              </a:rPr>
              <a:t>d_cap</a:t>
            </a:r>
            <a:r>
              <a:rPr sz="1700" b="1" i="0" dirty="0">
                <a:solidFill>
                  <a:srgbClr val="8C1515"/>
                </a:solidFill>
                <a:latin typeface="Consolas"/>
              </a:rPr>
              <a:t>  −  </a:t>
            </a:r>
            <a:r>
              <a:rPr sz="1700" b="1" i="0" dirty="0" err="1">
                <a:solidFill>
                  <a:srgbClr val="8C1515"/>
                </a:solidFill>
                <a:latin typeface="Consolas"/>
              </a:rPr>
              <a:t>d_mean</a:t>
            </a:r>
            <a:r>
              <a:rPr sz="1700" b="1" i="0" dirty="0">
                <a:solidFill>
                  <a:srgbClr val="8C1515"/>
                </a:solidFill>
                <a:latin typeface="Consolas"/>
              </a:rPr>
              <a:t>, side )</a:t>
            </a:r>
          </a:p>
        </p:txBody>
      </p:sp>
      <p:sp>
        <p:nvSpPr>
          <p:cNvPr id="21" name="Rectangle 20"/>
          <p:cNvSpPr/>
          <p:nvPr/>
        </p:nvSpPr>
        <p:spPr>
          <a:xfrm>
            <a:off x="320040" y="2139696"/>
            <a:ext cx="2697480" cy="1517904"/>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448056" y="2240279"/>
            <a:ext cx="2441448" cy="219456"/>
          </a:xfrm>
          <a:prstGeom prst="rect">
            <a:avLst/>
          </a:prstGeom>
          <a:noFill/>
        </p:spPr>
        <p:txBody>
          <a:bodyPr wrap="square" lIns="27432" tIns="0" rIns="27432" bIns="0" anchor="t">
            <a:spAutoFit/>
          </a:bodyPr>
          <a:lstStyle/>
          <a:p>
            <a:pPr algn="l"/>
            <a:r>
              <a:rPr sz="1100" b="1" i="0">
                <a:solidFill>
                  <a:srgbClr val="6B6965"/>
                </a:solidFill>
                <a:latin typeface="Calibri"/>
              </a:rPr>
              <a:t>s = 0</a:t>
            </a:r>
          </a:p>
        </p:txBody>
      </p:sp>
      <p:sp>
        <p:nvSpPr>
          <p:cNvPr id="23" name="TextBox 22"/>
          <p:cNvSpPr txBox="1"/>
          <p:nvPr/>
        </p:nvSpPr>
        <p:spPr>
          <a:xfrm>
            <a:off x="448056" y="2514599"/>
            <a:ext cx="2441448" cy="1106424"/>
          </a:xfrm>
          <a:prstGeom prst="rect">
            <a:avLst/>
          </a:prstGeom>
          <a:noFill/>
        </p:spPr>
        <p:txBody>
          <a:bodyPr wrap="square" lIns="27432" tIns="0" rIns="27432" bIns="0">
            <a:spAutoFit/>
          </a:bodyPr>
          <a:lstStyle/>
          <a:p>
            <a:pPr>
              <a:spcAft>
                <a:spcPts val="350"/>
              </a:spcAft>
            </a:pPr>
            <a:r>
              <a:rPr sz="900">
                <a:solidFill>
                  <a:srgbClr val="6B6965"/>
                </a:solidFill>
                <a:latin typeface="Calibri"/>
              </a:rPr>
              <a:t>• </a:t>
            </a:r>
            <a:r>
              <a:rPr sz="900">
                <a:solidFill>
                  <a:srgbClr val="2E2D29"/>
                </a:solidFill>
                <a:latin typeface="Calibri"/>
              </a:rPr>
              <a:t>Every outlet on a side receives the same tree, built from the side-mean cap diameter</a:t>
            </a:r>
          </a:p>
          <a:p>
            <a:pPr>
              <a:spcAft>
                <a:spcPts val="350"/>
              </a:spcAft>
            </a:pPr>
            <a:r>
              <a:rPr sz="900">
                <a:solidFill>
                  <a:srgbClr val="6B6965"/>
                </a:solidFill>
                <a:latin typeface="Calibri"/>
              </a:rPr>
              <a:t>• </a:t>
            </a:r>
            <a:r>
              <a:rPr sz="900">
                <a:solidFill>
                  <a:srgbClr val="2E2D29"/>
                </a:solidFill>
                <a:latin typeface="Calibri"/>
              </a:rPr>
              <a:t>Maximally stable, ignores outlet size variation</a:t>
            </a:r>
          </a:p>
        </p:txBody>
      </p:sp>
      <p:sp>
        <p:nvSpPr>
          <p:cNvPr id="24" name="Rectangle 23"/>
          <p:cNvSpPr/>
          <p:nvPr/>
        </p:nvSpPr>
        <p:spPr>
          <a:xfrm>
            <a:off x="3200400" y="2139696"/>
            <a:ext cx="2697480" cy="1517904"/>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3328416" y="2240279"/>
            <a:ext cx="1298448" cy="219456"/>
          </a:xfrm>
          <a:prstGeom prst="rect">
            <a:avLst/>
          </a:prstGeom>
          <a:noFill/>
        </p:spPr>
        <p:txBody>
          <a:bodyPr wrap="square" lIns="27432" tIns="0" rIns="27432" bIns="0" anchor="t">
            <a:spAutoFit/>
          </a:bodyPr>
          <a:lstStyle/>
          <a:p>
            <a:pPr algn="l"/>
            <a:r>
              <a:rPr sz="1100" b="1" i="0">
                <a:solidFill>
                  <a:srgbClr val="E98300"/>
                </a:solidFill>
                <a:latin typeface="Calibri"/>
              </a:rPr>
              <a:t>s = 0.1  (current)</a:t>
            </a:r>
          </a:p>
        </p:txBody>
      </p:sp>
      <p:sp>
        <p:nvSpPr>
          <p:cNvPr id="26" name="Rectangle 25"/>
          <p:cNvSpPr/>
          <p:nvPr/>
        </p:nvSpPr>
        <p:spPr>
          <a:xfrm>
            <a:off x="4654296" y="2249423"/>
            <a:ext cx="1097280" cy="173736"/>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4654296" y="2249423"/>
            <a:ext cx="1097280" cy="173736"/>
          </a:xfrm>
          <a:prstGeom prst="rect">
            <a:avLst/>
          </a:prstGeom>
          <a:noFill/>
        </p:spPr>
        <p:txBody>
          <a:bodyPr wrap="square" lIns="18288" tIns="0" rIns="18288" bIns="0" anchor="ctr">
            <a:spAutoFit/>
          </a:bodyPr>
          <a:lstStyle/>
          <a:p>
            <a:pPr algn="ctr"/>
            <a:r>
              <a:rPr sz="600" b="1">
                <a:solidFill>
                  <a:srgbClr val="FFFFFF"/>
                </a:solidFill>
                <a:latin typeface="Calibri"/>
              </a:rPr>
              <a:t>IN DEVELOPMENT</a:t>
            </a:r>
          </a:p>
        </p:txBody>
      </p:sp>
      <p:sp>
        <p:nvSpPr>
          <p:cNvPr id="28" name="TextBox 27"/>
          <p:cNvSpPr txBox="1"/>
          <p:nvPr/>
        </p:nvSpPr>
        <p:spPr>
          <a:xfrm>
            <a:off x="3328416" y="2514599"/>
            <a:ext cx="2441448" cy="1106424"/>
          </a:xfrm>
          <a:prstGeom prst="rect">
            <a:avLst/>
          </a:prstGeom>
          <a:noFill/>
        </p:spPr>
        <p:txBody>
          <a:bodyPr wrap="square" lIns="27432" tIns="0" rIns="27432" bIns="0">
            <a:spAutoFit/>
          </a:bodyPr>
          <a:lstStyle/>
          <a:p>
            <a:pPr>
              <a:spcAft>
                <a:spcPts val="350"/>
              </a:spcAft>
            </a:pPr>
            <a:r>
              <a:rPr sz="900">
                <a:solidFill>
                  <a:srgbClr val="E98300"/>
                </a:solidFill>
                <a:latin typeface="Calibri"/>
              </a:rPr>
              <a:t>• </a:t>
            </a:r>
            <a:r>
              <a:rPr sz="900">
                <a:solidFill>
                  <a:srgbClr val="2E2D29"/>
                </a:solidFill>
                <a:latin typeface="Calibri"/>
              </a:rPr>
              <a:t>Trees are nudged toward each cap's own diameter</a:t>
            </a:r>
          </a:p>
          <a:p>
            <a:pPr>
              <a:spcAft>
                <a:spcPts val="350"/>
              </a:spcAft>
            </a:pPr>
            <a:r>
              <a:rPr sz="900">
                <a:solidFill>
                  <a:srgbClr val="E98300"/>
                </a:solidFill>
                <a:latin typeface="Calibri"/>
              </a:rPr>
              <a:t>• </a:t>
            </a:r>
            <a:r>
              <a:rPr sz="900">
                <a:solidFill>
                  <a:srgbClr val="2E2D29"/>
                </a:solidFill>
                <a:latin typeface="Calibri"/>
              </a:rPr>
              <a:t>Preserves the stability of the mean-tree approach while admitting some heterogeneity</a:t>
            </a:r>
          </a:p>
        </p:txBody>
      </p:sp>
      <p:sp>
        <p:nvSpPr>
          <p:cNvPr id="29" name="Rectangle 28"/>
          <p:cNvSpPr/>
          <p:nvPr/>
        </p:nvSpPr>
        <p:spPr>
          <a:xfrm>
            <a:off x="6080759" y="2139696"/>
            <a:ext cx="2743200" cy="1517904"/>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6208775" y="2240279"/>
            <a:ext cx="2487168" cy="219456"/>
          </a:xfrm>
          <a:prstGeom prst="rect">
            <a:avLst/>
          </a:prstGeom>
          <a:noFill/>
        </p:spPr>
        <p:txBody>
          <a:bodyPr wrap="square" lIns="27432" tIns="0" rIns="27432" bIns="0" anchor="t">
            <a:spAutoFit/>
          </a:bodyPr>
          <a:lstStyle/>
          <a:p>
            <a:pPr algn="l"/>
            <a:r>
              <a:rPr sz="1100" b="1" i="0">
                <a:solidFill>
                  <a:srgbClr val="6B6965"/>
                </a:solidFill>
                <a:latin typeface="Calibri"/>
              </a:rPr>
              <a:t>s = 1</a:t>
            </a:r>
          </a:p>
        </p:txBody>
      </p:sp>
      <p:sp>
        <p:nvSpPr>
          <p:cNvPr id="31" name="TextBox 30"/>
          <p:cNvSpPr txBox="1"/>
          <p:nvPr/>
        </p:nvSpPr>
        <p:spPr>
          <a:xfrm>
            <a:off x="6208775" y="2514599"/>
            <a:ext cx="2487168" cy="1106424"/>
          </a:xfrm>
          <a:prstGeom prst="rect">
            <a:avLst/>
          </a:prstGeom>
          <a:noFill/>
        </p:spPr>
        <p:txBody>
          <a:bodyPr wrap="square" lIns="27432" tIns="0" rIns="27432" bIns="0">
            <a:spAutoFit/>
          </a:bodyPr>
          <a:lstStyle/>
          <a:p>
            <a:pPr>
              <a:spcAft>
                <a:spcPts val="350"/>
              </a:spcAft>
            </a:pPr>
            <a:r>
              <a:rPr sz="900">
                <a:solidFill>
                  <a:srgbClr val="6B6965"/>
                </a:solidFill>
                <a:latin typeface="Calibri"/>
              </a:rPr>
              <a:t>• </a:t>
            </a:r>
            <a:r>
              <a:rPr sz="900">
                <a:solidFill>
                  <a:srgbClr val="2E2D29"/>
                </a:solidFill>
                <a:latin typeface="Calibri"/>
              </a:rPr>
              <a:t>A fully cap-specific tree at every outlet</a:t>
            </a:r>
          </a:p>
          <a:p>
            <a:pPr>
              <a:spcAft>
                <a:spcPts val="350"/>
              </a:spcAft>
            </a:pPr>
            <a:r>
              <a:rPr sz="900">
                <a:solidFill>
                  <a:srgbClr val="6B6965"/>
                </a:solidFill>
                <a:latin typeface="Calibri"/>
              </a:rPr>
              <a:t>• </a:t>
            </a:r>
            <a:r>
              <a:rPr sz="900">
                <a:solidFill>
                  <a:srgbClr val="2E2D29"/>
                </a:solidFill>
                <a:latin typeface="Calibri"/>
              </a:rPr>
              <a:t>Historically caused outlet flows to blow up — the failure this parameter was introduced to fix</a:t>
            </a:r>
          </a:p>
        </p:txBody>
      </p:sp>
      <p:sp>
        <p:nvSpPr>
          <p:cNvPr id="32" name="TextBox 31"/>
          <p:cNvSpPr txBox="1"/>
          <p:nvPr/>
        </p:nvSpPr>
        <p:spPr>
          <a:xfrm>
            <a:off x="320040" y="3840480"/>
            <a:ext cx="8503920" cy="822960"/>
          </a:xfrm>
          <a:prstGeom prst="rect">
            <a:avLst/>
          </a:prstGeom>
          <a:noFill/>
        </p:spPr>
        <p:txBody>
          <a:bodyPr wrap="square" lIns="27432" tIns="0" rIns="27432" bIns="0">
            <a:spAutoFit/>
          </a:bodyPr>
          <a:lstStyle/>
          <a:p>
            <a:pPr>
              <a:spcAft>
                <a:spcPts val="600"/>
              </a:spcAft>
            </a:pPr>
            <a:r>
              <a:rPr sz="1000">
                <a:solidFill>
                  <a:srgbClr val="8C1515"/>
                </a:solidFill>
                <a:latin typeface="Calibri"/>
              </a:rPr>
              <a:t>• </a:t>
            </a:r>
            <a:r>
              <a:rPr sz="1000">
                <a:solidFill>
                  <a:srgbClr val="2E2D29"/>
                </a:solidFill>
                <a:latin typeface="Calibri"/>
              </a:rPr>
              <a:t>s is a user-specified constant, not a tuned parameter — it is a numerical stabilizer, and should be reported as such</a:t>
            </a:r>
          </a:p>
          <a:p>
            <a:pPr>
              <a:spcAft>
                <a:spcPts val="600"/>
              </a:spcAft>
            </a:pPr>
            <a:r>
              <a:rPr sz="1000">
                <a:solidFill>
                  <a:srgbClr val="8C1515"/>
                </a:solidFill>
                <a:latin typeface="Calibri"/>
              </a:rPr>
              <a:t>• </a:t>
            </a:r>
            <a:r>
              <a:rPr sz="1000">
                <a:solidFill>
                  <a:srgbClr val="2E2D29"/>
                </a:solidFill>
                <a:latin typeface="Calibri"/>
              </a:rPr>
              <a:t>Side-mean diameters differ substantially between LPA and RPA in these patients, so the two sides get genuinely different trees</a:t>
            </a:r>
          </a:p>
        </p:txBody>
      </p:sp>
      <p:sp>
        <p:nvSpPr>
          <p:cNvPr id="33" name="Rectangle 32"/>
          <p:cNvSpPr/>
          <p:nvPr/>
        </p:nvSpPr>
        <p:spPr>
          <a:xfrm>
            <a:off x="320040" y="4754880"/>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Box 33"/>
          <p:cNvSpPr txBox="1"/>
          <p:nvPr/>
        </p:nvSpPr>
        <p:spPr>
          <a:xfrm>
            <a:off x="429768" y="4754880"/>
            <a:ext cx="8284464" cy="310896"/>
          </a:xfrm>
          <a:prstGeom prst="rect">
            <a:avLst/>
          </a:prstGeom>
          <a:noFill/>
        </p:spPr>
        <p:txBody>
          <a:bodyPr wrap="square" lIns="27432" tIns="0" rIns="27432" bIns="0" anchor="ctr">
            <a:spAutoFit/>
          </a:bodyPr>
          <a:lstStyle/>
          <a:p>
            <a:pPr algn="l"/>
            <a:r>
              <a:rPr sz="1000" b="1" i="0">
                <a:solidFill>
                  <a:srgbClr val="8C1515"/>
                </a:solidFill>
                <a:latin typeface="Calibri"/>
              </a:rPr>
              <a:t>s = 0.1 is a deliberate compromise; revisiting it is a candidate improvement once the tuning loop is more robust.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sz="2200">
                <a:solidFill>
                  <a:srgbClr val="8C1515"/>
                </a:solidFill>
                <a:latin typeface="Georgia"/>
              </a:rPr>
              <a:t>The two-branch reduced-order model</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IN DEVELOPMENT</a:t>
            </a:r>
          </a:p>
        </p:txBody>
      </p:sp>
      <p:sp>
        <p:nvSpPr>
          <p:cNvPr id="19" name="TextBox 18"/>
          <p:cNvSpPr txBox="1"/>
          <p:nvPr/>
        </p:nvSpPr>
        <p:spPr>
          <a:xfrm>
            <a:off x="320040" y="1389888"/>
            <a:ext cx="8503920" cy="219456"/>
          </a:xfrm>
          <a:prstGeom prst="rect">
            <a:avLst/>
          </a:prstGeom>
          <a:noFill/>
        </p:spPr>
        <p:txBody>
          <a:bodyPr wrap="square" lIns="27432" tIns="0" rIns="27432" bIns="0" anchor="t">
            <a:spAutoFit/>
          </a:bodyPr>
          <a:lstStyle/>
          <a:p>
            <a:pPr algn="l"/>
            <a:r>
              <a:rPr sz="950" b="0" i="1">
                <a:solidFill>
                  <a:srgbClr val="6B6965"/>
                </a:solidFill>
                <a:latin typeface="Calibri"/>
              </a:rPr>
              <a:t>Tuning requires thousands of model evaluations, so the 3D anatomy is collapsed to a two-branch RRI network with a structured tree on each side.</a:t>
            </a:r>
          </a:p>
        </p:txBody>
      </p:sp>
      <p:sp>
        <p:nvSpPr>
          <p:cNvPr id="20" name="Rectangle 19"/>
          <p:cNvSpPr/>
          <p:nvPr/>
        </p:nvSpPr>
        <p:spPr>
          <a:xfrm>
            <a:off x="320040" y="1700784"/>
            <a:ext cx="8503920" cy="177393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466344" y="1810512"/>
            <a:ext cx="1097280" cy="219456"/>
          </a:xfrm>
          <a:prstGeom prst="rect">
            <a:avLst/>
          </a:prstGeom>
          <a:noFill/>
        </p:spPr>
        <p:txBody>
          <a:bodyPr wrap="square" lIns="27432" tIns="0" rIns="27432" bIns="0" anchor="t">
            <a:spAutoFit/>
          </a:bodyPr>
          <a:lstStyle/>
          <a:p>
            <a:pPr algn="l"/>
            <a:r>
              <a:rPr sz="900" b="1" i="0">
                <a:solidFill>
                  <a:srgbClr val="8C1515"/>
                </a:solidFill>
                <a:latin typeface="Calibri"/>
              </a:rPr>
              <a:t>MPA inflow</a:t>
            </a:r>
          </a:p>
        </p:txBody>
      </p:sp>
      <p:sp>
        <p:nvSpPr>
          <p:cNvPr id="22" name="TextBox 21"/>
          <p:cNvSpPr txBox="1"/>
          <p:nvPr/>
        </p:nvSpPr>
        <p:spPr>
          <a:xfrm>
            <a:off x="466344" y="2084831"/>
            <a:ext cx="457200" cy="365760"/>
          </a:xfrm>
          <a:prstGeom prst="rect">
            <a:avLst/>
          </a:prstGeom>
          <a:noFill/>
        </p:spPr>
        <p:txBody>
          <a:bodyPr wrap="square" lIns="27432" tIns="0" rIns="27432" bIns="0" anchor="ctr">
            <a:spAutoFit/>
          </a:bodyPr>
          <a:lstStyle/>
          <a:p>
            <a:pPr algn="l"/>
            <a:r>
              <a:rPr sz="1000" b="1" i="0">
                <a:solidFill>
                  <a:srgbClr val="2E2D29"/>
                </a:solidFill>
                <a:latin typeface="Calibri"/>
              </a:rPr>
              <a:t>LPA</a:t>
            </a:r>
          </a:p>
        </p:txBody>
      </p:sp>
      <p:sp>
        <p:nvSpPr>
          <p:cNvPr id="23" name="Rectangle 22"/>
          <p:cNvSpPr/>
          <p:nvPr/>
        </p:nvSpPr>
        <p:spPr>
          <a:xfrm>
            <a:off x="1033271" y="2084831"/>
            <a:ext cx="1005840" cy="365760"/>
          </a:xfrm>
          <a:prstGeom prst="rect">
            <a:avLst/>
          </a:prstGeom>
          <a:solidFill>
            <a:srgbClr val="007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1033271" y="2084831"/>
            <a:ext cx="1005840" cy="365760"/>
          </a:xfrm>
          <a:prstGeom prst="rect">
            <a:avLst/>
          </a:prstGeom>
          <a:noFill/>
        </p:spPr>
        <p:txBody>
          <a:bodyPr wrap="square" lIns="27432" tIns="0" rIns="27432" bIns="0" anchor="ctr">
            <a:spAutoFit/>
          </a:bodyPr>
          <a:lstStyle/>
          <a:p>
            <a:pPr algn="ctr"/>
            <a:r>
              <a:rPr sz="1000" b="1" i="0">
                <a:solidFill>
                  <a:srgbClr val="FFFFFF"/>
                </a:solidFill>
                <a:latin typeface="Calibri"/>
              </a:rPr>
              <a:t>R</a:t>
            </a:r>
          </a:p>
        </p:txBody>
      </p:sp>
      <p:sp>
        <p:nvSpPr>
          <p:cNvPr id="25" name="TextBox 24"/>
          <p:cNvSpPr txBox="1"/>
          <p:nvPr/>
        </p:nvSpPr>
        <p:spPr>
          <a:xfrm>
            <a:off x="1033271" y="2459736"/>
            <a:ext cx="1005840" cy="201168"/>
          </a:xfrm>
          <a:prstGeom prst="rect">
            <a:avLst/>
          </a:prstGeom>
          <a:noFill/>
        </p:spPr>
        <p:txBody>
          <a:bodyPr wrap="square" lIns="27432" tIns="0" rIns="27432" bIns="0" anchor="t">
            <a:spAutoFit/>
          </a:bodyPr>
          <a:lstStyle/>
          <a:p>
            <a:pPr algn="ctr">
              <a:lnSpc>
                <a:spcPct val="90000"/>
              </a:lnSpc>
            </a:pPr>
            <a:r>
              <a:rPr sz="650" b="0" i="0">
                <a:solidFill>
                  <a:srgbClr val="6B6965"/>
                </a:solidFill>
                <a:latin typeface="Calibri"/>
              </a:rPr>
              <a:t>linear</a:t>
            </a:r>
          </a:p>
          <a:p>
            <a:pPr algn="ctr">
              <a:lnSpc>
                <a:spcPct val="90000"/>
              </a:lnSpc>
            </a:pPr>
            <a:r>
              <a:rPr sz="650" b="0" i="0">
                <a:solidFill>
                  <a:srgbClr val="6B6965"/>
                </a:solidFill>
                <a:latin typeface="Calibri"/>
              </a:rPr>
              <a:t>resistor</a:t>
            </a:r>
          </a:p>
        </p:txBody>
      </p:sp>
      <p:sp>
        <p:nvSpPr>
          <p:cNvPr id="26" name="Right Arrow 25"/>
          <p:cNvSpPr/>
          <p:nvPr/>
        </p:nvSpPr>
        <p:spPr>
          <a:xfrm>
            <a:off x="2057400" y="2203703"/>
            <a:ext cx="146304" cy="128016"/>
          </a:xfrm>
          <a:prstGeom prst="rightArrow">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2240280" y="2084831"/>
            <a:ext cx="1005840" cy="365760"/>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2240280" y="2084831"/>
            <a:ext cx="1005840" cy="365760"/>
          </a:xfrm>
          <a:prstGeom prst="rect">
            <a:avLst/>
          </a:prstGeom>
          <a:noFill/>
        </p:spPr>
        <p:txBody>
          <a:bodyPr wrap="square" lIns="27432" tIns="0" rIns="27432" bIns="0" anchor="ctr">
            <a:spAutoFit/>
          </a:bodyPr>
          <a:lstStyle/>
          <a:p>
            <a:pPr algn="ctr"/>
            <a:r>
              <a:rPr sz="1000" b="1" i="0">
                <a:solidFill>
                  <a:srgbClr val="FFFFFF"/>
                </a:solidFill>
                <a:latin typeface="Calibri"/>
              </a:rPr>
              <a:t>R(Q)</a:t>
            </a:r>
          </a:p>
        </p:txBody>
      </p:sp>
      <p:sp>
        <p:nvSpPr>
          <p:cNvPr id="29" name="TextBox 28"/>
          <p:cNvSpPr txBox="1"/>
          <p:nvPr/>
        </p:nvSpPr>
        <p:spPr>
          <a:xfrm>
            <a:off x="2240280" y="2459736"/>
            <a:ext cx="1005840" cy="201168"/>
          </a:xfrm>
          <a:prstGeom prst="rect">
            <a:avLst/>
          </a:prstGeom>
          <a:noFill/>
        </p:spPr>
        <p:txBody>
          <a:bodyPr wrap="square" lIns="27432" tIns="0" rIns="27432" bIns="0" anchor="t">
            <a:spAutoFit/>
          </a:bodyPr>
          <a:lstStyle/>
          <a:p>
            <a:pPr algn="ctr">
              <a:lnSpc>
                <a:spcPct val="90000"/>
              </a:lnSpc>
            </a:pPr>
            <a:r>
              <a:rPr sz="650" b="0" i="0">
                <a:solidFill>
                  <a:srgbClr val="6B6965"/>
                </a:solidFill>
                <a:latin typeface="Calibri"/>
              </a:rPr>
              <a:t>nonlinear</a:t>
            </a:r>
          </a:p>
          <a:p>
            <a:pPr algn="ctr">
              <a:lnSpc>
                <a:spcPct val="90000"/>
              </a:lnSpc>
            </a:pPr>
            <a:r>
              <a:rPr sz="650" b="0" i="0">
                <a:solidFill>
                  <a:srgbClr val="6B6965"/>
                </a:solidFill>
                <a:latin typeface="Calibri"/>
              </a:rPr>
              <a:t>resistor</a:t>
            </a:r>
          </a:p>
        </p:txBody>
      </p:sp>
      <p:sp>
        <p:nvSpPr>
          <p:cNvPr id="30" name="Right Arrow 29"/>
          <p:cNvSpPr/>
          <p:nvPr/>
        </p:nvSpPr>
        <p:spPr>
          <a:xfrm>
            <a:off x="3264408" y="2203703"/>
            <a:ext cx="146304" cy="128016"/>
          </a:xfrm>
          <a:prstGeom prst="rightArrow">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3447288" y="2084831"/>
            <a:ext cx="1005840" cy="365760"/>
          </a:xfrm>
          <a:prstGeom prst="rect">
            <a:avLst/>
          </a:prstGeom>
          <a:solidFill>
            <a:srgbClr val="620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3447288" y="2084831"/>
            <a:ext cx="1005840" cy="365760"/>
          </a:xfrm>
          <a:prstGeom prst="rect">
            <a:avLst/>
          </a:prstGeom>
          <a:noFill/>
        </p:spPr>
        <p:txBody>
          <a:bodyPr wrap="square" lIns="27432" tIns="0" rIns="27432" bIns="0" anchor="ctr">
            <a:spAutoFit/>
          </a:bodyPr>
          <a:lstStyle/>
          <a:p>
            <a:pPr algn="ctr"/>
            <a:r>
              <a:rPr sz="1000" b="1" i="0">
                <a:solidFill>
                  <a:srgbClr val="FFFFFF"/>
                </a:solidFill>
                <a:latin typeface="Calibri"/>
              </a:rPr>
              <a:t>L</a:t>
            </a:r>
          </a:p>
        </p:txBody>
      </p:sp>
      <p:sp>
        <p:nvSpPr>
          <p:cNvPr id="33" name="TextBox 32"/>
          <p:cNvSpPr txBox="1"/>
          <p:nvPr/>
        </p:nvSpPr>
        <p:spPr>
          <a:xfrm>
            <a:off x="3447288" y="2459736"/>
            <a:ext cx="1005840" cy="201168"/>
          </a:xfrm>
          <a:prstGeom prst="rect">
            <a:avLst/>
          </a:prstGeom>
          <a:noFill/>
        </p:spPr>
        <p:txBody>
          <a:bodyPr wrap="square" lIns="27432" tIns="0" rIns="27432" bIns="0" anchor="t">
            <a:spAutoFit/>
          </a:bodyPr>
          <a:lstStyle/>
          <a:p>
            <a:pPr algn="ctr">
              <a:lnSpc>
                <a:spcPct val="90000"/>
              </a:lnSpc>
            </a:pPr>
            <a:r>
              <a:rPr sz="650" b="0" i="0">
                <a:solidFill>
                  <a:srgbClr val="6B6965"/>
                </a:solidFill>
                <a:latin typeface="Calibri"/>
              </a:rPr>
              <a:t>inductor</a:t>
            </a:r>
          </a:p>
        </p:txBody>
      </p:sp>
      <p:sp>
        <p:nvSpPr>
          <p:cNvPr id="34" name="Right Arrow 33"/>
          <p:cNvSpPr/>
          <p:nvPr/>
        </p:nvSpPr>
        <p:spPr>
          <a:xfrm>
            <a:off x="4654296" y="2203703"/>
            <a:ext cx="146304" cy="128016"/>
          </a:xfrm>
          <a:prstGeom prst="rightArrow">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4855464" y="2084831"/>
            <a:ext cx="1188720" cy="365760"/>
          </a:xfrm>
          <a:prstGeom prst="rect">
            <a:avLst/>
          </a:prstGeom>
          <a:solidFill>
            <a:srgbClr val="FFFFFF"/>
          </a:solidFill>
          <a:ln w="12700">
            <a:solidFill>
              <a:srgbClr val="8C1515"/>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4855464" y="2084831"/>
            <a:ext cx="1188720" cy="365760"/>
          </a:xfrm>
          <a:prstGeom prst="rect">
            <a:avLst/>
          </a:prstGeom>
          <a:noFill/>
        </p:spPr>
        <p:txBody>
          <a:bodyPr wrap="square" lIns="27432" tIns="0" rIns="27432" bIns="0" anchor="ctr">
            <a:spAutoFit/>
          </a:bodyPr>
          <a:lstStyle/>
          <a:p>
            <a:pPr algn="ctr"/>
            <a:r>
              <a:rPr sz="900" b="1" i="0">
                <a:solidFill>
                  <a:srgbClr val="8C1515"/>
                </a:solidFill>
                <a:latin typeface="Calibri"/>
              </a:rPr>
              <a:t>LPA tree</a:t>
            </a:r>
          </a:p>
        </p:txBody>
      </p:sp>
      <p:sp>
        <p:nvSpPr>
          <p:cNvPr id="37" name="TextBox 36"/>
          <p:cNvSpPr txBox="1"/>
          <p:nvPr/>
        </p:nvSpPr>
        <p:spPr>
          <a:xfrm>
            <a:off x="466344" y="2779776"/>
            <a:ext cx="457200" cy="365760"/>
          </a:xfrm>
          <a:prstGeom prst="rect">
            <a:avLst/>
          </a:prstGeom>
          <a:noFill/>
        </p:spPr>
        <p:txBody>
          <a:bodyPr wrap="square" lIns="27432" tIns="0" rIns="27432" bIns="0" anchor="ctr">
            <a:spAutoFit/>
          </a:bodyPr>
          <a:lstStyle/>
          <a:p>
            <a:pPr algn="l"/>
            <a:r>
              <a:rPr sz="1000" b="1" i="0">
                <a:solidFill>
                  <a:srgbClr val="2E2D29"/>
                </a:solidFill>
                <a:latin typeface="Calibri"/>
              </a:rPr>
              <a:t>RPA</a:t>
            </a:r>
          </a:p>
        </p:txBody>
      </p:sp>
      <p:sp>
        <p:nvSpPr>
          <p:cNvPr id="38" name="Rectangle 37"/>
          <p:cNvSpPr/>
          <p:nvPr/>
        </p:nvSpPr>
        <p:spPr>
          <a:xfrm>
            <a:off x="1033271" y="2779776"/>
            <a:ext cx="1005840" cy="365760"/>
          </a:xfrm>
          <a:prstGeom prst="rect">
            <a:avLst/>
          </a:prstGeom>
          <a:solidFill>
            <a:srgbClr val="007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1033271" y="2779776"/>
            <a:ext cx="1005840" cy="365760"/>
          </a:xfrm>
          <a:prstGeom prst="rect">
            <a:avLst/>
          </a:prstGeom>
          <a:noFill/>
        </p:spPr>
        <p:txBody>
          <a:bodyPr wrap="square" lIns="27432" tIns="0" rIns="27432" bIns="0" anchor="ctr">
            <a:spAutoFit/>
          </a:bodyPr>
          <a:lstStyle/>
          <a:p>
            <a:pPr algn="ctr"/>
            <a:r>
              <a:rPr sz="1000" b="1" i="0">
                <a:solidFill>
                  <a:srgbClr val="FFFFFF"/>
                </a:solidFill>
                <a:latin typeface="Calibri"/>
              </a:rPr>
              <a:t>R</a:t>
            </a:r>
          </a:p>
        </p:txBody>
      </p:sp>
      <p:sp>
        <p:nvSpPr>
          <p:cNvPr id="40" name="TextBox 39"/>
          <p:cNvSpPr txBox="1"/>
          <p:nvPr/>
        </p:nvSpPr>
        <p:spPr>
          <a:xfrm>
            <a:off x="1033271" y="3154680"/>
            <a:ext cx="1005840" cy="201168"/>
          </a:xfrm>
          <a:prstGeom prst="rect">
            <a:avLst/>
          </a:prstGeom>
          <a:noFill/>
        </p:spPr>
        <p:txBody>
          <a:bodyPr wrap="square" lIns="27432" tIns="0" rIns="27432" bIns="0" anchor="t">
            <a:spAutoFit/>
          </a:bodyPr>
          <a:lstStyle/>
          <a:p>
            <a:pPr algn="ctr">
              <a:lnSpc>
                <a:spcPct val="90000"/>
              </a:lnSpc>
            </a:pPr>
            <a:r>
              <a:rPr sz="650" b="0" i="0">
                <a:solidFill>
                  <a:srgbClr val="6B6965"/>
                </a:solidFill>
                <a:latin typeface="Calibri"/>
              </a:rPr>
              <a:t>linear</a:t>
            </a:r>
          </a:p>
          <a:p>
            <a:pPr algn="ctr">
              <a:lnSpc>
                <a:spcPct val="90000"/>
              </a:lnSpc>
            </a:pPr>
            <a:r>
              <a:rPr sz="650" b="0" i="0">
                <a:solidFill>
                  <a:srgbClr val="6B6965"/>
                </a:solidFill>
                <a:latin typeface="Calibri"/>
              </a:rPr>
              <a:t>resistor</a:t>
            </a:r>
          </a:p>
        </p:txBody>
      </p:sp>
      <p:sp>
        <p:nvSpPr>
          <p:cNvPr id="41" name="Right Arrow 40"/>
          <p:cNvSpPr/>
          <p:nvPr/>
        </p:nvSpPr>
        <p:spPr>
          <a:xfrm>
            <a:off x="2057400" y="2898648"/>
            <a:ext cx="146304" cy="128016"/>
          </a:xfrm>
          <a:prstGeom prst="rightArrow">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2240280" y="2779776"/>
            <a:ext cx="1005840" cy="365760"/>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2240280" y="2779776"/>
            <a:ext cx="1005840" cy="365760"/>
          </a:xfrm>
          <a:prstGeom prst="rect">
            <a:avLst/>
          </a:prstGeom>
          <a:noFill/>
        </p:spPr>
        <p:txBody>
          <a:bodyPr wrap="square" lIns="27432" tIns="0" rIns="27432" bIns="0" anchor="ctr">
            <a:spAutoFit/>
          </a:bodyPr>
          <a:lstStyle/>
          <a:p>
            <a:pPr algn="ctr"/>
            <a:r>
              <a:rPr sz="1000" b="1" i="0">
                <a:solidFill>
                  <a:srgbClr val="FFFFFF"/>
                </a:solidFill>
                <a:latin typeface="Calibri"/>
              </a:rPr>
              <a:t>R(Q)</a:t>
            </a:r>
          </a:p>
        </p:txBody>
      </p:sp>
      <p:sp>
        <p:nvSpPr>
          <p:cNvPr id="44" name="TextBox 43"/>
          <p:cNvSpPr txBox="1"/>
          <p:nvPr/>
        </p:nvSpPr>
        <p:spPr>
          <a:xfrm>
            <a:off x="2240280" y="3154680"/>
            <a:ext cx="1005840" cy="201168"/>
          </a:xfrm>
          <a:prstGeom prst="rect">
            <a:avLst/>
          </a:prstGeom>
          <a:noFill/>
        </p:spPr>
        <p:txBody>
          <a:bodyPr wrap="square" lIns="27432" tIns="0" rIns="27432" bIns="0" anchor="t">
            <a:spAutoFit/>
          </a:bodyPr>
          <a:lstStyle/>
          <a:p>
            <a:pPr algn="ctr">
              <a:lnSpc>
                <a:spcPct val="90000"/>
              </a:lnSpc>
            </a:pPr>
            <a:r>
              <a:rPr sz="650" b="0" i="0">
                <a:solidFill>
                  <a:srgbClr val="6B6965"/>
                </a:solidFill>
                <a:latin typeface="Calibri"/>
              </a:rPr>
              <a:t>nonlinear</a:t>
            </a:r>
          </a:p>
          <a:p>
            <a:pPr algn="ctr">
              <a:lnSpc>
                <a:spcPct val="90000"/>
              </a:lnSpc>
            </a:pPr>
            <a:r>
              <a:rPr sz="650" b="0" i="0">
                <a:solidFill>
                  <a:srgbClr val="6B6965"/>
                </a:solidFill>
                <a:latin typeface="Calibri"/>
              </a:rPr>
              <a:t>resistor</a:t>
            </a:r>
          </a:p>
        </p:txBody>
      </p:sp>
      <p:sp>
        <p:nvSpPr>
          <p:cNvPr id="45" name="Right Arrow 44"/>
          <p:cNvSpPr/>
          <p:nvPr/>
        </p:nvSpPr>
        <p:spPr>
          <a:xfrm>
            <a:off x="3264408" y="2898648"/>
            <a:ext cx="146304" cy="128016"/>
          </a:xfrm>
          <a:prstGeom prst="rightArrow">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ectangle 45"/>
          <p:cNvSpPr/>
          <p:nvPr/>
        </p:nvSpPr>
        <p:spPr>
          <a:xfrm>
            <a:off x="3447288" y="2779776"/>
            <a:ext cx="1005840" cy="365760"/>
          </a:xfrm>
          <a:prstGeom prst="rect">
            <a:avLst/>
          </a:prstGeom>
          <a:solidFill>
            <a:srgbClr val="620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3447288" y="2779776"/>
            <a:ext cx="1005840" cy="365760"/>
          </a:xfrm>
          <a:prstGeom prst="rect">
            <a:avLst/>
          </a:prstGeom>
          <a:noFill/>
        </p:spPr>
        <p:txBody>
          <a:bodyPr wrap="square" lIns="27432" tIns="0" rIns="27432" bIns="0" anchor="ctr">
            <a:spAutoFit/>
          </a:bodyPr>
          <a:lstStyle/>
          <a:p>
            <a:pPr algn="ctr"/>
            <a:r>
              <a:rPr sz="1000" b="1" i="0">
                <a:solidFill>
                  <a:srgbClr val="FFFFFF"/>
                </a:solidFill>
                <a:latin typeface="Calibri"/>
              </a:rPr>
              <a:t>L</a:t>
            </a:r>
          </a:p>
        </p:txBody>
      </p:sp>
      <p:sp>
        <p:nvSpPr>
          <p:cNvPr id="48" name="TextBox 47"/>
          <p:cNvSpPr txBox="1"/>
          <p:nvPr/>
        </p:nvSpPr>
        <p:spPr>
          <a:xfrm>
            <a:off x="3447288" y="3154680"/>
            <a:ext cx="1005840" cy="201168"/>
          </a:xfrm>
          <a:prstGeom prst="rect">
            <a:avLst/>
          </a:prstGeom>
          <a:noFill/>
        </p:spPr>
        <p:txBody>
          <a:bodyPr wrap="square" lIns="27432" tIns="0" rIns="27432" bIns="0" anchor="t">
            <a:spAutoFit/>
          </a:bodyPr>
          <a:lstStyle/>
          <a:p>
            <a:pPr algn="ctr">
              <a:lnSpc>
                <a:spcPct val="90000"/>
              </a:lnSpc>
            </a:pPr>
            <a:r>
              <a:rPr sz="650" b="0" i="0">
                <a:solidFill>
                  <a:srgbClr val="6B6965"/>
                </a:solidFill>
                <a:latin typeface="Calibri"/>
              </a:rPr>
              <a:t>inductor</a:t>
            </a:r>
          </a:p>
        </p:txBody>
      </p:sp>
      <p:sp>
        <p:nvSpPr>
          <p:cNvPr id="49" name="Right Arrow 48"/>
          <p:cNvSpPr/>
          <p:nvPr/>
        </p:nvSpPr>
        <p:spPr>
          <a:xfrm>
            <a:off x="4654296" y="2898648"/>
            <a:ext cx="146304" cy="128016"/>
          </a:xfrm>
          <a:prstGeom prst="rightArrow">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4855464" y="2779776"/>
            <a:ext cx="1188720" cy="365760"/>
          </a:xfrm>
          <a:prstGeom prst="rect">
            <a:avLst/>
          </a:prstGeom>
          <a:solidFill>
            <a:srgbClr val="FFFFFF"/>
          </a:solidFill>
          <a:ln w="12700">
            <a:solidFill>
              <a:srgbClr val="8C1515"/>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Box 50"/>
          <p:cNvSpPr txBox="1"/>
          <p:nvPr/>
        </p:nvSpPr>
        <p:spPr>
          <a:xfrm>
            <a:off x="4855464" y="2779776"/>
            <a:ext cx="1188720" cy="365760"/>
          </a:xfrm>
          <a:prstGeom prst="rect">
            <a:avLst/>
          </a:prstGeom>
          <a:noFill/>
        </p:spPr>
        <p:txBody>
          <a:bodyPr wrap="square" lIns="27432" tIns="0" rIns="27432" bIns="0" anchor="ctr">
            <a:spAutoFit/>
          </a:bodyPr>
          <a:lstStyle/>
          <a:p>
            <a:pPr algn="ctr"/>
            <a:r>
              <a:rPr sz="900" b="1" i="0">
                <a:solidFill>
                  <a:srgbClr val="8C1515"/>
                </a:solidFill>
                <a:latin typeface="Calibri"/>
              </a:rPr>
              <a:t>RPA tree</a:t>
            </a:r>
          </a:p>
        </p:txBody>
      </p:sp>
      <p:sp>
        <p:nvSpPr>
          <p:cNvPr id="52" name="Rectangle 51"/>
          <p:cNvSpPr/>
          <p:nvPr/>
        </p:nvSpPr>
        <p:spPr>
          <a:xfrm>
            <a:off x="320040" y="3602736"/>
            <a:ext cx="4160520" cy="111556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448056" y="3703320"/>
            <a:ext cx="3904487" cy="219456"/>
          </a:xfrm>
          <a:prstGeom prst="rect">
            <a:avLst/>
          </a:prstGeom>
          <a:noFill/>
        </p:spPr>
        <p:txBody>
          <a:bodyPr wrap="square" lIns="27432" tIns="0" rIns="27432" bIns="0" anchor="t">
            <a:spAutoFit/>
          </a:bodyPr>
          <a:lstStyle/>
          <a:p>
            <a:pPr algn="l"/>
            <a:r>
              <a:rPr sz="1100" b="1" i="0">
                <a:solidFill>
                  <a:srgbClr val="8C1515"/>
                </a:solidFill>
                <a:latin typeface="Calibri"/>
              </a:rPr>
              <a:t>What the RRI captures</a:t>
            </a:r>
          </a:p>
        </p:txBody>
      </p:sp>
      <p:sp>
        <p:nvSpPr>
          <p:cNvPr id="54" name="TextBox 53"/>
          <p:cNvSpPr txBox="1"/>
          <p:nvPr/>
        </p:nvSpPr>
        <p:spPr>
          <a:xfrm>
            <a:off x="448056" y="3977639"/>
            <a:ext cx="3904487" cy="704088"/>
          </a:xfrm>
          <a:prstGeom prst="rect">
            <a:avLst/>
          </a:prstGeom>
          <a:noFill/>
        </p:spPr>
        <p:txBody>
          <a:bodyPr wrap="square" lIns="27432" tIns="0" rIns="27432" bIns="0">
            <a:spAutoFit/>
          </a:bodyPr>
          <a:lstStyle/>
          <a:p>
            <a:pPr>
              <a:spcAft>
                <a:spcPts val="350"/>
              </a:spcAft>
            </a:pPr>
            <a:r>
              <a:rPr sz="900" dirty="0">
                <a:solidFill>
                  <a:srgbClr val="8C1515"/>
                </a:solidFill>
                <a:latin typeface="Calibri"/>
              </a:rPr>
              <a:t>• </a:t>
            </a:r>
            <a:r>
              <a:rPr sz="900" dirty="0">
                <a:solidFill>
                  <a:srgbClr val="2E2D29"/>
                </a:solidFill>
                <a:latin typeface="Calibri"/>
              </a:rPr>
              <a:t>The nonlinear, flow-dependent pressure drop through the stenosed proximal anatomy</a:t>
            </a:r>
          </a:p>
          <a:p>
            <a:pPr>
              <a:spcAft>
                <a:spcPts val="350"/>
              </a:spcAft>
            </a:pPr>
            <a:r>
              <a:rPr sz="900" dirty="0">
                <a:solidFill>
                  <a:srgbClr val="8C1515"/>
                </a:solidFill>
                <a:latin typeface="Calibri"/>
              </a:rPr>
              <a:t>• </a:t>
            </a:r>
            <a:r>
              <a:rPr sz="900" dirty="0">
                <a:solidFill>
                  <a:srgbClr val="2E2D29"/>
                </a:solidFill>
                <a:latin typeface="Calibri"/>
              </a:rPr>
              <a:t>Inertance of the branch, which matters for systolic–diastolic separation</a:t>
            </a:r>
          </a:p>
        </p:txBody>
      </p:sp>
      <p:sp>
        <p:nvSpPr>
          <p:cNvPr id="55" name="Rectangle 54"/>
          <p:cNvSpPr/>
          <p:nvPr/>
        </p:nvSpPr>
        <p:spPr>
          <a:xfrm>
            <a:off x="4663440" y="3602736"/>
            <a:ext cx="4160520" cy="111556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Box 55"/>
          <p:cNvSpPr txBox="1"/>
          <p:nvPr/>
        </p:nvSpPr>
        <p:spPr>
          <a:xfrm>
            <a:off x="4791455" y="3703320"/>
            <a:ext cx="2761487" cy="219456"/>
          </a:xfrm>
          <a:prstGeom prst="rect">
            <a:avLst/>
          </a:prstGeom>
          <a:noFill/>
        </p:spPr>
        <p:txBody>
          <a:bodyPr wrap="square" lIns="27432" tIns="0" rIns="27432" bIns="0" anchor="t">
            <a:spAutoFit/>
          </a:bodyPr>
          <a:lstStyle/>
          <a:p>
            <a:pPr algn="l"/>
            <a:r>
              <a:rPr sz="1100" b="1" i="0">
                <a:solidFill>
                  <a:srgbClr val="E98300"/>
                </a:solidFill>
                <a:latin typeface="Calibri"/>
              </a:rPr>
              <a:t>Planned replacement</a:t>
            </a:r>
          </a:p>
        </p:txBody>
      </p:sp>
      <p:sp>
        <p:nvSpPr>
          <p:cNvPr id="57" name="Rectangle 56"/>
          <p:cNvSpPr/>
          <p:nvPr/>
        </p:nvSpPr>
        <p:spPr>
          <a:xfrm>
            <a:off x="7580375" y="3712463"/>
            <a:ext cx="1097280" cy="173736"/>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TextBox 57"/>
          <p:cNvSpPr txBox="1"/>
          <p:nvPr/>
        </p:nvSpPr>
        <p:spPr>
          <a:xfrm>
            <a:off x="7580375" y="3712463"/>
            <a:ext cx="1097280" cy="173736"/>
          </a:xfrm>
          <a:prstGeom prst="rect">
            <a:avLst/>
          </a:prstGeom>
          <a:noFill/>
        </p:spPr>
        <p:txBody>
          <a:bodyPr wrap="square" lIns="18288" tIns="0" rIns="18288" bIns="0" anchor="ctr">
            <a:spAutoFit/>
          </a:bodyPr>
          <a:lstStyle/>
          <a:p>
            <a:pPr algn="ctr"/>
            <a:r>
              <a:rPr sz="600" b="1">
                <a:solidFill>
                  <a:srgbClr val="6B6965"/>
                </a:solidFill>
                <a:latin typeface="Calibri"/>
              </a:rPr>
              <a:t>PLANNED</a:t>
            </a:r>
          </a:p>
        </p:txBody>
      </p:sp>
      <p:sp>
        <p:nvSpPr>
          <p:cNvPr id="59" name="TextBox 58"/>
          <p:cNvSpPr txBox="1"/>
          <p:nvPr/>
        </p:nvSpPr>
        <p:spPr>
          <a:xfrm>
            <a:off x="4791455" y="3977639"/>
            <a:ext cx="3904487" cy="704088"/>
          </a:xfrm>
          <a:prstGeom prst="rect">
            <a:avLst/>
          </a:prstGeom>
          <a:noFill/>
        </p:spPr>
        <p:txBody>
          <a:bodyPr wrap="square" lIns="27432" tIns="0" rIns="27432" bIns="0">
            <a:spAutoFit/>
          </a:bodyPr>
          <a:lstStyle/>
          <a:p>
            <a:pPr>
              <a:spcAft>
                <a:spcPts val="350"/>
              </a:spcAft>
            </a:pPr>
            <a:r>
              <a:rPr sz="900" dirty="0">
                <a:solidFill>
                  <a:srgbClr val="E98300"/>
                </a:solidFill>
                <a:latin typeface="Calibri"/>
              </a:rPr>
              <a:t>• </a:t>
            </a:r>
            <a:r>
              <a:rPr sz="900" dirty="0">
                <a:solidFill>
                  <a:srgbClr val="2E2D29"/>
                </a:solidFill>
                <a:latin typeface="Calibri"/>
              </a:rPr>
              <a:t>Centerline-derived 0D model of the full PA tree, calibrated with </a:t>
            </a:r>
            <a:r>
              <a:rPr sz="900" dirty="0" err="1">
                <a:solidFill>
                  <a:srgbClr val="2E2D29"/>
                </a:solidFill>
                <a:latin typeface="Calibri"/>
              </a:rPr>
              <a:t>svZeroDCalibrator</a:t>
            </a:r>
            <a:endParaRPr sz="900" dirty="0">
              <a:solidFill>
                <a:srgbClr val="2E2D29"/>
              </a:solidFill>
              <a:latin typeface="Calibri"/>
            </a:endParaRPr>
          </a:p>
          <a:p>
            <a:pPr>
              <a:spcAft>
                <a:spcPts val="350"/>
              </a:spcAft>
            </a:pPr>
            <a:r>
              <a:rPr sz="900" dirty="0">
                <a:solidFill>
                  <a:srgbClr val="E98300"/>
                </a:solidFill>
                <a:latin typeface="Calibri"/>
              </a:rPr>
              <a:t>• </a:t>
            </a:r>
            <a:r>
              <a:rPr sz="900" dirty="0">
                <a:solidFill>
                  <a:srgbClr val="2E2D29"/>
                </a:solidFill>
                <a:latin typeface="Calibri"/>
              </a:rPr>
              <a:t>Removes the two-branch abstraction and should improve transfer of tuned parameters to 3D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sz="2200">
                <a:solidFill>
                  <a:srgbClr val="8C1515"/>
                </a:solidFill>
                <a:latin typeface="Georgia"/>
              </a:rPr>
              <a:t>Inner loop: tuning the tree</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IN DEVELOPMENT</a:t>
            </a:r>
          </a:p>
        </p:txBody>
      </p:sp>
      <p:pic>
        <p:nvPicPr>
          <p:cNvPr id="19" name="Picture 18" descr="schematic_tuning_card.png"/>
          <p:cNvPicPr>
            <a:picLocks noChangeAspect="1"/>
          </p:cNvPicPr>
          <p:nvPr/>
        </p:nvPicPr>
        <p:blipFill>
          <a:blip r:embed="rId2"/>
          <a:stretch>
            <a:fillRect/>
          </a:stretch>
        </p:blipFill>
        <p:spPr>
          <a:xfrm>
            <a:off x="417423" y="1371600"/>
            <a:ext cx="2685593" cy="3639312"/>
          </a:xfrm>
          <a:prstGeom prst="rect">
            <a:avLst/>
          </a:prstGeom>
        </p:spPr>
      </p:pic>
      <p:sp>
        <p:nvSpPr>
          <p:cNvPr id="20" name="Rectangle 19"/>
          <p:cNvSpPr/>
          <p:nvPr/>
        </p:nvSpPr>
        <p:spPr>
          <a:xfrm>
            <a:off x="3429000" y="1371600"/>
            <a:ext cx="5394960" cy="118872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3557016" y="1472184"/>
            <a:ext cx="5138928" cy="219456"/>
          </a:xfrm>
          <a:prstGeom prst="rect">
            <a:avLst/>
          </a:prstGeom>
          <a:noFill/>
        </p:spPr>
        <p:txBody>
          <a:bodyPr wrap="square" lIns="27432" tIns="0" rIns="27432" bIns="0" anchor="t">
            <a:spAutoFit/>
          </a:bodyPr>
          <a:lstStyle/>
          <a:p>
            <a:pPr algn="l"/>
            <a:r>
              <a:rPr sz="1100" b="1" i="0">
                <a:solidFill>
                  <a:srgbClr val="8C1515"/>
                </a:solidFill>
                <a:latin typeface="Calibri"/>
              </a:rPr>
              <a:t>Objective</a:t>
            </a:r>
          </a:p>
        </p:txBody>
      </p:sp>
      <p:sp>
        <p:nvSpPr>
          <p:cNvPr id="22" name="TextBox 21"/>
          <p:cNvSpPr txBox="1"/>
          <p:nvPr/>
        </p:nvSpPr>
        <p:spPr>
          <a:xfrm>
            <a:off x="3557016" y="1746504"/>
            <a:ext cx="5138928" cy="777240"/>
          </a:xfrm>
          <a:prstGeom prst="rect">
            <a:avLst/>
          </a:prstGeom>
          <a:noFill/>
        </p:spPr>
        <p:txBody>
          <a:bodyPr wrap="square" lIns="27432" tIns="0" rIns="27432" bIns="0">
            <a:spAutoFit/>
          </a:bodyPr>
          <a:lstStyle/>
          <a:p>
            <a:pPr>
              <a:spcAft>
                <a:spcPts val="350"/>
              </a:spcAft>
            </a:pPr>
            <a:r>
              <a:rPr sz="950">
                <a:solidFill>
                  <a:srgbClr val="8C1515"/>
                </a:solidFill>
                <a:latin typeface="Calibri"/>
              </a:rPr>
              <a:t>• </a:t>
            </a:r>
            <a:r>
              <a:rPr sz="950">
                <a:solidFill>
                  <a:srgbClr val="2E2D29"/>
                </a:solidFill>
                <a:latin typeface="Calibri"/>
              </a:rPr>
              <a:t>Weighted sum of squared relative residuals against four clinical targets, plus L2 regularization on θ</a:t>
            </a:r>
          </a:p>
          <a:p>
            <a:pPr>
              <a:spcAft>
                <a:spcPts val="350"/>
              </a:spcAft>
            </a:pPr>
            <a:r>
              <a:rPr sz="950">
                <a:solidFill>
                  <a:srgbClr val="8C1515"/>
                </a:solidFill>
                <a:latin typeface="Calibri"/>
              </a:rPr>
              <a:t>• </a:t>
            </a:r>
            <a:r>
              <a:rPr sz="950">
                <a:solidFill>
                  <a:srgbClr val="2E2D29"/>
                </a:solidFill>
                <a:latin typeface="Calibri"/>
              </a:rPr>
              <a:t>Targets: MPA systolic, diastolic and mean pressure, and RPA flow split</a:t>
            </a:r>
          </a:p>
        </p:txBody>
      </p:sp>
      <p:sp>
        <p:nvSpPr>
          <p:cNvPr id="23" name="Rectangle 22"/>
          <p:cNvSpPr/>
          <p:nvPr/>
        </p:nvSpPr>
        <p:spPr>
          <a:xfrm>
            <a:off x="3429000" y="2688336"/>
            <a:ext cx="5394960" cy="120700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3557016" y="2788920"/>
            <a:ext cx="5138928" cy="219456"/>
          </a:xfrm>
          <a:prstGeom prst="rect">
            <a:avLst/>
          </a:prstGeom>
          <a:noFill/>
        </p:spPr>
        <p:txBody>
          <a:bodyPr wrap="square" lIns="27432" tIns="0" rIns="27432" bIns="0" anchor="t">
            <a:spAutoFit/>
          </a:bodyPr>
          <a:lstStyle/>
          <a:p>
            <a:pPr algn="l"/>
            <a:r>
              <a:rPr sz="1100" b="1" i="0">
                <a:solidFill>
                  <a:srgbClr val="8C1515"/>
                </a:solidFill>
                <a:latin typeface="Calibri"/>
              </a:rPr>
              <a:t>Optimizer</a:t>
            </a:r>
          </a:p>
        </p:txBody>
      </p:sp>
      <p:sp>
        <p:nvSpPr>
          <p:cNvPr id="25" name="TextBox 24"/>
          <p:cNvSpPr txBox="1"/>
          <p:nvPr/>
        </p:nvSpPr>
        <p:spPr>
          <a:xfrm>
            <a:off x="3557016" y="3063239"/>
            <a:ext cx="5138928" cy="795528"/>
          </a:xfrm>
          <a:prstGeom prst="rect">
            <a:avLst/>
          </a:prstGeom>
          <a:noFill/>
        </p:spPr>
        <p:txBody>
          <a:bodyPr wrap="square" lIns="27432" tIns="0" rIns="27432" bIns="0">
            <a:spAutoFit/>
          </a:bodyPr>
          <a:lstStyle/>
          <a:p>
            <a:pPr>
              <a:spcAft>
                <a:spcPts val="350"/>
              </a:spcAft>
            </a:pPr>
            <a:r>
              <a:rPr sz="950">
                <a:solidFill>
                  <a:srgbClr val="8C1515"/>
                </a:solidFill>
                <a:latin typeface="Calibri"/>
              </a:rPr>
              <a:t>• </a:t>
            </a:r>
            <a:r>
              <a:rPr sz="950">
                <a:solidFill>
                  <a:srgbClr val="2E2D29"/>
                </a:solidFill>
                <a:latin typeface="Calibri"/>
              </a:rPr>
              <a:t>Nelder-Mead simplex, 5 multistart restarts</a:t>
            </a:r>
          </a:p>
          <a:p>
            <a:pPr>
              <a:spcAft>
                <a:spcPts val="350"/>
              </a:spcAft>
            </a:pPr>
            <a:r>
              <a:rPr sz="950">
                <a:solidFill>
                  <a:srgbClr val="8C1515"/>
                </a:solidFill>
                <a:latin typeface="Calibri"/>
              </a:rPr>
              <a:t>• </a:t>
            </a:r>
            <a:r>
              <a:rPr sz="950">
                <a:solidFill>
                  <a:srgbClr val="2E2D29"/>
                </a:solidFill>
                <a:latin typeface="Calibri"/>
              </a:rPr>
              <a:t>SciPy default tolerances, not overridden: xatol = fatol = 1 × 10⁻⁴</a:t>
            </a:r>
          </a:p>
          <a:p>
            <a:pPr>
              <a:spcAft>
                <a:spcPts val="350"/>
              </a:spcAft>
            </a:pPr>
            <a:r>
              <a:rPr sz="950">
                <a:solidFill>
                  <a:srgbClr val="8C1515"/>
                </a:solidFill>
                <a:latin typeface="Calibri"/>
              </a:rPr>
              <a:t>• </a:t>
            </a:r>
            <a:r>
              <a:rPr sz="950">
                <a:solidFill>
                  <a:srgbClr val="2E2D29"/>
                </a:solidFill>
                <a:latin typeface="Calibri"/>
              </a:rPr>
              <a:t>Hard cap at maxiter = 200</a:t>
            </a:r>
          </a:p>
        </p:txBody>
      </p:sp>
      <p:sp>
        <p:nvSpPr>
          <p:cNvPr id="26" name="Rectangle 25"/>
          <p:cNvSpPr/>
          <p:nvPr/>
        </p:nvSpPr>
        <p:spPr>
          <a:xfrm>
            <a:off x="3429000" y="4023360"/>
            <a:ext cx="5394960" cy="987552"/>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3557016" y="4123944"/>
            <a:ext cx="5138928" cy="219456"/>
          </a:xfrm>
          <a:prstGeom prst="rect">
            <a:avLst/>
          </a:prstGeom>
          <a:noFill/>
        </p:spPr>
        <p:txBody>
          <a:bodyPr wrap="square" lIns="27432" tIns="0" rIns="27432" bIns="0" anchor="t">
            <a:spAutoFit/>
          </a:bodyPr>
          <a:lstStyle/>
          <a:p>
            <a:pPr algn="l"/>
            <a:r>
              <a:rPr sz="1100" b="1" i="0">
                <a:solidFill>
                  <a:srgbClr val="279989"/>
                </a:solidFill>
                <a:latin typeface="Calibri"/>
              </a:rPr>
              <a:t>Solution bookkeeping</a:t>
            </a:r>
          </a:p>
        </p:txBody>
      </p:sp>
      <p:sp>
        <p:nvSpPr>
          <p:cNvPr id="28" name="TextBox 27"/>
          <p:cNvSpPr txBox="1"/>
          <p:nvPr/>
        </p:nvSpPr>
        <p:spPr>
          <a:xfrm>
            <a:off x="3557016" y="4398264"/>
            <a:ext cx="5138928" cy="576072"/>
          </a:xfrm>
          <a:prstGeom prst="rect">
            <a:avLst/>
          </a:prstGeom>
          <a:noFill/>
        </p:spPr>
        <p:txBody>
          <a:bodyPr wrap="square" lIns="27432" tIns="0" rIns="27432" bIns="0">
            <a:spAutoFit/>
          </a:bodyPr>
          <a:lstStyle/>
          <a:p>
            <a:pPr>
              <a:spcAft>
                <a:spcPts val="350"/>
              </a:spcAft>
            </a:pPr>
            <a:r>
              <a:rPr sz="950">
                <a:solidFill>
                  <a:srgbClr val="279989"/>
                </a:solidFill>
                <a:latin typeface="Calibri"/>
              </a:rPr>
              <a:t>• </a:t>
            </a:r>
            <a:r>
              <a:rPr sz="950">
                <a:solidFill>
                  <a:srgbClr val="2E2D29"/>
                </a:solidFill>
                <a:latin typeface="Calibri"/>
              </a:rPr>
              <a:t>The tree loop preserves the best solution by unweighted loss, so reweighting cannot degrade the reported fit</a:t>
            </a:r>
          </a:p>
        </p:txBody>
      </p:sp>
      <p:sp>
        <p:nvSpPr>
          <p:cNvPr id="29" name="TextBox 28"/>
          <p:cNvSpPr txBox="1"/>
          <p:nvPr/>
        </p:nvSpPr>
        <p:spPr>
          <a:xfrm>
            <a:off x="2011680" y="5376672"/>
            <a:ext cx="6812280" cy="201168"/>
          </a:xfrm>
          <a:prstGeom prst="rect">
            <a:avLst/>
          </a:prstGeom>
          <a:noFill/>
        </p:spPr>
        <p:txBody>
          <a:bodyPr wrap="square" lIns="27432" tIns="0" rIns="27432" bIns="0" anchor="t">
            <a:spAutoFit/>
          </a:bodyPr>
          <a:lstStyle/>
          <a:p>
            <a:pPr algn="l"/>
            <a:r>
              <a:rPr sz="700" b="0" i="1">
                <a:solidFill>
                  <a:srgbClr val="6B6965"/>
                </a:solidFill>
                <a:latin typeface="Calibri"/>
              </a:rPr>
              <a:t>impedance_tuner.py, tree tuning loop.</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sz="2200">
                <a:solidFill>
                  <a:srgbClr val="8C1515"/>
                </a:solidFill>
                <a:latin typeface="Georgia"/>
              </a:rPr>
              <a:t>Adaptive loss reweighting</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IN DEVELOPMENT</a:t>
            </a:r>
          </a:p>
        </p:txBody>
      </p:sp>
      <p:sp>
        <p:nvSpPr>
          <p:cNvPr id="19" name="TextBox 18"/>
          <p:cNvSpPr txBox="1"/>
          <p:nvPr/>
        </p:nvSpPr>
        <p:spPr>
          <a:xfrm>
            <a:off x="320040" y="1389888"/>
            <a:ext cx="8503920" cy="219456"/>
          </a:xfrm>
          <a:prstGeom prst="rect">
            <a:avLst/>
          </a:prstGeom>
          <a:noFill/>
        </p:spPr>
        <p:txBody>
          <a:bodyPr wrap="square" lIns="27432" tIns="0" rIns="27432" bIns="0" anchor="t">
            <a:spAutoFit/>
          </a:bodyPr>
          <a:lstStyle/>
          <a:p>
            <a:pPr algn="l"/>
            <a:r>
              <a:rPr sz="950" b="0" i="1">
                <a:solidFill>
                  <a:srgbClr val="6B6965"/>
                </a:solidFill>
                <a:latin typeface="Calibri"/>
              </a:rPr>
              <a:t>Fixed weights let one target dominate the simplex. Weights are therefore promoted after each iteration in proportion to each target's share of the residual.</a:t>
            </a:r>
          </a:p>
        </p:txBody>
      </p:sp>
      <p:sp>
        <p:nvSpPr>
          <p:cNvPr id="20" name="Rectangle 19"/>
          <p:cNvSpPr/>
          <p:nvPr/>
        </p:nvSpPr>
        <p:spPr>
          <a:xfrm>
            <a:off x="320040" y="1700784"/>
            <a:ext cx="8503920" cy="84124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1" name="Picture 20" descr="eq_weight_update.png"/>
          <p:cNvPicPr>
            <a:picLocks noChangeAspect="1"/>
          </p:cNvPicPr>
          <p:nvPr/>
        </p:nvPicPr>
        <p:blipFill>
          <a:blip r:embed="rId2"/>
          <a:stretch>
            <a:fillRect/>
          </a:stretch>
        </p:blipFill>
        <p:spPr>
          <a:xfrm>
            <a:off x="3289356" y="1773936"/>
            <a:ext cx="2565287" cy="694944"/>
          </a:xfrm>
          <a:prstGeom prst="rect">
            <a:avLst/>
          </a:prstGeom>
        </p:spPr>
      </p:pic>
      <p:sp>
        <p:nvSpPr>
          <p:cNvPr id="22" name="Rectangle 21"/>
          <p:cNvSpPr/>
          <p:nvPr/>
        </p:nvSpPr>
        <p:spPr>
          <a:xfrm>
            <a:off x="320040" y="2724912"/>
            <a:ext cx="4160520" cy="146304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448056" y="2825496"/>
            <a:ext cx="3904487" cy="219456"/>
          </a:xfrm>
          <a:prstGeom prst="rect">
            <a:avLst/>
          </a:prstGeom>
          <a:noFill/>
        </p:spPr>
        <p:txBody>
          <a:bodyPr wrap="square" lIns="27432" tIns="0" rIns="27432" bIns="0" anchor="t">
            <a:spAutoFit/>
          </a:bodyPr>
          <a:lstStyle/>
          <a:p>
            <a:pPr algn="l"/>
            <a:r>
              <a:rPr sz="1100" b="1" i="0">
                <a:solidFill>
                  <a:srgbClr val="8C1515"/>
                </a:solidFill>
                <a:latin typeface="Calibri"/>
              </a:rPr>
              <a:t>Behaviour</a:t>
            </a:r>
          </a:p>
        </p:txBody>
      </p:sp>
      <p:sp>
        <p:nvSpPr>
          <p:cNvPr id="24" name="TextBox 23"/>
          <p:cNvSpPr txBox="1"/>
          <p:nvPr/>
        </p:nvSpPr>
        <p:spPr>
          <a:xfrm>
            <a:off x="448056" y="3099815"/>
            <a:ext cx="3904487" cy="1051560"/>
          </a:xfrm>
          <a:prstGeom prst="rect">
            <a:avLst/>
          </a:prstGeom>
          <a:noFill/>
        </p:spPr>
        <p:txBody>
          <a:bodyPr wrap="square" lIns="27432" tIns="0" rIns="27432" bIns="0">
            <a:spAutoFit/>
          </a:bodyPr>
          <a:lstStyle/>
          <a:p>
            <a:pPr>
              <a:spcAft>
                <a:spcPts val="350"/>
              </a:spcAft>
            </a:pPr>
            <a:r>
              <a:rPr sz="900">
                <a:solidFill>
                  <a:srgbClr val="8C1515"/>
                </a:solidFill>
                <a:latin typeface="Calibri"/>
              </a:rPr>
              <a:t>• </a:t>
            </a:r>
            <a:r>
              <a:rPr sz="900">
                <a:solidFill>
                  <a:srgbClr val="2E2D29"/>
                </a:solidFill>
                <a:latin typeface="Calibri"/>
              </a:rPr>
              <a:t>r_i is the current residual of target i; the multiplier uses its normalized share of the total</a:t>
            </a:r>
          </a:p>
          <a:p>
            <a:pPr>
              <a:spcAft>
                <a:spcPts val="350"/>
              </a:spcAft>
            </a:pPr>
            <a:r>
              <a:rPr sz="900">
                <a:solidFill>
                  <a:srgbClr val="8C1515"/>
                </a:solidFill>
                <a:latin typeface="Calibri"/>
              </a:rPr>
              <a:t>• </a:t>
            </a:r>
            <a:r>
              <a:rPr sz="900">
                <a:solidFill>
                  <a:srgbClr val="2E2D29"/>
                </a:solidFill>
                <a:latin typeface="Calibri"/>
              </a:rPr>
              <a:t>A lagging target gains weight until it is competitive with the others</a:t>
            </a:r>
          </a:p>
          <a:p>
            <a:pPr>
              <a:spcAft>
                <a:spcPts val="350"/>
              </a:spcAft>
            </a:pPr>
            <a:r>
              <a:rPr sz="900">
                <a:solidFill>
                  <a:srgbClr val="8C1515"/>
                </a:solidFill>
                <a:latin typeface="Calibri"/>
              </a:rPr>
              <a:t>• </a:t>
            </a:r>
            <a:r>
              <a:rPr sz="900">
                <a:solidFill>
                  <a:srgbClr val="2E2D29"/>
                </a:solidFill>
                <a:latin typeface="Calibri"/>
              </a:rPr>
              <a:t>The 10⁶ ceiling prevents a single stubborn target from taking over the objective</a:t>
            </a:r>
          </a:p>
        </p:txBody>
      </p:sp>
      <p:sp>
        <p:nvSpPr>
          <p:cNvPr id="25" name="Rectangle 24"/>
          <p:cNvSpPr/>
          <p:nvPr/>
        </p:nvSpPr>
        <p:spPr>
          <a:xfrm>
            <a:off x="4663440" y="2724912"/>
            <a:ext cx="4160520" cy="146304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4791455" y="2825496"/>
            <a:ext cx="2761487" cy="219456"/>
          </a:xfrm>
          <a:prstGeom prst="rect">
            <a:avLst/>
          </a:prstGeom>
          <a:noFill/>
        </p:spPr>
        <p:txBody>
          <a:bodyPr wrap="square" lIns="27432" tIns="0" rIns="27432" bIns="0" anchor="t">
            <a:spAutoFit/>
          </a:bodyPr>
          <a:lstStyle/>
          <a:p>
            <a:pPr algn="l"/>
            <a:r>
              <a:rPr sz="1100" b="1" i="0">
                <a:solidFill>
                  <a:srgbClr val="E98300"/>
                </a:solidFill>
                <a:latin typeface="Calibri"/>
              </a:rPr>
              <a:t>Two loops, two conventions</a:t>
            </a:r>
          </a:p>
        </p:txBody>
      </p:sp>
      <p:sp>
        <p:nvSpPr>
          <p:cNvPr id="27" name="Rectangle 26"/>
          <p:cNvSpPr/>
          <p:nvPr/>
        </p:nvSpPr>
        <p:spPr>
          <a:xfrm>
            <a:off x="7580375" y="2834639"/>
            <a:ext cx="1097280" cy="173736"/>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7580375" y="2834639"/>
            <a:ext cx="1097280" cy="173736"/>
          </a:xfrm>
          <a:prstGeom prst="rect">
            <a:avLst/>
          </a:prstGeom>
          <a:noFill/>
        </p:spPr>
        <p:txBody>
          <a:bodyPr wrap="square" lIns="18288" tIns="0" rIns="18288" bIns="0" anchor="ctr">
            <a:spAutoFit/>
          </a:bodyPr>
          <a:lstStyle/>
          <a:p>
            <a:pPr algn="ctr"/>
            <a:r>
              <a:rPr sz="600" b="1">
                <a:solidFill>
                  <a:srgbClr val="FFFFFF"/>
                </a:solidFill>
                <a:latin typeface="Calibri"/>
              </a:rPr>
              <a:t>IN DEVELOPMENT</a:t>
            </a:r>
          </a:p>
        </p:txBody>
      </p:sp>
      <p:sp>
        <p:nvSpPr>
          <p:cNvPr id="29" name="TextBox 28"/>
          <p:cNvSpPr txBox="1"/>
          <p:nvPr/>
        </p:nvSpPr>
        <p:spPr>
          <a:xfrm>
            <a:off x="4791455" y="3099815"/>
            <a:ext cx="3904487" cy="1051560"/>
          </a:xfrm>
          <a:prstGeom prst="rect">
            <a:avLst/>
          </a:prstGeom>
          <a:noFill/>
        </p:spPr>
        <p:txBody>
          <a:bodyPr wrap="square" lIns="27432" tIns="0" rIns="27432" bIns="0">
            <a:spAutoFit/>
          </a:bodyPr>
          <a:lstStyle/>
          <a:p>
            <a:pPr>
              <a:spcAft>
                <a:spcPts val="350"/>
              </a:spcAft>
            </a:pPr>
            <a:r>
              <a:rPr sz="900">
                <a:solidFill>
                  <a:srgbClr val="E98300"/>
                </a:solidFill>
                <a:latin typeface="Calibri"/>
              </a:rPr>
              <a:t>• </a:t>
            </a:r>
            <a:r>
              <a:rPr sz="900">
                <a:solidFill>
                  <a:srgbClr val="2E2D29"/>
                </a:solidFill>
                <a:latin typeface="Calibri"/>
              </a:rPr>
              <a:t>Tree loop: normalized residual shares, 200-iteration cap, best-by-unweighted-loss preserved</a:t>
            </a:r>
          </a:p>
          <a:p>
            <a:pPr>
              <a:spcAft>
                <a:spcPts val="350"/>
              </a:spcAft>
            </a:pPr>
            <a:r>
              <a:rPr sz="900">
                <a:solidFill>
                  <a:srgbClr val="E98300"/>
                </a:solidFill>
                <a:latin typeface="Calibri"/>
              </a:rPr>
              <a:t>• </a:t>
            </a:r>
            <a:r>
              <a:rPr sz="900">
                <a:solidFill>
                  <a:srgbClr val="2E2D29"/>
                </a:solidFill>
                <a:latin typeface="Calibri"/>
              </a:rPr>
              <a:t>RRI outer loop: raw residual reweighting (1 + 5r_i), always seeded from the last solution, no best-solution preservation</a:t>
            </a:r>
          </a:p>
        </p:txBody>
      </p:sp>
      <p:sp>
        <p:nvSpPr>
          <p:cNvPr id="30" name="Rectangle 29"/>
          <p:cNvSpPr/>
          <p:nvPr/>
        </p:nvSpPr>
        <p:spPr>
          <a:xfrm>
            <a:off x="320040" y="4370832"/>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429768" y="4370832"/>
            <a:ext cx="8284464" cy="310896"/>
          </a:xfrm>
          <a:prstGeom prst="rect">
            <a:avLst/>
          </a:prstGeom>
          <a:noFill/>
        </p:spPr>
        <p:txBody>
          <a:bodyPr wrap="square" lIns="27432" tIns="0" rIns="27432" bIns="0" anchor="ctr">
            <a:spAutoFit/>
          </a:bodyPr>
          <a:lstStyle/>
          <a:p>
            <a:pPr algn="l"/>
            <a:r>
              <a:rPr sz="1000" b="1" i="0">
                <a:solidFill>
                  <a:srgbClr val="8C1515"/>
                </a:solidFill>
                <a:latin typeface="Calibri"/>
              </a:rPr>
              <a:t>The asymmetry between the two loops is unintentional and worth reconciling before publication.</a:t>
            </a:r>
          </a:p>
        </p:txBody>
      </p:sp>
      <p:sp>
        <p:nvSpPr>
          <p:cNvPr id="32" name="TextBox 31"/>
          <p:cNvSpPr txBox="1"/>
          <p:nvPr/>
        </p:nvSpPr>
        <p:spPr>
          <a:xfrm>
            <a:off x="2011680" y="5376672"/>
            <a:ext cx="6812280" cy="201168"/>
          </a:xfrm>
          <a:prstGeom prst="rect">
            <a:avLst/>
          </a:prstGeom>
          <a:noFill/>
        </p:spPr>
        <p:txBody>
          <a:bodyPr wrap="square" lIns="27432" tIns="0" rIns="27432" bIns="0" anchor="t">
            <a:spAutoFit/>
          </a:bodyPr>
          <a:lstStyle/>
          <a:p>
            <a:pPr algn="l"/>
            <a:r>
              <a:rPr sz="700" b="0" i="1">
                <a:solidFill>
                  <a:srgbClr val="6B6965"/>
                </a:solidFill>
                <a:latin typeface="Calibri"/>
              </a:rPr>
              <a:t>impedance_tuner.py (tree loop); simulation_directory.py (RRI loop).</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sz="2200">
                <a:solidFill>
                  <a:srgbClr val="8C1515"/>
                </a:solidFill>
                <a:latin typeface="Georgia"/>
              </a:rPr>
              <a:t>Outer loop: reconciling the reduced-order model with 3D</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IN DEVELOPMENT</a:t>
            </a:r>
          </a:p>
        </p:txBody>
      </p:sp>
      <p:sp>
        <p:nvSpPr>
          <p:cNvPr id="19" name="Rectangle 18"/>
          <p:cNvSpPr/>
          <p:nvPr/>
        </p:nvSpPr>
        <p:spPr>
          <a:xfrm>
            <a:off x="320040" y="1444752"/>
            <a:ext cx="1975104" cy="148132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320040" y="1444752"/>
            <a:ext cx="1975104" cy="256032"/>
          </a:xfrm>
          <a:prstGeom prst="rect">
            <a:avLst/>
          </a:prstGeom>
          <a:solidFill>
            <a:srgbClr val="007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320040" y="1444752"/>
            <a:ext cx="1975104" cy="256032"/>
          </a:xfrm>
          <a:prstGeom prst="rect">
            <a:avLst/>
          </a:prstGeom>
          <a:noFill/>
        </p:spPr>
        <p:txBody>
          <a:bodyPr wrap="square" lIns="27432" tIns="0" rIns="27432" bIns="0" anchor="ctr">
            <a:spAutoFit/>
          </a:bodyPr>
          <a:lstStyle/>
          <a:p>
            <a:pPr algn="ctr"/>
            <a:r>
              <a:rPr sz="950" b="1" i="0">
                <a:solidFill>
                  <a:srgbClr val="FFFFFF"/>
                </a:solidFill>
                <a:latin typeface="Calibri"/>
              </a:rPr>
              <a:t>Seed</a:t>
            </a:r>
          </a:p>
        </p:txBody>
      </p:sp>
      <p:sp>
        <p:nvSpPr>
          <p:cNvPr id="22" name="TextBox 21"/>
          <p:cNvSpPr txBox="1"/>
          <p:nvPr/>
        </p:nvSpPr>
        <p:spPr>
          <a:xfrm>
            <a:off x="411479" y="1810512"/>
            <a:ext cx="1792224" cy="1005840"/>
          </a:xfrm>
          <a:prstGeom prst="rect">
            <a:avLst/>
          </a:prstGeom>
          <a:noFill/>
        </p:spPr>
        <p:txBody>
          <a:bodyPr wrap="square" lIns="27432" tIns="0" rIns="27432" bIns="0" anchor="t">
            <a:spAutoFit/>
          </a:bodyPr>
          <a:lstStyle/>
          <a:p>
            <a:pPr algn="l">
              <a:lnSpc>
                <a:spcPct val="112000"/>
              </a:lnSpc>
            </a:pPr>
            <a:r>
              <a:rPr sz="850" b="0" i="0">
                <a:solidFill>
                  <a:srgbClr val="2E2D29"/>
                </a:solidFill>
                <a:latin typeface="Calibri"/>
              </a:rPr>
              <a:t>Nonlinear resistance estimated from</a:t>
            </a:r>
          </a:p>
          <a:p>
            <a:pPr algn="l">
              <a:lnSpc>
                <a:spcPct val="112000"/>
              </a:lnSpc>
            </a:pPr>
            <a:r>
              <a:rPr sz="850" b="0" i="0">
                <a:solidFill>
                  <a:srgbClr val="2E2D29"/>
                </a:solidFill>
                <a:latin typeface="Calibri"/>
              </a:rPr>
              <a:t>steady 3D simulations at mean,</a:t>
            </a:r>
          </a:p>
          <a:p>
            <a:pPr algn="l">
              <a:lnSpc>
                <a:spcPct val="112000"/>
              </a:lnSpc>
            </a:pPr>
            <a:r>
              <a:rPr sz="850" b="0" i="0">
                <a:solidFill>
                  <a:srgbClr val="2E2D29"/>
                </a:solidFill>
                <a:latin typeface="Calibri"/>
              </a:rPr>
              <a:t>systolic and diastolic flow</a:t>
            </a:r>
          </a:p>
        </p:txBody>
      </p:sp>
      <p:sp>
        <p:nvSpPr>
          <p:cNvPr id="23" name="Right Arrow 22"/>
          <p:cNvSpPr/>
          <p:nvPr/>
        </p:nvSpPr>
        <p:spPr>
          <a:xfrm>
            <a:off x="2313432" y="2103120"/>
            <a:ext cx="155448" cy="164592"/>
          </a:xfrm>
          <a:prstGeom prst="rightArrow">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2496312" y="1444752"/>
            <a:ext cx="1975104" cy="148132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2496312" y="1444752"/>
            <a:ext cx="1975104" cy="256032"/>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2496312" y="1444752"/>
            <a:ext cx="1975104" cy="256032"/>
          </a:xfrm>
          <a:prstGeom prst="rect">
            <a:avLst/>
          </a:prstGeom>
          <a:noFill/>
        </p:spPr>
        <p:txBody>
          <a:bodyPr wrap="square" lIns="27432" tIns="0" rIns="27432" bIns="0" anchor="ctr">
            <a:spAutoFit/>
          </a:bodyPr>
          <a:lstStyle/>
          <a:p>
            <a:pPr algn="ctr"/>
            <a:r>
              <a:rPr sz="950" b="1" i="0">
                <a:solidFill>
                  <a:srgbClr val="FFFFFF"/>
                </a:solidFill>
                <a:latin typeface="Calibri"/>
              </a:rPr>
              <a:t>Tune trees</a:t>
            </a:r>
          </a:p>
        </p:txBody>
      </p:sp>
      <p:sp>
        <p:nvSpPr>
          <p:cNvPr id="27" name="TextBox 26"/>
          <p:cNvSpPr txBox="1"/>
          <p:nvPr/>
        </p:nvSpPr>
        <p:spPr>
          <a:xfrm>
            <a:off x="2587752" y="1810512"/>
            <a:ext cx="1792224" cy="1005840"/>
          </a:xfrm>
          <a:prstGeom prst="rect">
            <a:avLst/>
          </a:prstGeom>
          <a:noFill/>
        </p:spPr>
        <p:txBody>
          <a:bodyPr wrap="square" lIns="27432" tIns="0" rIns="27432" bIns="0" anchor="t">
            <a:spAutoFit/>
          </a:bodyPr>
          <a:lstStyle/>
          <a:p>
            <a:pPr algn="l">
              <a:lnSpc>
                <a:spcPct val="112000"/>
              </a:lnSpc>
            </a:pPr>
            <a:r>
              <a:rPr sz="850" b="0" i="0">
                <a:solidFill>
                  <a:srgbClr val="2E2D29"/>
                </a:solidFill>
                <a:latin typeface="Calibri"/>
              </a:rPr>
              <a:t>Inner loop fits ξ, η, k₂ against</a:t>
            </a:r>
          </a:p>
          <a:p>
            <a:pPr algn="l">
              <a:lnSpc>
                <a:spcPct val="112000"/>
              </a:lnSpc>
            </a:pPr>
            <a:r>
              <a:rPr sz="850" b="0" i="0">
                <a:solidFill>
                  <a:srgbClr val="2E2D29"/>
                </a:solidFill>
                <a:latin typeface="Calibri"/>
              </a:rPr>
              <a:t>clinical targets with RRI fixed</a:t>
            </a:r>
          </a:p>
        </p:txBody>
      </p:sp>
      <p:sp>
        <p:nvSpPr>
          <p:cNvPr id="28" name="Right Arrow 27"/>
          <p:cNvSpPr/>
          <p:nvPr/>
        </p:nvSpPr>
        <p:spPr>
          <a:xfrm>
            <a:off x="4489704" y="2103120"/>
            <a:ext cx="155448" cy="164592"/>
          </a:xfrm>
          <a:prstGeom prst="rightArrow">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4672584" y="1444752"/>
            <a:ext cx="1975104" cy="148132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ectangle 29"/>
          <p:cNvSpPr/>
          <p:nvPr/>
        </p:nvSpPr>
        <p:spPr>
          <a:xfrm>
            <a:off x="4672584" y="1444752"/>
            <a:ext cx="1975104" cy="256032"/>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4672584" y="1444752"/>
            <a:ext cx="1975104" cy="256032"/>
          </a:xfrm>
          <a:prstGeom prst="rect">
            <a:avLst/>
          </a:prstGeom>
          <a:noFill/>
        </p:spPr>
        <p:txBody>
          <a:bodyPr wrap="square" lIns="27432" tIns="0" rIns="27432" bIns="0" anchor="ctr">
            <a:spAutoFit/>
          </a:bodyPr>
          <a:lstStyle/>
          <a:p>
            <a:pPr algn="ctr"/>
            <a:r>
              <a:rPr sz="950" b="1" i="0">
                <a:solidFill>
                  <a:srgbClr val="FFFFFF"/>
                </a:solidFill>
                <a:latin typeface="Calibri"/>
              </a:rPr>
              <a:t>Run 3D</a:t>
            </a:r>
          </a:p>
        </p:txBody>
      </p:sp>
      <p:sp>
        <p:nvSpPr>
          <p:cNvPr id="32" name="TextBox 31"/>
          <p:cNvSpPr txBox="1"/>
          <p:nvPr/>
        </p:nvSpPr>
        <p:spPr>
          <a:xfrm>
            <a:off x="4764024" y="1810512"/>
            <a:ext cx="1792224" cy="1005840"/>
          </a:xfrm>
          <a:prstGeom prst="rect">
            <a:avLst/>
          </a:prstGeom>
          <a:noFill/>
        </p:spPr>
        <p:txBody>
          <a:bodyPr wrap="square" lIns="27432" tIns="0" rIns="27432" bIns="0" anchor="t">
            <a:spAutoFit/>
          </a:bodyPr>
          <a:lstStyle/>
          <a:p>
            <a:pPr algn="l">
              <a:lnSpc>
                <a:spcPct val="112000"/>
              </a:lnSpc>
            </a:pPr>
            <a:r>
              <a:rPr sz="850" b="0" i="0">
                <a:solidFill>
                  <a:srgbClr val="2E2D29"/>
                </a:solidFill>
                <a:latin typeface="Calibri"/>
              </a:rPr>
              <a:t>Apply tuned impedance BCs and run</a:t>
            </a:r>
          </a:p>
          <a:p>
            <a:pPr algn="l">
              <a:lnSpc>
                <a:spcPct val="112000"/>
              </a:lnSpc>
            </a:pPr>
            <a:r>
              <a:rPr sz="850" b="0" i="0">
                <a:solidFill>
                  <a:srgbClr val="2E2D29"/>
                </a:solidFill>
                <a:latin typeface="Calibri"/>
              </a:rPr>
              <a:t>transient deformable-wall CFD</a:t>
            </a:r>
          </a:p>
        </p:txBody>
      </p:sp>
      <p:sp>
        <p:nvSpPr>
          <p:cNvPr id="33" name="Right Arrow 32"/>
          <p:cNvSpPr/>
          <p:nvPr/>
        </p:nvSpPr>
        <p:spPr>
          <a:xfrm>
            <a:off x="6665976" y="2103120"/>
            <a:ext cx="155448" cy="164592"/>
          </a:xfrm>
          <a:prstGeom prst="rightArrow">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6848856" y="1444752"/>
            <a:ext cx="1975104" cy="148132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Rectangle 34"/>
          <p:cNvSpPr/>
          <p:nvPr/>
        </p:nvSpPr>
        <p:spPr>
          <a:xfrm>
            <a:off x="6848856" y="1444752"/>
            <a:ext cx="1975104" cy="256032"/>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6848856" y="1444752"/>
            <a:ext cx="1975104" cy="256032"/>
          </a:xfrm>
          <a:prstGeom prst="rect">
            <a:avLst/>
          </a:prstGeom>
          <a:noFill/>
        </p:spPr>
        <p:txBody>
          <a:bodyPr wrap="square" lIns="27432" tIns="0" rIns="27432" bIns="0" anchor="ctr">
            <a:spAutoFit/>
          </a:bodyPr>
          <a:lstStyle/>
          <a:p>
            <a:pPr algn="ctr"/>
            <a:r>
              <a:rPr sz="950" b="1" i="0">
                <a:solidFill>
                  <a:srgbClr val="FFFFFF"/>
                </a:solidFill>
                <a:latin typeface="Calibri"/>
              </a:rPr>
              <a:t>Refit RRI</a:t>
            </a:r>
          </a:p>
        </p:txBody>
      </p:sp>
      <p:sp>
        <p:nvSpPr>
          <p:cNvPr id="37" name="TextBox 36"/>
          <p:cNvSpPr txBox="1"/>
          <p:nvPr/>
        </p:nvSpPr>
        <p:spPr>
          <a:xfrm>
            <a:off x="6940296" y="1810512"/>
            <a:ext cx="1792224" cy="1005840"/>
          </a:xfrm>
          <a:prstGeom prst="rect">
            <a:avLst/>
          </a:prstGeom>
          <a:noFill/>
        </p:spPr>
        <p:txBody>
          <a:bodyPr wrap="square" lIns="27432" tIns="0" rIns="27432" bIns="0" anchor="t">
            <a:spAutoFit/>
          </a:bodyPr>
          <a:lstStyle/>
          <a:p>
            <a:pPr algn="l">
              <a:lnSpc>
                <a:spcPct val="112000"/>
              </a:lnSpc>
            </a:pPr>
            <a:r>
              <a:rPr sz="850" b="0" i="0">
                <a:solidFill>
                  <a:srgbClr val="2E2D29"/>
                </a:solidFill>
                <a:latin typeface="Calibri"/>
              </a:rPr>
              <a:t>Nelder-Mead adjusts the RRI parameters</a:t>
            </a:r>
          </a:p>
          <a:p>
            <a:pPr algn="l">
              <a:lnSpc>
                <a:spcPct val="112000"/>
              </a:lnSpc>
            </a:pPr>
            <a:r>
              <a:rPr sz="850" b="0" i="0">
                <a:solidFill>
                  <a:srgbClr val="2E2D29"/>
                </a:solidFill>
                <a:latin typeface="Calibri"/>
              </a:rPr>
              <a:t>so the ROM reproduces the 3D result</a:t>
            </a:r>
          </a:p>
        </p:txBody>
      </p:sp>
      <p:sp>
        <p:nvSpPr>
          <p:cNvPr id="38" name="Left Arrow 37"/>
          <p:cNvSpPr/>
          <p:nvPr/>
        </p:nvSpPr>
        <p:spPr>
          <a:xfrm>
            <a:off x="4471416" y="2999232"/>
            <a:ext cx="201168" cy="201168"/>
          </a:xfrm>
          <a:prstGeom prst="leftArrow">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320040" y="2999232"/>
            <a:ext cx="4069080" cy="201168"/>
          </a:xfrm>
          <a:prstGeom prst="rect">
            <a:avLst/>
          </a:prstGeom>
          <a:noFill/>
        </p:spPr>
        <p:txBody>
          <a:bodyPr wrap="square" lIns="27432" tIns="0" rIns="27432" bIns="0" anchor="ctr">
            <a:spAutoFit/>
          </a:bodyPr>
          <a:lstStyle/>
          <a:p>
            <a:pPr algn="r"/>
            <a:r>
              <a:rPr sz="900" b="0" i="1">
                <a:solidFill>
                  <a:srgbClr val="E98300"/>
                </a:solidFill>
                <a:latin typeface="Calibri"/>
              </a:rPr>
              <a:t>repeat until the ROM and 3D agree</a:t>
            </a:r>
          </a:p>
        </p:txBody>
      </p:sp>
      <p:sp>
        <p:nvSpPr>
          <p:cNvPr id="40" name="Rectangle 39"/>
          <p:cNvSpPr/>
          <p:nvPr/>
        </p:nvSpPr>
        <p:spPr>
          <a:xfrm>
            <a:off x="320040" y="3346704"/>
            <a:ext cx="4160520" cy="129844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448056" y="3447288"/>
            <a:ext cx="3904487" cy="219456"/>
          </a:xfrm>
          <a:prstGeom prst="rect">
            <a:avLst/>
          </a:prstGeom>
          <a:noFill/>
        </p:spPr>
        <p:txBody>
          <a:bodyPr wrap="square" lIns="27432" tIns="0" rIns="27432" bIns="0" anchor="t">
            <a:spAutoFit/>
          </a:bodyPr>
          <a:lstStyle/>
          <a:p>
            <a:pPr algn="l"/>
            <a:r>
              <a:rPr sz="1100" b="1" i="0">
                <a:solidFill>
                  <a:srgbClr val="8C1515"/>
                </a:solidFill>
                <a:latin typeface="Calibri"/>
              </a:rPr>
              <a:t>Settings</a:t>
            </a:r>
          </a:p>
        </p:txBody>
      </p:sp>
      <p:sp>
        <p:nvSpPr>
          <p:cNvPr id="42" name="TextBox 41"/>
          <p:cNvSpPr txBox="1"/>
          <p:nvPr/>
        </p:nvSpPr>
        <p:spPr>
          <a:xfrm>
            <a:off x="448056" y="3721608"/>
            <a:ext cx="3904487" cy="886968"/>
          </a:xfrm>
          <a:prstGeom prst="rect">
            <a:avLst/>
          </a:prstGeom>
          <a:noFill/>
        </p:spPr>
        <p:txBody>
          <a:bodyPr wrap="square" lIns="27432" tIns="0" rIns="27432" bIns="0">
            <a:spAutoFit/>
          </a:bodyPr>
          <a:lstStyle/>
          <a:p>
            <a:pPr>
              <a:spcAft>
                <a:spcPts val="350"/>
              </a:spcAft>
            </a:pPr>
            <a:r>
              <a:rPr sz="900">
                <a:solidFill>
                  <a:srgbClr val="8C1515"/>
                </a:solidFill>
                <a:latin typeface="Calibri"/>
              </a:rPr>
              <a:t>• </a:t>
            </a:r>
            <a:r>
              <a:rPr sz="900">
                <a:solidFill>
                  <a:srgbClr val="2E2D29"/>
                </a:solidFill>
                <a:latin typeface="Calibri"/>
              </a:rPr>
              <a:t>Nelder-Mead with 5 multistart restarts, SciPy default xatol = fatol = 1 × 10⁻⁴</a:t>
            </a:r>
          </a:p>
          <a:p>
            <a:pPr>
              <a:spcAft>
                <a:spcPts val="350"/>
              </a:spcAft>
            </a:pPr>
            <a:r>
              <a:rPr sz="900">
                <a:solidFill>
                  <a:srgbClr val="8C1515"/>
                </a:solidFill>
                <a:latin typeface="Calibri"/>
              </a:rPr>
              <a:t>• </a:t>
            </a:r>
            <a:r>
              <a:rPr sz="900">
                <a:solidFill>
                  <a:srgbClr val="2E2D29"/>
                </a:solidFill>
                <a:latin typeface="Calibri"/>
              </a:rPr>
              <a:t>Residuals reweighted by (1 + 5r_i) between runs</a:t>
            </a:r>
          </a:p>
          <a:p>
            <a:pPr>
              <a:spcAft>
                <a:spcPts val="350"/>
              </a:spcAft>
            </a:pPr>
            <a:r>
              <a:rPr sz="900">
                <a:solidFill>
                  <a:srgbClr val="8C1515"/>
                </a:solidFill>
                <a:latin typeface="Calibri"/>
              </a:rPr>
              <a:t>• </a:t>
            </a:r>
            <a:r>
              <a:rPr sz="900">
                <a:solidFill>
                  <a:srgbClr val="2E2D29"/>
                </a:solidFill>
                <a:latin typeface="Calibri"/>
              </a:rPr>
              <a:t>Each run is seeded from the previous solution</a:t>
            </a:r>
          </a:p>
        </p:txBody>
      </p:sp>
      <p:sp>
        <p:nvSpPr>
          <p:cNvPr id="43" name="Rectangle 42"/>
          <p:cNvSpPr/>
          <p:nvPr/>
        </p:nvSpPr>
        <p:spPr>
          <a:xfrm>
            <a:off x="4663440" y="3346704"/>
            <a:ext cx="4160520" cy="129844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Box 43"/>
          <p:cNvSpPr txBox="1"/>
          <p:nvPr/>
        </p:nvSpPr>
        <p:spPr>
          <a:xfrm>
            <a:off x="4791455" y="3447288"/>
            <a:ext cx="2761487" cy="219456"/>
          </a:xfrm>
          <a:prstGeom prst="rect">
            <a:avLst/>
          </a:prstGeom>
          <a:noFill/>
        </p:spPr>
        <p:txBody>
          <a:bodyPr wrap="square" lIns="27432" tIns="0" rIns="27432" bIns="0" anchor="t">
            <a:spAutoFit/>
          </a:bodyPr>
          <a:lstStyle/>
          <a:p>
            <a:pPr algn="l"/>
            <a:r>
              <a:rPr sz="1100" b="1" i="0">
                <a:solidFill>
                  <a:srgbClr val="E98300"/>
                </a:solidFill>
                <a:latin typeface="Calibri"/>
              </a:rPr>
              <a:t>Known weakness</a:t>
            </a:r>
          </a:p>
        </p:txBody>
      </p:sp>
      <p:sp>
        <p:nvSpPr>
          <p:cNvPr id="45" name="Rectangle 44"/>
          <p:cNvSpPr/>
          <p:nvPr/>
        </p:nvSpPr>
        <p:spPr>
          <a:xfrm>
            <a:off x="7580375" y="3456432"/>
            <a:ext cx="1097280" cy="173736"/>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Box 45"/>
          <p:cNvSpPr txBox="1"/>
          <p:nvPr/>
        </p:nvSpPr>
        <p:spPr>
          <a:xfrm>
            <a:off x="7580375" y="3456432"/>
            <a:ext cx="1097280" cy="173736"/>
          </a:xfrm>
          <a:prstGeom prst="rect">
            <a:avLst/>
          </a:prstGeom>
          <a:noFill/>
        </p:spPr>
        <p:txBody>
          <a:bodyPr wrap="square" lIns="18288" tIns="0" rIns="18288" bIns="0" anchor="ctr">
            <a:spAutoFit/>
          </a:bodyPr>
          <a:lstStyle/>
          <a:p>
            <a:pPr algn="ctr"/>
            <a:r>
              <a:rPr sz="600" b="1">
                <a:solidFill>
                  <a:srgbClr val="FFFFFF"/>
                </a:solidFill>
                <a:latin typeface="Calibri"/>
              </a:rPr>
              <a:t>IN DEVELOPMENT</a:t>
            </a:r>
          </a:p>
        </p:txBody>
      </p:sp>
      <p:sp>
        <p:nvSpPr>
          <p:cNvPr id="47" name="TextBox 46"/>
          <p:cNvSpPr txBox="1"/>
          <p:nvPr/>
        </p:nvSpPr>
        <p:spPr>
          <a:xfrm>
            <a:off x="4791455" y="3721608"/>
            <a:ext cx="3904487" cy="886968"/>
          </a:xfrm>
          <a:prstGeom prst="rect">
            <a:avLst/>
          </a:prstGeom>
          <a:noFill/>
        </p:spPr>
        <p:txBody>
          <a:bodyPr wrap="square" lIns="27432" tIns="0" rIns="27432" bIns="0">
            <a:spAutoFit/>
          </a:bodyPr>
          <a:lstStyle/>
          <a:p>
            <a:pPr>
              <a:spcAft>
                <a:spcPts val="350"/>
              </a:spcAft>
            </a:pPr>
            <a:r>
              <a:rPr sz="900">
                <a:solidFill>
                  <a:srgbClr val="E98300"/>
                </a:solidFill>
                <a:latin typeface="Calibri"/>
              </a:rPr>
              <a:t>• </a:t>
            </a:r>
            <a:r>
              <a:rPr sz="900">
                <a:solidFill>
                  <a:srgbClr val="2E2D29"/>
                </a:solidFill>
                <a:latin typeface="Calibri"/>
              </a:rPr>
              <a:t>Because the loop never reverts to the best unweighted solution, a late reweighted run can end worse than an earlier one</a:t>
            </a:r>
          </a:p>
          <a:p>
            <a:pPr>
              <a:spcAft>
                <a:spcPts val="350"/>
              </a:spcAft>
            </a:pPr>
            <a:r>
              <a:rPr sz="900">
                <a:solidFill>
                  <a:srgbClr val="E98300"/>
                </a:solidFill>
                <a:latin typeface="Calibri"/>
              </a:rPr>
              <a:t>• </a:t>
            </a:r>
            <a:r>
              <a:rPr sz="900">
                <a:solidFill>
                  <a:srgbClr val="2E2D29"/>
                </a:solidFill>
                <a:latin typeface="Calibri"/>
              </a:rPr>
              <a:t>Fix: track and return the best-by-unweighted-loss iterate, matching the tree loop</a:t>
            </a:r>
          </a:p>
        </p:txBody>
      </p:sp>
      <p:sp>
        <p:nvSpPr>
          <p:cNvPr id="48" name="Rectangle 47"/>
          <p:cNvSpPr/>
          <p:nvPr/>
        </p:nvSpPr>
        <p:spPr>
          <a:xfrm>
            <a:off x="320040" y="4791456"/>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Box 48"/>
          <p:cNvSpPr txBox="1"/>
          <p:nvPr/>
        </p:nvSpPr>
        <p:spPr>
          <a:xfrm>
            <a:off x="429768" y="4791456"/>
            <a:ext cx="8284464" cy="310896"/>
          </a:xfrm>
          <a:prstGeom prst="rect">
            <a:avLst/>
          </a:prstGeom>
          <a:noFill/>
        </p:spPr>
        <p:txBody>
          <a:bodyPr wrap="square" lIns="27432" tIns="0" rIns="27432" bIns="0" anchor="ctr">
            <a:spAutoFit/>
          </a:bodyPr>
          <a:lstStyle/>
          <a:p>
            <a:pPr algn="l"/>
            <a:r>
              <a:rPr sz="1000" b="1" i="0">
                <a:solidFill>
                  <a:srgbClr val="8C1515"/>
                </a:solidFill>
                <a:latin typeface="Calibri"/>
              </a:rPr>
              <a:t>Typically converges in about five outer iterations; each iteration costs one transient 3D run.</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sz="2200">
                <a:solidFill>
                  <a:srgbClr val="8C1515"/>
                </a:solidFill>
                <a:latin typeface="Georgia"/>
              </a:rPr>
              <a:t>Complete tuning pipeline</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IN DEVELOPMENT</a:t>
            </a:r>
          </a:p>
        </p:txBody>
      </p:sp>
      <p:pic>
        <p:nvPicPr>
          <p:cNvPr id="19" name="Picture 18" descr="schematic_tuning_pipeline_crop.png"/>
          <p:cNvPicPr>
            <a:picLocks noChangeAspect="1"/>
          </p:cNvPicPr>
          <p:nvPr/>
        </p:nvPicPr>
        <p:blipFill>
          <a:blip r:embed="rId2"/>
          <a:stretch>
            <a:fillRect/>
          </a:stretch>
        </p:blipFill>
        <p:spPr>
          <a:xfrm>
            <a:off x="591125" y="1371600"/>
            <a:ext cx="7961748" cy="3401568"/>
          </a:xfrm>
          <a:prstGeom prst="rect">
            <a:avLst/>
          </a:prstGeom>
        </p:spPr>
      </p:pic>
      <p:sp>
        <p:nvSpPr>
          <p:cNvPr id="20" name="TextBox 19"/>
          <p:cNvSpPr txBox="1"/>
          <p:nvPr/>
        </p:nvSpPr>
        <p:spPr>
          <a:xfrm>
            <a:off x="2011680" y="5376672"/>
            <a:ext cx="6812280" cy="201168"/>
          </a:xfrm>
          <a:prstGeom prst="rect">
            <a:avLst/>
          </a:prstGeom>
          <a:noFill/>
        </p:spPr>
        <p:txBody>
          <a:bodyPr wrap="square" lIns="27432" tIns="0" rIns="27432" bIns="0" anchor="t">
            <a:spAutoFit/>
          </a:bodyPr>
          <a:lstStyle/>
          <a:p>
            <a:pPr algn="l"/>
            <a:r>
              <a:rPr sz="700" b="0" i="1">
                <a:solidFill>
                  <a:srgbClr val="6B6965"/>
                </a:solidFill>
                <a:latin typeface="Calibri"/>
              </a:rPr>
              <a:t>Master schematic for Stage 2. Keep this figure and the parameter table in sync.</a:t>
            </a:r>
          </a:p>
        </p:txBody>
      </p:sp>
      <p:sp>
        <p:nvSpPr>
          <p:cNvPr id="21" name="Rectangle 20"/>
          <p:cNvSpPr/>
          <p:nvPr/>
        </p:nvSpPr>
        <p:spPr>
          <a:xfrm>
            <a:off x="320040" y="4846320"/>
            <a:ext cx="8503920" cy="347472"/>
          </a:xfrm>
          <a:prstGeom prst="rect">
            <a:avLst/>
          </a:prstGeom>
          <a:solidFill>
            <a:srgbClr val="FDEE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429768" y="4937760"/>
            <a:ext cx="1051560" cy="164592"/>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r>
              <a:rPr sz="650" b="1" i="0">
                <a:solidFill>
                  <a:srgbClr val="FFFFFF"/>
                </a:solidFill>
                <a:latin typeface="Calibri"/>
              </a:rPr>
              <a:t>IN DEVELOPMENT</a:t>
            </a:r>
          </a:p>
        </p:txBody>
      </p:sp>
      <p:sp>
        <p:nvSpPr>
          <p:cNvPr id="23" name="TextBox 22"/>
          <p:cNvSpPr txBox="1"/>
          <p:nvPr/>
        </p:nvSpPr>
        <p:spPr>
          <a:xfrm>
            <a:off x="1600200" y="4846320"/>
            <a:ext cx="7178040" cy="347472"/>
          </a:xfrm>
          <a:prstGeom prst="rect">
            <a:avLst/>
          </a:prstGeom>
          <a:noFill/>
        </p:spPr>
        <p:txBody>
          <a:bodyPr wrap="square" lIns="0" tIns="0" rIns="0" bIns="0" anchor="ctr"/>
          <a:lstStyle/>
          <a:p>
            <a:pPr algn="l"/>
            <a:r>
              <a:rPr sz="900" b="1" i="0">
                <a:solidFill>
                  <a:srgbClr val="E98300"/>
                </a:solidFill>
                <a:latin typeface="Calibri"/>
              </a:rPr>
              <a:t>Update: </a:t>
            </a:r>
            <a:r>
              <a:rPr sz="850" b="0" i="0">
                <a:solidFill>
                  <a:srgbClr val="2E2D29"/>
                </a:solidFill>
                <a:latin typeface="Calibri"/>
              </a:rPr>
              <a:t>implementing the full branched 0D model in place of the reduced-order model shown here — learnedZeroD seed, centerline BC mapping, svZeroDCalibrator (slides 31–34 and 42).</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sz="2200" dirty="0">
                <a:solidFill>
                  <a:srgbClr val="8C1515"/>
                </a:solidFill>
                <a:latin typeface="Georgia"/>
              </a:rPr>
              <a:t>Tuned BCs reproduce the pre-operative targets</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IN DEVELOPMENT</a:t>
            </a:r>
          </a:p>
        </p:txBody>
      </p:sp>
      <p:pic>
        <p:nvPicPr>
          <p:cNvPr id="19" name="Picture 18" descr="calib_scatter.png"/>
          <p:cNvPicPr>
            <a:picLocks noChangeAspect="1"/>
          </p:cNvPicPr>
          <p:nvPr/>
        </p:nvPicPr>
        <p:blipFill>
          <a:blip r:embed="rId2"/>
          <a:stretch>
            <a:fillRect/>
          </a:stretch>
        </p:blipFill>
        <p:spPr>
          <a:xfrm>
            <a:off x="701422" y="1389888"/>
            <a:ext cx="3854955" cy="3310128"/>
          </a:xfrm>
          <a:prstGeom prst="rect">
            <a:avLst/>
          </a:prstGeom>
        </p:spPr>
      </p:pic>
      <p:sp>
        <p:nvSpPr>
          <p:cNvPr id="20" name="TextBox 19"/>
          <p:cNvSpPr txBox="1"/>
          <p:nvPr/>
        </p:nvSpPr>
        <p:spPr>
          <a:xfrm>
            <a:off x="320040" y="4736592"/>
            <a:ext cx="4617720" cy="201168"/>
          </a:xfrm>
          <a:prstGeom prst="rect">
            <a:avLst/>
          </a:prstGeom>
          <a:noFill/>
        </p:spPr>
        <p:txBody>
          <a:bodyPr wrap="square" lIns="27432" tIns="0" rIns="27432" bIns="0" anchor="t">
            <a:spAutoFit/>
          </a:bodyPr>
          <a:lstStyle/>
          <a:p>
            <a:pPr algn="ctr"/>
            <a:r>
              <a:rPr sz="850" b="0" i="1">
                <a:solidFill>
                  <a:srgbClr val="6B6965"/>
                </a:solidFill>
                <a:latin typeface="Calibri"/>
              </a:rPr>
              <a:t>Calibration targets vs. simulated pre-operative values</a:t>
            </a:r>
          </a:p>
        </p:txBody>
      </p:sp>
      <p:pic>
        <p:nvPicPr>
          <p:cNvPr id="21" name="Picture 20" descr="calib_table.png"/>
          <p:cNvPicPr>
            <a:picLocks noChangeAspect="1"/>
          </p:cNvPicPr>
          <p:nvPr/>
        </p:nvPicPr>
        <p:blipFill>
          <a:blip r:embed="rId3"/>
          <a:stretch>
            <a:fillRect/>
          </a:stretch>
        </p:blipFill>
        <p:spPr>
          <a:xfrm>
            <a:off x="5120640" y="1689768"/>
            <a:ext cx="3703320" cy="1503358"/>
          </a:xfrm>
          <a:prstGeom prst="rect">
            <a:avLst/>
          </a:prstGeom>
        </p:spPr>
      </p:pic>
      <p:sp>
        <p:nvSpPr>
          <p:cNvPr id="22" name="TextBox 21"/>
          <p:cNvSpPr txBox="1"/>
          <p:nvPr/>
        </p:nvSpPr>
        <p:spPr>
          <a:xfrm>
            <a:off x="5120640" y="3529584"/>
            <a:ext cx="3703320" cy="201168"/>
          </a:xfrm>
          <a:prstGeom prst="rect">
            <a:avLst/>
          </a:prstGeom>
          <a:noFill/>
        </p:spPr>
        <p:txBody>
          <a:bodyPr wrap="square" lIns="27432" tIns="0" rIns="27432" bIns="0" anchor="t">
            <a:spAutoFit/>
          </a:bodyPr>
          <a:lstStyle/>
          <a:p>
            <a:pPr algn="ctr"/>
            <a:r>
              <a:rPr sz="850" b="0" i="1">
                <a:solidFill>
                  <a:srgbClr val="6B6965"/>
                </a:solidFill>
                <a:latin typeface="Calibri"/>
              </a:rPr>
              <a:t>Calibration quality summary by patient</a:t>
            </a:r>
          </a:p>
        </p:txBody>
      </p:sp>
      <p:sp>
        <p:nvSpPr>
          <p:cNvPr id="23" name="Rectangle 22"/>
          <p:cNvSpPr/>
          <p:nvPr/>
        </p:nvSpPr>
        <p:spPr>
          <a:xfrm>
            <a:off x="5120640" y="3749039"/>
            <a:ext cx="3703320" cy="96012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5248655" y="3849624"/>
            <a:ext cx="3447287" cy="219456"/>
          </a:xfrm>
          <a:prstGeom prst="rect">
            <a:avLst/>
          </a:prstGeom>
          <a:noFill/>
        </p:spPr>
        <p:txBody>
          <a:bodyPr wrap="square" lIns="27432" tIns="0" rIns="27432" bIns="0" anchor="t">
            <a:spAutoFit/>
          </a:bodyPr>
          <a:lstStyle/>
          <a:p>
            <a:pPr algn="l"/>
            <a:r>
              <a:rPr sz="1100" b="1" i="0">
                <a:solidFill>
                  <a:srgbClr val="8C1515"/>
                </a:solidFill>
                <a:latin typeface="Calibri"/>
              </a:rPr>
              <a:t>Reading the result</a:t>
            </a:r>
          </a:p>
        </p:txBody>
      </p:sp>
      <p:sp>
        <p:nvSpPr>
          <p:cNvPr id="25" name="TextBox 24"/>
          <p:cNvSpPr txBox="1"/>
          <p:nvPr/>
        </p:nvSpPr>
        <p:spPr>
          <a:xfrm>
            <a:off x="5248655" y="4123944"/>
            <a:ext cx="3447287" cy="518091"/>
          </a:xfrm>
          <a:prstGeom prst="rect">
            <a:avLst/>
          </a:prstGeom>
          <a:noFill/>
        </p:spPr>
        <p:txBody>
          <a:bodyPr wrap="square" lIns="27432" tIns="0" rIns="27432" bIns="0">
            <a:spAutoFit/>
          </a:bodyPr>
          <a:lstStyle/>
          <a:p>
            <a:pPr marL="171450" indent="-171450">
              <a:spcAft>
                <a:spcPts val="350"/>
              </a:spcAft>
              <a:buFontTx/>
              <a:buChar char="-"/>
            </a:pPr>
            <a:r>
              <a:rPr lang="en-US" sz="900" dirty="0">
                <a:solidFill>
                  <a:srgbClr val="2E2D29"/>
                </a:solidFill>
                <a:latin typeface="Calibri"/>
              </a:rPr>
              <a:t>systolic pressure calibrates reliably</a:t>
            </a:r>
          </a:p>
          <a:p>
            <a:pPr marL="171450" indent="-171450">
              <a:spcAft>
                <a:spcPts val="350"/>
              </a:spcAft>
              <a:buFontTx/>
              <a:buChar char="-"/>
            </a:pPr>
            <a:r>
              <a:rPr lang="en-US" sz="900" dirty="0">
                <a:solidFill>
                  <a:srgbClr val="2E2D29"/>
                </a:solidFill>
                <a:latin typeface="Calibri"/>
              </a:rPr>
              <a:t>mean pressure needs improvement across the board</a:t>
            </a:r>
          </a:p>
          <a:p>
            <a:pPr marL="171450" indent="-171450">
              <a:spcAft>
                <a:spcPts val="350"/>
              </a:spcAft>
              <a:buFontTx/>
              <a:buChar char="-"/>
            </a:pPr>
            <a:r>
              <a:rPr lang="en-US" sz="900" dirty="0">
                <a:solidFill>
                  <a:srgbClr val="2E2D29"/>
                </a:solidFill>
                <a:latin typeface="Calibri"/>
              </a:rPr>
              <a:t>RPA flow split mismatch in patient 2 only</a:t>
            </a:r>
          </a:p>
        </p:txBody>
      </p:sp>
      <p:sp>
        <p:nvSpPr>
          <p:cNvPr id="26" name="Rectangle 25"/>
          <p:cNvSpPr/>
          <p:nvPr/>
        </p:nvSpPr>
        <p:spPr>
          <a:xfrm>
            <a:off x="320040" y="4846320"/>
            <a:ext cx="46177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429768" y="4846320"/>
            <a:ext cx="4398264" cy="310896"/>
          </a:xfrm>
          <a:prstGeom prst="rect">
            <a:avLst/>
          </a:prstGeom>
          <a:noFill/>
        </p:spPr>
        <p:txBody>
          <a:bodyPr wrap="square" lIns="27432" tIns="0" rIns="27432" bIns="0" anchor="ctr">
            <a:spAutoFit/>
          </a:bodyPr>
          <a:lstStyle/>
          <a:p>
            <a:pPr algn="l"/>
            <a:r>
              <a:rPr sz="1000" b="1" i="0">
                <a:solidFill>
                  <a:srgbClr val="8C1515"/>
                </a:solidFill>
                <a:latin typeface="Calibri"/>
              </a:rPr>
              <a:t>Four of five patients calibrate; TST-STAN-2 remains open.</a:t>
            </a:r>
          </a:p>
        </p:txBody>
      </p:sp>
      <p:sp>
        <p:nvSpPr>
          <p:cNvPr id="29" name="Rectangle 28">
            <a:extLst>
              <a:ext uri="{FF2B5EF4-FFF2-40B4-BE49-F238E27FC236}">
                <a16:creationId xmlns:a16="http://schemas.microsoft.com/office/drawing/2014/main" id="{96C99220-BF3E-53BE-869D-EBD850F79844}"/>
              </a:ext>
            </a:extLst>
          </p:cNvPr>
          <p:cNvSpPr/>
          <p:nvPr/>
        </p:nvSpPr>
        <p:spPr>
          <a:xfrm>
            <a:off x="5120639" y="4844366"/>
            <a:ext cx="3703319" cy="310895"/>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a:extLst>
              <a:ext uri="{FF2B5EF4-FFF2-40B4-BE49-F238E27FC236}">
                <a16:creationId xmlns:a16="http://schemas.microsoft.com/office/drawing/2014/main" id="{4EC75283-48B6-B593-011A-B16999F88E9E}"/>
              </a:ext>
            </a:extLst>
          </p:cNvPr>
          <p:cNvSpPr txBox="1"/>
          <p:nvPr/>
        </p:nvSpPr>
        <p:spPr>
          <a:xfrm>
            <a:off x="5120639" y="4861314"/>
            <a:ext cx="3703319" cy="276999"/>
          </a:xfrm>
          <a:prstGeom prst="rect">
            <a:avLst/>
          </a:prstGeom>
          <a:noFill/>
        </p:spPr>
        <p:txBody>
          <a:bodyPr wrap="square" lIns="18288" tIns="0" rIns="18288" bIns="0" anchor="ctr">
            <a:spAutoFit/>
          </a:bodyPr>
          <a:lstStyle/>
          <a:p>
            <a:pPr algn="ctr"/>
            <a:r>
              <a:rPr lang="en-US" sz="900" b="1" dirty="0">
                <a:solidFill>
                  <a:srgbClr val="FFFFFF"/>
                </a:solidFill>
                <a:latin typeface="Calibri"/>
              </a:rPr>
              <a:t>Implementing </a:t>
            </a:r>
            <a:r>
              <a:rPr lang="en-US" sz="900" b="1" dirty="0" err="1">
                <a:solidFill>
                  <a:srgbClr val="FFFFFF"/>
                </a:solidFill>
                <a:latin typeface="Calibri"/>
              </a:rPr>
              <a:t>svZeroDCalibrator</a:t>
            </a:r>
            <a:r>
              <a:rPr lang="en-US" sz="900" b="1" dirty="0">
                <a:solidFill>
                  <a:srgbClr val="FFFFFF"/>
                </a:solidFill>
                <a:latin typeface="Calibri"/>
              </a:rPr>
              <a:t> to improve 3D-0D model agreement and improve BC tuning accuracy</a:t>
            </a:r>
            <a:endParaRPr sz="900" b="1" dirty="0">
              <a:solidFill>
                <a:srgbClr val="FFFFFF"/>
              </a:solidFill>
              <a:latin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sz="2200">
                <a:solidFill>
                  <a:srgbClr val="8C1515"/>
                </a:solidFill>
                <a:latin typeface="Georgia"/>
              </a:rPr>
              <a:t>Pre-operative MPA waveforms across the cohort</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IN DEVELOPMENT</a:t>
            </a:r>
          </a:p>
        </p:txBody>
      </p:sp>
      <p:pic>
        <p:nvPicPr>
          <p:cNvPr id="19" name="Picture 18" descr="preop_waveforms_cohort.png"/>
          <p:cNvPicPr>
            <a:picLocks noChangeAspect="1"/>
          </p:cNvPicPr>
          <p:nvPr/>
        </p:nvPicPr>
        <p:blipFill>
          <a:blip r:embed="rId2"/>
          <a:stretch>
            <a:fillRect/>
          </a:stretch>
        </p:blipFill>
        <p:spPr>
          <a:xfrm>
            <a:off x="1530291" y="1371600"/>
            <a:ext cx="2517257" cy="3611880"/>
          </a:xfrm>
          <a:prstGeom prst="rect">
            <a:avLst/>
          </a:prstGeom>
        </p:spPr>
      </p:pic>
      <p:sp>
        <p:nvSpPr>
          <p:cNvPr id="20" name="TextBox 19"/>
          <p:cNvSpPr txBox="1"/>
          <p:nvPr/>
        </p:nvSpPr>
        <p:spPr>
          <a:xfrm>
            <a:off x="320040" y="5020056"/>
            <a:ext cx="4937760" cy="201168"/>
          </a:xfrm>
          <a:prstGeom prst="rect">
            <a:avLst/>
          </a:prstGeom>
          <a:noFill/>
        </p:spPr>
        <p:txBody>
          <a:bodyPr wrap="square" lIns="27432" tIns="0" rIns="27432" bIns="0" anchor="t">
            <a:spAutoFit/>
          </a:bodyPr>
          <a:lstStyle/>
          <a:p>
            <a:pPr algn="ctr"/>
            <a:r>
              <a:rPr sz="850" b="0" i="1">
                <a:solidFill>
                  <a:srgbClr val="6B6965"/>
                </a:solidFill>
                <a:latin typeface="Calibri"/>
              </a:rPr>
              <a:t>Final-period MPA pressure waveforms, all patients</a:t>
            </a:r>
          </a:p>
        </p:txBody>
      </p:sp>
      <p:sp>
        <p:nvSpPr>
          <p:cNvPr id="21" name="Rectangle 20"/>
          <p:cNvSpPr/>
          <p:nvPr/>
        </p:nvSpPr>
        <p:spPr>
          <a:xfrm>
            <a:off x="5577840" y="1371600"/>
            <a:ext cx="3246120" cy="157276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5705855" y="1472184"/>
            <a:ext cx="2990087" cy="219456"/>
          </a:xfrm>
          <a:prstGeom prst="rect">
            <a:avLst/>
          </a:prstGeom>
          <a:noFill/>
        </p:spPr>
        <p:txBody>
          <a:bodyPr wrap="square" lIns="27432" tIns="0" rIns="27432" bIns="0" anchor="t">
            <a:spAutoFit/>
          </a:bodyPr>
          <a:lstStyle/>
          <a:p>
            <a:pPr algn="l"/>
            <a:r>
              <a:rPr sz="1100" b="1" i="0">
                <a:solidFill>
                  <a:srgbClr val="279989"/>
                </a:solidFill>
                <a:latin typeface="Calibri"/>
              </a:rPr>
              <a:t>What matches well</a:t>
            </a:r>
          </a:p>
        </p:txBody>
      </p:sp>
      <p:sp>
        <p:nvSpPr>
          <p:cNvPr id="23" name="TextBox 22"/>
          <p:cNvSpPr txBox="1"/>
          <p:nvPr/>
        </p:nvSpPr>
        <p:spPr>
          <a:xfrm>
            <a:off x="5705855" y="1746504"/>
            <a:ext cx="2990087" cy="1161288"/>
          </a:xfrm>
          <a:prstGeom prst="rect">
            <a:avLst/>
          </a:prstGeom>
          <a:noFill/>
        </p:spPr>
        <p:txBody>
          <a:bodyPr wrap="square" lIns="27432" tIns="0" rIns="27432" bIns="0">
            <a:spAutoFit/>
          </a:bodyPr>
          <a:lstStyle/>
          <a:p>
            <a:pPr>
              <a:spcAft>
                <a:spcPts val="350"/>
              </a:spcAft>
            </a:pPr>
            <a:r>
              <a:rPr sz="950">
                <a:solidFill>
                  <a:srgbClr val="279989"/>
                </a:solidFill>
                <a:latin typeface="Calibri"/>
              </a:rPr>
              <a:t>• </a:t>
            </a:r>
            <a:r>
              <a:rPr sz="950">
                <a:solidFill>
                  <a:srgbClr val="2E2D29"/>
                </a:solidFill>
                <a:latin typeface="Calibri"/>
              </a:rPr>
              <a:t>Cycle-mean pressure</a:t>
            </a:r>
          </a:p>
          <a:p>
            <a:pPr>
              <a:spcAft>
                <a:spcPts val="350"/>
              </a:spcAft>
            </a:pPr>
            <a:r>
              <a:rPr sz="950">
                <a:solidFill>
                  <a:srgbClr val="279989"/>
                </a:solidFill>
                <a:latin typeface="Calibri"/>
              </a:rPr>
              <a:t>• </a:t>
            </a:r>
            <a:r>
              <a:rPr sz="950">
                <a:solidFill>
                  <a:srgbClr val="2E2D29"/>
                </a:solidFill>
                <a:latin typeface="Calibri"/>
              </a:rPr>
              <a:t>RPA / LPA flow split</a:t>
            </a:r>
          </a:p>
          <a:p>
            <a:pPr>
              <a:spcAft>
                <a:spcPts val="350"/>
              </a:spcAft>
            </a:pPr>
            <a:r>
              <a:rPr sz="950">
                <a:solidFill>
                  <a:srgbClr val="279989"/>
                </a:solidFill>
                <a:latin typeface="Calibri"/>
              </a:rPr>
              <a:t>• </a:t>
            </a:r>
            <a:r>
              <a:rPr sz="950">
                <a:solidFill>
                  <a:srgbClr val="2E2D29"/>
                </a:solidFill>
                <a:latin typeface="Calibri"/>
              </a:rPr>
              <a:t>Overall waveform morphology</a:t>
            </a:r>
          </a:p>
        </p:txBody>
      </p:sp>
      <p:sp>
        <p:nvSpPr>
          <p:cNvPr id="24" name="Rectangle 23"/>
          <p:cNvSpPr/>
          <p:nvPr/>
        </p:nvSpPr>
        <p:spPr>
          <a:xfrm>
            <a:off x="5577840" y="3090672"/>
            <a:ext cx="3246120" cy="1874519"/>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5705855" y="3191256"/>
            <a:ext cx="1847087" cy="219456"/>
          </a:xfrm>
          <a:prstGeom prst="rect">
            <a:avLst/>
          </a:prstGeom>
          <a:noFill/>
        </p:spPr>
        <p:txBody>
          <a:bodyPr wrap="square" lIns="27432" tIns="0" rIns="27432" bIns="0" anchor="t">
            <a:spAutoFit/>
          </a:bodyPr>
          <a:lstStyle/>
          <a:p>
            <a:pPr algn="l"/>
            <a:r>
              <a:rPr sz="1100" b="1" i="0">
                <a:solidFill>
                  <a:srgbClr val="E98300"/>
                </a:solidFill>
                <a:latin typeface="Calibri"/>
              </a:rPr>
              <a:t>What does not</a:t>
            </a:r>
          </a:p>
        </p:txBody>
      </p:sp>
      <p:sp>
        <p:nvSpPr>
          <p:cNvPr id="26" name="Rectangle 25"/>
          <p:cNvSpPr/>
          <p:nvPr/>
        </p:nvSpPr>
        <p:spPr>
          <a:xfrm>
            <a:off x="7580375" y="3200399"/>
            <a:ext cx="1097280" cy="173736"/>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7580375" y="3200399"/>
            <a:ext cx="1097280" cy="173736"/>
          </a:xfrm>
          <a:prstGeom prst="rect">
            <a:avLst/>
          </a:prstGeom>
          <a:noFill/>
        </p:spPr>
        <p:txBody>
          <a:bodyPr wrap="square" lIns="18288" tIns="0" rIns="18288" bIns="0" anchor="ctr">
            <a:spAutoFit/>
          </a:bodyPr>
          <a:lstStyle/>
          <a:p>
            <a:pPr algn="ctr"/>
            <a:r>
              <a:rPr sz="600" b="1">
                <a:solidFill>
                  <a:srgbClr val="FFFFFF"/>
                </a:solidFill>
                <a:latin typeface="Calibri"/>
              </a:rPr>
              <a:t>IN DEVELOPMENT</a:t>
            </a:r>
          </a:p>
        </p:txBody>
      </p:sp>
      <p:sp>
        <p:nvSpPr>
          <p:cNvPr id="28" name="TextBox 27"/>
          <p:cNvSpPr txBox="1"/>
          <p:nvPr/>
        </p:nvSpPr>
        <p:spPr>
          <a:xfrm>
            <a:off x="5705855" y="3465575"/>
            <a:ext cx="2990087" cy="1463039"/>
          </a:xfrm>
          <a:prstGeom prst="rect">
            <a:avLst/>
          </a:prstGeom>
          <a:noFill/>
        </p:spPr>
        <p:txBody>
          <a:bodyPr wrap="square" lIns="27432" tIns="0" rIns="27432" bIns="0">
            <a:spAutoFit/>
          </a:bodyPr>
          <a:lstStyle/>
          <a:p>
            <a:pPr>
              <a:spcAft>
                <a:spcPts val="350"/>
              </a:spcAft>
            </a:pPr>
            <a:r>
              <a:rPr sz="950">
                <a:solidFill>
                  <a:srgbClr val="E98300"/>
                </a:solidFill>
                <a:latin typeface="Calibri"/>
              </a:rPr>
              <a:t>• </a:t>
            </a:r>
            <a:r>
              <a:rPr sz="950">
                <a:solidFill>
                  <a:srgbClr val="2E2D29"/>
                </a:solidFill>
                <a:latin typeface="Calibri"/>
              </a:rPr>
              <a:t>Systolic peak in patients with a large proximal pressure drop</a:t>
            </a:r>
          </a:p>
          <a:p>
            <a:pPr>
              <a:spcAft>
                <a:spcPts val="350"/>
              </a:spcAft>
            </a:pPr>
            <a:r>
              <a:rPr sz="950">
                <a:solidFill>
                  <a:srgbClr val="E98300"/>
                </a:solidFill>
                <a:latin typeface="Calibri"/>
              </a:rPr>
              <a:t>• </a:t>
            </a:r>
            <a:r>
              <a:rPr sz="950">
                <a:solidFill>
                  <a:srgbClr val="2E2D29"/>
                </a:solidFill>
                <a:latin typeface="Calibri"/>
              </a:rPr>
              <a:t>In TST-STAN-1 and -5 no parameter set satisfies systolic and diastolic targets at once</a:t>
            </a:r>
          </a:p>
          <a:p>
            <a:pPr>
              <a:spcAft>
                <a:spcPts val="350"/>
              </a:spcAft>
            </a:pPr>
            <a:r>
              <a:rPr sz="950">
                <a:solidFill>
                  <a:srgbClr val="E98300"/>
                </a:solidFill>
                <a:latin typeface="Calibri"/>
              </a:rPr>
              <a:t>• </a:t>
            </a:r>
            <a:r>
              <a:rPr sz="950">
                <a:solidFill>
                  <a:srgbClr val="2E2D29"/>
                </a:solidFill>
                <a:latin typeface="Calibri"/>
              </a:rPr>
              <a:t>This observation is what motivated moving the whole pipeline to deformable-wall CMM</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A4EBC-4484-4E17-9B2C-38774CADA71C}"/>
            </a:ext>
          </a:extLst>
        </p:cNvPr>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lang="en-US" sz="2200" dirty="0">
                <a:solidFill>
                  <a:srgbClr val="8C1515"/>
                </a:solidFill>
                <a:latin typeface="Georgia"/>
              </a:rPr>
              <a:t>Calibrating the branched 0D model against the 3D result</a:t>
            </a:r>
          </a:p>
        </p:txBody>
      </p:sp>
      <p:sp>
        <p:nvSpPr>
          <p:cNvPr id="200" name="Shape 200"/>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1" name="Shape 201"/>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202" name="Shape 202"/>
          <p:cNvSpPr/>
          <p:nvPr/>
        </p:nvSpPr>
        <p:spPr>
          <a:xfrm>
            <a:off x="1254687"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3" name="Shape 203"/>
          <p:cNvSpPr txBox="1"/>
          <p:nvPr/>
        </p:nvSpPr>
        <p:spPr>
          <a:xfrm>
            <a:off x="1254687"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2  BC Tuning</a:t>
            </a:r>
          </a:p>
        </p:txBody>
      </p:sp>
      <p:sp>
        <p:nvSpPr>
          <p:cNvPr id="204" name="Shape 204"/>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5" name="Shape 205"/>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206" name="Shape 206"/>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7" name="Shape 207"/>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208" name="Shape 208"/>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9" name="Shape 209"/>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210" name="Shape 210"/>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1" name="Shape 211"/>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212" name="Shape 212"/>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3" name="Shape 213"/>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214" name="Shape 214"/>
          <p:cNvSpPr/>
          <p:nvPr/>
        </p:nvSpPr>
        <p:spPr>
          <a:xfrm>
            <a:off x="7013447" y="950976"/>
            <a:ext cx="1810512" cy="237744"/>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5" name="Shape 215"/>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IN DEVELOPMENT</a:t>
            </a:r>
          </a:p>
        </p:txBody>
      </p:sp>
      <p:sp>
        <p:nvSpPr>
          <p:cNvPr id="216" name="Shape 216"/>
          <p:cNvSpPr txBox="1"/>
          <p:nvPr/>
        </p:nvSpPr>
        <p:spPr>
          <a:xfrm>
            <a:off x="320040" y="1389888"/>
            <a:ext cx="8503920" cy="201168"/>
          </a:xfrm>
          <a:prstGeom prst="rect">
            <a:avLst/>
          </a:prstGeom>
          <a:noFill/>
        </p:spPr>
        <p:txBody>
          <a:bodyPr wrap="square" lIns="27432" tIns="0" rIns="27432" bIns="0" anchor="t">
            <a:spAutoFit/>
          </a:bodyPr>
          <a:lstStyle/>
          <a:p>
            <a:pPr algn="l"/>
            <a:r>
              <a:rPr sz="850" b="0" i="1">
                <a:solidFill>
                  <a:srgbClr val="6B6965"/>
                </a:solidFill>
                <a:latin typeface="Calibri"/>
              </a:rPr>
              <a:t>TST-STAN-5. Branched 0D model generated from the 3D model in the SimVascular GUI, then calibrated with svZeroDCalibrator.</a:t>
            </a:r>
          </a:p>
        </p:txBody>
      </p:sp>
      <p:sp>
        <p:nvSpPr>
          <p:cNvPr id="217" name="Shape 217"/>
          <p:cNvSpPr/>
          <p:nvPr/>
        </p:nvSpPr>
        <p:spPr>
          <a:xfrm>
            <a:off x="320040" y="1700784"/>
            <a:ext cx="8503920" cy="384048"/>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8" name="Shape 218"/>
          <p:cNvSpPr txBox="1"/>
          <p:nvPr/>
        </p:nvSpPr>
        <p:spPr>
          <a:xfrm>
            <a:off x="374904" y="1700784"/>
            <a:ext cx="2313432" cy="384048"/>
          </a:xfrm>
          <a:prstGeom prst="rect">
            <a:avLst/>
          </a:prstGeom>
          <a:noFill/>
        </p:spPr>
        <p:txBody>
          <a:bodyPr wrap="square" lIns="27432" tIns="0" rIns="27432" bIns="0" anchor="ctr">
            <a:spAutoFit/>
          </a:bodyPr>
          <a:lstStyle/>
          <a:p>
            <a:pPr algn="l"/>
            <a:r>
              <a:rPr sz="800" b="1" i="0">
                <a:solidFill>
                  <a:srgbClr val="FFFFFF"/>
                </a:solidFill>
                <a:latin typeface="Calibri"/>
              </a:rPr>
              <a:t>Metric</a:t>
            </a:r>
          </a:p>
        </p:txBody>
      </p:sp>
      <p:sp>
        <p:nvSpPr>
          <p:cNvPr id="219" name="Shape 219"/>
          <p:cNvSpPr txBox="1"/>
          <p:nvPr/>
        </p:nvSpPr>
        <p:spPr>
          <a:xfrm>
            <a:off x="2798064" y="1700784"/>
            <a:ext cx="1673352" cy="384048"/>
          </a:xfrm>
          <a:prstGeom prst="rect">
            <a:avLst/>
          </a:prstGeom>
          <a:noFill/>
        </p:spPr>
        <p:txBody>
          <a:bodyPr wrap="square" lIns="27432" tIns="0" rIns="27432" bIns="0" anchor="ctr">
            <a:spAutoFit/>
          </a:bodyPr>
          <a:lstStyle/>
          <a:p>
            <a:pPr algn="l"/>
            <a:r>
              <a:rPr sz="800" b="1" i="0">
                <a:solidFill>
                  <a:srgbClr val="FFFFFF"/>
                </a:solidFill>
                <a:latin typeface="Calibri"/>
              </a:rPr>
              <a:t>Baseline</a:t>
            </a:r>
          </a:p>
        </p:txBody>
      </p:sp>
      <p:sp>
        <p:nvSpPr>
          <p:cNvPr id="220" name="Shape 220"/>
          <p:cNvSpPr txBox="1"/>
          <p:nvPr/>
        </p:nvSpPr>
        <p:spPr>
          <a:xfrm>
            <a:off x="4581144" y="1700784"/>
            <a:ext cx="1673352" cy="384048"/>
          </a:xfrm>
          <a:prstGeom prst="rect">
            <a:avLst/>
          </a:prstGeom>
          <a:noFill/>
        </p:spPr>
        <p:txBody>
          <a:bodyPr wrap="square" lIns="27432" tIns="0" rIns="27432" bIns="0" anchor="ctr">
            <a:spAutoFit/>
          </a:bodyPr>
          <a:lstStyle/>
          <a:p>
            <a:pPr algn="l"/>
            <a:r>
              <a:rPr sz="800" b="1" i="0">
                <a:solidFill>
                  <a:srgbClr val="FFFFFF"/>
                </a:solidFill>
                <a:latin typeface="Calibri"/>
              </a:rPr>
              <a:t>Calibrated</a:t>
            </a:r>
          </a:p>
        </p:txBody>
      </p:sp>
      <p:sp>
        <p:nvSpPr>
          <p:cNvPr id="221" name="Shape 221"/>
          <p:cNvSpPr txBox="1"/>
          <p:nvPr/>
        </p:nvSpPr>
        <p:spPr>
          <a:xfrm>
            <a:off x="6364224" y="1700784"/>
            <a:ext cx="2404872" cy="384048"/>
          </a:xfrm>
          <a:prstGeom prst="rect">
            <a:avLst/>
          </a:prstGeom>
          <a:noFill/>
        </p:spPr>
        <p:txBody>
          <a:bodyPr wrap="square" lIns="27432" tIns="0" rIns="27432" bIns="0" anchor="ctr">
            <a:spAutoFit/>
          </a:bodyPr>
          <a:lstStyle/>
          <a:p>
            <a:pPr algn="l"/>
            <a:r>
              <a:rPr sz="800" b="1" i="0">
                <a:solidFill>
                  <a:srgbClr val="FFFFFF"/>
                </a:solidFill>
                <a:latin typeface="Calibri"/>
              </a:rPr>
              <a:t>Target</a:t>
            </a:r>
          </a:p>
        </p:txBody>
      </p:sp>
      <p:sp>
        <p:nvSpPr>
          <p:cNvPr id="222" name="Shape 222"/>
          <p:cNvSpPr/>
          <p:nvPr/>
        </p:nvSpPr>
        <p:spPr>
          <a:xfrm>
            <a:off x="320040" y="2084832"/>
            <a:ext cx="8503920" cy="38404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3" name="Shape 223"/>
          <p:cNvSpPr txBox="1"/>
          <p:nvPr/>
        </p:nvSpPr>
        <p:spPr>
          <a:xfrm>
            <a:off x="374904" y="2084832"/>
            <a:ext cx="2313432" cy="384048"/>
          </a:xfrm>
          <a:prstGeom prst="rect">
            <a:avLst/>
          </a:prstGeom>
          <a:noFill/>
        </p:spPr>
        <p:txBody>
          <a:bodyPr wrap="square" lIns="27432" tIns="0" rIns="27432" bIns="0" anchor="ctr">
            <a:spAutoFit/>
          </a:bodyPr>
          <a:lstStyle/>
          <a:p>
            <a:pPr algn="l"/>
            <a:r>
              <a:rPr sz="800" b="1" i="0">
                <a:solidFill>
                  <a:srgbClr val="2E2D29"/>
                </a:solidFill>
                <a:latin typeface="Calibri"/>
              </a:rPr>
              <a:t>MPA pressure NRMSE</a:t>
            </a:r>
          </a:p>
        </p:txBody>
      </p:sp>
      <p:sp>
        <p:nvSpPr>
          <p:cNvPr id="224" name="Shape 224"/>
          <p:cNvSpPr txBox="1"/>
          <p:nvPr/>
        </p:nvSpPr>
        <p:spPr>
          <a:xfrm>
            <a:off x="2798064" y="2084832"/>
            <a:ext cx="1673352" cy="384048"/>
          </a:xfrm>
          <a:prstGeom prst="rect">
            <a:avLst/>
          </a:prstGeom>
          <a:noFill/>
        </p:spPr>
        <p:txBody>
          <a:bodyPr wrap="square" lIns="27432" tIns="0" rIns="27432" bIns="0" anchor="ctr">
            <a:spAutoFit/>
          </a:bodyPr>
          <a:lstStyle/>
          <a:p>
            <a:pPr algn="l"/>
            <a:r>
              <a:rPr sz="800" b="0" i="0">
                <a:solidFill>
                  <a:srgbClr val="6B6965"/>
                </a:solidFill>
                <a:latin typeface="Calibri"/>
              </a:rPr>
              <a:t>0.4504</a:t>
            </a:r>
          </a:p>
        </p:txBody>
      </p:sp>
      <p:sp>
        <p:nvSpPr>
          <p:cNvPr id="225" name="Shape 225"/>
          <p:cNvSpPr txBox="1"/>
          <p:nvPr/>
        </p:nvSpPr>
        <p:spPr>
          <a:xfrm>
            <a:off x="4581144" y="2084832"/>
            <a:ext cx="1673352" cy="384048"/>
          </a:xfrm>
          <a:prstGeom prst="rect">
            <a:avLst/>
          </a:prstGeom>
          <a:noFill/>
        </p:spPr>
        <p:txBody>
          <a:bodyPr wrap="square" lIns="27432" tIns="0" rIns="27432" bIns="0" anchor="ctr">
            <a:spAutoFit/>
          </a:bodyPr>
          <a:lstStyle/>
          <a:p>
            <a:pPr algn="l"/>
            <a:r>
              <a:rPr sz="800" b="0" i="0">
                <a:solidFill>
                  <a:srgbClr val="6B6965"/>
                </a:solidFill>
                <a:latin typeface="Calibri"/>
              </a:rPr>
              <a:t>0.3691</a:t>
            </a:r>
          </a:p>
        </p:txBody>
      </p:sp>
      <p:sp>
        <p:nvSpPr>
          <p:cNvPr id="226" name="Shape 226"/>
          <p:cNvSpPr txBox="1"/>
          <p:nvPr/>
        </p:nvSpPr>
        <p:spPr>
          <a:xfrm>
            <a:off x="6364224" y="2084832"/>
            <a:ext cx="2404872" cy="384048"/>
          </a:xfrm>
          <a:prstGeom prst="rect">
            <a:avLst/>
          </a:prstGeom>
          <a:noFill/>
        </p:spPr>
        <p:txBody>
          <a:bodyPr wrap="square" lIns="27432" tIns="0" rIns="27432" bIns="0" anchor="ctr">
            <a:spAutoFit/>
          </a:bodyPr>
          <a:lstStyle/>
          <a:p>
            <a:pPr algn="l"/>
            <a:r>
              <a:rPr sz="800" b="0" i="0">
                <a:solidFill>
                  <a:srgbClr val="6B6965"/>
                </a:solidFill>
                <a:latin typeface="Calibri"/>
              </a:rPr>
              <a:t>≤ 0.05</a:t>
            </a:r>
          </a:p>
        </p:txBody>
      </p:sp>
      <p:sp>
        <p:nvSpPr>
          <p:cNvPr id="227" name="Shape 227"/>
          <p:cNvSpPr txBox="1"/>
          <p:nvPr/>
        </p:nvSpPr>
        <p:spPr>
          <a:xfrm>
            <a:off x="374904" y="2468880"/>
            <a:ext cx="2313432" cy="384048"/>
          </a:xfrm>
          <a:prstGeom prst="rect">
            <a:avLst/>
          </a:prstGeom>
          <a:noFill/>
        </p:spPr>
        <p:txBody>
          <a:bodyPr wrap="square" lIns="27432" tIns="0" rIns="27432" bIns="0" anchor="ctr">
            <a:spAutoFit/>
          </a:bodyPr>
          <a:lstStyle/>
          <a:p>
            <a:pPr algn="l"/>
            <a:r>
              <a:rPr sz="800" b="1" i="0">
                <a:solidFill>
                  <a:srgbClr val="2E2D29"/>
                </a:solidFill>
                <a:latin typeface="Calibri"/>
              </a:rPr>
              <a:t>RPA split</a:t>
            </a:r>
          </a:p>
        </p:txBody>
      </p:sp>
      <p:sp>
        <p:nvSpPr>
          <p:cNvPr id="228" name="Shape 228"/>
          <p:cNvSpPr txBox="1"/>
          <p:nvPr/>
        </p:nvSpPr>
        <p:spPr>
          <a:xfrm>
            <a:off x="2798064" y="2468880"/>
            <a:ext cx="1673352" cy="384048"/>
          </a:xfrm>
          <a:prstGeom prst="rect">
            <a:avLst/>
          </a:prstGeom>
          <a:noFill/>
        </p:spPr>
        <p:txBody>
          <a:bodyPr wrap="square" lIns="27432" tIns="0" rIns="27432" bIns="0" anchor="ctr">
            <a:spAutoFit/>
          </a:bodyPr>
          <a:lstStyle/>
          <a:p>
            <a:pPr algn="l"/>
            <a:r>
              <a:rPr sz="800" b="0" i="0">
                <a:solidFill>
                  <a:srgbClr val="6B6965"/>
                </a:solidFill>
                <a:latin typeface="Calibri"/>
              </a:rPr>
              <a:t>64%</a:t>
            </a:r>
          </a:p>
        </p:txBody>
      </p:sp>
      <p:sp>
        <p:nvSpPr>
          <p:cNvPr id="229" name="Shape 229"/>
          <p:cNvSpPr txBox="1"/>
          <p:nvPr/>
        </p:nvSpPr>
        <p:spPr>
          <a:xfrm>
            <a:off x="4581144" y="2468880"/>
            <a:ext cx="1673352" cy="384048"/>
          </a:xfrm>
          <a:prstGeom prst="rect">
            <a:avLst/>
          </a:prstGeom>
          <a:noFill/>
        </p:spPr>
        <p:txBody>
          <a:bodyPr wrap="square" lIns="27432" tIns="0" rIns="27432" bIns="0" anchor="ctr">
            <a:spAutoFit/>
          </a:bodyPr>
          <a:lstStyle/>
          <a:p>
            <a:pPr algn="l"/>
            <a:r>
              <a:rPr sz="800" b="0" i="0">
                <a:solidFill>
                  <a:srgbClr val="6B6965"/>
                </a:solidFill>
                <a:latin typeface="Calibri"/>
              </a:rPr>
              <a:t>83%</a:t>
            </a:r>
          </a:p>
        </p:txBody>
      </p:sp>
      <p:sp>
        <p:nvSpPr>
          <p:cNvPr id="230" name="Shape 230"/>
          <p:cNvSpPr txBox="1"/>
          <p:nvPr/>
        </p:nvSpPr>
        <p:spPr>
          <a:xfrm>
            <a:off x="6364224" y="2468880"/>
            <a:ext cx="2404872" cy="384048"/>
          </a:xfrm>
          <a:prstGeom prst="rect">
            <a:avLst/>
          </a:prstGeom>
          <a:noFill/>
        </p:spPr>
        <p:txBody>
          <a:bodyPr wrap="square" lIns="27432" tIns="0" rIns="27432" bIns="0" anchor="ctr">
            <a:spAutoFit/>
          </a:bodyPr>
          <a:lstStyle/>
          <a:p>
            <a:pPr algn="l"/>
            <a:r>
              <a:rPr sz="800" b="0" i="0">
                <a:solidFill>
                  <a:srgbClr val="6B6965"/>
                </a:solidFill>
                <a:latin typeface="Calibri"/>
              </a:rPr>
              <a:t>88%</a:t>
            </a:r>
          </a:p>
        </p:txBody>
      </p:sp>
      <p:sp>
        <p:nvSpPr>
          <p:cNvPr id="231" name="Shape 231"/>
          <p:cNvSpPr/>
          <p:nvPr/>
        </p:nvSpPr>
        <p:spPr>
          <a:xfrm>
            <a:off x="320040" y="2852928"/>
            <a:ext cx="8503920" cy="38404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2" name="Shape 232"/>
          <p:cNvSpPr txBox="1"/>
          <p:nvPr/>
        </p:nvSpPr>
        <p:spPr>
          <a:xfrm>
            <a:off x="374904" y="2852928"/>
            <a:ext cx="2313432" cy="384048"/>
          </a:xfrm>
          <a:prstGeom prst="rect">
            <a:avLst/>
          </a:prstGeom>
          <a:noFill/>
        </p:spPr>
        <p:txBody>
          <a:bodyPr wrap="square" lIns="27432" tIns="0" rIns="27432" bIns="0" anchor="ctr">
            <a:spAutoFit/>
          </a:bodyPr>
          <a:lstStyle/>
          <a:p>
            <a:pPr algn="l"/>
            <a:r>
              <a:rPr sz="800" b="1" i="0">
                <a:solidFill>
                  <a:srgbClr val="2E2D29"/>
                </a:solidFill>
                <a:latin typeface="Calibri"/>
              </a:rPr>
              <a:t>RPA split error</a:t>
            </a:r>
          </a:p>
        </p:txBody>
      </p:sp>
      <p:sp>
        <p:nvSpPr>
          <p:cNvPr id="233" name="Shape 233"/>
          <p:cNvSpPr txBox="1"/>
          <p:nvPr/>
        </p:nvSpPr>
        <p:spPr>
          <a:xfrm>
            <a:off x="2798064" y="2852928"/>
            <a:ext cx="1673352" cy="384048"/>
          </a:xfrm>
          <a:prstGeom prst="rect">
            <a:avLst/>
          </a:prstGeom>
          <a:noFill/>
        </p:spPr>
        <p:txBody>
          <a:bodyPr wrap="square" lIns="27432" tIns="0" rIns="27432" bIns="0" anchor="ctr">
            <a:spAutoFit/>
          </a:bodyPr>
          <a:lstStyle/>
          <a:p>
            <a:pPr algn="l"/>
            <a:r>
              <a:rPr sz="800" b="0" i="0">
                <a:solidFill>
                  <a:srgbClr val="6B6965"/>
                </a:solidFill>
                <a:latin typeface="Calibri"/>
              </a:rPr>
              <a:t>0.0258</a:t>
            </a:r>
          </a:p>
        </p:txBody>
      </p:sp>
      <p:sp>
        <p:nvSpPr>
          <p:cNvPr id="234" name="Shape 234"/>
          <p:cNvSpPr txBox="1"/>
          <p:nvPr/>
        </p:nvSpPr>
        <p:spPr>
          <a:xfrm>
            <a:off x="4581144" y="2852928"/>
            <a:ext cx="1673352" cy="384048"/>
          </a:xfrm>
          <a:prstGeom prst="rect">
            <a:avLst/>
          </a:prstGeom>
          <a:noFill/>
        </p:spPr>
        <p:txBody>
          <a:bodyPr wrap="square" lIns="27432" tIns="0" rIns="27432" bIns="0" anchor="ctr">
            <a:spAutoFit/>
          </a:bodyPr>
          <a:lstStyle/>
          <a:p>
            <a:pPr algn="l"/>
            <a:r>
              <a:rPr sz="800" b="0" i="0">
                <a:solidFill>
                  <a:srgbClr val="6B6965"/>
                </a:solidFill>
                <a:latin typeface="Calibri"/>
              </a:rPr>
              <a:t>0.2130</a:t>
            </a:r>
          </a:p>
        </p:txBody>
      </p:sp>
      <p:sp>
        <p:nvSpPr>
          <p:cNvPr id="235" name="Shape 235"/>
          <p:cNvSpPr txBox="1"/>
          <p:nvPr/>
        </p:nvSpPr>
        <p:spPr>
          <a:xfrm>
            <a:off x="6364224" y="2852928"/>
            <a:ext cx="2404872" cy="384048"/>
          </a:xfrm>
          <a:prstGeom prst="rect">
            <a:avLst/>
          </a:prstGeom>
          <a:noFill/>
        </p:spPr>
        <p:txBody>
          <a:bodyPr wrap="square" lIns="27432" tIns="0" rIns="27432" bIns="0" anchor="ctr">
            <a:spAutoFit/>
          </a:bodyPr>
          <a:lstStyle/>
          <a:p>
            <a:pPr algn="l"/>
            <a:r>
              <a:rPr sz="800" b="0" i="0">
                <a:solidFill>
                  <a:srgbClr val="6B6965"/>
                </a:solidFill>
                <a:latin typeface="Calibri"/>
              </a:rPr>
              <a:t>≤ 0.02</a:t>
            </a:r>
          </a:p>
        </p:txBody>
      </p:sp>
      <p:sp>
        <p:nvSpPr>
          <p:cNvPr id="236" name="Shape 236"/>
          <p:cNvSpPr txBox="1"/>
          <p:nvPr/>
        </p:nvSpPr>
        <p:spPr>
          <a:xfrm>
            <a:off x="374904" y="3236976"/>
            <a:ext cx="2313432" cy="384048"/>
          </a:xfrm>
          <a:prstGeom prst="rect">
            <a:avLst/>
          </a:prstGeom>
          <a:noFill/>
        </p:spPr>
        <p:txBody>
          <a:bodyPr wrap="square" lIns="27432" tIns="0" rIns="27432" bIns="0" anchor="ctr">
            <a:spAutoFit/>
          </a:bodyPr>
          <a:lstStyle/>
          <a:p>
            <a:pPr algn="l"/>
            <a:r>
              <a:rPr sz="800" b="1" i="0">
                <a:solidFill>
                  <a:srgbClr val="2E2D29"/>
                </a:solidFill>
                <a:latin typeface="Calibri"/>
              </a:rPr>
              <a:t>Composite score</a:t>
            </a:r>
          </a:p>
        </p:txBody>
      </p:sp>
      <p:sp>
        <p:nvSpPr>
          <p:cNvPr id="237" name="Shape 237"/>
          <p:cNvSpPr txBox="1"/>
          <p:nvPr/>
        </p:nvSpPr>
        <p:spPr>
          <a:xfrm>
            <a:off x="2798064" y="3236976"/>
            <a:ext cx="1673352" cy="384048"/>
          </a:xfrm>
          <a:prstGeom prst="rect">
            <a:avLst/>
          </a:prstGeom>
          <a:noFill/>
        </p:spPr>
        <p:txBody>
          <a:bodyPr wrap="square" lIns="27432" tIns="0" rIns="27432" bIns="0" anchor="ctr">
            <a:spAutoFit/>
          </a:bodyPr>
          <a:lstStyle/>
          <a:p>
            <a:pPr algn="l"/>
            <a:r>
              <a:rPr sz="800" b="0" i="0">
                <a:solidFill>
                  <a:srgbClr val="6B6965"/>
                </a:solidFill>
                <a:latin typeface="Calibri"/>
              </a:rPr>
              <a:t>82.82</a:t>
            </a:r>
          </a:p>
        </p:txBody>
      </p:sp>
      <p:sp>
        <p:nvSpPr>
          <p:cNvPr id="238" name="Shape 238"/>
          <p:cNvSpPr txBox="1"/>
          <p:nvPr/>
        </p:nvSpPr>
        <p:spPr>
          <a:xfrm>
            <a:off x="4581144" y="3236976"/>
            <a:ext cx="1673352" cy="384048"/>
          </a:xfrm>
          <a:prstGeom prst="rect">
            <a:avLst/>
          </a:prstGeom>
          <a:noFill/>
        </p:spPr>
        <p:txBody>
          <a:bodyPr wrap="square" lIns="27432" tIns="0" rIns="27432" bIns="0" anchor="ctr">
            <a:spAutoFit/>
          </a:bodyPr>
          <a:lstStyle/>
          <a:p>
            <a:pPr algn="l"/>
            <a:r>
              <a:rPr sz="800" b="0" i="0">
                <a:solidFill>
                  <a:srgbClr val="6B6965"/>
                </a:solidFill>
                <a:latin typeface="Calibri"/>
              </a:rPr>
              <a:t>167.88</a:t>
            </a:r>
          </a:p>
        </p:txBody>
      </p:sp>
      <p:sp>
        <p:nvSpPr>
          <p:cNvPr id="239" name="Shape 239"/>
          <p:cNvSpPr txBox="1"/>
          <p:nvPr/>
        </p:nvSpPr>
        <p:spPr>
          <a:xfrm>
            <a:off x="6364224" y="3236976"/>
            <a:ext cx="2404872" cy="384048"/>
          </a:xfrm>
          <a:prstGeom prst="rect">
            <a:avLst/>
          </a:prstGeom>
          <a:noFill/>
        </p:spPr>
        <p:txBody>
          <a:bodyPr wrap="square" lIns="27432" tIns="0" rIns="27432" bIns="0" anchor="ctr">
            <a:spAutoFit/>
          </a:bodyPr>
          <a:lstStyle/>
          <a:p>
            <a:pPr algn="l"/>
            <a:r>
              <a:rPr sz="800" b="0" i="0">
                <a:solidFill>
                  <a:srgbClr val="6B6965"/>
                </a:solidFill>
                <a:latin typeface="Calibri"/>
              </a:rPr>
              <a:t>Must not worsen</a:t>
            </a:r>
          </a:p>
        </p:txBody>
      </p:sp>
      <p:sp>
        <p:nvSpPr>
          <p:cNvPr id="240" name="Shape 240"/>
          <p:cNvSpPr/>
          <p:nvPr/>
        </p:nvSpPr>
        <p:spPr>
          <a:xfrm>
            <a:off x="320040" y="3785616"/>
            <a:ext cx="8503920" cy="84124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1" name="Shape 241"/>
          <p:cNvSpPr txBox="1"/>
          <p:nvPr/>
        </p:nvSpPr>
        <p:spPr>
          <a:xfrm>
            <a:off x="448056" y="3886200"/>
            <a:ext cx="3657600" cy="219456"/>
          </a:xfrm>
          <a:prstGeom prst="rect">
            <a:avLst/>
          </a:prstGeom>
          <a:noFill/>
        </p:spPr>
        <p:txBody>
          <a:bodyPr wrap="square" lIns="27432" tIns="0" rIns="27432" bIns="0" anchor="t">
            <a:spAutoFit/>
          </a:bodyPr>
          <a:lstStyle/>
          <a:p>
            <a:pPr algn="l"/>
            <a:r>
              <a:rPr sz="1100" b="1" i="0">
                <a:solidFill>
                  <a:srgbClr val="E98300"/>
                </a:solidFill>
                <a:latin typeface="Calibri"/>
              </a:rPr>
              <a:t>Next steps</a:t>
            </a:r>
          </a:p>
        </p:txBody>
      </p:sp>
      <p:sp>
        <p:nvSpPr>
          <p:cNvPr id="242" name="Shape 242"/>
          <p:cNvSpPr txBox="1"/>
          <p:nvPr/>
        </p:nvSpPr>
        <p:spPr>
          <a:xfrm>
            <a:off x="448056" y="4151376"/>
            <a:ext cx="8247888" cy="420624"/>
          </a:xfrm>
          <a:prstGeom prst="rect">
            <a:avLst/>
          </a:prstGeom>
          <a:noFill/>
        </p:spPr>
        <p:txBody>
          <a:bodyPr wrap="square" lIns="27432" tIns="0" rIns="27432" bIns="0">
            <a:spAutoFit/>
          </a:bodyPr>
          <a:lstStyle/>
          <a:p>
            <a:pPr>
              <a:spcAft>
                <a:spcPts val="350"/>
              </a:spcAft>
            </a:pPr>
            <a:r>
              <a:rPr sz="950">
                <a:solidFill>
                  <a:srgbClr val="E98300"/>
                </a:solidFill>
                <a:latin typeface="Calibri"/>
              </a:rPr>
              <a:t>• </a:t>
            </a:r>
            <a:r>
              <a:rPr sz="950">
                <a:solidFill>
                  <a:srgbClr val="2E2D29"/>
                </a:solidFill>
                <a:latin typeface="Calibri"/>
              </a:rPr>
              <a:t>Calibrate the junction coefficients, which the present fit leaves out</a:t>
            </a:r>
          </a:p>
          <a:p>
            <a:pPr>
              <a:spcAft>
                <a:spcPts val="350"/>
              </a:spcAft>
            </a:pPr>
            <a:r>
              <a:rPr sz="950">
                <a:solidFill>
                  <a:srgbClr val="E98300"/>
                </a:solidFill>
                <a:latin typeface="Calibri"/>
              </a:rPr>
              <a:t>• </a:t>
            </a:r>
            <a:r>
              <a:rPr sz="950">
                <a:solidFill>
                  <a:srgbClr val="2E2D29"/>
                </a:solidFill>
                <a:latin typeface="Calibri"/>
              </a:rPr>
              <a:t>Seed the calibrator with learnedZeroD output rather than analytic values</a:t>
            </a:r>
          </a:p>
        </p:txBody>
      </p:sp>
      <p:sp>
        <p:nvSpPr>
          <p:cNvPr id="243" name="Shape 243"/>
          <p:cNvSpPr/>
          <p:nvPr/>
        </p:nvSpPr>
        <p:spPr>
          <a:xfrm>
            <a:off x="320040" y="4754880"/>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4" name="Shape 244"/>
          <p:cNvSpPr txBox="1"/>
          <p:nvPr/>
        </p:nvSpPr>
        <p:spPr>
          <a:xfrm>
            <a:off x="429768" y="4754880"/>
            <a:ext cx="8284464" cy="310896"/>
          </a:xfrm>
          <a:prstGeom prst="rect">
            <a:avLst/>
          </a:prstGeom>
          <a:noFill/>
        </p:spPr>
        <p:txBody>
          <a:bodyPr wrap="square" lIns="27432" tIns="0" rIns="27432" bIns="0" anchor="ctr">
            <a:spAutoFit/>
          </a:bodyPr>
          <a:lstStyle/>
          <a:p>
            <a:pPr algn="l"/>
            <a:r>
              <a:rPr sz="1000" b="1" i="0">
                <a:solidFill>
                  <a:srgbClr val="8C1515"/>
                </a:solidFill>
                <a:latin typeface="Calibri"/>
              </a:rPr>
              <a:t>Tuning converges, but the calibrated 0D model is no closer to the 3D result.</a:t>
            </a:r>
          </a:p>
        </p:txBody>
      </p:sp>
      <p:sp>
        <p:nvSpPr>
          <p:cNvPr id="245" name="Shape 245"/>
          <p:cNvSpPr txBox="1"/>
          <p:nvPr/>
        </p:nvSpPr>
        <p:spPr>
          <a:xfrm>
            <a:off x="2011680" y="5376672"/>
            <a:ext cx="6812280" cy="201168"/>
          </a:xfrm>
          <a:prstGeom prst="rect">
            <a:avLst/>
          </a:prstGeom>
          <a:noFill/>
        </p:spPr>
        <p:txBody>
          <a:bodyPr wrap="square" lIns="27432" tIns="0" rIns="27432" bIns="0" anchor="t">
            <a:spAutoFit/>
          </a:bodyPr>
          <a:lstStyle/>
          <a:p>
            <a:pPr algn="l"/>
            <a:r>
              <a:rPr sz="700" b="0" i="1">
                <a:solidFill>
                  <a:srgbClr val="6B6965"/>
                </a:solidFill>
                <a:latin typeface="Calibri"/>
              </a:rPr>
              <a:t>Baseline is the uncalibrated branched 0D model (option 2 in the table on slide 29).</a:t>
            </a:r>
          </a:p>
        </p:txBody>
      </p:sp>
    </p:spTree>
    <p:extLst>
      <p:ext uri="{BB962C8B-B14F-4D97-AF65-F5344CB8AC3E}">
        <p14:creationId xmlns:p14="http://schemas.microsoft.com/office/powerpoint/2010/main" val="3017798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8AD1AE-70D0-331D-BF7B-3029DD9E92F6}"/>
            </a:ext>
          </a:extLst>
        </p:cNvPr>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lang="en-US" sz="2200" dirty="0">
                <a:solidFill>
                  <a:srgbClr val="8C1515"/>
                </a:solidFill>
                <a:latin typeface="Georgia"/>
              </a:rPr>
              <a:t>Learned 0D model against the branched baseline</a:t>
            </a:r>
          </a:p>
        </p:txBody>
      </p:sp>
      <p:sp>
        <p:nvSpPr>
          <p:cNvPr id="200" name="Shape 200"/>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1" name="Shape 201"/>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202" name="Shape 202"/>
          <p:cNvSpPr/>
          <p:nvPr/>
        </p:nvSpPr>
        <p:spPr>
          <a:xfrm>
            <a:off x="1254687"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3" name="Shape 203"/>
          <p:cNvSpPr txBox="1"/>
          <p:nvPr/>
        </p:nvSpPr>
        <p:spPr>
          <a:xfrm>
            <a:off x="1254687"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2  BC Tuning</a:t>
            </a:r>
          </a:p>
        </p:txBody>
      </p:sp>
      <p:sp>
        <p:nvSpPr>
          <p:cNvPr id="204" name="Shape 204"/>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5" name="Shape 205"/>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206" name="Shape 206"/>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7" name="Shape 207"/>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208" name="Shape 208"/>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9" name="Shape 209"/>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210" name="Shape 210"/>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1" name="Shape 211"/>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212" name="Shape 212"/>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3" name="Shape 213"/>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214" name="Shape 214"/>
          <p:cNvSpPr/>
          <p:nvPr/>
        </p:nvSpPr>
        <p:spPr>
          <a:xfrm>
            <a:off x="7013447" y="950976"/>
            <a:ext cx="1810512" cy="237744"/>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5" name="Shape 215"/>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IN DEVELOPMENT</a:t>
            </a:r>
          </a:p>
        </p:txBody>
      </p:sp>
      <p:sp>
        <p:nvSpPr>
          <p:cNvPr id="216" name="Shape 216"/>
          <p:cNvSpPr txBox="1"/>
          <p:nvPr/>
        </p:nvSpPr>
        <p:spPr>
          <a:xfrm>
            <a:off x="320040" y="1389888"/>
            <a:ext cx="8503920" cy="201168"/>
          </a:xfrm>
          <a:prstGeom prst="rect">
            <a:avLst/>
          </a:prstGeom>
          <a:noFill/>
        </p:spPr>
        <p:txBody>
          <a:bodyPr wrap="square" lIns="27432" tIns="0" rIns="27432" bIns="0" anchor="t">
            <a:spAutoFit/>
          </a:bodyPr>
          <a:lstStyle/>
          <a:p>
            <a:pPr algn="l"/>
            <a:r>
              <a:rPr sz="850" b="0" i="1">
                <a:solidFill>
                  <a:srgbClr val="6B6965"/>
                </a:solidFill>
                <a:latin typeface="Calibri"/>
              </a:rPr>
              <a:t>TST-STAN-5. Both models run with the same fixed outlet BCs — 1000 dyn/cm⁵ resistance, zero distal pressure — not the tuned BCs.</a:t>
            </a:r>
          </a:p>
        </p:txBody>
      </p:sp>
      <p:sp>
        <p:nvSpPr>
          <p:cNvPr id="217" name="Shape 217"/>
          <p:cNvSpPr/>
          <p:nvPr/>
        </p:nvSpPr>
        <p:spPr>
          <a:xfrm>
            <a:off x="320040" y="1700784"/>
            <a:ext cx="8503920" cy="384048"/>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8" name="Shape 218"/>
          <p:cNvSpPr txBox="1"/>
          <p:nvPr/>
        </p:nvSpPr>
        <p:spPr>
          <a:xfrm>
            <a:off x="374904" y="1700784"/>
            <a:ext cx="2313432" cy="384048"/>
          </a:xfrm>
          <a:prstGeom prst="rect">
            <a:avLst/>
          </a:prstGeom>
          <a:noFill/>
        </p:spPr>
        <p:txBody>
          <a:bodyPr wrap="square" lIns="27432" tIns="0" rIns="27432" bIns="0" anchor="ctr">
            <a:spAutoFit/>
          </a:bodyPr>
          <a:lstStyle/>
          <a:p>
            <a:pPr algn="l"/>
            <a:r>
              <a:rPr sz="800" b="1" i="0">
                <a:solidFill>
                  <a:srgbClr val="FFFFFF"/>
                </a:solidFill>
                <a:latin typeface="Calibri"/>
              </a:rPr>
              <a:t>Final-cycle metric</a:t>
            </a:r>
          </a:p>
        </p:txBody>
      </p:sp>
      <p:sp>
        <p:nvSpPr>
          <p:cNvPr id="219" name="Shape 219"/>
          <p:cNvSpPr txBox="1"/>
          <p:nvPr/>
        </p:nvSpPr>
        <p:spPr>
          <a:xfrm>
            <a:off x="2798064" y="1700784"/>
            <a:ext cx="1673352" cy="384048"/>
          </a:xfrm>
          <a:prstGeom prst="rect">
            <a:avLst/>
          </a:prstGeom>
          <a:noFill/>
        </p:spPr>
        <p:txBody>
          <a:bodyPr wrap="square" lIns="27432" tIns="0" rIns="27432" bIns="0" anchor="ctr">
            <a:spAutoFit/>
          </a:bodyPr>
          <a:lstStyle/>
          <a:p>
            <a:pPr algn="l"/>
            <a:r>
              <a:rPr sz="800" b="1" i="0">
                <a:solidFill>
                  <a:srgbClr val="FFFFFF"/>
                </a:solidFill>
                <a:latin typeface="Calibri"/>
              </a:rPr>
              <a:t>Baseline</a:t>
            </a:r>
          </a:p>
        </p:txBody>
      </p:sp>
      <p:sp>
        <p:nvSpPr>
          <p:cNvPr id="220" name="Shape 220"/>
          <p:cNvSpPr txBox="1"/>
          <p:nvPr/>
        </p:nvSpPr>
        <p:spPr>
          <a:xfrm>
            <a:off x="4581144" y="1700784"/>
            <a:ext cx="1673352" cy="384048"/>
          </a:xfrm>
          <a:prstGeom prst="rect">
            <a:avLst/>
          </a:prstGeom>
          <a:noFill/>
        </p:spPr>
        <p:txBody>
          <a:bodyPr wrap="square" lIns="27432" tIns="0" rIns="27432" bIns="0" anchor="ctr">
            <a:spAutoFit/>
          </a:bodyPr>
          <a:lstStyle/>
          <a:p>
            <a:pPr algn="l"/>
            <a:r>
              <a:rPr sz="800" b="1" i="0">
                <a:solidFill>
                  <a:srgbClr val="FFFFFF"/>
                </a:solidFill>
                <a:latin typeface="Calibri"/>
              </a:rPr>
              <a:t>Learned</a:t>
            </a:r>
          </a:p>
        </p:txBody>
      </p:sp>
      <p:sp>
        <p:nvSpPr>
          <p:cNvPr id="221" name="Shape 221"/>
          <p:cNvSpPr txBox="1"/>
          <p:nvPr/>
        </p:nvSpPr>
        <p:spPr>
          <a:xfrm>
            <a:off x="6364224" y="1700784"/>
            <a:ext cx="2404872" cy="384048"/>
          </a:xfrm>
          <a:prstGeom prst="rect">
            <a:avLst/>
          </a:prstGeom>
          <a:noFill/>
        </p:spPr>
        <p:txBody>
          <a:bodyPr wrap="square" lIns="27432" tIns="0" rIns="27432" bIns="0" anchor="ctr">
            <a:spAutoFit/>
          </a:bodyPr>
          <a:lstStyle/>
          <a:p>
            <a:pPr algn="l"/>
            <a:r>
              <a:rPr sz="800" b="1" i="0">
                <a:solidFill>
                  <a:srgbClr val="FFFFFF"/>
                </a:solidFill>
                <a:latin typeface="Calibri"/>
              </a:rPr>
              <a:t>Clinical target</a:t>
            </a:r>
          </a:p>
        </p:txBody>
      </p:sp>
      <p:sp>
        <p:nvSpPr>
          <p:cNvPr id="222" name="Shape 222"/>
          <p:cNvSpPr/>
          <p:nvPr/>
        </p:nvSpPr>
        <p:spPr>
          <a:xfrm>
            <a:off x="320040" y="2084832"/>
            <a:ext cx="8503920" cy="38404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3" name="Shape 223"/>
          <p:cNvSpPr txBox="1"/>
          <p:nvPr/>
        </p:nvSpPr>
        <p:spPr>
          <a:xfrm>
            <a:off x="374904" y="2084832"/>
            <a:ext cx="2313432" cy="384048"/>
          </a:xfrm>
          <a:prstGeom prst="rect">
            <a:avLst/>
          </a:prstGeom>
          <a:noFill/>
        </p:spPr>
        <p:txBody>
          <a:bodyPr wrap="square" lIns="27432" tIns="0" rIns="27432" bIns="0" anchor="ctr">
            <a:spAutoFit/>
          </a:bodyPr>
          <a:lstStyle/>
          <a:p>
            <a:pPr algn="l"/>
            <a:r>
              <a:rPr sz="800" b="1" i="0">
                <a:solidFill>
                  <a:srgbClr val="2E2D29"/>
                </a:solidFill>
                <a:latin typeface="Calibri"/>
              </a:rPr>
              <a:t>Mean inlet flow</a:t>
            </a:r>
          </a:p>
        </p:txBody>
      </p:sp>
      <p:sp>
        <p:nvSpPr>
          <p:cNvPr id="224" name="Shape 224"/>
          <p:cNvSpPr txBox="1"/>
          <p:nvPr/>
        </p:nvSpPr>
        <p:spPr>
          <a:xfrm>
            <a:off x="2798064" y="2084832"/>
            <a:ext cx="1673352" cy="384048"/>
          </a:xfrm>
          <a:prstGeom prst="rect">
            <a:avLst/>
          </a:prstGeom>
          <a:noFill/>
        </p:spPr>
        <p:txBody>
          <a:bodyPr wrap="square" lIns="27432" tIns="0" rIns="27432" bIns="0" anchor="ctr">
            <a:spAutoFit/>
          </a:bodyPr>
          <a:lstStyle/>
          <a:p>
            <a:pPr algn="l"/>
            <a:r>
              <a:rPr sz="800" b="0" i="0">
                <a:solidFill>
                  <a:srgbClr val="6B6965"/>
                </a:solidFill>
                <a:latin typeface="Calibri"/>
              </a:rPr>
              <a:t>25.782 cm³/s</a:t>
            </a:r>
          </a:p>
        </p:txBody>
      </p:sp>
      <p:sp>
        <p:nvSpPr>
          <p:cNvPr id="225" name="Shape 225"/>
          <p:cNvSpPr txBox="1"/>
          <p:nvPr/>
        </p:nvSpPr>
        <p:spPr>
          <a:xfrm>
            <a:off x="4581144" y="2084832"/>
            <a:ext cx="1673352" cy="384048"/>
          </a:xfrm>
          <a:prstGeom prst="rect">
            <a:avLst/>
          </a:prstGeom>
          <a:noFill/>
        </p:spPr>
        <p:txBody>
          <a:bodyPr wrap="square" lIns="27432" tIns="0" rIns="27432" bIns="0" anchor="ctr">
            <a:spAutoFit/>
          </a:bodyPr>
          <a:lstStyle/>
          <a:p>
            <a:pPr algn="l"/>
            <a:r>
              <a:rPr sz="800" b="0" i="0">
                <a:solidFill>
                  <a:srgbClr val="6B6965"/>
                </a:solidFill>
                <a:latin typeface="Calibri"/>
              </a:rPr>
              <a:t>25.782 cm³/s</a:t>
            </a:r>
          </a:p>
        </p:txBody>
      </p:sp>
      <p:sp>
        <p:nvSpPr>
          <p:cNvPr id="226" name="Shape 226"/>
          <p:cNvSpPr txBox="1"/>
          <p:nvPr/>
        </p:nvSpPr>
        <p:spPr>
          <a:xfrm>
            <a:off x="6364224" y="2084832"/>
            <a:ext cx="2404872" cy="384048"/>
          </a:xfrm>
          <a:prstGeom prst="rect">
            <a:avLst/>
          </a:prstGeom>
          <a:noFill/>
        </p:spPr>
        <p:txBody>
          <a:bodyPr wrap="square" lIns="27432" tIns="0" rIns="27432" bIns="0" anchor="ctr">
            <a:spAutoFit/>
          </a:bodyPr>
          <a:lstStyle/>
          <a:p>
            <a:pPr algn="l"/>
            <a:r>
              <a:rPr sz="800" b="0" i="0">
                <a:solidFill>
                  <a:srgbClr val="6B6965"/>
                </a:solidFill>
                <a:latin typeface="Calibri"/>
              </a:rPr>
              <a:t>—</a:t>
            </a:r>
          </a:p>
        </p:txBody>
      </p:sp>
      <p:sp>
        <p:nvSpPr>
          <p:cNvPr id="227" name="Shape 227"/>
          <p:cNvSpPr txBox="1"/>
          <p:nvPr/>
        </p:nvSpPr>
        <p:spPr>
          <a:xfrm>
            <a:off x="374904" y="2468880"/>
            <a:ext cx="2313432" cy="384048"/>
          </a:xfrm>
          <a:prstGeom prst="rect">
            <a:avLst/>
          </a:prstGeom>
          <a:noFill/>
        </p:spPr>
        <p:txBody>
          <a:bodyPr wrap="square" lIns="27432" tIns="0" rIns="27432" bIns="0" anchor="ctr">
            <a:spAutoFit/>
          </a:bodyPr>
          <a:lstStyle/>
          <a:p>
            <a:pPr algn="l"/>
            <a:r>
              <a:rPr sz="800" b="1" i="0">
                <a:solidFill>
                  <a:srgbClr val="2E2D29"/>
                </a:solidFill>
                <a:latin typeface="Calibri"/>
              </a:rPr>
              <a:t>Mean RPA split</a:t>
            </a:r>
          </a:p>
        </p:txBody>
      </p:sp>
      <p:sp>
        <p:nvSpPr>
          <p:cNvPr id="228" name="Shape 228"/>
          <p:cNvSpPr txBox="1"/>
          <p:nvPr/>
        </p:nvSpPr>
        <p:spPr>
          <a:xfrm>
            <a:off x="2798064" y="2468880"/>
            <a:ext cx="1673352" cy="384048"/>
          </a:xfrm>
          <a:prstGeom prst="rect">
            <a:avLst/>
          </a:prstGeom>
          <a:noFill/>
        </p:spPr>
        <p:txBody>
          <a:bodyPr wrap="square" lIns="27432" tIns="0" rIns="27432" bIns="0" anchor="ctr">
            <a:spAutoFit/>
          </a:bodyPr>
          <a:lstStyle/>
          <a:p>
            <a:pPr algn="l"/>
            <a:r>
              <a:rPr sz="800" b="0" i="0">
                <a:solidFill>
                  <a:srgbClr val="6B6965"/>
                </a:solidFill>
                <a:latin typeface="Calibri"/>
              </a:rPr>
              <a:t>64%</a:t>
            </a:r>
          </a:p>
        </p:txBody>
      </p:sp>
      <p:sp>
        <p:nvSpPr>
          <p:cNvPr id="229" name="Shape 229"/>
          <p:cNvSpPr txBox="1"/>
          <p:nvPr/>
        </p:nvSpPr>
        <p:spPr>
          <a:xfrm>
            <a:off x="4581144" y="2468880"/>
            <a:ext cx="1673352" cy="384048"/>
          </a:xfrm>
          <a:prstGeom prst="rect">
            <a:avLst/>
          </a:prstGeom>
          <a:noFill/>
        </p:spPr>
        <p:txBody>
          <a:bodyPr wrap="square" lIns="27432" tIns="0" rIns="27432" bIns="0" anchor="ctr">
            <a:spAutoFit/>
          </a:bodyPr>
          <a:lstStyle/>
          <a:p>
            <a:pPr algn="l"/>
            <a:r>
              <a:rPr sz="800" b="0" i="0">
                <a:solidFill>
                  <a:srgbClr val="6B6965"/>
                </a:solidFill>
                <a:latin typeface="Calibri"/>
              </a:rPr>
              <a:t>78%</a:t>
            </a:r>
          </a:p>
        </p:txBody>
      </p:sp>
      <p:sp>
        <p:nvSpPr>
          <p:cNvPr id="230" name="Shape 230"/>
          <p:cNvSpPr txBox="1"/>
          <p:nvPr/>
        </p:nvSpPr>
        <p:spPr>
          <a:xfrm>
            <a:off x="6364224" y="2468880"/>
            <a:ext cx="2404872" cy="384048"/>
          </a:xfrm>
          <a:prstGeom prst="rect">
            <a:avLst/>
          </a:prstGeom>
          <a:noFill/>
        </p:spPr>
        <p:txBody>
          <a:bodyPr wrap="square" lIns="27432" tIns="0" rIns="27432" bIns="0" anchor="ctr">
            <a:spAutoFit/>
          </a:bodyPr>
          <a:lstStyle/>
          <a:p>
            <a:pPr algn="l"/>
            <a:r>
              <a:rPr sz="800" b="0" i="0">
                <a:solidFill>
                  <a:srgbClr val="6B6965"/>
                </a:solidFill>
                <a:latin typeface="Calibri"/>
              </a:rPr>
              <a:t>83%</a:t>
            </a:r>
          </a:p>
        </p:txBody>
      </p:sp>
      <p:sp>
        <p:nvSpPr>
          <p:cNvPr id="231" name="Shape 231"/>
          <p:cNvSpPr/>
          <p:nvPr/>
        </p:nvSpPr>
        <p:spPr>
          <a:xfrm>
            <a:off x="320040" y="2852928"/>
            <a:ext cx="8503920" cy="38404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2" name="Shape 232"/>
          <p:cNvSpPr txBox="1"/>
          <p:nvPr/>
        </p:nvSpPr>
        <p:spPr>
          <a:xfrm>
            <a:off x="374904" y="2852928"/>
            <a:ext cx="2313432" cy="384048"/>
          </a:xfrm>
          <a:prstGeom prst="rect">
            <a:avLst/>
          </a:prstGeom>
          <a:noFill/>
        </p:spPr>
        <p:txBody>
          <a:bodyPr wrap="square" lIns="27432" tIns="0" rIns="27432" bIns="0" anchor="ctr">
            <a:spAutoFit/>
          </a:bodyPr>
          <a:lstStyle/>
          <a:p>
            <a:pPr algn="l"/>
            <a:r>
              <a:rPr sz="800" b="1" i="0">
                <a:solidFill>
                  <a:srgbClr val="2E2D29"/>
                </a:solidFill>
                <a:latin typeface="Calibri"/>
              </a:rPr>
              <a:t>Mean inlet pressure</a:t>
            </a:r>
          </a:p>
        </p:txBody>
      </p:sp>
      <p:sp>
        <p:nvSpPr>
          <p:cNvPr id="233" name="Shape 233"/>
          <p:cNvSpPr txBox="1"/>
          <p:nvPr/>
        </p:nvSpPr>
        <p:spPr>
          <a:xfrm>
            <a:off x="2798064" y="2852928"/>
            <a:ext cx="1673352" cy="384048"/>
          </a:xfrm>
          <a:prstGeom prst="rect">
            <a:avLst/>
          </a:prstGeom>
          <a:noFill/>
        </p:spPr>
        <p:txBody>
          <a:bodyPr wrap="square" lIns="27432" tIns="0" rIns="27432" bIns="0" anchor="ctr">
            <a:spAutoFit/>
          </a:bodyPr>
          <a:lstStyle/>
          <a:p>
            <a:pPr algn="l"/>
            <a:r>
              <a:rPr sz="800" b="0" i="0">
                <a:solidFill>
                  <a:srgbClr val="6B6965"/>
                </a:solidFill>
                <a:latin typeface="Calibri"/>
              </a:rPr>
              <a:t>1.01 mmHg</a:t>
            </a:r>
          </a:p>
        </p:txBody>
      </p:sp>
      <p:sp>
        <p:nvSpPr>
          <p:cNvPr id="234" name="Shape 234"/>
          <p:cNvSpPr txBox="1"/>
          <p:nvPr/>
        </p:nvSpPr>
        <p:spPr>
          <a:xfrm>
            <a:off x="4581144" y="2852928"/>
            <a:ext cx="1673352" cy="384048"/>
          </a:xfrm>
          <a:prstGeom prst="rect">
            <a:avLst/>
          </a:prstGeom>
          <a:noFill/>
        </p:spPr>
        <p:txBody>
          <a:bodyPr wrap="square" lIns="27432" tIns="0" rIns="27432" bIns="0" anchor="ctr">
            <a:spAutoFit/>
          </a:bodyPr>
          <a:lstStyle/>
          <a:p>
            <a:pPr algn="l"/>
            <a:r>
              <a:rPr sz="800" b="0" i="0">
                <a:solidFill>
                  <a:srgbClr val="6B6965"/>
                </a:solidFill>
                <a:latin typeface="Calibri"/>
              </a:rPr>
              <a:t>1.65 mmHg</a:t>
            </a:r>
          </a:p>
        </p:txBody>
      </p:sp>
      <p:sp>
        <p:nvSpPr>
          <p:cNvPr id="235" name="Shape 235"/>
          <p:cNvSpPr txBox="1"/>
          <p:nvPr/>
        </p:nvSpPr>
        <p:spPr>
          <a:xfrm>
            <a:off x="6364224" y="2852928"/>
            <a:ext cx="2404872" cy="384048"/>
          </a:xfrm>
          <a:prstGeom prst="rect">
            <a:avLst/>
          </a:prstGeom>
          <a:noFill/>
        </p:spPr>
        <p:txBody>
          <a:bodyPr wrap="square" lIns="27432" tIns="0" rIns="27432" bIns="0" anchor="ctr">
            <a:spAutoFit/>
          </a:bodyPr>
          <a:lstStyle/>
          <a:p>
            <a:pPr algn="l"/>
            <a:r>
              <a:rPr sz="800" b="0" i="0">
                <a:solidFill>
                  <a:srgbClr val="6B6965"/>
                </a:solidFill>
                <a:latin typeface="Calibri"/>
              </a:rPr>
              <a:t>16 mmHg</a:t>
            </a:r>
          </a:p>
        </p:txBody>
      </p:sp>
      <p:sp>
        <p:nvSpPr>
          <p:cNvPr id="236" name="Shape 236"/>
          <p:cNvSpPr txBox="1"/>
          <p:nvPr/>
        </p:nvSpPr>
        <p:spPr>
          <a:xfrm>
            <a:off x="374904" y="3236976"/>
            <a:ext cx="2313432" cy="384048"/>
          </a:xfrm>
          <a:prstGeom prst="rect">
            <a:avLst/>
          </a:prstGeom>
          <a:noFill/>
        </p:spPr>
        <p:txBody>
          <a:bodyPr wrap="square" lIns="27432" tIns="0" rIns="27432" bIns="0" anchor="ctr">
            <a:spAutoFit/>
          </a:bodyPr>
          <a:lstStyle/>
          <a:p>
            <a:pPr algn="l"/>
            <a:r>
              <a:rPr sz="800" b="1" i="0">
                <a:solidFill>
                  <a:srgbClr val="2E2D29"/>
                </a:solidFill>
                <a:latin typeface="Calibri"/>
              </a:rPr>
              <a:t>Inlet-pressure range</a:t>
            </a:r>
          </a:p>
        </p:txBody>
      </p:sp>
      <p:sp>
        <p:nvSpPr>
          <p:cNvPr id="237" name="Shape 237"/>
          <p:cNvSpPr txBox="1"/>
          <p:nvPr/>
        </p:nvSpPr>
        <p:spPr>
          <a:xfrm>
            <a:off x="2798064" y="3236976"/>
            <a:ext cx="1673352" cy="384048"/>
          </a:xfrm>
          <a:prstGeom prst="rect">
            <a:avLst/>
          </a:prstGeom>
          <a:noFill/>
        </p:spPr>
        <p:txBody>
          <a:bodyPr wrap="square" lIns="27432" tIns="0" rIns="27432" bIns="0" anchor="ctr">
            <a:spAutoFit/>
          </a:bodyPr>
          <a:lstStyle/>
          <a:p>
            <a:pPr algn="l"/>
            <a:r>
              <a:rPr sz="800" b="0" i="0">
                <a:solidFill>
                  <a:srgbClr val="6B6965"/>
                </a:solidFill>
                <a:latin typeface="Calibri"/>
              </a:rPr>
              <a:t>−5.71 to 7.64 mmHg</a:t>
            </a:r>
          </a:p>
        </p:txBody>
      </p:sp>
      <p:sp>
        <p:nvSpPr>
          <p:cNvPr id="238" name="Shape 238"/>
          <p:cNvSpPr txBox="1"/>
          <p:nvPr/>
        </p:nvSpPr>
        <p:spPr>
          <a:xfrm>
            <a:off x="4581144" y="3236976"/>
            <a:ext cx="1673352" cy="384048"/>
          </a:xfrm>
          <a:prstGeom prst="rect">
            <a:avLst/>
          </a:prstGeom>
          <a:noFill/>
        </p:spPr>
        <p:txBody>
          <a:bodyPr wrap="square" lIns="27432" tIns="0" rIns="27432" bIns="0" anchor="ctr">
            <a:spAutoFit/>
          </a:bodyPr>
          <a:lstStyle/>
          <a:p>
            <a:pPr algn="l"/>
            <a:r>
              <a:rPr sz="800" b="0" i="0">
                <a:solidFill>
                  <a:srgbClr val="6B6965"/>
                </a:solidFill>
                <a:latin typeface="Calibri"/>
              </a:rPr>
              <a:t>−11.90 to 13.84 mmHg</a:t>
            </a:r>
          </a:p>
        </p:txBody>
      </p:sp>
      <p:sp>
        <p:nvSpPr>
          <p:cNvPr id="239" name="Shape 239"/>
          <p:cNvSpPr txBox="1"/>
          <p:nvPr/>
        </p:nvSpPr>
        <p:spPr>
          <a:xfrm>
            <a:off x="6364224" y="3236976"/>
            <a:ext cx="2404872" cy="384048"/>
          </a:xfrm>
          <a:prstGeom prst="rect">
            <a:avLst/>
          </a:prstGeom>
          <a:noFill/>
        </p:spPr>
        <p:txBody>
          <a:bodyPr wrap="square" lIns="27432" tIns="0" rIns="27432" bIns="0" anchor="ctr">
            <a:spAutoFit/>
          </a:bodyPr>
          <a:lstStyle/>
          <a:p>
            <a:pPr algn="l"/>
            <a:r>
              <a:rPr sz="800" b="0" i="0">
                <a:solidFill>
                  <a:srgbClr val="6B6965"/>
                </a:solidFill>
                <a:latin typeface="Calibri"/>
              </a:rPr>
              <a:t>3 to 34 mmHg</a:t>
            </a:r>
          </a:p>
        </p:txBody>
      </p:sp>
      <p:sp>
        <p:nvSpPr>
          <p:cNvPr id="240" name="Shape 240"/>
          <p:cNvSpPr/>
          <p:nvPr/>
        </p:nvSpPr>
        <p:spPr>
          <a:xfrm>
            <a:off x="320040" y="3785616"/>
            <a:ext cx="8503920" cy="84124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1" name="Shape 241"/>
          <p:cNvSpPr txBox="1"/>
          <p:nvPr/>
        </p:nvSpPr>
        <p:spPr>
          <a:xfrm>
            <a:off x="448056" y="3886200"/>
            <a:ext cx="3657600" cy="219456"/>
          </a:xfrm>
          <a:prstGeom prst="rect">
            <a:avLst/>
          </a:prstGeom>
          <a:noFill/>
        </p:spPr>
        <p:txBody>
          <a:bodyPr wrap="square" lIns="27432" tIns="0" rIns="27432" bIns="0" anchor="t">
            <a:spAutoFit/>
          </a:bodyPr>
          <a:lstStyle/>
          <a:p>
            <a:pPr algn="l"/>
            <a:r>
              <a:rPr sz="1100" b="1" i="0">
                <a:solidFill>
                  <a:srgbClr val="007C92"/>
                </a:solidFill>
                <a:latin typeface="Calibri"/>
              </a:rPr>
              <a:t>How to read it</a:t>
            </a:r>
          </a:p>
        </p:txBody>
      </p:sp>
      <p:sp>
        <p:nvSpPr>
          <p:cNvPr id="242" name="Shape 242"/>
          <p:cNvSpPr txBox="1"/>
          <p:nvPr/>
        </p:nvSpPr>
        <p:spPr>
          <a:xfrm>
            <a:off x="448056" y="4151376"/>
            <a:ext cx="8247888" cy="420624"/>
          </a:xfrm>
          <a:prstGeom prst="rect">
            <a:avLst/>
          </a:prstGeom>
          <a:noFill/>
        </p:spPr>
        <p:txBody>
          <a:bodyPr wrap="square" lIns="27432" tIns="0" rIns="27432" bIns="0">
            <a:spAutoFit/>
          </a:bodyPr>
          <a:lstStyle/>
          <a:p>
            <a:pPr>
              <a:spcAft>
                <a:spcPts val="350"/>
              </a:spcAft>
            </a:pPr>
            <a:r>
              <a:rPr sz="950">
                <a:solidFill>
                  <a:srgbClr val="007C92"/>
                </a:solidFill>
                <a:latin typeface="Calibri"/>
              </a:rPr>
              <a:t>• </a:t>
            </a:r>
            <a:r>
              <a:rPr sz="950">
                <a:solidFill>
                  <a:srgbClr val="2E2D29"/>
                </a:solidFill>
                <a:latin typeface="Calibri"/>
              </a:rPr>
              <a:t>Absolute pressures sit far below the clinical values because the outlet BCs are placeholders, not tuned structured trees</a:t>
            </a:r>
          </a:p>
          <a:p>
            <a:pPr>
              <a:spcAft>
                <a:spcPts val="350"/>
              </a:spcAft>
            </a:pPr>
            <a:r>
              <a:rPr sz="950">
                <a:solidFill>
                  <a:srgbClr val="007C92"/>
                </a:solidFill>
                <a:latin typeface="Calibri"/>
              </a:rPr>
              <a:t>• </a:t>
            </a:r>
            <a:r>
              <a:rPr sz="950">
                <a:solidFill>
                  <a:srgbClr val="2E2D29"/>
                </a:solidFill>
                <a:latin typeface="Calibri"/>
              </a:rPr>
              <a:t>The comparison that matters is baseline against learned, not either against the clinical target</a:t>
            </a:r>
          </a:p>
        </p:txBody>
      </p:sp>
      <p:sp>
        <p:nvSpPr>
          <p:cNvPr id="243" name="Shape 243"/>
          <p:cNvSpPr/>
          <p:nvPr/>
        </p:nvSpPr>
        <p:spPr>
          <a:xfrm>
            <a:off x="320040" y="4754880"/>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4" name="Shape 244"/>
          <p:cNvSpPr txBox="1"/>
          <p:nvPr/>
        </p:nvSpPr>
        <p:spPr>
          <a:xfrm>
            <a:off x="429768" y="4754880"/>
            <a:ext cx="8284464" cy="310896"/>
          </a:xfrm>
          <a:prstGeom prst="rect">
            <a:avLst/>
          </a:prstGeom>
          <a:noFill/>
        </p:spPr>
        <p:txBody>
          <a:bodyPr wrap="square" lIns="27432" tIns="0" rIns="27432" bIns="0" anchor="ctr">
            <a:spAutoFit/>
          </a:bodyPr>
          <a:lstStyle/>
          <a:p>
            <a:pPr algn="l"/>
            <a:r>
              <a:rPr sz="1000" b="1" i="0">
                <a:solidFill>
                  <a:srgbClr val="8C1515"/>
                </a:solidFill>
                <a:latin typeface="Calibri"/>
              </a:rPr>
              <a:t>The learned model moves RPA flow and systolic pressure toward the clinical values.</a:t>
            </a:r>
          </a:p>
        </p:txBody>
      </p:sp>
      <p:sp>
        <p:nvSpPr>
          <p:cNvPr id="245" name="Shape 245"/>
          <p:cNvSpPr txBox="1"/>
          <p:nvPr/>
        </p:nvSpPr>
        <p:spPr>
          <a:xfrm>
            <a:off x="2011680" y="5376672"/>
            <a:ext cx="6812280" cy="201168"/>
          </a:xfrm>
          <a:prstGeom prst="rect">
            <a:avLst/>
          </a:prstGeom>
          <a:noFill/>
        </p:spPr>
        <p:txBody>
          <a:bodyPr wrap="square" lIns="27432" tIns="0" rIns="27432" bIns="0" anchor="t">
            <a:spAutoFit/>
          </a:bodyPr>
          <a:lstStyle/>
          <a:p>
            <a:pPr algn="l"/>
            <a:r>
              <a:rPr sz="700" b="0" i="1">
                <a:solidFill>
                  <a:srgbClr val="6B6965"/>
                </a:solidFill>
                <a:latin typeface="Calibri"/>
              </a:rPr>
              <a:t>Baseline is the branched 0D model from the SimVascular GUI, uncalibrated and without junction coefficients.</a:t>
            </a:r>
          </a:p>
        </p:txBody>
      </p:sp>
    </p:spTree>
    <p:extLst>
      <p:ext uri="{BB962C8B-B14F-4D97-AF65-F5344CB8AC3E}">
        <p14:creationId xmlns:p14="http://schemas.microsoft.com/office/powerpoint/2010/main" val="429430767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lang="en-US" sz="2200" dirty="0">
                <a:solidFill>
                  <a:srgbClr val="8C1515"/>
                </a:solidFill>
                <a:latin typeface="Georgia"/>
              </a:rPr>
              <a:t>Candidate 0D representations of the PA anatomy</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IN DEVELOPMENT</a:t>
            </a:r>
          </a:p>
        </p:txBody>
      </p:sp>
      <p:sp>
        <p:nvSpPr>
          <p:cNvPr id="100" name="Shape 100"/>
          <p:cNvSpPr/>
          <p:nvPr/>
        </p:nvSpPr>
        <p:spPr>
          <a:xfrm>
            <a:off x="320040" y="1426464"/>
            <a:ext cx="8503920" cy="384048"/>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Shape 101"/>
          <p:cNvSpPr txBox="1"/>
          <p:nvPr/>
        </p:nvSpPr>
        <p:spPr>
          <a:xfrm>
            <a:off x="374904" y="1426464"/>
            <a:ext cx="1170432" cy="384048"/>
          </a:xfrm>
          <a:prstGeom prst="rect">
            <a:avLst/>
          </a:prstGeom>
          <a:noFill/>
        </p:spPr>
        <p:txBody>
          <a:bodyPr wrap="square" lIns="27432" tIns="0" rIns="27432" bIns="0" anchor="ctr">
            <a:spAutoFit/>
          </a:bodyPr>
          <a:lstStyle/>
          <a:p>
            <a:pPr algn="l"/>
            <a:r>
              <a:rPr sz="800" b="1" i="0">
                <a:solidFill>
                  <a:srgbClr val="FFFFFF"/>
                </a:solidFill>
                <a:latin typeface="Calibri"/>
              </a:rPr>
              <a:t>0D representation</a:t>
            </a:r>
          </a:p>
        </p:txBody>
      </p:sp>
      <p:sp>
        <p:nvSpPr>
          <p:cNvPr id="102" name="Shape 102"/>
          <p:cNvSpPr txBox="1"/>
          <p:nvPr/>
        </p:nvSpPr>
        <p:spPr>
          <a:xfrm>
            <a:off x="1655064" y="1426464"/>
            <a:ext cx="2240280" cy="384048"/>
          </a:xfrm>
          <a:prstGeom prst="rect">
            <a:avLst/>
          </a:prstGeom>
          <a:noFill/>
        </p:spPr>
        <p:txBody>
          <a:bodyPr wrap="square" lIns="27432" tIns="0" rIns="27432" bIns="0" anchor="ctr">
            <a:spAutoFit/>
          </a:bodyPr>
          <a:lstStyle/>
          <a:p>
            <a:pPr algn="l"/>
            <a:r>
              <a:rPr sz="800" b="1" i="0">
                <a:solidFill>
                  <a:srgbClr val="FFFFFF"/>
                </a:solidFill>
                <a:latin typeface="Calibri"/>
              </a:rPr>
              <a:t>How the network is built</a:t>
            </a:r>
          </a:p>
        </p:txBody>
      </p:sp>
      <p:sp>
        <p:nvSpPr>
          <p:cNvPr id="103" name="Shape 103"/>
          <p:cNvSpPr txBox="1"/>
          <p:nvPr/>
        </p:nvSpPr>
        <p:spPr>
          <a:xfrm>
            <a:off x="4005072" y="1426464"/>
            <a:ext cx="1481328" cy="384048"/>
          </a:xfrm>
          <a:prstGeom prst="rect">
            <a:avLst/>
          </a:prstGeom>
          <a:noFill/>
        </p:spPr>
        <p:txBody>
          <a:bodyPr wrap="square" lIns="27432" tIns="0" rIns="27432" bIns="0" anchor="ctr">
            <a:spAutoFit/>
          </a:bodyPr>
          <a:lstStyle/>
          <a:p>
            <a:pPr algn="l"/>
            <a:r>
              <a:rPr sz="800" b="1" i="0">
                <a:solidFill>
                  <a:srgbClr val="FFFFFF"/>
                </a:solidFill>
                <a:latin typeface="Calibri"/>
              </a:rPr>
              <a:t>Element values from</a:t>
            </a:r>
          </a:p>
        </p:txBody>
      </p:sp>
      <p:sp>
        <p:nvSpPr>
          <p:cNvPr id="104" name="Shape 104"/>
          <p:cNvSpPr txBox="1"/>
          <p:nvPr/>
        </p:nvSpPr>
        <p:spPr>
          <a:xfrm>
            <a:off x="5596128" y="1426464"/>
            <a:ext cx="1572768" cy="384048"/>
          </a:xfrm>
          <a:prstGeom prst="rect">
            <a:avLst/>
          </a:prstGeom>
          <a:noFill/>
        </p:spPr>
        <p:txBody>
          <a:bodyPr wrap="square" lIns="27432" tIns="0" rIns="27432" bIns="0" anchor="ctr">
            <a:spAutoFit/>
          </a:bodyPr>
          <a:lstStyle/>
          <a:p>
            <a:pPr algn="l"/>
            <a:r>
              <a:rPr sz="800" b="1" i="0">
                <a:solidFill>
                  <a:srgbClr val="FFFFFF"/>
                </a:solidFill>
                <a:latin typeface="Calibri"/>
              </a:rPr>
              <a:t>3D-0D agreement so far</a:t>
            </a:r>
          </a:p>
        </p:txBody>
      </p:sp>
      <p:sp>
        <p:nvSpPr>
          <p:cNvPr id="105" name="Shape 105"/>
          <p:cNvSpPr txBox="1"/>
          <p:nvPr/>
        </p:nvSpPr>
        <p:spPr>
          <a:xfrm>
            <a:off x="7278624" y="1426464"/>
            <a:ext cx="1490472" cy="384048"/>
          </a:xfrm>
          <a:prstGeom prst="rect">
            <a:avLst/>
          </a:prstGeom>
          <a:noFill/>
        </p:spPr>
        <p:txBody>
          <a:bodyPr wrap="square" lIns="27432" tIns="0" rIns="27432" bIns="0" anchor="ctr">
            <a:spAutoFit/>
          </a:bodyPr>
          <a:lstStyle/>
          <a:p>
            <a:pPr algn="l"/>
            <a:r>
              <a:rPr sz="800" b="1" i="0">
                <a:solidFill>
                  <a:srgbClr val="FFFFFF"/>
                </a:solidFill>
                <a:latin typeface="Calibri"/>
              </a:rPr>
              <a:t>Status</a:t>
            </a:r>
          </a:p>
        </p:txBody>
      </p:sp>
      <p:sp>
        <p:nvSpPr>
          <p:cNvPr id="106" name="Shape 106"/>
          <p:cNvSpPr/>
          <p:nvPr/>
        </p:nvSpPr>
        <p:spPr>
          <a:xfrm>
            <a:off x="320040" y="1810512"/>
            <a:ext cx="8503920" cy="54864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7" name="Shape 107"/>
          <p:cNvSpPr txBox="1"/>
          <p:nvPr/>
        </p:nvSpPr>
        <p:spPr>
          <a:xfrm>
            <a:off x="374904" y="1810512"/>
            <a:ext cx="1170432" cy="548640"/>
          </a:xfrm>
          <a:prstGeom prst="rect">
            <a:avLst/>
          </a:prstGeom>
          <a:noFill/>
        </p:spPr>
        <p:txBody>
          <a:bodyPr wrap="square" lIns="27432" tIns="0" rIns="27432" bIns="0" anchor="ctr">
            <a:spAutoFit/>
          </a:bodyPr>
          <a:lstStyle/>
          <a:p>
            <a:pPr algn="l"/>
            <a:r>
              <a:rPr sz="800" b="1" i="0">
                <a:solidFill>
                  <a:srgbClr val="2E2D29"/>
                </a:solidFill>
                <a:latin typeface="Calibri"/>
              </a:rPr>
              <a:t>1  Two-branch RRI</a:t>
            </a:r>
          </a:p>
        </p:txBody>
      </p:sp>
      <p:sp>
        <p:nvSpPr>
          <p:cNvPr id="108" name="Shape 108"/>
          <p:cNvSpPr txBox="1"/>
          <p:nvPr/>
        </p:nvSpPr>
        <p:spPr>
          <a:xfrm>
            <a:off x="1655064" y="1810512"/>
            <a:ext cx="2240280" cy="548640"/>
          </a:xfrm>
          <a:prstGeom prst="rect">
            <a:avLst/>
          </a:prstGeom>
          <a:noFill/>
        </p:spPr>
        <p:txBody>
          <a:bodyPr wrap="square" lIns="27432" tIns="0" rIns="27432" bIns="0" anchor="ctr">
            <a:spAutoFit/>
          </a:bodyPr>
          <a:lstStyle/>
          <a:p>
            <a:pPr algn="l"/>
            <a:r>
              <a:rPr sz="800" b="0" i="0">
                <a:solidFill>
                  <a:srgbClr val="6B6965"/>
                </a:solidFill>
                <a:latin typeface="Calibri"/>
              </a:rPr>
              <a:t>Hand-built two-branch model: one leg per side, linear R → nonlinear R → inductor</a:t>
            </a:r>
          </a:p>
        </p:txBody>
      </p:sp>
      <p:sp>
        <p:nvSpPr>
          <p:cNvPr id="109" name="Shape 109"/>
          <p:cNvSpPr txBox="1"/>
          <p:nvPr/>
        </p:nvSpPr>
        <p:spPr>
          <a:xfrm>
            <a:off x="4005072" y="1810512"/>
            <a:ext cx="1481328" cy="548640"/>
          </a:xfrm>
          <a:prstGeom prst="rect">
            <a:avLst/>
          </a:prstGeom>
          <a:noFill/>
        </p:spPr>
        <p:txBody>
          <a:bodyPr wrap="square" lIns="27432" tIns="0" rIns="27432" bIns="0" anchor="ctr">
            <a:spAutoFit/>
          </a:bodyPr>
          <a:lstStyle/>
          <a:p>
            <a:pPr algn="l"/>
            <a:r>
              <a:rPr sz="800" b="0" i="0">
                <a:solidFill>
                  <a:srgbClr val="6B6965"/>
                </a:solidFill>
                <a:latin typeface="Calibri"/>
              </a:rPr>
              <a:t>Nonlinear R seeded from steady 3D runs at mean, systolic and diastolic flow</a:t>
            </a:r>
          </a:p>
        </p:txBody>
      </p:sp>
      <p:sp>
        <p:nvSpPr>
          <p:cNvPr id="110" name="Shape 110"/>
          <p:cNvSpPr txBox="1"/>
          <p:nvPr/>
        </p:nvSpPr>
        <p:spPr>
          <a:xfrm>
            <a:off x="5596128" y="1810512"/>
            <a:ext cx="1572768" cy="548640"/>
          </a:xfrm>
          <a:prstGeom prst="rect">
            <a:avLst/>
          </a:prstGeom>
          <a:noFill/>
        </p:spPr>
        <p:txBody>
          <a:bodyPr wrap="square" lIns="27432" tIns="0" rIns="27432" bIns="0" anchor="ctr">
            <a:spAutoFit/>
          </a:bodyPr>
          <a:lstStyle/>
          <a:p>
            <a:pPr algn="l"/>
            <a:r>
              <a:rPr sz="800" b="1" i="0">
                <a:solidFill>
                  <a:srgbClr val="E98300"/>
                </a:solidFill>
                <a:latin typeface="Calibri"/>
              </a:rPr>
              <a:t>NRMSE pending. </a:t>
            </a:r>
            <a:r>
              <a:rPr sz="800" b="0" i="0">
                <a:solidFill>
                  <a:srgbClr val="6B6965"/>
                </a:solidFill>
                <a:latin typeface="Calibri"/>
              </a:rPr>
              <a:t>Outer loop closes on global pressure and split, not a branch-level field</a:t>
            </a:r>
          </a:p>
        </p:txBody>
      </p:sp>
      <p:sp>
        <p:nvSpPr>
          <p:cNvPr id="111" name="Shape 111"/>
          <p:cNvSpPr txBox="1"/>
          <p:nvPr/>
        </p:nvSpPr>
        <p:spPr>
          <a:xfrm>
            <a:off x="7278624" y="1810512"/>
            <a:ext cx="1490472" cy="548640"/>
          </a:xfrm>
          <a:prstGeom prst="rect">
            <a:avLst/>
          </a:prstGeom>
          <a:noFill/>
        </p:spPr>
        <p:txBody>
          <a:bodyPr wrap="square" lIns="27432" tIns="0" rIns="27432" bIns="0" anchor="ctr">
            <a:spAutoFit/>
          </a:bodyPr>
          <a:lstStyle/>
          <a:p>
            <a:pPr algn="l"/>
            <a:r>
              <a:rPr sz="800" b="0" i="0">
                <a:solidFill>
                  <a:srgbClr val="6B6965"/>
                </a:solidFill>
                <a:latin typeface="Calibri"/>
              </a:rPr>
              <a:t>In use — current baseline</a:t>
            </a:r>
          </a:p>
        </p:txBody>
      </p:sp>
      <p:sp>
        <p:nvSpPr>
          <p:cNvPr id="112" name="Shape 112"/>
          <p:cNvSpPr txBox="1"/>
          <p:nvPr/>
        </p:nvSpPr>
        <p:spPr>
          <a:xfrm>
            <a:off x="374904" y="2359152"/>
            <a:ext cx="1170432" cy="548640"/>
          </a:xfrm>
          <a:prstGeom prst="rect">
            <a:avLst/>
          </a:prstGeom>
          <a:noFill/>
        </p:spPr>
        <p:txBody>
          <a:bodyPr wrap="square" lIns="27432" tIns="0" rIns="27432" bIns="0" anchor="ctr">
            <a:spAutoFit/>
          </a:bodyPr>
          <a:lstStyle/>
          <a:p>
            <a:pPr algn="l"/>
            <a:r>
              <a:rPr sz="800" b="1" i="0">
                <a:solidFill>
                  <a:srgbClr val="2E2D29"/>
                </a:solidFill>
                <a:latin typeface="Calibri"/>
              </a:rPr>
              <a:t>2  Branched 0D from geometry</a:t>
            </a:r>
          </a:p>
        </p:txBody>
      </p:sp>
      <p:sp>
        <p:nvSpPr>
          <p:cNvPr id="113" name="Shape 113"/>
          <p:cNvSpPr txBox="1"/>
          <p:nvPr/>
        </p:nvSpPr>
        <p:spPr>
          <a:xfrm>
            <a:off x="1655064" y="2359152"/>
            <a:ext cx="2240280" cy="548640"/>
          </a:xfrm>
          <a:prstGeom prst="rect">
            <a:avLst/>
          </a:prstGeom>
          <a:noFill/>
        </p:spPr>
        <p:txBody>
          <a:bodyPr wrap="square" lIns="27432" tIns="0" rIns="27432" bIns="0" anchor="ctr">
            <a:spAutoFit/>
          </a:bodyPr>
          <a:lstStyle/>
          <a:p>
            <a:pPr algn="l"/>
            <a:r>
              <a:rPr sz="800" b="0" i="0">
                <a:solidFill>
                  <a:srgbClr val="6B6965"/>
                </a:solidFill>
                <a:latin typeface="Calibri"/>
              </a:rPr>
              <a:t>Full branched network matching the 3D anatomy, generated in the SimVascular GUI</a:t>
            </a:r>
          </a:p>
        </p:txBody>
      </p:sp>
      <p:sp>
        <p:nvSpPr>
          <p:cNvPr id="114" name="Shape 114"/>
          <p:cNvSpPr txBox="1"/>
          <p:nvPr/>
        </p:nvSpPr>
        <p:spPr>
          <a:xfrm>
            <a:off x="4005072" y="2359152"/>
            <a:ext cx="1481328" cy="548640"/>
          </a:xfrm>
          <a:prstGeom prst="rect">
            <a:avLst/>
          </a:prstGeom>
          <a:noFill/>
        </p:spPr>
        <p:txBody>
          <a:bodyPr wrap="square" lIns="27432" tIns="0" rIns="27432" bIns="0" anchor="ctr">
            <a:spAutoFit/>
          </a:bodyPr>
          <a:lstStyle/>
          <a:p>
            <a:pPr algn="l"/>
            <a:r>
              <a:rPr sz="800" b="0" i="0">
                <a:solidFill>
                  <a:srgbClr val="6B6965"/>
                </a:solidFill>
                <a:latin typeface="Calibri"/>
              </a:rPr>
              <a:t>Analytic R, C, L per segment from the centerlines; no junction coefficients</a:t>
            </a:r>
          </a:p>
        </p:txBody>
      </p:sp>
      <p:sp>
        <p:nvSpPr>
          <p:cNvPr id="115" name="Shape 115"/>
          <p:cNvSpPr txBox="1"/>
          <p:nvPr/>
        </p:nvSpPr>
        <p:spPr>
          <a:xfrm>
            <a:off x="5596128" y="2359152"/>
            <a:ext cx="1572768" cy="548640"/>
          </a:xfrm>
          <a:prstGeom prst="rect">
            <a:avLst/>
          </a:prstGeom>
          <a:noFill/>
        </p:spPr>
        <p:txBody>
          <a:bodyPr wrap="square" lIns="27432" tIns="0" rIns="27432" bIns="0" anchor="ctr">
            <a:spAutoFit/>
          </a:bodyPr>
          <a:lstStyle/>
          <a:p>
            <a:pPr algn="l"/>
            <a:r>
              <a:rPr sz="800" b="0" i="0">
                <a:solidFill>
                  <a:srgbClr val="6B6965"/>
                </a:solidFill>
                <a:latin typeface="Calibri"/>
              </a:rPr>
              <a:t>TST-STAN-5: MPA pressure NRMSE 0.45, RPA split error 0.026</a:t>
            </a:r>
          </a:p>
        </p:txBody>
      </p:sp>
      <p:sp>
        <p:nvSpPr>
          <p:cNvPr id="116" name="Shape 116"/>
          <p:cNvSpPr txBox="1"/>
          <p:nvPr/>
        </p:nvSpPr>
        <p:spPr>
          <a:xfrm>
            <a:off x="7278624" y="2359152"/>
            <a:ext cx="1490472" cy="548640"/>
          </a:xfrm>
          <a:prstGeom prst="rect">
            <a:avLst/>
          </a:prstGeom>
          <a:noFill/>
        </p:spPr>
        <p:txBody>
          <a:bodyPr wrap="square" lIns="27432" tIns="0" rIns="27432" bIns="0" anchor="ctr">
            <a:spAutoFit/>
          </a:bodyPr>
          <a:lstStyle/>
          <a:p>
            <a:pPr algn="l"/>
            <a:r>
              <a:rPr sz="800" b="0" i="0">
                <a:solidFill>
                  <a:srgbClr val="6B6965"/>
                </a:solidFill>
                <a:latin typeface="Calibri"/>
              </a:rPr>
              <a:t>Generated and run on TST-STAN-5</a:t>
            </a:r>
          </a:p>
        </p:txBody>
      </p:sp>
      <p:sp>
        <p:nvSpPr>
          <p:cNvPr id="117" name="Shape 117"/>
          <p:cNvSpPr/>
          <p:nvPr/>
        </p:nvSpPr>
        <p:spPr>
          <a:xfrm>
            <a:off x="320040" y="2907792"/>
            <a:ext cx="8503920" cy="54864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8" name="Shape 118"/>
          <p:cNvSpPr txBox="1"/>
          <p:nvPr/>
        </p:nvSpPr>
        <p:spPr>
          <a:xfrm>
            <a:off x="374904" y="2907792"/>
            <a:ext cx="1170432" cy="548640"/>
          </a:xfrm>
          <a:prstGeom prst="rect">
            <a:avLst/>
          </a:prstGeom>
          <a:noFill/>
        </p:spPr>
        <p:txBody>
          <a:bodyPr wrap="square" lIns="27432" tIns="0" rIns="27432" bIns="0" anchor="ctr">
            <a:spAutoFit/>
          </a:bodyPr>
          <a:lstStyle/>
          <a:p>
            <a:pPr algn="l"/>
            <a:r>
              <a:rPr sz="800" b="1" i="0">
                <a:solidFill>
                  <a:srgbClr val="2E2D29"/>
                </a:solidFill>
                <a:latin typeface="Calibri"/>
              </a:rPr>
              <a:t>3  Learned 0D (learnedZeroD)</a:t>
            </a:r>
          </a:p>
        </p:txBody>
      </p:sp>
      <p:sp>
        <p:nvSpPr>
          <p:cNvPr id="119" name="Shape 119"/>
          <p:cNvSpPr txBox="1"/>
          <p:nvPr/>
        </p:nvSpPr>
        <p:spPr>
          <a:xfrm>
            <a:off x="1655064" y="2907792"/>
            <a:ext cx="2240280" cy="548640"/>
          </a:xfrm>
          <a:prstGeom prst="rect">
            <a:avLst/>
          </a:prstGeom>
          <a:noFill/>
        </p:spPr>
        <p:txBody>
          <a:bodyPr wrap="square" lIns="27432" tIns="0" rIns="27432" bIns="0" anchor="ctr">
            <a:spAutoFit/>
          </a:bodyPr>
          <a:lstStyle/>
          <a:p>
            <a:pPr algn="l"/>
            <a:r>
              <a:rPr sz="800" b="0" i="0">
                <a:solidFill>
                  <a:srgbClr val="6B6965"/>
                </a:solidFill>
                <a:latin typeface="Calibri"/>
              </a:rPr>
              <a:t>Same branched topology; per-segment R, C, L and junction coefficients predicted from the geometry by Natalia’s ML method</a:t>
            </a:r>
          </a:p>
        </p:txBody>
      </p:sp>
      <p:sp>
        <p:nvSpPr>
          <p:cNvPr id="120" name="Shape 120"/>
          <p:cNvSpPr txBox="1"/>
          <p:nvPr/>
        </p:nvSpPr>
        <p:spPr>
          <a:xfrm>
            <a:off x="4005072" y="2907792"/>
            <a:ext cx="1481328" cy="548640"/>
          </a:xfrm>
          <a:prstGeom prst="rect">
            <a:avLst/>
          </a:prstGeom>
          <a:noFill/>
        </p:spPr>
        <p:txBody>
          <a:bodyPr wrap="square" lIns="27432" tIns="0" rIns="27432" bIns="0" anchor="ctr">
            <a:spAutoFit/>
          </a:bodyPr>
          <a:lstStyle/>
          <a:p>
            <a:pPr algn="l"/>
            <a:r>
              <a:rPr sz="800" b="0" i="0">
                <a:solidFill>
                  <a:srgbClr val="6B6965"/>
                </a:solidFill>
                <a:latin typeface="Calibri"/>
              </a:rPr>
              <a:t>Trained ML model, no 3D solution needed</a:t>
            </a:r>
          </a:p>
        </p:txBody>
      </p:sp>
      <p:sp>
        <p:nvSpPr>
          <p:cNvPr id="121" name="Shape 121"/>
          <p:cNvSpPr txBox="1"/>
          <p:nvPr/>
        </p:nvSpPr>
        <p:spPr>
          <a:xfrm>
            <a:off x="5596128" y="2907792"/>
            <a:ext cx="1572768" cy="548640"/>
          </a:xfrm>
          <a:prstGeom prst="rect">
            <a:avLst/>
          </a:prstGeom>
          <a:noFill/>
        </p:spPr>
        <p:txBody>
          <a:bodyPr wrap="square" lIns="27432" tIns="0" rIns="27432" bIns="0" anchor="ctr">
            <a:spAutoFit/>
          </a:bodyPr>
          <a:lstStyle/>
          <a:p>
            <a:pPr algn="l"/>
            <a:r>
              <a:rPr sz="800" b="0" i="0">
                <a:solidFill>
                  <a:srgbClr val="6B6965"/>
                </a:solidFill>
                <a:latin typeface="Calibri"/>
              </a:rPr>
              <a:t>Raises RPA flow and systolic pressure relative to option 2 — the right direction</a:t>
            </a:r>
          </a:p>
        </p:txBody>
      </p:sp>
      <p:sp>
        <p:nvSpPr>
          <p:cNvPr id="122" name="Shape 122"/>
          <p:cNvSpPr txBox="1"/>
          <p:nvPr/>
        </p:nvSpPr>
        <p:spPr>
          <a:xfrm>
            <a:off x="7278624" y="2907792"/>
            <a:ext cx="1490472" cy="548640"/>
          </a:xfrm>
          <a:prstGeom prst="rect">
            <a:avLst/>
          </a:prstGeom>
          <a:noFill/>
        </p:spPr>
        <p:txBody>
          <a:bodyPr wrap="square" lIns="27432" tIns="0" rIns="27432" bIns="0" anchor="ctr">
            <a:spAutoFit/>
          </a:bodyPr>
          <a:lstStyle/>
          <a:p>
            <a:pPr algn="l"/>
            <a:r>
              <a:rPr sz="800" b="0" i="0">
                <a:solidFill>
                  <a:srgbClr val="6B6965"/>
                </a:solidFill>
                <a:latin typeface="Calibri"/>
              </a:rPr>
              <a:t>First test run on TST-STAN-5</a:t>
            </a:r>
          </a:p>
        </p:txBody>
      </p:sp>
      <p:sp>
        <p:nvSpPr>
          <p:cNvPr id="123" name="Shape 123"/>
          <p:cNvSpPr txBox="1"/>
          <p:nvPr/>
        </p:nvSpPr>
        <p:spPr>
          <a:xfrm>
            <a:off x="374904" y="3456432"/>
            <a:ext cx="1170432" cy="548640"/>
          </a:xfrm>
          <a:prstGeom prst="rect">
            <a:avLst/>
          </a:prstGeom>
          <a:noFill/>
        </p:spPr>
        <p:txBody>
          <a:bodyPr wrap="square" lIns="27432" tIns="0" rIns="27432" bIns="0" anchor="ctr">
            <a:spAutoFit/>
          </a:bodyPr>
          <a:lstStyle/>
          <a:p>
            <a:pPr algn="l"/>
            <a:r>
              <a:rPr sz="800" b="1" i="0">
                <a:solidFill>
                  <a:srgbClr val="2E2D29"/>
                </a:solidFill>
                <a:latin typeface="Calibri"/>
              </a:rPr>
              <a:t>4  Option 2 + calibrator</a:t>
            </a:r>
          </a:p>
        </p:txBody>
      </p:sp>
      <p:sp>
        <p:nvSpPr>
          <p:cNvPr id="124" name="Shape 124"/>
          <p:cNvSpPr txBox="1"/>
          <p:nvPr/>
        </p:nvSpPr>
        <p:spPr>
          <a:xfrm>
            <a:off x="1655064" y="3456432"/>
            <a:ext cx="2240280" cy="548640"/>
          </a:xfrm>
          <a:prstGeom prst="rect">
            <a:avLst/>
          </a:prstGeom>
          <a:noFill/>
        </p:spPr>
        <p:txBody>
          <a:bodyPr wrap="square" lIns="27432" tIns="0" rIns="27432" bIns="0" anchor="ctr">
            <a:spAutoFit/>
          </a:bodyPr>
          <a:lstStyle/>
          <a:p>
            <a:pPr algn="l"/>
            <a:r>
              <a:rPr sz="800" b="0" i="0">
                <a:solidFill>
                  <a:srgbClr val="6B6965"/>
                </a:solidFill>
                <a:latin typeface="Calibri"/>
              </a:rPr>
              <a:t>Option 2 network with element values re-fit to the 3D result</a:t>
            </a:r>
          </a:p>
        </p:txBody>
      </p:sp>
      <p:sp>
        <p:nvSpPr>
          <p:cNvPr id="125" name="Shape 125"/>
          <p:cNvSpPr txBox="1"/>
          <p:nvPr/>
        </p:nvSpPr>
        <p:spPr>
          <a:xfrm>
            <a:off x="4005072" y="3456432"/>
            <a:ext cx="1481328" cy="548640"/>
          </a:xfrm>
          <a:prstGeom prst="rect">
            <a:avLst/>
          </a:prstGeom>
          <a:noFill/>
        </p:spPr>
        <p:txBody>
          <a:bodyPr wrap="square" lIns="27432" tIns="0" rIns="27432" bIns="0" anchor="ctr">
            <a:spAutoFit/>
          </a:bodyPr>
          <a:lstStyle/>
          <a:p>
            <a:pPr algn="l"/>
            <a:r>
              <a:rPr sz="800" b="0" i="0">
                <a:solidFill>
                  <a:srgbClr val="6B6965"/>
                </a:solidFill>
                <a:latin typeface="Calibri"/>
              </a:rPr>
              <a:t>svZeroDCalibrator fit to the 3D pressure and flow traces; junction coefficients not included</a:t>
            </a:r>
          </a:p>
        </p:txBody>
      </p:sp>
      <p:sp>
        <p:nvSpPr>
          <p:cNvPr id="126" name="Shape 126"/>
          <p:cNvSpPr txBox="1"/>
          <p:nvPr/>
        </p:nvSpPr>
        <p:spPr>
          <a:xfrm>
            <a:off x="5596128" y="3456432"/>
            <a:ext cx="1572768" cy="548640"/>
          </a:xfrm>
          <a:prstGeom prst="rect">
            <a:avLst/>
          </a:prstGeom>
          <a:noFill/>
        </p:spPr>
        <p:txBody>
          <a:bodyPr wrap="square" lIns="27432" tIns="0" rIns="27432" bIns="0" anchor="ctr">
            <a:spAutoFit/>
          </a:bodyPr>
          <a:lstStyle/>
          <a:p>
            <a:pPr algn="l"/>
            <a:r>
              <a:rPr sz="800" b="0" i="0">
                <a:solidFill>
                  <a:srgbClr val="6B6965"/>
                </a:solidFill>
                <a:latin typeface="Calibri"/>
              </a:rPr>
              <a:t>NRMSE 0.45 → 0.37, but split error and composite score both worsen</a:t>
            </a:r>
          </a:p>
        </p:txBody>
      </p:sp>
      <p:sp>
        <p:nvSpPr>
          <p:cNvPr id="127" name="Shape 127"/>
          <p:cNvSpPr txBox="1"/>
          <p:nvPr/>
        </p:nvSpPr>
        <p:spPr>
          <a:xfrm>
            <a:off x="7278624" y="3456432"/>
            <a:ext cx="1490472" cy="548640"/>
          </a:xfrm>
          <a:prstGeom prst="rect">
            <a:avLst/>
          </a:prstGeom>
          <a:noFill/>
        </p:spPr>
        <p:txBody>
          <a:bodyPr wrap="square" lIns="27432" tIns="0" rIns="27432" bIns="0" anchor="ctr">
            <a:spAutoFit/>
          </a:bodyPr>
          <a:lstStyle/>
          <a:p>
            <a:pPr algn="l"/>
            <a:r>
              <a:rPr sz="800" b="0" i="0">
                <a:solidFill>
                  <a:srgbClr val="6B6965"/>
                </a:solidFill>
                <a:latin typeface="Calibri"/>
              </a:rPr>
              <a:t>Tried; converges without net improvement</a:t>
            </a:r>
          </a:p>
        </p:txBody>
      </p:sp>
      <p:sp>
        <p:nvSpPr>
          <p:cNvPr id="128" name="Shape 128"/>
          <p:cNvSpPr/>
          <p:nvPr/>
        </p:nvSpPr>
        <p:spPr>
          <a:xfrm>
            <a:off x="320040" y="4005072"/>
            <a:ext cx="8503920" cy="54864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Shape 129"/>
          <p:cNvSpPr txBox="1"/>
          <p:nvPr/>
        </p:nvSpPr>
        <p:spPr>
          <a:xfrm>
            <a:off x="374904" y="4005072"/>
            <a:ext cx="1170432" cy="548640"/>
          </a:xfrm>
          <a:prstGeom prst="rect">
            <a:avLst/>
          </a:prstGeom>
          <a:noFill/>
        </p:spPr>
        <p:txBody>
          <a:bodyPr wrap="square" lIns="27432" tIns="0" rIns="27432" bIns="0" anchor="ctr">
            <a:spAutoFit/>
          </a:bodyPr>
          <a:lstStyle/>
          <a:p>
            <a:pPr algn="l"/>
            <a:r>
              <a:rPr sz="800" b="1" i="0">
                <a:solidFill>
                  <a:srgbClr val="2E2D29"/>
                </a:solidFill>
                <a:latin typeface="Calibri"/>
              </a:rPr>
              <a:t>5  Option 3 + calibrator</a:t>
            </a:r>
          </a:p>
        </p:txBody>
      </p:sp>
      <p:sp>
        <p:nvSpPr>
          <p:cNvPr id="130" name="Shape 130"/>
          <p:cNvSpPr txBox="1"/>
          <p:nvPr/>
        </p:nvSpPr>
        <p:spPr>
          <a:xfrm>
            <a:off x="1655064" y="4005072"/>
            <a:ext cx="2240280" cy="548640"/>
          </a:xfrm>
          <a:prstGeom prst="rect">
            <a:avLst/>
          </a:prstGeom>
          <a:noFill/>
        </p:spPr>
        <p:txBody>
          <a:bodyPr wrap="square" lIns="27432" tIns="0" rIns="27432" bIns="0" anchor="ctr">
            <a:spAutoFit/>
          </a:bodyPr>
          <a:lstStyle/>
          <a:p>
            <a:pPr algn="l"/>
            <a:r>
              <a:rPr sz="800" b="0" i="0">
                <a:solidFill>
                  <a:srgbClr val="6B6965"/>
                </a:solidFill>
                <a:latin typeface="Calibri"/>
              </a:rPr>
              <a:t>Learned network seeds the calibrator, junction coefficients included</a:t>
            </a:r>
          </a:p>
        </p:txBody>
      </p:sp>
      <p:sp>
        <p:nvSpPr>
          <p:cNvPr id="131" name="Shape 131"/>
          <p:cNvSpPr txBox="1"/>
          <p:nvPr/>
        </p:nvSpPr>
        <p:spPr>
          <a:xfrm>
            <a:off x="4005072" y="4005072"/>
            <a:ext cx="1481328" cy="548640"/>
          </a:xfrm>
          <a:prstGeom prst="rect">
            <a:avLst/>
          </a:prstGeom>
          <a:noFill/>
        </p:spPr>
        <p:txBody>
          <a:bodyPr wrap="square" lIns="27432" tIns="0" rIns="27432" bIns="0" anchor="ctr">
            <a:spAutoFit/>
          </a:bodyPr>
          <a:lstStyle/>
          <a:p>
            <a:pPr algn="l"/>
            <a:r>
              <a:rPr sz="800" b="0" i="0">
                <a:solidFill>
                  <a:srgbClr val="6B6965"/>
                </a:solidFill>
                <a:latin typeface="Calibri"/>
              </a:rPr>
              <a:t>Learned R, C, L and junction coefficients as the calibrator’s initial guess</a:t>
            </a:r>
          </a:p>
        </p:txBody>
      </p:sp>
      <p:sp>
        <p:nvSpPr>
          <p:cNvPr id="132" name="Shape 132"/>
          <p:cNvSpPr txBox="1"/>
          <p:nvPr/>
        </p:nvSpPr>
        <p:spPr>
          <a:xfrm>
            <a:off x="5596128" y="4005072"/>
            <a:ext cx="1572768" cy="548640"/>
          </a:xfrm>
          <a:prstGeom prst="rect">
            <a:avLst/>
          </a:prstGeom>
          <a:noFill/>
        </p:spPr>
        <p:txBody>
          <a:bodyPr wrap="square" lIns="27432" tIns="0" rIns="27432" bIns="0" anchor="ctr">
            <a:spAutoFit/>
          </a:bodyPr>
          <a:lstStyle/>
          <a:p>
            <a:pPr algn="l"/>
            <a:r>
              <a:rPr sz="800" b="0" i="0">
                <a:solidFill>
                  <a:srgbClr val="6B6965"/>
                </a:solidFill>
                <a:latin typeface="Calibri"/>
              </a:rPr>
              <a:t>Closest pressure match of the branched models; split 74% vs 88% (slide 30)</a:t>
            </a:r>
          </a:p>
        </p:txBody>
      </p:sp>
      <p:sp>
        <p:nvSpPr>
          <p:cNvPr id="133" name="Shape 133"/>
          <p:cNvSpPr txBox="1"/>
          <p:nvPr/>
        </p:nvSpPr>
        <p:spPr>
          <a:xfrm>
            <a:off x="7278624" y="4005072"/>
            <a:ext cx="1490472" cy="548640"/>
          </a:xfrm>
          <a:prstGeom prst="rect">
            <a:avLst/>
          </a:prstGeom>
          <a:noFill/>
        </p:spPr>
        <p:txBody>
          <a:bodyPr wrap="square" lIns="27432" tIns="0" rIns="27432" bIns="0" anchor="ctr">
            <a:spAutoFit/>
          </a:bodyPr>
          <a:lstStyle/>
          <a:p>
            <a:pPr algn="l"/>
            <a:r>
              <a:rPr sz="800" b="0" i="0">
                <a:solidFill>
                  <a:srgbClr val="6B6965"/>
                </a:solidFill>
                <a:latin typeface="Calibri"/>
              </a:rPr>
              <a:t>Tested on TST-STAN-5</a:t>
            </a:r>
          </a:p>
        </p:txBody>
      </p:sp>
      <p:sp>
        <p:nvSpPr>
          <p:cNvPr id="134" name="Shape 134"/>
          <p:cNvSpPr/>
          <p:nvPr/>
        </p:nvSpPr>
        <p:spPr>
          <a:xfrm>
            <a:off x="320040" y="4754880"/>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5" name="Shape 135"/>
          <p:cNvSpPr txBox="1"/>
          <p:nvPr/>
        </p:nvSpPr>
        <p:spPr>
          <a:xfrm>
            <a:off x="429768" y="4754880"/>
            <a:ext cx="8284464" cy="310896"/>
          </a:xfrm>
          <a:prstGeom prst="rect">
            <a:avLst/>
          </a:prstGeom>
          <a:noFill/>
        </p:spPr>
        <p:txBody>
          <a:bodyPr wrap="square" lIns="27432" tIns="0" rIns="27432" bIns="0" anchor="ctr">
            <a:spAutoFit/>
          </a:bodyPr>
          <a:lstStyle/>
          <a:p>
            <a:pPr algn="l"/>
            <a:r>
              <a:rPr sz="1000" b="1" i="0">
                <a:solidFill>
                  <a:srgbClr val="8C1515"/>
                </a:solidFill>
                <a:latin typeface="Calibri"/>
              </a:rPr>
              <a:t>The outer loop can only carry tuned BCs into 3D as faithfully as the 0D model represents the anatomy.</a:t>
            </a:r>
          </a:p>
        </p:txBody>
      </p:sp>
      <p:sp>
        <p:nvSpPr>
          <p:cNvPr id="136" name="Shape 136"/>
          <p:cNvSpPr txBox="1"/>
          <p:nvPr/>
        </p:nvSpPr>
        <p:spPr>
          <a:xfrm>
            <a:off x="2011680" y="5376672"/>
            <a:ext cx="6812280" cy="201168"/>
          </a:xfrm>
          <a:prstGeom prst="rect">
            <a:avLst/>
          </a:prstGeom>
          <a:noFill/>
        </p:spPr>
        <p:txBody>
          <a:bodyPr wrap="square" lIns="27432" tIns="0" rIns="27432" bIns="0" anchor="t">
            <a:spAutoFit/>
          </a:bodyPr>
          <a:lstStyle/>
          <a:p>
            <a:pPr algn="l"/>
            <a:r>
              <a:rPr sz="700" b="0" i="1">
                <a:solidFill>
                  <a:srgbClr val="6B6965"/>
                </a:solidFill>
                <a:latin typeface="Calibri"/>
              </a:rPr>
              <a:t>Options 2 and 4 compared on TST-STAN-5 (slide 27); option 3 compared against option 2 under fixed-resistance outlet BCs (slide 28).</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lang="en-US" sz="2200" dirty="0">
                <a:solidFill>
                  <a:srgbClr val="8C1515"/>
                </a:solidFill>
                <a:latin typeface="Georgia"/>
              </a:rPr>
              <a:t>Where each 0D representation lands against 3D</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IN DEVELOPMENT</a:t>
            </a:r>
          </a:p>
        </p:txBody>
      </p:sp>
      <p:sp>
        <p:nvSpPr>
          <p:cNvPr id="400" name="Shape 400"/>
          <p:cNvSpPr/>
          <p:nvPr/>
        </p:nvSpPr>
        <p:spPr>
          <a:xfrm>
            <a:off x="320040" y="1426464"/>
            <a:ext cx="8503920" cy="32918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1" name="Shape 401"/>
          <p:cNvSpPr txBox="1"/>
          <p:nvPr/>
        </p:nvSpPr>
        <p:spPr>
          <a:xfrm>
            <a:off x="374904" y="1426464"/>
            <a:ext cx="2368296" cy="329184"/>
          </a:xfrm>
          <a:prstGeom prst="rect">
            <a:avLst/>
          </a:prstGeom>
          <a:noFill/>
        </p:spPr>
        <p:txBody>
          <a:bodyPr wrap="square" lIns="27432" tIns="0" rIns="27432" bIns="0" anchor="ctr">
            <a:spAutoFit/>
          </a:bodyPr>
          <a:lstStyle/>
          <a:p>
            <a:pPr algn="l"/>
            <a:r>
              <a:rPr sz="800" b="1" i="0">
                <a:solidFill>
                  <a:srgbClr val="FFFFFF"/>
                </a:solidFill>
                <a:latin typeface="Calibri"/>
              </a:rPr>
              <a:t>0D model</a:t>
            </a:r>
          </a:p>
        </p:txBody>
      </p:sp>
      <p:sp>
        <p:nvSpPr>
          <p:cNvPr id="402" name="Shape 402"/>
          <p:cNvSpPr txBox="1"/>
          <p:nvPr/>
        </p:nvSpPr>
        <p:spPr>
          <a:xfrm>
            <a:off x="2798064" y="1426464"/>
            <a:ext cx="1636776" cy="329184"/>
          </a:xfrm>
          <a:prstGeom prst="rect">
            <a:avLst/>
          </a:prstGeom>
          <a:noFill/>
        </p:spPr>
        <p:txBody>
          <a:bodyPr wrap="square" lIns="27432" tIns="0" rIns="27432" bIns="0" anchor="ctr">
            <a:spAutoFit/>
          </a:bodyPr>
          <a:lstStyle/>
          <a:p>
            <a:pPr algn="l"/>
            <a:r>
              <a:rPr sz="800" b="1" i="0">
                <a:solidFill>
                  <a:srgbClr val="FFFFFF"/>
                </a:solidFill>
                <a:latin typeface="Calibri"/>
              </a:rPr>
              <a:t>Outlet BCs</a:t>
            </a:r>
          </a:p>
        </p:txBody>
      </p:sp>
      <p:sp>
        <p:nvSpPr>
          <p:cNvPr id="403" name="Shape 403"/>
          <p:cNvSpPr txBox="1"/>
          <p:nvPr/>
        </p:nvSpPr>
        <p:spPr>
          <a:xfrm>
            <a:off x="4489704" y="1426464"/>
            <a:ext cx="1865376" cy="329184"/>
          </a:xfrm>
          <a:prstGeom prst="rect">
            <a:avLst/>
          </a:prstGeom>
          <a:noFill/>
        </p:spPr>
        <p:txBody>
          <a:bodyPr wrap="square" lIns="27432" tIns="0" rIns="27432" bIns="0" anchor="ctr">
            <a:spAutoFit/>
          </a:bodyPr>
          <a:lstStyle/>
          <a:p>
            <a:pPr algn="l"/>
            <a:r>
              <a:rPr sz="800" b="1" i="0">
                <a:solidFill>
                  <a:srgbClr val="FFFFFF"/>
                </a:solidFill>
                <a:latin typeface="Calibri"/>
              </a:rPr>
              <a:t>MPA sys / dia / mean (mmHg)</a:t>
            </a:r>
          </a:p>
        </p:txBody>
      </p:sp>
      <p:sp>
        <p:nvSpPr>
          <p:cNvPr id="404" name="Shape 404"/>
          <p:cNvSpPr txBox="1"/>
          <p:nvPr/>
        </p:nvSpPr>
        <p:spPr>
          <a:xfrm>
            <a:off x="6409944" y="1426464"/>
            <a:ext cx="1316736" cy="329184"/>
          </a:xfrm>
          <a:prstGeom prst="rect">
            <a:avLst/>
          </a:prstGeom>
          <a:noFill/>
        </p:spPr>
        <p:txBody>
          <a:bodyPr wrap="square" lIns="27432" tIns="0" rIns="27432" bIns="0" anchor="ctr">
            <a:spAutoFit/>
          </a:bodyPr>
          <a:lstStyle/>
          <a:p>
            <a:pPr algn="l"/>
            <a:r>
              <a:rPr sz="800" b="1" i="0">
                <a:solidFill>
                  <a:srgbClr val="FFFFFF"/>
                </a:solidFill>
                <a:latin typeface="Calibri"/>
              </a:rPr>
              <a:t>RPA split (Δ)</a:t>
            </a:r>
          </a:p>
        </p:txBody>
      </p:sp>
      <p:sp>
        <p:nvSpPr>
          <p:cNvPr id="405" name="Shape 405"/>
          <p:cNvSpPr txBox="1"/>
          <p:nvPr/>
        </p:nvSpPr>
        <p:spPr>
          <a:xfrm>
            <a:off x="7781544" y="1426464"/>
            <a:ext cx="1042416" cy="329184"/>
          </a:xfrm>
          <a:prstGeom prst="rect">
            <a:avLst/>
          </a:prstGeom>
          <a:noFill/>
        </p:spPr>
        <p:txBody>
          <a:bodyPr wrap="square" lIns="27432" tIns="0" rIns="27432" bIns="0" anchor="ctr">
            <a:spAutoFit/>
          </a:bodyPr>
          <a:lstStyle/>
          <a:p>
            <a:pPr algn="l"/>
            <a:r>
              <a:rPr sz="800" b="1" i="0">
                <a:solidFill>
                  <a:srgbClr val="FFFFFF"/>
                </a:solidFill>
                <a:latin typeface="Calibri"/>
              </a:rPr>
              <a:t>RMSE (mmHg)</a:t>
            </a:r>
          </a:p>
        </p:txBody>
      </p:sp>
      <p:sp>
        <p:nvSpPr>
          <p:cNvPr id="406" name="Shape 406"/>
          <p:cNvSpPr/>
          <p:nvPr/>
        </p:nvSpPr>
        <p:spPr>
          <a:xfrm>
            <a:off x="320040" y="1755648"/>
            <a:ext cx="8503920" cy="27432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7" name="Shape 407"/>
          <p:cNvSpPr txBox="1"/>
          <p:nvPr/>
        </p:nvSpPr>
        <p:spPr>
          <a:xfrm>
            <a:off x="374904" y="1755648"/>
            <a:ext cx="2368296" cy="274320"/>
          </a:xfrm>
          <a:prstGeom prst="rect">
            <a:avLst/>
          </a:prstGeom>
          <a:noFill/>
        </p:spPr>
        <p:txBody>
          <a:bodyPr wrap="square" lIns="27432" tIns="0" rIns="27432" bIns="0" anchor="ctr">
            <a:spAutoFit/>
          </a:bodyPr>
          <a:lstStyle/>
          <a:p>
            <a:pPr algn="l"/>
            <a:r>
              <a:rPr sz="800" b="1" i="0">
                <a:solidFill>
                  <a:srgbClr val="2E2D29"/>
                </a:solidFill>
                <a:latin typeface="Calibri"/>
              </a:rPr>
              <a:t>3D reference</a:t>
            </a:r>
          </a:p>
        </p:txBody>
      </p:sp>
      <p:sp>
        <p:nvSpPr>
          <p:cNvPr id="408" name="Shape 408"/>
          <p:cNvSpPr txBox="1"/>
          <p:nvPr/>
        </p:nvSpPr>
        <p:spPr>
          <a:xfrm>
            <a:off x="2798064" y="1755648"/>
            <a:ext cx="1636776" cy="274320"/>
          </a:xfrm>
          <a:prstGeom prst="rect">
            <a:avLst/>
          </a:prstGeom>
          <a:noFill/>
        </p:spPr>
        <p:txBody>
          <a:bodyPr wrap="square" lIns="27432" tIns="0" rIns="27432" bIns="0" anchor="ctr">
            <a:spAutoFit/>
          </a:bodyPr>
          <a:lstStyle/>
          <a:p>
            <a:pPr algn="l"/>
            <a:r>
              <a:rPr sz="800" b="1" i="0">
                <a:solidFill>
                  <a:srgbClr val="2E2D29"/>
                </a:solidFill>
                <a:latin typeface="Calibri"/>
              </a:rPr>
              <a:t>—</a:t>
            </a:r>
          </a:p>
        </p:txBody>
      </p:sp>
      <p:sp>
        <p:nvSpPr>
          <p:cNvPr id="409" name="Shape 409"/>
          <p:cNvSpPr txBox="1"/>
          <p:nvPr/>
        </p:nvSpPr>
        <p:spPr>
          <a:xfrm>
            <a:off x="4489704" y="1755648"/>
            <a:ext cx="1865376" cy="274320"/>
          </a:xfrm>
          <a:prstGeom prst="rect">
            <a:avLst/>
          </a:prstGeom>
          <a:noFill/>
        </p:spPr>
        <p:txBody>
          <a:bodyPr wrap="square" lIns="27432" tIns="0" rIns="27432" bIns="0" anchor="ctr">
            <a:spAutoFit/>
          </a:bodyPr>
          <a:lstStyle/>
          <a:p>
            <a:pPr algn="l"/>
            <a:r>
              <a:rPr sz="800" b="1" i="0">
                <a:solidFill>
                  <a:srgbClr val="2E2D29"/>
                </a:solidFill>
                <a:latin typeface="Calibri"/>
              </a:rPr>
              <a:t>33.88 / 1.65 / 13.59</a:t>
            </a:r>
          </a:p>
        </p:txBody>
      </p:sp>
      <p:sp>
        <p:nvSpPr>
          <p:cNvPr id="410" name="Shape 410"/>
          <p:cNvSpPr txBox="1"/>
          <p:nvPr/>
        </p:nvSpPr>
        <p:spPr>
          <a:xfrm>
            <a:off x="6409944" y="1755648"/>
            <a:ext cx="1316736" cy="274320"/>
          </a:xfrm>
          <a:prstGeom prst="rect">
            <a:avLst/>
          </a:prstGeom>
          <a:noFill/>
        </p:spPr>
        <p:txBody>
          <a:bodyPr wrap="square" lIns="27432" tIns="0" rIns="27432" bIns="0" anchor="ctr">
            <a:spAutoFit/>
          </a:bodyPr>
          <a:lstStyle/>
          <a:p>
            <a:pPr algn="l"/>
            <a:r>
              <a:rPr sz="800" b="1" i="0">
                <a:solidFill>
                  <a:srgbClr val="2E2D29"/>
                </a:solidFill>
                <a:latin typeface="Calibri"/>
              </a:rPr>
              <a:t>87.69%</a:t>
            </a:r>
          </a:p>
        </p:txBody>
      </p:sp>
      <p:sp>
        <p:nvSpPr>
          <p:cNvPr id="411" name="Shape 411"/>
          <p:cNvSpPr txBox="1"/>
          <p:nvPr/>
        </p:nvSpPr>
        <p:spPr>
          <a:xfrm>
            <a:off x="7781544" y="1755648"/>
            <a:ext cx="1042416" cy="274320"/>
          </a:xfrm>
          <a:prstGeom prst="rect">
            <a:avLst/>
          </a:prstGeom>
          <a:noFill/>
        </p:spPr>
        <p:txBody>
          <a:bodyPr wrap="square" lIns="27432" tIns="0" rIns="27432" bIns="0" anchor="ctr">
            <a:spAutoFit/>
          </a:bodyPr>
          <a:lstStyle/>
          <a:p>
            <a:pPr algn="l"/>
            <a:r>
              <a:rPr sz="800" b="1" i="0">
                <a:solidFill>
                  <a:srgbClr val="2E2D29"/>
                </a:solidFill>
                <a:latin typeface="Calibri"/>
              </a:rPr>
              <a:t>—</a:t>
            </a:r>
          </a:p>
        </p:txBody>
      </p:sp>
      <p:sp>
        <p:nvSpPr>
          <p:cNvPr id="412" name="Shape 412"/>
          <p:cNvSpPr txBox="1"/>
          <p:nvPr/>
        </p:nvSpPr>
        <p:spPr>
          <a:xfrm>
            <a:off x="374904" y="2029968"/>
            <a:ext cx="2368296" cy="274320"/>
          </a:xfrm>
          <a:prstGeom prst="rect">
            <a:avLst/>
          </a:prstGeom>
          <a:noFill/>
        </p:spPr>
        <p:txBody>
          <a:bodyPr wrap="square" lIns="27432" tIns="0" rIns="27432" bIns="0" anchor="ctr">
            <a:spAutoFit/>
          </a:bodyPr>
          <a:lstStyle/>
          <a:p>
            <a:pPr algn="l"/>
            <a:r>
              <a:rPr sz="800" b="1" i="0">
                <a:solidFill>
                  <a:srgbClr val="2E2D29"/>
                </a:solidFill>
                <a:latin typeface="Calibri"/>
              </a:rPr>
              <a:t>Full baseline</a:t>
            </a:r>
          </a:p>
        </p:txBody>
      </p:sp>
      <p:sp>
        <p:nvSpPr>
          <p:cNvPr id="413" name="Shape 413"/>
          <p:cNvSpPr txBox="1"/>
          <p:nvPr/>
        </p:nvSpPr>
        <p:spPr>
          <a:xfrm>
            <a:off x="2798064" y="2029968"/>
            <a:ext cx="1636776" cy="274320"/>
          </a:xfrm>
          <a:prstGeom prst="rect">
            <a:avLst/>
          </a:prstGeom>
          <a:noFill/>
        </p:spPr>
        <p:txBody>
          <a:bodyPr wrap="square" lIns="27432" tIns="0" rIns="27432" bIns="0" anchor="ctr">
            <a:spAutoFit/>
          </a:bodyPr>
          <a:lstStyle/>
          <a:p>
            <a:pPr algn="l"/>
            <a:r>
              <a:rPr sz="800" b="0" i="0">
                <a:solidFill>
                  <a:srgbClr val="6B6965"/>
                </a:solidFill>
                <a:latin typeface="Calibri"/>
              </a:rPr>
              <a:t>Fixed resistance</a:t>
            </a:r>
          </a:p>
        </p:txBody>
      </p:sp>
      <p:sp>
        <p:nvSpPr>
          <p:cNvPr id="414" name="Shape 414"/>
          <p:cNvSpPr txBox="1"/>
          <p:nvPr/>
        </p:nvSpPr>
        <p:spPr>
          <a:xfrm>
            <a:off x="4489704" y="2029968"/>
            <a:ext cx="1865376" cy="274320"/>
          </a:xfrm>
          <a:prstGeom prst="rect">
            <a:avLst/>
          </a:prstGeom>
          <a:noFill/>
        </p:spPr>
        <p:txBody>
          <a:bodyPr wrap="square" lIns="27432" tIns="0" rIns="27432" bIns="0" anchor="ctr">
            <a:spAutoFit/>
          </a:bodyPr>
          <a:lstStyle/>
          <a:p>
            <a:pPr algn="l"/>
            <a:r>
              <a:rPr sz="800" b="0" i="0">
                <a:solidFill>
                  <a:srgbClr val="6B6965"/>
                </a:solidFill>
                <a:latin typeface="Calibri"/>
              </a:rPr>
              <a:t>7.64 / −5.71 / 1.01</a:t>
            </a:r>
          </a:p>
        </p:txBody>
      </p:sp>
      <p:sp>
        <p:nvSpPr>
          <p:cNvPr id="415" name="Shape 415"/>
          <p:cNvSpPr txBox="1"/>
          <p:nvPr/>
        </p:nvSpPr>
        <p:spPr>
          <a:xfrm>
            <a:off x="6409944" y="2029968"/>
            <a:ext cx="1316736" cy="274320"/>
          </a:xfrm>
          <a:prstGeom prst="rect">
            <a:avLst/>
          </a:prstGeom>
          <a:noFill/>
        </p:spPr>
        <p:txBody>
          <a:bodyPr wrap="square" lIns="27432" tIns="0" rIns="27432" bIns="0" anchor="ctr">
            <a:spAutoFit/>
          </a:bodyPr>
          <a:lstStyle/>
          <a:p>
            <a:pPr algn="l"/>
            <a:r>
              <a:rPr sz="800" b="0" i="0">
                <a:solidFill>
                  <a:srgbClr val="6B6965"/>
                </a:solidFill>
                <a:latin typeface="Calibri"/>
              </a:rPr>
              <a:t>63.96% (−23.7)</a:t>
            </a:r>
          </a:p>
        </p:txBody>
      </p:sp>
      <p:sp>
        <p:nvSpPr>
          <p:cNvPr id="416" name="Shape 416"/>
          <p:cNvSpPr txBox="1"/>
          <p:nvPr/>
        </p:nvSpPr>
        <p:spPr>
          <a:xfrm>
            <a:off x="7781544" y="2029968"/>
            <a:ext cx="1042416" cy="274320"/>
          </a:xfrm>
          <a:prstGeom prst="rect">
            <a:avLst/>
          </a:prstGeom>
          <a:noFill/>
        </p:spPr>
        <p:txBody>
          <a:bodyPr wrap="square" lIns="27432" tIns="0" rIns="27432" bIns="0" anchor="ctr">
            <a:spAutoFit/>
          </a:bodyPr>
          <a:lstStyle/>
          <a:p>
            <a:pPr algn="l"/>
            <a:r>
              <a:rPr sz="800" b="0" i="0">
                <a:solidFill>
                  <a:srgbClr val="6B6965"/>
                </a:solidFill>
                <a:latin typeface="Calibri"/>
              </a:rPr>
              <a:t>17.33</a:t>
            </a:r>
          </a:p>
        </p:txBody>
      </p:sp>
      <p:sp>
        <p:nvSpPr>
          <p:cNvPr id="417" name="Shape 417"/>
          <p:cNvSpPr/>
          <p:nvPr/>
        </p:nvSpPr>
        <p:spPr>
          <a:xfrm>
            <a:off x="320040" y="2304288"/>
            <a:ext cx="8503920" cy="27432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8" name="Shape 418"/>
          <p:cNvSpPr txBox="1"/>
          <p:nvPr/>
        </p:nvSpPr>
        <p:spPr>
          <a:xfrm>
            <a:off x="374904" y="2304288"/>
            <a:ext cx="2368296" cy="274320"/>
          </a:xfrm>
          <a:prstGeom prst="rect">
            <a:avLst/>
          </a:prstGeom>
          <a:noFill/>
        </p:spPr>
        <p:txBody>
          <a:bodyPr wrap="square" lIns="27432" tIns="0" rIns="27432" bIns="0" anchor="ctr">
            <a:spAutoFit/>
          </a:bodyPr>
          <a:lstStyle/>
          <a:p>
            <a:pPr algn="l"/>
            <a:r>
              <a:rPr sz="800" b="1" i="0">
                <a:solidFill>
                  <a:srgbClr val="2E2D29"/>
                </a:solidFill>
                <a:latin typeface="Calibri"/>
              </a:rPr>
              <a:t>Full learned</a:t>
            </a:r>
          </a:p>
        </p:txBody>
      </p:sp>
      <p:sp>
        <p:nvSpPr>
          <p:cNvPr id="419" name="Shape 419"/>
          <p:cNvSpPr txBox="1"/>
          <p:nvPr/>
        </p:nvSpPr>
        <p:spPr>
          <a:xfrm>
            <a:off x="2798064" y="2304288"/>
            <a:ext cx="1636776" cy="274320"/>
          </a:xfrm>
          <a:prstGeom prst="rect">
            <a:avLst/>
          </a:prstGeom>
          <a:noFill/>
        </p:spPr>
        <p:txBody>
          <a:bodyPr wrap="square" lIns="27432" tIns="0" rIns="27432" bIns="0" anchor="ctr">
            <a:spAutoFit/>
          </a:bodyPr>
          <a:lstStyle/>
          <a:p>
            <a:pPr algn="l"/>
            <a:r>
              <a:rPr sz="800" b="0" i="0">
                <a:solidFill>
                  <a:srgbClr val="6B6965"/>
                </a:solidFill>
                <a:latin typeface="Calibri"/>
              </a:rPr>
              <a:t>Fixed resistance</a:t>
            </a:r>
          </a:p>
        </p:txBody>
      </p:sp>
      <p:sp>
        <p:nvSpPr>
          <p:cNvPr id="420" name="Shape 420"/>
          <p:cNvSpPr txBox="1"/>
          <p:nvPr/>
        </p:nvSpPr>
        <p:spPr>
          <a:xfrm>
            <a:off x="4489704" y="2304288"/>
            <a:ext cx="1865376" cy="274320"/>
          </a:xfrm>
          <a:prstGeom prst="rect">
            <a:avLst/>
          </a:prstGeom>
          <a:noFill/>
        </p:spPr>
        <p:txBody>
          <a:bodyPr wrap="square" lIns="27432" tIns="0" rIns="27432" bIns="0" anchor="ctr">
            <a:spAutoFit/>
          </a:bodyPr>
          <a:lstStyle/>
          <a:p>
            <a:pPr algn="l"/>
            <a:r>
              <a:rPr sz="800" b="0" i="0">
                <a:solidFill>
                  <a:srgbClr val="6B6965"/>
                </a:solidFill>
                <a:latin typeface="Calibri"/>
              </a:rPr>
              <a:t>13.84 / −11.90 / 1.65</a:t>
            </a:r>
          </a:p>
        </p:txBody>
      </p:sp>
      <p:sp>
        <p:nvSpPr>
          <p:cNvPr id="421" name="Shape 421"/>
          <p:cNvSpPr txBox="1"/>
          <p:nvPr/>
        </p:nvSpPr>
        <p:spPr>
          <a:xfrm>
            <a:off x="6409944" y="2304288"/>
            <a:ext cx="1316736" cy="274320"/>
          </a:xfrm>
          <a:prstGeom prst="rect">
            <a:avLst/>
          </a:prstGeom>
          <a:noFill/>
        </p:spPr>
        <p:txBody>
          <a:bodyPr wrap="square" lIns="27432" tIns="0" rIns="27432" bIns="0" anchor="ctr">
            <a:spAutoFit/>
          </a:bodyPr>
          <a:lstStyle/>
          <a:p>
            <a:pPr algn="l"/>
            <a:r>
              <a:rPr sz="800" b="0" i="0">
                <a:solidFill>
                  <a:srgbClr val="6B6965"/>
                </a:solidFill>
                <a:latin typeface="Calibri"/>
              </a:rPr>
              <a:t>78.49% (−9.2)</a:t>
            </a:r>
          </a:p>
        </p:txBody>
      </p:sp>
      <p:sp>
        <p:nvSpPr>
          <p:cNvPr id="422" name="Shape 422"/>
          <p:cNvSpPr txBox="1"/>
          <p:nvPr/>
        </p:nvSpPr>
        <p:spPr>
          <a:xfrm>
            <a:off x="7781544" y="2304288"/>
            <a:ext cx="1042416" cy="274320"/>
          </a:xfrm>
          <a:prstGeom prst="rect">
            <a:avLst/>
          </a:prstGeom>
          <a:noFill/>
        </p:spPr>
        <p:txBody>
          <a:bodyPr wrap="square" lIns="27432" tIns="0" rIns="27432" bIns="0" anchor="ctr">
            <a:spAutoFit/>
          </a:bodyPr>
          <a:lstStyle/>
          <a:p>
            <a:pPr algn="l"/>
            <a:r>
              <a:rPr sz="800" b="0" i="0">
                <a:solidFill>
                  <a:srgbClr val="6B6965"/>
                </a:solidFill>
                <a:latin typeface="Calibri"/>
              </a:rPr>
              <a:t>15.58</a:t>
            </a:r>
          </a:p>
        </p:txBody>
      </p:sp>
      <p:sp>
        <p:nvSpPr>
          <p:cNvPr id="423" name="Shape 423"/>
          <p:cNvSpPr txBox="1"/>
          <p:nvPr/>
        </p:nvSpPr>
        <p:spPr>
          <a:xfrm>
            <a:off x="374904" y="2578608"/>
            <a:ext cx="2368296" cy="274320"/>
          </a:xfrm>
          <a:prstGeom prst="rect">
            <a:avLst/>
          </a:prstGeom>
          <a:noFill/>
        </p:spPr>
        <p:txBody>
          <a:bodyPr wrap="square" lIns="27432" tIns="0" rIns="27432" bIns="0" anchor="ctr">
            <a:spAutoFit/>
          </a:bodyPr>
          <a:lstStyle/>
          <a:p>
            <a:pPr algn="l"/>
            <a:r>
              <a:rPr sz="800" b="1" i="0">
                <a:solidFill>
                  <a:srgbClr val="2E2D29"/>
                </a:solidFill>
                <a:latin typeface="Calibri"/>
              </a:rPr>
              <a:t>Full baseline, calibrated</a:t>
            </a:r>
          </a:p>
        </p:txBody>
      </p:sp>
      <p:sp>
        <p:nvSpPr>
          <p:cNvPr id="424" name="Shape 424"/>
          <p:cNvSpPr txBox="1"/>
          <p:nvPr/>
        </p:nvSpPr>
        <p:spPr>
          <a:xfrm>
            <a:off x="2798064" y="2578608"/>
            <a:ext cx="1636776" cy="274320"/>
          </a:xfrm>
          <a:prstGeom prst="rect">
            <a:avLst/>
          </a:prstGeom>
          <a:noFill/>
        </p:spPr>
        <p:txBody>
          <a:bodyPr wrap="square" lIns="27432" tIns="0" rIns="27432" bIns="0" anchor="ctr">
            <a:spAutoFit/>
          </a:bodyPr>
          <a:lstStyle/>
          <a:p>
            <a:pPr algn="l"/>
            <a:r>
              <a:rPr sz="800" b="0" i="0">
                <a:solidFill>
                  <a:srgbClr val="6B6965"/>
                </a:solidFill>
                <a:latin typeface="Calibri"/>
              </a:rPr>
              <a:t>Fixed resistance</a:t>
            </a:r>
          </a:p>
        </p:txBody>
      </p:sp>
      <p:sp>
        <p:nvSpPr>
          <p:cNvPr id="425" name="Shape 425"/>
          <p:cNvSpPr txBox="1"/>
          <p:nvPr/>
        </p:nvSpPr>
        <p:spPr>
          <a:xfrm>
            <a:off x="4489704" y="2578608"/>
            <a:ext cx="1865376" cy="274320"/>
          </a:xfrm>
          <a:prstGeom prst="rect">
            <a:avLst/>
          </a:prstGeom>
          <a:noFill/>
        </p:spPr>
        <p:txBody>
          <a:bodyPr wrap="square" lIns="27432" tIns="0" rIns="27432" bIns="0" anchor="ctr">
            <a:spAutoFit/>
          </a:bodyPr>
          <a:lstStyle/>
          <a:p>
            <a:pPr algn="l"/>
            <a:r>
              <a:rPr sz="800" b="0" i="0">
                <a:solidFill>
                  <a:srgbClr val="6B6965"/>
                </a:solidFill>
                <a:latin typeface="Calibri"/>
              </a:rPr>
              <a:t>14.91 / −10.64 / 2.14</a:t>
            </a:r>
          </a:p>
        </p:txBody>
      </p:sp>
      <p:sp>
        <p:nvSpPr>
          <p:cNvPr id="426" name="Shape 426"/>
          <p:cNvSpPr txBox="1"/>
          <p:nvPr/>
        </p:nvSpPr>
        <p:spPr>
          <a:xfrm>
            <a:off x="6409944" y="2578608"/>
            <a:ext cx="1316736" cy="274320"/>
          </a:xfrm>
          <a:prstGeom prst="rect">
            <a:avLst/>
          </a:prstGeom>
          <a:noFill/>
        </p:spPr>
        <p:txBody>
          <a:bodyPr wrap="square" lIns="27432" tIns="0" rIns="27432" bIns="0" anchor="ctr">
            <a:spAutoFit/>
          </a:bodyPr>
          <a:lstStyle/>
          <a:p>
            <a:pPr algn="l"/>
            <a:r>
              <a:rPr sz="800" b="0" i="0">
                <a:solidFill>
                  <a:srgbClr val="6B6965"/>
                </a:solidFill>
                <a:latin typeface="Calibri"/>
              </a:rPr>
              <a:t>82.68% (−5.0)</a:t>
            </a:r>
          </a:p>
        </p:txBody>
      </p:sp>
      <p:sp>
        <p:nvSpPr>
          <p:cNvPr id="427" name="Shape 427"/>
          <p:cNvSpPr txBox="1"/>
          <p:nvPr/>
        </p:nvSpPr>
        <p:spPr>
          <a:xfrm>
            <a:off x="7781544" y="2578608"/>
            <a:ext cx="1042416" cy="274320"/>
          </a:xfrm>
          <a:prstGeom prst="rect">
            <a:avLst/>
          </a:prstGeom>
          <a:noFill/>
        </p:spPr>
        <p:txBody>
          <a:bodyPr wrap="square" lIns="27432" tIns="0" rIns="27432" bIns="0" anchor="ctr">
            <a:spAutoFit/>
          </a:bodyPr>
          <a:lstStyle/>
          <a:p>
            <a:pPr algn="l"/>
            <a:r>
              <a:rPr sz="800" b="0" i="0">
                <a:solidFill>
                  <a:srgbClr val="6B6965"/>
                </a:solidFill>
                <a:latin typeface="Calibri"/>
              </a:rPr>
              <a:t>14.63</a:t>
            </a:r>
          </a:p>
        </p:txBody>
      </p:sp>
      <p:sp>
        <p:nvSpPr>
          <p:cNvPr id="428" name="Shape 428"/>
          <p:cNvSpPr/>
          <p:nvPr/>
        </p:nvSpPr>
        <p:spPr>
          <a:xfrm>
            <a:off x="320040" y="2852928"/>
            <a:ext cx="8503920" cy="27432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9" name="Shape 429"/>
          <p:cNvSpPr txBox="1"/>
          <p:nvPr/>
        </p:nvSpPr>
        <p:spPr>
          <a:xfrm>
            <a:off x="374904" y="2852928"/>
            <a:ext cx="2368296" cy="274320"/>
          </a:xfrm>
          <a:prstGeom prst="rect">
            <a:avLst/>
          </a:prstGeom>
          <a:noFill/>
        </p:spPr>
        <p:txBody>
          <a:bodyPr wrap="square" lIns="27432" tIns="0" rIns="27432" bIns="0" anchor="ctr">
            <a:spAutoFit/>
          </a:bodyPr>
          <a:lstStyle/>
          <a:p>
            <a:pPr algn="l"/>
            <a:r>
              <a:rPr sz="800" b="1" i="0" dirty="0">
                <a:solidFill>
                  <a:srgbClr val="2E2D29"/>
                </a:solidFill>
                <a:latin typeface="Calibri"/>
              </a:rPr>
              <a:t>Reduced two-branch RRI</a:t>
            </a:r>
          </a:p>
        </p:txBody>
      </p:sp>
      <p:sp>
        <p:nvSpPr>
          <p:cNvPr id="430" name="Shape 430"/>
          <p:cNvSpPr txBox="1"/>
          <p:nvPr/>
        </p:nvSpPr>
        <p:spPr>
          <a:xfrm>
            <a:off x="2798064" y="2852928"/>
            <a:ext cx="1636776" cy="274320"/>
          </a:xfrm>
          <a:prstGeom prst="rect">
            <a:avLst/>
          </a:prstGeom>
          <a:noFill/>
        </p:spPr>
        <p:txBody>
          <a:bodyPr wrap="square" lIns="27432" tIns="0" rIns="27432" bIns="0" anchor="ctr">
            <a:spAutoFit/>
          </a:bodyPr>
          <a:lstStyle/>
          <a:p>
            <a:pPr algn="l"/>
            <a:r>
              <a:rPr sz="800" b="1" i="0" dirty="0">
                <a:solidFill>
                  <a:srgbClr val="2E2D29"/>
                </a:solidFill>
                <a:latin typeface="Calibri"/>
              </a:rPr>
              <a:t>Tuned tree impedance</a:t>
            </a:r>
          </a:p>
        </p:txBody>
      </p:sp>
      <p:sp>
        <p:nvSpPr>
          <p:cNvPr id="431" name="Shape 431"/>
          <p:cNvSpPr txBox="1"/>
          <p:nvPr/>
        </p:nvSpPr>
        <p:spPr>
          <a:xfrm>
            <a:off x="4489704" y="2852928"/>
            <a:ext cx="1865376" cy="274320"/>
          </a:xfrm>
          <a:prstGeom prst="rect">
            <a:avLst/>
          </a:prstGeom>
          <a:noFill/>
        </p:spPr>
        <p:txBody>
          <a:bodyPr wrap="square" lIns="27432" tIns="0" rIns="27432" bIns="0" anchor="ctr">
            <a:spAutoFit/>
          </a:bodyPr>
          <a:lstStyle/>
          <a:p>
            <a:pPr algn="l"/>
            <a:r>
              <a:rPr sz="800" b="1" i="0" dirty="0">
                <a:solidFill>
                  <a:srgbClr val="2E2D29"/>
                </a:solidFill>
                <a:latin typeface="Calibri"/>
              </a:rPr>
              <a:t>33.38 / 3.33 / 15.79</a:t>
            </a:r>
          </a:p>
        </p:txBody>
      </p:sp>
      <p:sp>
        <p:nvSpPr>
          <p:cNvPr id="432" name="Shape 432"/>
          <p:cNvSpPr txBox="1"/>
          <p:nvPr/>
        </p:nvSpPr>
        <p:spPr>
          <a:xfrm>
            <a:off x="6409944" y="2852928"/>
            <a:ext cx="1316736" cy="274320"/>
          </a:xfrm>
          <a:prstGeom prst="rect">
            <a:avLst/>
          </a:prstGeom>
          <a:noFill/>
        </p:spPr>
        <p:txBody>
          <a:bodyPr wrap="square" lIns="27432" tIns="0" rIns="27432" bIns="0" anchor="ctr">
            <a:spAutoFit/>
          </a:bodyPr>
          <a:lstStyle/>
          <a:p>
            <a:pPr algn="l"/>
            <a:r>
              <a:rPr sz="800" b="1" i="0">
                <a:solidFill>
                  <a:srgbClr val="2E2D29"/>
                </a:solidFill>
                <a:latin typeface="Calibri"/>
              </a:rPr>
              <a:t>88.94% (+1.2)</a:t>
            </a:r>
          </a:p>
        </p:txBody>
      </p:sp>
      <p:sp>
        <p:nvSpPr>
          <p:cNvPr id="433" name="Shape 433"/>
          <p:cNvSpPr txBox="1"/>
          <p:nvPr/>
        </p:nvSpPr>
        <p:spPr>
          <a:xfrm>
            <a:off x="7781544" y="2852928"/>
            <a:ext cx="1042416" cy="274320"/>
          </a:xfrm>
          <a:prstGeom prst="rect">
            <a:avLst/>
          </a:prstGeom>
          <a:noFill/>
        </p:spPr>
        <p:txBody>
          <a:bodyPr wrap="square" lIns="27432" tIns="0" rIns="27432" bIns="0" anchor="ctr">
            <a:spAutoFit/>
          </a:bodyPr>
          <a:lstStyle/>
          <a:p>
            <a:pPr algn="l"/>
            <a:r>
              <a:rPr sz="800" b="1" i="0">
                <a:solidFill>
                  <a:srgbClr val="279989"/>
                </a:solidFill>
                <a:latin typeface="Calibri"/>
              </a:rPr>
              <a:t>1.62</a:t>
            </a:r>
          </a:p>
        </p:txBody>
      </p:sp>
      <p:sp>
        <p:nvSpPr>
          <p:cNvPr id="434" name="Shape 434"/>
          <p:cNvSpPr txBox="1"/>
          <p:nvPr/>
        </p:nvSpPr>
        <p:spPr>
          <a:xfrm>
            <a:off x="374904" y="3127248"/>
            <a:ext cx="2368296" cy="274320"/>
          </a:xfrm>
          <a:prstGeom prst="rect">
            <a:avLst/>
          </a:prstGeom>
          <a:noFill/>
        </p:spPr>
        <p:txBody>
          <a:bodyPr wrap="square" lIns="27432" tIns="0" rIns="27432" bIns="0" anchor="ctr">
            <a:spAutoFit/>
          </a:bodyPr>
          <a:lstStyle/>
          <a:p>
            <a:pPr algn="l"/>
            <a:r>
              <a:rPr sz="800" b="1" i="0">
                <a:solidFill>
                  <a:srgbClr val="2E2D29"/>
                </a:solidFill>
                <a:latin typeface="Calibri"/>
              </a:rPr>
              <a:t>Full baseline</a:t>
            </a:r>
          </a:p>
        </p:txBody>
      </p:sp>
      <p:sp>
        <p:nvSpPr>
          <p:cNvPr id="435" name="Shape 435"/>
          <p:cNvSpPr txBox="1"/>
          <p:nvPr/>
        </p:nvSpPr>
        <p:spPr>
          <a:xfrm>
            <a:off x="2798064" y="3127248"/>
            <a:ext cx="1636776" cy="274320"/>
          </a:xfrm>
          <a:prstGeom prst="rect">
            <a:avLst/>
          </a:prstGeom>
          <a:noFill/>
        </p:spPr>
        <p:txBody>
          <a:bodyPr wrap="square" lIns="27432" tIns="0" rIns="27432" bIns="0" anchor="ctr">
            <a:spAutoFit/>
          </a:bodyPr>
          <a:lstStyle/>
          <a:p>
            <a:pPr algn="l"/>
            <a:r>
              <a:rPr sz="800" b="0" i="0">
                <a:solidFill>
                  <a:srgbClr val="6B6965"/>
                </a:solidFill>
                <a:latin typeface="Calibri"/>
              </a:rPr>
              <a:t>Direct RRI impedance</a:t>
            </a:r>
          </a:p>
        </p:txBody>
      </p:sp>
      <p:sp>
        <p:nvSpPr>
          <p:cNvPr id="436" name="Shape 436"/>
          <p:cNvSpPr txBox="1"/>
          <p:nvPr/>
        </p:nvSpPr>
        <p:spPr>
          <a:xfrm>
            <a:off x="4489704" y="3127248"/>
            <a:ext cx="1865376" cy="274320"/>
          </a:xfrm>
          <a:prstGeom prst="rect">
            <a:avLst/>
          </a:prstGeom>
          <a:noFill/>
        </p:spPr>
        <p:txBody>
          <a:bodyPr wrap="square" lIns="27432" tIns="0" rIns="27432" bIns="0" anchor="ctr">
            <a:spAutoFit/>
          </a:bodyPr>
          <a:lstStyle/>
          <a:p>
            <a:pPr algn="l"/>
            <a:r>
              <a:rPr sz="800" b="0" i="0">
                <a:solidFill>
                  <a:srgbClr val="6B6965"/>
                </a:solidFill>
                <a:latin typeface="Calibri"/>
              </a:rPr>
              <a:t>22.38 / 1.42 / 10.95</a:t>
            </a:r>
          </a:p>
        </p:txBody>
      </p:sp>
      <p:sp>
        <p:nvSpPr>
          <p:cNvPr id="437" name="Shape 437"/>
          <p:cNvSpPr txBox="1"/>
          <p:nvPr/>
        </p:nvSpPr>
        <p:spPr>
          <a:xfrm>
            <a:off x="6409944" y="3127248"/>
            <a:ext cx="1316736" cy="274320"/>
          </a:xfrm>
          <a:prstGeom prst="rect">
            <a:avLst/>
          </a:prstGeom>
          <a:noFill/>
        </p:spPr>
        <p:txBody>
          <a:bodyPr wrap="square" lIns="27432" tIns="0" rIns="27432" bIns="0" anchor="ctr">
            <a:spAutoFit/>
          </a:bodyPr>
          <a:lstStyle/>
          <a:p>
            <a:pPr algn="l"/>
            <a:r>
              <a:rPr sz="800" b="0" i="0">
                <a:solidFill>
                  <a:srgbClr val="6B6965"/>
                </a:solidFill>
                <a:latin typeface="Calibri"/>
              </a:rPr>
              <a:t>62.15% (−25.5)</a:t>
            </a:r>
          </a:p>
        </p:txBody>
      </p:sp>
      <p:sp>
        <p:nvSpPr>
          <p:cNvPr id="438" name="Shape 438"/>
          <p:cNvSpPr txBox="1"/>
          <p:nvPr/>
        </p:nvSpPr>
        <p:spPr>
          <a:xfrm>
            <a:off x="7781544" y="3127248"/>
            <a:ext cx="1042416" cy="274320"/>
          </a:xfrm>
          <a:prstGeom prst="rect">
            <a:avLst/>
          </a:prstGeom>
          <a:noFill/>
        </p:spPr>
        <p:txBody>
          <a:bodyPr wrap="square" lIns="27432" tIns="0" rIns="27432" bIns="0" anchor="ctr">
            <a:spAutoFit/>
          </a:bodyPr>
          <a:lstStyle/>
          <a:p>
            <a:pPr algn="l"/>
            <a:r>
              <a:rPr sz="800" b="0" i="0">
                <a:solidFill>
                  <a:srgbClr val="6B6965"/>
                </a:solidFill>
                <a:latin typeface="Calibri"/>
              </a:rPr>
              <a:t>6.81</a:t>
            </a:r>
          </a:p>
        </p:txBody>
      </p:sp>
      <p:sp>
        <p:nvSpPr>
          <p:cNvPr id="439" name="Shape 439"/>
          <p:cNvSpPr/>
          <p:nvPr/>
        </p:nvSpPr>
        <p:spPr>
          <a:xfrm>
            <a:off x="320040" y="3401568"/>
            <a:ext cx="8503920" cy="27432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0" name="Shape 440"/>
          <p:cNvSpPr txBox="1"/>
          <p:nvPr/>
        </p:nvSpPr>
        <p:spPr>
          <a:xfrm>
            <a:off x="374904" y="3401568"/>
            <a:ext cx="2368296" cy="274320"/>
          </a:xfrm>
          <a:prstGeom prst="rect">
            <a:avLst/>
          </a:prstGeom>
          <a:noFill/>
        </p:spPr>
        <p:txBody>
          <a:bodyPr wrap="square" lIns="27432" tIns="0" rIns="27432" bIns="0" anchor="ctr">
            <a:spAutoFit/>
          </a:bodyPr>
          <a:lstStyle/>
          <a:p>
            <a:pPr algn="l"/>
            <a:r>
              <a:rPr sz="800" b="1" i="0">
                <a:solidFill>
                  <a:srgbClr val="2E2D29"/>
                </a:solidFill>
                <a:latin typeface="Calibri"/>
              </a:rPr>
              <a:t>Full learned</a:t>
            </a:r>
          </a:p>
        </p:txBody>
      </p:sp>
      <p:sp>
        <p:nvSpPr>
          <p:cNvPr id="441" name="Shape 441"/>
          <p:cNvSpPr txBox="1"/>
          <p:nvPr/>
        </p:nvSpPr>
        <p:spPr>
          <a:xfrm>
            <a:off x="2798064" y="3401568"/>
            <a:ext cx="1636776" cy="274320"/>
          </a:xfrm>
          <a:prstGeom prst="rect">
            <a:avLst/>
          </a:prstGeom>
          <a:noFill/>
        </p:spPr>
        <p:txBody>
          <a:bodyPr wrap="square" lIns="27432" tIns="0" rIns="27432" bIns="0" anchor="ctr">
            <a:spAutoFit/>
          </a:bodyPr>
          <a:lstStyle/>
          <a:p>
            <a:pPr algn="l"/>
            <a:r>
              <a:rPr sz="800" b="0" i="0">
                <a:solidFill>
                  <a:srgbClr val="6B6965"/>
                </a:solidFill>
                <a:latin typeface="Calibri"/>
              </a:rPr>
              <a:t>Direct RRI impedance</a:t>
            </a:r>
          </a:p>
        </p:txBody>
      </p:sp>
      <p:sp>
        <p:nvSpPr>
          <p:cNvPr id="442" name="Shape 442"/>
          <p:cNvSpPr txBox="1"/>
          <p:nvPr/>
        </p:nvSpPr>
        <p:spPr>
          <a:xfrm>
            <a:off x="4489704" y="3401568"/>
            <a:ext cx="1865376" cy="274320"/>
          </a:xfrm>
          <a:prstGeom prst="rect">
            <a:avLst/>
          </a:prstGeom>
          <a:noFill/>
        </p:spPr>
        <p:txBody>
          <a:bodyPr wrap="square" lIns="27432" tIns="0" rIns="27432" bIns="0" anchor="ctr">
            <a:spAutoFit/>
          </a:bodyPr>
          <a:lstStyle/>
          <a:p>
            <a:pPr algn="l"/>
            <a:r>
              <a:rPr sz="800" b="0" i="0">
                <a:solidFill>
                  <a:srgbClr val="6B6965"/>
                </a:solidFill>
                <a:latin typeface="Calibri"/>
              </a:rPr>
              <a:t>23.51 / 2.29 / 11.82</a:t>
            </a:r>
          </a:p>
        </p:txBody>
      </p:sp>
      <p:sp>
        <p:nvSpPr>
          <p:cNvPr id="443" name="Shape 443"/>
          <p:cNvSpPr txBox="1"/>
          <p:nvPr/>
        </p:nvSpPr>
        <p:spPr>
          <a:xfrm>
            <a:off x="6409944" y="3401568"/>
            <a:ext cx="1316736" cy="274320"/>
          </a:xfrm>
          <a:prstGeom prst="rect">
            <a:avLst/>
          </a:prstGeom>
          <a:noFill/>
        </p:spPr>
        <p:txBody>
          <a:bodyPr wrap="square" lIns="27432" tIns="0" rIns="27432" bIns="0" anchor="ctr">
            <a:spAutoFit/>
          </a:bodyPr>
          <a:lstStyle/>
          <a:p>
            <a:pPr algn="l"/>
            <a:r>
              <a:rPr sz="800" b="0" i="0">
                <a:solidFill>
                  <a:srgbClr val="6B6965"/>
                </a:solidFill>
                <a:latin typeface="Calibri"/>
              </a:rPr>
              <a:t>66.94% (−20.8)</a:t>
            </a:r>
          </a:p>
        </p:txBody>
      </p:sp>
      <p:sp>
        <p:nvSpPr>
          <p:cNvPr id="444" name="Shape 444"/>
          <p:cNvSpPr txBox="1"/>
          <p:nvPr/>
        </p:nvSpPr>
        <p:spPr>
          <a:xfrm>
            <a:off x="7781544" y="3401568"/>
            <a:ext cx="1042416" cy="274320"/>
          </a:xfrm>
          <a:prstGeom prst="rect">
            <a:avLst/>
          </a:prstGeom>
          <a:noFill/>
        </p:spPr>
        <p:txBody>
          <a:bodyPr wrap="square" lIns="27432" tIns="0" rIns="27432" bIns="0" anchor="ctr">
            <a:spAutoFit/>
          </a:bodyPr>
          <a:lstStyle/>
          <a:p>
            <a:pPr algn="l"/>
            <a:r>
              <a:rPr sz="800" b="0" i="0">
                <a:solidFill>
                  <a:srgbClr val="6B6965"/>
                </a:solidFill>
                <a:latin typeface="Calibri"/>
              </a:rPr>
              <a:t>6.08</a:t>
            </a:r>
          </a:p>
        </p:txBody>
      </p:sp>
      <p:sp>
        <p:nvSpPr>
          <p:cNvPr id="445" name="Shape 445"/>
          <p:cNvSpPr txBox="1"/>
          <p:nvPr/>
        </p:nvSpPr>
        <p:spPr>
          <a:xfrm>
            <a:off x="374904" y="3675888"/>
            <a:ext cx="2368296" cy="274320"/>
          </a:xfrm>
          <a:prstGeom prst="rect">
            <a:avLst/>
          </a:prstGeom>
          <a:noFill/>
        </p:spPr>
        <p:txBody>
          <a:bodyPr wrap="square" lIns="27432" tIns="0" rIns="27432" bIns="0" anchor="ctr">
            <a:spAutoFit/>
          </a:bodyPr>
          <a:lstStyle/>
          <a:p>
            <a:pPr algn="l"/>
            <a:r>
              <a:rPr sz="800" b="1" i="0">
                <a:solidFill>
                  <a:srgbClr val="2E2D29"/>
                </a:solidFill>
                <a:latin typeface="Calibri"/>
              </a:rPr>
              <a:t>Full baseline, calibrated</a:t>
            </a:r>
          </a:p>
        </p:txBody>
      </p:sp>
      <p:sp>
        <p:nvSpPr>
          <p:cNvPr id="446" name="Shape 446"/>
          <p:cNvSpPr txBox="1"/>
          <p:nvPr/>
        </p:nvSpPr>
        <p:spPr>
          <a:xfrm>
            <a:off x="2798064" y="3675888"/>
            <a:ext cx="1636776" cy="274320"/>
          </a:xfrm>
          <a:prstGeom prst="rect">
            <a:avLst/>
          </a:prstGeom>
          <a:noFill/>
        </p:spPr>
        <p:txBody>
          <a:bodyPr wrap="square" lIns="27432" tIns="0" rIns="27432" bIns="0" anchor="ctr">
            <a:spAutoFit/>
          </a:bodyPr>
          <a:lstStyle/>
          <a:p>
            <a:pPr algn="l"/>
            <a:r>
              <a:rPr sz="800" b="0" i="0">
                <a:solidFill>
                  <a:srgbClr val="6B6965"/>
                </a:solidFill>
                <a:latin typeface="Calibri"/>
              </a:rPr>
              <a:t>Direct RRI impedance</a:t>
            </a:r>
          </a:p>
        </p:txBody>
      </p:sp>
      <p:sp>
        <p:nvSpPr>
          <p:cNvPr id="447" name="Shape 447"/>
          <p:cNvSpPr txBox="1"/>
          <p:nvPr/>
        </p:nvSpPr>
        <p:spPr>
          <a:xfrm>
            <a:off x="4489704" y="3675888"/>
            <a:ext cx="1865376" cy="274320"/>
          </a:xfrm>
          <a:prstGeom prst="rect">
            <a:avLst/>
          </a:prstGeom>
          <a:noFill/>
        </p:spPr>
        <p:txBody>
          <a:bodyPr wrap="square" lIns="27432" tIns="0" rIns="27432" bIns="0" anchor="ctr">
            <a:spAutoFit/>
          </a:bodyPr>
          <a:lstStyle/>
          <a:p>
            <a:pPr algn="l"/>
            <a:r>
              <a:rPr sz="800" b="0" i="0">
                <a:solidFill>
                  <a:srgbClr val="6B6965"/>
                </a:solidFill>
                <a:latin typeface="Calibri"/>
              </a:rPr>
              <a:t>27.62 / 0.96 / 12.38</a:t>
            </a:r>
          </a:p>
        </p:txBody>
      </p:sp>
      <p:sp>
        <p:nvSpPr>
          <p:cNvPr id="448" name="Shape 448"/>
          <p:cNvSpPr txBox="1"/>
          <p:nvPr/>
        </p:nvSpPr>
        <p:spPr>
          <a:xfrm>
            <a:off x="6409944" y="3675888"/>
            <a:ext cx="1316736" cy="274320"/>
          </a:xfrm>
          <a:prstGeom prst="rect">
            <a:avLst/>
          </a:prstGeom>
          <a:noFill/>
        </p:spPr>
        <p:txBody>
          <a:bodyPr wrap="square" lIns="27432" tIns="0" rIns="27432" bIns="0" anchor="ctr">
            <a:spAutoFit/>
          </a:bodyPr>
          <a:lstStyle/>
          <a:p>
            <a:pPr algn="l"/>
            <a:r>
              <a:rPr sz="800" b="0" i="0">
                <a:solidFill>
                  <a:srgbClr val="6B6965"/>
                </a:solidFill>
                <a:latin typeface="Calibri"/>
              </a:rPr>
              <a:t>69.06% (−18.6)</a:t>
            </a:r>
          </a:p>
        </p:txBody>
      </p:sp>
      <p:sp>
        <p:nvSpPr>
          <p:cNvPr id="449" name="Shape 449"/>
          <p:cNvSpPr txBox="1"/>
          <p:nvPr/>
        </p:nvSpPr>
        <p:spPr>
          <a:xfrm>
            <a:off x="7781544" y="3675888"/>
            <a:ext cx="1042416" cy="274320"/>
          </a:xfrm>
          <a:prstGeom prst="rect">
            <a:avLst/>
          </a:prstGeom>
          <a:noFill/>
        </p:spPr>
        <p:txBody>
          <a:bodyPr wrap="square" lIns="27432" tIns="0" rIns="27432" bIns="0" anchor="ctr">
            <a:spAutoFit/>
          </a:bodyPr>
          <a:lstStyle/>
          <a:p>
            <a:pPr algn="l"/>
            <a:r>
              <a:rPr sz="800" b="0" i="0">
                <a:solidFill>
                  <a:srgbClr val="6B6965"/>
                </a:solidFill>
                <a:latin typeface="Calibri"/>
              </a:rPr>
              <a:t>3.70</a:t>
            </a:r>
          </a:p>
        </p:txBody>
      </p:sp>
      <p:sp>
        <p:nvSpPr>
          <p:cNvPr id="450" name="Shape 450"/>
          <p:cNvSpPr/>
          <p:nvPr/>
        </p:nvSpPr>
        <p:spPr>
          <a:xfrm>
            <a:off x="320040" y="3950208"/>
            <a:ext cx="8503920" cy="27432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1" name="Shape 451"/>
          <p:cNvSpPr txBox="1"/>
          <p:nvPr/>
        </p:nvSpPr>
        <p:spPr>
          <a:xfrm>
            <a:off x="374904" y="3950208"/>
            <a:ext cx="2368296" cy="274320"/>
          </a:xfrm>
          <a:prstGeom prst="rect">
            <a:avLst/>
          </a:prstGeom>
          <a:noFill/>
        </p:spPr>
        <p:txBody>
          <a:bodyPr wrap="square" lIns="27432" tIns="0" rIns="27432" bIns="0" anchor="ctr">
            <a:spAutoFit/>
          </a:bodyPr>
          <a:lstStyle/>
          <a:p>
            <a:pPr algn="l"/>
            <a:r>
              <a:rPr sz="800" b="1" i="0">
                <a:solidFill>
                  <a:srgbClr val="2E2D29"/>
                </a:solidFill>
                <a:latin typeface="Calibri"/>
              </a:rPr>
              <a:t>Full learned, calibrated</a:t>
            </a:r>
          </a:p>
        </p:txBody>
      </p:sp>
      <p:sp>
        <p:nvSpPr>
          <p:cNvPr id="452" name="Shape 452"/>
          <p:cNvSpPr txBox="1"/>
          <p:nvPr/>
        </p:nvSpPr>
        <p:spPr>
          <a:xfrm>
            <a:off x="2798064" y="3950208"/>
            <a:ext cx="1636776" cy="274320"/>
          </a:xfrm>
          <a:prstGeom prst="rect">
            <a:avLst/>
          </a:prstGeom>
          <a:noFill/>
        </p:spPr>
        <p:txBody>
          <a:bodyPr wrap="square" lIns="27432" tIns="0" rIns="27432" bIns="0" anchor="ctr">
            <a:spAutoFit/>
          </a:bodyPr>
          <a:lstStyle/>
          <a:p>
            <a:pPr algn="l"/>
            <a:r>
              <a:rPr sz="800" b="0" i="0">
                <a:solidFill>
                  <a:srgbClr val="6B6965"/>
                </a:solidFill>
                <a:latin typeface="Calibri"/>
              </a:rPr>
              <a:t>Direct RRI impedance</a:t>
            </a:r>
          </a:p>
        </p:txBody>
      </p:sp>
      <p:sp>
        <p:nvSpPr>
          <p:cNvPr id="453" name="Shape 453"/>
          <p:cNvSpPr txBox="1"/>
          <p:nvPr/>
        </p:nvSpPr>
        <p:spPr>
          <a:xfrm>
            <a:off x="4489704" y="3950208"/>
            <a:ext cx="1865376" cy="274320"/>
          </a:xfrm>
          <a:prstGeom prst="rect">
            <a:avLst/>
          </a:prstGeom>
          <a:noFill/>
        </p:spPr>
        <p:txBody>
          <a:bodyPr wrap="square" lIns="27432" tIns="0" rIns="27432" bIns="0" anchor="ctr">
            <a:spAutoFit/>
          </a:bodyPr>
          <a:lstStyle/>
          <a:p>
            <a:pPr algn="l"/>
            <a:r>
              <a:rPr sz="800" b="0" i="0">
                <a:solidFill>
                  <a:srgbClr val="6B6965"/>
                </a:solidFill>
                <a:latin typeface="Calibri"/>
              </a:rPr>
              <a:t>29.84 / 1.10 / 13.23</a:t>
            </a:r>
          </a:p>
        </p:txBody>
      </p:sp>
      <p:sp>
        <p:nvSpPr>
          <p:cNvPr id="454" name="Shape 454"/>
          <p:cNvSpPr txBox="1"/>
          <p:nvPr/>
        </p:nvSpPr>
        <p:spPr>
          <a:xfrm>
            <a:off x="6409944" y="3950208"/>
            <a:ext cx="1316736" cy="274320"/>
          </a:xfrm>
          <a:prstGeom prst="rect">
            <a:avLst/>
          </a:prstGeom>
          <a:noFill/>
        </p:spPr>
        <p:txBody>
          <a:bodyPr wrap="square" lIns="27432" tIns="0" rIns="27432" bIns="0" anchor="ctr">
            <a:spAutoFit/>
          </a:bodyPr>
          <a:lstStyle/>
          <a:p>
            <a:pPr algn="l"/>
            <a:r>
              <a:rPr sz="800" b="0" i="0">
                <a:solidFill>
                  <a:srgbClr val="6B6965"/>
                </a:solidFill>
                <a:latin typeface="Calibri"/>
              </a:rPr>
              <a:t>72.07% (−15.6)</a:t>
            </a:r>
          </a:p>
        </p:txBody>
      </p:sp>
      <p:sp>
        <p:nvSpPr>
          <p:cNvPr id="455" name="Shape 455"/>
          <p:cNvSpPr txBox="1"/>
          <p:nvPr/>
        </p:nvSpPr>
        <p:spPr>
          <a:xfrm>
            <a:off x="7781544" y="3950208"/>
            <a:ext cx="1042416" cy="274320"/>
          </a:xfrm>
          <a:prstGeom prst="rect">
            <a:avLst/>
          </a:prstGeom>
          <a:noFill/>
        </p:spPr>
        <p:txBody>
          <a:bodyPr wrap="square" lIns="27432" tIns="0" rIns="27432" bIns="0" anchor="ctr">
            <a:spAutoFit/>
          </a:bodyPr>
          <a:lstStyle/>
          <a:p>
            <a:pPr algn="l"/>
            <a:r>
              <a:rPr sz="800" b="0" i="0">
                <a:solidFill>
                  <a:srgbClr val="6B6965"/>
                </a:solidFill>
                <a:latin typeface="Calibri"/>
              </a:rPr>
              <a:t>2.36</a:t>
            </a:r>
          </a:p>
        </p:txBody>
      </p:sp>
      <p:sp>
        <p:nvSpPr>
          <p:cNvPr id="456" name="Shape 456"/>
          <p:cNvSpPr txBox="1"/>
          <p:nvPr/>
        </p:nvSpPr>
        <p:spPr>
          <a:xfrm>
            <a:off x="374904" y="4300132"/>
            <a:ext cx="2368296" cy="123111"/>
          </a:xfrm>
          <a:prstGeom prst="rect">
            <a:avLst/>
          </a:prstGeom>
          <a:noFill/>
        </p:spPr>
        <p:txBody>
          <a:bodyPr wrap="square" lIns="27432" tIns="0" rIns="27432" bIns="0" anchor="ctr">
            <a:spAutoFit/>
          </a:bodyPr>
          <a:lstStyle/>
          <a:p>
            <a:pPr algn="l"/>
            <a:r>
              <a:rPr sz="800" b="1" i="0" dirty="0">
                <a:solidFill>
                  <a:srgbClr val="2E2D29"/>
                </a:solidFill>
                <a:latin typeface="Calibri"/>
              </a:rPr>
              <a:t>Full learned, junctions calibrated</a:t>
            </a:r>
          </a:p>
        </p:txBody>
      </p:sp>
      <p:sp>
        <p:nvSpPr>
          <p:cNvPr id="457" name="Shape 457"/>
          <p:cNvSpPr txBox="1"/>
          <p:nvPr/>
        </p:nvSpPr>
        <p:spPr>
          <a:xfrm>
            <a:off x="2798064" y="4300132"/>
            <a:ext cx="1636776" cy="123111"/>
          </a:xfrm>
          <a:prstGeom prst="rect">
            <a:avLst/>
          </a:prstGeom>
          <a:noFill/>
        </p:spPr>
        <p:txBody>
          <a:bodyPr wrap="square" lIns="27432" tIns="0" rIns="27432" bIns="0" anchor="ctr">
            <a:spAutoFit/>
          </a:bodyPr>
          <a:lstStyle/>
          <a:p>
            <a:pPr algn="l"/>
            <a:r>
              <a:rPr lang="en-US" sz="800" b="1" i="0" dirty="0">
                <a:solidFill>
                  <a:schemeClr val="tx2"/>
                </a:solidFill>
                <a:latin typeface="Calibri"/>
              </a:rPr>
              <a:t>Direct RRI impedance</a:t>
            </a:r>
            <a:endParaRPr sz="800" b="1" i="0" dirty="0">
              <a:solidFill>
                <a:schemeClr val="tx2"/>
              </a:solidFill>
              <a:latin typeface="Calibri"/>
            </a:endParaRPr>
          </a:p>
        </p:txBody>
      </p:sp>
      <p:sp>
        <p:nvSpPr>
          <p:cNvPr id="458" name="Shape 458"/>
          <p:cNvSpPr txBox="1"/>
          <p:nvPr/>
        </p:nvSpPr>
        <p:spPr>
          <a:xfrm>
            <a:off x="4489704" y="4300132"/>
            <a:ext cx="1865376" cy="123111"/>
          </a:xfrm>
          <a:prstGeom prst="rect">
            <a:avLst/>
          </a:prstGeom>
          <a:noFill/>
        </p:spPr>
        <p:txBody>
          <a:bodyPr wrap="square" lIns="27432" tIns="0" rIns="27432" bIns="0" anchor="ctr">
            <a:spAutoFit/>
          </a:bodyPr>
          <a:lstStyle/>
          <a:p>
            <a:pPr algn="l"/>
            <a:r>
              <a:rPr sz="800" b="1" i="0" dirty="0">
                <a:solidFill>
                  <a:schemeClr val="tx2"/>
                </a:solidFill>
                <a:latin typeface="Calibri"/>
              </a:rPr>
              <a:t>34.09 / −1.06 / 13.88</a:t>
            </a:r>
          </a:p>
        </p:txBody>
      </p:sp>
      <p:sp>
        <p:nvSpPr>
          <p:cNvPr id="459" name="Shape 459"/>
          <p:cNvSpPr txBox="1"/>
          <p:nvPr/>
        </p:nvSpPr>
        <p:spPr>
          <a:xfrm>
            <a:off x="6409944" y="4300132"/>
            <a:ext cx="1316736" cy="123111"/>
          </a:xfrm>
          <a:prstGeom prst="rect">
            <a:avLst/>
          </a:prstGeom>
          <a:noFill/>
        </p:spPr>
        <p:txBody>
          <a:bodyPr wrap="square" lIns="27432" tIns="0" rIns="27432" bIns="0" anchor="ctr">
            <a:spAutoFit/>
          </a:bodyPr>
          <a:lstStyle/>
          <a:p>
            <a:pPr algn="l"/>
            <a:r>
              <a:rPr sz="800" b="1" i="0">
                <a:solidFill>
                  <a:schemeClr val="tx2"/>
                </a:solidFill>
                <a:latin typeface="Calibri"/>
              </a:rPr>
              <a:t>73.78% (−13.9)</a:t>
            </a:r>
          </a:p>
        </p:txBody>
      </p:sp>
      <p:sp>
        <p:nvSpPr>
          <p:cNvPr id="460" name="Shape 460"/>
          <p:cNvSpPr txBox="1"/>
          <p:nvPr/>
        </p:nvSpPr>
        <p:spPr>
          <a:xfrm>
            <a:off x="7781544" y="4224528"/>
            <a:ext cx="1042416" cy="274320"/>
          </a:xfrm>
          <a:prstGeom prst="rect">
            <a:avLst/>
          </a:prstGeom>
          <a:noFill/>
        </p:spPr>
        <p:txBody>
          <a:bodyPr wrap="square" lIns="27432" tIns="0" rIns="27432" bIns="0" anchor="ctr">
            <a:spAutoFit/>
          </a:bodyPr>
          <a:lstStyle/>
          <a:p>
            <a:pPr algn="l"/>
            <a:r>
              <a:rPr sz="800" b="1" i="0">
                <a:solidFill>
                  <a:srgbClr val="279989"/>
                </a:solidFill>
                <a:latin typeface="Calibri"/>
              </a:rPr>
              <a:t>1.58</a:t>
            </a:r>
          </a:p>
        </p:txBody>
      </p:sp>
      <p:sp>
        <p:nvSpPr>
          <p:cNvPr id="461" name="Shape 461"/>
          <p:cNvSpPr/>
          <p:nvPr/>
        </p:nvSpPr>
        <p:spPr>
          <a:xfrm>
            <a:off x="320040" y="4754880"/>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2" name="Shape 462"/>
          <p:cNvSpPr txBox="1"/>
          <p:nvPr/>
        </p:nvSpPr>
        <p:spPr>
          <a:xfrm>
            <a:off x="429768" y="4754880"/>
            <a:ext cx="8284464" cy="310896"/>
          </a:xfrm>
          <a:prstGeom prst="rect">
            <a:avLst/>
          </a:prstGeom>
          <a:noFill/>
        </p:spPr>
        <p:txBody>
          <a:bodyPr wrap="square" lIns="27432" tIns="0" rIns="27432" bIns="0" anchor="ctr">
            <a:spAutoFit/>
          </a:bodyPr>
          <a:lstStyle/>
          <a:p>
            <a:pPr algn="l"/>
            <a:r>
              <a:rPr sz="1000" b="1" i="0">
                <a:solidFill>
                  <a:srgbClr val="8C1515"/>
                </a:solidFill>
                <a:latin typeface="Calibri"/>
              </a:rPr>
              <a:t>With calibrated junctions the learned impedance model matches the tuned two-branch RRI on pressure; the flow split still does not follow.</a:t>
            </a:r>
          </a:p>
        </p:txBody>
      </p:sp>
      <p:sp>
        <p:nvSpPr>
          <p:cNvPr id="463" name="Shape 463"/>
          <p:cNvSpPr txBox="1"/>
          <p:nvPr/>
        </p:nvSpPr>
        <p:spPr>
          <a:xfrm>
            <a:off x="2011680" y="5376672"/>
            <a:ext cx="6812280" cy="201168"/>
          </a:xfrm>
          <a:prstGeom prst="rect">
            <a:avLst/>
          </a:prstGeom>
          <a:noFill/>
        </p:spPr>
        <p:txBody>
          <a:bodyPr wrap="square" lIns="27432" tIns="0" rIns="27432" bIns="0" anchor="t">
            <a:spAutoFit/>
          </a:bodyPr>
          <a:lstStyle/>
          <a:p>
            <a:pPr algn="l"/>
            <a:r>
              <a:rPr sz="700" b="0" i="1">
                <a:solidFill>
                  <a:srgbClr val="6B6965"/>
                </a:solidFill>
                <a:latin typeface="Calibri"/>
              </a:rPr>
              <a:t>TST-STAN-5, final cycle. RMSE is taken over the three summary pressures against the 3D reference, not over the waveform. Fixed resistance = 1000 dyn/cm⁵, zero distal pressure.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lang="en-US" sz="2200" dirty="0">
                <a:solidFill>
                  <a:srgbClr val="8C1515"/>
                </a:solidFill>
                <a:latin typeface="Georgia"/>
              </a:rPr>
              <a:t>The updated tuning loop runs on the full 0D model</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IN DEVELOPMENT</a:t>
            </a:r>
          </a:p>
        </p:txBody>
      </p:sp>
      <p:sp>
        <p:nvSpPr>
          <p:cNvPr id="19" name="Rectangle 18"/>
          <p:cNvSpPr/>
          <p:nvPr/>
        </p:nvSpPr>
        <p:spPr>
          <a:xfrm>
            <a:off x="365760" y="1481328"/>
            <a:ext cx="1828800" cy="932688"/>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wrap="square" tIns="73152" rtlCol="0" anchor="t"/>
          <a:lstStyle/>
          <a:p>
            <a:pPr algn="l">
              <a:spcAft>
                <a:spcPts val="200"/>
              </a:spcAft>
            </a:pPr>
            <a:r>
              <a:rPr sz="1050" b="1" i="0">
                <a:solidFill>
                  <a:srgbClr val="FFFFFF"/>
                </a:solidFill>
                <a:latin typeface="Calibri"/>
              </a:rPr>
              <a:t>learnedZeroD seed</a:t>
            </a:r>
          </a:p>
          <a:p>
            <a:pPr algn="l">
              <a:spcAft>
                <a:spcPts val="200"/>
              </a:spcAft>
            </a:pPr>
            <a:r>
              <a:rPr sz="800" b="0" i="0">
                <a:solidFill>
                  <a:srgbClr val="F3DADA"/>
                </a:solidFill>
                <a:latin typeface="Calibri"/>
              </a:rPr>
              <a:t>ML-predicted R, C, L and junction coefficients (N. Rubio)</a:t>
            </a:r>
          </a:p>
        </p:txBody>
      </p:sp>
      <p:sp>
        <p:nvSpPr>
          <p:cNvPr id="20" name="Rectangle 19"/>
          <p:cNvSpPr/>
          <p:nvPr/>
        </p:nvSpPr>
        <p:spPr>
          <a:xfrm>
            <a:off x="457200" y="2167128"/>
            <a:ext cx="868680" cy="164592"/>
          </a:xfrm>
          <a:prstGeom prst="rect">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r>
              <a:rPr sz="650" b="1" i="0">
                <a:solidFill>
                  <a:srgbClr val="FFFFFF"/>
                </a:solidFill>
                <a:latin typeface="Calibri"/>
              </a:rPr>
              <a:t>COMPLETED</a:t>
            </a:r>
          </a:p>
        </p:txBody>
      </p:sp>
      <p:sp>
        <p:nvSpPr>
          <p:cNvPr id="21" name="TextBox 20"/>
          <p:cNvSpPr txBox="1"/>
          <p:nvPr/>
        </p:nvSpPr>
        <p:spPr>
          <a:xfrm>
            <a:off x="1325880" y="2148840"/>
            <a:ext cx="822960" cy="201168"/>
          </a:xfrm>
          <a:prstGeom prst="rect">
            <a:avLst/>
          </a:prstGeom>
          <a:noFill/>
        </p:spPr>
        <p:txBody>
          <a:bodyPr wrap="square" lIns="0" tIns="0" rIns="0" bIns="0" anchor="ctr"/>
          <a:lstStyle/>
          <a:p>
            <a:pPr algn="r"/>
            <a:r>
              <a:rPr sz="700" b="0" i="1">
                <a:solidFill>
                  <a:srgbClr val="F3DADA"/>
                </a:solidFill>
                <a:latin typeface="Calibri"/>
              </a:rPr>
              <a:t>iteration 1</a:t>
            </a:r>
          </a:p>
        </p:txBody>
      </p:sp>
      <p:sp>
        <p:nvSpPr>
          <p:cNvPr id="22" name="Rectangle 21"/>
          <p:cNvSpPr/>
          <p:nvPr/>
        </p:nvSpPr>
        <p:spPr>
          <a:xfrm>
            <a:off x="2587752" y="1481328"/>
            <a:ext cx="1828800" cy="932688"/>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wrap="square" tIns="73152" rtlCol="0" anchor="t"/>
          <a:lstStyle/>
          <a:p>
            <a:pPr algn="l">
              <a:spcAft>
                <a:spcPts val="200"/>
              </a:spcAft>
            </a:pPr>
            <a:r>
              <a:rPr sz="1050" b="1" i="0">
                <a:solidFill>
                  <a:srgbClr val="FFFFFF"/>
                </a:solidFill>
                <a:latin typeface="Calibri"/>
              </a:rPr>
              <a:t>Centerline BC mapping</a:t>
            </a:r>
          </a:p>
          <a:p>
            <a:pPr algn="l">
              <a:spcAft>
                <a:spcPts val="200"/>
              </a:spcAft>
            </a:pPr>
            <a:r>
              <a:rPr sz="800" b="0" i="0">
                <a:solidFill>
                  <a:srgbClr val="F3DADA"/>
                </a:solidFill>
                <a:latin typeface="Calibri"/>
              </a:rPr>
              <a:t>Each 3D cap matched to its 0D outlet; one tree per cap</a:t>
            </a:r>
          </a:p>
        </p:txBody>
      </p:sp>
      <p:sp>
        <p:nvSpPr>
          <p:cNvPr id="23" name="Rectangle 22"/>
          <p:cNvSpPr/>
          <p:nvPr/>
        </p:nvSpPr>
        <p:spPr>
          <a:xfrm>
            <a:off x="2679192" y="2167128"/>
            <a:ext cx="868680" cy="164592"/>
          </a:xfrm>
          <a:prstGeom prst="rect">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r>
              <a:rPr sz="650" b="1" i="0">
                <a:solidFill>
                  <a:srgbClr val="FFFFFF"/>
                </a:solidFill>
                <a:latin typeface="Calibri"/>
              </a:rPr>
              <a:t>COMPLETED</a:t>
            </a:r>
          </a:p>
        </p:txBody>
      </p:sp>
      <p:sp>
        <p:nvSpPr>
          <p:cNvPr id="24" name="TextBox 23"/>
          <p:cNvSpPr txBox="1"/>
          <p:nvPr/>
        </p:nvSpPr>
        <p:spPr>
          <a:xfrm>
            <a:off x="3547872" y="2148840"/>
            <a:ext cx="822960" cy="201168"/>
          </a:xfrm>
          <a:prstGeom prst="rect">
            <a:avLst/>
          </a:prstGeom>
          <a:noFill/>
        </p:spPr>
        <p:txBody>
          <a:bodyPr wrap="square" lIns="0" tIns="0" rIns="0" bIns="0" anchor="ctr"/>
          <a:lstStyle/>
          <a:p>
            <a:pPr algn="r"/>
            <a:r>
              <a:rPr sz="700" b="0" i="1">
                <a:solidFill>
                  <a:srgbClr val="F3DADA"/>
                </a:solidFill>
                <a:latin typeface="Calibri"/>
              </a:rPr>
              <a:t>every iteration</a:t>
            </a:r>
          </a:p>
        </p:txBody>
      </p:sp>
      <p:sp>
        <p:nvSpPr>
          <p:cNvPr id="25" name="Rectangle 24"/>
          <p:cNvSpPr/>
          <p:nvPr/>
        </p:nvSpPr>
        <p:spPr>
          <a:xfrm>
            <a:off x="4809744" y="1481328"/>
            <a:ext cx="1828800" cy="932688"/>
          </a:xfrm>
          <a:prstGeom prst="rect">
            <a:avLst/>
          </a:prstGeom>
          <a:solidFill>
            <a:srgbClr val="F2F1F0"/>
          </a:solidFill>
          <a:ln w="9525">
            <a:solidFill>
              <a:srgbClr val="D9D7D4"/>
            </a:solidFill>
          </a:ln>
          <a:effectLst/>
        </p:spPr>
        <p:style>
          <a:lnRef idx="1">
            <a:schemeClr val="accent1"/>
          </a:lnRef>
          <a:fillRef idx="3">
            <a:schemeClr val="accent1"/>
          </a:fillRef>
          <a:effectRef idx="2">
            <a:schemeClr val="accent1"/>
          </a:effectRef>
          <a:fontRef idx="minor">
            <a:schemeClr val="lt1"/>
          </a:fontRef>
        </p:style>
        <p:txBody>
          <a:bodyPr wrap="square" tIns="73152" rtlCol="0" anchor="t"/>
          <a:lstStyle/>
          <a:p>
            <a:pPr algn="l">
              <a:spcAft>
                <a:spcPts val="200"/>
              </a:spcAft>
            </a:pPr>
            <a:r>
              <a:rPr sz="1050" b="1" i="0">
                <a:solidFill>
                  <a:srgbClr val="2E2D29"/>
                </a:solidFill>
                <a:latin typeface="Calibri"/>
              </a:rPr>
              <a:t>Full-PA impedance tuning</a:t>
            </a:r>
          </a:p>
          <a:p>
            <a:pPr algn="l">
              <a:spcAft>
                <a:spcPts val="200"/>
              </a:spcAft>
            </a:pPr>
            <a:r>
              <a:rPr sz="800" b="0" i="0">
                <a:solidFill>
                  <a:srgbClr val="6B6965"/>
                </a:solidFill>
                <a:latin typeface="Calibri"/>
              </a:rPr>
              <a:t>Inner loop: tree parameters vs clinical targets</a:t>
            </a:r>
          </a:p>
        </p:txBody>
      </p:sp>
      <p:sp>
        <p:nvSpPr>
          <p:cNvPr id="26" name="Rectangle 25"/>
          <p:cNvSpPr/>
          <p:nvPr/>
        </p:nvSpPr>
        <p:spPr>
          <a:xfrm>
            <a:off x="4901183" y="2167128"/>
            <a:ext cx="868680" cy="164592"/>
          </a:xfrm>
          <a:prstGeom prst="rect">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r>
              <a:rPr sz="650" b="1" i="0">
                <a:solidFill>
                  <a:srgbClr val="FFFFFF"/>
                </a:solidFill>
                <a:latin typeface="Calibri"/>
              </a:rPr>
              <a:t>COMPLETED</a:t>
            </a:r>
          </a:p>
        </p:txBody>
      </p:sp>
      <p:sp>
        <p:nvSpPr>
          <p:cNvPr id="27" name="Rectangle 26"/>
          <p:cNvSpPr/>
          <p:nvPr/>
        </p:nvSpPr>
        <p:spPr>
          <a:xfrm>
            <a:off x="6995160" y="1481328"/>
            <a:ext cx="1828800" cy="932688"/>
          </a:xfrm>
          <a:prstGeom prst="rect">
            <a:avLst/>
          </a:prstGeom>
          <a:solidFill>
            <a:srgbClr val="F2F1F0"/>
          </a:solidFill>
          <a:ln w="9525">
            <a:solidFill>
              <a:srgbClr val="D9D7D4"/>
            </a:solidFill>
          </a:ln>
          <a:effectLst/>
        </p:spPr>
        <p:style>
          <a:lnRef idx="1">
            <a:schemeClr val="accent1"/>
          </a:lnRef>
          <a:fillRef idx="3">
            <a:schemeClr val="accent1"/>
          </a:fillRef>
          <a:effectRef idx="2">
            <a:schemeClr val="accent1"/>
          </a:effectRef>
          <a:fontRef idx="minor">
            <a:schemeClr val="lt1"/>
          </a:fontRef>
        </p:style>
        <p:txBody>
          <a:bodyPr wrap="square" tIns="73152" rtlCol="0" anchor="t"/>
          <a:lstStyle/>
          <a:p>
            <a:pPr algn="l">
              <a:spcAft>
                <a:spcPts val="200"/>
              </a:spcAft>
            </a:pPr>
            <a:r>
              <a:rPr sz="1050" b="1" i="0">
                <a:solidFill>
                  <a:srgbClr val="2E2D29"/>
                </a:solidFill>
                <a:latin typeface="Calibri"/>
              </a:rPr>
              <a:t>3D CMM simulation</a:t>
            </a:r>
          </a:p>
          <a:p>
            <a:pPr algn="l">
              <a:spcAft>
                <a:spcPts val="200"/>
              </a:spcAft>
            </a:pPr>
            <a:r>
              <a:rPr sz="800" b="0" i="0">
                <a:solidFill>
                  <a:srgbClr val="6B6965"/>
                </a:solidFill>
                <a:latin typeface="Calibri"/>
              </a:rPr>
              <a:t>svMultiPhysics with the tuned tree BCs</a:t>
            </a:r>
          </a:p>
        </p:txBody>
      </p:sp>
      <p:sp>
        <p:nvSpPr>
          <p:cNvPr id="28" name="Rectangle 27"/>
          <p:cNvSpPr/>
          <p:nvPr/>
        </p:nvSpPr>
        <p:spPr>
          <a:xfrm>
            <a:off x="7086600" y="2167128"/>
            <a:ext cx="868680" cy="164592"/>
          </a:xfrm>
          <a:prstGeom prst="rect">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r>
              <a:rPr sz="650" b="1" i="0">
                <a:solidFill>
                  <a:srgbClr val="FFFFFF"/>
                </a:solidFill>
                <a:latin typeface="Calibri"/>
              </a:rPr>
              <a:t>COMPLETED</a:t>
            </a:r>
          </a:p>
        </p:txBody>
      </p:sp>
      <p:sp>
        <p:nvSpPr>
          <p:cNvPr id="29" name="Rectangle 28"/>
          <p:cNvSpPr/>
          <p:nvPr/>
        </p:nvSpPr>
        <p:spPr>
          <a:xfrm>
            <a:off x="6995160" y="3072384"/>
            <a:ext cx="1828800" cy="932688"/>
          </a:xfrm>
          <a:prstGeom prst="rect">
            <a:avLst/>
          </a:prstGeom>
          <a:solidFill>
            <a:srgbClr val="F2F1F0"/>
          </a:solidFill>
          <a:ln w="9525">
            <a:solidFill>
              <a:srgbClr val="D9D7D4"/>
            </a:solidFill>
          </a:ln>
          <a:effectLst/>
        </p:spPr>
        <p:style>
          <a:lnRef idx="1">
            <a:schemeClr val="accent1"/>
          </a:lnRef>
          <a:fillRef idx="3">
            <a:schemeClr val="accent1"/>
          </a:fillRef>
          <a:effectRef idx="2">
            <a:schemeClr val="accent1"/>
          </a:effectRef>
          <a:fontRef idx="minor">
            <a:schemeClr val="lt1"/>
          </a:fontRef>
        </p:style>
        <p:txBody>
          <a:bodyPr wrap="square" tIns="73152" rtlCol="0" anchor="t"/>
          <a:lstStyle/>
          <a:p>
            <a:pPr algn="l">
              <a:spcAft>
                <a:spcPts val="200"/>
              </a:spcAft>
            </a:pPr>
            <a:r>
              <a:rPr sz="1050" b="1" i="0">
                <a:solidFill>
                  <a:srgbClr val="2E2D29"/>
                </a:solidFill>
                <a:latin typeface="Calibri"/>
              </a:rPr>
              <a:t>Centerline postprocess</a:t>
            </a:r>
          </a:p>
          <a:p>
            <a:pPr algn="l">
              <a:spcAft>
                <a:spcPts val="200"/>
              </a:spcAft>
            </a:pPr>
            <a:r>
              <a:rPr sz="800" b="0" i="0">
                <a:solidFill>
                  <a:srgbClr val="6B6965"/>
                </a:solidFill>
                <a:latin typeface="Calibri"/>
              </a:rPr>
              <a:t>Last-cycle pressure and flow along the centerline</a:t>
            </a:r>
          </a:p>
        </p:txBody>
      </p:sp>
      <p:sp>
        <p:nvSpPr>
          <p:cNvPr id="30" name="Rectangle 29"/>
          <p:cNvSpPr/>
          <p:nvPr/>
        </p:nvSpPr>
        <p:spPr>
          <a:xfrm>
            <a:off x="7086600" y="3758183"/>
            <a:ext cx="868680" cy="164592"/>
          </a:xfrm>
          <a:prstGeom prst="rect">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r>
              <a:rPr sz="650" b="1" i="0">
                <a:solidFill>
                  <a:srgbClr val="FFFFFF"/>
                </a:solidFill>
                <a:latin typeface="Calibri"/>
              </a:rPr>
              <a:t>COMPLETED</a:t>
            </a:r>
          </a:p>
        </p:txBody>
      </p:sp>
      <p:sp>
        <p:nvSpPr>
          <p:cNvPr id="31" name="Rectangle 30"/>
          <p:cNvSpPr/>
          <p:nvPr/>
        </p:nvSpPr>
        <p:spPr>
          <a:xfrm>
            <a:off x="4809744" y="3072384"/>
            <a:ext cx="1828800" cy="932688"/>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wrap="square" tIns="73152" rtlCol="0" anchor="t"/>
          <a:lstStyle/>
          <a:p>
            <a:pPr algn="l">
              <a:spcAft>
                <a:spcPts val="200"/>
              </a:spcAft>
            </a:pPr>
            <a:r>
              <a:rPr sz="1050" b="1" i="0">
                <a:solidFill>
                  <a:srgbClr val="FFFFFF"/>
                </a:solidFill>
                <a:latin typeface="Calibri"/>
              </a:rPr>
              <a:t>svZeroDCalibrator</a:t>
            </a:r>
          </a:p>
          <a:p>
            <a:pPr algn="l">
              <a:spcAft>
                <a:spcPts val="200"/>
              </a:spcAft>
            </a:pPr>
            <a:r>
              <a:rPr sz="800" b="0" i="0">
                <a:solidFill>
                  <a:srgbClr val="F3DADA"/>
                </a:solidFill>
                <a:latin typeface="Calibri"/>
              </a:rPr>
              <a:t>Refit 0D element values to the 3D result</a:t>
            </a:r>
          </a:p>
        </p:txBody>
      </p:sp>
      <p:sp>
        <p:nvSpPr>
          <p:cNvPr id="32" name="Rectangle 31"/>
          <p:cNvSpPr/>
          <p:nvPr/>
        </p:nvSpPr>
        <p:spPr>
          <a:xfrm>
            <a:off x="4901183" y="3758183"/>
            <a:ext cx="868680" cy="164592"/>
          </a:xfrm>
          <a:prstGeom prst="rect">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r>
              <a:rPr sz="650" b="1" i="0">
                <a:solidFill>
                  <a:srgbClr val="FFFFFF"/>
                </a:solidFill>
                <a:latin typeface="Calibri"/>
              </a:rPr>
              <a:t>COMPLETED</a:t>
            </a:r>
          </a:p>
        </p:txBody>
      </p:sp>
      <p:sp>
        <p:nvSpPr>
          <p:cNvPr id="33" name="TextBox 32"/>
          <p:cNvSpPr txBox="1"/>
          <p:nvPr/>
        </p:nvSpPr>
        <p:spPr>
          <a:xfrm>
            <a:off x="5769864" y="3739896"/>
            <a:ext cx="822960" cy="201168"/>
          </a:xfrm>
          <a:prstGeom prst="rect">
            <a:avLst/>
          </a:prstGeom>
          <a:noFill/>
        </p:spPr>
        <p:txBody>
          <a:bodyPr wrap="square" lIns="0" tIns="0" rIns="0" bIns="0" anchor="ctr"/>
          <a:lstStyle/>
          <a:p>
            <a:pPr algn="r"/>
            <a:r>
              <a:rPr sz="700" b="0" i="1">
                <a:solidFill>
                  <a:srgbClr val="F3DADA"/>
                </a:solidFill>
                <a:latin typeface="Calibri"/>
              </a:rPr>
              <a:t>every iteration</a:t>
            </a:r>
          </a:p>
        </p:txBody>
      </p:sp>
      <p:sp>
        <p:nvSpPr>
          <p:cNvPr id="34" name="Rectangle 33"/>
          <p:cNvSpPr/>
          <p:nvPr/>
        </p:nvSpPr>
        <p:spPr>
          <a:xfrm>
            <a:off x="2587752" y="3072384"/>
            <a:ext cx="1828800" cy="932688"/>
          </a:xfrm>
          <a:prstGeom prst="rect">
            <a:avLst/>
          </a:prstGeom>
          <a:solidFill>
            <a:srgbClr val="F2F1F0"/>
          </a:solidFill>
          <a:ln w="9525">
            <a:solidFill>
              <a:srgbClr val="D9D7D4"/>
            </a:solidFill>
          </a:ln>
          <a:effectLst/>
        </p:spPr>
        <p:style>
          <a:lnRef idx="1">
            <a:schemeClr val="accent1"/>
          </a:lnRef>
          <a:fillRef idx="3">
            <a:schemeClr val="accent1"/>
          </a:fillRef>
          <a:effectRef idx="2">
            <a:schemeClr val="accent1"/>
          </a:effectRef>
          <a:fontRef idx="minor">
            <a:schemeClr val="lt1"/>
          </a:fontRef>
        </p:style>
        <p:txBody>
          <a:bodyPr wrap="square" tIns="73152" rtlCol="0" anchor="t"/>
          <a:lstStyle/>
          <a:p>
            <a:pPr algn="l">
              <a:spcAft>
                <a:spcPts val="200"/>
              </a:spcAft>
            </a:pPr>
            <a:r>
              <a:rPr sz="1050" b="1" i="0">
                <a:solidFill>
                  <a:srgbClr val="2E2D29"/>
                </a:solidFill>
                <a:latin typeface="Calibri"/>
              </a:rPr>
              <a:t>Seed promotion</a:t>
            </a:r>
          </a:p>
          <a:p>
            <a:pPr algn="l">
              <a:spcAft>
                <a:spcPts val="200"/>
              </a:spcAft>
            </a:pPr>
            <a:r>
              <a:rPr sz="800" b="0" i="0">
                <a:solidFill>
                  <a:srgbClr val="6B6965"/>
                </a:solidFill>
                <a:latin typeface="Calibri"/>
              </a:rPr>
              <a:t>Gate-passing calibrated model seeds the next iteration</a:t>
            </a:r>
          </a:p>
        </p:txBody>
      </p:sp>
      <p:sp>
        <p:nvSpPr>
          <p:cNvPr id="35" name="Rectangle 34"/>
          <p:cNvSpPr/>
          <p:nvPr/>
        </p:nvSpPr>
        <p:spPr>
          <a:xfrm>
            <a:off x="2679192" y="3758183"/>
            <a:ext cx="868680" cy="164592"/>
          </a:xfrm>
          <a:prstGeom prst="rect">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r>
              <a:rPr sz="650" b="1" i="0">
                <a:solidFill>
                  <a:srgbClr val="FFFFFF"/>
                </a:solidFill>
                <a:latin typeface="Calibri"/>
              </a:rPr>
              <a:t>COMPLETED</a:t>
            </a:r>
          </a:p>
        </p:txBody>
      </p:sp>
      <p:cxnSp>
        <p:nvCxnSpPr>
          <p:cNvPr id="36" name="Connector 35"/>
          <p:cNvCxnSpPr/>
          <p:nvPr/>
        </p:nvCxnSpPr>
        <p:spPr>
          <a:xfrm>
            <a:off x="2221991" y="1947672"/>
            <a:ext cx="338329" cy="0"/>
          </a:xfrm>
          <a:prstGeom prst="line">
            <a:avLst/>
          </a:prstGeom>
          <a:ln w="19050">
            <a:solidFill>
              <a:srgbClr val="6B69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443984" y="1947672"/>
            <a:ext cx="338328" cy="0"/>
          </a:xfrm>
          <a:prstGeom prst="line">
            <a:avLst/>
          </a:prstGeom>
          <a:ln w="19050">
            <a:solidFill>
              <a:srgbClr val="6B69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665976" y="1947672"/>
            <a:ext cx="301752" cy="0"/>
          </a:xfrm>
          <a:prstGeom prst="line">
            <a:avLst/>
          </a:prstGeom>
          <a:ln w="19050">
            <a:solidFill>
              <a:srgbClr val="6B69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909560" y="2441448"/>
            <a:ext cx="0" cy="603504"/>
          </a:xfrm>
          <a:prstGeom prst="line">
            <a:avLst/>
          </a:prstGeom>
          <a:ln w="19050">
            <a:solidFill>
              <a:srgbClr val="6B69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6665976" y="3538728"/>
            <a:ext cx="301752" cy="0"/>
          </a:xfrm>
          <a:prstGeom prst="line">
            <a:avLst/>
          </a:prstGeom>
          <a:ln w="19050">
            <a:solidFill>
              <a:srgbClr val="6B69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4443984" y="3538728"/>
            <a:ext cx="338328" cy="0"/>
          </a:xfrm>
          <a:prstGeom prst="line">
            <a:avLst/>
          </a:prstGeom>
          <a:ln w="19050">
            <a:solidFill>
              <a:srgbClr val="6B69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3502152" y="2441448"/>
            <a:ext cx="0" cy="603504"/>
          </a:xfrm>
          <a:prstGeom prst="line">
            <a:avLst/>
          </a:prstGeom>
          <a:ln w="22225">
            <a:solidFill>
              <a:srgbClr val="8C151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3575304" y="2596896"/>
            <a:ext cx="2011680" cy="274320"/>
          </a:xfrm>
          <a:prstGeom prst="rect">
            <a:avLst/>
          </a:prstGeom>
          <a:noFill/>
        </p:spPr>
        <p:txBody>
          <a:bodyPr wrap="square" lIns="0" tIns="0" rIns="0" bIns="0" anchor="ctr"/>
          <a:lstStyle/>
          <a:p>
            <a:pPr algn="l"/>
            <a:r>
              <a:rPr sz="850" b="1" i="1">
                <a:solidFill>
                  <a:srgbClr val="8C1515"/>
                </a:solidFill>
                <a:latin typeface="Calibri"/>
              </a:rPr>
              <a:t>Outer loop · next iteration</a:t>
            </a:r>
          </a:p>
        </p:txBody>
      </p:sp>
      <p:sp>
        <p:nvSpPr>
          <p:cNvPr id="44" name="Rounded Rectangle 43"/>
          <p:cNvSpPr/>
          <p:nvPr/>
        </p:nvSpPr>
        <p:spPr>
          <a:xfrm>
            <a:off x="365760" y="3291839"/>
            <a:ext cx="1600200" cy="493776"/>
          </a:xfrm>
          <a:prstGeom prst="roundRect">
            <a:avLst>
              <a:gd name="adj" fmla="val 12000"/>
            </a:avLst>
          </a:prstGeom>
          <a:solidFill>
            <a:srgbClr val="FFFFFF"/>
          </a:solidFill>
          <a:ln w="9525">
            <a:solidFill>
              <a:srgbClr val="6B6965"/>
            </a:solidFill>
            <a:prstDash val="dash"/>
          </a:ln>
          <a:effectLst/>
        </p:spPr>
        <p:style>
          <a:lnRef idx="1">
            <a:schemeClr val="accent1"/>
          </a:lnRef>
          <a:fillRef idx="3">
            <a:schemeClr val="accent1"/>
          </a:fillRef>
          <a:effectRef idx="2">
            <a:schemeClr val="accent1"/>
          </a:effectRef>
          <a:fontRef idx="minor">
            <a:schemeClr val="lt1"/>
          </a:fontRef>
        </p:style>
        <p:txBody>
          <a:bodyPr wrap="square" lIns="73152" tIns="27432" rIns="54864" bIns="27432" rtlCol="0" anchor="ctr"/>
          <a:lstStyle/>
          <a:p>
            <a:pPr algn="l"/>
            <a:r>
              <a:rPr sz="900" b="1" i="0">
                <a:solidFill>
                  <a:srgbClr val="2E2D29"/>
                </a:solidFill>
                <a:latin typeface="Calibri"/>
              </a:rPr>
              <a:t>Converged</a:t>
            </a:r>
          </a:p>
          <a:p>
            <a:pPr algn="l"/>
            <a:r>
              <a:rPr sz="750" b="0" i="0">
                <a:solidFill>
                  <a:srgbClr val="6B6965"/>
                </a:solidFill>
                <a:latin typeface="Calibri"/>
              </a:rPr>
              <a:t>→ Stages 3–4 with the calibrated model</a:t>
            </a:r>
          </a:p>
        </p:txBody>
      </p:sp>
      <p:cxnSp>
        <p:nvCxnSpPr>
          <p:cNvPr id="45" name="Connector 44"/>
          <p:cNvCxnSpPr/>
          <p:nvPr/>
        </p:nvCxnSpPr>
        <p:spPr>
          <a:xfrm flipH="1">
            <a:off x="1993391" y="3538728"/>
            <a:ext cx="566929" cy="0"/>
          </a:xfrm>
          <a:prstGeom prst="line">
            <a:avLst/>
          </a:prstGeom>
          <a:ln w="19050">
            <a:solidFill>
              <a:srgbClr val="6B69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Rectangle 45"/>
          <p:cNvSpPr/>
          <p:nvPr/>
        </p:nvSpPr>
        <p:spPr>
          <a:xfrm>
            <a:off x="320040" y="4242816"/>
            <a:ext cx="8503920" cy="457200"/>
          </a:xfrm>
          <a:prstGeom prst="rect">
            <a:avLst/>
          </a:prstGeom>
          <a:solidFill>
            <a:srgbClr val="FDEE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Rectangle 46"/>
          <p:cNvSpPr/>
          <p:nvPr/>
        </p:nvSpPr>
        <p:spPr>
          <a:xfrm>
            <a:off x="457200" y="4389120"/>
            <a:ext cx="1051560" cy="164592"/>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r>
              <a:rPr sz="650" b="1" i="0">
                <a:solidFill>
                  <a:srgbClr val="FFFFFF"/>
                </a:solidFill>
                <a:latin typeface="Calibri"/>
              </a:rPr>
              <a:t>IN DEVELOPMENT</a:t>
            </a:r>
          </a:p>
        </p:txBody>
      </p:sp>
      <p:sp>
        <p:nvSpPr>
          <p:cNvPr id="48" name="TextBox 47"/>
          <p:cNvSpPr txBox="1"/>
          <p:nvPr/>
        </p:nvSpPr>
        <p:spPr>
          <a:xfrm>
            <a:off x="1645920" y="4242816"/>
            <a:ext cx="7132320" cy="457200"/>
          </a:xfrm>
          <a:prstGeom prst="rect">
            <a:avLst/>
          </a:prstGeom>
          <a:noFill/>
        </p:spPr>
        <p:txBody>
          <a:bodyPr wrap="square" lIns="0" tIns="0" rIns="0" bIns="0" anchor="ctr"/>
          <a:lstStyle/>
          <a:p>
            <a:pPr algn="l"/>
            <a:r>
              <a:rPr sz="1100" b="1" i="0">
                <a:solidFill>
                  <a:srgbClr val="E98300"/>
                </a:solidFill>
                <a:latin typeface="Calibri"/>
              </a:rPr>
              <a:t>Current progress: </a:t>
            </a:r>
            <a:r>
              <a:rPr sz="1100" b="1" i="0">
                <a:solidFill>
                  <a:srgbClr val="2E2D29"/>
                </a:solidFill>
                <a:latin typeface="Calibri"/>
              </a:rPr>
              <a:t>making the initial runs of the pipeline with all of these changes in the loop</a:t>
            </a:r>
          </a:p>
        </p:txBody>
      </p:sp>
      <p:sp>
        <p:nvSpPr>
          <p:cNvPr id="49" name="Rectangle 48"/>
          <p:cNvSpPr/>
          <p:nvPr/>
        </p:nvSpPr>
        <p:spPr>
          <a:xfrm>
            <a:off x="2011680" y="4864607"/>
            <a:ext cx="146304" cy="14630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p:cNvSpPr txBox="1"/>
          <p:nvPr/>
        </p:nvSpPr>
        <p:spPr>
          <a:xfrm>
            <a:off x="2212848" y="4846320"/>
            <a:ext cx="1737360" cy="182880"/>
          </a:xfrm>
          <a:prstGeom prst="rect">
            <a:avLst/>
          </a:prstGeom>
          <a:noFill/>
        </p:spPr>
        <p:txBody>
          <a:bodyPr wrap="square" lIns="0" tIns="0" rIns="0" bIns="0" anchor="ctr"/>
          <a:lstStyle/>
          <a:p>
            <a:pPr algn="l"/>
            <a:r>
              <a:rPr sz="800" b="0" i="0">
                <a:solidFill>
                  <a:srgbClr val="6B6965"/>
                </a:solidFill>
                <a:latin typeface="Calibri"/>
              </a:rPr>
              <a:t>New this cycle</a:t>
            </a:r>
          </a:p>
        </p:txBody>
      </p:sp>
      <p:sp>
        <p:nvSpPr>
          <p:cNvPr id="51" name="Rectangle 50"/>
          <p:cNvSpPr/>
          <p:nvPr/>
        </p:nvSpPr>
        <p:spPr>
          <a:xfrm>
            <a:off x="3383280" y="4855464"/>
            <a:ext cx="868680" cy="164592"/>
          </a:xfrm>
          <a:prstGeom prst="rect">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r>
              <a:rPr sz="650" b="1" i="0">
                <a:solidFill>
                  <a:srgbClr val="FFFFFF"/>
                </a:solidFill>
                <a:latin typeface="Calibri"/>
              </a:rPr>
              <a:t>COMPLETED</a:t>
            </a:r>
          </a:p>
        </p:txBody>
      </p:sp>
      <p:sp>
        <p:nvSpPr>
          <p:cNvPr id="52" name="TextBox 51"/>
          <p:cNvSpPr txBox="1"/>
          <p:nvPr/>
        </p:nvSpPr>
        <p:spPr>
          <a:xfrm>
            <a:off x="4315968" y="4846320"/>
            <a:ext cx="1920240" cy="182880"/>
          </a:xfrm>
          <a:prstGeom prst="rect">
            <a:avLst/>
          </a:prstGeom>
          <a:noFill/>
        </p:spPr>
        <p:txBody>
          <a:bodyPr wrap="square" lIns="0" tIns="0" rIns="0" bIns="0" anchor="ctr"/>
          <a:lstStyle/>
          <a:p>
            <a:pPr algn="l"/>
            <a:r>
              <a:rPr sz="800" b="0" i="0">
                <a:solidFill>
                  <a:srgbClr val="6B6965"/>
                </a:solidFill>
                <a:latin typeface="Calibri"/>
              </a:rPr>
              <a:t>code merged and tested</a:t>
            </a:r>
          </a:p>
        </p:txBody>
      </p:sp>
      <p:sp>
        <p:nvSpPr>
          <p:cNvPr id="53" name="Rectangle 52"/>
          <p:cNvSpPr/>
          <p:nvPr/>
        </p:nvSpPr>
        <p:spPr>
          <a:xfrm>
            <a:off x="5852160" y="4855464"/>
            <a:ext cx="1051560" cy="164592"/>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r>
              <a:rPr sz="650" b="1" i="0">
                <a:solidFill>
                  <a:srgbClr val="FFFFFF"/>
                </a:solidFill>
                <a:latin typeface="Calibri"/>
              </a:rPr>
              <a:t>IN DEVELOPMENT</a:t>
            </a:r>
          </a:p>
        </p:txBody>
      </p:sp>
      <p:sp>
        <p:nvSpPr>
          <p:cNvPr id="54" name="TextBox 53"/>
          <p:cNvSpPr txBox="1"/>
          <p:nvPr/>
        </p:nvSpPr>
        <p:spPr>
          <a:xfrm>
            <a:off x="6967728" y="4846320"/>
            <a:ext cx="2011680" cy="182880"/>
          </a:xfrm>
          <a:prstGeom prst="rect">
            <a:avLst/>
          </a:prstGeom>
          <a:noFill/>
        </p:spPr>
        <p:txBody>
          <a:bodyPr wrap="square" lIns="0" tIns="0" rIns="0" bIns="0" anchor="ctr"/>
          <a:lstStyle/>
          <a:p>
            <a:pPr algn="l"/>
            <a:r>
              <a:rPr sz="800" b="0" i="0">
                <a:solidFill>
                  <a:srgbClr val="6B6965"/>
                </a:solidFill>
                <a:latin typeface="Calibri"/>
              </a:rPr>
              <a:t>being exercised in first runs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lang="en-US" sz="2200" dirty="0">
                <a:solidFill>
                  <a:srgbClr val="8C1515"/>
                </a:solidFill>
                <a:latin typeface="Georgia"/>
              </a:rPr>
              <a:t>learnedZeroD generates the initial full-PA seed</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COMPLETED</a:t>
            </a:r>
          </a:p>
        </p:txBody>
      </p:sp>
      <p:sp>
        <p:nvSpPr>
          <p:cNvPr id="19" name="TextBox 18"/>
          <p:cNvSpPr txBox="1"/>
          <p:nvPr/>
        </p:nvSpPr>
        <p:spPr>
          <a:xfrm>
            <a:off x="320040" y="1261872"/>
            <a:ext cx="8503920" cy="201168"/>
          </a:xfrm>
          <a:prstGeom prst="rect">
            <a:avLst/>
          </a:prstGeom>
          <a:noFill/>
        </p:spPr>
        <p:txBody>
          <a:bodyPr wrap="square" lIns="0" tIns="0" rIns="0" bIns="0" anchor="t"/>
          <a:lstStyle/>
          <a:p>
            <a:pPr algn="l"/>
            <a:r>
              <a:rPr sz="850" b="1" i="0" dirty="0">
                <a:solidFill>
                  <a:srgbClr val="8C1515"/>
                </a:solidFill>
                <a:latin typeface="Calibri"/>
              </a:rPr>
              <a:t>Developed by Natalia Rubio</a:t>
            </a:r>
            <a:endParaRPr sz="850" b="0" i="1" dirty="0">
              <a:solidFill>
                <a:srgbClr val="6B6965"/>
              </a:solidFill>
              <a:latin typeface="Calibri"/>
            </a:endParaRPr>
          </a:p>
        </p:txBody>
      </p:sp>
      <p:sp>
        <p:nvSpPr>
          <p:cNvPr id="20" name="Rectangle 19"/>
          <p:cNvSpPr/>
          <p:nvPr/>
        </p:nvSpPr>
        <p:spPr>
          <a:xfrm>
            <a:off x="320040" y="1572768"/>
            <a:ext cx="1783080" cy="384048"/>
          </a:xfrm>
          <a:prstGeom prst="rect">
            <a:avLst/>
          </a:prstGeom>
          <a:solidFill>
            <a:srgbClr val="F2F1F0"/>
          </a:solidFill>
          <a:ln w="9525">
            <a:solidFill>
              <a:srgbClr val="D9D7D4"/>
            </a:solidFill>
          </a:ln>
          <a:effectLst/>
        </p:spPr>
        <p:style>
          <a:lnRef idx="1">
            <a:schemeClr val="accent1"/>
          </a:lnRef>
          <a:fillRef idx="3">
            <a:schemeClr val="accent1"/>
          </a:fillRef>
          <a:effectRef idx="2">
            <a:schemeClr val="accent1"/>
          </a:effectRef>
          <a:fontRef idx="minor">
            <a:schemeClr val="lt1"/>
          </a:fontRef>
        </p:style>
        <p:txBody>
          <a:bodyPr wrap="square" lIns="73152" tIns="18288" rIns="45720" bIns="18288" rtlCol="0" anchor="ctr"/>
          <a:lstStyle/>
          <a:p>
            <a:pPr algn="l"/>
            <a:r>
              <a:rPr sz="900" b="1" i="0">
                <a:solidFill>
                  <a:srgbClr val="2E2D29"/>
                </a:solidFill>
                <a:latin typeface="Calibri"/>
              </a:rPr>
              <a:t>Branched 0D JSON</a:t>
            </a:r>
          </a:p>
          <a:p>
            <a:pPr algn="l"/>
            <a:r>
              <a:rPr sz="700" b="0" i="0">
                <a:solidFill>
                  <a:srgbClr val="6B6965"/>
                </a:solidFill>
                <a:latin typeface="Calibri"/>
              </a:rPr>
              <a:t>SimVascular, analytic R, C, L</a:t>
            </a:r>
          </a:p>
        </p:txBody>
      </p:sp>
      <p:cxnSp>
        <p:nvCxnSpPr>
          <p:cNvPr id="21" name="Connector 20"/>
          <p:cNvCxnSpPr/>
          <p:nvPr/>
        </p:nvCxnSpPr>
        <p:spPr>
          <a:xfrm>
            <a:off x="2130552" y="1764792"/>
            <a:ext cx="265176" cy="457200"/>
          </a:xfrm>
          <a:prstGeom prst="line">
            <a:avLst/>
          </a:prstGeom>
          <a:ln w="12700">
            <a:solidFill>
              <a:srgbClr val="6B69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320040" y="2029967"/>
            <a:ext cx="1783080" cy="384048"/>
          </a:xfrm>
          <a:prstGeom prst="rect">
            <a:avLst/>
          </a:prstGeom>
          <a:solidFill>
            <a:srgbClr val="F2F1F0"/>
          </a:solidFill>
          <a:ln w="9525">
            <a:solidFill>
              <a:srgbClr val="D9D7D4"/>
            </a:solidFill>
          </a:ln>
          <a:effectLst/>
        </p:spPr>
        <p:style>
          <a:lnRef idx="1">
            <a:schemeClr val="accent1"/>
          </a:lnRef>
          <a:fillRef idx="3">
            <a:schemeClr val="accent1"/>
          </a:fillRef>
          <a:effectRef idx="2">
            <a:schemeClr val="accent1"/>
          </a:effectRef>
          <a:fontRef idx="minor">
            <a:schemeClr val="lt1"/>
          </a:fontRef>
        </p:style>
        <p:txBody>
          <a:bodyPr wrap="square" lIns="73152" tIns="18288" rIns="45720" bIns="18288" rtlCol="0" anchor="ctr"/>
          <a:lstStyle/>
          <a:p>
            <a:pPr algn="l"/>
            <a:r>
              <a:rPr sz="900" b="1" i="0">
                <a:solidFill>
                  <a:srgbClr val="2E2D29"/>
                </a:solidFill>
                <a:latin typeface="Calibri"/>
              </a:rPr>
              <a:t>centerlines.vtp</a:t>
            </a:r>
          </a:p>
          <a:p>
            <a:pPr algn="l"/>
            <a:r>
              <a:rPr sz="700" b="0" i="0">
                <a:solidFill>
                  <a:srgbClr val="6B6965"/>
                </a:solidFill>
                <a:latin typeface="Calibri"/>
              </a:rPr>
              <a:t>the geometry the seed is built on</a:t>
            </a:r>
          </a:p>
        </p:txBody>
      </p:sp>
      <p:cxnSp>
        <p:nvCxnSpPr>
          <p:cNvPr id="23" name="Connector 22"/>
          <p:cNvCxnSpPr/>
          <p:nvPr/>
        </p:nvCxnSpPr>
        <p:spPr>
          <a:xfrm>
            <a:off x="2130552" y="2221991"/>
            <a:ext cx="265176" cy="1"/>
          </a:xfrm>
          <a:prstGeom prst="line">
            <a:avLst/>
          </a:prstGeom>
          <a:ln w="12700">
            <a:solidFill>
              <a:srgbClr val="6B69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320040" y="2487168"/>
            <a:ext cx="1783080" cy="384048"/>
          </a:xfrm>
          <a:prstGeom prst="rect">
            <a:avLst/>
          </a:prstGeom>
          <a:solidFill>
            <a:srgbClr val="F2F1F0"/>
          </a:solidFill>
          <a:ln w="9525">
            <a:solidFill>
              <a:srgbClr val="D9D7D4"/>
            </a:solidFill>
          </a:ln>
          <a:effectLst/>
        </p:spPr>
        <p:style>
          <a:lnRef idx="1">
            <a:schemeClr val="accent1"/>
          </a:lnRef>
          <a:fillRef idx="3">
            <a:schemeClr val="accent1"/>
          </a:fillRef>
          <a:effectRef idx="2">
            <a:schemeClr val="accent1"/>
          </a:effectRef>
          <a:fontRef idx="minor">
            <a:schemeClr val="lt1"/>
          </a:fontRef>
        </p:style>
        <p:txBody>
          <a:bodyPr wrap="square" lIns="73152" tIns="18288" rIns="45720" bIns="18288" rtlCol="0" anchor="ctr"/>
          <a:lstStyle/>
          <a:p>
            <a:pPr algn="l"/>
            <a:r>
              <a:rPr sz="900" b="1" i="0">
                <a:solidFill>
                  <a:srgbClr val="2E2D29"/>
                </a:solidFill>
                <a:latin typeface="Calibri"/>
              </a:rPr>
              <a:t>svZeroDSolver</a:t>
            </a:r>
          </a:p>
          <a:p>
            <a:pPr algn="l"/>
            <a:r>
              <a:rPr sz="700" b="0" i="0">
                <a:solidFill>
                  <a:srgbClr val="6B6965"/>
                </a:solidFill>
                <a:latin typeface="Calibri"/>
              </a:rPr>
              <a:t>used by learnedZeroD</a:t>
            </a:r>
          </a:p>
        </p:txBody>
      </p:sp>
      <p:cxnSp>
        <p:nvCxnSpPr>
          <p:cNvPr id="25" name="Connector 24"/>
          <p:cNvCxnSpPr/>
          <p:nvPr/>
        </p:nvCxnSpPr>
        <p:spPr>
          <a:xfrm flipV="1">
            <a:off x="2130552" y="2221992"/>
            <a:ext cx="265176" cy="457199"/>
          </a:xfrm>
          <a:prstGeom prst="line">
            <a:avLst/>
          </a:prstGeom>
          <a:ln w="12700">
            <a:solidFill>
              <a:srgbClr val="6B69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2423160" y="1572768"/>
            <a:ext cx="2148840" cy="1298448"/>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bIns="54864" rtlCol="0" anchor="ctr"/>
          <a:lstStyle/>
          <a:p>
            <a:pPr algn="l">
              <a:spcAft>
                <a:spcPts val="100"/>
              </a:spcAft>
            </a:pPr>
            <a:r>
              <a:rPr sz="1300" b="1" i="0">
                <a:solidFill>
                  <a:srgbClr val="FFFFFF"/>
                </a:solidFill>
                <a:latin typeface="Calibri"/>
              </a:rPr>
              <a:t>learnedZeroD</a:t>
            </a:r>
          </a:p>
          <a:p>
            <a:pPr algn="l">
              <a:spcAft>
                <a:spcPts val="100"/>
              </a:spcAft>
            </a:pPr>
            <a:r>
              <a:rPr sz="850" b="0" i="0">
                <a:solidFill>
                  <a:srgbClr val="F3DADA"/>
                </a:solidFill>
                <a:latin typeface="Calibri"/>
              </a:rPr>
              <a:t>ML model predicts per-segment</a:t>
            </a:r>
          </a:p>
          <a:p>
            <a:pPr algn="l">
              <a:spcAft>
                <a:spcPts val="100"/>
              </a:spcAft>
            </a:pPr>
            <a:r>
              <a:rPr sz="850" b="1" i="0">
                <a:solidFill>
                  <a:srgbClr val="FFFFFF"/>
                </a:solidFill>
                <a:latin typeface="Calibri"/>
              </a:rPr>
              <a:t>R, C, L and junction coefficients</a:t>
            </a:r>
          </a:p>
          <a:p>
            <a:pPr algn="l">
              <a:spcAft>
                <a:spcPts val="100"/>
              </a:spcAft>
            </a:pPr>
            <a:r>
              <a:rPr sz="850" b="0" i="0">
                <a:solidFill>
                  <a:srgbClr val="F3DADA"/>
                </a:solidFill>
                <a:latin typeface="Calibri"/>
              </a:rPr>
              <a:t>from the centerline geometry</a:t>
            </a:r>
          </a:p>
        </p:txBody>
      </p:sp>
      <p:cxnSp>
        <p:nvCxnSpPr>
          <p:cNvPr id="27" name="Connector 26"/>
          <p:cNvCxnSpPr/>
          <p:nvPr/>
        </p:nvCxnSpPr>
        <p:spPr>
          <a:xfrm>
            <a:off x="4599432" y="2221992"/>
            <a:ext cx="246888" cy="0"/>
          </a:xfrm>
          <a:prstGeom prst="line">
            <a:avLst/>
          </a:prstGeom>
          <a:ln w="19050">
            <a:solidFill>
              <a:srgbClr val="6B69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4873752" y="1572768"/>
            <a:ext cx="1783080" cy="1298448"/>
          </a:xfrm>
          <a:prstGeom prst="rect">
            <a:avLst/>
          </a:prstGeom>
          <a:solidFill>
            <a:srgbClr val="FFFFFF"/>
          </a:solidFill>
          <a:ln w="9525">
            <a:solidFill>
              <a:srgbClr val="D9D7D4"/>
            </a:solidFill>
          </a:ln>
          <a:effectLst/>
        </p:spPr>
        <p:style>
          <a:lnRef idx="1">
            <a:schemeClr val="accent1"/>
          </a:lnRef>
          <a:fillRef idx="3">
            <a:schemeClr val="accent1"/>
          </a:fillRef>
          <a:effectRef idx="2">
            <a:schemeClr val="accent1"/>
          </a:effectRef>
          <a:fontRef idx="minor">
            <a:schemeClr val="lt1"/>
          </a:fontRef>
        </p:style>
        <p:txBody>
          <a:bodyPr wrap="square" lIns="109728" tIns="73152" rIns="73152" bIns="54864" rtlCol="0" anchor="ctr"/>
          <a:lstStyle/>
          <a:p>
            <a:pPr algn="l">
              <a:spcAft>
                <a:spcPts val="100"/>
              </a:spcAft>
            </a:pPr>
            <a:r>
              <a:rPr sz="900" b="1" i="0">
                <a:solidFill>
                  <a:srgbClr val="2E2D29"/>
                </a:solidFill>
                <a:latin typeface="Calibri"/>
              </a:rPr>
              <a:t>Topology checks</a:t>
            </a:r>
          </a:p>
          <a:p>
            <a:pPr algn="l">
              <a:spcAft>
                <a:spcPts val="100"/>
              </a:spcAft>
            </a:pPr>
            <a:r>
              <a:rPr sz="850" b="1" i="0">
                <a:solidFill>
                  <a:srgbClr val="279989"/>
                </a:solidFill>
                <a:latin typeface="Calibri"/>
              </a:rPr>
              <a:t>✓ </a:t>
            </a:r>
            <a:r>
              <a:rPr sz="800" b="0" i="0">
                <a:solidFill>
                  <a:srgbClr val="2E2D29"/>
                </a:solidFill>
                <a:latin typeface="Calibri"/>
              </a:rPr>
              <a:t>&gt; 2 outlet BCs</a:t>
            </a:r>
          </a:p>
          <a:p>
            <a:pPr algn="l">
              <a:spcAft>
                <a:spcPts val="100"/>
              </a:spcAft>
            </a:pPr>
            <a:r>
              <a:rPr sz="850" b="1" i="0">
                <a:solidFill>
                  <a:srgbClr val="279989"/>
                </a:solidFill>
                <a:latin typeface="Calibri"/>
              </a:rPr>
              <a:t>✓ </a:t>
            </a:r>
            <a:r>
              <a:rPr sz="800" b="0" i="0">
                <a:solidFill>
                  <a:srgbClr val="2E2D29"/>
                </a:solidFill>
                <a:latin typeface="Calibri"/>
              </a:rPr>
              <a:t>one vessel per outlet</a:t>
            </a:r>
          </a:p>
          <a:p>
            <a:pPr algn="l">
              <a:spcAft>
                <a:spcPts val="100"/>
              </a:spcAft>
            </a:pPr>
            <a:r>
              <a:rPr sz="850" b="1" i="0">
                <a:solidFill>
                  <a:srgbClr val="279989"/>
                </a:solidFill>
                <a:latin typeface="Calibri"/>
              </a:rPr>
              <a:t>✓ </a:t>
            </a:r>
            <a:r>
              <a:rPr sz="800" b="0" i="0">
                <a:solidFill>
                  <a:srgbClr val="2E2D29"/>
                </a:solidFill>
                <a:latin typeface="Calibri"/>
              </a:rPr>
              <a:t>unique BC names</a:t>
            </a:r>
          </a:p>
          <a:p>
            <a:pPr algn="l">
              <a:spcAft>
                <a:spcPts val="100"/>
              </a:spcAft>
            </a:pPr>
            <a:r>
              <a:rPr sz="850" b="1" i="0">
                <a:solidFill>
                  <a:srgbClr val="279989"/>
                </a:solidFill>
                <a:latin typeface="Calibri"/>
              </a:rPr>
              <a:t>✓ </a:t>
            </a:r>
            <a:r>
              <a:rPr sz="800" b="0" i="0">
                <a:solidFill>
                  <a:srgbClr val="2E2D29"/>
                </a:solidFill>
                <a:latin typeface="Calibri"/>
              </a:rPr>
              <a:t>input + solver SHA-256</a:t>
            </a:r>
          </a:p>
        </p:txBody>
      </p:sp>
      <p:cxnSp>
        <p:nvCxnSpPr>
          <p:cNvPr id="29" name="Connector 28"/>
          <p:cNvCxnSpPr/>
          <p:nvPr/>
        </p:nvCxnSpPr>
        <p:spPr>
          <a:xfrm>
            <a:off x="6684264" y="2221992"/>
            <a:ext cx="246888" cy="0"/>
          </a:xfrm>
          <a:prstGeom prst="line">
            <a:avLst/>
          </a:prstGeom>
          <a:ln w="19050">
            <a:solidFill>
              <a:srgbClr val="6B69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6958584" y="1572768"/>
            <a:ext cx="1865376" cy="1298448"/>
          </a:xfrm>
          <a:prstGeom prst="rect">
            <a:avLst/>
          </a:prstGeom>
          <a:solidFill>
            <a:srgbClr val="E4F2F0"/>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bIns="54864" rtlCol="0" anchor="ctr"/>
          <a:lstStyle/>
          <a:p>
            <a:pPr algn="l">
              <a:spcAft>
                <a:spcPts val="200"/>
              </a:spcAft>
            </a:pPr>
            <a:r>
              <a:rPr sz="1000" b="1" i="0">
                <a:solidFill>
                  <a:srgbClr val="279989"/>
                </a:solidFill>
                <a:latin typeface="Calibri"/>
              </a:rPr>
              <a:t>full_pa_zerod.json</a:t>
            </a:r>
          </a:p>
          <a:p>
            <a:pPr algn="l">
              <a:spcAft>
                <a:spcPts val="200"/>
              </a:spcAft>
            </a:pPr>
            <a:r>
              <a:rPr sz="850" b="0" i="0">
                <a:solidFill>
                  <a:srgbClr val="2E2D29"/>
                </a:solidFill>
                <a:latin typeface="Calibri"/>
              </a:rPr>
              <a:t>iteration-1 seed</a:t>
            </a:r>
          </a:p>
          <a:p>
            <a:pPr algn="l">
              <a:spcAft>
                <a:spcPts val="200"/>
              </a:spcAft>
            </a:pPr>
            <a:r>
              <a:rPr sz="800" b="0" i="0">
                <a:solidFill>
                  <a:srgbClr val="6B6965"/>
                </a:solidFill>
                <a:latin typeface="Calibri"/>
              </a:rPr>
              <a:t>full branched topology, kept through tuning</a:t>
            </a:r>
          </a:p>
        </p:txBody>
      </p:sp>
      <p:sp>
        <p:nvSpPr>
          <p:cNvPr id="31" name="TextBox 30"/>
          <p:cNvSpPr txBox="1"/>
          <p:nvPr/>
        </p:nvSpPr>
        <p:spPr>
          <a:xfrm>
            <a:off x="320040" y="3127248"/>
            <a:ext cx="4754880" cy="219456"/>
          </a:xfrm>
          <a:prstGeom prst="rect">
            <a:avLst/>
          </a:prstGeom>
          <a:noFill/>
        </p:spPr>
        <p:txBody>
          <a:bodyPr wrap="square" lIns="0" tIns="0" rIns="0" bIns="0" anchor="t"/>
          <a:lstStyle/>
          <a:p>
            <a:pPr algn="l"/>
            <a:r>
              <a:rPr sz="1000" b="1" i="0">
                <a:solidFill>
                  <a:srgbClr val="8C1515"/>
                </a:solidFill>
                <a:latin typeface="Calibri"/>
              </a:rPr>
              <a:t>RPA flow split, same fixed-resistance outlet BCs</a:t>
            </a:r>
          </a:p>
        </p:txBody>
      </p:sp>
      <p:graphicFrame>
        <p:nvGraphicFramePr>
          <p:cNvPr id="32" name="Chart 31"/>
          <p:cNvGraphicFramePr>
            <a:graphicFrameLocks noGrp="1"/>
          </p:cNvGraphicFramePr>
          <p:nvPr/>
        </p:nvGraphicFramePr>
        <p:xfrm>
          <a:off x="274320" y="3346704"/>
          <a:ext cx="4754880" cy="1554480"/>
        </p:xfrm>
        <a:graphic>
          <a:graphicData uri="http://schemas.openxmlformats.org/drawingml/2006/chart">
            <c:chart xmlns:c="http://schemas.openxmlformats.org/drawingml/2006/chart" xmlns:r="http://schemas.openxmlformats.org/officeDocument/2006/relationships" r:id="rId3"/>
          </a:graphicData>
        </a:graphic>
      </p:graphicFrame>
      <p:sp>
        <p:nvSpPr>
          <p:cNvPr id="33" name="TextBox 32"/>
          <p:cNvSpPr txBox="1"/>
          <p:nvPr/>
        </p:nvSpPr>
        <p:spPr>
          <a:xfrm>
            <a:off x="320040" y="4901184"/>
            <a:ext cx="4754880" cy="201168"/>
          </a:xfrm>
          <a:prstGeom prst="rect">
            <a:avLst/>
          </a:prstGeom>
          <a:noFill/>
        </p:spPr>
        <p:txBody>
          <a:bodyPr wrap="square" lIns="0" tIns="0" rIns="0" bIns="0" anchor="t"/>
          <a:lstStyle/>
          <a:p>
            <a:pPr algn="l"/>
            <a:r>
              <a:rPr sz="800" b="0" i="1">
                <a:solidFill>
                  <a:srgbClr val="6B6965"/>
                </a:solidFill>
                <a:latin typeface="Calibri"/>
              </a:rPr>
              <a:t>Learned seed recovers 14.5 of the 23.7-point gap to 3D, with identical BCs</a:t>
            </a:r>
          </a:p>
        </p:txBody>
      </p:sp>
      <p:sp>
        <p:nvSpPr>
          <p:cNvPr id="34" name="TextBox 33"/>
          <p:cNvSpPr txBox="1"/>
          <p:nvPr/>
        </p:nvSpPr>
        <p:spPr>
          <a:xfrm>
            <a:off x="5440680" y="3127248"/>
            <a:ext cx="3383280" cy="219456"/>
          </a:xfrm>
          <a:prstGeom prst="rect">
            <a:avLst/>
          </a:prstGeom>
          <a:noFill/>
        </p:spPr>
        <p:txBody>
          <a:bodyPr wrap="square" lIns="0" tIns="0" rIns="0" bIns="0" anchor="t"/>
          <a:lstStyle/>
          <a:p>
            <a:pPr algn="l"/>
            <a:r>
              <a:rPr sz="1000" b="1" i="0">
                <a:solidFill>
                  <a:srgbClr val="8C1515"/>
                </a:solidFill>
                <a:latin typeface="Calibri"/>
              </a:rPr>
              <a:t>Seed topology</a:t>
            </a:r>
          </a:p>
        </p:txBody>
      </p:sp>
      <p:sp>
        <p:nvSpPr>
          <p:cNvPr id="35" name="Rectangle 34"/>
          <p:cNvSpPr/>
          <p:nvPr/>
        </p:nvSpPr>
        <p:spPr>
          <a:xfrm>
            <a:off x="5440680" y="3401568"/>
            <a:ext cx="1600200" cy="160020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Rectangle 35"/>
          <p:cNvSpPr/>
          <p:nvPr/>
        </p:nvSpPr>
        <p:spPr>
          <a:xfrm>
            <a:off x="7223760" y="3401568"/>
            <a:ext cx="1600200" cy="1600200"/>
          </a:xfrm>
          <a:prstGeom prst="rect">
            <a:avLst/>
          </a:prstGeom>
          <a:solidFill>
            <a:srgbClr val="F6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cxnSp>
        <p:nvCxnSpPr>
          <p:cNvPr id="37" name="Connector 36"/>
          <p:cNvCxnSpPr/>
          <p:nvPr/>
        </p:nvCxnSpPr>
        <p:spPr>
          <a:xfrm flipV="1">
            <a:off x="6240780" y="4000500"/>
            <a:ext cx="0" cy="434340"/>
          </a:xfrm>
          <a:prstGeom prst="line">
            <a:avLst/>
          </a:prstGeom>
          <a:ln w="25400">
            <a:solidFill>
              <a:srgbClr val="6B6965"/>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6046470" y="3566160"/>
            <a:ext cx="194310" cy="434340"/>
          </a:xfrm>
          <a:prstGeom prst="line">
            <a:avLst/>
          </a:prstGeom>
          <a:ln w="25400">
            <a:solidFill>
              <a:srgbClr val="6B6965"/>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6240780" y="3566160"/>
            <a:ext cx="194310" cy="434340"/>
          </a:xfrm>
          <a:prstGeom prst="line">
            <a:avLst/>
          </a:prstGeom>
          <a:ln w="25400">
            <a:solidFill>
              <a:srgbClr val="6B6965"/>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8023860" y="4261103"/>
            <a:ext cx="0" cy="173737"/>
          </a:xfrm>
          <a:prstGeom prst="line">
            <a:avLst/>
          </a:prstGeom>
          <a:ln w="12700">
            <a:solidFill>
              <a:srgbClr val="8C1515"/>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7715250" y="4087367"/>
            <a:ext cx="308610" cy="173736"/>
          </a:xfrm>
          <a:prstGeom prst="line">
            <a:avLst/>
          </a:prstGeom>
          <a:ln w="12700">
            <a:solidFill>
              <a:srgbClr val="8C1515"/>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7560945" y="3913631"/>
            <a:ext cx="154305" cy="173736"/>
          </a:xfrm>
          <a:prstGeom prst="line">
            <a:avLst/>
          </a:prstGeom>
          <a:ln w="12700">
            <a:solidFill>
              <a:srgbClr val="8C1515"/>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7483792" y="3739895"/>
            <a:ext cx="77153" cy="173736"/>
          </a:xfrm>
          <a:prstGeom prst="line">
            <a:avLst/>
          </a:prstGeom>
          <a:ln w="12700">
            <a:solidFill>
              <a:srgbClr val="8C1515"/>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7445216" y="3566159"/>
            <a:ext cx="38576" cy="173736"/>
          </a:xfrm>
          <a:prstGeom prst="line">
            <a:avLst/>
          </a:prstGeom>
          <a:ln w="12700">
            <a:solidFill>
              <a:srgbClr val="8C1515"/>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7483792" y="3566159"/>
            <a:ext cx="38576" cy="173736"/>
          </a:xfrm>
          <a:prstGeom prst="line">
            <a:avLst/>
          </a:prstGeom>
          <a:ln w="12700">
            <a:solidFill>
              <a:srgbClr val="8C1515"/>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7560945" y="3739895"/>
            <a:ext cx="77152" cy="173736"/>
          </a:xfrm>
          <a:prstGeom prst="line">
            <a:avLst/>
          </a:prstGeom>
          <a:ln w="12700">
            <a:solidFill>
              <a:srgbClr val="8C1515"/>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7599521" y="3566159"/>
            <a:ext cx="38576" cy="173736"/>
          </a:xfrm>
          <a:prstGeom prst="line">
            <a:avLst/>
          </a:prstGeom>
          <a:ln w="12700">
            <a:solidFill>
              <a:srgbClr val="8C1515"/>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7638097" y="3566159"/>
            <a:ext cx="38576" cy="173736"/>
          </a:xfrm>
          <a:prstGeom prst="line">
            <a:avLst/>
          </a:prstGeom>
          <a:ln w="12700">
            <a:solidFill>
              <a:srgbClr val="8C1515"/>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7715250" y="3913631"/>
            <a:ext cx="154304" cy="173736"/>
          </a:xfrm>
          <a:prstGeom prst="line">
            <a:avLst/>
          </a:prstGeom>
          <a:ln w="12700">
            <a:solidFill>
              <a:srgbClr val="8C1515"/>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7792402" y="3739895"/>
            <a:ext cx="77152" cy="173736"/>
          </a:xfrm>
          <a:prstGeom prst="line">
            <a:avLst/>
          </a:prstGeom>
          <a:ln w="12700">
            <a:solidFill>
              <a:srgbClr val="8C1515"/>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7753826" y="3566159"/>
            <a:ext cx="38576" cy="173736"/>
          </a:xfrm>
          <a:prstGeom prst="line">
            <a:avLst/>
          </a:prstGeom>
          <a:ln w="12700">
            <a:solidFill>
              <a:srgbClr val="8C1515"/>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7792402" y="3566159"/>
            <a:ext cx="38576" cy="173736"/>
          </a:xfrm>
          <a:prstGeom prst="line">
            <a:avLst/>
          </a:prstGeom>
          <a:ln w="12700">
            <a:solidFill>
              <a:srgbClr val="8C1515"/>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7869554" y="3739895"/>
            <a:ext cx="77153" cy="173736"/>
          </a:xfrm>
          <a:prstGeom prst="line">
            <a:avLst/>
          </a:prstGeom>
          <a:ln w="12700">
            <a:solidFill>
              <a:srgbClr val="8C1515"/>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7908131" y="3566159"/>
            <a:ext cx="38576" cy="173736"/>
          </a:xfrm>
          <a:prstGeom prst="line">
            <a:avLst/>
          </a:prstGeom>
          <a:ln w="12700">
            <a:solidFill>
              <a:srgbClr val="8C1515"/>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7946707" y="3566159"/>
            <a:ext cx="38576" cy="173736"/>
          </a:xfrm>
          <a:prstGeom prst="line">
            <a:avLst/>
          </a:prstGeom>
          <a:ln w="12700">
            <a:solidFill>
              <a:srgbClr val="8C1515"/>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8023860" y="4087367"/>
            <a:ext cx="308610" cy="173736"/>
          </a:xfrm>
          <a:prstGeom prst="line">
            <a:avLst/>
          </a:prstGeom>
          <a:ln w="12700">
            <a:solidFill>
              <a:srgbClr val="8C1515"/>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8178165" y="3913631"/>
            <a:ext cx="154305" cy="173736"/>
          </a:xfrm>
          <a:prstGeom prst="line">
            <a:avLst/>
          </a:prstGeom>
          <a:ln w="12700">
            <a:solidFill>
              <a:srgbClr val="8C1515"/>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8101012" y="3739895"/>
            <a:ext cx="77153" cy="173736"/>
          </a:xfrm>
          <a:prstGeom prst="line">
            <a:avLst/>
          </a:prstGeom>
          <a:ln w="12700">
            <a:solidFill>
              <a:srgbClr val="8C1515"/>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8062436" y="3566159"/>
            <a:ext cx="38576" cy="173736"/>
          </a:xfrm>
          <a:prstGeom prst="line">
            <a:avLst/>
          </a:prstGeom>
          <a:ln w="12700">
            <a:solidFill>
              <a:srgbClr val="8C1515"/>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8101012" y="3566159"/>
            <a:ext cx="38576" cy="173736"/>
          </a:xfrm>
          <a:prstGeom prst="line">
            <a:avLst/>
          </a:prstGeom>
          <a:ln w="12700">
            <a:solidFill>
              <a:srgbClr val="8C1515"/>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8178165" y="3739895"/>
            <a:ext cx="77152" cy="173736"/>
          </a:xfrm>
          <a:prstGeom prst="line">
            <a:avLst/>
          </a:prstGeom>
          <a:ln w="12700">
            <a:solidFill>
              <a:srgbClr val="8C1515"/>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8216741" y="3566159"/>
            <a:ext cx="38576" cy="173736"/>
          </a:xfrm>
          <a:prstGeom prst="line">
            <a:avLst/>
          </a:prstGeom>
          <a:ln w="12700">
            <a:solidFill>
              <a:srgbClr val="8C1515"/>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8255317" y="3566159"/>
            <a:ext cx="38576" cy="173736"/>
          </a:xfrm>
          <a:prstGeom prst="line">
            <a:avLst/>
          </a:prstGeom>
          <a:ln w="12700">
            <a:solidFill>
              <a:srgbClr val="8C1515"/>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8332470" y="3913631"/>
            <a:ext cx="154305" cy="173736"/>
          </a:xfrm>
          <a:prstGeom prst="line">
            <a:avLst/>
          </a:prstGeom>
          <a:ln w="12700">
            <a:solidFill>
              <a:srgbClr val="8C1515"/>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8409622" y="3739895"/>
            <a:ext cx="77153" cy="173736"/>
          </a:xfrm>
          <a:prstGeom prst="line">
            <a:avLst/>
          </a:prstGeom>
          <a:ln w="12700">
            <a:solidFill>
              <a:srgbClr val="8C1515"/>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8371046" y="3566159"/>
            <a:ext cx="38576" cy="173736"/>
          </a:xfrm>
          <a:prstGeom prst="line">
            <a:avLst/>
          </a:prstGeom>
          <a:ln w="12700">
            <a:solidFill>
              <a:srgbClr val="8C1515"/>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8409622" y="3566159"/>
            <a:ext cx="38576" cy="173736"/>
          </a:xfrm>
          <a:prstGeom prst="line">
            <a:avLst/>
          </a:prstGeom>
          <a:ln w="12700">
            <a:solidFill>
              <a:srgbClr val="8C1515"/>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8486775" y="3739895"/>
            <a:ext cx="77152" cy="173736"/>
          </a:xfrm>
          <a:prstGeom prst="line">
            <a:avLst/>
          </a:prstGeom>
          <a:ln w="12700">
            <a:solidFill>
              <a:srgbClr val="8C1515"/>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8525351" y="3566159"/>
            <a:ext cx="38576" cy="173736"/>
          </a:xfrm>
          <a:prstGeom prst="line">
            <a:avLst/>
          </a:prstGeom>
          <a:ln w="12700">
            <a:solidFill>
              <a:srgbClr val="8C1515"/>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8563927" y="3566159"/>
            <a:ext cx="38576" cy="173736"/>
          </a:xfrm>
          <a:prstGeom prst="line">
            <a:avLst/>
          </a:prstGeom>
          <a:ln w="12700">
            <a:solidFill>
              <a:srgbClr val="8C1515"/>
            </a:solidFill>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5440680" y="4526280"/>
            <a:ext cx="1600200" cy="457200"/>
          </a:xfrm>
          <a:prstGeom prst="rect">
            <a:avLst/>
          </a:prstGeom>
          <a:noFill/>
        </p:spPr>
        <p:txBody>
          <a:bodyPr wrap="square" lIns="45720" tIns="0" rIns="45720" bIns="0" anchor="t"/>
          <a:lstStyle/>
          <a:p>
            <a:pPr algn="ctr"/>
            <a:r>
              <a:rPr sz="850" b="1" i="0">
                <a:solidFill>
                  <a:srgbClr val="2E2D29"/>
                </a:solidFill>
                <a:latin typeface="Calibri"/>
              </a:rPr>
              <a:t>Before</a:t>
            </a:r>
          </a:p>
          <a:p>
            <a:pPr algn="ctr"/>
            <a:r>
              <a:rPr sz="750" b="0" i="0">
                <a:solidFill>
                  <a:srgbClr val="6B6965"/>
                </a:solidFill>
                <a:latin typeface="Calibri"/>
              </a:rPr>
              <a:t>two-branch RRI, 1 LPA + 1 RPA leg</a:t>
            </a:r>
          </a:p>
        </p:txBody>
      </p:sp>
      <p:sp>
        <p:nvSpPr>
          <p:cNvPr id="72" name="TextBox 71"/>
          <p:cNvSpPr txBox="1"/>
          <p:nvPr/>
        </p:nvSpPr>
        <p:spPr>
          <a:xfrm>
            <a:off x="7223760" y="4526280"/>
            <a:ext cx="1600200" cy="457200"/>
          </a:xfrm>
          <a:prstGeom prst="rect">
            <a:avLst/>
          </a:prstGeom>
          <a:noFill/>
        </p:spPr>
        <p:txBody>
          <a:bodyPr wrap="square" lIns="45720" tIns="0" rIns="45720" bIns="0" anchor="t"/>
          <a:lstStyle/>
          <a:p>
            <a:pPr algn="ctr"/>
            <a:r>
              <a:rPr sz="850" b="1" i="0">
                <a:solidFill>
                  <a:srgbClr val="8C1515"/>
                </a:solidFill>
                <a:latin typeface="Calibri"/>
              </a:rPr>
              <a:t>Now</a:t>
            </a:r>
          </a:p>
          <a:p>
            <a:pPr algn="ctr"/>
            <a:r>
              <a:rPr sz="750" b="0" i="0">
                <a:solidFill>
                  <a:srgbClr val="6B6965"/>
                </a:solidFill>
                <a:latin typeface="Calibri"/>
              </a:rPr>
              <a:t>full branched network, every outlet</a:t>
            </a:r>
          </a:p>
        </p:txBody>
      </p:sp>
      <p:sp>
        <p:nvSpPr>
          <p:cNvPr id="73" name="TextBox 72"/>
          <p:cNvSpPr txBox="1"/>
          <p:nvPr/>
        </p:nvSpPr>
        <p:spPr>
          <a:xfrm>
            <a:off x="2011680" y="5376672"/>
            <a:ext cx="6812280" cy="201168"/>
          </a:xfrm>
          <a:prstGeom prst="rect">
            <a:avLst/>
          </a:prstGeom>
          <a:noFill/>
        </p:spPr>
        <p:txBody>
          <a:bodyPr wrap="square" lIns="27432" tIns="0" rIns="27432" bIns="0" anchor="t"/>
          <a:lstStyle/>
          <a:p>
            <a:pPr algn="l"/>
            <a:r>
              <a:rPr sz="700" b="0" i="1">
                <a:solidFill>
                  <a:srgbClr val="6B6965"/>
                </a:solidFill>
                <a:latin typeface="Calibri"/>
              </a:rPr>
              <a:t>TST-STAN-5, final cycle. Fixed resistance = 1000 dyn/cm⁵, zero distal pressure (slides 28 and 30).</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lang="en-US" sz="2200" dirty="0">
                <a:solidFill>
                  <a:srgbClr val="8C1515"/>
                </a:solidFill>
                <a:latin typeface="Georgia"/>
              </a:rPr>
              <a:t>Outlet BCs are mapped 0D → 3D through the centerline</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COMPLETED</a:t>
            </a:r>
          </a:p>
        </p:txBody>
      </p:sp>
      <p:sp>
        <p:nvSpPr>
          <p:cNvPr id="19" name="Rectangle 18"/>
          <p:cNvSpPr/>
          <p:nvPr/>
        </p:nvSpPr>
        <p:spPr>
          <a:xfrm>
            <a:off x="320040" y="1325880"/>
            <a:ext cx="3749039" cy="292608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cxnSp>
        <p:nvCxnSpPr>
          <p:cNvPr id="20" name="Connector 19"/>
          <p:cNvCxnSpPr/>
          <p:nvPr/>
        </p:nvCxnSpPr>
        <p:spPr>
          <a:xfrm flipV="1">
            <a:off x="2194560" y="3154680"/>
            <a:ext cx="0" cy="685800"/>
          </a:xfrm>
          <a:prstGeom prst="line">
            <a:avLst/>
          </a:prstGeom>
          <a:ln w="38100">
            <a:solidFill>
              <a:srgbClr val="4A4845"/>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1280160" y="2697480"/>
            <a:ext cx="914400" cy="457200"/>
          </a:xfrm>
          <a:prstGeom prst="line">
            <a:avLst/>
          </a:prstGeom>
          <a:ln w="31750">
            <a:solidFill>
              <a:srgbClr val="4A4845"/>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194560" y="2697480"/>
            <a:ext cx="914400" cy="457200"/>
          </a:xfrm>
          <a:prstGeom prst="line">
            <a:avLst/>
          </a:prstGeom>
          <a:ln w="31750">
            <a:solidFill>
              <a:srgbClr val="4A484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777240" y="2148840"/>
            <a:ext cx="502920" cy="548640"/>
          </a:xfrm>
          <a:prstGeom prst="line">
            <a:avLst/>
          </a:prstGeom>
          <a:ln w="22225">
            <a:solidFill>
              <a:srgbClr val="4A4845"/>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280160" y="2011680"/>
            <a:ext cx="365760" cy="685800"/>
          </a:xfrm>
          <a:prstGeom prst="line">
            <a:avLst/>
          </a:prstGeom>
          <a:ln w="22225">
            <a:solidFill>
              <a:srgbClr val="4A4845"/>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2743200" y="2011680"/>
            <a:ext cx="365760" cy="685800"/>
          </a:xfrm>
          <a:prstGeom prst="line">
            <a:avLst/>
          </a:prstGeom>
          <a:ln w="22225">
            <a:solidFill>
              <a:srgbClr val="4A4845"/>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108960" y="2148840"/>
            <a:ext cx="502920" cy="548640"/>
          </a:xfrm>
          <a:prstGeom prst="line">
            <a:avLst/>
          </a:prstGeom>
          <a:ln w="22225">
            <a:solidFill>
              <a:srgbClr val="4A4845"/>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240280" y="3429000"/>
            <a:ext cx="914400" cy="182880"/>
          </a:xfrm>
          <a:prstGeom prst="rect">
            <a:avLst/>
          </a:prstGeom>
          <a:noFill/>
        </p:spPr>
        <p:txBody>
          <a:bodyPr wrap="square" lIns="0" tIns="0" rIns="0" bIns="0" anchor="t"/>
          <a:lstStyle/>
          <a:p>
            <a:pPr algn="l"/>
            <a:r>
              <a:rPr sz="700" b="0" i="0">
                <a:solidFill>
                  <a:srgbClr val="6B6965"/>
                </a:solidFill>
                <a:latin typeface="Calibri"/>
              </a:rPr>
              <a:t>branch 0 · MPA</a:t>
            </a:r>
          </a:p>
        </p:txBody>
      </p:sp>
      <p:sp>
        <p:nvSpPr>
          <p:cNvPr id="28" name="TextBox 27"/>
          <p:cNvSpPr txBox="1"/>
          <p:nvPr/>
        </p:nvSpPr>
        <p:spPr>
          <a:xfrm>
            <a:off x="868680" y="2971800"/>
            <a:ext cx="822960" cy="182880"/>
          </a:xfrm>
          <a:prstGeom prst="rect">
            <a:avLst/>
          </a:prstGeom>
          <a:noFill/>
        </p:spPr>
        <p:txBody>
          <a:bodyPr wrap="square" lIns="0" tIns="0" rIns="0" bIns="0" anchor="t"/>
          <a:lstStyle/>
          <a:p>
            <a:pPr algn="l"/>
            <a:r>
              <a:rPr sz="700" b="0" i="0">
                <a:solidFill>
                  <a:srgbClr val="6B6965"/>
                </a:solidFill>
                <a:latin typeface="Calibri"/>
              </a:rPr>
              <a:t>branch 2 · LPA</a:t>
            </a:r>
          </a:p>
        </p:txBody>
      </p:sp>
      <p:sp>
        <p:nvSpPr>
          <p:cNvPr id="29" name="TextBox 28"/>
          <p:cNvSpPr txBox="1"/>
          <p:nvPr/>
        </p:nvSpPr>
        <p:spPr>
          <a:xfrm>
            <a:off x="2926080" y="2971800"/>
            <a:ext cx="914400" cy="182880"/>
          </a:xfrm>
          <a:prstGeom prst="rect">
            <a:avLst/>
          </a:prstGeom>
          <a:noFill/>
        </p:spPr>
        <p:txBody>
          <a:bodyPr wrap="square" lIns="0" tIns="0" rIns="0" bIns="0" anchor="t"/>
          <a:lstStyle/>
          <a:p>
            <a:pPr algn="l"/>
            <a:r>
              <a:rPr sz="700" b="0" i="0">
                <a:solidFill>
                  <a:srgbClr val="6B6965"/>
                </a:solidFill>
                <a:latin typeface="Calibri"/>
              </a:rPr>
              <a:t>branch 1 · RPA</a:t>
            </a:r>
          </a:p>
        </p:txBody>
      </p:sp>
      <p:sp>
        <p:nvSpPr>
          <p:cNvPr id="30" name="Oval 29"/>
          <p:cNvSpPr/>
          <p:nvPr/>
        </p:nvSpPr>
        <p:spPr>
          <a:xfrm>
            <a:off x="557784" y="1938528"/>
            <a:ext cx="310896" cy="310896"/>
          </a:xfrm>
          <a:prstGeom prst="ellipse">
            <a:avLst/>
          </a:prstGeom>
          <a:noFill/>
          <a:ln w="19050">
            <a:solidFill>
              <a:srgbClr val="E983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Oval 30"/>
          <p:cNvSpPr/>
          <p:nvPr/>
        </p:nvSpPr>
        <p:spPr>
          <a:xfrm>
            <a:off x="681228" y="2061972"/>
            <a:ext cx="64008" cy="64008"/>
          </a:xfrm>
          <a:prstGeom prst="ellipse">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Oval 31"/>
          <p:cNvSpPr/>
          <p:nvPr/>
        </p:nvSpPr>
        <p:spPr>
          <a:xfrm>
            <a:off x="745236" y="2116836"/>
            <a:ext cx="64008" cy="64008"/>
          </a:xfrm>
          <a:prstGeom prst="ellipse">
            <a:avLst/>
          </a:prstGeom>
          <a:solidFill>
            <a:srgbClr val="4A4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Oval 32"/>
          <p:cNvSpPr/>
          <p:nvPr/>
        </p:nvSpPr>
        <p:spPr>
          <a:xfrm>
            <a:off x="1536192" y="1783080"/>
            <a:ext cx="310896" cy="310896"/>
          </a:xfrm>
          <a:prstGeom prst="ellipse">
            <a:avLst/>
          </a:prstGeom>
          <a:noFill/>
          <a:ln w="19050">
            <a:solidFill>
              <a:srgbClr val="E983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1659636" y="1906524"/>
            <a:ext cx="64008" cy="64008"/>
          </a:xfrm>
          <a:prstGeom prst="ellipse">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Oval 34"/>
          <p:cNvSpPr/>
          <p:nvPr/>
        </p:nvSpPr>
        <p:spPr>
          <a:xfrm>
            <a:off x="1613916" y="1979676"/>
            <a:ext cx="64008" cy="64008"/>
          </a:xfrm>
          <a:prstGeom prst="ellipse">
            <a:avLst/>
          </a:prstGeom>
          <a:solidFill>
            <a:srgbClr val="4A4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Oval 35"/>
          <p:cNvSpPr/>
          <p:nvPr/>
        </p:nvSpPr>
        <p:spPr>
          <a:xfrm>
            <a:off x="2542032" y="1783080"/>
            <a:ext cx="310896" cy="310896"/>
          </a:xfrm>
          <a:prstGeom prst="ellipse">
            <a:avLst/>
          </a:prstGeom>
          <a:noFill/>
          <a:ln w="19050">
            <a:solidFill>
              <a:srgbClr val="E983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Oval 36"/>
          <p:cNvSpPr/>
          <p:nvPr/>
        </p:nvSpPr>
        <p:spPr>
          <a:xfrm>
            <a:off x="2665476" y="1906524"/>
            <a:ext cx="64008" cy="64008"/>
          </a:xfrm>
          <a:prstGeom prst="ellipse">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Oval 37"/>
          <p:cNvSpPr/>
          <p:nvPr/>
        </p:nvSpPr>
        <p:spPr>
          <a:xfrm>
            <a:off x="2711196" y="1979676"/>
            <a:ext cx="64008" cy="64008"/>
          </a:xfrm>
          <a:prstGeom prst="ellipse">
            <a:avLst/>
          </a:prstGeom>
          <a:solidFill>
            <a:srgbClr val="4A4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Oval 38"/>
          <p:cNvSpPr/>
          <p:nvPr/>
        </p:nvSpPr>
        <p:spPr>
          <a:xfrm>
            <a:off x="3520440" y="1938528"/>
            <a:ext cx="310896" cy="310896"/>
          </a:xfrm>
          <a:prstGeom prst="ellipse">
            <a:avLst/>
          </a:prstGeom>
          <a:noFill/>
          <a:ln w="19050">
            <a:solidFill>
              <a:srgbClr val="E983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Oval 39"/>
          <p:cNvSpPr/>
          <p:nvPr/>
        </p:nvSpPr>
        <p:spPr>
          <a:xfrm>
            <a:off x="3643884" y="2061972"/>
            <a:ext cx="64008" cy="64008"/>
          </a:xfrm>
          <a:prstGeom prst="ellipse">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Oval 40"/>
          <p:cNvSpPr/>
          <p:nvPr/>
        </p:nvSpPr>
        <p:spPr>
          <a:xfrm>
            <a:off x="3579876" y="2116836"/>
            <a:ext cx="64008" cy="64008"/>
          </a:xfrm>
          <a:prstGeom prst="ellipse">
            <a:avLst/>
          </a:prstGeom>
          <a:solidFill>
            <a:srgbClr val="4A4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cxnSp>
        <p:nvCxnSpPr>
          <p:cNvPr id="42" name="Connector 41"/>
          <p:cNvCxnSpPr/>
          <p:nvPr/>
        </p:nvCxnSpPr>
        <p:spPr>
          <a:xfrm flipH="1">
            <a:off x="1645920" y="1938528"/>
            <a:ext cx="45720" cy="73152"/>
          </a:xfrm>
          <a:prstGeom prst="line">
            <a:avLst/>
          </a:prstGeom>
          <a:ln w="15875">
            <a:solidFill>
              <a:srgbClr val="8C1515"/>
            </a:solidFill>
            <a:prstDash val="sysDot"/>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457200" y="3977639"/>
            <a:ext cx="3566160" cy="201168"/>
          </a:xfrm>
          <a:prstGeom prst="rect">
            <a:avLst/>
          </a:prstGeom>
          <a:noFill/>
        </p:spPr>
        <p:txBody>
          <a:bodyPr wrap="square" lIns="0" tIns="0" rIns="0" bIns="0" anchor="t"/>
          <a:lstStyle/>
          <a:p>
            <a:pPr algn="l"/>
            <a:r>
              <a:rPr sz="800" b="0" i="0">
                <a:solidFill>
                  <a:srgbClr val="E98300"/>
                </a:solidFill>
                <a:latin typeface="Calibri"/>
              </a:rPr>
              <a:t>● </a:t>
            </a:r>
            <a:r>
              <a:rPr sz="750" b="0" i="0">
                <a:solidFill>
                  <a:srgbClr val="6B6965"/>
                </a:solidFill>
                <a:latin typeface="Calibri"/>
              </a:rPr>
              <a:t>cap centroid   </a:t>
            </a:r>
            <a:r>
              <a:rPr sz="800" b="0" i="0">
                <a:solidFill>
                  <a:srgbClr val="4A4845"/>
                </a:solidFill>
                <a:latin typeface="Calibri"/>
              </a:rPr>
              <a:t>● </a:t>
            </a:r>
            <a:r>
              <a:rPr sz="750" b="0" i="0">
                <a:solidFill>
                  <a:srgbClr val="6B6965"/>
                </a:solidFill>
                <a:latin typeface="Calibri"/>
              </a:rPr>
              <a:t>centerline endpoint   </a:t>
            </a:r>
            <a:r>
              <a:rPr sz="800" b="0" i="0">
                <a:solidFill>
                  <a:srgbClr val="E98300"/>
                </a:solidFill>
                <a:latin typeface="Calibri"/>
              </a:rPr>
              <a:t>◯ </a:t>
            </a:r>
            <a:r>
              <a:rPr sz="750" b="0" i="0">
                <a:solidFill>
                  <a:srgbClr val="6B6965"/>
                </a:solidFill>
                <a:latin typeface="Calibri"/>
              </a:rPr>
              <a:t>3D cap</a:t>
            </a:r>
          </a:p>
        </p:txBody>
      </p:sp>
      <p:sp>
        <p:nvSpPr>
          <p:cNvPr id="44" name="Rounded Rectangle 43"/>
          <p:cNvSpPr/>
          <p:nvPr/>
        </p:nvSpPr>
        <p:spPr>
          <a:xfrm>
            <a:off x="777240" y="1426464"/>
            <a:ext cx="2834640" cy="274320"/>
          </a:xfrm>
          <a:prstGeom prst="roundRect">
            <a:avLst>
              <a:gd name="adj" fmla="val 12000"/>
            </a:avLst>
          </a:prstGeom>
          <a:solidFill>
            <a:srgbClr val="FFFFFF"/>
          </a:solidFill>
          <a:ln w="12700">
            <a:solidFill>
              <a:srgbClr val="8C1515"/>
            </a:solidFill>
          </a:ln>
          <a:effectLst/>
        </p:spPr>
        <p:style>
          <a:lnRef idx="1">
            <a:schemeClr val="accent1"/>
          </a:lnRef>
          <a:fillRef idx="3">
            <a:schemeClr val="accent1"/>
          </a:fillRef>
          <a:effectRef idx="2">
            <a:schemeClr val="accent1"/>
          </a:effectRef>
          <a:fontRef idx="minor">
            <a:schemeClr val="lt1"/>
          </a:fontRef>
        </p:style>
        <p:txBody>
          <a:bodyPr wrap="square" lIns="45720" tIns="0" rIns="36576" bIns="0" rtlCol="0" anchor="ctr"/>
          <a:lstStyle/>
          <a:p>
            <a:pPr algn="l"/>
            <a:r>
              <a:rPr sz="750" b="1" i="0">
                <a:solidFill>
                  <a:srgbClr val="8C1515"/>
                </a:solidFill>
                <a:latin typeface="Calibri"/>
              </a:rPr>
              <a:t>e.g. lpa_02 cap</a:t>
            </a:r>
            <a:r>
              <a:rPr sz="700" b="0" i="0">
                <a:solidFill>
                  <a:srgbClr val="2E2D29"/>
                </a:solidFill>
                <a:latin typeface="Calibri"/>
              </a:rPr>
              <a:t>  →  branch4_seg1  →  RESISTANCE_4</a:t>
            </a:r>
          </a:p>
        </p:txBody>
      </p:sp>
      <p:cxnSp>
        <p:nvCxnSpPr>
          <p:cNvPr id="45" name="Connector 44"/>
          <p:cNvCxnSpPr/>
          <p:nvPr/>
        </p:nvCxnSpPr>
        <p:spPr>
          <a:xfrm flipV="1">
            <a:off x="1691640" y="1700784"/>
            <a:ext cx="0" cy="82296"/>
          </a:xfrm>
          <a:prstGeom prst="line">
            <a:avLst/>
          </a:prstGeom>
          <a:ln w="9525">
            <a:solidFill>
              <a:srgbClr val="8C1515"/>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4343400" y="1298448"/>
            <a:ext cx="4480560" cy="219456"/>
          </a:xfrm>
          <a:prstGeom prst="rect">
            <a:avLst/>
          </a:prstGeom>
          <a:noFill/>
        </p:spPr>
        <p:txBody>
          <a:bodyPr wrap="square" lIns="0" tIns="0" rIns="0" bIns="0" anchor="t"/>
          <a:lstStyle/>
          <a:p>
            <a:pPr algn="l"/>
            <a:r>
              <a:rPr sz="1000" b="1" i="0">
                <a:solidFill>
                  <a:srgbClr val="8C1515"/>
                </a:solidFill>
                <a:latin typeface="Calibri"/>
              </a:rPr>
              <a:t>Matching, per cap</a:t>
            </a:r>
          </a:p>
        </p:txBody>
      </p:sp>
      <p:sp>
        <p:nvSpPr>
          <p:cNvPr id="47" name="Oval 46"/>
          <p:cNvSpPr/>
          <p:nvPr/>
        </p:nvSpPr>
        <p:spPr>
          <a:xfrm>
            <a:off x="4352544" y="1682495"/>
            <a:ext cx="384048" cy="384048"/>
          </a:xfrm>
          <a:prstGeom prst="ellipse">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200" b="1" i="0">
                <a:solidFill>
                  <a:srgbClr val="FFFFFF"/>
                </a:solidFill>
                <a:latin typeface="Calibri"/>
              </a:rPr>
              <a:t>1</a:t>
            </a:r>
          </a:p>
        </p:txBody>
      </p:sp>
      <p:sp>
        <p:nvSpPr>
          <p:cNvPr id="48" name="TextBox 47"/>
          <p:cNvSpPr txBox="1"/>
          <p:nvPr/>
        </p:nvSpPr>
        <p:spPr>
          <a:xfrm>
            <a:off x="4892040" y="1645920"/>
            <a:ext cx="3931920" cy="457200"/>
          </a:xfrm>
          <a:prstGeom prst="rect">
            <a:avLst/>
          </a:prstGeom>
          <a:noFill/>
        </p:spPr>
        <p:txBody>
          <a:bodyPr wrap="square" lIns="0" tIns="0" rIns="0" bIns="0" anchor="ctr"/>
          <a:lstStyle/>
          <a:p>
            <a:pPr algn="l"/>
            <a:r>
              <a:rPr sz="1100" b="1" i="0">
                <a:solidFill>
                  <a:srgbClr val="2E2D29"/>
                </a:solidFill>
                <a:latin typeface="Calibri"/>
              </a:rPr>
              <a:t>Cap centroid</a:t>
            </a:r>
          </a:p>
          <a:p>
            <a:pPr algn="l"/>
            <a:r>
              <a:rPr sz="900" b="0" i="0">
                <a:solidFill>
                  <a:srgbClr val="6B6965"/>
                </a:solidFill>
                <a:latin typeface="Calibri"/>
              </a:rPr>
              <a:t>area-weighted centroid of the 3D cap</a:t>
            </a:r>
          </a:p>
        </p:txBody>
      </p:sp>
      <p:cxnSp>
        <p:nvCxnSpPr>
          <p:cNvPr id="49" name="Connector 48"/>
          <p:cNvCxnSpPr/>
          <p:nvPr/>
        </p:nvCxnSpPr>
        <p:spPr>
          <a:xfrm>
            <a:off x="4544568" y="2075688"/>
            <a:ext cx="0" cy="274320"/>
          </a:xfrm>
          <a:prstGeom prst="line">
            <a:avLst/>
          </a:prstGeom>
          <a:ln w="19050">
            <a:solidFill>
              <a:srgbClr val="D9D7D4"/>
            </a:solidFill>
          </a:ln>
        </p:spPr>
        <p:style>
          <a:lnRef idx="2">
            <a:schemeClr val="accent1"/>
          </a:lnRef>
          <a:fillRef idx="0">
            <a:schemeClr val="accent1"/>
          </a:fillRef>
          <a:effectRef idx="1">
            <a:schemeClr val="accent1"/>
          </a:effectRef>
          <a:fontRef idx="minor">
            <a:schemeClr val="tx1"/>
          </a:fontRef>
        </p:style>
      </p:cxnSp>
      <p:sp>
        <p:nvSpPr>
          <p:cNvPr id="50" name="Oval 49"/>
          <p:cNvSpPr/>
          <p:nvPr/>
        </p:nvSpPr>
        <p:spPr>
          <a:xfrm>
            <a:off x="4352544" y="2359152"/>
            <a:ext cx="384048" cy="384048"/>
          </a:xfrm>
          <a:prstGeom prst="ellipse">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200" b="1" i="0">
                <a:solidFill>
                  <a:srgbClr val="FFFFFF"/>
                </a:solidFill>
                <a:latin typeface="Calibri"/>
              </a:rPr>
              <a:t>2</a:t>
            </a:r>
          </a:p>
        </p:txBody>
      </p:sp>
      <p:sp>
        <p:nvSpPr>
          <p:cNvPr id="51" name="TextBox 50"/>
          <p:cNvSpPr txBox="1"/>
          <p:nvPr/>
        </p:nvSpPr>
        <p:spPr>
          <a:xfrm>
            <a:off x="4892040" y="2322576"/>
            <a:ext cx="3931920" cy="457200"/>
          </a:xfrm>
          <a:prstGeom prst="rect">
            <a:avLst/>
          </a:prstGeom>
          <a:noFill/>
        </p:spPr>
        <p:txBody>
          <a:bodyPr wrap="square" lIns="0" tIns="0" rIns="0" bIns="0" anchor="ctr"/>
          <a:lstStyle/>
          <a:p>
            <a:pPr algn="l"/>
            <a:r>
              <a:rPr sz="1100" b="1" i="0">
                <a:solidFill>
                  <a:srgbClr val="2E2D29"/>
                </a:solidFill>
                <a:latin typeface="Calibri"/>
              </a:rPr>
              <a:t>Nearest endpoint</a:t>
            </a:r>
          </a:p>
          <a:p>
            <a:pPr algn="l"/>
            <a:r>
              <a:rPr sz="900" b="0" i="0">
                <a:solidFill>
                  <a:srgbClr val="6B6965"/>
                </a:solidFill>
                <a:latin typeface="Calibri"/>
              </a:rPr>
              <a:t>closest centerline outlet endpoint</a:t>
            </a:r>
          </a:p>
        </p:txBody>
      </p:sp>
      <p:cxnSp>
        <p:nvCxnSpPr>
          <p:cNvPr id="52" name="Connector 51"/>
          <p:cNvCxnSpPr/>
          <p:nvPr/>
        </p:nvCxnSpPr>
        <p:spPr>
          <a:xfrm>
            <a:off x="4544568" y="2752344"/>
            <a:ext cx="0" cy="274320"/>
          </a:xfrm>
          <a:prstGeom prst="line">
            <a:avLst/>
          </a:prstGeom>
          <a:ln w="19050">
            <a:solidFill>
              <a:srgbClr val="D9D7D4"/>
            </a:solidFill>
          </a:ln>
        </p:spPr>
        <p:style>
          <a:lnRef idx="2">
            <a:schemeClr val="accent1"/>
          </a:lnRef>
          <a:fillRef idx="0">
            <a:schemeClr val="accent1"/>
          </a:fillRef>
          <a:effectRef idx="1">
            <a:schemeClr val="accent1"/>
          </a:effectRef>
          <a:fontRef idx="minor">
            <a:schemeClr val="tx1"/>
          </a:fontRef>
        </p:style>
      </p:cxnSp>
      <p:sp>
        <p:nvSpPr>
          <p:cNvPr id="53" name="Oval 52"/>
          <p:cNvSpPr/>
          <p:nvPr/>
        </p:nvSpPr>
        <p:spPr>
          <a:xfrm>
            <a:off x="4352544" y="3035808"/>
            <a:ext cx="384048" cy="384048"/>
          </a:xfrm>
          <a:prstGeom prst="ellipse">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200" b="1" i="0">
                <a:solidFill>
                  <a:srgbClr val="FFFFFF"/>
                </a:solidFill>
                <a:latin typeface="Calibri"/>
              </a:rPr>
              <a:t>3</a:t>
            </a:r>
          </a:p>
        </p:txBody>
      </p:sp>
      <p:sp>
        <p:nvSpPr>
          <p:cNvPr id="54" name="TextBox 53"/>
          <p:cNvSpPr txBox="1"/>
          <p:nvPr/>
        </p:nvSpPr>
        <p:spPr>
          <a:xfrm>
            <a:off x="4892040" y="2999232"/>
            <a:ext cx="3931920" cy="457200"/>
          </a:xfrm>
          <a:prstGeom prst="rect">
            <a:avLst/>
          </a:prstGeom>
          <a:noFill/>
        </p:spPr>
        <p:txBody>
          <a:bodyPr wrap="square" lIns="0" tIns="0" rIns="0" bIns="0" anchor="ctr"/>
          <a:lstStyle/>
          <a:p>
            <a:pPr algn="l"/>
            <a:r>
              <a:rPr sz="1100" b="1" i="0">
                <a:solidFill>
                  <a:srgbClr val="2E2D29"/>
                </a:solidFill>
                <a:latin typeface="Calibri"/>
              </a:rPr>
              <a:t>Branch → 0D vessel</a:t>
            </a:r>
          </a:p>
          <a:p>
            <a:pPr algn="l"/>
            <a:r>
              <a:rPr sz="900" b="0" i="0">
                <a:solidFill>
                  <a:srgbClr val="6B6965"/>
                </a:solidFill>
                <a:latin typeface="Calibri"/>
              </a:rPr>
              <a:t>BranchId N → vessel branchN_segK</a:t>
            </a:r>
          </a:p>
        </p:txBody>
      </p:sp>
      <p:cxnSp>
        <p:nvCxnSpPr>
          <p:cNvPr id="55" name="Connector 54"/>
          <p:cNvCxnSpPr/>
          <p:nvPr/>
        </p:nvCxnSpPr>
        <p:spPr>
          <a:xfrm>
            <a:off x="4544568" y="3429000"/>
            <a:ext cx="0" cy="274320"/>
          </a:xfrm>
          <a:prstGeom prst="line">
            <a:avLst/>
          </a:prstGeom>
          <a:ln w="19050">
            <a:solidFill>
              <a:srgbClr val="D9D7D4"/>
            </a:solidFill>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4352544" y="3712463"/>
            <a:ext cx="384048" cy="384048"/>
          </a:xfrm>
          <a:prstGeom prst="ellipse">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200" b="1" i="0">
                <a:solidFill>
                  <a:srgbClr val="FFFFFF"/>
                </a:solidFill>
                <a:latin typeface="Calibri"/>
              </a:rPr>
              <a:t>4</a:t>
            </a:r>
          </a:p>
        </p:txBody>
      </p:sp>
      <p:sp>
        <p:nvSpPr>
          <p:cNvPr id="57" name="TextBox 56"/>
          <p:cNvSpPr txBox="1"/>
          <p:nvPr/>
        </p:nvSpPr>
        <p:spPr>
          <a:xfrm>
            <a:off x="4892040" y="3675887"/>
            <a:ext cx="3931920" cy="457200"/>
          </a:xfrm>
          <a:prstGeom prst="rect">
            <a:avLst/>
          </a:prstGeom>
          <a:noFill/>
        </p:spPr>
        <p:txBody>
          <a:bodyPr wrap="square" lIns="0" tIns="0" rIns="0" bIns="0" anchor="ctr"/>
          <a:lstStyle/>
          <a:p>
            <a:pPr algn="l"/>
            <a:r>
              <a:rPr sz="1100" b="1" i="0">
                <a:solidFill>
                  <a:srgbClr val="2E2D29"/>
                </a:solidFill>
                <a:latin typeface="Calibri"/>
              </a:rPr>
              <a:t>Outlet BC</a:t>
            </a:r>
          </a:p>
          <a:p>
            <a:pPr algn="l"/>
            <a:r>
              <a:rPr sz="900" b="0" i="0">
                <a:solidFill>
                  <a:srgbClr val="6B6965"/>
                </a:solidFill>
                <a:latin typeface="Calibri"/>
              </a:rPr>
              <a:t>that vessel's outlet gets this cap's tree</a:t>
            </a:r>
          </a:p>
        </p:txBody>
      </p:sp>
      <p:sp>
        <p:nvSpPr>
          <p:cNvPr id="58" name="TextBox 57"/>
          <p:cNvSpPr txBox="1"/>
          <p:nvPr/>
        </p:nvSpPr>
        <p:spPr>
          <a:xfrm>
            <a:off x="320040" y="4434840"/>
            <a:ext cx="1188720" cy="566928"/>
          </a:xfrm>
          <a:prstGeom prst="rect">
            <a:avLst/>
          </a:prstGeom>
          <a:noFill/>
        </p:spPr>
        <p:txBody>
          <a:bodyPr wrap="square" lIns="0" tIns="0" rIns="0" bIns="0" anchor="ctr"/>
          <a:lstStyle/>
          <a:p>
            <a:pPr algn="l"/>
            <a:r>
              <a:rPr sz="1000" b="1" i="0">
                <a:solidFill>
                  <a:srgbClr val="8C1515"/>
                </a:solidFill>
                <a:latin typeface="Calibri"/>
              </a:rPr>
              <a:t>Tree sizing</a:t>
            </a:r>
          </a:p>
          <a:p>
            <a:pPr algn="l"/>
            <a:r>
              <a:rPr sz="800" b="0" i="0">
                <a:solidFill>
                  <a:srgbClr val="6B6965"/>
                </a:solidFill>
                <a:latin typeface="Calibri"/>
              </a:rPr>
              <a:t>at each outlet</a:t>
            </a:r>
          </a:p>
        </p:txBody>
      </p:sp>
      <p:sp>
        <p:nvSpPr>
          <p:cNvPr id="59" name="Rectangle 58"/>
          <p:cNvSpPr/>
          <p:nvPr/>
        </p:nvSpPr>
        <p:spPr>
          <a:xfrm>
            <a:off x="1554480" y="4434840"/>
            <a:ext cx="3383280" cy="56692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Oval 59"/>
          <p:cNvSpPr/>
          <p:nvPr/>
        </p:nvSpPr>
        <p:spPr>
          <a:xfrm>
            <a:off x="1691639" y="4626864"/>
            <a:ext cx="182880" cy="182880"/>
          </a:xfrm>
          <a:prstGeom prst="ellipse">
            <a:avLst/>
          </a:prstGeom>
          <a:solidFill>
            <a:srgbClr val="6B69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Oval 60"/>
          <p:cNvSpPr/>
          <p:nvPr/>
        </p:nvSpPr>
        <p:spPr>
          <a:xfrm>
            <a:off x="1965960" y="4626864"/>
            <a:ext cx="182880" cy="182880"/>
          </a:xfrm>
          <a:prstGeom prst="ellipse">
            <a:avLst/>
          </a:prstGeom>
          <a:solidFill>
            <a:srgbClr val="6B69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2" name="Oval 61"/>
          <p:cNvSpPr/>
          <p:nvPr/>
        </p:nvSpPr>
        <p:spPr>
          <a:xfrm>
            <a:off x="2240279" y="4626864"/>
            <a:ext cx="182880" cy="182880"/>
          </a:xfrm>
          <a:prstGeom prst="ellipse">
            <a:avLst/>
          </a:prstGeom>
          <a:solidFill>
            <a:srgbClr val="6B69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Oval 62"/>
          <p:cNvSpPr/>
          <p:nvPr/>
        </p:nvSpPr>
        <p:spPr>
          <a:xfrm>
            <a:off x="2514599" y="4626864"/>
            <a:ext cx="182880" cy="182880"/>
          </a:xfrm>
          <a:prstGeom prst="ellipse">
            <a:avLst/>
          </a:prstGeom>
          <a:solidFill>
            <a:srgbClr val="6B69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4" name="Oval 63"/>
          <p:cNvSpPr/>
          <p:nvPr/>
        </p:nvSpPr>
        <p:spPr>
          <a:xfrm>
            <a:off x="2788920" y="4626864"/>
            <a:ext cx="182880" cy="182880"/>
          </a:xfrm>
          <a:prstGeom prst="ellipse">
            <a:avLst/>
          </a:prstGeom>
          <a:solidFill>
            <a:srgbClr val="6B69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Box 64"/>
          <p:cNvSpPr txBox="1"/>
          <p:nvPr/>
        </p:nvSpPr>
        <p:spPr>
          <a:xfrm>
            <a:off x="3200400" y="4434840"/>
            <a:ext cx="1691640" cy="566928"/>
          </a:xfrm>
          <a:prstGeom prst="rect">
            <a:avLst/>
          </a:prstGeom>
          <a:noFill/>
        </p:spPr>
        <p:txBody>
          <a:bodyPr wrap="square" lIns="0" tIns="0" rIns="45720" bIns="0" anchor="ctr"/>
          <a:lstStyle/>
          <a:p>
            <a:pPr algn="l"/>
            <a:r>
              <a:rPr sz="850" b="1" i="0">
                <a:solidFill>
                  <a:srgbClr val="2E2D29"/>
                </a:solidFill>
                <a:latin typeface="Calibri"/>
              </a:rPr>
              <a:t>Before</a:t>
            </a:r>
          </a:p>
          <a:p>
            <a:pPr algn="l"/>
            <a:r>
              <a:rPr sz="750" b="0" i="0">
                <a:solidFill>
                  <a:srgbClr val="6B6965"/>
                </a:solidFill>
                <a:latin typeface="Calibri"/>
              </a:rPr>
              <a:t>1 LPA + 1 RPA tree, mean diameter</a:t>
            </a:r>
          </a:p>
        </p:txBody>
      </p:sp>
      <p:cxnSp>
        <p:nvCxnSpPr>
          <p:cNvPr id="66" name="Connector 65"/>
          <p:cNvCxnSpPr/>
          <p:nvPr/>
        </p:nvCxnSpPr>
        <p:spPr>
          <a:xfrm>
            <a:off x="4983480" y="4718303"/>
            <a:ext cx="228600" cy="0"/>
          </a:xfrm>
          <a:prstGeom prst="line">
            <a:avLst/>
          </a:prstGeom>
          <a:ln w="19050">
            <a:solidFill>
              <a:srgbClr val="6B69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5257800" y="4434840"/>
            <a:ext cx="3566160" cy="566928"/>
          </a:xfrm>
          <a:prstGeom prst="rect">
            <a:avLst/>
          </a:prstGeom>
          <a:solidFill>
            <a:srgbClr val="F6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Oval 67"/>
          <p:cNvSpPr/>
          <p:nvPr/>
        </p:nvSpPr>
        <p:spPr>
          <a:xfrm>
            <a:off x="5440680" y="4663440"/>
            <a:ext cx="109728" cy="109728"/>
          </a:xfrm>
          <a:prstGeom prst="ellipse">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Oval 68"/>
          <p:cNvSpPr/>
          <p:nvPr/>
        </p:nvSpPr>
        <p:spPr>
          <a:xfrm>
            <a:off x="5623560" y="4581143"/>
            <a:ext cx="274320" cy="274320"/>
          </a:xfrm>
          <a:prstGeom prst="ellipse">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Oval 69"/>
          <p:cNvSpPr/>
          <p:nvPr/>
        </p:nvSpPr>
        <p:spPr>
          <a:xfrm>
            <a:off x="5971032" y="4626864"/>
            <a:ext cx="182880" cy="182880"/>
          </a:xfrm>
          <a:prstGeom prst="ellipse">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Oval 70"/>
          <p:cNvSpPr/>
          <p:nvPr/>
        </p:nvSpPr>
        <p:spPr>
          <a:xfrm>
            <a:off x="6227064" y="4553712"/>
            <a:ext cx="329184" cy="329184"/>
          </a:xfrm>
          <a:prstGeom prst="ellipse">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Oval 71"/>
          <p:cNvSpPr/>
          <p:nvPr/>
        </p:nvSpPr>
        <p:spPr>
          <a:xfrm>
            <a:off x="6629400" y="4645151"/>
            <a:ext cx="146304" cy="146304"/>
          </a:xfrm>
          <a:prstGeom prst="ellipse">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Box 72"/>
          <p:cNvSpPr txBox="1"/>
          <p:nvPr/>
        </p:nvSpPr>
        <p:spPr>
          <a:xfrm>
            <a:off x="6858000" y="4434840"/>
            <a:ext cx="1938528" cy="566928"/>
          </a:xfrm>
          <a:prstGeom prst="rect">
            <a:avLst/>
          </a:prstGeom>
          <a:noFill/>
        </p:spPr>
        <p:txBody>
          <a:bodyPr wrap="square" lIns="0" tIns="0" rIns="45720" bIns="0" anchor="ctr"/>
          <a:lstStyle/>
          <a:p>
            <a:pPr algn="l"/>
            <a:r>
              <a:rPr sz="850" b="1" i="0">
                <a:solidFill>
                  <a:srgbClr val="8C1515"/>
                </a:solidFill>
                <a:latin typeface="Calibri"/>
              </a:rPr>
              <a:t>Now</a:t>
            </a:r>
          </a:p>
          <a:p>
            <a:pPr algn="l"/>
            <a:r>
              <a:rPr sz="750" b="0" i="0">
                <a:solidFill>
                  <a:srgbClr val="2E2D29"/>
                </a:solidFill>
                <a:latin typeface="Calibri"/>
              </a:rPr>
              <a:t>one tree per cap, d = 2√(A/π)</a:t>
            </a:r>
          </a:p>
        </p:txBody>
      </p:sp>
      <p:sp>
        <p:nvSpPr>
          <p:cNvPr id="74" name="TextBox 73"/>
          <p:cNvSpPr txBox="1"/>
          <p:nvPr/>
        </p:nvSpPr>
        <p:spPr>
          <a:xfrm>
            <a:off x="2011680" y="5376672"/>
            <a:ext cx="6812280" cy="201168"/>
          </a:xfrm>
          <a:prstGeom prst="rect">
            <a:avLst/>
          </a:prstGeom>
          <a:noFill/>
        </p:spPr>
        <p:txBody>
          <a:bodyPr wrap="square" lIns="27432" tIns="0" rIns="27432" bIns="0" anchor="t"/>
          <a:lstStyle/>
          <a:p>
            <a:pPr algn="l"/>
            <a:r>
              <a:rPr sz="700" b="0" i="1">
                <a:solidFill>
                  <a:srgbClr val="6B6965"/>
                </a:solidFill>
                <a:latin typeface="Calibri"/>
              </a:rPr>
              <a:t>One mapping is resolved before tuning and reused for every optimizer step, final tree construction and the 3D BCs; it is published as outlet_cap_mapping.json.</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lang="en-US" sz="2200" dirty="0">
                <a:solidFill>
                  <a:srgbClr val="8C1515"/>
                </a:solidFill>
                <a:latin typeface="Georgia"/>
              </a:rPr>
              <a:t>svZeroDCalibrator refits the full 0D model to 3D</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COMPLETED</a:t>
            </a:r>
          </a:p>
        </p:txBody>
      </p:sp>
      <p:sp>
        <p:nvSpPr>
          <p:cNvPr id="19" name="Pentagon 18"/>
          <p:cNvSpPr/>
          <p:nvPr/>
        </p:nvSpPr>
        <p:spPr>
          <a:xfrm>
            <a:off x="320040" y="1371600"/>
            <a:ext cx="1810512" cy="658368"/>
          </a:xfrm>
          <a:prstGeom prst="homePlate">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wrap="square" tIns="18288" rIns="228600" bIns="18288" rtlCol="0" anchor="ctr"/>
          <a:lstStyle/>
          <a:p>
            <a:pPr algn="ctr"/>
            <a:r>
              <a:rPr sz="900" b="1" i="0">
                <a:solidFill>
                  <a:srgbClr val="2E2D29"/>
                </a:solidFill>
                <a:latin typeface="Calibri"/>
              </a:rPr>
              <a:t>3D centerline series</a:t>
            </a:r>
          </a:p>
          <a:p>
            <a:pPr algn="ctr"/>
            <a:r>
              <a:rPr sz="700" b="0" i="0">
                <a:solidFill>
                  <a:srgbClr val="6B6965"/>
                </a:solidFill>
                <a:latin typeface="Calibri"/>
              </a:rPr>
              <a:t>last cycle, P and Q</a:t>
            </a:r>
          </a:p>
        </p:txBody>
      </p:sp>
      <p:sp>
        <p:nvSpPr>
          <p:cNvPr id="20" name="Chevron 19"/>
          <p:cNvSpPr/>
          <p:nvPr/>
        </p:nvSpPr>
        <p:spPr>
          <a:xfrm>
            <a:off x="1993392" y="1371600"/>
            <a:ext cx="1810512" cy="658368"/>
          </a:xfrm>
          <a:prstGeom prst="chevron">
            <a:avLst/>
          </a:prstGeom>
          <a:solidFill>
            <a:srgbClr val="E9E7E4"/>
          </a:solidFill>
          <a:ln>
            <a:noFill/>
          </a:ln>
          <a:effectLst/>
        </p:spPr>
        <p:style>
          <a:lnRef idx="1">
            <a:schemeClr val="accent1"/>
          </a:lnRef>
          <a:fillRef idx="3">
            <a:schemeClr val="accent1"/>
          </a:fillRef>
          <a:effectRef idx="2">
            <a:schemeClr val="accent1"/>
          </a:effectRef>
          <a:fontRef idx="minor">
            <a:schemeClr val="lt1"/>
          </a:fontRef>
        </p:style>
        <p:txBody>
          <a:bodyPr wrap="square" lIns="274320" tIns="18288" rIns="228600" bIns="18288" rtlCol="0" anchor="ctr"/>
          <a:lstStyle/>
          <a:p>
            <a:pPr algn="ctr"/>
            <a:r>
              <a:rPr sz="900" b="1" i="0">
                <a:solidFill>
                  <a:srgbClr val="2E2D29"/>
                </a:solidFill>
                <a:latin typeface="Calibri"/>
              </a:rPr>
              <a:t>QC checks</a:t>
            </a:r>
          </a:p>
          <a:p>
            <a:pPr algn="ctr"/>
            <a:r>
              <a:rPr sz="700" b="0" i="0">
                <a:solidFill>
                  <a:srgbClr val="6B6965"/>
                </a:solidFill>
                <a:latin typeface="Calibri"/>
              </a:rPr>
              <a:t>units, lineage</a:t>
            </a:r>
          </a:p>
        </p:txBody>
      </p:sp>
      <p:sp>
        <p:nvSpPr>
          <p:cNvPr id="21" name="Chevron 20"/>
          <p:cNvSpPr/>
          <p:nvPr/>
        </p:nvSpPr>
        <p:spPr>
          <a:xfrm>
            <a:off x="3666744" y="1371600"/>
            <a:ext cx="1810512" cy="658368"/>
          </a:xfrm>
          <a:prstGeom prst="chevron">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wrap="square" lIns="274320" tIns="18288" rIns="228600" bIns="18288" rtlCol="0" anchor="ctr"/>
          <a:lstStyle/>
          <a:p>
            <a:pPr algn="ctr"/>
            <a:r>
              <a:rPr sz="900" b="1" i="0">
                <a:solidFill>
                  <a:srgbClr val="FFFFFF"/>
                </a:solidFill>
                <a:latin typeface="Calibri"/>
              </a:rPr>
              <a:t>Calibrate ×2</a:t>
            </a:r>
          </a:p>
          <a:p>
            <a:pPr algn="ctr"/>
            <a:r>
              <a:rPr sz="700" b="0" i="0">
                <a:solidFill>
                  <a:srgbClr val="F3DADA"/>
                </a:solidFill>
                <a:latin typeface="Calibri"/>
              </a:rPr>
              <a:t>fixed-point check</a:t>
            </a:r>
          </a:p>
        </p:txBody>
      </p:sp>
      <p:sp>
        <p:nvSpPr>
          <p:cNvPr id="22" name="Chevron 21"/>
          <p:cNvSpPr/>
          <p:nvPr/>
        </p:nvSpPr>
        <p:spPr>
          <a:xfrm>
            <a:off x="5340096" y="1371600"/>
            <a:ext cx="1810512" cy="658368"/>
          </a:xfrm>
          <a:prstGeom prst="chevron">
            <a:avLst/>
          </a:prstGeom>
          <a:solidFill>
            <a:srgbClr val="E9E7E4"/>
          </a:solidFill>
          <a:ln>
            <a:noFill/>
          </a:ln>
          <a:effectLst/>
        </p:spPr>
        <p:style>
          <a:lnRef idx="1">
            <a:schemeClr val="accent1"/>
          </a:lnRef>
          <a:fillRef idx="3">
            <a:schemeClr val="accent1"/>
          </a:fillRef>
          <a:effectRef idx="2">
            <a:schemeClr val="accent1"/>
          </a:effectRef>
          <a:fontRef idx="minor">
            <a:schemeClr val="lt1"/>
          </a:fontRef>
        </p:style>
        <p:txBody>
          <a:bodyPr wrap="square" lIns="274320" tIns="18288" rIns="228600" bIns="18288" rtlCol="0" anchor="ctr"/>
          <a:lstStyle/>
          <a:p>
            <a:pPr algn="ctr"/>
            <a:r>
              <a:rPr sz="900" b="1" i="0">
                <a:solidFill>
                  <a:srgbClr val="2E2D29"/>
                </a:solidFill>
                <a:latin typeface="Calibri"/>
              </a:rPr>
              <a:t>Replay</a:t>
            </a:r>
          </a:p>
          <a:p>
            <a:pPr algn="ctr"/>
            <a:r>
              <a:rPr sz="700" b="0" i="0">
                <a:solidFill>
                  <a:srgbClr val="6B6965"/>
                </a:solidFill>
                <a:latin typeface="Calibri"/>
              </a:rPr>
              <a:t>stable in solver</a:t>
            </a:r>
          </a:p>
        </p:txBody>
      </p:sp>
      <p:sp>
        <p:nvSpPr>
          <p:cNvPr id="23" name="Chevron 22"/>
          <p:cNvSpPr/>
          <p:nvPr/>
        </p:nvSpPr>
        <p:spPr>
          <a:xfrm>
            <a:off x="7013448" y="1371600"/>
            <a:ext cx="1810512" cy="658368"/>
          </a:xfrm>
          <a:prstGeom prst="chevron">
            <a:avLst/>
          </a:prstGeom>
          <a:solidFill>
            <a:srgbClr val="E9E7E4"/>
          </a:solidFill>
          <a:ln>
            <a:noFill/>
          </a:ln>
          <a:effectLst/>
        </p:spPr>
        <p:style>
          <a:lnRef idx="1">
            <a:schemeClr val="accent1"/>
          </a:lnRef>
          <a:fillRef idx="3">
            <a:schemeClr val="accent1"/>
          </a:fillRef>
          <a:effectRef idx="2">
            <a:schemeClr val="accent1"/>
          </a:effectRef>
          <a:fontRef idx="minor">
            <a:schemeClr val="lt1"/>
          </a:fontRef>
        </p:style>
        <p:txBody>
          <a:bodyPr wrap="square" lIns="274320" tIns="18288" rIns="228600" bIns="18288" rtlCol="0" anchor="ctr"/>
          <a:lstStyle/>
          <a:p>
            <a:pPr algn="ctr"/>
            <a:r>
              <a:rPr sz="900" b="1" i="0">
                <a:solidFill>
                  <a:srgbClr val="2E2D29"/>
                </a:solidFill>
                <a:latin typeface="Calibri"/>
              </a:rPr>
              <a:t>Target gates</a:t>
            </a:r>
          </a:p>
          <a:p>
            <a:pPr algn="ctr"/>
            <a:r>
              <a:rPr sz="700" b="0" i="0">
                <a:solidFill>
                  <a:srgbClr val="6B6965"/>
                </a:solidFill>
                <a:latin typeface="Calibri"/>
              </a:rPr>
              <a:t>pressure + split</a:t>
            </a:r>
          </a:p>
        </p:txBody>
      </p:sp>
      <p:cxnSp>
        <p:nvCxnSpPr>
          <p:cNvPr id="24" name="Connector 23"/>
          <p:cNvCxnSpPr/>
          <p:nvPr/>
        </p:nvCxnSpPr>
        <p:spPr>
          <a:xfrm>
            <a:off x="8412480" y="2048255"/>
            <a:ext cx="0" cy="237745"/>
          </a:xfrm>
          <a:prstGeom prst="line">
            <a:avLst/>
          </a:prstGeom>
          <a:ln w="19050">
            <a:solidFill>
              <a:srgbClr val="27998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6355080" y="2304288"/>
            <a:ext cx="2468880" cy="457200"/>
          </a:xfrm>
          <a:prstGeom prst="rect">
            <a:avLst/>
          </a:prstGeom>
          <a:solidFill>
            <a:srgbClr val="E4F2F0"/>
          </a:solidFill>
          <a:ln>
            <a:noFill/>
          </a:ln>
          <a:effectLst/>
        </p:spPr>
        <p:style>
          <a:lnRef idx="1">
            <a:schemeClr val="accent1"/>
          </a:lnRef>
          <a:fillRef idx="3">
            <a:schemeClr val="accent1"/>
          </a:fillRef>
          <a:effectRef idx="2">
            <a:schemeClr val="accent1"/>
          </a:effectRef>
          <a:fontRef idx="minor">
            <a:schemeClr val="lt1"/>
          </a:fontRef>
        </p:style>
        <p:txBody>
          <a:bodyPr wrap="square" tIns="18288" rIns="45720" bIns="18288" rtlCol="0" anchor="ctr"/>
          <a:lstStyle/>
          <a:p>
            <a:pPr algn="l"/>
            <a:r>
              <a:rPr sz="800" b="1" i="0">
                <a:solidFill>
                  <a:srgbClr val="279989"/>
                </a:solidFill>
                <a:latin typeface="Calibri"/>
              </a:rPr>
              <a:t>pass  </a:t>
            </a:r>
            <a:r>
              <a:rPr sz="800" b="1" i="0">
                <a:solidFill>
                  <a:srgbClr val="2E2D29"/>
                </a:solidFill>
                <a:latin typeface="Calibri"/>
              </a:rPr>
              <a:t>publish calibrated_full_pa_zerod.json</a:t>
            </a:r>
          </a:p>
          <a:p>
            <a:pPr algn="l"/>
            <a:r>
              <a:rPr sz="750" b="0" i="0">
                <a:solidFill>
                  <a:srgbClr val="6B6965"/>
                </a:solidFill>
                <a:latin typeface="Calibri"/>
              </a:rPr>
              <a:t>svzt-agent promotes it as the next seed</a:t>
            </a:r>
          </a:p>
        </p:txBody>
      </p:sp>
      <p:sp>
        <p:nvSpPr>
          <p:cNvPr id="26" name="Rectangle 25"/>
          <p:cNvSpPr/>
          <p:nvPr/>
        </p:nvSpPr>
        <p:spPr>
          <a:xfrm>
            <a:off x="3611880" y="2304288"/>
            <a:ext cx="2468880" cy="457200"/>
          </a:xfrm>
          <a:prstGeom prst="rect">
            <a:avLst/>
          </a:prstGeom>
          <a:solidFill>
            <a:srgbClr val="FFFFFF"/>
          </a:solidFill>
          <a:ln w="9525">
            <a:solidFill>
              <a:srgbClr val="D9D7D4"/>
            </a:solidFill>
          </a:ln>
          <a:effectLst/>
        </p:spPr>
        <p:style>
          <a:lnRef idx="1">
            <a:schemeClr val="accent1"/>
          </a:lnRef>
          <a:fillRef idx="3">
            <a:schemeClr val="accent1"/>
          </a:fillRef>
          <a:effectRef idx="2">
            <a:schemeClr val="accent1"/>
          </a:effectRef>
          <a:fontRef idx="minor">
            <a:schemeClr val="lt1"/>
          </a:fontRef>
        </p:style>
        <p:txBody>
          <a:bodyPr wrap="square" tIns="18288" rIns="45720" bIns="18288" rtlCol="0" anchor="ctr"/>
          <a:lstStyle/>
          <a:p>
            <a:pPr algn="l"/>
            <a:r>
              <a:rPr sz="800" b="1" i="0">
                <a:solidFill>
                  <a:srgbClr val="8C1515"/>
                </a:solidFill>
                <a:latin typeface="Calibri"/>
              </a:rPr>
              <a:t>fail  </a:t>
            </a:r>
            <a:r>
              <a:rPr sz="800" b="1" i="0">
                <a:solidFill>
                  <a:srgbClr val="2E2D29"/>
                </a:solidFill>
                <a:latin typeface="Calibri"/>
              </a:rPr>
              <a:t>nothing published</a:t>
            </a:r>
          </a:p>
          <a:p>
            <a:pPr algn="l"/>
            <a:r>
              <a:rPr sz="750" b="0" i="0">
                <a:solidFill>
                  <a:srgbClr val="6B6965"/>
                </a:solidFill>
                <a:latin typeface="Calibri"/>
              </a:rPr>
              <a:t>prior seed kept, diagnostic reports retained</a:t>
            </a:r>
          </a:p>
        </p:txBody>
      </p:sp>
      <p:cxnSp>
        <p:nvCxnSpPr>
          <p:cNvPr id="27" name="Connector 26"/>
          <p:cNvCxnSpPr/>
          <p:nvPr/>
        </p:nvCxnSpPr>
        <p:spPr>
          <a:xfrm flipH="1">
            <a:off x="6126480" y="2048255"/>
            <a:ext cx="1280160" cy="329185"/>
          </a:xfrm>
          <a:prstGeom prst="line">
            <a:avLst/>
          </a:prstGeom>
          <a:ln w="12700">
            <a:solidFill>
              <a:srgbClr val="8C151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20040" y="2304288"/>
            <a:ext cx="3154680" cy="457200"/>
          </a:xfrm>
          <a:prstGeom prst="rect">
            <a:avLst/>
          </a:prstGeom>
          <a:noFill/>
        </p:spPr>
        <p:txBody>
          <a:bodyPr wrap="square" lIns="0" tIns="0" rIns="0" bIns="0" anchor="ctr"/>
          <a:lstStyle/>
          <a:p>
            <a:pPr algn="l"/>
            <a:r>
              <a:rPr sz="800" b="0" i="1">
                <a:solidFill>
                  <a:srgbClr val="6B6965"/>
                </a:solidFill>
                <a:latin typeface="Calibri"/>
              </a:rPr>
              <a:t>Default fit: vessel R_poiseuille; junction coefficients selectable</a:t>
            </a:r>
          </a:p>
        </p:txBody>
      </p:sp>
      <p:sp>
        <p:nvSpPr>
          <p:cNvPr id="29" name="TextBox 28"/>
          <p:cNvSpPr txBox="1"/>
          <p:nvPr/>
        </p:nvSpPr>
        <p:spPr>
          <a:xfrm>
            <a:off x="320040" y="2971800"/>
            <a:ext cx="4937760" cy="219456"/>
          </a:xfrm>
          <a:prstGeom prst="rect">
            <a:avLst/>
          </a:prstGeom>
          <a:noFill/>
        </p:spPr>
        <p:txBody>
          <a:bodyPr wrap="square" lIns="0" tIns="0" rIns="0" bIns="0" anchor="t"/>
          <a:lstStyle/>
          <a:p>
            <a:pPr algn="l"/>
            <a:r>
              <a:rPr sz="1000" b="1" i="0">
                <a:solidFill>
                  <a:srgbClr val="8C1515"/>
                </a:solidFill>
                <a:latin typeface="Calibri"/>
              </a:rPr>
              <a:t>Pressure RMSE vs 3D (mmHg), impedance outlet BCs</a:t>
            </a:r>
          </a:p>
        </p:txBody>
      </p:sp>
      <p:graphicFrame>
        <p:nvGraphicFramePr>
          <p:cNvPr id="30" name="Chart 29"/>
          <p:cNvGraphicFramePr>
            <a:graphicFrameLocks noGrp="1"/>
          </p:cNvGraphicFramePr>
          <p:nvPr/>
        </p:nvGraphicFramePr>
        <p:xfrm>
          <a:off x="274320" y="3200400"/>
          <a:ext cx="5029200" cy="1920240"/>
        </p:xfrm>
        <a:graphic>
          <a:graphicData uri="http://schemas.openxmlformats.org/drawingml/2006/chart">
            <c:chart xmlns:c="http://schemas.openxmlformats.org/drawingml/2006/chart" xmlns:r="http://schemas.openxmlformats.org/officeDocument/2006/relationships" r:id="rId3"/>
          </a:graphicData>
        </a:graphic>
      </p:graphicFrame>
      <p:sp>
        <p:nvSpPr>
          <p:cNvPr id="31" name="TextBox 30"/>
          <p:cNvSpPr txBox="1"/>
          <p:nvPr/>
        </p:nvSpPr>
        <p:spPr>
          <a:xfrm>
            <a:off x="5623560" y="2971800"/>
            <a:ext cx="3200400" cy="219456"/>
          </a:xfrm>
          <a:prstGeom prst="rect">
            <a:avLst/>
          </a:prstGeom>
          <a:noFill/>
        </p:spPr>
        <p:txBody>
          <a:bodyPr wrap="square" lIns="0" tIns="0" rIns="0" bIns="0" anchor="t"/>
          <a:lstStyle/>
          <a:p>
            <a:pPr algn="l"/>
            <a:r>
              <a:rPr sz="1000" b="1" i="0">
                <a:solidFill>
                  <a:srgbClr val="8C1515"/>
                </a:solidFill>
                <a:latin typeface="Calibri"/>
              </a:rPr>
              <a:t>Acceptance gates</a:t>
            </a:r>
          </a:p>
        </p:txBody>
      </p:sp>
      <p:sp>
        <p:nvSpPr>
          <p:cNvPr id="32" name="Rectangle 31"/>
          <p:cNvSpPr/>
          <p:nvPr/>
        </p:nvSpPr>
        <p:spPr>
          <a:xfrm>
            <a:off x="5623560" y="3246120"/>
            <a:ext cx="3200400" cy="530352"/>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5715000" y="3246120"/>
            <a:ext cx="1234440" cy="530352"/>
          </a:xfrm>
          <a:prstGeom prst="rect">
            <a:avLst/>
          </a:prstGeom>
          <a:noFill/>
        </p:spPr>
        <p:txBody>
          <a:bodyPr wrap="square" lIns="0" tIns="0" rIns="0" bIns="0" anchor="ctr"/>
          <a:lstStyle/>
          <a:p>
            <a:pPr algn="l"/>
            <a:r>
              <a:rPr sz="1600" b="1" i="0">
                <a:solidFill>
                  <a:srgbClr val="8C1515"/>
                </a:solidFill>
                <a:latin typeface="Calibri"/>
              </a:rPr>
              <a:t>≤ 0.05</a:t>
            </a:r>
          </a:p>
        </p:txBody>
      </p:sp>
      <p:sp>
        <p:nvSpPr>
          <p:cNvPr id="34" name="TextBox 33"/>
          <p:cNvSpPr txBox="1"/>
          <p:nvPr/>
        </p:nvSpPr>
        <p:spPr>
          <a:xfrm>
            <a:off x="6995160" y="3246120"/>
            <a:ext cx="1783080" cy="530352"/>
          </a:xfrm>
          <a:prstGeom prst="rect">
            <a:avLst/>
          </a:prstGeom>
          <a:noFill/>
        </p:spPr>
        <p:txBody>
          <a:bodyPr wrap="square" lIns="0" tIns="0" rIns="0" bIns="0" anchor="ctr"/>
          <a:lstStyle/>
          <a:p>
            <a:pPr algn="l"/>
            <a:r>
              <a:rPr sz="850" b="0" i="0">
                <a:solidFill>
                  <a:srgbClr val="2E2D29"/>
                </a:solidFill>
                <a:latin typeface="Calibri"/>
              </a:rPr>
              <a:t>MPA pressure-waveform NRMSE</a:t>
            </a:r>
          </a:p>
        </p:txBody>
      </p:sp>
      <p:sp>
        <p:nvSpPr>
          <p:cNvPr id="35" name="Rectangle 34"/>
          <p:cNvSpPr/>
          <p:nvPr/>
        </p:nvSpPr>
        <p:spPr>
          <a:xfrm>
            <a:off x="5623560" y="3849624"/>
            <a:ext cx="3200400" cy="530352"/>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5715000" y="3849624"/>
            <a:ext cx="1234440" cy="530352"/>
          </a:xfrm>
          <a:prstGeom prst="rect">
            <a:avLst/>
          </a:prstGeom>
          <a:noFill/>
        </p:spPr>
        <p:txBody>
          <a:bodyPr wrap="square" lIns="0" tIns="0" rIns="0" bIns="0" anchor="ctr"/>
          <a:lstStyle/>
          <a:p>
            <a:pPr algn="l"/>
            <a:r>
              <a:rPr sz="1600" b="1" i="0">
                <a:solidFill>
                  <a:srgbClr val="8C1515"/>
                </a:solidFill>
                <a:latin typeface="Calibri"/>
              </a:rPr>
              <a:t>≤ 0.02</a:t>
            </a:r>
          </a:p>
        </p:txBody>
      </p:sp>
      <p:sp>
        <p:nvSpPr>
          <p:cNvPr id="37" name="TextBox 36"/>
          <p:cNvSpPr txBox="1"/>
          <p:nvPr/>
        </p:nvSpPr>
        <p:spPr>
          <a:xfrm>
            <a:off x="6995160" y="3849624"/>
            <a:ext cx="1783080" cy="530352"/>
          </a:xfrm>
          <a:prstGeom prst="rect">
            <a:avLst/>
          </a:prstGeom>
          <a:noFill/>
        </p:spPr>
        <p:txBody>
          <a:bodyPr wrap="square" lIns="0" tIns="0" rIns="0" bIns="0" anchor="ctr"/>
          <a:lstStyle/>
          <a:p>
            <a:pPr algn="l"/>
            <a:r>
              <a:rPr sz="850" b="0" i="0">
                <a:solidFill>
                  <a:srgbClr val="2E2D29"/>
                </a:solidFill>
                <a:latin typeface="Calibri"/>
              </a:rPr>
              <a:t>RPA flow-split error</a:t>
            </a:r>
          </a:p>
        </p:txBody>
      </p:sp>
      <p:sp>
        <p:nvSpPr>
          <p:cNvPr id="38" name="Rectangle 37"/>
          <p:cNvSpPr/>
          <p:nvPr/>
        </p:nvSpPr>
        <p:spPr>
          <a:xfrm>
            <a:off x="5623560" y="4453128"/>
            <a:ext cx="3200400" cy="530352"/>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5715000" y="4453128"/>
            <a:ext cx="1234440" cy="530352"/>
          </a:xfrm>
          <a:prstGeom prst="rect">
            <a:avLst/>
          </a:prstGeom>
          <a:noFill/>
        </p:spPr>
        <p:txBody>
          <a:bodyPr wrap="square" lIns="0" tIns="0" rIns="0" bIns="0" anchor="ctr"/>
          <a:lstStyle/>
          <a:p>
            <a:pPr algn="l"/>
            <a:r>
              <a:rPr sz="1600" b="1" i="0">
                <a:solidFill>
                  <a:srgbClr val="8C1515"/>
                </a:solidFill>
                <a:latin typeface="Calibri"/>
              </a:rPr>
              <a:t>&gt; baseline</a:t>
            </a:r>
          </a:p>
        </p:txBody>
      </p:sp>
      <p:sp>
        <p:nvSpPr>
          <p:cNvPr id="40" name="TextBox 39"/>
          <p:cNvSpPr txBox="1"/>
          <p:nvPr/>
        </p:nvSpPr>
        <p:spPr>
          <a:xfrm>
            <a:off x="6995160" y="4453128"/>
            <a:ext cx="1783080" cy="530352"/>
          </a:xfrm>
          <a:prstGeom prst="rect">
            <a:avLst/>
          </a:prstGeom>
          <a:noFill/>
        </p:spPr>
        <p:txBody>
          <a:bodyPr wrap="square" lIns="0" tIns="0" rIns="0" bIns="0" anchor="ctr"/>
          <a:lstStyle/>
          <a:p>
            <a:pPr algn="l"/>
            <a:r>
              <a:rPr sz="850" b="0" i="0">
                <a:solidFill>
                  <a:srgbClr val="2E2D29"/>
                </a:solidFill>
                <a:latin typeface="Calibri"/>
              </a:rPr>
              <a:t>composite score must improve</a:t>
            </a:r>
          </a:p>
        </p:txBody>
      </p:sp>
      <p:sp>
        <p:nvSpPr>
          <p:cNvPr id="41" name="TextBox 40"/>
          <p:cNvSpPr txBox="1"/>
          <p:nvPr/>
        </p:nvSpPr>
        <p:spPr>
          <a:xfrm>
            <a:off x="2011680" y="5376672"/>
            <a:ext cx="6812280" cy="201168"/>
          </a:xfrm>
          <a:prstGeom prst="rect">
            <a:avLst/>
          </a:prstGeom>
          <a:noFill/>
        </p:spPr>
        <p:txBody>
          <a:bodyPr wrap="square" lIns="27432" tIns="0" rIns="27432" bIns="0" anchor="t"/>
          <a:lstStyle/>
          <a:p>
            <a:pPr algn="l"/>
            <a:r>
              <a:rPr sz="700" b="0" i="1">
                <a:solidFill>
                  <a:srgbClr val="6B6965"/>
                </a:solidFill>
                <a:latin typeface="Calibri"/>
              </a:rPr>
              <a:t>TST-STAN-5 (slide 30): RMSE over systolic, diastolic and mean MPA pressure. Gate-passing output is the only seed accepted for the next full-PA iteration.</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lang="en-US" sz="2200" dirty="0">
                <a:solidFill>
                  <a:srgbClr val="8C1515"/>
                </a:solidFill>
                <a:latin typeface="Georgia"/>
              </a:rPr>
              <a:t>Why a physiological tuning study for TST-STAN-5</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IN DEVELOPMENT</a:t>
            </a:r>
          </a:p>
        </p:txBody>
      </p:sp>
      <p:sp>
        <p:nvSpPr>
          <p:cNvPr id="19" name="TextBox 18"/>
          <p:cNvSpPr txBox="1"/>
          <p:nvPr/>
        </p:nvSpPr>
        <p:spPr>
          <a:xfrm>
            <a:off x="320040" y="1261872"/>
            <a:ext cx="8503920" cy="201168"/>
          </a:xfrm>
          <a:prstGeom prst="rect">
            <a:avLst/>
          </a:prstGeom>
          <a:noFill/>
        </p:spPr>
        <p:txBody>
          <a:bodyPr wrap="square" lIns="0" tIns="0" rIns="0" bIns="0" anchor="ctr"/>
          <a:lstStyle/>
          <a:p>
            <a:pPr algn="l"/>
            <a:r>
              <a:rPr sz="850" b="1" i="0">
                <a:solidFill>
                  <a:srgbClr val="8C1515"/>
                </a:solidFill>
                <a:latin typeface="Calibri"/>
              </a:rPr>
              <a:t>First full-PA tuning runs (calibrated learnedZeroD seed, 23 per-cap trees) with the current Stage 2 settings</a:t>
            </a:r>
          </a:p>
        </p:txBody>
      </p:sp>
      <p:sp>
        <p:nvSpPr>
          <p:cNvPr id="20" name="TextBox 19"/>
          <p:cNvSpPr txBox="1"/>
          <p:nvPr/>
        </p:nvSpPr>
        <p:spPr>
          <a:xfrm>
            <a:off x="320040" y="1536192"/>
            <a:ext cx="4937760" cy="219456"/>
          </a:xfrm>
          <a:prstGeom prst="rect">
            <a:avLst/>
          </a:prstGeom>
          <a:noFill/>
        </p:spPr>
        <p:txBody>
          <a:bodyPr wrap="square" lIns="0" tIns="0" rIns="0" bIns="0" anchor="ctr"/>
          <a:lstStyle/>
          <a:p>
            <a:pPr algn="l"/>
            <a:r>
              <a:rPr sz="1000" b="1" i="0">
                <a:solidFill>
                  <a:srgbClr val="8C1515"/>
                </a:solidFill>
                <a:latin typeface="Calibri"/>
              </a:rPr>
              <a:t>Wall stiffness along the tree: current fit vs literature</a:t>
            </a:r>
          </a:p>
        </p:txBody>
      </p:sp>
      <p:graphicFrame>
        <p:nvGraphicFramePr>
          <p:cNvPr id="21" name="Chart 20"/>
          <p:cNvGraphicFramePr>
            <a:graphicFrameLocks noGrp="1"/>
          </p:cNvGraphicFramePr>
          <p:nvPr/>
        </p:nvGraphicFramePr>
        <p:xfrm>
          <a:off x="274320" y="1755648"/>
          <a:ext cx="5074920" cy="2852928"/>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Box 21"/>
          <p:cNvSpPr txBox="1"/>
          <p:nvPr/>
        </p:nvSpPr>
        <p:spPr>
          <a:xfrm>
            <a:off x="5532120" y="1536192"/>
            <a:ext cx="3291840" cy="219456"/>
          </a:xfrm>
          <a:prstGeom prst="rect">
            <a:avLst/>
          </a:prstGeom>
          <a:noFill/>
        </p:spPr>
        <p:txBody>
          <a:bodyPr wrap="square" lIns="0" tIns="0" rIns="0" bIns="0" anchor="ctr"/>
          <a:lstStyle/>
          <a:p>
            <a:pPr algn="l"/>
            <a:r>
              <a:rPr sz="1000" b="1" i="0">
                <a:solidFill>
                  <a:srgbClr val="8C1515"/>
                </a:solidFill>
                <a:latin typeface="Calibri"/>
              </a:rPr>
              <a:t>What the current fit implies</a:t>
            </a:r>
          </a:p>
        </p:txBody>
      </p:sp>
      <p:sp>
        <p:nvSpPr>
          <p:cNvPr id="26" name="Rectangle 25"/>
          <p:cNvSpPr/>
          <p:nvPr/>
        </p:nvSpPr>
        <p:spPr>
          <a:xfrm>
            <a:off x="5532120" y="2724912"/>
            <a:ext cx="3291840" cy="82296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641848" y="2724912"/>
            <a:ext cx="1234440" cy="822960"/>
          </a:xfrm>
          <a:prstGeom prst="rect">
            <a:avLst/>
          </a:prstGeom>
          <a:noFill/>
        </p:spPr>
        <p:txBody>
          <a:bodyPr wrap="square" lIns="0" tIns="0" rIns="0" bIns="0" anchor="ctr"/>
          <a:lstStyle/>
          <a:p>
            <a:pPr algn="l"/>
            <a:r>
              <a:rPr sz="1500" b="1" i="0">
                <a:solidFill>
                  <a:srgbClr val="8C1515"/>
                </a:solidFill>
                <a:latin typeface="Calibri"/>
              </a:rPr>
              <a:t>5–49 cm/s</a:t>
            </a:r>
          </a:p>
        </p:txBody>
      </p:sp>
      <p:sp>
        <p:nvSpPr>
          <p:cNvPr id="28" name="TextBox 27"/>
          <p:cNvSpPr txBox="1"/>
          <p:nvPr/>
        </p:nvSpPr>
        <p:spPr>
          <a:xfrm>
            <a:off x="6876288" y="2724912"/>
            <a:ext cx="1874519" cy="822960"/>
          </a:xfrm>
          <a:prstGeom prst="rect">
            <a:avLst/>
          </a:prstGeom>
          <a:noFill/>
        </p:spPr>
        <p:txBody>
          <a:bodyPr wrap="square" lIns="0" tIns="0" rIns="0" bIns="0" anchor="ctr"/>
          <a:lstStyle/>
          <a:p>
            <a:pPr algn="l"/>
            <a:r>
              <a:rPr sz="850" b="0" i="0">
                <a:solidFill>
                  <a:srgbClr val="2E2D29"/>
                </a:solidFill>
                <a:latin typeface="Calibri"/>
              </a:rPr>
              <a:t>Pulse-wave speed at the tree roots; literature stiffness gives ≈ 270–300 cm/s</a:t>
            </a:r>
          </a:p>
        </p:txBody>
      </p:sp>
      <p:sp>
        <p:nvSpPr>
          <p:cNvPr id="29" name="Rectangle 28"/>
          <p:cNvSpPr/>
          <p:nvPr/>
        </p:nvSpPr>
        <p:spPr>
          <a:xfrm>
            <a:off x="5532120" y="3657600"/>
            <a:ext cx="3291840" cy="82296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641848" y="3657600"/>
            <a:ext cx="1234440" cy="822960"/>
          </a:xfrm>
          <a:prstGeom prst="rect">
            <a:avLst/>
          </a:prstGeom>
          <a:noFill/>
        </p:spPr>
        <p:txBody>
          <a:bodyPr wrap="square" lIns="0" tIns="0" rIns="0" bIns="0" anchor="ctr"/>
          <a:lstStyle/>
          <a:p>
            <a:pPr algn="l"/>
            <a:r>
              <a:rPr sz="1500" b="1" i="0">
                <a:solidFill>
                  <a:srgbClr val="8C1515"/>
                </a:solidFill>
                <a:latin typeface="Calibri"/>
              </a:rPr>
              <a:t>32 mL/mmHg</a:t>
            </a:r>
          </a:p>
        </p:txBody>
      </p:sp>
      <p:sp>
        <p:nvSpPr>
          <p:cNvPr id="31" name="TextBox 30"/>
          <p:cNvSpPr txBox="1"/>
          <p:nvPr/>
        </p:nvSpPr>
        <p:spPr>
          <a:xfrm>
            <a:off x="6876288" y="3657600"/>
            <a:ext cx="1874519" cy="822960"/>
          </a:xfrm>
          <a:prstGeom prst="rect">
            <a:avLst/>
          </a:prstGeom>
          <a:noFill/>
        </p:spPr>
        <p:txBody>
          <a:bodyPr wrap="square" lIns="0" tIns="0" rIns="0" bIns="0" anchor="ctr"/>
          <a:lstStyle/>
          <a:p>
            <a:pPr algn="l"/>
            <a:r>
              <a:rPr sz="850" b="0" i="0">
                <a:solidFill>
                  <a:srgbClr val="2E2D29"/>
                </a:solidFill>
                <a:latin typeface="Calibri"/>
              </a:rPr>
              <a:t>Total tree compliance (RC 11.6 s); a lumped fit needs only ≈ 1–2 mL/mmHg (RC ≈ 0.4–0.5 s)</a:t>
            </a:r>
          </a:p>
        </p:txBody>
      </p:sp>
      <p:sp>
        <p:nvSpPr>
          <p:cNvPr id="32" name="Rectangle 31"/>
          <p:cNvSpPr/>
          <p:nvPr/>
        </p:nvSpPr>
        <p:spPr>
          <a:xfrm>
            <a:off x="320040" y="4700016"/>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29768" y="4700016"/>
            <a:ext cx="8284464" cy="310896"/>
          </a:xfrm>
          <a:prstGeom prst="rect">
            <a:avLst/>
          </a:prstGeom>
          <a:noFill/>
        </p:spPr>
        <p:txBody>
          <a:bodyPr wrap="square" lIns="0" tIns="0" rIns="0" bIns="0" anchor="ctr"/>
          <a:lstStyle/>
          <a:p>
            <a:pPr algn="l"/>
            <a:r>
              <a:rPr sz="1000" b="1" i="0">
                <a:solidFill>
                  <a:srgbClr val="8C1515"/>
                </a:solidFill>
                <a:latin typeface="Calibri"/>
              </a:rPr>
              <a:t>Goal: fit within catheter error (±2 mmHg, ±0.02 split) with literature-defensible, identifiable parameters.</a:t>
            </a:r>
          </a:p>
        </p:txBody>
      </p:sp>
      <p:sp>
        <p:nvSpPr>
          <p:cNvPr id="34" name="TextBox 33"/>
          <p:cNvSpPr txBox="1"/>
          <p:nvPr/>
        </p:nvSpPr>
        <p:spPr>
          <a:xfrm>
            <a:off x="2011680" y="5376672"/>
            <a:ext cx="6812280" cy="201168"/>
          </a:xfrm>
          <a:prstGeom prst="rect">
            <a:avLst/>
          </a:prstGeom>
          <a:noFill/>
        </p:spPr>
        <p:txBody>
          <a:bodyPr wrap="square" lIns="0" tIns="0" rIns="0" bIns="0" anchor="ctr"/>
          <a:lstStyle/>
          <a:p>
            <a:pPr algn="l"/>
            <a:r>
              <a:rPr sz="700" b="0" i="1">
                <a:solidFill>
                  <a:srgbClr val="6B6965"/>
                </a:solidFill>
                <a:latin typeface="Calibri"/>
              </a:rPr>
              <a:t>B0 = current smoke settings (k₁ 2×10⁷, k₃ 0, k₂ tuned; Pd clamped to 3 mmHg), published per-cap model. Eh/r₀ = k₁exp(k₂r₀) + k₃. Literature values: Colebank 2021, Bartolo 2022.</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lang="en-US" sz="2200" dirty="0">
                <a:solidFill>
                  <a:srgbClr val="8C1515"/>
                </a:solidFill>
                <a:latin typeface="Georgia"/>
              </a:rPr>
              <a:t>What the measurements require from the distal bed</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IN DEVELOPMENT</a:t>
            </a:r>
          </a:p>
        </p:txBody>
      </p:sp>
      <p:sp>
        <p:nvSpPr>
          <p:cNvPr id="19" name="TextBox 18"/>
          <p:cNvSpPr txBox="1"/>
          <p:nvPr/>
        </p:nvSpPr>
        <p:spPr>
          <a:xfrm>
            <a:off x="320040" y="1261872"/>
            <a:ext cx="8503920" cy="201168"/>
          </a:xfrm>
          <a:prstGeom prst="rect">
            <a:avLst/>
          </a:prstGeom>
          <a:noFill/>
        </p:spPr>
        <p:txBody>
          <a:bodyPr wrap="square" lIns="0" tIns="0" rIns="0" bIns="0" anchor="ctr"/>
          <a:lstStyle/>
          <a:p>
            <a:pPr algn="l"/>
            <a:r>
              <a:rPr sz="850" b="1" i="0">
                <a:solidFill>
                  <a:srgbClr val="8C1515"/>
                </a:solidFill>
                <a:latin typeface="Calibri"/>
              </a:rPr>
              <a:t>Phase 0 · lumped Rp–C–Rd model driven by the measured inflow: 54% regurgitant (44.5 mL forward, 23.9 mL back per beat), Pd = 7 mmHg</a:t>
            </a:r>
          </a:p>
        </p:txBody>
      </p:sp>
      <p:sp>
        <p:nvSpPr>
          <p:cNvPr id="20" name="TextBox 19"/>
          <p:cNvSpPr txBox="1"/>
          <p:nvPr/>
        </p:nvSpPr>
        <p:spPr>
          <a:xfrm>
            <a:off x="320040" y="1536192"/>
            <a:ext cx="4114800" cy="219456"/>
          </a:xfrm>
          <a:prstGeom prst="rect">
            <a:avLst/>
          </a:prstGeom>
          <a:noFill/>
        </p:spPr>
        <p:txBody>
          <a:bodyPr wrap="square" lIns="0" tIns="0" rIns="0" bIns="0" anchor="ctr"/>
          <a:lstStyle/>
          <a:p>
            <a:pPr algn="l"/>
            <a:r>
              <a:rPr sz="1000" b="1" i="0">
                <a:solidFill>
                  <a:srgbClr val="8C1515"/>
                </a:solidFill>
                <a:latin typeface="Calibri"/>
              </a:rPr>
              <a:t>Best lumped fit vs fixed compliance C</a:t>
            </a:r>
          </a:p>
        </p:txBody>
      </p:sp>
      <p:graphicFrame>
        <p:nvGraphicFramePr>
          <p:cNvPr id="21" name="Chart 20"/>
          <p:cNvGraphicFramePr>
            <a:graphicFrameLocks noGrp="1"/>
          </p:cNvGraphicFramePr>
          <p:nvPr/>
        </p:nvGraphicFramePr>
        <p:xfrm>
          <a:off x="274320" y="1755648"/>
          <a:ext cx="4206240" cy="2514600"/>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Box 21"/>
          <p:cNvSpPr txBox="1"/>
          <p:nvPr/>
        </p:nvSpPr>
        <p:spPr>
          <a:xfrm>
            <a:off x="320040" y="4297680"/>
            <a:ext cx="4114800" cy="329184"/>
          </a:xfrm>
          <a:prstGeom prst="rect">
            <a:avLst/>
          </a:prstGeom>
          <a:noFill/>
        </p:spPr>
        <p:txBody>
          <a:bodyPr wrap="square" lIns="0" tIns="0" rIns="0" bIns="0" anchor="t"/>
          <a:lstStyle/>
          <a:p>
            <a:pPr algn="l"/>
            <a:r>
              <a:rPr sz="800" b="0" i="0">
                <a:solidFill>
                  <a:srgbClr val="6B6965"/>
                </a:solidFill>
                <a:latin typeface="Calibri"/>
              </a:rPr>
              <a:t>C ≥ ~1 mL/mmHg is required; above that the three pressures cannot tell values apart, so C is bounded below but not identified.</a:t>
            </a:r>
          </a:p>
        </p:txBody>
      </p:sp>
      <p:sp>
        <p:nvSpPr>
          <p:cNvPr id="23" name="TextBox 22"/>
          <p:cNvSpPr txBox="1"/>
          <p:nvPr/>
        </p:nvSpPr>
        <p:spPr>
          <a:xfrm>
            <a:off x="4663440" y="1536192"/>
            <a:ext cx="4160520" cy="219456"/>
          </a:xfrm>
          <a:prstGeom prst="rect">
            <a:avLst/>
          </a:prstGeom>
          <a:noFill/>
        </p:spPr>
        <p:txBody>
          <a:bodyPr wrap="square" lIns="0" tIns="0" rIns="0" bIns="0" anchor="ctr"/>
          <a:lstStyle/>
          <a:p>
            <a:pPr algn="l"/>
            <a:r>
              <a:rPr sz="1000" b="1" i="0">
                <a:solidFill>
                  <a:srgbClr val="8C1515"/>
                </a:solidFill>
                <a:latin typeface="Calibri"/>
              </a:rPr>
              <a:t>Impedance budget in front of the compliance (dyn·s/cm⁵)</a:t>
            </a:r>
          </a:p>
        </p:txBody>
      </p:sp>
      <p:sp>
        <p:nvSpPr>
          <p:cNvPr id="24" name="TextBox 23"/>
          <p:cNvSpPr txBox="1"/>
          <p:nvPr/>
        </p:nvSpPr>
        <p:spPr>
          <a:xfrm>
            <a:off x="4663440" y="1847088"/>
            <a:ext cx="1645920" cy="329184"/>
          </a:xfrm>
          <a:prstGeom prst="rect">
            <a:avLst/>
          </a:prstGeom>
          <a:noFill/>
        </p:spPr>
        <p:txBody>
          <a:bodyPr wrap="square" lIns="0" tIns="0" rIns="0" bIns="0" anchor="ctr"/>
          <a:lstStyle/>
          <a:p>
            <a:pPr algn="l"/>
            <a:r>
              <a:rPr sz="800" b="0" i="0">
                <a:solidFill>
                  <a:srgbClr val="2E2D29"/>
                </a:solidFill>
                <a:latin typeface="Calibri"/>
              </a:rPr>
              <a:t>Allowed by the measured pulse pressure</a:t>
            </a:r>
          </a:p>
        </p:txBody>
      </p:sp>
      <p:sp>
        <p:nvSpPr>
          <p:cNvPr id="25" name="Rectangle 24"/>
          <p:cNvSpPr/>
          <p:nvPr/>
        </p:nvSpPr>
        <p:spPr>
          <a:xfrm>
            <a:off x="6355080" y="1883664"/>
            <a:ext cx="854829" cy="256032"/>
          </a:xfrm>
          <a:prstGeom prst="rect">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273917" y="1847088"/>
            <a:ext cx="640080" cy="329184"/>
          </a:xfrm>
          <a:prstGeom prst="rect">
            <a:avLst/>
          </a:prstGeom>
          <a:noFill/>
        </p:spPr>
        <p:txBody>
          <a:bodyPr wrap="square" lIns="0" tIns="0" rIns="0" bIns="0" anchor="ctr"/>
          <a:lstStyle/>
          <a:p>
            <a:pPr algn="l"/>
            <a:r>
              <a:rPr sz="850" b="1" i="0">
                <a:solidFill>
                  <a:srgbClr val="2E2D29"/>
                </a:solidFill>
                <a:latin typeface="Calibri"/>
              </a:rPr>
              <a:t>≤ 140</a:t>
            </a:r>
          </a:p>
        </p:txBody>
      </p:sp>
      <p:sp>
        <p:nvSpPr>
          <p:cNvPr id="27" name="TextBox 26"/>
          <p:cNvSpPr txBox="1"/>
          <p:nvPr/>
        </p:nvSpPr>
        <p:spPr>
          <a:xfrm>
            <a:off x="4663440" y="2322576"/>
            <a:ext cx="1645920" cy="329184"/>
          </a:xfrm>
          <a:prstGeom prst="rect">
            <a:avLst/>
          </a:prstGeom>
          <a:noFill/>
        </p:spPr>
        <p:txBody>
          <a:bodyPr wrap="square" lIns="0" tIns="0" rIns="0" bIns="0" anchor="ctr"/>
          <a:lstStyle/>
          <a:p>
            <a:pPr algn="l"/>
            <a:r>
              <a:rPr sz="800" b="0" i="0">
                <a:solidFill>
                  <a:srgbClr val="2E2D29"/>
                </a:solidFill>
                <a:latin typeface="Calibri"/>
              </a:rPr>
              <a:t>Rigid seed + literature-stiffness trees</a:t>
            </a:r>
          </a:p>
        </p:txBody>
      </p:sp>
      <p:sp>
        <p:nvSpPr>
          <p:cNvPr id="28" name="Rectangle 27"/>
          <p:cNvSpPr/>
          <p:nvPr/>
        </p:nvSpPr>
        <p:spPr>
          <a:xfrm>
            <a:off x="6355080" y="2359152"/>
            <a:ext cx="744923" cy="256032"/>
          </a:xfrm>
          <a:prstGeom prst="rect">
            <a:avLst/>
          </a:prstGeom>
          <a:solidFill>
            <a:srgbClr val="6B69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7100003" y="2359152"/>
            <a:ext cx="702181" cy="256032"/>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7802185" y="2359152"/>
            <a:ext cx="427414" cy="256032"/>
          </a:xfrm>
          <a:prstGeom prst="rect">
            <a:avLst/>
          </a:prstGeom>
          <a:solidFill>
            <a:srgbClr val="C9A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93608" y="2322576"/>
            <a:ext cx="640080" cy="329184"/>
          </a:xfrm>
          <a:prstGeom prst="rect">
            <a:avLst/>
          </a:prstGeom>
          <a:noFill/>
        </p:spPr>
        <p:txBody>
          <a:bodyPr wrap="square" lIns="0" tIns="0" rIns="0" bIns="0" anchor="ctr"/>
          <a:lstStyle/>
          <a:p>
            <a:pPr algn="l"/>
            <a:r>
              <a:rPr sz="850" b="1" i="0">
                <a:solidFill>
                  <a:srgbClr val="2E2D29"/>
                </a:solidFill>
                <a:latin typeface="Calibri"/>
              </a:rPr>
              <a:t>≈ 250–300</a:t>
            </a:r>
          </a:p>
        </p:txBody>
      </p:sp>
      <p:sp>
        <p:nvSpPr>
          <p:cNvPr id="32" name="TextBox 31"/>
          <p:cNvSpPr txBox="1"/>
          <p:nvPr/>
        </p:nvSpPr>
        <p:spPr>
          <a:xfrm>
            <a:off x="4663440" y="2798064"/>
            <a:ext cx="1645920" cy="329184"/>
          </a:xfrm>
          <a:prstGeom prst="rect">
            <a:avLst/>
          </a:prstGeom>
          <a:noFill/>
        </p:spPr>
        <p:txBody>
          <a:bodyPr wrap="square" lIns="0" tIns="0" rIns="0" bIns="0" anchor="ctr"/>
          <a:lstStyle/>
          <a:p>
            <a:pPr algn="l"/>
            <a:r>
              <a:rPr sz="800" b="0" i="0">
                <a:solidFill>
                  <a:srgbClr val="2E2D29"/>
                </a:solidFill>
                <a:latin typeface="Calibri"/>
              </a:rPr>
              <a:t>Current fit (k₃ = 0)</a:t>
            </a:r>
          </a:p>
        </p:txBody>
      </p:sp>
      <p:sp>
        <p:nvSpPr>
          <p:cNvPr id="33" name="Rectangle 32"/>
          <p:cNvSpPr/>
          <p:nvPr/>
        </p:nvSpPr>
        <p:spPr>
          <a:xfrm>
            <a:off x="6355080" y="2834640"/>
            <a:ext cx="744923" cy="256032"/>
          </a:xfrm>
          <a:prstGeom prst="rect">
            <a:avLst/>
          </a:prstGeom>
          <a:solidFill>
            <a:srgbClr val="6B69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7100003" y="2834640"/>
            <a:ext cx="48847" cy="256032"/>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273917" y="2798064"/>
            <a:ext cx="640080" cy="329184"/>
          </a:xfrm>
          <a:prstGeom prst="rect">
            <a:avLst/>
          </a:prstGeom>
          <a:noFill/>
        </p:spPr>
        <p:txBody>
          <a:bodyPr wrap="square" lIns="0" tIns="0" rIns="0" bIns="0" anchor="ctr"/>
          <a:lstStyle/>
          <a:p>
            <a:pPr algn="l"/>
            <a:r>
              <a:rPr sz="850" b="1" i="0">
                <a:solidFill>
                  <a:srgbClr val="2E2D29"/>
                </a:solidFill>
                <a:latin typeface="Calibri"/>
              </a:rPr>
              <a:t>≈ 130</a:t>
            </a:r>
          </a:p>
        </p:txBody>
      </p:sp>
      <p:cxnSp>
        <p:nvCxnSpPr>
          <p:cNvPr id="36" name="Connector 35"/>
          <p:cNvCxnSpPr/>
          <p:nvPr/>
        </p:nvCxnSpPr>
        <p:spPr>
          <a:xfrm>
            <a:off x="7209909" y="1792224"/>
            <a:ext cx="0" cy="1408176"/>
          </a:xfrm>
          <a:prstGeom prst="line">
            <a:avLst/>
          </a:prstGeom>
          <a:ln w="15875">
            <a:solidFill>
              <a:srgbClr val="279989"/>
            </a:solidFill>
            <a:prstDash val="dash"/>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4663440" y="3346704"/>
            <a:ext cx="109728" cy="109728"/>
          </a:xfrm>
          <a:prstGeom prst="rect">
            <a:avLst/>
          </a:prstGeom>
          <a:solidFill>
            <a:srgbClr val="6B69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818888" y="3291840"/>
            <a:ext cx="1097280" cy="219456"/>
          </a:xfrm>
          <a:prstGeom prst="rect">
            <a:avLst/>
          </a:prstGeom>
          <a:noFill/>
        </p:spPr>
        <p:txBody>
          <a:bodyPr wrap="square" lIns="0" tIns="0" rIns="0" bIns="0" anchor="ctr"/>
          <a:lstStyle/>
          <a:p>
            <a:pPr algn="l"/>
            <a:r>
              <a:rPr sz="750" b="0" i="0">
                <a:solidFill>
                  <a:srgbClr val="6B6965"/>
                </a:solidFill>
                <a:latin typeface="Calibri"/>
              </a:rPr>
              <a:t>seed proximal R ≈ 122</a:t>
            </a:r>
          </a:p>
        </p:txBody>
      </p:sp>
      <p:sp>
        <p:nvSpPr>
          <p:cNvPr id="39" name="Rectangle 38"/>
          <p:cNvSpPr/>
          <p:nvPr/>
        </p:nvSpPr>
        <p:spPr>
          <a:xfrm>
            <a:off x="6025896" y="3346704"/>
            <a:ext cx="109728" cy="109728"/>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181344" y="3291840"/>
            <a:ext cx="1234440" cy="219456"/>
          </a:xfrm>
          <a:prstGeom prst="rect">
            <a:avLst/>
          </a:prstGeom>
          <a:noFill/>
        </p:spPr>
        <p:txBody>
          <a:bodyPr wrap="square" lIns="0" tIns="0" rIns="0" bIns="0" anchor="ctr"/>
          <a:lstStyle/>
          <a:p>
            <a:pPr algn="l"/>
            <a:r>
              <a:rPr sz="750" b="0" i="0">
                <a:solidFill>
                  <a:srgbClr val="6B6965"/>
                </a:solidFill>
                <a:latin typeface="Calibri"/>
              </a:rPr>
              <a:t>tree-root impedance ρc/A</a:t>
            </a:r>
          </a:p>
        </p:txBody>
      </p:sp>
      <p:sp>
        <p:nvSpPr>
          <p:cNvPr id="41" name="Rectangle 40"/>
          <p:cNvSpPr/>
          <p:nvPr/>
        </p:nvSpPr>
        <p:spPr>
          <a:xfrm>
            <a:off x="7525512" y="3346704"/>
            <a:ext cx="109728" cy="109728"/>
          </a:xfrm>
          <a:prstGeom prst="rect">
            <a:avLst/>
          </a:prstGeom>
          <a:solidFill>
            <a:srgbClr val="C9A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7680960" y="3291840"/>
            <a:ext cx="914400" cy="219456"/>
          </a:xfrm>
          <a:prstGeom prst="rect">
            <a:avLst/>
          </a:prstGeom>
          <a:noFill/>
        </p:spPr>
        <p:txBody>
          <a:bodyPr wrap="square" lIns="0" tIns="0" rIns="0" bIns="0" anchor="ctr"/>
          <a:lstStyle/>
          <a:p>
            <a:pPr algn="l"/>
            <a:r>
              <a:rPr sz="750" b="0" i="0">
                <a:solidFill>
                  <a:srgbClr val="6B6965"/>
                </a:solidFill>
                <a:latin typeface="Calibri"/>
              </a:rPr>
              <a:t>its 115–185 range</a:t>
            </a:r>
          </a:p>
        </p:txBody>
      </p:sp>
      <p:sp>
        <p:nvSpPr>
          <p:cNvPr id="43" name="Rectangle 42"/>
          <p:cNvSpPr/>
          <p:nvPr/>
        </p:nvSpPr>
        <p:spPr>
          <a:xfrm>
            <a:off x="4663440" y="3639312"/>
            <a:ext cx="4160520" cy="969264"/>
          </a:xfrm>
          <a:prstGeom prst="rect">
            <a:avLst/>
          </a:prstGeom>
          <a:solidFill>
            <a:srgbClr val="F6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4791456" y="3703320"/>
            <a:ext cx="3931920" cy="868680"/>
          </a:xfrm>
          <a:prstGeom prst="rect">
            <a:avLst/>
          </a:prstGeom>
          <a:noFill/>
        </p:spPr>
        <p:txBody>
          <a:bodyPr wrap="square" lIns="0" tIns="0" rIns="0" bIns="0" anchor="t"/>
          <a:lstStyle/>
          <a:p>
            <a:pPr algn="l"/>
            <a:r>
              <a:rPr sz="1000" b="1" i="0">
                <a:solidFill>
                  <a:srgbClr val="8C1515"/>
                </a:solidFill>
                <a:latin typeface="Calibri"/>
              </a:rPr>
              <a:t>Consequence</a:t>
            </a:r>
          </a:p>
          <a:p>
            <a:pPr algn="l">
              <a:spcBef>
                <a:spcPts val="300"/>
              </a:spcBef>
            </a:pPr>
            <a:r>
              <a:rPr sz="900" b="0" i="0">
                <a:solidFill>
                  <a:srgbClr val="2E2D29"/>
                </a:solidFill>
                <a:latin typeface="Calibri"/>
              </a:rPr>
              <a:t>With Rp ≈ 250–300 a Windkessel predicts 46–51 / −9 to −14 mmHg, the pattern every literature-stiffness case produced. k₃ = 0 fits only because it removes the root impedance.</a:t>
            </a:r>
          </a:p>
        </p:txBody>
      </p:sp>
      <p:sp>
        <p:nvSpPr>
          <p:cNvPr id="45" name="Rectangle 44"/>
          <p:cNvSpPr/>
          <p:nvPr/>
        </p:nvSpPr>
        <p:spPr>
          <a:xfrm>
            <a:off x="320040" y="4700016"/>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429768" y="4700016"/>
            <a:ext cx="8284464" cy="310896"/>
          </a:xfrm>
          <a:prstGeom prst="rect">
            <a:avLst/>
          </a:prstGeom>
          <a:noFill/>
        </p:spPr>
        <p:txBody>
          <a:bodyPr wrap="square" lIns="0" tIns="0" rIns="0" bIns="0" anchor="ctr"/>
          <a:lstStyle/>
          <a:p>
            <a:pPr algn="l"/>
            <a:r>
              <a:rPr sz="1000" b="1" i="0">
                <a:solidFill>
                  <a:srgbClr val="8C1515"/>
                </a:solidFill>
                <a:latin typeface="Calibri"/>
              </a:rPr>
              <a:t>The trees must supply ≳ 1 mL/mmHg of compliance with ≤ ~140 dyn·s/cm⁵ of impedance in front of it.</a:t>
            </a:r>
          </a:p>
        </p:txBody>
      </p:sp>
      <p:sp>
        <p:nvSpPr>
          <p:cNvPr id="47" name="TextBox 46"/>
          <p:cNvSpPr txBox="1"/>
          <p:nvPr/>
        </p:nvSpPr>
        <p:spPr>
          <a:xfrm>
            <a:off x="2011680" y="5376672"/>
            <a:ext cx="6812280" cy="201168"/>
          </a:xfrm>
          <a:prstGeom prst="rect">
            <a:avLst/>
          </a:prstGeom>
          <a:noFill/>
        </p:spPr>
        <p:txBody>
          <a:bodyPr wrap="square" lIns="0" tIns="0" rIns="0" bIns="0" anchor="ctr"/>
          <a:lstStyle/>
          <a:p>
            <a:pPr algn="l"/>
            <a:r>
              <a:rPr sz="700" b="0" i="1">
                <a:solidFill>
                  <a:srgbClr val="6B6965"/>
                </a:solidFill>
                <a:latin typeface="Calibri"/>
              </a:rPr>
              <a:t>Pulse pressure 31 mmHg ÷ inflow swing ≈ 290 mL/s ≈ 140 dyn·s/cm⁵. Root impedance: 23 roots in parallel. C fixed, Rp and Rd refit at each point. REPORT.md Phase 0; FINDINGS.md finding 1.</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lang="en-US" sz="2200" dirty="0">
                <a:solidFill>
                  <a:srgbClr val="8C1515"/>
                </a:solidFill>
                <a:latin typeface="Georgia"/>
              </a:rPr>
              <a:t>Six experiment rounds narrowed the BC model</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IN DEVELOPMENT</a:t>
            </a:r>
          </a:p>
        </p:txBody>
      </p:sp>
      <p:sp>
        <p:nvSpPr>
          <p:cNvPr id="19" name="Round 1 header"/>
          <p:cNvSpPr/>
          <p:nvPr/>
        </p:nvSpPr>
        <p:spPr>
          <a:xfrm>
            <a:off x="320040" y="1335024"/>
            <a:ext cx="1469136" cy="457200"/>
          </a:xfrm>
          <a:prstGeom prst="homePlate">
            <a:avLst/>
          </a:prstGeom>
          <a:solidFill>
            <a:srgbClr val="E9E7E4"/>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36576" tIns="18288" bIns="18288" wrap="square"/>
          <a:lstStyle/>
          <a:p>
            <a:pPr algn="ctr"/>
            <a:r>
              <a:rPr sz="850" b="1" i="0">
                <a:solidFill>
                  <a:srgbClr val="2E2D29"/>
                </a:solidFill>
                <a:latin typeface="Calibri"/>
              </a:rPr>
              <a:t>R1 · v1 screen</a:t>
            </a:r>
          </a:p>
          <a:p>
            <a:pPr algn="ctr"/>
            <a:r>
              <a:rPr sz="750" b="0" i="0">
                <a:solidFill>
                  <a:srgbClr val="6B6965"/>
                </a:solidFill>
                <a:latin typeface="Calibri"/>
              </a:rPr>
              <a:t>24–25 Sep</a:t>
            </a:r>
          </a:p>
        </p:txBody>
      </p:sp>
      <p:sp>
        <p:nvSpPr>
          <p:cNvPr id="20" name="Round 1 card"/>
          <p:cNvSpPr/>
          <p:nvPr/>
        </p:nvSpPr>
        <p:spPr>
          <a:xfrm>
            <a:off x="320040" y="1901952"/>
            <a:ext cx="1341120" cy="233172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p>
        </p:txBody>
      </p:sp>
      <p:sp>
        <p:nvSpPr>
          <p:cNvPr id="21" name="TextBox 20"/>
          <p:cNvSpPr txBox="1"/>
          <p:nvPr/>
        </p:nvSpPr>
        <p:spPr>
          <a:xfrm>
            <a:off x="411479" y="1975104"/>
            <a:ext cx="1158240" cy="457200"/>
          </a:xfrm>
          <a:prstGeom prst="rect">
            <a:avLst/>
          </a:prstGeom>
          <a:noFill/>
        </p:spPr>
        <p:txBody>
          <a:bodyPr wrap="square" lIns="0" rIns="0" tIns="0" bIns="0" anchor="t">
            <a:spAutoFit/>
          </a:bodyPr>
          <a:lstStyle/>
          <a:p>
            <a:pPr algn="l"/>
            <a:r>
              <a:rPr sz="850" b="1" i="0">
                <a:solidFill>
                  <a:srgbClr val="2E2D29"/>
                </a:solidFill>
                <a:latin typeface="Calibri"/>
              </a:rPr>
              <a:t>Literature tree stiffness, rigid seed</a:t>
            </a:r>
          </a:p>
        </p:txBody>
      </p:sp>
      <p:sp>
        <p:nvSpPr>
          <p:cNvPr id="22" name="TextBox 21"/>
          <p:cNvSpPr txBox="1"/>
          <p:nvPr/>
        </p:nvSpPr>
        <p:spPr>
          <a:xfrm>
            <a:off x="411479" y="2450592"/>
            <a:ext cx="1158240" cy="384048"/>
          </a:xfrm>
          <a:prstGeom prst="rect">
            <a:avLst/>
          </a:prstGeom>
          <a:noFill/>
        </p:spPr>
        <p:txBody>
          <a:bodyPr wrap="square" lIns="0" rIns="0" tIns="0" bIns="0" anchor="ctr">
            <a:spAutoFit/>
          </a:bodyPr>
          <a:lstStyle/>
          <a:p>
            <a:pPr algn="l"/>
            <a:r>
              <a:rPr sz="2200" b="1" i="0">
                <a:solidFill>
                  <a:srgbClr val="8C1515"/>
                </a:solidFill>
                <a:latin typeface="Calibri"/>
              </a:rPr>
              <a:t>299</a:t>
            </a:r>
          </a:p>
        </p:txBody>
      </p:sp>
      <p:sp>
        <p:nvSpPr>
          <p:cNvPr id="23" name="TextBox 22"/>
          <p:cNvSpPr txBox="1"/>
          <p:nvPr/>
        </p:nvSpPr>
        <p:spPr>
          <a:xfrm>
            <a:off x="411479" y="2834640"/>
            <a:ext cx="1158240" cy="182880"/>
          </a:xfrm>
          <a:prstGeom prst="rect">
            <a:avLst/>
          </a:prstGeom>
          <a:noFill/>
        </p:spPr>
        <p:txBody>
          <a:bodyPr wrap="square" lIns="0" rIns="0" tIns="0" bIns="0" anchor="t">
            <a:spAutoFit/>
          </a:bodyPr>
          <a:lstStyle/>
          <a:p>
            <a:pPr algn="l"/>
            <a:r>
              <a:rPr sz="700" b="0" i="0">
                <a:solidFill>
                  <a:srgbClr val="6B6965"/>
                </a:solidFill>
                <a:latin typeface="Calibri"/>
              </a:rPr>
              <a:t>best physiological χ²</a:t>
            </a:r>
          </a:p>
        </p:txBody>
      </p:sp>
      <p:sp>
        <p:nvSpPr>
          <p:cNvPr id="24" name="Rounded Rectangle 23"/>
          <p:cNvSpPr/>
          <p:nvPr/>
        </p:nvSpPr>
        <p:spPr>
          <a:xfrm>
            <a:off x="411479" y="3090672"/>
            <a:ext cx="1158240" cy="219456"/>
          </a:xfrm>
          <a:prstGeom prst="roundRect">
            <a:avLst>
              <a:gd name="adj" fmla="val 30000"/>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750" b="1" i="0">
                <a:solidFill>
                  <a:srgbClr val="FFFFFF"/>
                </a:solidFill>
                <a:latin typeface="Calibri"/>
              </a:rPr>
              <a:t>✗  REJECTED</a:t>
            </a:r>
          </a:p>
        </p:txBody>
      </p:sp>
      <p:sp>
        <p:nvSpPr>
          <p:cNvPr id="25" name="TextBox 24"/>
          <p:cNvSpPr txBox="1"/>
          <p:nvPr/>
        </p:nvSpPr>
        <p:spPr>
          <a:xfrm>
            <a:off x="411479" y="3419856"/>
            <a:ext cx="1158240" cy="1097280"/>
          </a:xfrm>
          <a:prstGeom prst="rect">
            <a:avLst/>
          </a:prstGeom>
          <a:noFill/>
        </p:spPr>
        <p:txBody>
          <a:bodyPr wrap="square" lIns="0" rIns="0" tIns="0" bIns="0" anchor="t">
            <a:spAutoFit/>
          </a:bodyPr>
          <a:lstStyle/>
          <a:p>
            <a:pPr algn="l"/>
            <a:r>
              <a:rPr sz="750" b="0" i="0">
                <a:solidFill>
                  <a:srgbClr val="2E2D29"/>
                </a:solidFill>
                <a:latin typeface="Calibri"/>
              </a:rPr>
              <a:t>Diastolic −25 mmHg. Free ξ exploited tree truncation, so ξ is now bounded and max_nodes raised to 1M</a:t>
            </a:r>
          </a:p>
        </p:txBody>
      </p:sp>
      <p:sp>
        <p:nvSpPr>
          <p:cNvPr id="26" name="Round 2 header"/>
          <p:cNvSpPr/>
          <p:nvPr/>
        </p:nvSpPr>
        <p:spPr>
          <a:xfrm>
            <a:off x="1752600" y="1335024"/>
            <a:ext cx="1469136" cy="457200"/>
          </a:xfrm>
          <a:prstGeom prst="chevron">
            <a:avLst/>
          </a:prstGeom>
          <a:solidFill>
            <a:srgbClr val="E9E7E4"/>
          </a:solidFill>
          <a:ln>
            <a:noFill/>
          </a:ln>
          <a:effectLst/>
        </p:spPr>
        <p:style>
          <a:lnRef idx="1">
            <a:schemeClr val="accent1"/>
          </a:lnRef>
          <a:fillRef idx="3">
            <a:schemeClr val="accent1"/>
          </a:fillRef>
          <a:effectRef idx="2">
            <a:schemeClr val="accent1"/>
          </a:effectRef>
          <a:fontRef idx="minor">
            <a:schemeClr val="lt1"/>
          </a:fontRef>
        </p:style>
        <p:txBody>
          <a:bodyPr rtlCol="0" anchor="ctr" lIns="146304" rIns="36576" tIns="18288" bIns="18288" wrap="square"/>
          <a:lstStyle/>
          <a:p>
            <a:pPr algn="ctr"/>
            <a:r>
              <a:rPr sz="850" b="1" i="0">
                <a:solidFill>
                  <a:srgbClr val="2E2D29"/>
                </a:solidFill>
                <a:latin typeface="Calibri"/>
              </a:rPr>
              <a:t>R2 · proximal C</a:t>
            </a:r>
          </a:p>
          <a:p>
            <a:pPr algn="ctr"/>
            <a:r>
              <a:rPr sz="750" b="0" i="0">
                <a:solidFill>
                  <a:srgbClr val="6B6965"/>
                </a:solidFill>
                <a:latin typeface="Calibri"/>
              </a:rPr>
              <a:t>25 Sep</a:t>
            </a:r>
          </a:p>
        </p:txBody>
      </p:sp>
      <p:sp>
        <p:nvSpPr>
          <p:cNvPr id="27" name="Round 2 card"/>
          <p:cNvSpPr/>
          <p:nvPr/>
        </p:nvSpPr>
        <p:spPr>
          <a:xfrm>
            <a:off x="1752600" y="1901952"/>
            <a:ext cx="1341120" cy="233172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p>
        </p:txBody>
      </p:sp>
      <p:sp>
        <p:nvSpPr>
          <p:cNvPr id="28" name="TextBox 27"/>
          <p:cNvSpPr txBox="1"/>
          <p:nvPr/>
        </p:nvSpPr>
        <p:spPr>
          <a:xfrm>
            <a:off x="1844040" y="1975104"/>
            <a:ext cx="1158240" cy="457200"/>
          </a:xfrm>
          <a:prstGeom prst="rect">
            <a:avLst/>
          </a:prstGeom>
          <a:noFill/>
        </p:spPr>
        <p:txBody>
          <a:bodyPr wrap="square" lIns="0" rIns="0" tIns="0" bIns="0" anchor="t">
            <a:spAutoFit/>
          </a:bodyPr>
          <a:lstStyle/>
          <a:p>
            <a:pPr algn="l"/>
            <a:r>
              <a:rPr sz="850" b="1" i="0">
                <a:solidFill>
                  <a:srgbClr val="2E2D29"/>
                </a:solidFill>
                <a:latin typeface="Calibri"/>
              </a:rPr>
              <a:t>Add compliance to the 45 seed vessels</a:t>
            </a:r>
          </a:p>
        </p:txBody>
      </p:sp>
      <p:sp>
        <p:nvSpPr>
          <p:cNvPr id="29" name="TextBox 28"/>
          <p:cNvSpPr txBox="1"/>
          <p:nvPr/>
        </p:nvSpPr>
        <p:spPr>
          <a:xfrm>
            <a:off x="1844040" y="2450592"/>
            <a:ext cx="1158240" cy="384048"/>
          </a:xfrm>
          <a:prstGeom prst="rect">
            <a:avLst/>
          </a:prstGeom>
          <a:noFill/>
        </p:spPr>
        <p:txBody>
          <a:bodyPr wrap="square" lIns="0" rIns="0" tIns="0" bIns="0" anchor="ctr">
            <a:spAutoFit/>
          </a:bodyPr>
          <a:lstStyle/>
          <a:p>
            <a:pPr algn="l"/>
            <a:r>
              <a:rPr sz="2200" b="1" i="0">
                <a:solidFill>
                  <a:srgbClr val="279989"/>
                </a:solidFill>
                <a:latin typeface="Calibri"/>
              </a:rPr>
              <a:t>33.5</a:t>
            </a:r>
          </a:p>
        </p:txBody>
      </p:sp>
      <p:sp>
        <p:nvSpPr>
          <p:cNvPr id="30" name="TextBox 29"/>
          <p:cNvSpPr txBox="1"/>
          <p:nvPr/>
        </p:nvSpPr>
        <p:spPr>
          <a:xfrm>
            <a:off x="1844040" y="2834640"/>
            <a:ext cx="1158240" cy="182880"/>
          </a:xfrm>
          <a:prstGeom prst="rect">
            <a:avLst/>
          </a:prstGeom>
          <a:noFill/>
        </p:spPr>
        <p:txBody>
          <a:bodyPr wrap="square" lIns="0" rIns="0" tIns="0" bIns="0" anchor="t">
            <a:spAutoFit/>
          </a:bodyPr>
          <a:lstStyle/>
          <a:p>
            <a:pPr algn="l"/>
            <a:r>
              <a:rPr sz="700" b="0" i="0">
                <a:solidFill>
                  <a:srgbClr val="6B6965"/>
                </a:solidFill>
                <a:latin typeface="Calibri"/>
              </a:rPr>
              <a:t>best physiological χ²</a:t>
            </a:r>
          </a:p>
        </p:txBody>
      </p:sp>
      <p:sp>
        <p:nvSpPr>
          <p:cNvPr id="31" name="Rounded Rectangle 30"/>
          <p:cNvSpPr/>
          <p:nvPr/>
        </p:nvSpPr>
        <p:spPr>
          <a:xfrm>
            <a:off x="1844040" y="3090672"/>
            <a:ext cx="1158240" cy="219456"/>
          </a:xfrm>
          <a:prstGeom prst="roundRect">
            <a:avLst>
              <a:gd name="adj" fmla="val 30000"/>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750" b="1" i="0">
                <a:solidFill>
                  <a:srgbClr val="FFFFFF"/>
                </a:solidFill>
                <a:latin typeface="Calibri"/>
              </a:rPr>
              <a:t>✓  ADOPTED</a:t>
            </a:r>
          </a:p>
        </p:txBody>
      </p:sp>
      <p:sp>
        <p:nvSpPr>
          <p:cNvPr id="32" name="TextBox 31"/>
          <p:cNvSpPr txBox="1"/>
          <p:nvPr/>
        </p:nvSpPr>
        <p:spPr>
          <a:xfrm>
            <a:off x="1844040" y="3419856"/>
            <a:ext cx="1158240" cy="1097280"/>
          </a:xfrm>
          <a:prstGeom prst="rect">
            <a:avLst/>
          </a:prstGeom>
          <a:noFill/>
        </p:spPr>
        <p:txBody>
          <a:bodyPr wrap="square" lIns="0" rIns="0" tIns="0" bIns="0" anchor="t">
            <a:spAutoFit/>
          </a:bodyPr>
          <a:lstStyle/>
          <a:p>
            <a:pPr algn="l"/>
            <a:r>
              <a:rPr sz="750" b="0" i="0">
                <a:solidFill>
                  <a:srgbClr val="2E2D29"/>
                </a:solidFill>
                <a:latin typeface="Calibri"/>
              </a:rPr>
              <a:t>Eh/r 5×10⁴ gives 0.63 mL/mmHg; χ² 267 → 33.5. Gaussian likelihood replaces relative loss</a:t>
            </a:r>
          </a:p>
        </p:txBody>
      </p:sp>
      <p:sp>
        <p:nvSpPr>
          <p:cNvPr id="33" name="Round 3 header"/>
          <p:cNvSpPr/>
          <p:nvPr/>
        </p:nvSpPr>
        <p:spPr>
          <a:xfrm>
            <a:off x="3185160" y="1335024"/>
            <a:ext cx="1469136" cy="457200"/>
          </a:xfrm>
          <a:prstGeom prst="chevron">
            <a:avLst/>
          </a:prstGeom>
          <a:solidFill>
            <a:srgbClr val="E9E7E4"/>
          </a:solidFill>
          <a:ln>
            <a:noFill/>
          </a:ln>
          <a:effectLst/>
        </p:spPr>
        <p:style>
          <a:lnRef idx="1">
            <a:schemeClr val="accent1"/>
          </a:lnRef>
          <a:fillRef idx="3">
            <a:schemeClr val="accent1"/>
          </a:fillRef>
          <a:effectRef idx="2">
            <a:schemeClr val="accent1"/>
          </a:effectRef>
          <a:fontRef idx="minor">
            <a:schemeClr val="lt1"/>
          </a:fontRef>
        </p:style>
        <p:txBody>
          <a:bodyPr rtlCol="0" anchor="ctr" lIns="146304" rIns="36576" tIns="18288" bIns="18288" wrap="square"/>
          <a:lstStyle/>
          <a:p>
            <a:pPr algn="ctr"/>
            <a:r>
              <a:rPr sz="850" b="1" i="0">
                <a:solidFill>
                  <a:srgbClr val="2E2D29"/>
                </a:solidFill>
                <a:latin typeface="Calibri"/>
              </a:rPr>
              <a:t>R3 · outlet P</a:t>
            </a:r>
          </a:p>
          <a:p>
            <a:pPr algn="ctr"/>
            <a:r>
              <a:rPr sz="750" b="0" i="0">
                <a:solidFill>
                  <a:srgbClr val="6B6965"/>
                </a:solidFill>
                <a:latin typeface="Calibri"/>
              </a:rPr>
              <a:t>28 Sep</a:t>
            </a:r>
          </a:p>
        </p:txBody>
      </p:sp>
      <p:sp>
        <p:nvSpPr>
          <p:cNvPr id="34" name="Round 3 card"/>
          <p:cNvSpPr/>
          <p:nvPr/>
        </p:nvSpPr>
        <p:spPr>
          <a:xfrm>
            <a:off x="3185160" y="1901952"/>
            <a:ext cx="1341120" cy="233172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p>
        </p:txBody>
      </p:sp>
      <p:sp>
        <p:nvSpPr>
          <p:cNvPr id="35" name="TextBox 34"/>
          <p:cNvSpPr txBox="1"/>
          <p:nvPr/>
        </p:nvSpPr>
        <p:spPr>
          <a:xfrm>
            <a:off x="3276600" y="1975104"/>
            <a:ext cx="1158240" cy="457200"/>
          </a:xfrm>
          <a:prstGeom prst="rect">
            <a:avLst/>
          </a:prstGeom>
          <a:noFill/>
        </p:spPr>
        <p:txBody>
          <a:bodyPr wrap="square" lIns="0" rIns="0" tIns="0" bIns="0" anchor="t">
            <a:spAutoFit/>
          </a:bodyPr>
          <a:lstStyle/>
          <a:p>
            <a:pPr algn="l"/>
            <a:r>
              <a:rPr sz="850" b="1" i="0">
                <a:solidFill>
                  <a:srgbClr val="2E2D29"/>
                </a:solidFill>
                <a:latin typeface="Calibri"/>
              </a:rPr>
              <a:t>Trees end at pre-capillary arterioles</a:t>
            </a:r>
          </a:p>
        </p:txBody>
      </p:sp>
      <p:sp>
        <p:nvSpPr>
          <p:cNvPr id="36" name="TextBox 35"/>
          <p:cNvSpPr txBox="1"/>
          <p:nvPr/>
        </p:nvSpPr>
        <p:spPr>
          <a:xfrm>
            <a:off x="3276600" y="2450592"/>
            <a:ext cx="1158240" cy="384048"/>
          </a:xfrm>
          <a:prstGeom prst="rect">
            <a:avLst/>
          </a:prstGeom>
          <a:noFill/>
        </p:spPr>
        <p:txBody>
          <a:bodyPr wrap="square" lIns="0" rIns="0" tIns="0" bIns="0" anchor="ctr">
            <a:spAutoFit/>
          </a:bodyPr>
          <a:lstStyle/>
          <a:p>
            <a:pPr algn="l"/>
            <a:r>
              <a:rPr sz="2200" b="1" i="0">
                <a:solidFill>
                  <a:srgbClr val="279989"/>
                </a:solidFill>
                <a:latin typeface="Calibri"/>
              </a:rPr>
              <a:t>17.3</a:t>
            </a:r>
          </a:p>
        </p:txBody>
      </p:sp>
      <p:sp>
        <p:nvSpPr>
          <p:cNvPr id="37" name="TextBox 36"/>
          <p:cNvSpPr txBox="1"/>
          <p:nvPr/>
        </p:nvSpPr>
        <p:spPr>
          <a:xfrm>
            <a:off x="3276600" y="2834640"/>
            <a:ext cx="1158240" cy="182880"/>
          </a:xfrm>
          <a:prstGeom prst="rect">
            <a:avLst/>
          </a:prstGeom>
          <a:noFill/>
        </p:spPr>
        <p:txBody>
          <a:bodyPr wrap="square" lIns="0" rIns="0" tIns="0" bIns="0" anchor="t">
            <a:spAutoFit/>
          </a:bodyPr>
          <a:lstStyle/>
          <a:p>
            <a:pPr algn="l"/>
            <a:r>
              <a:rPr sz="700" b="0" i="0">
                <a:solidFill>
                  <a:srgbClr val="6B6965"/>
                </a:solidFill>
                <a:latin typeface="Calibri"/>
              </a:rPr>
              <a:t>best physiological χ²</a:t>
            </a:r>
          </a:p>
        </p:txBody>
      </p:sp>
      <p:sp>
        <p:nvSpPr>
          <p:cNvPr id="38" name="Rounded Rectangle 37"/>
          <p:cNvSpPr/>
          <p:nvPr/>
        </p:nvSpPr>
        <p:spPr>
          <a:xfrm>
            <a:off x="3276600" y="3090672"/>
            <a:ext cx="1158240" cy="219456"/>
          </a:xfrm>
          <a:prstGeom prst="roundRect">
            <a:avLst>
              <a:gd name="adj" fmla="val 30000"/>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750" b="1" i="0">
                <a:solidFill>
                  <a:srgbClr val="FFFFFF"/>
                </a:solidFill>
                <a:latin typeface="Calibri"/>
              </a:rPr>
              <a:t>✓  ADOPTED</a:t>
            </a:r>
          </a:p>
        </p:txBody>
      </p:sp>
      <p:sp>
        <p:nvSpPr>
          <p:cNvPr id="39" name="TextBox 38"/>
          <p:cNvSpPr txBox="1"/>
          <p:nvPr/>
        </p:nvSpPr>
        <p:spPr>
          <a:xfrm>
            <a:off x="3276600" y="3419856"/>
            <a:ext cx="1158240" cy="1097280"/>
          </a:xfrm>
          <a:prstGeom prst="rect">
            <a:avLst/>
          </a:prstGeom>
          <a:noFill/>
        </p:spPr>
        <p:txBody>
          <a:bodyPr wrap="square" lIns="0" rIns="0" tIns="0" bIns="0" anchor="t">
            <a:spAutoFit/>
          </a:bodyPr>
          <a:lstStyle/>
          <a:p>
            <a:pPr algn="l"/>
            <a:r>
              <a:rPr sz="750" b="0" i="0">
                <a:solidFill>
                  <a:srgbClr val="2E2D29"/>
                </a:solidFill>
                <a:latin typeface="Calibri"/>
              </a:rPr>
              <a:t>Pd 7 → 9.99 mmHg lifts mean and diastolic ~3 mmHg without raising the pulse</a:t>
            </a:r>
          </a:p>
        </p:txBody>
      </p:sp>
      <p:sp>
        <p:nvSpPr>
          <p:cNvPr id="40" name="Round 4 header"/>
          <p:cNvSpPr/>
          <p:nvPr/>
        </p:nvSpPr>
        <p:spPr>
          <a:xfrm>
            <a:off x="4617720" y="1335024"/>
            <a:ext cx="1469136" cy="457200"/>
          </a:xfrm>
          <a:prstGeom prst="chevron">
            <a:avLst/>
          </a:prstGeom>
          <a:solidFill>
            <a:srgbClr val="E9E7E4"/>
          </a:solidFill>
          <a:ln>
            <a:noFill/>
          </a:ln>
          <a:effectLst/>
        </p:spPr>
        <p:style>
          <a:lnRef idx="1">
            <a:schemeClr val="accent1"/>
          </a:lnRef>
          <a:fillRef idx="3">
            <a:schemeClr val="accent1"/>
          </a:fillRef>
          <a:effectRef idx="2">
            <a:schemeClr val="accent1"/>
          </a:effectRef>
          <a:fontRef idx="minor">
            <a:schemeClr val="lt1"/>
          </a:fontRef>
        </p:style>
        <p:txBody>
          <a:bodyPr rtlCol="0" anchor="ctr" lIns="146304" rIns="36576" tIns="18288" bIns="18288" wrap="square"/>
          <a:lstStyle/>
          <a:p>
            <a:pPr algn="ctr"/>
            <a:r>
              <a:rPr sz="850" b="1" i="0">
                <a:solidFill>
                  <a:srgbClr val="2E2D29"/>
                </a:solidFill>
                <a:latin typeface="Calibri"/>
              </a:rPr>
              <a:t>R4 · k₃ low</a:t>
            </a:r>
          </a:p>
          <a:p>
            <a:pPr algn="ctr"/>
            <a:r>
              <a:rPr sz="750" b="0" i="0">
                <a:solidFill>
                  <a:srgbClr val="6B6965"/>
                </a:solidFill>
                <a:latin typeface="Calibri"/>
              </a:rPr>
              <a:t>28 Sep</a:t>
            </a:r>
          </a:p>
        </p:txBody>
      </p:sp>
      <p:sp>
        <p:nvSpPr>
          <p:cNvPr id="41" name="Round 4 card"/>
          <p:cNvSpPr/>
          <p:nvPr/>
        </p:nvSpPr>
        <p:spPr>
          <a:xfrm>
            <a:off x="4617720" y="1901952"/>
            <a:ext cx="1341120" cy="233172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p>
        </p:txBody>
      </p:sp>
      <p:sp>
        <p:nvSpPr>
          <p:cNvPr id="42" name="TextBox 41"/>
          <p:cNvSpPr txBox="1"/>
          <p:nvPr/>
        </p:nvSpPr>
        <p:spPr>
          <a:xfrm>
            <a:off x="4709160" y="1975104"/>
            <a:ext cx="1158240" cy="457200"/>
          </a:xfrm>
          <a:prstGeom prst="rect">
            <a:avLst/>
          </a:prstGeom>
          <a:noFill/>
        </p:spPr>
        <p:txBody>
          <a:bodyPr wrap="square" lIns="0" rIns="0" tIns="0" bIns="0" anchor="t">
            <a:spAutoFit/>
          </a:bodyPr>
          <a:lstStyle/>
          <a:p>
            <a:pPr algn="l"/>
            <a:r>
              <a:rPr sz="850" b="1" i="0">
                <a:solidFill>
                  <a:srgbClr val="2E2D29"/>
                </a:solidFill>
                <a:latin typeface="Calibri"/>
              </a:rPr>
              <a:t>Softer trees: k₃ below 5×10⁴</a:t>
            </a:r>
          </a:p>
        </p:txBody>
      </p:sp>
      <p:sp>
        <p:nvSpPr>
          <p:cNvPr id="43" name="TextBox 42"/>
          <p:cNvSpPr txBox="1"/>
          <p:nvPr/>
        </p:nvSpPr>
        <p:spPr>
          <a:xfrm>
            <a:off x="4709160" y="2450592"/>
            <a:ext cx="1158240" cy="384048"/>
          </a:xfrm>
          <a:prstGeom prst="rect">
            <a:avLst/>
          </a:prstGeom>
          <a:noFill/>
        </p:spPr>
        <p:txBody>
          <a:bodyPr wrap="square" lIns="0" rIns="0" tIns="0" bIns="0" anchor="ctr">
            <a:spAutoFit/>
          </a:bodyPr>
          <a:lstStyle/>
          <a:p>
            <a:pPr algn="l"/>
            <a:r>
              <a:rPr sz="2200" b="1" i="0">
                <a:solidFill>
                  <a:srgbClr val="8C1515"/>
                </a:solidFill>
                <a:latin typeface="Calibri"/>
              </a:rPr>
              <a:t>11.0</a:t>
            </a:r>
          </a:p>
        </p:txBody>
      </p:sp>
      <p:sp>
        <p:nvSpPr>
          <p:cNvPr id="44" name="TextBox 43"/>
          <p:cNvSpPr txBox="1"/>
          <p:nvPr/>
        </p:nvSpPr>
        <p:spPr>
          <a:xfrm>
            <a:off x="4709160" y="2834640"/>
            <a:ext cx="1158240" cy="182880"/>
          </a:xfrm>
          <a:prstGeom prst="rect">
            <a:avLst/>
          </a:prstGeom>
          <a:noFill/>
        </p:spPr>
        <p:txBody>
          <a:bodyPr wrap="square" lIns="0" rIns="0" tIns="0" bIns="0" anchor="t">
            <a:spAutoFit/>
          </a:bodyPr>
          <a:lstStyle/>
          <a:p>
            <a:pPr algn="l"/>
            <a:r>
              <a:rPr sz="700" b="0" i="0">
                <a:solidFill>
                  <a:srgbClr val="6B6965"/>
                </a:solidFill>
                <a:latin typeface="Calibri"/>
              </a:rPr>
              <a:t>best physiological χ²</a:t>
            </a:r>
          </a:p>
        </p:txBody>
      </p:sp>
      <p:sp>
        <p:nvSpPr>
          <p:cNvPr id="45" name="Rounded Rectangle 44"/>
          <p:cNvSpPr/>
          <p:nvPr/>
        </p:nvSpPr>
        <p:spPr>
          <a:xfrm>
            <a:off x="4709160" y="3090672"/>
            <a:ext cx="1158240" cy="219456"/>
          </a:xfrm>
          <a:prstGeom prst="roundRect">
            <a:avLst>
              <a:gd name="adj" fmla="val 30000"/>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750" b="1" i="0">
                <a:solidFill>
                  <a:srgbClr val="FFFFFF"/>
                </a:solidFill>
                <a:latin typeface="Calibri"/>
              </a:rPr>
              <a:t>✗  REJECTED</a:t>
            </a:r>
          </a:p>
        </p:txBody>
      </p:sp>
      <p:sp>
        <p:nvSpPr>
          <p:cNvPr id="46" name="TextBox 45"/>
          <p:cNvSpPr txBox="1"/>
          <p:nvPr/>
        </p:nvSpPr>
        <p:spPr>
          <a:xfrm>
            <a:off x="4709160" y="3419856"/>
            <a:ext cx="1158240" cy="1097280"/>
          </a:xfrm>
          <a:prstGeom prst="rect">
            <a:avLst/>
          </a:prstGeom>
          <a:noFill/>
        </p:spPr>
        <p:txBody>
          <a:bodyPr wrap="square" lIns="0" rIns="0" tIns="0" bIns="0" anchor="t">
            <a:spAutoFit/>
          </a:bodyPr>
          <a:lstStyle/>
          <a:p>
            <a:pPr algn="l"/>
            <a:r>
              <a:rPr sz="750" b="0" i="0">
                <a:solidFill>
                  <a:srgbClr val="2E2D29"/>
                </a:solidFill>
                <a:latin typeface="Calibri"/>
              </a:rPr>
              <a:t>Gain comes from one oversized cap the optimizer never sees (gap up to 7.3 mmHg)</a:t>
            </a:r>
          </a:p>
        </p:txBody>
      </p:sp>
      <p:sp>
        <p:nvSpPr>
          <p:cNvPr id="47" name="Round 5 header"/>
          <p:cNvSpPr/>
          <p:nvPr/>
        </p:nvSpPr>
        <p:spPr>
          <a:xfrm>
            <a:off x="6050280" y="1335024"/>
            <a:ext cx="1469136" cy="457200"/>
          </a:xfrm>
          <a:prstGeom prst="chevron">
            <a:avLst/>
          </a:prstGeom>
          <a:solidFill>
            <a:srgbClr val="E9E7E4"/>
          </a:solidFill>
          <a:ln>
            <a:noFill/>
          </a:ln>
          <a:effectLst/>
        </p:spPr>
        <p:style>
          <a:lnRef idx="1">
            <a:schemeClr val="accent1"/>
          </a:lnRef>
          <a:fillRef idx="3">
            <a:schemeClr val="accent1"/>
          </a:fillRef>
          <a:effectRef idx="2">
            <a:schemeClr val="accent1"/>
          </a:effectRef>
          <a:fontRef idx="minor">
            <a:schemeClr val="lt1"/>
          </a:fontRef>
        </p:style>
        <p:txBody>
          <a:bodyPr rtlCol="0" anchor="ctr" lIns="146304" rIns="36576" tIns="18288" bIns="18288" wrap="square"/>
          <a:lstStyle/>
          <a:p>
            <a:pPr algn="ctr"/>
            <a:r>
              <a:rPr sz="850" b="1" i="0">
                <a:solidFill>
                  <a:srgbClr val="2E2D29"/>
                </a:solidFill>
                <a:latin typeface="Calibri"/>
              </a:rPr>
              <a:t>R5 · k₂ free</a:t>
            </a:r>
          </a:p>
          <a:p>
            <a:pPr algn="ctr"/>
            <a:r>
              <a:rPr sz="750" b="0" i="0">
                <a:solidFill>
                  <a:srgbClr val="6B6965"/>
                </a:solidFill>
                <a:latin typeface="Calibri"/>
              </a:rPr>
              <a:t>28 Sep</a:t>
            </a:r>
          </a:p>
        </p:txBody>
      </p:sp>
      <p:sp>
        <p:nvSpPr>
          <p:cNvPr id="48" name="Round 5 card"/>
          <p:cNvSpPr/>
          <p:nvPr/>
        </p:nvSpPr>
        <p:spPr>
          <a:xfrm>
            <a:off x="6050280" y="1901952"/>
            <a:ext cx="1341120" cy="233172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p>
        </p:txBody>
      </p:sp>
      <p:sp>
        <p:nvSpPr>
          <p:cNvPr id="49" name="TextBox 48"/>
          <p:cNvSpPr txBox="1"/>
          <p:nvPr/>
        </p:nvSpPr>
        <p:spPr>
          <a:xfrm>
            <a:off x="6141720" y="1975104"/>
            <a:ext cx="1158240" cy="457200"/>
          </a:xfrm>
          <a:prstGeom prst="rect">
            <a:avLst/>
          </a:prstGeom>
          <a:noFill/>
        </p:spPr>
        <p:txBody>
          <a:bodyPr wrap="square" lIns="0" rIns="0" tIns="0" bIns="0" anchor="t">
            <a:spAutoFit/>
          </a:bodyPr>
          <a:lstStyle/>
          <a:p>
            <a:pPr algn="l"/>
            <a:r>
              <a:rPr sz="850" b="1" i="0">
                <a:solidFill>
                  <a:srgbClr val="2E2D29"/>
                </a:solidFill>
                <a:latin typeface="Calibri"/>
              </a:rPr>
              <a:t>Tune k₂ in [−50, −10] instead</a:t>
            </a:r>
          </a:p>
        </p:txBody>
      </p:sp>
      <p:sp>
        <p:nvSpPr>
          <p:cNvPr id="50" name="TextBox 49"/>
          <p:cNvSpPr txBox="1"/>
          <p:nvPr/>
        </p:nvSpPr>
        <p:spPr>
          <a:xfrm>
            <a:off x="6141720" y="2450592"/>
            <a:ext cx="1158240" cy="384048"/>
          </a:xfrm>
          <a:prstGeom prst="rect">
            <a:avLst/>
          </a:prstGeom>
          <a:noFill/>
        </p:spPr>
        <p:txBody>
          <a:bodyPr wrap="square" lIns="0" rIns="0" tIns="0" bIns="0" anchor="ctr">
            <a:spAutoFit/>
          </a:bodyPr>
          <a:lstStyle/>
          <a:p>
            <a:pPr algn="l"/>
            <a:r>
              <a:rPr sz="2200" b="1" i="0">
                <a:solidFill>
                  <a:srgbClr val="8C1515"/>
                </a:solidFill>
                <a:latin typeface="Calibri"/>
              </a:rPr>
              <a:t>16.1</a:t>
            </a:r>
          </a:p>
        </p:txBody>
      </p:sp>
      <p:sp>
        <p:nvSpPr>
          <p:cNvPr id="51" name="TextBox 50"/>
          <p:cNvSpPr txBox="1"/>
          <p:nvPr/>
        </p:nvSpPr>
        <p:spPr>
          <a:xfrm>
            <a:off x="6141720" y="2834640"/>
            <a:ext cx="1158240" cy="182880"/>
          </a:xfrm>
          <a:prstGeom prst="rect">
            <a:avLst/>
          </a:prstGeom>
          <a:noFill/>
        </p:spPr>
        <p:txBody>
          <a:bodyPr wrap="square" lIns="0" rIns="0" tIns="0" bIns="0" anchor="t">
            <a:spAutoFit/>
          </a:bodyPr>
          <a:lstStyle/>
          <a:p>
            <a:pPr algn="l"/>
            <a:r>
              <a:rPr sz="700" b="0" i="0">
                <a:solidFill>
                  <a:srgbClr val="6B6965"/>
                </a:solidFill>
                <a:latin typeface="Calibri"/>
              </a:rPr>
              <a:t>best physiological χ²</a:t>
            </a:r>
          </a:p>
        </p:txBody>
      </p:sp>
      <p:sp>
        <p:nvSpPr>
          <p:cNvPr id="52" name="Rounded Rectangle 51"/>
          <p:cNvSpPr/>
          <p:nvPr/>
        </p:nvSpPr>
        <p:spPr>
          <a:xfrm>
            <a:off x="6141720" y="3090672"/>
            <a:ext cx="1158240" cy="219456"/>
          </a:xfrm>
          <a:prstGeom prst="roundRect">
            <a:avLst>
              <a:gd name="adj" fmla="val 30000"/>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750" b="1" i="0">
                <a:solidFill>
                  <a:srgbClr val="FFFFFF"/>
                </a:solidFill>
                <a:latin typeface="Calibri"/>
              </a:rPr>
              <a:t>✗  REJECTED</a:t>
            </a:r>
          </a:p>
        </p:txBody>
      </p:sp>
      <p:sp>
        <p:nvSpPr>
          <p:cNvPr id="53" name="TextBox 52"/>
          <p:cNvSpPr txBox="1"/>
          <p:nvPr/>
        </p:nvSpPr>
        <p:spPr>
          <a:xfrm>
            <a:off x="6141720" y="3419856"/>
            <a:ext cx="1158240" cy="1097280"/>
          </a:xfrm>
          <a:prstGeom prst="rect">
            <a:avLst/>
          </a:prstGeom>
          <a:noFill/>
        </p:spPr>
        <p:txBody>
          <a:bodyPr wrap="square" lIns="0" rIns="0" tIns="0" bIns="0" anchor="t">
            <a:spAutoFit/>
          </a:bodyPr>
          <a:lstStyle/>
          <a:p>
            <a:pPr algn="l"/>
            <a:r>
              <a:rPr sz="750" b="0" i="0">
                <a:solidFill>
                  <a:srgbClr val="2E2D29"/>
                </a:solidFill>
                <a:latin typeface="Calibri"/>
              </a:rPr>
              <a:t>k₂ runs to −50 (literature −14 to −22.5) for 0.3 mmHg of diastolic</a:t>
            </a:r>
          </a:p>
        </p:txBody>
      </p:sp>
      <p:sp>
        <p:nvSpPr>
          <p:cNvPr id="54" name="Round 6 header"/>
          <p:cNvSpPr/>
          <p:nvPr/>
        </p:nvSpPr>
        <p:spPr>
          <a:xfrm>
            <a:off x="7482840" y="1335024"/>
            <a:ext cx="1469136" cy="457200"/>
          </a:xfrm>
          <a:prstGeom prst="chevron">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lIns="146304" rIns="36576" tIns="18288" bIns="18288" wrap="square"/>
          <a:lstStyle/>
          <a:p>
            <a:pPr algn="ctr"/>
            <a:r>
              <a:rPr sz="850" b="1" i="0">
                <a:solidFill>
                  <a:srgbClr val="FFFFFF"/>
                </a:solidFill>
                <a:latin typeface="Calibri"/>
              </a:rPr>
              <a:t>R6 · Option 1</a:t>
            </a:r>
          </a:p>
          <a:p>
            <a:pPr algn="ctr"/>
            <a:r>
              <a:rPr sz="750" b="0" i="0">
                <a:solidFill>
                  <a:srgbClr val="FFFFFF"/>
                </a:solidFill>
                <a:latin typeface="Calibri"/>
              </a:rPr>
              <a:t>5 Oct</a:t>
            </a:r>
          </a:p>
        </p:txBody>
      </p:sp>
      <p:sp>
        <p:nvSpPr>
          <p:cNvPr id="55" name="Round 6 card"/>
          <p:cNvSpPr/>
          <p:nvPr/>
        </p:nvSpPr>
        <p:spPr>
          <a:xfrm>
            <a:off x="7482840" y="1901952"/>
            <a:ext cx="1341120" cy="2331720"/>
          </a:xfrm>
          <a:prstGeom prst="rect">
            <a:avLst/>
          </a:prstGeom>
          <a:solidFill>
            <a:srgbClr val="FDEED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p>
        </p:txBody>
      </p:sp>
      <p:sp>
        <p:nvSpPr>
          <p:cNvPr id="56" name="TextBox 55"/>
          <p:cNvSpPr txBox="1"/>
          <p:nvPr/>
        </p:nvSpPr>
        <p:spPr>
          <a:xfrm>
            <a:off x="7574280" y="1975104"/>
            <a:ext cx="1158240" cy="457200"/>
          </a:xfrm>
          <a:prstGeom prst="rect">
            <a:avLst/>
          </a:prstGeom>
          <a:noFill/>
        </p:spPr>
        <p:txBody>
          <a:bodyPr wrap="square" lIns="0" rIns="0" tIns="0" bIns="0" anchor="t">
            <a:spAutoFit/>
          </a:bodyPr>
          <a:lstStyle/>
          <a:p>
            <a:pPr algn="l"/>
            <a:r>
              <a:rPr sz="850" b="1" i="0">
                <a:solidFill>
                  <a:srgbClr val="2E2D29"/>
                </a:solidFill>
                <a:latin typeface="Calibri"/>
              </a:rPr>
              <a:t>Lock the config; shared vs per-cap objective trees</a:t>
            </a:r>
          </a:p>
        </p:txBody>
      </p:sp>
      <p:sp>
        <p:nvSpPr>
          <p:cNvPr id="57" name="TextBox 56"/>
          <p:cNvSpPr txBox="1"/>
          <p:nvPr/>
        </p:nvSpPr>
        <p:spPr>
          <a:xfrm>
            <a:off x="7574280" y="2450592"/>
            <a:ext cx="1158240" cy="384048"/>
          </a:xfrm>
          <a:prstGeom prst="rect">
            <a:avLst/>
          </a:prstGeom>
          <a:noFill/>
        </p:spPr>
        <p:txBody>
          <a:bodyPr wrap="square" lIns="0" rIns="0" tIns="0" bIns="0" anchor="ctr">
            <a:spAutoFit/>
          </a:bodyPr>
          <a:lstStyle/>
          <a:p>
            <a:pPr algn="l"/>
            <a:r>
              <a:rPr sz="2200" b="1" i="0">
                <a:solidFill>
                  <a:srgbClr val="E98300"/>
                </a:solidFill>
                <a:latin typeface="Calibri"/>
              </a:rPr>
              <a:t>17.3</a:t>
            </a:r>
          </a:p>
        </p:txBody>
      </p:sp>
      <p:sp>
        <p:nvSpPr>
          <p:cNvPr id="58" name="TextBox 57"/>
          <p:cNvSpPr txBox="1"/>
          <p:nvPr/>
        </p:nvSpPr>
        <p:spPr>
          <a:xfrm>
            <a:off x="7574280" y="2834640"/>
            <a:ext cx="1158240" cy="182880"/>
          </a:xfrm>
          <a:prstGeom prst="rect">
            <a:avLst/>
          </a:prstGeom>
          <a:noFill/>
        </p:spPr>
        <p:txBody>
          <a:bodyPr wrap="square" lIns="0" rIns="0" tIns="0" bIns="0" anchor="t">
            <a:spAutoFit/>
          </a:bodyPr>
          <a:lstStyle/>
          <a:p>
            <a:pPr algn="l"/>
            <a:r>
              <a:rPr sz="700" b="0" i="0">
                <a:solidFill>
                  <a:srgbClr val="6B6965"/>
                </a:solidFill>
                <a:latin typeface="Calibri"/>
              </a:rPr>
              <a:t>best physiological χ²</a:t>
            </a:r>
          </a:p>
        </p:txBody>
      </p:sp>
      <p:sp>
        <p:nvSpPr>
          <p:cNvPr id="59" name="Rounded Rectangle 58"/>
          <p:cNvSpPr/>
          <p:nvPr/>
        </p:nvSpPr>
        <p:spPr>
          <a:xfrm>
            <a:off x="7574280" y="3090672"/>
            <a:ext cx="1158240" cy="219456"/>
          </a:xfrm>
          <a:prstGeom prst="roundRect">
            <a:avLst>
              <a:gd name="adj" fmla="val 30000"/>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750" b="1" i="0">
                <a:solidFill>
                  <a:srgbClr val="FFFFFF"/>
                </a:solidFill>
                <a:latin typeface="Calibri"/>
              </a:rPr>
              <a:t>FINAL MODEL</a:t>
            </a:r>
          </a:p>
        </p:txBody>
      </p:sp>
      <p:sp>
        <p:nvSpPr>
          <p:cNvPr id="60" name="TextBox 59"/>
          <p:cNvSpPr txBox="1"/>
          <p:nvPr/>
        </p:nvSpPr>
        <p:spPr>
          <a:xfrm>
            <a:off x="7574280" y="3419856"/>
            <a:ext cx="1158240" cy="1097280"/>
          </a:xfrm>
          <a:prstGeom prst="rect">
            <a:avLst/>
          </a:prstGeom>
          <a:noFill/>
        </p:spPr>
        <p:txBody>
          <a:bodyPr wrap="square" lIns="0" rIns="0" tIns="0" bIns="0" anchor="t">
            <a:spAutoFit/>
          </a:bodyPr>
          <a:lstStyle/>
          <a:p>
            <a:pPr algn="l"/>
            <a:r>
              <a:rPr sz="750" b="0" i="0">
                <a:solidFill>
                  <a:srgbClr val="2E2D29"/>
                </a:solidFill>
                <a:latin typeface="Calibri"/>
              </a:rPr>
              <a:t>Shared trees done (surrogate gap 2.6 mmHg); per-cap comparison running</a:t>
            </a:r>
          </a:p>
        </p:txBody>
      </p:sp>
      <p:sp>
        <p:nvSpPr>
          <p:cNvPr id="61" name="Takeaway bar"/>
          <p:cNvSpPr/>
          <p:nvPr/>
        </p:nvSpPr>
        <p:spPr>
          <a:xfrm>
            <a:off x="320040" y="4700016"/>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p>
        </p:txBody>
      </p:sp>
      <p:sp>
        <p:nvSpPr>
          <p:cNvPr id="62" name="TextBox 61"/>
          <p:cNvSpPr txBox="1"/>
          <p:nvPr/>
        </p:nvSpPr>
        <p:spPr>
          <a:xfrm>
            <a:off x="429768" y="4700016"/>
            <a:ext cx="8284464" cy="310896"/>
          </a:xfrm>
          <a:prstGeom prst="rect">
            <a:avLst/>
          </a:prstGeom>
          <a:noFill/>
        </p:spPr>
        <p:txBody>
          <a:bodyPr wrap="square" lIns="0" rIns="0" tIns="0" bIns="0" anchor="ctr">
            <a:spAutoFit/>
          </a:bodyPr>
          <a:lstStyle/>
          <a:p>
            <a:pPr algn="l"/>
            <a:r>
              <a:rPr sz="1000" b="1" i="0">
                <a:solidFill>
                  <a:srgbClr val="8C1515"/>
                </a:solidFill>
                <a:latin typeface="Calibri"/>
              </a:rPr>
              <a:t>Two changes stuck: proximal compliance and a pre-capillary outlet pressure. Softening the trees past the literature did not.</a:t>
            </a:r>
          </a:p>
        </p:txBody>
      </p:sp>
      <p:sp>
        <p:nvSpPr>
          <p:cNvPr id="63" name="TextBox 62"/>
          <p:cNvSpPr txBox="1"/>
          <p:nvPr/>
        </p:nvSpPr>
        <p:spPr>
          <a:xfrm>
            <a:off x="2011680" y="5376672"/>
            <a:ext cx="6812280" cy="201168"/>
          </a:xfrm>
          <a:prstGeom prst="rect">
            <a:avLst/>
          </a:prstGeom>
          <a:noFill/>
        </p:spPr>
        <p:txBody>
          <a:bodyPr wrap="square" lIns="0" rIns="0" tIns="0" bIns="0" anchor="ctr">
            <a:spAutoFit/>
          </a:bodyPr>
          <a:lstStyle/>
          <a:p>
            <a:pPr algn="l"/>
            <a:r>
              <a:rPr sz="700" b="0" i="1">
                <a:solidFill>
                  <a:srgbClr val="6B6965"/>
                </a:solidFill>
                <a:latin typeface="Calibri"/>
              </a:rPr>
              <a:t>χ²: Gaussian likelihood on the published per-cap model (σ 2 mmHg / 0.02). R1 = fully physiological case B6; R4 = k₃ 5×10³. FINDINGS.md, OPTION1.md; runs/phasev2b-*, phasepd10-1, phasek3low-1, phasek2free-1, phaseo1cmp-1.</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lang="en-US" sz="2200" dirty="0">
                <a:solidFill>
                  <a:srgbClr val="8C1515"/>
                </a:solidFill>
                <a:latin typeface="Georgia"/>
              </a:rPr>
              <a:t>v1 result: literature stiffness misses the pulse pressure</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IN DEVELOPMENT</a:t>
            </a:r>
          </a:p>
        </p:txBody>
      </p:sp>
      <p:sp>
        <p:nvSpPr>
          <p:cNvPr id="19" name="TextBox 18"/>
          <p:cNvSpPr txBox="1"/>
          <p:nvPr/>
        </p:nvSpPr>
        <p:spPr>
          <a:xfrm>
            <a:off x="320040" y="1316736"/>
            <a:ext cx="5303520" cy="219456"/>
          </a:xfrm>
          <a:prstGeom prst="rect">
            <a:avLst/>
          </a:prstGeom>
          <a:noFill/>
        </p:spPr>
        <p:txBody>
          <a:bodyPr wrap="square" lIns="0" tIns="0" rIns="0" bIns="0" anchor="ctr"/>
          <a:lstStyle/>
          <a:p>
            <a:pPr algn="l"/>
            <a:r>
              <a:rPr sz="1000" b="1" i="0">
                <a:solidFill>
                  <a:srgbClr val="8C1515"/>
                </a:solidFill>
                <a:latin typeface="Calibri"/>
              </a:rPr>
              <a:t>Published MPA pressure (mmHg), representative v1 cases</a:t>
            </a:r>
          </a:p>
        </p:txBody>
      </p:sp>
      <p:graphicFrame>
        <p:nvGraphicFramePr>
          <p:cNvPr id="20" name="Chart 19"/>
          <p:cNvGraphicFramePr>
            <a:graphicFrameLocks noGrp="1"/>
          </p:cNvGraphicFramePr>
          <p:nvPr/>
        </p:nvGraphicFramePr>
        <p:xfrm>
          <a:off x="274320" y="1536192"/>
          <a:ext cx="5349240" cy="3090672"/>
        </p:xfrm>
        <a:graphic>
          <a:graphicData uri="http://schemas.openxmlformats.org/drawingml/2006/chart">
            <c:chart xmlns:c="http://schemas.openxmlformats.org/drawingml/2006/chart" xmlns:r="http://schemas.openxmlformats.org/officeDocument/2006/relationships" r:id="rId3"/>
          </a:graphicData>
        </a:graphic>
      </p:graphicFrame>
      <p:sp>
        <p:nvSpPr>
          <p:cNvPr id="21" name="Rectangle 20"/>
          <p:cNvSpPr/>
          <p:nvPr/>
        </p:nvSpPr>
        <p:spPr>
          <a:xfrm>
            <a:off x="5760720" y="1316736"/>
            <a:ext cx="3063240" cy="3291840"/>
          </a:xfrm>
          <a:prstGeom prst="rect">
            <a:avLst/>
          </a:prstGeom>
          <a:solidFill>
            <a:srgbClr val="F6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888736" y="1389888"/>
            <a:ext cx="2834640" cy="256032"/>
          </a:xfrm>
          <a:prstGeom prst="rect">
            <a:avLst/>
          </a:prstGeom>
          <a:noFill/>
        </p:spPr>
        <p:txBody>
          <a:bodyPr wrap="square" lIns="0" tIns="0" rIns="0" bIns="0" anchor="ctr"/>
          <a:lstStyle/>
          <a:p>
            <a:pPr algn="l"/>
            <a:r>
              <a:rPr sz="1100" b="1" i="0">
                <a:solidFill>
                  <a:srgbClr val="8C1515"/>
                </a:solidFill>
                <a:latin typeface="Calibri"/>
              </a:rPr>
              <a:t>The automated winner was an artifact</a:t>
            </a:r>
          </a:p>
        </p:txBody>
      </p:sp>
      <p:sp>
        <p:nvSpPr>
          <p:cNvPr id="23" name="TextBox 22"/>
          <p:cNvSpPr txBox="1"/>
          <p:nvPr/>
        </p:nvSpPr>
        <p:spPr>
          <a:xfrm>
            <a:off x="5888736" y="1682496"/>
            <a:ext cx="1097280" cy="502920"/>
          </a:xfrm>
          <a:prstGeom prst="rect">
            <a:avLst/>
          </a:prstGeom>
          <a:noFill/>
        </p:spPr>
        <p:txBody>
          <a:bodyPr wrap="square" lIns="0" tIns="0" rIns="0" bIns="0" anchor="ctr"/>
          <a:lstStyle/>
          <a:p>
            <a:pPr algn="l"/>
            <a:r>
              <a:rPr sz="2200" b="1" i="0">
                <a:solidFill>
                  <a:srgbClr val="8C1515"/>
                </a:solidFill>
                <a:latin typeface="Calibri"/>
              </a:rPr>
              <a:t>23 / 23</a:t>
            </a:r>
          </a:p>
        </p:txBody>
      </p:sp>
      <p:sp>
        <p:nvSpPr>
          <p:cNvPr id="24" name="TextBox 23"/>
          <p:cNvSpPr txBox="1"/>
          <p:nvPr/>
        </p:nvSpPr>
        <p:spPr>
          <a:xfrm>
            <a:off x="7004304" y="1682496"/>
            <a:ext cx="1737360" cy="502920"/>
          </a:xfrm>
          <a:prstGeom prst="rect">
            <a:avLst/>
          </a:prstGeom>
          <a:noFill/>
        </p:spPr>
        <p:txBody>
          <a:bodyPr wrap="square" lIns="0" tIns="0" rIns="0" bIns="0" anchor="ctr"/>
          <a:lstStyle/>
          <a:p>
            <a:pPr algn="l"/>
            <a:r>
              <a:rPr sz="850" b="0" i="0">
                <a:solidFill>
                  <a:srgbClr val="2E2D29"/>
                </a:solidFill>
                <a:latin typeface="Calibri"/>
              </a:rPr>
              <a:t>published trees truncated at max_nodes = 100,000</a:t>
            </a:r>
          </a:p>
        </p:txBody>
      </p:sp>
      <p:sp>
        <p:nvSpPr>
          <p:cNvPr id="25" name="TextBox 24"/>
          <p:cNvSpPr txBox="1"/>
          <p:nvPr/>
        </p:nvSpPr>
        <p:spPr>
          <a:xfrm>
            <a:off x="5888736" y="2286000"/>
            <a:ext cx="2834640" cy="2240280"/>
          </a:xfrm>
          <a:prstGeom prst="rect">
            <a:avLst/>
          </a:prstGeom>
          <a:noFill/>
        </p:spPr>
        <p:txBody>
          <a:bodyPr wrap="square" lIns="0" tIns="0" rIns="0" bIns="0" anchor="t"/>
          <a:lstStyle/>
          <a:p>
            <a:pPr marL="128016" indent="-128016" algn="l">
              <a:spcAft>
                <a:spcPts val="500"/>
              </a:spcAft>
              <a:buClr>
                <a:srgbClr val="2E2D29"/>
              </a:buClr>
              <a:buFont typeface="Arial"/>
              <a:buChar char="•"/>
            </a:pPr>
            <a:r>
              <a:rPr sz="850" b="0" i="0">
                <a:solidFill>
                  <a:srgbClr val="2E2D29"/>
                </a:solidFill>
                <a:latin typeface="Calibri"/>
              </a:rPr>
              <a:t>Optimum ran to the bounds: ξ = 6, η = 0.9 (fix-10-0.1)</a:t>
            </a:r>
          </a:p>
          <a:p>
            <a:pPr marL="128016" indent="-128016" algn="l">
              <a:spcAft>
                <a:spcPts val="500"/>
              </a:spcAft>
              <a:buClr>
                <a:srgbClr val="2E2D29"/>
              </a:buClr>
              <a:buFont typeface="Arial"/>
              <a:buChar char="•"/>
            </a:pPr>
            <a:r>
              <a:rPr sz="850" b="0" i="0">
                <a:solidFill>
                  <a:srgbClr val="2E2D29"/>
                </a:solidFill>
                <a:latin typeface="Calibri"/>
              </a:rPr>
              <a:t>Truncation leaves zero-resistance leaves: tree R 44 vs 344 dyn·s/cm⁵ needed, mean 10 mmHg</a:t>
            </a:r>
          </a:p>
          <a:p>
            <a:pPr marL="128016" indent="-128016" algn="l">
              <a:spcAft>
                <a:spcPts val="500"/>
              </a:spcAft>
              <a:buClr>
                <a:srgbClr val="2E2D29"/>
              </a:buClr>
              <a:buFont typeface="Arial"/>
              <a:buChar char="•"/>
            </a:pPr>
            <a:r>
              <a:rPr sz="850" b="0" i="0">
                <a:solidFill>
                  <a:srgbClr val="2E2D29"/>
                </a:solidFill>
                <a:latin typeface="Calibri"/>
              </a:rPr>
              <a:t>Selection checked Eh/r but not truncation, so Phases 2–3 characterize the artifact</a:t>
            </a:r>
          </a:p>
          <a:p>
            <a:pPr marL="128016" indent="-128016" algn="l">
              <a:buClr>
                <a:srgbClr val="2E2D29"/>
              </a:buClr>
              <a:buFont typeface="Arial"/>
              <a:buChar char="•"/>
            </a:pPr>
            <a:r>
              <a:rPr sz="850" b="1" i="0">
                <a:solidFill>
                  <a:srgbClr val="8C1515"/>
                </a:solidFill>
                <a:latin typeface="Calibri"/>
              </a:rPr>
              <a:t>Phase 2–3 numbers are treated as invalid</a:t>
            </a:r>
          </a:p>
        </p:txBody>
      </p:sp>
      <p:sp>
        <p:nvSpPr>
          <p:cNvPr id="26" name="TextBox 25"/>
          <p:cNvSpPr txBox="1"/>
          <p:nvPr/>
        </p:nvSpPr>
        <p:spPr>
          <a:xfrm>
            <a:off x="5888736" y="3749039"/>
            <a:ext cx="2834640" cy="201168"/>
          </a:xfrm>
          <a:prstGeom prst="rect">
            <a:avLst/>
          </a:prstGeom>
          <a:noFill/>
        </p:spPr>
        <p:txBody>
          <a:bodyPr wrap="square" lIns="0" tIns="0" rIns="0" bIns="0" anchor="ctr"/>
          <a:lstStyle/>
          <a:p>
            <a:pPr algn="l"/>
            <a:r>
              <a:rPr sz="800" b="1" i="0">
                <a:solidFill>
                  <a:srgbClr val="8C1515"/>
                </a:solidFill>
                <a:latin typeface="Calibri"/>
              </a:rPr>
              <a:t>Total tree resistance (dyn·s/cm⁵)</a:t>
            </a:r>
          </a:p>
        </p:txBody>
      </p:sp>
      <p:sp>
        <p:nvSpPr>
          <p:cNvPr id="27" name="TextBox 26"/>
          <p:cNvSpPr txBox="1"/>
          <p:nvPr/>
        </p:nvSpPr>
        <p:spPr>
          <a:xfrm>
            <a:off x="5888736" y="4005072"/>
            <a:ext cx="731520" cy="219456"/>
          </a:xfrm>
          <a:prstGeom prst="rect">
            <a:avLst/>
          </a:prstGeom>
          <a:noFill/>
        </p:spPr>
        <p:txBody>
          <a:bodyPr wrap="square" lIns="0" tIns="0" rIns="0" bIns="0" anchor="ctr"/>
          <a:lstStyle/>
          <a:p>
            <a:pPr algn="l"/>
            <a:r>
              <a:rPr sz="800" b="0" i="0">
                <a:solidFill>
                  <a:srgbClr val="2E2D29"/>
                </a:solidFill>
                <a:latin typeface="Calibri"/>
              </a:rPr>
              <a:t>needed</a:t>
            </a:r>
          </a:p>
        </p:txBody>
      </p:sp>
      <p:sp>
        <p:nvSpPr>
          <p:cNvPr id="28" name="Rectangle 27"/>
          <p:cNvSpPr/>
          <p:nvPr/>
        </p:nvSpPr>
        <p:spPr>
          <a:xfrm>
            <a:off x="6638544" y="4032504"/>
            <a:ext cx="1691640" cy="164592"/>
          </a:xfrm>
          <a:prstGeom prst="rect">
            <a:avLst/>
          </a:prstGeom>
          <a:solidFill>
            <a:srgbClr val="6B69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375904" y="4005072"/>
            <a:ext cx="411480" cy="219456"/>
          </a:xfrm>
          <a:prstGeom prst="rect">
            <a:avLst/>
          </a:prstGeom>
          <a:noFill/>
        </p:spPr>
        <p:txBody>
          <a:bodyPr wrap="square" lIns="0" tIns="0" rIns="0" bIns="0" anchor="ctr"/>
          <a:lstStyle/>
          <a:p>
            <a:pPr algn="l"/>
            <a:r>
              <a:rPr sz="800" b="1" i="0">
                <a:solidFill>
                  <a:srgbClr val="2E2D29"/>
                </a:solidFill>
                <a:latin typeface="Calibri"/>
              </a:rPr>
              <a:t>344</a:t>
            </a:r>
          </a:p>
        </p:txBody>
      </p:sp>
      <p:sp>
        <p:nvSpPr>
          <p:cNvPr id="30" name="TextBox 29"/>
          <p:cNvSpPr txBox="1"/>
          <p:nvPr/>
        </p:nvSpPr>
        <p:spPr>
          <a:xfrm>
            <a:off x="5888736" y="4279392"/>
            <a:ext cx="731520" cy="219456"/>
          </a:xfrm>
          <a:prstGeom prst="rect">
            <a:avLst/>
          </a:prstGeom>
          <a:noFill/>
        </p:spPr>
        <p:txBody>
          <a:bodyPr wrap="square" lIns="0" tIns="0" rIns="0" bIns="0" anchor="ctr"/>
          <a:lstStyle/>
          <a:p>
            <a:pPr algn="l"/>
            <a:r>
              <a:rPr sz="800" b="0" i="0">
                <a:solidFill>
                  <a:srgbClr val="2E2D29"/>
                </a:solidFill>
                <a:latin typeface="Calibri"/>
              </a:rPr>
              <a:t>fix-10-0.1</a:t>
            </a:r>
          </a:p>
        </p:txBody>
      </p:sp>
      <p:sp>
        <p:nvSpPr>
          <p:cNvPr id="31" name="Rectangle 30"/>
          <p:cNvSpPr/>
          <p:nvPr/>
        </p:nvSpPr>
        <p:spPr>
          <a:xfrm>
            <a:off x="6638544" y="4306824"/>
            <a:ext cx="216372" cy="164592"/>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900636" y="4279392"/>
            <a:ext cx="411480" cy="219456"/>
          </a:xfrm>
          <a:prstGeom prst="rect">
            <a:avLst/>
          </a:prstGeom>
          <a:noFill/>
        </p:spPr>
        <p:txBody>
          <a:bodyPr wrap="square" lIns="0" tIns="0" rIns="0" bIns="0" anchor="ctr"/>
          <a:lstStyle/>
          <a:p>
            <a:pPr algn="l"/>
            <a:r>
              <a:rPr sz="800" b="1" i="0">
                <a:solidFill>
                  <a:srgbClr val="2E2D29"/>
                </a:solidFill>
                <a:latin typeface="Calibri"/>
              </a:rPr>
              <a:t>44</a:t>
            </a:r>
          </a:p>
        </p:txBody>
      </p:sp>
      <p:sp>
        <p:nvSpPr>
          <p:cNvPr id="33" name="Rectangle 32"/>
          <p:cNvSpPr/>
          <p:nvPr/>
        </p:nvSpPr>
        <p:spPr>
          <a:xfrm>
            <a:off x="320040" y="4700016"/>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429768" y="4700016"/>
            <a:ext cx="8284464" cy="310896"/>
          </a:xfrm>
          <a:prstGeom prst="rect">
            <a:avLst/>
          </a:prstGeom>
          <a:noFill/>
        </p:spPr>
        <p:txBody>
          <a:bodyPr wrap="square" lIns="0" tIns="0" rIns="0" bIns="0" anchor="ctr"/>
          <a:lstStyle/>
          <a:p>
            <a:pPr algn="l"/>
            <a:r>
              <a:rPr sz="1000" b="1" i="0">
                <a:solidFill>
                  <a:srgbClr val="8C1515"/>
                </a:solidFill>
                <a:latin typeface="Calibri"/>
              </a:rPr>
              <a:t>Only k₃ = 0 comes close, by removing root impedance; fully physiological B6 misses diastolic by 28 mmHg.</a:t>
            </a:r>
          </a:p>
        </p:txBody>
      </p:sp>
      <p:sp>
        <p:nvSpPr>
          <p:cNvPr id="35" name="TextBox 34"/>
          <p:cNvSpPr txBox="1"/>
          <p:nvPr/>
        </p:nvSpPr>
        <p:spPr>
          <a:xfrm>
            <a:off x="2011680" y="5376672"/>
            <a:ext cx="6812280" cy="201168"/>
          </a:xfrm>
          <a:prstGeom prst="rect">
            <a:avLst/>
          </a:prstGeom>
          <a:noFill/>
        </p:spPr>
        <p:txBody>
          <a:bodyPr wrap="square" lIns="0" tIns="0" rIns="0" bIns="0" anchor="ctr"/>
          <a:lstStyle/>
          <a:p>
            <a:pPr algn="l"/>
            <a:r>
              <a:rPr sz="700" b="0" i="1">
                <a:solidFill>
                  <a:srgbClr val="6B6965"/>
                </a:solidFill>
                <a:latin typeface="Calibri"/>
              </a:rPr>
              <a:t>Published per-cap model, σ = 2 mmHg / 0.02. Lit. = k₁ 2.6×10⁵, k₂ −14, k₃ 10⁵, l_rr 10, s 0.1. FINDINGS.md; REPORT.md Phase 1.</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lang="en-US" sz="2200" dirty="0">
                <a:solidFill>
                  <a:srgbClr val="8C1515"/>
                </a:solidFill>
                <a:latin typeface="Georgia"/>
              </a:rPr>
              <a:t>The missing element: proximal 0D compliance</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IN DEVELOPMENT</a:t>
            </a:r>
          </a:p>
        </p:txBody>
      </p:sp>
      <p:sp>
        <p:nvSpPr>
          <p:cNvPr id="19" name="TextBox 18"/>
          <p:cNvSpPr txBox="1"/>
          <p:nvPr/>
        </p:nvSpPr>
        <p:spPr>
          <a:xfrm>
            <a:off x="320040" y="1280160"/>
            <a:ext cx="8503920" cy="219456"/>
          </a:xfrm>
          <a:prstGeom prst="rect">
            <a:avLst/>
          </a:prstGeom>
          <a:noFill/>
        </p:spPr>
        <p:txBody>
          <a:bodyPr wrap="square" lIns="0" tIns="0" rIns="0" bIns="0" anchor="ctr"/>
          <a:lstStyle/>
          <a:p>
            <a:pPr algn="l"/>
            <a:r>
              <a:rPr sz="1000" b="1" i="0">
                <a:solidFill>
                  <a:srgbClr val="8C1515"/>
                </a:solidFill>
                <a:latin typeface="Calibri"/>
              </a:rPr>
              <a:t>Two-compliance lumped check</a:t>
            </a:r>
          </a:p>
        </p:txBody>
      </p:sp>
      <p:sp>
        <p:nvSpPr>
          <p:cNvPr id="20" name="Rectangle 19"/>
          <p:cNvSpPr/>
          <p:nvPr/>
        </p:nvSpPr>
        <p:spPr>
          <a:xfrm>
            <a:off x="320040" y="1554480"/>
            <a:ext cx="1481328" cy="56692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50" b="1" i="0">
                <a:solidFill>
                  <a:srgbClr val="2E2D29"/>
                </a:solidFill>
                <a:latin typeface="Calibri"/>
              </a:rPr>
              <a:t>Inflow Q(t)</a:t>
            </a:r>
          </a:p>
          <a:p>
            <a:pPr algn="ctr"/>
            <a:r>
              <a:rPr sz="750" b="0" i="0">
                <a:solidFill>
                  <a:srgbClr val="6B6965"/>
                </a:solidFill>
                <a:latin typeface="Calibri"/>
              </a:rPr>
              <a:t>54% regurgitant</a:t>
            </a:r>
          </a:p>
        </p:txBody>
      </p:sp>
      <p:cxnSp>
        <p:nvCxnSpPr>
          <p:cNvPr id="21" name="Connector 20"/>
          <p:cNvCxnSpPr/>
          <p:nvPr/>
        </p:nvCxnSpPr>
        <p:spPr>
          <a:xfrm>
            <a:off x="1819655" y="1837943"/>
            <a:ext cx="237745" cy="0"/>
          </a:xfrm>
          <a:prstGeom prst="line">
            <a:avLst/>
          </a:prstGeom>
          <a:ln w="19050">
            <a:solidFill>
              <a:srgbClr val="6B69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2075688" y="1554480"/>
            <a:ext cx="1481328" cy="566928"/>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50" b="1" i="0">
                <a:solidFill>
                  <a:srgbClr val="FFFFFF"/>
                </a:solidFill>
                <a:latin typeface="Calibri"/>
              </a:rPr>
              <a:t>C₁ proximal vessels</a:t>
            </a:r>
          </a:p>
          <a:p>
            <a:pPr algn="ctr"/>
            <a:r>
              <a:rPr sz="750" b="0" i="0">
                <a:solidFill>
                  <a:srgbClr val="FFFFFF"/>
                </a:solidFill>
                <a:latin typeface="Calibri"/>
              </a:rPr>
              <a:t>rigid in the seed today</a:t>
            </a:r>
          </a:p>
        </p:txBody>
      </p:sp>
      <p:cxnSp>
        <p:nvCxnSpPr>
          <p:cNvPr id="23" name="Connector 22"/>
          <p:cNvCxnSpPr/>
          <p:nvPr/>
        </p:nvCxnSpPr>
        <p:spPr>
          <a:xfrm>
            <a:off x="3575304" y="1837943"/>
            <a:ext cx="237744" cy="0"/>
          </a:xfrm>
          <a:prstGeom prst="line">
            <a:avLst/>
          </a:prstGeom>
          <a:ln w="19050">
            <a:solidFill>
              <a:srgbClr val="6B69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3831335" y="1554480"/>
            <a:ext cx="1481328" cy="56692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50" b="1" i="0">
                <a:solidFill>
                  <a:srgbClr val="2E2D29"/>
                </a:solidFill>
                <a:latin typeface="Calibri"/>
              </a:rPr>
              <a:t>R₁ ≈ 270</a:t>
            </a:r>
          </a:p>
          <a:p>
            <a:pPr algn="ctr"/>
            <a:r>
              <a:rPr sz="750" b="0" i="0">
                <a:solidFill>
                  <a:srgbClr val="6B6965"/>
                </a:solidFill>
                <a:latin typeface="Calibri"/>
              </a:rPr>
              <a:t>seed R + tree-root impedance</a:t>
            </a:r>
          </a:p>
        </p:txBody>
      </p:sp>
      <p:cxnSp>
        <p:nvCxnSpPr>
          <p:cNvPr id="25" name="Connector 24"/>
          <p:cNvCxnSpPr/>
          <p:nvPr/>
        </p:nvCxnSpPr>
        <p:spPr>
          <a:xfrm>
            <a:off x="5330951" y="1837943"/>
            <a:ext cx="237745" cy="0"/>
          </a:xfrm>
          <a:prstGeom prst="line">
            <a:avLst/>
          </a:prstGeom>
          <a:ln w="19050">
            <a:solidFill>
              <a:srgbClr val="6B69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5586983" y="1554480"/>
            <a:ext cx="1481328" cy="56692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50" b="1" i="0">
                <a:solidFill>
                  <a:srgbClr val="2E2D29"/>
                </a:solidFill>
                <a:latin typeface="Calibri"/>
              </a:rPr>
              <a:t>C₂ + R_d</a:t>
            </a:r>
          </a:p>
          <a:p>
            <a:pPr algn="ctr"/>
            <a:r>
              <a:rPr sz="750" b="0" i="0">
                <a:solidFill>
                  <a:srgbClr val="6B6965"/>
                </a:solidFill>
                <a:latin typeface="Calibri"/>
              </a:rPr>
              <a:t>structured trees</a:t>
            </a:r>
          </a:p>
        </p:txBody>
      </p:sp>
      <p:cxnSp>
        <p:nvCxnSpPr>
          <p:cNvPr id="27" name="Connector 26"/>
          <p:cNvCxnSpPr/>
          <p:nvPr/>
        </p:nvCxnSpPr>
        <p:spPr>
          <a:xfrm>
            <a:off x="7086599" y="1837943"/>
            <a:ext cx="237745" cy="0"/>
          </a:xfrm>
          <a:prstGeom prst="line">
            <a:avLst/>
          </a:prstGeom>
          <a:ln w="19050">
            <a:solidFill>
              <a:srgbClr val="6B69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7342631" y="1554480"/>
            <a:ext cx="1481328" cy="56692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50" b="1" i="0">
                <a:solidFill>
                  <a:srgbClr val="2E2D29"/>
                </a:solidFill>
                <a:latin typeface="Calibri"/>
              </a:rPr>
              <a:t>Pd = 7 mmHg</a:t>
            </a:r>
          </a:p>
          <a:p>
            <a:pPr algn="ctr"/>
            <a:r>
              <a:rPr sz="750" b="0" i="0">
                <a:solidFill>
                  <a:srgbClr val="6B6965"/>
                </a:solidFill>
                <a:latin typeface="Calibri"/>
              </a:rPr>
              <a:t>measured wedge</a:t>
            </a:r>
          </a:p>
        </p:txBody>
      </p:sp>
      <p:sp>
        <p:nvSpPr>
          <p:cNvPr id="29" name="Rectangle 28"/>
          <p:cNvSpPr/>
          <p:nvPr/>
        </p:nvSpPr>
        <p:spPr>
          <a:xfrm>
            <a:off x="320040" y="2331720"/>
            <a:ext cx="4114800" cy="225856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48056" y="2395728"/>
            <a:ext cx="3840480" cy="237744"/>
          </a:xfrm>
          <a:prstGeom prst="rect">
            <a:avLst/>
          </a:prstGeom>
          <a:noFill/>
        </p:spPr>
        <p:txBody>
          <a:bodyPr wrap="square" lIns="0" tIns="0" rIns="0" bIns="0" anchor="ctr"/>
          <a:lstStyle/>
          <a:p>
            <a:pPr algn="l"/>
            <a:r>
              <a:rPr sz="1100" b="1" i="0">
                <a:solidFill>
                  <a:srgbClr val="8C1515"/>
                </a:solidFill>
                <a:latin typeface="Calibri"/>
              </a:rPr>
              <a:t>Where C₁ would come from</a:t>
            </a:r>
          </a:p>
        </p:txBody>
      </p:sp>
      <p:sp>
        <p:nvSpPr>
          <p:cNvPr id="31" name="TextBox 30"/>
          <p:cNvSpPr txBox="1"/>
          <p:nvPr/>
        </p:nvSpPr>
        <p:spPr>
          <a:xfrm>
            <a:off x="448056" y="2688336"/>
            <a:ext cx="1188720" cy="457200"/>
          </a:xfrm>
          <a:prstGeom prst="rect">
            <a:avLst/>
          </a:prstGeom>
          <a:noFill/>
        </p:spPr>
        <p:txBody>
          <a:bodyPr wrap="square" lIns="0" tIns="0" rIns="0" bIns="0" anchor="ctr"/>
          <a:lstStyle/>
          <a:p>
            <a:pPr algn="l"/>
            <a:r>
              <a:rPr sz="2000" b="1" i="0">
                <a:solidFill>
                  <a:srgbClr val="8C1515"/>
                </a:solidFill>
                <a:latin typeface="Calibri"/>
              </a:rPr>
              <a:t>15.6 mL</a:t>
            </a:r>
          </a:p>
        </p:txBody>
      </p:sp>
      <p:sp>
        <p:nvSpPr>
          <p:cNvPr id="32" name="TextBox 31"/>
          <p:cNvSpPr txBox="1"/>
          <p:nvPr/>
        </p:nvSpPr>
        <p:spPr>
          <a:xfrm>
            <a:off x="1664208" y="2688336"/>
            <a:ext cx="2651760" cy="457200"/>
          </a:xfrm>
          <a:prstGeom prst="rect">
            <a:avLst/>
          </a:prstGeom>
          <a:noFill/>
        </p:spPr>
        <p:txBody>
          <a:bodyPr wrap="square" lIns="0" tIns="0" rIns="0" bIns="0" anchor="ctr"/>
          <a:lstStyle/>
          <a:p>
            <a:pPr algn="l"/>
            <a:r>
              <a:rPr sz="850" b="0" i="0">
                <a:solidFill>
                  <a:srgbClr val="2E2D29"/>
                </a:solidFill>
                <a:latin typeface="Calibri"/>
              </a:rPr>
              <a:t>lumen volume in the calibrated seed; total C ≈ 3×10⁻⁹ cm⁵/dyn (rigid)</a:t>
            </a:r>
          </a:p>
        </p:txBody>
      </p:sp>
      <p:sp>
        <p:nvSpPr>
          <p:cNvPr id="33" name="Rectangle 32"/>
          <p:cNvSpPr/>
          <p:nvPr/>
        </p:nvSpPr>
        <p:spPr>
          <a:xfrm>
            <a:off x="448056" y="3236976"/>
            <a:ext cx="3858768"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200" b="0" i="1">
                <a:solidFill>
                  <a:srgbClr val="2E2D29"/>
                </a:solidFill>
                <a:latin typeface="Cambria"/>
              </a:rPr>
              <a:t>C = 3AL / (2 · Eh/r)</a:t>
            </a:r>
            <a:r>
              <a:rPr sz="800" b="0" i="0">
                <a:solidFill>
                  <a:srgbClr val="6B6965"/>
                </a:solidFill>
                <a:latin typeface="Calibri"/>
              </a:rPr>
              <a:t>   per seed vessel</a:t>
            </a:r>
          </a:p>
        </p:txBody>
      </p:sp>
      <p:sp>
        <p:nvSpPr>
          <p:cNvPr id="34" name="TextBox 33"/>
          <p:cNvSpPr txBox="1"/>
          <p:nvPr/>
        </p:nvSpPr>
        <p:spPr>
          <a:xfrm>
            <a:off x="548640" y="3675887"/>
            <a:ext cx="2011680" cy="256032"/>
          </a:xfrm>
          <a:prstGeom prst="rect">
            <a:avLst/>
          </a:prstGeom>
          <a:noFill/>
        </p:spPr>
        <p:txBody>
          <a:bodyPr wrap="square" lIns="0" tIns="0" rIns="0" bIns="0" anchor="ctr"/>
          <a:lstStyle/>
          <a:p>
            <a:pPr algn="l"/>
            <a:r>
              <a:rPr sz="900" b="0" i="0">
                <a:solidFill>
                  <a:srgbClr val="2E2D29"/>
                </a:solidFill>
                <a:latin typeface="Calibri"/>
              </a:rPr>
              <a:t>Eh/r = 5×10⁴ dyn/cm²</a:t>
            </a:r>
          </a:p>
        </p:txBody>
      </p:sp>
      <p:sp>
        <p:nvSpPr>
          <p:cNvPr id="35" name="TextBox 34"/>
          <p:cNvSpPr txBox="1"/>
          <p:nvPr/>
        </p:nvSpPr>
        <p:spPr>
          <a:xfrm>
            <a:off x="2560320" y="3675887"/>
            <a:ext cx="1645920" cy="256032"/>
          </a:xfrm>
          <a:prstGeom prst="rect">
            <a:avLst/>
          </a:prstGeom>
          <a:noFill/>
        </p:spPr>
        <p:txBody>
          <a:bodyPr wrap="square" lIns="0" tIns="0" rIns="0" bIns="0" anchor="ctr"/>
          <a:lstStyle/>
          <a:p>
            <a:pPr algn="l"/>
            <a:r>
              <a:rPr sz="900" b="1" i="0">
                <a:solidFill>
                  <a:srgbClr val="8C1515"/>
                </a:solidFill>
                <a:latin typeface="Calibri"/>
              </a:rPr>
              <a:t>→  0.63 mL/mmHg</a:t>
            </a:r>
          </a:p>
        </p:txBody>
      </p:sp>
      <p:sp>
        <p:nvSpPr>
          <p:cNvPr id="36" name="TextBox 35"/>
          <p:cNvSpPr txBox="1"/>
          <p:nvPr/>
        </p:nvSpPr>
        <p:spPr>
          <a:xfrm>
            <a:off x="548640" y="3950207"/>
            <a:ext cx="2011680" cy="256032"/>
          </a:xfrm>
          <a:prstGeom prst="rect">
            <a:avLst/>
          </a:prstGeom>
          <a:noFill/>
        </p:spPr>
        <p:txBody>
          <a:bodyPr wrap="square" lIns="0" tIns="0" rIns="0" bIns="0" anchor="ctr"/>
          <a:lstStyle/>
          <a:p>
            <a:pPr algn="l"/>
            <a:r>
              <a:rPr sz="900" b="0" i="0">
                <a:solidFill>
                  <a:srgbClr val="2E2D29"/>
                </a:solidFill>
                <a:latin typeface="Calibri"/>
              </a:rPr>
              <a:t>Eh/r = 10⁵ dyn/cm²</a:t>
            </a:r>
          </a:p>
        </p:txBody>
      </p:sp>
      <p:sp>
        <p:nvSpPr>
          <p:cNvPr id="37" name="TextBox 36"/>
          <p:cNvSpPr txBox="1"/>
          <p:nvPr/>
        </p:nvSpPr>
        <p:spPr>
          <a:xfrm>
            <a:off x="2560320" y="3950207"/>
            <a:ext cx="1645920" cy="256032"/>
          </a:xfrm>
          <a:prstGeom prst="rect">
            <a:avLst/>
          </a:prstGeom>
          <a:noFill/>
        </p:spPr>
        <p:txBody>
          <a:bodyPr wrap="square" lIns="0" tIns="0" rIns="0" bIns="0" anchor="ctr"/>
          <a:lstStyle/>
          <a:p>
            <a:pPr algn="l"/>
            <a:r>
              <a:rPr sz="900" b="1" i="0">
                <a:solidFill>
                  <a:srgbClr val="8C1515"/>
                </a:solidFill>
                <a:latin typeface="Calibri"/>
              </a:rPr>
              <a:t>→  0.31 mL/mmHg</a:t>
            </a:r>
          </a:p>
        </p:txBody>
      </p:sp>
      <p:sp>
        <p:nvSpPr>
          <p:cNvPr id="38" name="TextBox 37"/>
          <p:cNvSpPr txBox="1"/>
          <p:nvPr/>
        </p:nvSpPr>
        <p:spPr>
          <a:xfrm>
            <a:off x="448056" y="4242816"/>
            <a:ext cx="3886200" cy="310896"/>
          </a:xfrm>
          <a:prstGeom prst="rect">
            <a:avLst/>
          </a:prstGeom>
          <a:noFill/>
        </p:spPr>
        <p:txBody>
          <a:bodyPr wrap="square" lIns="0" tIns="0" rIns="0" bIns="0" anchor="t"/>
          <a:lstStyle/>
          <a:p>
            <a:pPr algn="l"/>
            <a:r>
              <a:rPr sz="750" b="0" i="1">
                <a:solidFill>
                  <a:srgbClr val="6B6965"/>
                </a:solidFill>
                <a:latin typeface="Calibri"/>
              </a:rPr>
              <a:t>Correction: D2 was ruled out earlier using the learned seed's 1.2 mL; the calibrated seed holds 15.6 mL.</a:t>
            </a:r>
          </a:p>
        </p:txBody>
      </p:sp>
      <p:sp>
        <p:nvSpPr>
          <p:cNvPr id="39" name="TextBox 38"/>
          <p:cNvSpPr txBox="1"/>
          <p:nvPr/>
        </p:nvSpPr>
        <p:spPr>
          <a:xfrm>
            <a:off x="4663440" y="2331720"/>
            <a:ext cx="4160520" cy="219456"/>
          </a:xfrm>
          <a:prstGeom prst="rect">
            <a:avLst/>
          </a:prstGeom>
          <a:noFill/>
        </p:spPr>
        <p:txBody>
          <a:bodyPr wrap="square" lIns="0" tIns="0" rIns="0" bIns="0" anchor="ctr"/>
          <a:lstStyle/>
          <a:p>
            <a:pPr algn="l"/>
            <a:r>
              <a:rPr sz="1000" b="1" i="0">
                <a:solidFill>
                  <a:srgbClr val="8C1515"/>
                </a:solidFill>
                <a:latin typeface="Calibri"/>
              </a:rPr>
              <a:t>Best lumped fit vs proximal C₁  (R₁ = 270 dyn·s/cm⁵)</a:t>
            </a:r>
          </a:p>
        </p:txBody>
      </p:sp>
      <p:graphicFrame>
        <p:nvGraphicFramePr>
          <p:cNvPr id="40" name="Chart 39"/>
          <p:cNvGraphicFramePr>
            <a:graphicFrameLocks noGrp="1"/>
          </p:cNvGraphicFramePr>
          <p:nvPr/>
        </p:nvGraphicFramePr>
        <p:xfrm>
          <a:off x="4617720" y="2560320"/>
          <a:ext cx="4251960" cy="1783080"/>
        </p:xfrm>
        <a:graphic>
          <a:graphicData uri="http://schemas.openxmlformats.org/drawingml/2006/chart">
            <c:chart xmlns:c="http://schemas.openxmlformats.org/drawingml/2006/chart" xmlns:r="http://schemas.openxmlformats.org/officeDocument/2006/relationships" r:id="rId3"/>
          </a:graphicData>
        </a:graphic>
      </p:graphicFrame>
      <p:sp>
        <p:nvSpPr>
          <p:cNvPr id="41" name="TextBox 40"/>
          <p:cNvSpPr txBox="1"/>
          <p:nvPr/>
        </p:nvSpPr>
        <p:spPr>
          <a:xfrm>
            <a:off x="4663440" y="4352544"/>
            <a:ext cx="4160520" cy="256032"/>
          </a:xfrm>
          <a:prstGeom prst="rect">
            <a:avLst/>
          </a:prstGeom>
          <a:noFill/>
        </p:spPr>
        <p:txBody>
          <a:bodyPr wrap="square" lIns="0" tIns="0" rIns="0" bIns="0" anchor="t"/>
          <a:lstStyle/>
          <a:p>
            <a:pPr algn="l"/>
            <a:r>
              <a:rPr sz="750" b="0" i="0">
                <a:solidFill>
                  <a:srgbClr val="6B6965"/>
                </a:solidFill>
                <a:latin typeface="Calibri"/>
              </a:rPr>
              <a:t>Category labels give the fitted sys / dia / mean (mmHg). Upper bound: all of C₁ sits ahead of all of R₁.</a:t>
            </a:r>
          </a:p>
        </p:txBody>
      </p:sp>
      <p:sp>
        <p:nvSpPr>
          <p:cNvPr id="42" name="Rectangle 41"/>
          <p:cNvSpPr/>
          <p:nvPr/>
        </p:nvSpPr>
        <p:spPr>
          <a:xfrm>
            <a:off x="320040" y="4700016"/>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29768" y="4700016"/>
            <a:ext cx="8284464" cy="310896"/>
          </a:xfrm>
          <a:prstGeom prst="rect">
            <a:avLst/>
          </a:prstGeom>
          <a:noFill/>
        </p:spPr>
        <p:txBody>
          <a:bodyPr wrap="square" lIns="0" tIns="0" rIns="0" bIns="0" anchor="ctr"/>
          <a:lstStyle/>
          <a:p>
            <a:pPr algn="l"/>
            <a:r>
              <a:rPr sz="1000" b="1" i="0">
                <a:solidFill>
                  <a:srgbClr val="8C1515"/>
                </a:solidFill>
                <a:latin typeface="Calibri"/>
              </a:rPr>
              <a:t>0.6 mL/mmHg of proximal compliance cuts χ² from 97 to 3.8 in the lumped model: the most promising fix.</a:t>
            </a:r>
          </a:p>
        </p:txBody>
      </p:sp>
      <p:sp>
        <p:nvSpPr>
          <p:cNvPr id="44" name="TextBox 43"/>
          <p:cNvSpPr txBox="1"/>
          <p:nvPr/>
        </p:nvSpPr>
        <p:spPr>
          <a:xfrm>
            <a:off x="2011680" y="5376672"/>
            <a:ext cx="6812280" cy="201168"/>
          </a:xfrm>
          <a:prstGeom prst="rect">
            <a:avLst/>
          </a:prstGeom>
          <a:noFill/>
        </p:spPr>
        <p:txBody>
          <a:bodyPr wrap="square" lIns="0" tIns="0" rIns="0" bIns="0" anchor="ctr"/>
          <a:lstStyle/>
          <a:p>
            <a:pPr algn="l"/>
            <a:r>
              <a:rPr sz="700" b="0" i="1">
                <a:solidFill>
                  <a:srgbClr val="6B6965"/>
                </a:solidFill>
                <a:latin typeface="Calibri"/>
              </a:rPr>
              <a:t>runs/phase0/two_compliance_check.json; C₂ and R_d refit at each C₁. Eh/r = 5×10⁴ follows Krenz &amp; Dawson. FINDINGS.md finding 3.</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lang="en-US" sz="2200" dirty="0">
                <a:solidFill>
                  <a:srgbClr val="8C1515"/>
                </a:solidFill>
                <a:latin typeface="Georgia"/>
              </a:rPr>
              <a:t>Physiological χ² fell 267 → 17; shortcuts rejected</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IN DEVELOPMENT</a:t>
            </a:r>
          </a:p>
        </p:txBody>
      </p:sp>
      <p:sp>
        <p:nvSpPr>
          <p:cNvPr id="19" name="TextBox 18"/>
          <p:cNvSpPr txBox="1"/>
          <p:nvPr/>
        </p:nvSpPr>
        <p:spPr>
          <a:xfrm>
            <a:off x="320040" y="1316736"/>
            <a:ext cx="4846320" cy="219456"/>
          </a:xfrm>
          <a:prstGeom prst="rect">
            <a:avLst/>
          </a:prstGeom>
          <a:noFill/>
        </p:spPr>
        <p:txBody>
          <a:bodyPr wrap="square" lIns="0" rIns="0" tIns="0" bIns="0" anchor="t">
            <a:spAutoFit/>
          </a:bodyPr>
          <a:lstStyle/>
          <a:p>
            <a:pPr algn="l"/>
            <a:r>
              <a:rPr sz="1000" b="1" i="0">
                <a:solidFill>
                  <a:srgbClr val="8C1515"/>
                </a:solidFill>
                <a:latin typeface="Calibri"/>
              </a:rPr>
              <a:t>Best physiological fit after each adopted change (χ², published model)</a:t>
            </a:r>
          </a:p>
        </p:txBody>
      </p:sp>
      <p:graphicFrame>
        <p:nvGraphicFramePr>
          <p:cNvPr id="20" name="Chart 19"/>
          <p:cNvGraphicFramePr>
            <a:graphicFrameLocks noGrp="1"/>
          </p:cNvGraphicFramePr>
          <p:nvPr/>
        </p:nvGraphicFramePr>
        <p:xfrm>
          <a:off x="320040" y="1572768"/>
          <a:ext cx="4846320" cy="2971800"/>
        </p:xfrm>
        <a:graphic>
          <a:graphicData uri="http://schemas.openxmlformats.org/drawingml/2006/chart">
            <c:chart xmlns:c="http://schemas.openxmlformats.org/drawingml/2006/chart" r:id="rId3"/>
          </a:graphicData>
        </a:graphic>
      </p:graphicFrame>
      <p:sp>
        <p:nvSpPr>
          <p:cNvPr id="21" name="Rejected panel"/>
          <p:cNvSpPr/>
          <p:nvPr/>
        </p:nvSpPr>
        <p:spPr>
          <a:xfrm>
            <a:off x="5394960" y="1316736"/>
            <a:ext cx="3429000" cy="323697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p>
        </p:txBody>
      </p:sp>
      <p:sp>
        <p:nvSpPr>
          <p:cNvPr id="22" name="TextBox 21"/>
          <p:cNvSpPr txBox="1"/>
          <p:nvPr/>
        </p:nvSpPr>
        <p:spPr>
          <a:xfrm>
            <a:off x="5522976" y="1389888"/>
            <a:ext cx="3172968" cy="237744"/>
          </a:xfrm>
          <a:prstGeom prst="rect">
            <a:avLst/>
          </a:prstGeom>
          <a:noFill/>
        </p:spPr>
        <p:txBody>
          <a:bodyPr wrap="square" lIns="0" rIns="0" tIns="0" bIns="0" anchor="t">
            <a:spAutoFit/>
          </a:bodyPr>
          <a:lstStyle/>
          <a:p>
            <a:pPr algn="l"/>
            <a:r>
              <a:rPr sz="1100" b="1" i="0">
                <a:solidFill>
                  <a:srgbClr val="8C1515"/>
                </a:solidFill>
                <a:latin typeface="Calibri"/>
              </a:rPr>
              <a:t>Shortcuts that lower χ² but were rejected</a:t>
            </a:r>
          </a:p>
        </p:txBody>
      </p:sp>
      <p:sp>
        <p:nvSpPr>
          <p:cNvPr id="23" name="Rejected chi2 1"/>
          <p:cNvSpPr/>
          <p:nvPr/>
        </p:nvSpPr>
        <p:spPr>
          <a:xfrm>
            <a:off x="5522976" y="1755648"/>
            <a:ext cx="749808" cy="749808"/>
          </a:xfrm>
          <a:prstGeom prst="rect">
            <a:avLst/>
          </a:prstGeom>
          <a:solidFill>
            <a:srgbClr val="F6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600" b="1" i="0">
                <a:solidFill>
                  <a:srgbClr val="8C1515"/>
                </a:solidFill>
                <a:latin typeface="Calibri"/>
              </a:rPr>
              <a:t>2.4</a:t>
            </a:r>
          </a:p>
          <a:p>
            <a:pPr algn="ctr"/>
            <a:r>
              <a:rPr sz="750" b="1" i="0">
                <a:solidFill>
                  <a:srgbClr val="8C1515"/>
                </a:solidFill>
                <a:latin typeface="Calibri"/>
              </a:rPr>
              <a:t>χ²  ✗</a:t>
            </a:r>
          </a:p>
        </p:txBody>
      </p:sp>
      <p:sp>
        <p:nvSpPr>
          <p:cNvPr id="24" name="TextBox 23"/>
          <p:cNvSpPr txBox="1"/>
          <p:nvPr/>
        </p:nvSpPr>
        <p:spPr>
          <a:xfrm>
            <a:off x="6382512" y="1792224"/>
            <a:ext cx="2313432" cy="713232"/>
          </a:xfrm>
          <a:prstGeom prst="rect">
            <a:avLst/>
          </a:prstGeom>
          <a:noFill/>
        </p:spPr>
        <p:txBody>
          <a:bodyPr wrap="square" lIns="0" rIns="0" tIns="0" bIns="0" anchor="t">
            <a:spAutoFit/>
          </a:bodyPr>
          <a:lstStyle/>
          <a:p>
            <a:pPr algn="l"/>
            <a:r>
              <a:rPr sz="900" b="1" i="0">
                <a:solidFill>
                  <a:srgbClr val="2E2D29"/>
                </a:solidFill>
                <a:latin typeface="Calibri"/>
              </a:rPr>
              <a:t>k₃ = 0, k₂ free (current pipeline)</a:t>
            </a:r>
          </a:p>
          <a:p>
            <a:pPr algn="l"/>
            <a:r>
              <a:rPr sz="800" b="0" i="0">
                <a:solidFill>
                  <a:srgbClr val="6B6965"/>
                </a:solidFill>
                <a:latin typeface="Calibri"/>
              </a:rPr>
              <a:t>Root Eh/r 60–7,500 dyn/cm²; tree C 31–35 mL/mmHg, ~25× the SV/PP estimate</a:t>
            </a:r>
          </a:p>
        </p:txBody>
      </p:sp>
      <p:sp>
        <p:nvSpPr>
          <p:cNvPr id="25" name="Rejected chi2 2"/>
          <p:cNvSpPr/>
          <p:nvPr/>
        </p:nvSpPr>
        <p:spPr>
          <a:xfrm>
            <a:off x="5522976" y="2651760"/>
            <a:ext cx="749808" cy="749808"/>
          </a:xfrm>
          <a:prstGeom prst="rect">
            <a:avLst/>
          </a:prstGeom>
          <a:solidFill>
            <a:srgbClr val="F6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600" b="1" i="0">
                <a:solidFill>
                  <a:srgbClr val="8C1515"/>
                </a:solidFill>
                <a:latin typeface="Calibri"/>
              </a:rPr>
              <a:t>2.9</a:t>
            </a:r>
          </a:p>
          <a:p>
            <a:pPr algn="ctr"/>
            <a:r>
              <a:rPr sz="750" b="1" i="0">
                <a:solidFill>
                  <a:srgbClr val="8C1515"/>
                </a:solidFill>
                <a:latin typeface="Calibri"/>
              </a:rPr>
              <a:t>χ²  ✗</a:t>
            </a:r>
          </a:p>
        </p:txBody>
      </p:sp>
      <p:sp>
        <p:nvSpPr>
          <p:cNvPr id="26" name="TextBox 25"/>
          <p:cNvSpPr txBox="1"/>
          <p:nvPr/>
        </p:nvSpPr>
        <p:spPr>
          <a:xfrm>
            <a:off x="6382512" y="2688336"/>
            <a:ext cx="2313432" cy="713232"/>
          </a:xfrm>
          <a:prstGeom prst="rect">
            <a:avLst/>
          </a:prstGeom>
          <a:noFill/>
        </p:spPr>
        <p:txBody>
          <a:bodyPr wrap="square" lIns="0" rIns="0" tIns="0" bIns="0" anchor="t">
            <a:spAutoFit/>
          </a:bodyPr>
          <a:lstStyle/>
          <a:p>
            <a:pPr algn="l"/>
            <a:r>
              <a:rPr sz="900" b="1" i="0">
                <a:solidFill>
                  <a:srgbClr val="2E2D29"/>
                </a:solidFill>
                <a:latin typeface="Calibri"/>
              </a:rPr>
              <a:t>k₃ lowered toward 0</a:t>
            </a:r>
          </a:p>
          <a:p>
            <a:pPr algn="l"/>
            <a:r>
              <a:rPr sz="800" b="0" i="0">
                <a:solidFill>
                  <a:srgbClr val="6B6965"/>
                </a:solidFill>
                <a:latin typeface="Calibri"/>
              </a:rPr>
              <a:t>One oversized cap (rpa_2) holds 11.9 of 12.5 mL/mmHg; optimizer gap 7.3 mmHg</a:t>
            </a:r>
          </a:p>
        </p:txBody>
      </p:sp>
      <p:sp>
        <p:nvSpPr>
          <p:cNvPr id="27" name="Rejected chi2 3"/>
          <p:cNvSpPr/>
          <p:nvPr/>
        </p:nvSpPr>
        <p:spPr>
          <a:xfrm>
            <a:off x="5522976" y="3547872"/>
            <a:ext cx="749808" cy="749808"/>
          </a:xfrm>
          <a:prstGeom prst="rect">
            <a:avLst/>
          </a:prstGeom>
          <a:solidFill>
            <a:srgbClr val="F6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600" b="1" i="0">
                <a:solidFill>
                  <a:srgbClr val="8C1515"/>
                </a:solidFill>
                <a:latin typeface="Calibri"/>
              </a:rPr>
              <a:t>16.1</a:t>
            </a:r>
          </a:p>
          <a:p>
            <a:pPr algn="ctr"/>
            <a:r>
              <a:rPr sz="750" b="1" i="0">
                <a:solidFill>
                  <a:srgbClr val="8C1515"/>
                </a:solidFill>
                <a:latin typeface="Calibri"/>
              </a:rPr>
              <a:t>χ²  ✗</a:t>
            </a:r>
          </a:p>
        </p:txBody>
      </p:sp>
      <p:sp>
        <p:nvSpPr>
          <p:cNvPr id="28" name="TextBox 27"/>
          <p:cNvSpPr txBox="1"/>
          <p:nvPr/>
        </p:nvSpPr>
        <p:spPr>
          <a:xfrm>
            <a:off x="6382512" y="3584448"/>
            <a:ext cx="2313432" cy="713232"/>
          </a:xfrm>
          <a:prstGeom prst="rect">
            <a:avLst/>
          </a:prstGeom>
          <a:noFill/>
        </p:spPr>
        <p:txBody>
          <a:bodyPr wrap="square" lIns="0" rIns="0" tIns="0" bIns="0" anchor="t">
            <a:spAutoFit/>
          </a:bodyPr>
          <a:lstStyle/>
          <a:p>
            <a:pPr algn="l"/>
            <a:r>
              <a:rPr sz="900" b="1" i="0">
                <a:solidFill>
                  <a:srgbClr val="2E2D29"/>
                </a:solidFill>
                <a:latin typeface="Calibri"/>
              </a:rPr>
              <a:t>k₂ tuned instead of fixed</a:t>
            </a:r>
          </a:p>
          <a:p>
            <a:pPr algn="l"/>
            <a:r>
              <a:rPr sz="800" b="0" i="0">
                <a:solidFill>
                  <a:srgbClr val="6B6965"/>
                </a:solidFill>
                <a:latin typeface="Calibri"/>
              </a:rPr>
              <a:t>k₂ pinned at −50 vs literature −14 to −22.5; diastolic gains 0.3 mmHg</a:t>
            </a:r>
          </a:p>
        </p:txBody>
      </p:sp>
      <p:sp>
        <p:nvSpPr>
          <p:cNvPr id="29" name="Takeaway bar"/>
          <p:cNvSpPr/>
          <p:nvPr/>
        </p:nvSpPr>
        <p:spPr>
          <a:xfrm>
            <a:off x="320040" y="4700016"/>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p>
        </p:txBody>
      </p:sp>
      <p:sp>
        <p:nvSpPr>
          <p:cNvPr id="30" name="TextBox 29"/>
          <p:cNvSpPr txBox="1"/>
          <p:nvPr/>
        </p:nvSpPr>
        <p:spPr>
          <a:xfrm>
            <a:off x="429768" y="4700016"/>
            <a:ext cx="8284464" cy="310896"/>
          </a:xfrm>
          <a:prstGeom prst="rect">
            <a:avLst/>
          </a:prstGeom>
          <a:noFill/>
        </p:spPr>
        <p:txBody>
          <a:bodyPr wrap="square" lIns="0" rIns="0" tIns="0" bIns="0" anchor="ctr">
            <a:spAutoFit/>
          </a:bodyPr>
          <a:lstStyle/>
          <a:p>
            <a:pPr algn="l"/>
            <a:r>
              <a:rPr sz="1000" b="1" i="0">
                <a:solidFill>
                  <a:srgbClr val="8C1515"/>
                </a:solidFill>
                <a:latin typeface="Calibri"/>
              </a:rPr>
              <a:t>Each rejected shortcut buys χ² with non-physiological stiffness or an artifact the optimizer never sees.</a:t>
            </a:r>
          </a:p>
        </p:txBody>
      </p:sp>
      <p:sp>
        <p:nvSpPr>
          <p:cNvPr id="31" name="TextBox 30"/>
          <p:cNvSpPr txBox="1"/>
          <p:nvPr/>
        </p:nvSpPr>
        <p:spPr>
          <a:xfrm>
            <a:off x="2011680" y="5376672"/>
            <a:ext cx="6812280" cy="201168"/>
          </a:xfrm>
          <a:prstGeom prst="rect">
            <a:avLst/>
          </a:prstGeom>
          <a:noFill/>
        </p:spPr>
        <p:txBody>
          <a:bodyPr wrap="square" lIns="0" rIns="0" tIns="0" bIns="0" anchor="ctr">
            <a:spAutoFit/>
          </a:bodyPr>
          <a:lstStyle/>
          <a:p>
            <a:pPr algn="l"/>
            <a:r>
              <a:rPr sz="700" b="0" i="1">
                <a:solidFill>
                  <a:srgbClr val="6B6965"/>
                </a:solidFill>
                <a:latin typeface="Calibri"/>
              </a:rPr>
              <a:t>Published per-cap model, σ 2 mmHg / 0.02, l_rr 10. Bar 1 at diameter_scale 0.1, others 1.0; bars 1–4 at Pd 7, bar 5 at 9.99. FINDINGS.md (v2b, pd10, k3low, k2free); OPTION1.md §2.3.</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lang="en-US" sz="2200" dirty="0">
                <a:solidFill>
                  <a:srgbClr val="8C1515"/>
                </a:solidFill>
                <a:latin typeface="Georgia"/>
              </a:rPr>
              <a:t>Option 1 fit: within error except diastolic</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IN DEVELOPMENT</a:t>
            </a:r>
          </a:p>
        </p:txBody>
      </p:sp>
      <p:sp>
        <p:nvSpPr>
          <p:cNvPr id="19" name="TextBox 18"/>
          <p:cNvSpPr txBox="1"/>
          <p:nvPr/>
        </p:nvSpPr>
        <p:spPr>
          <a:xfrm>
            <a:off x="320040" y="1316736"/>
            <a:ext cx="4480560" cy="219456"/>
          </a:xfrm>
          <a:prstGeom prst="rect">
            <a:avLst/>
          </a:prstGeom>
          <a:noFill/>
        </p:spPr>
        <p:txBody>
          <a:bodyPr wrap="square" lIns="0" rIns="0" tIns="0" bIns="0" anchor="t">
            <a:spAutoFit/>
          </a:bodyPr>
          <a:lstStyle/>
          <a:p>
            <a:pPr algn="l"/>
            <a:r>
              <a:rPr sz="1000" b="1" i="0">
                <a:solidFill>
                  <a:srgbClr val="8C1515"/>
                </a:solidFill>
                <a:latin typeface="Calibri"/>
              </a:rPr>
              <a:t>Published MPA pressure (mmHg), Option 1 vs catheter</a:t>
            </a:r>
          </a:p>
        </p:txBody>
      </p:sp>
      <p:graphicFrame>
        <p:nvGraphicFramePr>
          <p:cNvPr id="20" name="Chart 19"/>
          <p:cNvGraphicFramePr>
            <a:graphicFrameLocks noGrp="1"/>
          </p:cNvGraphicFramePr>
          <p:nvPr/>
        </p:nvGraphicFramePr>
        <p:xfrm>
          <a:off x="320040" y="1554480"/>
          <a:ext cx="4480560" cy="2560320"/>
        </p:xfrm>
        <a:graphic>
          <a:graphicData uri="http://schemas.openxmlformats.org/drawingml/2006/chart">
            <c:chart xmlns:c="http://schemas.openxmlformats.org/drawingml/2006/chart" r:id="rId3"/>
          </a:graphicData>
        </a:graphic>
      </p:graphicFrame>
      <p:sp>
        <p:nvSpPr>
          <p:cNvPr id="21" name="TextBox 20"/>
          <p:cNvSpPr txBox="1"/>
          <p:nvPr/>
        </p:nvSpPr>
        <p:spPr>
          <a:xfrm>
            <a:off x="320040" y="4114800"/>
            <a:ext cx="4480560" cy="182880"/>
          </a:xfrm>
          <a:prstGeom prst="rect">
            <a:avLst/>
          </a:prstGeom>
          <a:noFill/>
        </p:spPr>
        <p:txBody>
          <a:bodyPr wrap="square" lIns="0" rIns="0" tIns="0" bIns="0" anchor="t">
            <a:spAutoFit/>
          </a:bodyPr>
          <a:lstStyle/>
          <a:p>
            <a:pPr algn="l"/>
            <a:r>
              <a:rPr sz="750" b="0" i="0">
                <a:solidFill>
                  <a:srgbClr val="6B6965"/>
                </a:solidFill>
                <a:latin typeface="Calibri"/>
              </a:rPr>
              <a:t>Error vs target: sys +2.8 · dia −7.7 · mean −1.4 mmHg (σ = 2)</a:t>
            </a:r>
          </a:p>
        </p:txBody>
      </p:sp>
      <p:sp>
        <p:nvSpPr>
          <p:cNvPr id="22" name="Bounds panel"/>
          <p:cNvSpPr/>
          <p:nvPr/>
        </p:nvSpPr>
        <p:spPr>
          <a:xfrm>
            <a:off x="5029200" y="1316736"/>
            <a:ext cx="3794760" cy="157276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p>
        </p:txBody>
      </p:sp>
      <p:sp>
        <p:nvSpPr>
          <p:cNvPr id="23" name="TextBox 22"/>
          <p:cNvSpPr txBox="1"/>
          <p:nvPr/>
        </p:nvSpPr>
        <p:spPr>
          <a:xfrm>
            <a:off x="5138928" y="1371600"/>
            <a:ext cx="3575304" cy="219456"/>
          </a:xfrm>
          <a:prstGeom prst="rect">
            <a:avLst/>
          </a:prstGeom>
          <a:noFill/>
        </p:spPr>
        <p:txBody>
          <a:bodyPr wrap="square" lIns="0" rIns="0" tIns="0" bIns="0" anchor="t">
            <a:spAutoFit/>
          </a:bodyPr>
          <a:lstStyle/>
          <a:p>
            <a:pPr algn="l"/>
            <a:r>
              <a:rPr sz="1000" b="1" i="0">
                <a:solidFill>
                  <a:srgbClr val="8C1515"/>
                </a:solidFill>
                <a:latin typeface="Calibri"/>
              </a:rPr>
              <a:t>Fitted parameters sit on their bounds</a:t>
            </a:r>
          </a:p>
        </p:txBody>
      </p:sp>
      <p:sp>
        <p:nvSpPr>
          <p:cNvPr id="24" name="TextBox 23"/>
          <p:cNvSpPr txBox="1"/>
          <p:nvPr/>
        </p:nvSpPr>
        <p:spPr>
          <a:xfrm>
            <a:off x="5138928" y="1627632"/>
            <a:ext cx="566928" cy="201168"/>
          </a:xfrm>
          <a:prstGeom prst="rect">
            <a:avLst/>
          </a:prstGeom>
          <a:noFill/>
        </p:spPr>
        <p:txBody>
          <a:bodyPr wrap="square" lIns="0" rIns="0" tIns="0" bIns="0" anchor="ctr">
            <a:spAutoFit/>
          </a:bodyPr>
          <a:lstStyle/>
          <a:p>
            <a:pPr algn="l"/>
            <a:r>
              <a:rPr sz="800" b="1" i="0">
                <a:solidFill>
                  <a:srgbClr val="2E2D29"/>
                </a:solidFill>
                <a:latin typeface="Calibri"/>
              </a:rPr>
              <a:t>ξ L / R</a:t>
            </a:r>
          </a:p>
        </p:txBody>
      </p:sp>
      <p:sp>
        <p:nvSpPr>
          <p:cNvPr id="25" name="Rectangle 24"/>
          <p:cNvSpPr/>
          <p:nvPr/>
        </p:nvSpPr>
        <p:spPr>
          <a:xfrm>
            <a:off x="5715000" y="1700784"/>
            <a:ext cx="2103120" cy="54864"/>
          </a:xfrm>
          <a:prstGeom prst="rect">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p>
        </p:txBody>
      </p:sp>
      <p:sp>
        <p:nvSpPr>
          <p:cNvPr id="26" name="Oval 25"/>
          <p:cNvSpPr/>
          <p:nvPr/>
        </p:nvSpPr>
        <p:spPr>
          <a:xfrm>
            <a:off x="7754112" y="1664208"/>
            <a:ext cx="128016" cy="128016"/>
          </a:xfrm>
          <a:prstGeom prst="ellipse">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p>
        </p:txBody>
      </p:sp>
      <p:sp>
        <p:nvSpPr>
          <p:cNvPr id="27" name="Oval 26"/>
          <p:cNvSpPr/>
          <p:nvPr/>
        </p:nvSpPr>
        <p:spPr>
          <a:xfrm>
            <a:off x="7754112" y="1664208"/>
            <a:ext cx="128016" cy="128016"/>
          </a:xfrm>
          <a:prstGeom prst="ellipse">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p>
        </p:txBody>
      </p:sp>
      <p:sp>
        <p:nvSpPr>
          <p:cNvPr id="28" name="TextBox 27"/>
          <p:cNvSpPr txBox="1"/>
          <p:nvPr/>
        </p:nvSpPr>
        <p:spPr>
          <a:xfrm>
            <a:off x="5532120" y="1792224"/>
            <a:ext cx="365760" cy="146304"/>
          </a:xfrm>
          <a:prstGeom prst="rect">
            <a:avLst/>
          </a:prstGeom>
          <a:noFill/>
        </p:spPr>
        <p:txBody>
          <a:bodyPr wrap="square" lIns="0" rIns="0" tIns="0" bIns="0" anchor="t">
            <a:spAutoFit/>
          </a:bodyPr>
          <a:lstStyle/>
          <a:p>
            <a:pPr algn="ctr"/>
            <a:r>
              <a:rPr sz="650" b="0" i="0">
                <a:solidFill>
                  <a:srgbClr val="6B6965"/>
                </a:solidFill>
                <a:latin typeface="Calibri"/>
              </a:rPr>
              <a:t>2.33</a:t>
            </a:r>
          </a:p>
        </p:txBody>
      </p:sp>
      <p:sp>
        <p:nvSpPr>
          <p:cNvPr id="29" name="TextBox 28"/>
          <p:cNvSpPr txBox="1"/>
          <p:nvPr/>
        </p:nvSpPr>
        <p:spPr>
          <a:xfrm>
            <a:off x="7589520" y="1792224"/>
            <a:ext cx="457200" cy="146304"/>
          </a:xfrm>
          <a:prstGeom prst="rect">
            <a:avLst/>
          </a:prstGeom>
          <a:noFill/>
        </p:spPr>
        <p:txBody>
          <a:bodyPr wrap="square" lIns="0" rIns="0" tIns="0" bIns="0" anchor="t">
            <a:spAutoFit/>
          </a:bodyPr>
          <a:lstStyle/>
          <a:p>
            <a:pPr algn="ctr"/>
            <a:r>
              <a:rPr sz="650" b="0" i="0">
                <a:solidFill>
                  <a:srgbClr val="6B6965"/>
                </a:solidFill>
                <a:latin typeface="Calibri"/>
              </a:rPr>
              <a:t>3.0</a:t>
            </a:r>
          </a:p>
        </p:txBody>
      </p:sp>
      <p:sp>
        <p:nvSpPr>
          <p:cNvPr id="30" name="TextBox 29"/>
          <p:cNvSpPr txBox="1"/>
          <p:nvPr/>
        </p:nvSpPr>
        <p:spPr>
          <a:xfrm>
            <a:off x="7927848" y="1627632"/>
            <a:ext cx="804672" cy="201168"/>
          </a:xfrm>
          <a:prstGeom prst="rect">
            <a:avLst/>
          </a:prstGeom>
          <a:noFill/>
        </p:spPr>
        <p:txBody>
          <a:bodyPr wrap="square" lIns="0" rIns="0" tIns="0" bIns="0" anchor="ctr">
            <a:spAutoFit/>
          </a:bodyPr>
          <a:lstStyle/>
          <a:p>
            <a:pPr algn="l"/>
            <a:r>
              <a:rPr sz="800" b="1" i="0">
                <a:solidFill>
                  <a:srgbClr val="8C1515"/>
                </a:solidFill>
                <a:latin typeface="Calibri"/>
              </a:rPr>
              <a:t>3.00 / 3.00</a:t>
            </a:r>
          </a:p>
        </p:txBody>
      </p:sp>
      <p:sp>
        <p:nvSpPr>
          <p:cNvPr id="31" name="TextBox 30"/>
          <p:cNvSpPr txBox="1"/>
          <p:nvPr/>
        </p:nvSpPr>
        <p:spPr>
          <a:xfrm>
            <a:off x="5138928" y="2011680"/>
            <a:ext cx="566928" cy="201168"/>
          </a:xfrm>
          <a:prstGeom prst="rect">
            <a:avLst/>
          </a:prstGeom>
          <a:noFill/>
        </p:spPr>
        <p:txBody>
          <a:bodyPr wrap="square" lIns="0" rIns="0" tIns="0" bIns="0" anchor="ctr">
            <a:spAutoFit/>
          </a:bodyPr>
          <a:lstStyle/>
          <a:p>
            <a:pPr algn="l"/>
            <a:r>
              <a:rPr sz="800" b="1" i="0">
                <a:solidFill>
                  <a:srgbClr val="2E2D29"/>
                </a:solidFill>
                <a:latin typeface="Calibri"/>
              </a:rPr>
              <a:t>η L / R</a:t>
            </a:r>
          </a:p>
        </p:txBody>
      </p:sp>
      <p:sp>
        <p:nvSpPr>
          <p:cNvPr id="32" name="Rectangle 31"/>
          <p:cNvSpPr/>
          <p:nvPr/>
        </p:nvSpPr>
        <p:spPr>
          <a:xfrm>
            <a:off x="5715000" y="2084832"/>
            <a:ext cx="2103120" cy="54864"/>
          </a:xfrm>
          <a:prstGeom prst="rect">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p>
        </p:txBody>
      </p:sp>
      <p:sp>
        <p:nvSpPr>
          <p:cNvPr id="33" name="Oval 32"/>
          <p:cNvSpPr/>
          <p:nvPr/>
        </p:nvSpPr>
        <p:spPr>
          <a:xfrm>
            <a:off x="7429630" y="2048256"/>
            <a:ext cx="128016" cy="128016"/>
          </a:xfrm>
          <a:prstGeom prst="ellipse">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p>
        </p:txBody>
      </p:sp>
      <p:sp>
        <p:nvSpPr>
          <p:cNvPr id="34" name="Oval 33"/>
          <p:cNvSpPr/>
          <p:nvPr/>
        </p:nvSpPr>
        <p:spPr>
          <a:xfrm>
            <a:off x="7654964" y="2048256"/>
            <a:ext cx="128016" cy="128016"/>
          </a:xfrm>
          <a:prstGeom prst="ellipse">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p>
        </p:txBody>
      </p:sp>
      <p:sp>
        <p:nvSpPr>
          <p:cNvPr id="35" name="TextBox 34"/>
          <p:cNvSpPr txBox="1"/>
          <p:nvPr/>
        </p:nvSpPr>
        <p:spPr>
          <a:xfrm>
            <a:off x="5532120" y="2176272"/>
            <a:ext cx="365760" cy="146304"/>
          </a:xfrm>
          <a:prstGeom prst="rect">
            <a:avLst/>
          </a:prstGeom>
          <a:noFill/>
        </p:spPr>
        <p:txBody>
          <a:bodyPr wrap="square" lIns="0" rIns="0" tIns="0" bIns="0" anchor="t">
            <a:spAutoFit/>
          </a:bodyPr>
          <a:lstStyle/>
          <a:p>
            <a:pPr algn="ctr"/>
            <a:r>
              <a:rPr sz="650" b="0" i="0">
                <a:solidFill>
                  <a:srgbClr val="6B6965"/>
                </a:solidFill>
                <a:latin typeface="Calibri"/>
              </a:rPr>
              <a:t>0.3</a:t>
            </a:r>
          </a:p>
        </p:txBody>
      </p:sp>
      <p:sp>
        <p:nvSpPr>
          <p:cNvPr id="36" name="TextBox 35"/>
          <p:cNvSpPr txBox="1"/>
          <p:nvPr/>
        </p:nvSpPr>
        <p:spPr>
          <a:xfrm>
            <a:off x="7589520" y="2176272"/>
            <a:ext cx="457200" cy="146304"/>
          </a:xfrm>
          <a:prstGeom prst="rect">
            <a:avLst/>
          </a:prstGeom>
          <a:noFill/>
        </p:spPr>
        <p:txBody>
          <a:bodyPr wrap="square" lIns="0" rIns="0" tIns="0" bIns="0" anchor="t">
            <a:spAutoFit/>
          </a:bodyPr>
          <a:lstStyle/>
          <a:p>
            <a:pPr algn="ctr"/>
            <a:r>
              <a:rPr sz="650" b="0" i="0">
                <a:solidFill>
                  <a:srgbClr val="6B6965"/>
                </a:solidFill>
                <a:latin typeface="Calibri"/>
              </a:rPr>
              <a:t>1.0</a:t>
            </a:r>
          </a:p>
        </p:txBody>
      </p:sp>
      <p:sp>
        <p:nvSpPr>
          <p:cNvPr id="37" name="TextBox 36"/>
          <p:cNvSpPr txBox="1"/>
          <p:nvPr/>
        </p:nvSpPr>
        <p:spPr>
          <a:xfrm>
            <a:off x="7927848" y="2011680"/>
            <a:ext cx="804672" cy="201168"/>
          </a:xfrm>
          <a:prstGeom prst="rect">
            <a:avLst/>
          </a:prstGeom>
          <a:noFill/>
        </p:spPr>
        <p:txBody>
          <a:bodyPr wrap="square" lIns="0" rIns="0" tIns="0" bIns="0" anchor="ctr">
            <a:spAutoFit/>
          </a:bodyPr>
          <a:lstStyle/>
          <a:p>
            <a:pPr algn="l"/>
            <a:r>
              <a:rPr sz="800" b="1" i="0">
                <a:solidFill>
                  <a:srgbClr val="8C1515"/>
                </a:solidFill>
                <a:latin typeface="Calibri"/>
              </a:rPr>
              <a:t>0.89 / 0.97</a:t>
            </a:r>
          </a:p>
        </p:txBody>
      </p:sp>
      <p:sp>
        <p:nvSpPr>
          <p:cNvPr id="38" name="TextBox 37"/>
          <p:cNvSpPr txBox="1"/>
          <p:nvPr/>
        </p:nvSpPr>
        <p:spPr>
          <a:xfrm>
            <a:off x="5138928" y="2395728"/>
            <a:ext cx="566928" cy="201168"/>
          </a:xfrm>
          <a:prstGeom prst="rect">
            <a:avLst/>
          </a:prstGeom>
          <a:noFill/>
        </p:spPr>
        <p:txBody>
          <a:bodyPr wrap="square" lIns="0" rIns="0" tIns="0" bIns="0" anchor="ctr">
            <a:spAutoFit/>
          </a:bodyPr>
          <a:lstStyle/>
          <a:p>
            <a:pPr algn="l"/>
            <a:r>
              <a:rPr sz="800" b="1" i="0">
                <a:solidFill>
                  <a:srgbClr val="2E2D29"/>
                </a:solidFill>
                <a:latin typeface="Calibri"/>
              </a:rPr>
              <a:t>k₃</a:t>
            </a:r>
          </a:p>
        </p:txBody>
      </p:sp>
      <p:sp>
        <p:nvSpPr>
          <p:cNvPr id="39" name="Rectangle 38"/>
          <p:cNvSpPr/>
          <p:nvPr/>
        </p:nvSpPr>
        <p:spPr>
          <a:xfrm>
            <a:off x="5715000" y="2468880"/>
            <a:ext cx="2103120" cy="54864"/>
          </a:xfrm>
          <a:prstGeom prst="rect">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p>
        </p:txBody>
      </p:sp>
      <p:sp>
        <p:nvSpPr>
          <p:cNvPr id="40" name="Oval 39"/>
          <p:cNvSpPr/>
          <p:nvPr/>
        </p:nvSpPr>
        <p:spPr>
          <a:xfrm>
            <a:off x="5689899" y="2432304"/>
            <a:ext cx="128016" cy="128016"/>
          </a:xfrm>
          <a:prstGeom prst="ellipse">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p>
        </p:txBody>
      </p:sp>
      <p:sp>
        <p:nvSpPr>
          <p:cNvPr id="41" name="TextBox 40"/>
          <p:cNvSpPr txBox="1"/>
          <p:nvPr/>
        </p:nvSpPr>
        <p:spPr>
          <a:xfrm>
            <a:off x="5532120" y="2560320"/>
            <a:ext cx="365760" cy="146304"/>
          </a:xfrm>
          <a:prstGeom prst="rect">
            <a:avLst/>
          </a:prstGeom>
          <a:noFill/>
        </p:spPr>
        <p:txBody>
          <a:bodyPr wrap="square" lIns="0" rIns="0" tIns="0" bIns="0" anchor="t">
            <a:spAutoFit/>
          </a:bodyPr>
          <a:lstStyle/>
          <a:p>
            <a:pPr algn="ctr"/>
            <a:r>
              <a:rPr sz="650" b="0" i="0">
                <a:solidFill>
                  <a:srgbClr val="6B6965"/>
                </a:solidFill>
                <a:latin typeface="Calibri"/>
              </a:rPr>
              <a:t>5×10⁴</a:t>
            </a:r>
          </a:p>
        </p:txBody>
      </p:sp>
      <p:sp>
        <p:nvSpPr>
          <p:cNvPr id="42" name="TextBox 41"/>
          <p:cNvSpPr txBox="1"/>
          <p:nvPr/>
        </p:nvSpPr>
        <p:spPr>
          <a:xfrm>
            <a:off x="7589520" y="2560320"/>
            <a:ext cx="457200" cy="146304"/>
          </a:xfrm>
          <a:prstGeom prst="rect">
            <a:avLst/>
          </a:prstGeom>
          <a:noFill/>
        </p:spPr>
        <p:txBody>
          <a:bodyPr wrap="square" lIns="0" rIns="0" tIns="0" bIns="0" anchor="t">
            <a:spAutoFit/>
          </a:bodyPr>
          <a:lstStyle/>
          <a:p>
            <a:pPr algn="ctr"/>
            <a:r>
              <a:rPr sz="650" b="0" i="0">
                <a:solidFill>
                  <a:srgbClr val="6B6965"/>
                </a:solidFill>
                <a:latin typeface="Calibri"/>
              </a:rPr>
              <a:t>4×10⁵</a:t>
            </a:r>
          </a:p>
        </p:txBody>
      </p:sp>
      <p:sp>
        <p:nvSpPr>
          <p:cNvPr id="43" name="TextBox 42"/>
          <p:cNvSpPr txBox="1"/>
          <p:nvPr/>
        </p:nvSpPr>
        <p:spPr>
          <a:xfrm>
            <a:off x="7927848" y="2395728"/>
            <a:ext cx="804672" cy="201168"/>
          </a:xfrm>
          <a:prstGeom prst="rect">
            <a:avLst/>
          </a:prstGeom>
          <a:noFill/>
        </p:spPr>
        <p:txBody>
          <a:bodyPr wrap="square" lIns="0" rIns="0" tIns="0" bIns="0" anchor="ctr">
            <a:spAutoFit/>
          </a:bodyPr>
          <a:lstStyle/>
          <a:p>
            <a:pPr algn="l"/>
            <a:r>
              <a:rPr sz="800" b="1" i="0">
                <a:solidFill>
                  <a:srgbClr val="8C1515"/>
                </a:solidFill>
                <a:latin typeface="Calibri"/>
              </a:rPr>
              <a:t>5.2×10⁴</a:t>
            </a:r>
          </a:p>
        </p:txBody>
      </p:sp>
      <p:sp>
        <p:nvSpPr>
          <p:cNvPr id="44" name="Rectangle 43"/>
          <p:cNvSpPr/>
          <p:nvPr/>
        </p:nvSpPr>
        <p:spPr>
          <a:xfrm>
            <a:off x="5029200" y="2980944"/>
            <a:ext cx="1234440" cy="113385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p>
        </p:txBody>
      </p:sp>
      <p:sp>
        <p:nvSpPr>
          <p:cNvPr id="45" name="TextBox 44"/>
          <p:cNvSpPr txBox="1"/>
          <p:nvPr/>
        </p:nvSpPr>
        <p:spPr>
          <a:xfrm>
            <a:off x="5102352" y="3035808"/>
            <a:ext cx="1088136" cy="438912"/>
          </a:xfrm>
          <a:prstGeom prst="rect">
            <a:avLst/>
          </a:prstGeom>
          <a:noFill/>
        </p:spPr>
        <p:txBody>
          <a:bodyPr wrap="square" lIns="0" rIns="0" tIns="0" bIns="0" anchor="ctr">
            <a:spAutoFit/>
          </a:bodyPr>
          <a:lstStyle/>
          <a:p>
            <a:pPr algn="ctr"/>
            <a:r>
              <a:rPr sz="2000" b="1" i="0">
                <a:solidFill>
                  <a:srgbClr val="8C1515"/>
                </a:solidFill>
                <a:latin typeface="Calibri"/>
              </a:rPr>
              <a:t>17.3</a:t>
            </a:r>
          </a:p>
        </p:txBody>
      </p:sp>
      <p:sp>
        <p:nvSpPr>
          <p:cNvPr id="46" name="TextBox 45"/>
          <p:cNvSpPr txBox="1"/>
          <p:nvPr/>
        </p:nvSpPr>
        <p:spPr>
          <a:xfrm>
            <a:off x="5102352" y="3493008"/>
            <a:ext cx="1088136" cy="566928"/>
          </a:xfrm>
          <a:prstGeom prst="rect">
            <a:avLst/>
          </a:prstGeom>
          <a:noFill/>
        </p:spPr>
        <p:txBody>
          <a:bodyPr wrap="square" lIns="0" rIns="0" tIns="0" bIns="0" anchor="t">
            <a:spAutoFit/>
          </a:bodyPr>
          <a:lstStyle/>
          <a:p>
            <a:pPr algn="ctr"/>
            <a:r>
              <a:rPr sz="750" b="0" i="0">
                <a:solidFill>
                  <a:srgbClr val="2E2D29"/>
                </a:solidFill>
                <a:latin typeface="Calibri"/>
              </a:rPr>
              <a:t>χ²; diastolic is 14.8 of it</a:t>
            </a:r>
          </a:p>
        </p:txBody>
      </p:sp>
      <p:sp>
        <p:nvSpPr>
          <p:cNvPr id="47" name="Rectangle 46"/>
          <p:cNvSpPr/>
          <p:nvPr/>
        </p:nvSpPr>
        <p:spPr>
          <a:xfrm>
            <a:off x="6309360" y="2980944"/>
            <a:ext cx="1234440" cy="113385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p>
        </p:txBody>
      </p:sp>
      <p:sp>
        <p:nvSpPr>
          <p:cNvPr id="48" name="TextBox 47"/>
          <p:cNvSpPr txBox="1"/>
          <p:nvPr/>
        </p:nvSpPr>
        <p:spPr>
          <a:xfrm>
            <a:off x="6382512" y="3035808"/>
            <a:ext cx="1088136" cy="438912"/>
          </a:xfrm>
          <a:prstGeom prst="rect">
            <a:avLst/>
          </a:prstGeom>
          <a:noFill/>
        </p:spPr>
        <p:txBody>
          <a:bodyPr wrap="square" lIns="0" rIns="0" tIns="0" bIns="0" anchor="ctr">
            <a:spAutoFit/>
          </a:bodyPr>
          <a:lstStyle/>
          <a:p>
            <a:pPr algn="ctr"/>
            <a:r>
              <a:rPr sz="2000" b="1" i="0">
                <a:solidFill>
                  <a:srgbClr val="279989"/>
                </a:solidFill>
                <a:latin typeface="Calibri"/>
              </a:rPr>
              <a:t>0.875</a:t>
            </a:r>
          </a:p>
        </p:txBody>
      </p:sp>
      <p:sp>
        <p:nvSpPr>
          <p:cNvPr id="49" name="TextBox 48"/>
          <p:cNvSpPr txBox="1"/>
          <p:nvPr/>
        </p:nvSpPr>
        <p:spPr>
          <a:xfrm>
            <a:off x="6382512" y="3493008"/>
            <a:ext cx="1088136" cy="566928"/>
          </a:xfrm>
          <a:prstGeom prst="rect">
            <a:avLst/>
          </a:prstGeom>
          <a:noFill/>
        </p:spPr>
        <p:txBody>
          <a:bodyPr wrap="square" lIns="0" rIns="0" tIns="0" bIns="0" anchor="t">
            <a:spAutoFit/>
          </a:bodyPr>
          <a:lstStyle/>
          <a:p>
            <a:pPr algn="ctr"/>
            <a:r>
              <a:rPr sz="750" b="0" i="0">
                <a:solidFill>
                  <a:srgbClr val="2E2D29"/>
                </a:solidFill>
                <a:latin typeface="Calibri"/>
              </a:rPr>
              <a:t>RPA split vs 0.87 target</a:t>
            </a:r>
          </a:p>
        </p:txBody>
      </p:sp>
      <p:sp>
        <p:nvSpPr>
          <p:cNvPr id="50" name="Rectangle 49"/>
          <p:cNvSpPr/>
          <p:nvPr/>
        </p:nvSpPr>
        <p:spPr>
          <a:xfrm>
            <a:off x="7589520" y="2980944"/>
            <a:ext cx="1234440" cy="113385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p>
        </p:txBody>
      </p:sp>
      <p:sp>
        <p:nvSpPr>
          <p:cNvPr id="51" name="TextBox 50"/>
          <p:cNvSpPr txBox="1"/>
          <p:nvPr/>
        </p:nvSpPr>
        <p:spPr>
          <a:xfrm>
            <a:off x="7662672" y="3035808"/>
            <a:ext cx="1088136" cy="438912"/>
          </a:xfrm>
          <a:prstGeom prst="rect">
            <a:avLst/>
          </a:prstGeom>
          <a:noFill/>
        </p:spPr>
        <p:txBody>
          <a:bodyPr wrap="square" lIns="0" rIns="0" tIns="0" bIns="0" anchor="ctr">
            <a:spAutoFit/>
          </a:bodyPr>
          <a:lstStyle/>
          <a:p>
            <a:pPr algn="ctr"/>
            <a:r>
              <a:rPr sz="2000" b="1" i="0">
                <a:solidFill>
                  <a:srgbClr val="E98300"/>
                </a:solidFill>
                <a:latin typeface="Calibri"/>
              </a:rPr>
              <a:t>1.79</a:t>
            </a:r>
          </a:p>
        </p:txBody>
      </p:sp>
      <p:sp>
        <p:nvSpPr>
          <p:cNvPr id="52" name="TextBox 51"/>
          <p:cNvSpPr txBox="1"/>
          <p:nvPr/>
        </p:nvSpPr>
        <p:spPr>
          <a:xfrm>
            <a:off x="7662672" y="3493008"/>
            <a:ext cx="1088136" cy="566928"/>
          </a:xfrm>
          <a:prstGeom prst="rect">
            <a:avLst/>
          </a:prstGeom>
          <a:noFill/>
        </p:spPr>
        <p:txBody>
          <a:bodyPr wrap="square" lIns="0" rIns="0" tIns="0" bIns="0" anchor="t">
            <a:spAutoFit/>
          </a:bodyPr>
          <a:lstStyle/>
          <a:p>
            <a:pPr algn="ctr"/>
            <a:r>
              <a:rPr sz="750" b="0" i="0">
                <a:solidFill>
                  <a:srgbClr val="2E2D29"/>
                </a:solidFill>
                <a:latin typeface="Calibri"/>
              </a:rPr>
              <a:t>mL/mmHg total C; SV/PP 0.77–1.44</a:t>
            </a:r>
          </a:p>
        </p:txBody>
      </p:sp>
      <p:sp>
        <p:nvSpPr>
          <p:cNvPr id="53" name="TextBox 52"/>
          <p:cNvSpPr txBox="1"/>
          <p:nvPr/>
        </p:nvSpPr>
        <p:spPr>
          <a:xfrm>
            <a:off x="320040" y="4334256"/>
            <a:ext cx="548640" cy="274320"/>
          </a:xfrm>
          <a:prstGeom prst="rect">
            <a:avLst/>
          </a:prstGeom>
          <a:noFill/>
        </p:spPr>
        <p:txBody>
          <a:bodyPr wrap="square" lIns="0" rIns="0" tIns="0" bIns="0" anchor="ctr">
            <a:spAutoFit/>
          </a:bodyPr>
          <a:lstStyle/>
          <a:p>
            <a:pPr algn="l"/>
            <a:r>
              <a:rPr sz="900" b="1" i="0">
                <a:solidFill>
                  <a:srgbClr val="8C1515"/>
                </a:solidFill>
                <a:latin typeface="Calibri"/>
              </a:rPr>
              <a:t>Next</a:t>
            </a:r>
          </a:p>
        </p:txBody>
      </p:sp>
      <p:sp>
        <p:nvSpPr>
          <p:cNvPr id="54" name="Rounded Rectangle 53"/>
          <p:cNvSpPr/>
          <p:nvPr/>
        </p:nvSpPr>
        <p:spPr>
          <a:xfrm>
            <a:off x="868680" y="4334256"/>
            <a:ext cx="1947672" cy="274320"/>
          </a:xfrm>
          <a:prstGeom prst="roundRect">
            <a:avLst>
              <a:gd name="adj" fmla="val 30000"/>
            </a:avLst>
          </a:prstGeom>
          <a:solidFill>
            <a:srgbClr val="FFFFFF"/>
          </a:solidFill>
          <a:ln w="9525">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750" b="1" i="0">
                <a:solidFill>
                  <a:srgbClr val="2E2D29"/>
                </a:solidFill>
                <a:latin typeface="Calibri"/>
              </a:rPr>
              <a:t>Per-cap objective trees  </a:t>
            </a:r>
            <a:r>
              <a:rPr sz="700" b="1" i="0">
                <a:solidFill>
                  <a:srgbClr val="E98300"/>
                </a:solidFill>
                <a:latin typeface="Calibri"/>
              </a:rPr>
              <a:t>running</a:t>
            </a:r>
          </a:p>
        </p:txBody>
      </p:sp>
      <p:sp>
        <p:nvSpPr>
          <p:cNvPr id="55" name="Rounded Rectangle 54"/>
          <p:cNvSpPr/>
          <p:nvPr/>
        </p:nvSpPr>
        <p:spPr>
          <a:xfrm>
            <a:off x="2871216" y="4334256"/>
            <a:ext cx="1947672" cy="274320"/>
          </a:xfrm>
          <a:prstGeom prst="roundRect">
            <a:avLst>
              <a:gd name="adj" fmla="val 30000"/>
            </a:avLst>
          </a:prstGeom>
          <a:solidFill>
            <a:srgbClr val="FFFFFF"/>
          </a:solidFill>
          <a:ln w="9525">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750" b="1" i="0">
                <a:solidFill>
                  <a:srgbClr val="2E2D29"/>
                </a:solidFill>
                <a:latin typeface="Calibri"/>
              </a:rPr>
              <a:t>Multi-start, sensitivity, Jacobian  </a:t>
            </a:r>
            <a:r>
              <a:rPr sz="700" b="1" i="0">
                <a:solidFill>
                  <a:srgbClr val="6B6965"/>
                </a:solidFill>
                <a:latin typeface="Calibri"/>
              </a:rPr>
              <a:t>planned</a:t>
            </a:r>
          </a:p>
        </p:txBody>
      </p:sp>
      <p:sp>
        <p:nvSpPr>
          <p:cNvPr id="56" name="Rounded Rectangle 55"/>
          <p:cNvSpPr/>
          <p:nvPr/>
        </p:nvSpPr>
        <p:spPr>
          <a:xfrm>
            <a:off x="4873752" y="4334256"/>
            <a:ext cx="1947672" cy="274320"/>
          </a:xfrm>
          <a:prstGeom prst="roundRect">
            <a:avLst>
              <a:gd name="adj" fmla="val 30000"/>
            </a:avLst>
          </a:prstGeom>
          <a:solidFill>
            <a:srgbClr val="FFFFFF"/>
          </a:solidFill>
          <a:ln w="9525">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750" b="1" i="0">
                <a:solidFill>
                  <a:srgbClr val="2E2D29"/>
                </a:solidFill>
                <a:latin typeface="Calibri"/>
              </a:rPr>
              <a:t>Port to tune-bcs / svzt-agent  </a:t>
            </a:r>
            <a:r>
              <a:rPr sz="700" b="1" i="0">
                <a:solidFill>
                  <a:srgbClr val="6B6965"/>
                </a:solidFill>
                <a:latin typeface="Calibri"/>
              </a:rPr>
              <a:t>planned</a:t>
            </a:r>
          </a:p>
        </p:txBody>
      </p:sp>
      <p:sp>
        <p:nvSpPr>
          <p:cNvPr id="57" name="Rounded Rectangle 56"/>
          <p:cNvSpPr/>
          <p:nvPr/>
        </p:nvSpPr>
        <p:spPr>
          <a:xfrm>
            <a:off x="6876288" y="4334256"/>
            <a:ext cx="1947672" cy="274320"/>
          </a:xfrm>
          <a:prstGeom prst="roundRect">
            <a:avLst>
              <a:gd name="adj" fmla="val 30000"/>
            </a:avLst>
          </a:prstGeom>
          <a:solidFill>
            <a:srgbClr val="FFFFFF"/>
          </a:solidFill>
          <a:ln w="9525">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750" b="1" i="0">
                <a:solidFill>
                  <a:srgbClr val="2E2D29"/>
                </a:solidFill>
                <a:latin typeface="Calibri"/>
              </a:rPr>
              <a:t>Match 3D wall to Eh/r 5×10⁴  </a:t>
            </a:r>
            <a:r>
              <a:rPr sz="700" b="1" i="0">
                <a:solidFill>
                  <a:srgbClr val="6B6965"/>
                </a:solidFill>
                <a:latin typeface="Calibri"/>
              </a:rPr>
              <a:t>planned</a:t>
            </a:r>
          </a:p>
        </p:txBody>
      </p:sp>
      <p:sp>
        <p:nvSpPr>
          <p:cNvPr id="58" name="Takeaway bar"/>
          <p:cNvSpPr/>
          <p:nvPr/>
        </p:nvSpPr>
        <p:spPr>
          <a:xfrm>
            <a:off x="320040" y="4700016"/>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p>
        </p:txBody>
      </p:sp>
      <p:sp>
        <p:nvSpPr>
          <p:cNvPr id="59" name="TextBox 58"/>
          <p:cNvSpPr txBox="1"/>
          <p:nvPr/>
        </p:nvSpPr>
        <p:spPr>
          <a:xfrm>
            <a:off x="429768" y="4700016"/>
            <a:ext cx="8284464" cy="310896"/>
          </a:xfrm>
          <a:prstGeom prst="rect">
            <a:avLst/>
          </a:prstGeom>
          <a:noFill/>
        </p:spPr>
        <p:txBody>
          <a:bodyPr wrap="square" lIns="0" rIns="0" tIns="0" bIns="0" anchor="ctr">
            <a:spAutoFit/>
          </a:bodyPr>
          <a:lstStyle/>
          <a:p>
            <a:pPr algn="l"/>
            <a:r>
              <a:rPr sz="1000" b="1" i="0">
                <a:solidFill>
                  <a:srgbClr val="8C1515"/>
                </a:solidFill>
                <a:latin typeface="Calibri"/>
              </a:rPr>
              <a:t>Systolic, mean and split are within measurement error; diastolic stays ~8 mmHg low under 54% regurgitation.</a:t>
            </a:r>
          </a:p>
        </p:txBody>
      </p:sp>
      <p:sp>
        <p:nvSpPr>
          <p:cNvPr id="60" name="TextBox 59"/>
          <p:cNvSpPr txBox="1"/>
          <p:nvPr/>
        </p:nvSpPr>
        <p:spPr>
          <a:xfrm>
            <a:off x="2011680" y="5376672"/>
            <a:ext cx="6812280" cy="201168"/>
          </a:xfrm>
          <a:prstGeom prst="rect">
            <a:avLst/>
          </a:prstGeom>
          <a:noFill/>
        </p:spPr>
        <p:txBody>
          <a:bodyPr wrap="square" lIns="0" rIns="0" tIns="0" bIns="0" anchor="ctr">
            <a:spAutoFit/>
          </a:bodyPr>
          <a:lstStyle/>
          <a:p>
            <a:pPr algn="l"/>
            <a:r>
              <a:rPr sz="700" b="0" i="1">
                <a:solidFill>
                  <a:srgbClr val="6B6965"/>
                </a:solidFill>
                <a:latin typeface="Calibri"/>
              </a:rPr>
              <a:t>runs/phaseo1cmp-1/shared, 5 Oct 2026 (shared objective trees). Optimizer surrogate 39.3 / −5.8 / 15.0 (gap 2.6 mmHg). 1 of 23 trees truncated (rpa_2; ≤0.25 mmHg at 2M nodes). k₃ bar on a log scale.</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lang="en-US" sz="2200" dirty="0">
                <a:solidFill>
                  <a:srgbClr val="8C1515"/>
                </a:solidFill>
                <a:latin typeface="Georgia"/>
              </a:rPr>
              <a:t>Final model: Option 1 physiological BCs</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IN DEVELOPMENT</a:t>
            </a:r>
          </a:p>
        </p:txBody>
      </p:sp>
      <p:sp>
        <p:nvSpPr>
          <p:cNvPr id="19" name="Flow 1"/>
          <p:cNvSpPr/>
          <p:nvPr/>
        </p:nvSpPr>
        <p:spPr>
          <a:xfrm>
            <a:off x="320040" y="1335024"/>
            <a:ext cx="1783080" cy="566928"/>
          </a:xfrm>
          <a:prstGeom prst="rect">
            <a:avLst/>
          </a:prstGeom>
          <a:solidFill>
            <a:srgbClr val="E9E7E4"/>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50" b="1" i="0">
                <a:solidFill>
                  <a:srgbClr val="2E2D29"/>
                </a:solidFill>
                <a:latin typeface="Calibri"/>
              </a:rPr>
              <a:t>Inflow Q(t)</a:t>
            </a:r>
          </a:p>
          <a:p>
            <a:pPr algn="ctr"/>
            <a:r>
              <a:rPr sz="750" b="0" i="0">
                <a:solidFill>
                  <a:srgbClr val="6B6965"/>
                </a:solidFill>
                <a:latin typeface="Calibri"/>
              </a:rPr>
              <a:t>patient MRI, 54% regurgitant</a:t>
            </a:r>
          </a:p>
        </p:txBody>
      </p:sp>
      <p:cxnSp>
        <p:nvCxnSpPr>
          <p:cNvPr id="20" name="Connector 19"/>
          <p:cNvCxnSpPr/>
          <p:nvPr/>
        </p:nvCxnSpPr>
        <p:spPr>
          <a:xfrm>
            <a:off x="2157984" y="1618488"/>
            <a:ext cx="347472" cy="0"/>
          </a:xfrm>
          <a:prstGeom prst="line">
            <a:avLst/>
          </a:prstGeom>
          <a:ln w="15875">
            <a:solidFill>
              <a:srgbClr val="B5B3A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Flow 2"/>
          <p:cNvSpPr/>
          <p:nvPr/>
        </p:nvSpPr>
        <p:spPr>
          <a:xfrm>
            <a:off x="2560320" y="1335024"/>
            <a:ext cx="1783080" cy="566928"/>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50" b="1" i="0">
                <a:solidFill>
                  <a:srgbClr val="FFFFFF"/>
                </a:solidFill>
                <a:latin typeface="Calibri"/>
              </a:rPr>
              <a:t>Proximal 0D seed</a:t>
            </a:r>
          </a:p>
          <a:p>
            <a:pPr algn="ctr"/>
            <a:r>
              <a:rPr sz="750" b="0" i="0">
                <a:solidFill>
                  <a:srgbClr val="FFFFFF"/>
                </a:solidFill>
                <a:latin typeface="Calibri"/>
              </a:rPr>
              <a:t>45 vessels · C 0.63 mL/mmHg</a:t>
            </a:r>
          </a:p>
        </p:txBody>
      </p:sp>
      <p:cxnSp>
        <p:nvCxnSpPr>
          <p:cNvPr id="22" name="Connector 21"/>
          <p:cNvCxnSpPr/>
          <p:nvPr/>
        </p:nvCxnSpPr>
        <p:spPr>
          <a:xfrm>
            <a:off x="4398264" y="1618488"/>
            <a:ext cx="347472" cy="0"/>
          </a:xfrm>
          <a:prstGeom prst="line">
            <a:avLst/>
          </a:prstGeom>
          <a:ln w="15875">
            <a:solidFill>
              <a:srgbClr val="B5B3A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Flow 3"/>
          <p:cNvSpPr/>
          <p:nvPr/>
        </p:nvSpPr>
        <p:spPr>
          <a:xfrm>
            <a:off x="4800600" y="1335024"/>
            <a:ext cx="1783080" cy="566928"/>
          </a:xfrm>
          <a:prstGeom prst="rect">
            <a:avLst/>
          </a:prstGeom>
          <a:solidFill>
            <a:srgbClr val="E9E7E4"/>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50" b="1" i="0">
                <a:solidFill>
                  <a:srgbClr val="2E2D29"/>
                </a:solidFill>
                <a:latin typeface="Calibri"/>
              </a:rPr>
              <a:t>23 structured trees</a:t>
            </a:r>
          </a:p>
          <a:p>
            <a:pPr algn="ctr"/>
            <a:r>
              <a:rPr sz="750" b="0" i="0">
                <a:solidFill>
                  <a:srgbClr val="6B6965"/>
                </a:solidFill>
                <a:latin typeface="Calibri"/>
              </a:rPr>
              <a:t>one per cap, measured diameter</a:t>
            </a:r>
          </a:p>
        </p:txBody>
      </p:sp>
      <p:cxnSp>
        <p:nvCxnSpPr>
          <p:cNvPr id="24" name="Connector 23"/>
          <p:cNvCxnSpPr/>
          <p:nvPr/>
        </p:nvCxnSpPr>
        <p:spPr>
          <a:xfrm>
            <a:off x="6638544" y="1618488"/>
            <a:ext cx="347472" cy="0"/>
          </a:xfrm>
          <a:prstGeom prst="line">
            <a:avLst/>
          </a:prstGeom>
          <a:ln w="15875">
            <a:solidFill>
              <a:srgbClr val="B5B3A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Flow 4"/>
          <p:cNvSpPr/>
          <p:nvPr/>
        </p:nvSpPr>
        <p:spPr>
          <a:xfrm>
            <a:off x="7040880" y="1335024"/>
            <a:ext cx="1783080" cy="566928"/>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50" b="1" i="0">
                <a:solidFill>
                  <a:srgbClr val="FFFFFF"/>
                </a:solidFill>
                <a:latin typeface="Calibri"/>
              </a:rPr>
              <a:t>Outlet P 9.99 mmHg</a:t>
            </a:r>
          </a:p>
          <a:p>
            <a:pPr algn="ctr"/>
            <a:r>
              <a:rPr sz="750" b="0" i="0">
                <a:solidFill>
                  <a:srgbClr val="FFFFFF"/>
                </a:solidFill>
                <a:latin typeface="Calibri"/>
              </a:rPr>
              <a:t>pre-capillary arterioles</a:t>
            </a:r>
          </a:p>
        </p:txBody>
      </p:sp>
      <p:sp>
        <p:nvSpPr>
          <p:cNvPr id="26" name="Rectangle 25"/>
          <p:cNvSpPr/>
          <p:nvPr/>
        </p:nvSpPr>
        <p:spPr>
          <a:xfrm>
            <a:off x="320040" y="1975104"/>
            <a:ext cx="109728" cy="109728"/>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p>
        </p:txBody>
      </p:sp>
      <p:sp>
        <p:nvSpPr>
          <p:cNvPr id="27" name="TextBox 26"/>
          <p:cNvSpPr txBox="1"/>
          <p:nvPr/>
        </p:nvSpPr>
        <p:spPr>
          <a:xfrm>
            <a:off x="475488" y="1947672"/>
            <a:ext cx="2743200" cy="164592"/>
          </a:xfrm>
          <a:prstGeom prst="rect">
            <a:avLst/>
          </a:prstGeom>
          <a:noFill/>
        </p:spPr>
        <p:txBody>
          <a:bodyPr wrap="square" lIns="0" rIns="0" tIns="0" bIns="0" anchor="t">
            <a:spAutoFit/>
          </a:bodyPr>
          <a:lstStyle/>
          <a:p>
            <a:pPr algn="l"/>
            <a:r>
              <a:rPr sz="700" b="0" i="0">
                <a:solidFill>
                  <a:srgbClr val="6B6965"/>
                </a:solidFill>
                <a:latin typeface="Calibri"/>
              </a:rPr>
              <a:t>new relative to the current pipeline</a:t>
            </a:r>
          </a:p>
        </p:txBody>
      </p:sp>
      <p:sp>
        <p:nvSpPr>
          <p:cNvPr id="28" name="TextBox 27"/>
          <p:cNvSpPr txBox="1"/>
          <p:nvPr/>
        </p:nvSpPr>
        <p:spPr>
          <a:xfrm>
            <a:off x="320040" y="2212848"/>
            <a:ext cx="5120640" cy="219456"/>
          </a:xfrm>
          <a:prstGeom prst="rect">
            <a:avLst/>
          </a:prstGeom>
          <a:noFill/>
        </p:spPr>
        <p:txBody>
          <a:bodyPr wrap="square" lIns="0" rIns="0" tIns="0" bIns="0" anchor="t">
            <a:spAutoFit/>
          </a:bodyPr>
          <a:lstStyle/>
          <a:p>
            <a:pPr algn="l"/>
            <a:r>
              <a:rPr sz="1000" b="1" i="0">
                <a:solidFill>
                  <a:srgbClr val="8C1515"/>
                </a:solidFill>
                <a:latin typeface="Calibri"/>
              </a:rPr>
              <a:t>What changes from the current Stage 2 settings</a:t>
            </a:r>
          </a:p>
        </p:txBody>
      </p:sp>
      <p:sp>
        <p:nvSpPr>
          <p:cNvPr id="29" name="TextBox 28"/>
          <p:cNvSpPr txBox="1"/>
          <p:nvPr/>
        </p:nvSpPr>
        <p:spPr>
          <a:xfrm>
            <a:off x="1554480" y="2468880"/>
            <a:ext cx="1874519" cy="182880"/>
          </a:xfrm>
          <a:prstGeom prst="rect">
            <a:avLst/>
          </a:prstGeom>
          <a:noFill/>
        </p:spPr>
        <p:txBody>
          <a:bodyPr wrap="square" lIns="0" rIns="0" tIns="0" bIns="0" anchor="t">
            <a:spAutoFit/>
          </a:bodyPr>
          <a:lstStyle/>
          <a:p>
            <a:pPr algn="ctr"/>
            <a:r>
              <a:rPr sz="800" b="1" i="0">
                <a:solidFill>
                  <a:srgbClr val="6B6965"/>
                </a:solidFill>
                <a:latin typeface="Calibri"/>
              </a:rPr>
              <a:t>Current</a:t>
            </a:r>
          </a:p>
        </p:txBody>
      </p:sp>
      <p:sp>
        <p:nvSpPr>
          <p:cNvPr id="30" name="TextBox 29"/>
          <p:cNvSpPr txBox="1"/>
          <p:nvPr/>
        </p:nvSpPr>
        <p:spPr>
          <a:xfrm>
            <a:off x="3474720" y="2468880"/>
            <a:ext cx="1874519" cy="182880"/>
          </a:xfrm>
          <a:prstGeom prst="rect">
            <a:avLst/>
          </a:prstGeom>
          <a:noFill/>
        </p:spPr>
        <p:txBody>
          <a:bodyPr wrap="square" lIns="0" rIns="0" tIns="0" bIns="0" anchor="t">
            <a:spAutoFit/>
          </a:bodyPr>
          <a:lstStyle/>
          <a:p>
            <a:pPr algn="ctr"/>
            <a:r>
              <a:rPr sz="800" b="1" i="0">
                <a:solidFill>
                  <a:srgbClr val="8C1515"/>
                </a:solidFill>
                <a:latin typeface="Calibri"/>
              </a:rPr>
              <a:t>Option 1</a:t>
            </a:r>
          </a:p>
        </p:txBody>
      </p:sp>
      <p:sp>
        <p:nvSpPr>
          <p:cNvPr id="31" name="TextBox 30"/>
          <p:cNvSpPr txBox="1"/>
          <p:nvPr/>
        </p:nvSpPr>
        <p:spPr>
          <a:xfrm>
            <a:off x="320040" y="2688336"/>
            <a:ext cx="1188720" cy="365760"/>
          </a:xfrm>
          <a:prstGeom prst="rect">
            <a:avLst/>
          </a:prstGeom>
          <a:noFill/>
        </p:spPr>
        <p:txBody>
          <a:bodyPr wrap="square" lIns="0" rIns="0" tIns="0" bIns="0" anchor="ctr">
            <a:spAutoFit/>
          </a:bodyPr>
          <a:lstStyle/>
          <a:p>
            <a:pPr algn="l"/>
            <a:r>
              <a:rPr sz="850" b="1" i="0">
                <a:solidFill>
                  <a:srgbClr val="2E2D29"/>
                </a:solidFill>
                <a:latin typeface="Calibri"/>
              </a:rPr>
              <a:t>Tree stiffness</a:t>
            </a:r>
          </a:p>
        </p:txBody>
      </p:sp>
      <p:sp>
        <p:nvSpPr>
          <p:cNvPr id="32" name="Rectangle 31"/>
          <p:cNvSpPr/>
          <p:nvPr/>
        </p:nvSpPr>
        <p:spPr>
          <a:xfrm>
            <a:off x="1554480" y="2688336"/>
            <a:ext cx="1874519" cy="36576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800" b="0" i="0">
                <a:solidFill>
                  <a:srgbClr val="6B6965"/>
                </a:solidFill>
                <a:latin typeface="Calibri"/>
              </a:rPr>
              <a:t>k₁ 2×10⁷, k₃ 0, k₂ tuned</a:t>
            </a:r>
          </a:p>
        </p:txBody>
      </p:sp>
      <p:sp>
        <p:nvSpPr>
          <p:cNvPr id="33" name="Rectangle 32"/>
          <p:cNvSpPr/>
          <p:nvPr/>
        </p:nvSpPr>
        <p:spPr>
          <a:xfrm>
            <a:off x="3474720" y="2688336"/>
            <a:ext cx="1874519" cy="365760"/>
          </a:xfrm>
          <a:prstGeom prst="rect">
            <a:avLst/>
          </a:prstGeom>
          <a:solidFill>
            <a:srgbClr val="F6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800" b="1" i="0">
                <a:solidFill>
                  <a:srgbClr val="8C1515"/>
                </a:solidFill>
                <a:latin typeface="Calibri"/>
              </a:rPr>
              <a:t>k₁ 2.6×10⁵, k₂ −14, k₃ tuned</a:t>
            </a:r>
          </a:p>
        </p:txBody>
      </p:sp>
      <p:sp>
        <p:nvSpPr>
          <p:cNvPr id="34" name="TextBox 33"/>
          <p:cNvSpPr txBox="1"/>
          <p:nvPr/>
        </p:nvSpPr>
        <p:spPr>
          <a:xfrm>
            <a:off x="320040" y="3090672"/>
            <a:ext cx="1188720" cy="365760"/>
          </a:xfrm>
          <a:prstGeom prst="rect">
            <a:avLst/>
          </a:prstGeom>
          <a:noFill/>
        </p:spPr>
        <p:txBody>
          <a:bodyPr wrap="square" lIns="0" rIns="0" tIns="0" bIns="0" anchor="ctr">
            <a:spAutoFit/>
          </a:bodyPr>
          <a:lstStyle/>
          <a:p>
            <a:pPr algn="l"/>
            <a:r>
              <a:rPr sz="850" b="1" i="0">
                <a:solidFill>
                  <a:srgbClr val="2E2D29"/>
                </a:solidFill>
                <a:latin typeface="Calibri"/>
              </a:rPr>
              <a:t>Proximal wall</a:t>
            </a:r>
          </a:p>
        </p:txBody>
      </p:sp>
      <p:sp>
        <p:nvSpPr>
          <p:cNvPr id="35" name="Rectangle 34"/>
          <p:cNvSpPr/>
          <p:nvPr/>
        </p:nvSpPr>
        <p:spPr>
          <a:xfrm>
            <a:off x="1554480" y="3090672"/>
            <a:ext cx="1874519" cy="36576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800" b="0" i="0">
                <a:solidFill>
                  <a:srgbClr val="6B6965"/>
                </a:solidFill>
                <a:latin typeface="Calibri"/>
              </a:rPr>
              <a:t>rigid, C = 0</a:t>
            </a:r>
          </a:p>
        </p:txBody>
      </p:sp>
      <p:sp>
        <p:nvSpPr>
          <p:cNvPr id="36" name="Rectangle 35"/>
          <p:cNvSpPr/>
          <p:nvPr/>
        </p:nvSpPr>
        <p:spPr>
          <a:xfrm>
            <a:off x="3474720" y="3090672"/>
            <a:ext cx="1874519" cy="365760"/>
          </a:xfrm>
          <a:prstGeom prst="rect">
            <a:avLst/>
          </a:prstGeom>
          <a:solidFill>
            <a:srgbClr val="F6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800" b="1" i="0">
                <a:solidFill>
                  <a:srgbClr val="8C1515"/>
                </a:solidFill>
                <a:latin typeface="Calibri"/>
              </a:rPr>
              <a:t>Eh/r 5×10⁴ → 0.63 mL/mmHg</a:t>
            </a:r>
          </a:p>
        </p:txBody>
      </p:sp>
      <p:sp>
        <p:nvSpPr>
          <p:cNvPr id="37" name="TextBox 36"/>
          <p:cNvSpPr txBox="1"/>
          <p:nvPr/>
        </p:nvSpPr>
        <p:spPr>
          <a:xfrm>
            <a:off x="320040" y="3493008"/>
            <a:ext cx="1188720" cy="365760"/>
          </a:xfrm>
          <a:prstGeom prst="rect">
            <a:avLst/>
          </a:prstGeom>
          <a:noFill/>
        </p:spPr>
        <p:txBody>
          <a:bodyPr wrap="square" lIns="0" rIns="0" tIns="0" bIns="0" anchor="ctr">
            <a:spAutoFit/>
          </a:bodyPr>
          <a:lstStyle/>
          <a:p>
            <a:pPr algn="l"/>
            <a:r>
              <a:rPr sz="850" b="1" i="0">
                <a:solidFill>
                  <a:srgbClr val="2E2D29"/>
                </a:solidFill>
                <a:latin typeface="Calibri"/>
              </a:rPr>
              <a:t>Tree outlet P</a:t>
            </a:r>
          </a:p>
        </p:txBody>
      </p:sp>
      <p:sp>
        <p:nvSpPr>
          <p:cNvPr id="38" name="Rectangle 37"/>
          <p:cNvSpPr/>
          <p:nvPr/>
        </p:nvSpPr>
        <p:spPr>
          <a:xfrm>
            <a:off x="1554480" y="3493008"/>
            <a:ext cx="1874519" cy="36576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800" b="0" i="0">
                <a:solidFill>
                  <a:srgbClr val="6B6965"/>
                </a:solidFill>
                <a:latin typeface="Calibri"/>
              </a:rPr>
              <a:t>3 mmHg (clamped to dia)</a:t>
            </a:r>
          </a:p>
        </p:txBody>
      </p:sp>
      <p:sp>
        <p:nvSpPr>
          <p:cNvPr id="39" name="Rectangle 38"/>
          <p:cNvSpPr/>
          <p:nvPr/>
        </p:nvSpPr>
        <p:spPr>
          <a:xfrm>
            <a:off x="3474720" y="3493008"/>
            <a:ext cx="1874519" cy="365760"/>
          </a:xfrm>
          <a:prstGeom prst="rect">
            <a:avLst/>
          </a:prstGeom>
          <a:solidFill>
            <a:srgbClr val="F6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800" b="1" i="0">
                <a:solidFill>
                  <a:srgbClr val="8C1515"/>
                </a:solidFill>
                <a:latin typeface="Calibri"/>
              </a:rPr>
              <a:t>9.99 mmHg pre-capillary</a:t>
            </a:r>
          </a:p>
        </p:txBody>
      </p:sp>
      <p:sp>
        <p:nvSpPr>
          <p:cNvPr id="40" name="TextBox 39"/>
          <p:cNvSpPr txBox="1"/>
          <p:nvPr/>
        </p:nvSpPr>
        <p:spPr>
          <a:xfrm>
            <a:off x="320040" y="3895344"/>
            <a:ext cx="1188720" cy="365760"/>
          </a:xfrm>
          <a:prstGeom prst="rect">
            <a:avLst/>
          </a:prstGeom>
          <a:noFill/>
        </p:spPr>
        <p:txBody>
          <a:bodyPr wrap="square" lIns="0" rIns="0" tIns="0" bIns="0" anchor="ctr">
            <a:spAutoFit/>
          </a:bodyPr>
          <a:lstStyle/>
          <a:p>
            <a:pPr algn="l"/>
            <a:r>
              <a:rPr sz="850" b="1" i="0">
                <a:solidFill>
                  <a:srgbClr val="2E2D29"/>
                </a:solidFill>
                <a:latin typeface="Calibri"/>
              </a:rPr>
              <a:t>Morphometry</a:t>
            </a:r>
          </a:p>
        </p:txBody>
      </p:sp>
      <p:sp>
        <p:nvSpPr>
          <p:cNvPr id="41" name="Rectangle 40"/>
          <p:cNvSpPr/>
          <p:nvPr/>
        </p:nvSpPr>
        <p:spPr>
          <a:xfrm>
            <a:off x="1554480" y="3895344"/>
            <a:ext cx="1874519" cy="36576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800" b="0" i="0">
                <a:solidFill>
                  <a:srgbClr val="6B6965"/>
                </a:solidFill>
                <a:latin typeface="Calibri"/>
              </a:rPr>
              <a:t>ξ free, up to 6</a:t>
            </a:r>
          </a:p>
        </p:txBody>
      </p:sp>
      <p:sp>
        <p:nvSpPr>
          <p:cNvPr id="42" name="Rectangle 41"/>
          <p:cNvSpPr/>
          <p:nvPr/>
        </p:nvSpPr>
        <p:spPr>
          <a:xfrm>
            <a:off x="3474720" y="3895344"/>
            <a:ext cx="1874519" cy="365760"/>
          </a:xfrm>
          <a:prstGeom prst="rect">
            <a:avLst/>
          </a:prstGeom>
          <a:solidFill>
            <a:srgbClr val="F6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800" b="1" i="0">
                <a:solidFill>
                  <a:srgbClr val="8C1515"/>
                </a:solidFill>
                <a:latin typeface="Calibri"/>
              </a:rPr>
              <a:t>ξ ∈ [2.33, 3], η ∈ [0.3, 1]</a:t>
            </a:r>
          </a:p>
        </p:txBody>
      </p:sp>
      <p:sp>
        <p:nvSpPr>
          <p:cNvPr id="43" name="TextBox 42"/>
          <p:cNvSpPr txBox="1"/>
          <p:nvPr/>
        </p:nvSpPr>
        <p:spPr>
          <a:xfrm>
            <a:off x="320040" y="4297680"/>
            <a:ext cx="1188720" cy="365760"/>
          </a:xfrm>
          <a:prstGeom prst="rect">
            <a:avLst/>
          </a:prstGeom>
          <a:noFill/>
        </p:spPr>
        <p:txBody>
          <a:bodyPr wrap="square" lIns="0" rIns="0" tIns="0" bIns="0" anchor="ctr">
            <a:spAutoFit/>
          </a:bodyPr>
          <a:lstStyle/>
          <a:p>
            <a:pPr algn="l"/>
            <a:r>
              <a:rPr sz="850" b="1" i="0">
                <a:solidFill>
                  <a:srgbClr val="2E2D29"/>
                </a:solidFill>
                <a:latin typeface="Calibri"/>
              </a:rPr>
              <a:t>Objective</a:t>
            </a:r>
          </a:p>
        </p:txBody>
      </p:sp>
      <p:sp>
        <p:nvSpPr>
          <p:cNvPr id="44" name="Rectangle 43"/>
          <p:cNvSpPr/>
          <p:nvPr/>
        </p:nvSpPr>
        <p:spPr>
          <a:xfrm>
            <a:off x="1554480" y="4297680"/>
            <a:ext cx="1874519" cy="36576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800" b="0" i="0">
                <a:solidFill>
                  <a:srgbClr val="6B6965"/>
                </a:solidFill>
                <a:latin typeface="Calibri"/>
              </a:rPr>
              <a:t>relative squared error</a:t>
            </a:r>
          </a:p>
        </p:txBody>
      </p:sp>
      <p:sp>
        <p:nvSpPr>
          <p:cNvPr id="45" name="Rectangle 44"/>
          <p:cNvSpPr/>
          <p:nvPr/>
        </p:nvSpPr>
        <p:spPr>
          <a:xfrm>
            <a:off x="3474720" y="4297680"/>
            <a:ext cx="1874519" cy="365760"/>
          </a:xfrm>
          <a:prstGeom prst="rect">
            <a:avLst/>
          </a:prstGeom>
          <a:solidFill>
            <a:srgbClr val="F6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800" b="1" i="0">
                <a:solidFill>
                  <a:srgbClr val="8C1515"/>
                </a:solidFill>
                <a:latin typeface="Calibri"/>
              </a:rPr>
              <a:t>Gaussian, σ 2 mmHg / 0.02</a:t>
            </a:r>
          </a:p>
        </p:txBody>
      </p:sp>
      <p:sp>
        <p:nvSpPr>
          <p:cNvPr id="46" name="Rectangle 45"/>
          <p:cNvSpPr/>
          <p:nvPr/>
        </p:nvSpPr>
        <p:spPr>
          <a:xfrm>
            <a:off x="5623560" y="2212848"/>
            <a:ext cx="1554480" cy="713232"/>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p>
        </p:txBody>
      </p:sp>
      <p:sp>
        <p:nvSpPr>
          <p:cNvPr id="47" name="TextBox 46"/>
          <p:cNvSpPr txBox="1"/>
          <p:nvPr/>
        </p:nvSpPr>
        <p:spPr>
          <a:xfrm>
            <a:off x="5715000" y="2249424"/>
            <a:ext cx="457200" cy="640080"/>
          </a:xfrm>
          <a:prstGeom prst="rect">
            <a:avLst/>
          </a:prstGeom>
          <a:noFill/>
        </p:spPr>
        <p:txBody>
          <a:bodyPr wrap="square" lIns="0" rIns="0" tIns="0" bIns="0" anchor="ctr">
            <a:spAutoFit/>
          </a:bodyPr>
          <a:lstStyle/>
          <a:p>
            <a:pPr algn="l"/>
            <a:r>
              <a:rPr sz="2600" b="1" i="0">
                <a:solidFill>
                  <a:srgbClr val="8C1515"/>
                </a:solidFill>
                <a:latin typeface="Calibri"/>
              </a:rPr>
              <a:t>5</a:t>
            </a:r>
          </a:p>
        </p:txBody>
      </p:sp>
      <p:sp>
        <p:nvSpPr>
          <p:cNvPr id="48" name="TextBox 47"/>
          <p:cNvSpPr txBox="1"/>
          <p:nvPr/>
        </p:nvSpPr>
        <p:spPr>
          <a:xfrm>
            <a:off x="6172200" y="2249424"/>
            <a:ext cx="960119" cy="640080"/>
          </a:xfrm>
          <a:prstGeom prst="rect">
            <a:avLst/>
          </a:prstGeom>
          <a:noFill/>
        </p:spPr>
        <p:txBody>
          <a:bodyPr wrap="square" lIns="0" rIns="0" tIns="0" bIns="0" anchor="ctr">
            <a:spAutoFit/>
          </a:bodyPr>
          <a:lstStyle/>
          <a:p>
            <a:pPr algn="l"/>
            <a:r>
              <a:rPr sz="850" b="1" i="0">
                <a:solidFill>
                  <a:srgbClr val="2E2D29"/>
                </a:solidFill>
                <a:latin typeface="Calibri"/>
              </a:rPr>
              <a:t>tuned parameters</a:t>
            </a:r>
          </a:p>
        </p:txBody>
      </p:sp>
      <p:sp>
        <p:nvSpPr>
          <p:cNvPr id="49" name="Rectangle 48"/>
          <p:cNvSpPr/>
          <p:nvPr/>
        </p:nvSpPr>
        <p:spPr>
          <a:xfrm>
            <a:off x="7269480" y="2212848"/>
            <a:ext cx="1554480" cy="713232"/>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p>
        </p:txBody>
      </p:sp>
      <p:sp>
        <p:nvSpPr>
          <p:cNvPr id="50" name="TextBox 49"/>
          <p:cNvSpPr txBox="1"/>
          <p:nvPr/>
        </p:nvSpPr>
        <p:spPr>
          <a:xfrm>
            <a:off x="7360920" y="2249424"/>
            <a:ext cx="457200" cy="640080"/>
          </a:xfrm>
          <a:prstGeom prst="rect">
            <a:avLst/>
          </a:prstGeom>
          <a:noFill/>
        </p:spPr>
        <p:txBody>
          <a:bodyPr wrap="square" lIns="0" rIns="0" tIns="0" bIns="0" anchor="ctr">
            <a:spAutoFit/>
          </a:bodyPr>
          <a:lstStyle/>
          <a:p>
            <a:pPr algn="l"/>
            <a:r>
              <a:rPr sz="2600" b="1" i="0">
                <a:solidFill>
                  <a:srgbClr val="279989"/>
                </a:solidFill>
                <a:latin typeface="Calibri"/>
              </a:rPr>
              <a:t>4</a:t>
            </a:r>
          </a:p>
        </p:txBody>
      </p:sp>
      <p:sp>
        <p:nvSpPr>
          <p:cNvPr id="51" name="TextBox 50"/>
          <p:cNvSpPr txBox="1"/>
          <p:nvPr/>
        </p:nvSpPr>
        <p:spPr>
          <a:xfrm>
            <a:off x="7818120" y="2249424"/>
            <a:ext cx="960119" cy="640080"/>
          </a:xfrm>
          <a:prstGeom prst="rect">
            <a:avLst/>
          </a:prstGeom>
          <a:noFill/>
        </p:spPr>
        <p:txBody>
          <a:bodyPr wrap="square" lIns="0" rIns="0" tIns="0" bIns="0" anchor="ctr">
            <a:spAutoFit/>
          </a:bodyPr>
          <a:lstStyle/>
          <a:p>
            <a:pPr algn="l"/>
            <a:r>
              <a:rPr sz="850" b="1" i="0">
                <a:solidFill>
                  <a:srgbClr val="2E2D29"/>
                </a:solidFill>
                <a:latin typeface="Calibri"/>
              </a:rPr>
              <a:t>clinical targets</a:t>
            </a:r>
          </a:p>
        </p:txBody>
      </p:sp>
      <p:sp>
        <p:nvSpPr>
          <p:cNvPr id="52" name="Rectangle 51"/>
          <p:cNvSpPr/>
          <p:nvPr/>
        </p:nvSpPr>
        <p:spPr>
          <a:xfrm>
            <a:off x="5623560" y="3017520"/>
            <a:ext cx="1554480" cy="402336"/>
          </a:xfrm>
          <a:prstGeom prst="rect">
            <a:avLst/>
          </a:prstGeom>
          <a:solidFill>
            <a:srgbClr val="FFFFFF"/>
          </a:solidFill>
          <a:ln w="9525">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p>
        </p:txBody>
      </p:sp>
      <p:sp>
        <p:nvSpPr>
          <p:cNvPr id="53" name="TextBox 52"/>
          <p:cNvSpPr txBox="1"/>
          <p:nvPr/>
        </p:nvSpPr>
        <p:spPr>
          <a:xfrm>
            <a:off x="5696712" y="3044951"/>
            <a:ext cx="1408176" cy="365760"/>
          </a:xfrm>
          <a:prstGeom prst="rect">
            <a:avLst/>
          </a:prstGeom>
          <a:noFill/>
        </p:spPr>
        <p:txBody>
          <a:bodyPr wrap="square" lIns="0" rIns="0" tIns="0" bIns="0" anchor="ctr">
            <a:spAutoFit/>
          </a:bodyPr>
          <a:lstStyle/>
          <a:p>
            <a:pPr algn="l"/>
            <a:r>
              <a:rPr sz="750" b="0" i="0">
                <a:solidFill>
                  <a:srgbClr val="6B6965"/>
                </a:solidFill>
                <a:latin typeface="Calibri"/>
              </a:rPr>
              <a:t>ξ, LPA and RPA</a:t>
            </a:r>
          </a:p>
          <a:p>
            <a:pPr algn="l"/>
            <a:r>
              <a:rPr sz="900" b="1" i="0">
                <a:solidFill>
                  <a:srgbClr val="8C1515"/>
                </a:solidFill>
                <a:latin typeface="Calibri"/>
              </a:rPr>
              <a:t>[2.33, 3.0]</a:t>
            </a:r>
          </a:p>
        </p:txBody>
      </p:sp>
      <p:sp>
        <p:nvSpPr>
          <p:cNvPr id="54" name="Rectangle 53"/>
          <p:cNvSpPr/>
          <p:nvPr/>
        </p:nvSpPr>
        <p:spPr>
          <a:xfrm>
            <a:off x="5623560" y="3474720"/>
            <a:ext cx="1554480" cy="402336"/>
          </a:xfrm>
          <a:prstGeom prst="rect">
            <a:avLst/>
          </a:prstGeom>
          <a:solidFill>
            <a:srgbClr val="FFFFFF"/>
          </a:solidFill>
          <a:ln w="9525">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p>
        </p:txBody>
      </p:sp>
      <p:sp>
        <p:nvSpPr>
          <p:cNvPr id="55" name="TextBox 54"/>
          <p:cNvSpPr txBox="1"/>
          <p:nvPr/>
        </p:nvSpPr>
        <p:spPr>
          <a:xfrm>
            <a:off x="5696712" y="3502151"/>
            <a:ext cx="1408176" cy="365760"/>
          </a:xfrm>
          <a:prstGeom prst="rect">
            <a:avLst/>
          </a:prstGeom>
          <a:noFill/>
        </p:spPr>
        <p:txBody>
          <a:bodyPr wrap="square" lIns="0" rIns="0" tIns="0" bIns="0" anchor="ctr">
            <a:spAutoFit/>
          </a:bodyPr>
          <a:lstStyle/>
          <a:p>
            <a:pPr algn="l"/>
            <a:r>
              <a:rPr sz="750" b="0" i="0">
                <a:solidFill>
                  <a:srgbClr val="6B6965"/>
                </a:solidFill>
                <a:latin typeface="Calibri"/>
              </a:rPr>
              <a:t>η, LPA and RPA</a:t>
            </a:r>
          </a:p>
          <a:p>
            <a:pPr algn="l"/>
            <a:r>
              <a:rPr sz="900" b="1" i="0">
                <a:solidFill>
                  <a:srgbClr val="8C1515"/>
                </a:solidFill>
                <a:latin typeface="Calibri"/>
              </a:rPr>
              <a:t>[0.3, 1.0]</a:t>
            </a:r>
          </a:p>
        </p:txBody>
      </p:sp>
      <p:sp>
        <p:nvSpPr>
          <p:cNvPr id="56" name="Rectangle 55"/>
          <p:cNvSpPr/>
          <p:nvPr/>
        </p:nvSpPr>
        <p:spPr>
          <a:xfrm>
            <a:off x="5623560" y="3931920"/>
            <a:ext cx="1554480" cy="402336"/>
          </a:xfrm>
          <a:prstGeom prst="rect">
            <a:avLst/>
          </a:prstGeom>
          <a:solidFill>
            <a:srgbClr val="FFFFFF"/>
          </a:solidFill>
          <a:ln w="9525">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p>
        </p:txBody>
      </p:sp>
      <p:sp>
        <p:nvSpPr>
          <p:cNvPr id="57" name="TextBox 56"/>
          <p:cNvSpPr txBox="1"/>
          <p:nvPr/>
        </p:nvSpPr>
        <p:spPr>
          <a:xfrm>
            <a:off x="5696712" y="3959352"/>
            <a:ext cx="1408176" cy="365760"/>
          </a:xfrm>
          <a:prstGeom prst="rect">
            <a:avLst/>
          </a:prstGeom>
          <a:noFill/>
        </p:spPr>
        <p:txBody>
          <a:bodyPr wrap="square" lIns="0" rIns="0" tIns="0" bIns="0" anchor="ctr">
            <a:spAutoFit/>
          </a:bodyPr>
          <a:lstStyle/>
          <a:p>
            <a:pPr algn="l"/>
            <a:r>
              <a:rPr sz="750" b="0" i="0">
                <a:solidFill>
                  <a:srgbClr val="6B6965"/>
                </a:solidFill>
                <a:latin typeface="Calibri"/>
              </a:rPr>
              <a:t>k₃</a:t>
            </a:r>
          </a:p>
          <a:p>
            <a:pPr algn="l"/>
            <a:r>
              <a:rPr sz="900" b="1" i="0">
                <a:solidFill>
                  <a:srgbClr val="8C1515"/>
                </a:solidFill>
                <a:latin typeface="Calibri"/>
              </a:rPr>
              <a:t>[5×10⁴, 4×10⁵]</a:t>
            </a:r>
          </a:p>
        </p:txBody>
      </p:sp>
      <p:sp>
        <p:nvSpPr>
          <p:cNvPr id="58" name="Rectangle 57"/>
          <p:cNvSpPr/>
          <p:nvPr/>
        </p:nvSpPr>
        <p:spPr>
          <a:xfrm>
            <a:off x="7269480" y="3017520"/>
            <a:ext cx="1554480" cy="402336"/>
          </a:xfrm>
          <a:prstGeom prst="rect">
            <a:avLst/>
          </a:prstGeom>
          <a:solidFill>
            <a:srgbClr val="FFFFFF"/>
          </a:solidFill>
          <a:ln w="9525">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p>
        </p:txBody>
      </p:sp>
      <p:sp>
        <p:nvSpPr>
          <p:cNvPr id="59" name="TextBox 58"/>
          <p:cNvSpPr txBox="1"/>
          <p:nvPr/>
        </p:nvSpPr>
        <p:spPr>
          <a:xfrm>
            <a:off x="7342631" y="3044951"/>
            <a:ext cx="1408176" cy="365760"/>
          </a:xfrm>
          <a:prstGeom prst="rect">
            <a:avLst/>
          </a:prstGeom>
          <a:noFill/>
        </p:spPr>
        <p:txBody>
          <a:bodyPr wrap="square" lIns="0" rIns="0" tIns="0" bIns="0" anchor="ctr">
            <a:spAutoFit/>
          </a:bodyPr>
          <a:lstStyle/>
          <a:p>
            <a:pPr algn="l"/>
            <a:r>
              <a:rPr sz="750" b="0" i="0">
                <a:solidFill>
                  <a:srgbClr val="6B6965"/>
                </a:solidFill>
                <a:latin typeface="Calibri"/>
              </a:rPr>
              <a:t>MPA sys / dia / mean</a:t>
            </a:r>
          </a:p>
          <a:p>
            <a:pPr algn="l"/>
            <a:r>
              <a:rPr sz="900" b="1" i="0">
                <a:solidFill>
                  <a:srgbClr val="279989"/>
                </a:solidFill>
                <a:latin typeface="Calibri"/>
              </a:rPr>
              <a:t>34 / 3 / 16</a:t>
            </a:r>
          </a:p>
        </p:txBody>
      </p:sp>
      <p:sp>
        <p:nvSpPr>
          <p:cNvPr id="60" name="Rectangle 59"/>
          <p:cNvSpPr/>
          <p:nvPr/>
        </p:nvSpPr>
        <p:spPr>
          <a:xfrm>
            <a:off x="7269480" y="3474720"/>
            <a:ext cx="1554480" cy="402336"/>
          </a:xfrm>
          <a:prstGeom prst="rect">
            <a:avLst/>
          </a:prstGeom>
          <a:solidFill>
            <a:srgbClr val="FFFFFF"/>
          </a:solidFill>
          <a:ln w="9525">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p>
        </p:txBody>
      </p:sp>
      <p:sp>
        <p:nvSpPr>
          <p:cNvPr id="61" name="TextBox 60"/>
          <p:cNvSpPr txBox="1"/>
          <p:nvPr/>
        </p:nvSpPr>
        <p:spPr>
          <a:xfrm>
            <a:off x="7342631" y="3502151"/>
            <a:ext cx="1408176" cy="365760"/>
          </a:xfrm>
          <a:prstGeom prst="rect">
            <a:avLst/>
          </a:prstGeom>
          <a:noFill/>
        </p:spPr>
        <p:txBody>
          <a:bodyPr wrap="square" lIns="0" rIns="0" tIns="0" bIns="0" anchor="ctr">
            <a:spAutoFit/>
          </a:bodyPr>
          <a:lstStyle/>
          <a:p>
            <a:pPr algn="l"/>
            <a:r>
              <a:rPr sz="750" b="0" i="0">
                <a:solidFill>
                  <a:srgbClr val="6B6965"/>
                </a:solidFill>
                <a:latin typeface="Calibri"/>
              </a:rPr>
              <a:t>σ catheter</a:t>
            </a:r>
          </a:p>
          <a:p>
            <a:pPr algn="l"/>
            <a:r>
              <a:rPr sz="900" b="1" i="0">
                <a:solidFill>
                  <a:srgbClr val="279989"/>
                </a:solidFill>
                <a:latin typeface="Calibri"/>
              </a:rPr>
              <a:t>2 mmHg</a:t>
            </a:r>
          </a:p>
        </p:txBody>
      </p:sp>
      <p:sp>
        <p:nvSpPr>
          <p:cNvPr id="62" name="Rectangle 61"/>
          <p:cNvSpPr/>
          <p:nvPr/>
        </p:nvSpPr>
        <p:spPr>
          <a:xfrm>
            <a:off x="7269480" y="3931920"/>
            <a:ext cx="1554480" cy="402336"/>
          </a:xfrm>
          <a:prstGeom prst="rect">
            <a:avLst/>
          </a:prstGeom>
          <a:solidFill>
            <a:srgbClr val="FFFFFF"/>
          </a:solidFill>
          <a:ln w="9525">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p>
        </p:txBody>
      </p:sp>
      <p:sp>
        <p:nvSpPr>
          <p:cNvPr id="63" name="TextBox 62"/>
          <p:cNvSpPr txBox="1"/>
          <p:nvPr/>
        </p:nvSpPr>
        <p:spPr>
          <a:xfrm>
            <a:off x="7342631" y="3959352"/>
            <a:ext cx="1408176" cy="365760"/>
          </a:xfrm>
          <a:prstGeom prst="rect">
            <a:avLst/>
          </a:prstGeom>
          <a:noFill/>
        </p:spPr>
        <p:txBody>
          <a:bodyPr wrap="square" lIns="0" rIns="0" tIns="0" bIns="0" anchor="ctr">
            <a:spAutoFit/>
          </a:bodyPr>
          <a:lstStyle/>
          <a:p>
            <a:pPr algn="l"/>
            <a:r>
              <a:rPr sz="750" b="0" i="0">
                <a:solidFill>
                  <a:srgbClr val="6B6965"/>
                </a:solidFill>
                <a:latin typeface="Calibri"/>
              </a:rPr>
              <a:t>RPA split (MRI)</a:t>
            </a:r>
          </a:p>
          <a:p>
            <a:pPr algn="l"/>
            <a:r>
              <a:rPr sz="900" b="1" i="0">
                <a:solidFill>
                  <a:srgbClr val="279989"/>
                </a:solidFill>
                <a:latin typeface="Calibri"/>
              </a:rPr>
              <a:t>0.87 ± 0.02</a:t>
            </a:r>
          </a:p>
        </p:txBody>
      </p:sp>
      <p:sp>
        <p:nvSpPr>
          <p:cNvPr id="64" name="Takeaway bar"/>
          <p:cNvSpPr/>
          <p:nvPr/>
        </p:nvSpPr>
        <p:spPr>
          <a:xfrm>
            <a:off x="320040" y="4700016"/>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p>
        </p:txBody>
      </p:sp>
      <p:sp>
        <p:nvSpPr>
          <p:cNvPr id="65" name="TextBox 64"/>
          <p:cNvSpPr txBox="1"/>
          <p:nvPr/>
        </p:nvSpPr>
        <p:spPr>
          <a:xfrm>
            <a:off x="429768" y="4700016"/>
            <a:ext cx="8284464" cy="310896"/>
          </a:xfrm>
          <a:prstGeom prst="rect">
            <a:avLst/>
          </a:prstGeom>
          <a:noFill/>
        </p:spPr>
        <p:txBody>
          <a:bodyPr wrap="square" lIns="0" rIns="0" tIns="0" bIns="0" anchor="ctr">
            <a:spAutoFit/>
          </a:bodyPr>
          <a:lstStyle/>
          <a:p>
            <a:pPr algn="l"/>
            <a:r>
              <a:rPr sz="1000" b="1" i="0">
                <a:solidFill>
                  <a:srgbClr val="8C1515"/>
                </a:solidFill>
                <a:latin typeface="Calibri"/>
              </a:rPr>
              <a:t>Every fixed value has a literature or patient-data source; only k₃ and the tree morphometry are tuned.</a:t>
            </a:r>
          </a:p>
        </p:txBody>
      </p:sp>
      <p:sp>
        <p:nvSpPr>
          <p:cNvPr id="66" name="TextBox 65"/>
          <p:cNvSpPr txBox="1"/>
          <p:nvPr/>
        </p:nvSpPr>
        <p:spPr>
          <a:xfrm>
            <a:off x="2011680" y="5376672"/>
            <a:ext cx="6812280" cy="201168"/>
          </a:xfrm>
          <a:prstGeom prst="rect">
            <a:avLst/>
          </a:prstGeom>
          <a:noFill/>
        </p:spPr>
        <p:txBody>
          <a:bodyPr wrap="square" lIns="0" rIns="0" tIns="0" bIns="0" anchor="ctr">
            <a:spAutoFit/>
          </a:bodyPr>
          <a:lstStyle/>
          <a:p>
            <a:pPr algn="l"/>
            <a:r>
              <a:rPr sz="700" b="0" i="1">
                <a:solidFill>
                  <a:srgbClr val="6B6965"/>
                </a:solidFill>
                <a:latin typeface="Calibri"/>
              </a:rPr>
              <a:t>OPTION1.md; run_option1.option1(). Fixed: l_rr 10, d_min 0.01 cm, diameter_scale 1.0, max_nodes 1M. Krenz &amp; Dawson 2003; Colebank 2021; Olufsen 2012; Uylings 1977.</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a:xfrm>
            <a:off x="1362456" y="2971800"/>
            <a:ext cx="6400800" cy="658368"/>
          </a:xfrm>
        </p:spPr>
        <p:txBody>
          <a:bodyPr wrap="square" lIns="0" rIns="0"/>
          <a:lstStyle/>
          <a:p>
            <a:r>
              <a:rPr sz="1300">
                <a:solidFill>
                  <a:srgbClr val="FFFFFF"/>
                </a:solidFill>
                <a:latin typeface="Calibri"/>
              </a:rPr>
              <a:t>Deformable-wall 3D CFD with the tuned structured-tree impedance boundary conditions.</a:t>
            </a:r>
          </a:p>
        </p:txBody>
      </p:sp>
      <p:sp>
        <p:nvSpPr>
          <p:cNvPr id="3" name="Title 2"/>
          <p:cNvSpPr>
            <a:spLocks noGrp="1"/>
          </p:cNvSpPr>
          <p:nvPr>
            <p:ph type="ctrTitle"/>
          </p:nvPr>
        </p:nvSpPr>
        <p:spPr>
          <a:xfrm>
            <a:off x="1362456" y="1874519"/>
            <a:ext cx="7479792" cy="1005840"/>
          </a:xfrm>
        </p:spPr>
        <p:txBody>
          <a:bodyPr lIns="0" rIns="0" anchor="b"/>
          <a:lstStyle/>
          <a:p>
            <a:r>
              <a:rPr sz="3200">
                <a:solidFill>
                  <a:srgbClr val="FFFFFF"/>
                </a:solidFill>
                <a:latin typeface="Georgia"/>
              </a:rPr>
              <a:t>Pre-operative Simulation</a:t>
            </a:r>
          </a:p>
        </p:txBody>
      </p:sp>
      <p:sp>
        <p:nvSpPr>
          <p:cNvPr id="4" name="TextBox 3"/>
          <p:cNvSpPr txBox="1"/>
          <p:nvPr/>
        </p:nvSpPr>
        <p:spPr>
          <a:xfrm>
            <a:off x="1362456" y="1517904"/>
            <a:ext cx="7479792" cy="256032"/>
          </a:xfrm>
          <a:prstGeom prst="rect">
            <a:avLst/>
          </a:prstGeom>
          <a:noFill/>
        </p:spPr>
        <p:txBody>
          <a:bodyPr wrap="square" lIns="27432" tIns="0" rIns="27432" bIns="0" anchor="t">
            <a:spAutoFit/>
          </a:bodyPr>
          <a:lstStyle/>
          <a:p>
            <a:pPr algn="l"/>
            <a:r>
              <a:rPr sz="1050" b="1" i="0">
                <a:solidFill>
                  <a:srgbClr val="FFFFFF"/>
                </a:solidFill>
                <a:latin typeface="Calibri"/>
              </a:rPr>
              <a:t>STAGE 3 OF 7</a:t>
            </a:r>
          </a:p>
        </p:txBody>
      </p:sp>
      <p:sp>
        <p:nvSpPr>
          <p:cNvPr id="5" name="Rectangle 4"/>
          <p:cNvSpPr/>
          <p:nvPr/>
        </p:nvSpPr>
        <p:spPr>
          <a:xfrm>
            <a:off x="1362456" y="4041648"/>
            <a:ext cx="869986" cy="256032"/>
          </a:xfrm>
          <a:prstGeom prst="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362456" y="4041648"/>
            <a:ext cx="869986" cy="256032"/>
          </a:xfrm>
          <a:prstGeom prst="rect">
            <a:avLst/>
          </a:prstGeom>
          <a:noFill/>
        </p:spPr>
        <p:txBody>
          <a:bodyPr wrap="square" lIns="9144" tIns="0" rIns="9144" bIns="0" anchor="ctr">
            <a:spAutoFit/>
          </a:bodyPr>
          <a:lstStyle/>
          <a:p>
            <a:pPr algn="ctr"/>
            <a:r>
              <a:rPr sz="700" b="0">
                <a:solidFill>
                  <a:srgbClr val="FFFFFF"/>
                </a:solidFill>
                <a:latin typeface="Calibri"/>
              </a:rPr>
              <a:t>1  Inputs</a:t>
            </a:r>
          </a:p>
        </p:txBody>
      </p:sp>
      <p:sp>
        <p:nvSpPr>
          <p:cNvPr id="7" name="Rectangle 6"/>
          <p:cNvSpPr/>
          <p:nvPr/>
        </p:nvSpPr>
        <p:spPr>
          <a:xfrm>
            <a:off x="2287306" y="4041648"/>
            <a:ext cx="869986" cy="256032"/>
          </a:xfrm>
          <a:prstGeom prst="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287306" y="4041648"/>
            <a:ext cx="869986" cy="256032"/>
          </a:xfrm>
          <a:prstGeom prst="rect">
            <a:avLst/>
          </a:prstGeom>
          <a:noFill/>
        </p:spPr>
        <p:txBody>
          <a:bodyPr wrap="square" lIns="9144" tIns="0" rIns="9144" bIns="0" anchor="ctr">
            <a:spAutoFit/>
          </a:bodyPr>
          <a:lstStyle/>
          <a:p>
            <a:pPr algn="ctr"/>
            <a:r>
              <a:rPr sz="700" b="0">
                <a:solidFill>
                  <a:srgbClr val="FFFFFF"/>
                </a:solidFill>
                <a:latin typeface="Calibri"/>
              </a:rPr>
              <a:t>2  BC Tuning</a:t>
            </a:r>
          </a:p>
        </p:txBody>
      </p:sp>
      <p:sp>
        <p:nvSpPr>
          <p:cNvPr id="9" name="Rectangle 8"/>
          <p:cNvSpPr/>
          <p:nvPr/>
        </p:nvSpPr>
        <p:spPr>
          <a:xfrm>
            <a:off x="3212156" y="4041648"/>
            <a:ext cx="869986" cy="2560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212156" y="4041648"/>
            <a:ext cx="869986" cy="256032"/>
          </a:xfrm>
          <a:prstGeom prst="rect">
            <a:avLst/>
          </a:prstGeom>
          <a:noFill/>
        </p:spPr>
        <p:txBody>
          <a:bodyPr wrap="square" lIns="9144" tIns="0" rIns="9144" bIns="0" anchor="ctr">
            <a:spAutoFit/>
          </a:bodyPr>
          <a:lstStyle/>
          <a:p>
            <a:pPr algn="ctr"/>
            <a:r>
              <a:rPr sz="700" b="1">
                <a:solidFill>
                  <a:srgbClr val="007C92"/>
                </a:solidFill>
                <a:latin typeface="Calibri"/>
              </a:rPr>
              <a:t>3  Pre-op Sim</a:t>
            </a:r>
          </a:p>
        </p:txBody>
      </p:sp>
      <p:sp>
        <p:nvSpPr>
          <p:cNvPr id="11" name="Rectangle 10"/>
          <p:cNvSpPr/>
          <p:nvPr/>
        </p:nvSpPr>
        <p:spPr>
          <a:xfrm>
            <a:off x="4137006" y="4041648"/>
            <a:ext cx="869986" cy="256032"/>
          </a:xfrm>
          <a:prstGeom prst="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137006" y="4041648"/>
            <a:ext cx="869986" cy="256032"/>
          </a:xfrm>
          <a:prstGeom prst="rect">
            <a:avLst/>
          </a:prstGeom>
          <a:noFill/>
        </p:spPr>
        <p:txBody>
          <a:bodyPr wrap="square" lIns="9144" tIns="0" rIns="9144" bIns="0" anchor="ctr">
            <a:spAutoFit/>
          </a:bodyPr>
          <a:lstStyle/>
          <a:p>
            <a:pPr algn="ctr"/>
            <a:r>
              <a:rPr sz="700" b="0">
                <a:solidFill>
                  <a:srgbClr val="FFFFFF"/>
                </a:solidFill>
                <a:latin typeface="Calibri"/>
              </a:rPr>
              <a:t>4  Post-op Sim</a:t>
            </a:r>
          </a:p>
        </p:txBody>
      </p:sp>
      <p:sp>
        <p:nvSpPr>
          <p:cNvPr id="13" name="Rectangle 12"/>
          <p:cNvSpPr/>
          <p:nvPr/>
        </p:nvSpPr>
        <p:spPr>
          <a:xfrm>
            <a:off x="5061857" y="4041648"/>
            <a:ext cx="869986" cy="256032"/>
          </a:xfrm>
          <a:prstGeom prst="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5061857" y="4041648"/>
            <a:ext cx="869986" cy="256032"/>
          </a:xfrm>
          <a:prstGeom prst="rect">
            <a:avLst/>
          </a:prstGeom>
          <a:noFill/>
        </p:spPr>
        <p:txBody>
          <a:bodyPr wrap="square" lIns="9144" tIns="0" rIns="9144" bIns="0" anchor="ctr">
            <a:spAutoFit/>
          </a:bodyPr>
          <a:lstStyle/>
          <a:p>
            <a:pPr algn="ctr"/>
            <a:r>
              <a:rPr sz="700" b="0">
                <a:solidFill>
                  <a:srgbClr val="FFFFFF"/>
                </a:solidFill>
                <a:latin typeface="Calibri"/>
              </a:rPr>
              <a:t>5  Adaptation</a:t>
            </a:r>
          </a:p>
        </p:txBody>
      </p:sp>
      <p:sp>
        <p:nvSpPr>
          <p:cNvPr id="15" name="Rectangle 14"/>
          <p:cNvSpPr/>
          <p:nvPr/>
        </p:nvSpPr>
        <p:spPr>
          <a:xfrm>
            <a:off x="5986707" y="4041648"/>
            <a:ext cx="869986" cy="256032"/>
          </a:xfrm>
          <a:prstGeom prst="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86707" y="4041648"/>
            <a:ext cx="869986" cy="256032"/>
          </a:xfrm>
          <a:prstGeom prst="rect">
            <a:avLst/>
          </a:prstGeom>
          <a:noFill/>
        </p:spPr>
        <p:txBody>
          <a:bodyPr wrap="square" lIns="9144" tIns="0" rIns="9144" bIns="0" anchor="ctr">
            <a:spAutoFit/>
          </a:bodyPr>
          <a:lstStyle/>
          <a:p>
            <a:pPr algn="ctr"/>
            <a:r>
              <a:rPr sz="700" b="0">
                <a:solidFill>
                  <a:srgbClr val="FFFFFF"/>
                </a:solidFill>
                <a:latin typeface="Calibri"/>
              </a:rPr>
              <a:t>6  Adapted Sim</a:t>
            </a:r>
          </a:p>
        </p:txBody>
      </p:sp>
      <p:sp>
        <p:nvSpPr>
          <p:cNvPr id="17" name="Rectangle 16"/>
          <p:cNvSpPr/>
          <p:nvPr/>
        </p:nvSpPr>
        <p:spPr>
          <a:xfrm>
            <a:off x="6911557" y="4041648"/>
            <a:ext cx="869986" cy="256032"/>
          </a:xfrm>
          <a:prstGeom prst="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6911557" y="4041648"/>
            <a:ext cx="869986" cy="256032"/>
          </a:xfrm>
          <a:prstGeom prst="rect">
            <a:avLst/>
          </a:prstGeom>
          <a:noFill/>
        </p:spPr>
        <p:txBody>
          <a:bodyPr wrap="square" lIns="9144" tIns="0" rIns="9144" bIns="0" anchor="ctr">
            <a:spAutoFit/>
          </a:bodyPr>
          <a:lstStyle/>
          <a:p>
            <a:pPr algn="ctr"/>
            <a:r>
              <a:rPr sz="700" b="0">
                <a:solidFill>
                  <a:srgbClr val="FFFFFF"/>
                </a:solidFill>
                <a:latin typeface="Calibri"/>
              </a:rPr>
              <a:t>7  Metrics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sz="2200">
                <a:solidFill>
                  <a:srgbClr val="8C1515"/>
                </a:solidFill>
                <a:latin typeface="Georgia"/>
              </a:rPr>
              <a:t>Deformable-wall formulation</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2  BC Tuning</a:t>
            </a:r>
          </a:p>
        </p:txBody>
      </p:sp>
      <p:sp>
        <p:nvSpPr>
          <p:cNvPr id="7" name="Rectangle 6"/>
          <p:cNvSpPr/>
          <p:nvPr/>
        </p:nvSpPr>
        <p:spPr>
          <a:xfrm>
            <a:off x="2189334"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VALIDATED</a:t>
            </a:r>
          </a:p>
        </p:txBody>
      </p:sp>
      <p:sp>
        <p:nvSpPr>
          <p:cNvPr id="19" name="TextBox 18"/>
          <p:cNvSpPr txBox="1"/>
          <p:nvPr/>
        </p:nvSpPr>
        <p:spPr>
          <a:xfrm>
            <a:off x="320040" y="1389888"/>
            <a:ext cx="8503920" cy="219456"/>
          </a:xfrm>
          <a:prstGeom prst="rect">
            <a:avLst/>
          </a:prstGeom>
          <a:noFill/>
        </p:spPr>
        <p:txBody>
          <a:bodyPr wrap="square" lIns="27432" tIns="0" rIns="27432" bIns="0" anchor="t">
            <a:spAutoFit/>
          </a:bodyPr>
          <a:lstStyle/>
          <a:p>
            <a:pPr algn="l"/>
            <a:r>
              <a:rPr sz="950" b="0" i="1">
                <a:solidFill>
                  <a:srgbClr val="6B6965"/>
                </a:solidFill>
                <a:latin typeface="Calibri"/>
              </a:rPr>
              <a:t>All three simulation stages — pre-operative, post-operative and adapted — use the same coupled momentum method setup.</a:t>
            </a:r>
          </a:p>
        </p:txBody>
      </p:sp>
      <p:sp>
        <p:nvSpPr>
          <p:cNvPr id="20" name="TextBox 19"/>
          <p:cNvSpPr txBox="1"/>
          <p:nvPr/>
        </p:nvSpPr>
        <p:spPr>
          <a:xfrm>
            <a:off x="320040" y="1700784"/>
            <a:ext cx="4160520" cy="201168"/>
          </a:xfrm>
          <a:prstGeom prst="rect">
            <a:avLst/>
          </a:prstGeom>
          <a:noFill/>
        </p:spPr>
        <p:txBody>
          <a:bodyPr wrap="square" lIns="27432" tIns="0" rIns="27432" bIns="0" anchor="t">
            <a:spAutoFit/>
          </a:bodyPr>
          <a:lstStyle/>
          <a:p>
            <a:pPr algn="l"/>
            <a:r>
              <a:rPr sz="950" b="1" i="0">
                <a:solidFill>
                  <a:srgbClr val="8C1515"/>
                </a:solidFill>
                <a:latin typeface="Calibri"/>
              </a:rPr>
              <a:t>Wall and solver settings</a:t>
            </a:r>
          </a:p>
        </p:txBody>
      </p:sp>
      <p:sp>
        <p:nvSpPr>
          <p:cNvPr id="21" name="Rectangle 20"/>
          <p:cNvSpPr/>
          <p:nvPr/>
        </p:nvSpPr>
        <p:spPr>
          <a:xfrm>
            <a:off x="320040" y="1975104"/>
            <a:ext cx="4160520" cy="24688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393192" y="1975104"/>
            <a:ext cx="1323136" cy="246888"/>
          </a:xfrm>
          <a:prstGeom prst="rect">
            <a:avLst/>
          </a:prstGeom>
          <a:noFill/>
        </p:spPr>
        <p:txBody>
          <a:bodyPr wrap="square" lIns="27432" tIns="0" rIns="27432" bIns="0" anchor="ctr">
            <a:spAutoFit/>
          </a:bodyPr>
          <a:lstStyle/>
          <a:p>
            <a:pPr algn="l"/>
            <a:r>
              <a:rPr sz="950" b="1" i="0">
                <a:solidFill>
                  <a:srgbClr val="2E2D29"/>
                </a:solidFill>
                <a:latin typeface="Calibri"/>
              </a:rPr>
              <a:t>Solver</a:t>
            </a:r>
          </a:p>
        </p:txBody>
      </p:sp>
      <p:sp>
        <p:nvSpPr>
          <p:cNvPr id="23" name="TextBox 22"/>
          <p:cNvSpPr txBox="1"/>
          <p:nvPr/>
        </p:nvSpPr>
        <p:spPr>
          <a:xfrm>
            <a:off x="1734616" y="1975104"/>
            <a:ext cx="2672791" cy="246888"/>
          </a:xfrm>
          <a:prstGeom prst="rect">
            <a:avLst/>
          </a:prstGeom>
          <a:noFill/>
        </p:spPr>
        <p:txBody>
          <a:bodyPr wrap="square" lIns="27432" tIns="0" rIns="27432" bIns="0" anchor="ctr">
            <a:spAutoFit/>
          </a:bodyPr>
          <a:lstStyle/>
          <a:p>
            <a:pPr algn="l"/>
            <a:r>
              <a:rPr sz="950" b="0" i="0">
                <a:solidFill>
                  <a:srgbClr val="6B6965"/>
                </a:solidFill>
                <a:latin typeface="Calibri"/>
              </a:rPr>
              <a:t>svMultiPhysics, CMM</a:t>
            </a:r>
          </a:p>
        </p:txBody>
      </p:sp>
      <p:sp>
        <p:nvSpPr>
          <p:cNvPr id="24" name="TextBox 23"/>
          <p:cNvSpPr txBox="1"/>
          <p:nvPr/>
        </p:nvSpPr>
        <p:spPr>
          <a:xfrm>
            <a:off x="393192" y="2221992"/>
            <a:ext cx="1323136" cy="246888"/>
          </a:xfrm>
          <a:prstGeom prst="rect">
            <a:avLst/>
          </a:prstGeom>
          <a:noFill/>
        </p:spPr>
        <p:txBody>
          <a:bodyPr wrap="square" lIns="27432" tIns="0" rIns="27432" bIns="0" anchor="ctr">
            <a:spAutoFit/>
          </a:bodyPr>
          <a:lstStyle/>
          <a:p>
            <a:pPr algn="l"/>
            <a:r>
              <a:rPr sz="950" b="1" i="0">
                <a:solidFill>
                  <a:srgbClr val="2E2D29"/>
                </a:solidFill>
                <a:latin typeface="Calibri"/>
              </a:rPr>
              <a:t>Wall model</a:t>
            </a:r>
          </a:p>
        </p:txBody>
      </p:sp>
      <p:sp>
        <p:nvSpPr>
          <p:cNvPr id="25" name="TextBox 24"/>
          <p:cNvSpPr txBox="1"/>
          <p:nvPr/>
        </p:nvSpPr>
        <p:spPr>
          <a:xfrm>
            <a:off x="1734616" y="2221992"/>
            <a:ext cx="2672791" cy="246888"/>
          </a:xfrm>
          <a:prstGeom prst="rect">
            <a:avLst/>
          </a:prstGeom>
          <a:noFill/>
        </p:spPr>
        <p:txBody>
          <a:bodyPr wrap="square" lIns="27432" tIns="0" rIns="27432" bIns="0" anchor="ctr">
            <a:spAutoFit/>
          </a:bodyPr>
          <a:lstStyle/>
          <a:p>
            <a:pPr algn="l"/>
            <a:r>
              <a:rPr sz="950" b="0" i="0">
                <a:solidFill>
                  <a:srgbClr val="6B6965"/>
                </a:solidFill>
                <a:latin typeface="Calibri"/>
              </a:rPr>
              <a:t>Coupled momentum, linear elastic</a:t>
            </a:r>
          </a:p>
        </p:txBody>
      </p:sp>
      <p:sp>
        <p:nvSpPr>
          <p:cNvPr id="26" name="Rectangle 25"/>
          <p:cNvSpPr/>
          <p:nvPr/>
        </p:nvSpPr>
        <p:spPr>
          <a:xfrm>
            <a:off x="320040" y="2468880"/>
            <a:ext cx="4160520" cy="24688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393192" y="2468880"/>
            <a:ext cx="1323136" cy="246888"/>
          </a:xfrm>
          <a:prstGeom prst="rect">
            <a:avLst/>
          </a:prstGeom>
          <a:noFill/>
        </p:spPr>
        <p:txBody>
          <a:bodyPr wrap="square" lIns="27432" tIns="0" rIns="27432" bIns="0" anchor="ctr">
            <a:spAutoFit/>
          </a:bodyPr>
          <a:lstStyle/>
          <a:p>
            <a:pPr algn="l"/>
            <a:r>
              <a:rPr sz="950" b="1" i="0">
                <a:solidFill>
                  <a:srgbClr val="2E2D29"/>
                </a:solidFill>
                <a:latin typeface="Calibri"/>
              </a:rPr>
              <a:t>Elastic modulus</a:t>
            </a:r>
          </a:p>
        </p:txBody>
      </p:sp>
      <p:sp>
        <p:nvSpPr>
          <p:cNvPr id="28" name="TextBox 27"/>
          <p:cNvSpPr txBox="1"/>
          <p:nvPr/>
        </p:nvSpPr>
        <p:spPr>
          <a:xfrm>
            <a:off x="1734616" y="2468880"/>
            <a:ext cx="2672791" cy="246888"/>
          </a:xfrm>
          <a:prstGeom prst="rect">
            <a:avLst/>
          </a:prstGeom>
          <a:noFill/>
        </p:spPr>
        <p:txBody>
          <a:bodyPr wrap="square" lIns="27432" tIns="0" rIns="27432" bIns="0" anchor="ctr">
            <a:spAutoFit/>
          </a:bodyPr>
          <a:lstStyle/>
          <a:p>
            <a:pPr algn="l"/>
            <a:r>
              <a:rPr sz="950" b="0" i="0">
                <a:solidFill>
                  <a:srgbClr val="6B6965"/>
                </a:solidFill>
                <a:latin typeface="Calibri"/>
              </a:rPr>
              <a:t>250 kPa, uniform</a:t>
            </a:r>
          </a:p>
        </p:txBody>
      </p:sp>
      <p:sp>
        <p:nvSpPr>
          <p:cNvPr id="29" name="TextBox 28"/>
          <p:cNvSpPr txBox="1"/>
          <p:nvPr/>
        </p:nvSpPr>
        <p:spPr>
          <a:xfrm>
            <a:off x="393192" y="2715768"/>
            <a:ext cx="1323136" cy="246888"/>
          </a:xfrm>
          <a:prstGeom prst="rect">
            <a:avLst/>
          </a:prstGeom>
          <a:noFill/>
        </p:spPr>
        <p:txBody>
          <a:bodyPr wrap="square" lIns="27432" tIns="0" rIns="27432" bIns="0" anchor="ctr">
            <a:spAutoFit/>
          </a:bodyPr>
          <a:lstStyle/>
          <a:p>
            <a:pPr algn="l"/>
            <a:r>
              <a:rPr sz="950" b="1" i="0">
                <a:solidFill>
                  <a:srgbClr val="2E2D29"/>
                </a:solidFill>
                <a:latin typeface="Calibri"/>
              </a:rPr>
              <a:t>External support</a:t>
            </a:r>
          </a:p>
        </p:txBody>
      </p:sp>
      <p:sp>
        <p:nvSpPr>
          <p:cNvPr id="30" name="TextBox 29"/>
          <p:cNvSpPr txBox="1"/>
          <p:nvPr/>
        </p:nvSpPr>
        <p:spPr>
          <a:xfrm>
            <a:off x="1734616" y="2715768"/>
            <a:ext cx="2672791" cy="246888"/>
          </a:xfrm>
          <a:prstGeom prst="rect">
            <a:avLst/>
          </a:prstGeom>
          <a:noFill/>
        </p:spPr>
        <p:txBody>
          <a:bodyPr wrap="square" lIns="27432" tIns="0" rIns="27432" bIns="0" anchor="ctr">
            <a:spAutoFit/>
          </a:bodyPr>
          <a:lstStyle/>
          <a:p>
            <a:pPr algn="l"/>
            <a:r>
              <a:rPr sz="950" b="0" i="0">
                <a:solidFill>
                  <a:srgbClr val="6B6965"/>
                </a:solidFill>
                <a:latin typeface="Calibri"/>
              </a:rPr>
              <a:t>Robin boundary condition</a:t>
            </a:r>
          </a:p>
        </p:txBody>
      </p:sp>
      <p:sp>
        <p:nvSpPr>
          <p:cNvPr id="31" name="Rectangle 30"/>
          <p:cNvSpPr/>
          <p:nvPr/>
        </p:nvSpPr>
        <p:spPr>
          <a:xfrm>
            <a:off x="320040" y="2962656"/>
            <a:ext cx="4160520" cy="24688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393192" y="2962656"/>
            <a:ext cx="1323136" cy="246888"/>
          </a:xfrm>
          <a:prstGeom prst="rect">
            <a:avLst/>
          </a:prstGeom>
          <a:noFill/>
        </p:spPr>
        <p:txBody>
          <a:bodyPr wrap="square" lIns="27432" tIns="0" rIns="27432" bIns="0" anchor="ctr">
            <a:spAutoFit/>
          </a:bodyPr>
          <a:lstStyle/>
          <a:p>
            <a:pPr algn="l"/>
            <a:r>
              <a:rPr sz="950" b="1" i="0">
                <a:solidFill>
                  <a:srgbClr val="2E2D29"/>
                </a:solidFill>
                <a:latin typeface="Calibri"/>
              </a:rPr>
              <a:t>Robin stiffness</a:t>
            </a:r>
          </a:p>
        </p:txBody>
      </p:sp>
      <p:sp>
        <p:nvSpPr>
          <p:cNvPr id="33" name="TextBox 32"/>
          <p:cNvSpPr txBox="1"/>
          <p:nvPr/>
        </p:nvSpPr>
        <p:spPr>
          <a:xfrm>
            <a:off x="1734616" y="2962656"/>
            <a:ext cx="2672791" cy="246888"/>
          </a:xfrm>
          <a:prstGeom prst="rect">
            <a:avLst/>
          </a:prstGeom>
          <a:noFill/>
        </p:spPr>
        <p:txBody>
          <a:bodyPr wrap="square" lIns="27432" tIns="0" rIns="27432" bIns="0" anchor="ctr">
            <a:spAutoFit/>
          </a:bodyPr>
          <a:lstStyle/>
          <a:p>
            <a:pPr algn="l"/>
            <a:r>
              <a:rPr sz="950" b="0" i="0">
                <a:solidFill>
                  <a:srgbClr val="6B6965"/>
                </a:solidFill>
                <a:latin typeface="Calibri"/>
              </a:rPr>
              <a:t>1000.0</a:t>
            </a:r>
          </a:p>
        </p:txBody>
      </p:sp>
      <p:sp>
        <p:nvSpPr>
          <p:cNvPr id="34" name="TextBox 33"/>
          <p:cNvSpPr txBox="1"/>
          <p:nvPr/>
        </p:nvSpPr>
        <p:spPr>
          <a:xfrm>
            <a:off x="393192" y="3209544"/>
            <a:ext cx="1323136" cy="246888"/>
          </a:xfrm>
          <a:prstGeom prst="rect">
            <a:avLst/>
          </a:prstGeom>
          <a:noFill/>
        </p:spPr>
        <p:txBody>
          <a:bodyPr wrap="square" lIns="27432" tIns="0" rIns="27432" bIns="0" anchor="ctr">
            <a:spAutoFit/>
          </a:bodyPr>
          <a:lstStyle/>
          <a:p>
            <a:pPr algn="l"/>
            <a:r>
              <a:rPr sz="950" b="1" i="0">
                <a:solidFill>
                  <a:srgbClr val="2E2D29"/>
                </a:solidFill>
                <a:latin typeface="Calibri"/>
              </a:rPr>
              <a:t>Robin damping</a:t>
            </a:r>
          </a:p>
        </p:txBody>
      </p:sp>
      <p:sp>
        <p:nvSpPr>
          <p:cNvPr id="35" name="TextBox 34"/>
          <p:cNvSpPr txBox="1"/>
          <p:nvPr/>
        </p:nvSpPr>
        <p:spPr>
          <a:xfrm>
            <a:off x="1734616" y="3209544"/>
            <a:ext cx="2672791" cy="246888"/>
          </a:xfrm>
          <a:prstGeom prst="rect">
            <a:avLst/>
          </a:prstGeom>
          <a:noFill/>
        </p:spPr>
        <p:txBody>
          <a:bodyPr wrap="square" lIns="27432" tIns="0" rIns="27432" bIns="0" anchor="ctr">
            <a:spAutoFit/>
          </a:bodyPr>
          <a:lstStyle/>
          <a:p>
            <a:pPr algn="l"/>
            <a:r>
              <a:rPr sz="950" b="0" i="0">
                <a:solidFill>
                  <a:srgbClr val="6B6965"/>
                </a:solidFill>
                <a:latin typeface="Calibri"/>
              </a:rPr>
              <a:t>10000.0</a:t>
            </a:r>
          </a:p>
        </p:txBody>
      </p:sp>
      <p:sp>
        <p:nvSpPr>
          <p:cNvPr id="36" name="Rectangle 35"/>
          <p:cNvSpPr/>
          <p:nvPr/>
        </p:nvSpPr>
        <p:spPr>
          <a:xfrm>
            <a:off x="320040" y="3456432"/>
            <a:ext cx="4160520" cy="24688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Box 36"/>
          <p:cNvSpPr txBox="1"/>
          <p:nvPr/>
        </p:nvSpPr>
        <p:spPr>
          <a:xfrm>
            <a:off x="393192" y="3456432"/>
            <a:ext cx="1323136" cy="246888"/>
          </a:xfrm>
          <a:prstGeom prst="rect">
            <a:avLst/>
          </a:prstGeom>
          <a:noFill/>
        </p:spPr>
        <p:txBody>
          <a:bodyPr wrap="square" lIns="27432" tIns="0" rIns="27432" bIns="0" anchor="ctr">
            <a:spAutoFit/>
          </a:bodyPr>
          <a:lstStyle/>
          <a:p>
            <a:pPr algn="l"/>
            <a:r>
              <a:rPr sz="950" b="1" i="0">
                <a:solidFill>
                  <a:srgbClr val="2E2D29"/>
                </a:solidFill>
                <a:latin typeface="Calibri"/>
              </a:rPr>
              <a:t>Fluid</a:t>
            </a:r>
          </a:p>
        </p:txBody>
      </p:sp>
      <p:sp>
        <p:nvSpPr>
          <p:cNvPr id="38" name="TextBox 37"/>
          <p:cNvSpPr txBox="1"/>
          <p:nvPr/>
        </p:nvSpPr>
        <p:spPr>
          <a:xfrm>
            <a:off x="1734616" y="3456432"/>
            <a:ext cx="2672791" cy="246888"/>
          </a:xfrm>
          <a:prstGeom prst="rect">
            <a:avLst/>
          </a:prstGeom>
          <a:noFill/>
        </p:spPr>
        <p:txBody>
          <a:bodyPr wrap="square" lIns="27432" tIns="0" rIns="27432" bIns="0" anchor="ctr">
            <a:spAutoFit/>
          </a:bodyPr>
          <a:lstStyle/>
          <a:p>
            <a:pPr algn="l"/>
            <a:r>
              <a:rPr sz="950" b="0" i="0">
                <a:solidFill>
                  <a:srgbClr val="6B6965"/>
                </a:solidFill>
                <a:latin typeface="Calibri"/>
              </a:rPr>
              <a:t>Incompressible Newtonian blood</a:t>
            </a:r>
          </a:p>
        </p:txBody>
      </p:sp>
      <p:sp>
        <p:nvSpPr>
          <p:cNvPr id="39" name="Rectangle 38"/>
          <p:cNvSpPr/>
          <p:nvPr/>
        </p:nvSpPr>
        <p:spPr>
          <a:xfrm>
            <a:off x="4663440" y="1700784"/>
            <a:ext cx="4160520" cy="157276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4791455" y="1801368"/>
            <a:ext cx="3904487" cy="219456"/>
          </a:xfrm>
          <a:prstGeom prst="rect">
            <a:avLst/>
          </a:prstGeom>
          <a:noFill/>
        </p:spPr>
        <p:txBody>
          <a:bodyPr wrap="square" lIns="27432" tIns="0" rIns="27432" bIns="0" anchor="t">
            <a:spAutoFit/>
          </a:bodyPr>
          <a:lstStyle/>
          <a:p>
            <a:pPr algn="l"/>
            <a:r>
              <a:rPr sz="1100" b="1" i="0">
                <a:solidFill>
                  <a:srgbClr val="8C1515"/>
                </a:solidFill>
                <a:latin typeface="Calibri"/>
              </a:rPr>
              <a:t>Why a uniform modulus</a:t>
            </a:r>
          </a:p>
        </p:txBody>
      </p:sp>
      <p:sp>
        <p:nvSpPr>
          <p:cNvPr id="41" name="TextBox 40"/>
          <p:cNvSpPr txBox="1"/>
          <p:nvPr/>
        </p:nvSpPr>
        <p:spPr>
          <a:xfrm>
            <a:off x="4791455" y="2075688"/>
            <a:ext cx="3904487" cy="1161288"/>
          </a:xfrm>
          <a:prstGeom prst="rect">
            <a:avLst/>
          </a:prstGeom>
          <a:noFill/>
        </p:spPr>
        <p:txBody>
          <a:bodyPr wrap="square" lIns="27432" tIns="0" rIns="27432" bIns="0">
            <a:spAutoFit/>
          </a:bodyPr>
          <a:lstStyle/>
          <a:p>
            <a:pPr>
              <a:spcAft>
                <a:spcPts val="350"/>
              </a:spcAft>
            </a:pPr>
            <a:r>
              <a:rPr sz="950">
                <a:solidFill>
                  <a:srgbClr val="8C1515"/>
                </a:solidFill>
                <a:latin typeface="Calibri"/>
              </a:rPr>
              <a:t>• </a:t>
            </a:r>
            <a:r>
              <a:rPr sz="950">
                <a:solidFill>
                  <a:srgbClr val="2E2D29"/>
                </a:solidFill>
                <a:latin typeface="Calibri"/>
              </a:rPr>
              <a:t>Patient-specific wall stiffness is not measurable from the available imaging</a:t>
            </a:r>
          </a:p>
          <a:p>
            <a:pPr>
              <a:spcAft>
                <a:spcPts val="350"/>
              </a:spcAft>
            </a:pPr>
            <a:r>
              <a:rPr sz="950">
                <a:solidFill>
                  <a:srgbClr val="8C1515"/>
                </a:solidFill>
                <a:latin typeface="Calibri"/>
              </a:rPr>
              <a:t>• </a:t>
            </a:r>
            <a:r>
              <a:rPr sz="950">
                <a:solidFill>
                  <a:srgbClr val="2E2D29"/>
                </a:solidFill>
                <a:latin typeface="Calibri"/>
              </a:rPr>
              <a:t>A single value keeps the wall model from absorbing errors that belong to the boundary conditions</a:t>
            </a:r>
          </a:p>
          <a:p>
            <a:pPr>
              <a:spcAft>
                <a:spcPts val="350"/>
              </a:spcAft>
            </a:pPr>
            <a:r>
              <a:rPr sz="950">
                <a:solidFill>
                  <a:srgbClr val="8C1515"/>
                </a:solidFill>
                <a:latin typeface="Calibri"/>
              </a:rPr>
              <a:t>• </a:t>
            </a:r>
            <a:r>
              <a:rPr sz="950">
                <a:solidFill>
                  <a:srgbClr val="2E2D29"/>
                </a:solidFill>
                <a:latin typeface="Calibri"/>
              </a:rPr>
              <a:t>Robin support supplies tethering without requiring a surrounding tissue mesh</a:t>
            </a:r>
          </a:p>
        </p:txBody>
      </p:sp>
      <p:sp>
        <p:nvSpPr>
          <p:cNvPr id="42" name="Rectangle 41"/>
          <p:cNvSpPr/>
          <p:nvPr/>
        </p:nvSpPr>
        <p:spPr>
          <a:xfrm>
            <a:off x="4663440" y="3401568"/>
            <a:ext cx="4160520" cy="129844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4791455" y="3502152"/>
            <a:ext cx="2761487" cy="219456"/>
          </a:xfrm>
          <a:prstGeom prst="rect">
            <a:avLst/>
          </a:prstGeom>
          <a:noFill/>
        </p:spPr>
        <p:txBody>
          <a:bodyPr wrap="square" lIns="27432" tIns="0" rIns="27432" bIns="0" anchor="t">
            <a:spAutoFit/>
          </a:bodyPr>
          <a:lstStyle/>
          <a:p>
            <a:pPr algn="l"/>
            <a:r>
              <a:rPr sz="1100" b="1" i="0">
                <a:solidFill>
                  <a:srgbClr val="E98300"/>
                </a:solidFill>
                <a:latin typeface="Calibri"/>
              </a:rPr>
              <a:t>Candidate refinement</a:t>
            </a:r>
          </a:p>
        </p:txBody>
      </p:sp>
      <p:sp>
        <p:nvSpPr>
          <p:cNvPr id="44" name="Rectangle 43"/>
          <p:cNvSpPr/>
          <p:nvPr/>
        </p:nvSpPr>
        <p:spPr>
          <a:xfrm>
            <a:off x="7580375" y="3511296"/>
            <a:ext cx="1097280" cy="173736"/>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Box 44"/>
          <p:cNvSpPr txBox="1"/>
          <p:nvPr/>
        </p:nvSpPr>
        <p:spPr>
          <a:xfrm>
            <a:off x="7580375" y="3511296"/>
            <a:ext cx="1097280" cy="173736"/>
          </a:xfrm>
          <a:prstGeom prst="rect">
            <a:avLst/>
          </a:prstGeom>
          <a:noFill/>
        </p:spPr>
        <p:txBody>
          <a:bodyPr wrap="square" lIns="18288" tIns="0" rIns="18288" bIns="0" anchor="ctr">
            <a:spAutoFit/>
          </a:bodyPr>
          <a:lstStyle/>
          <a:p>
            <a:pPr algn="ctr"/>
            <a:r>
              <a:rPr sz="600" b="1">
                <a:solidFill>
                  <a:srgbClr val="6B6965"/>
                </a:solidFill>
                <a:latin typeface="Calibri"/>
              </a:rPr>
              <a:t>PLANNED</a:t>
            </a:r>
          </a:p>
        </p:txBody>
      </p:sp>
      <p:sp>
        <p:nvSpPr>
          <p:cNvPr id="46" name="TextBox 45"/>
          <p:cNvSpPr txBox="1"/>
          <p:nvPr/>
        </p:nvSpPr>
        <p:spPr>
          <a:xfrm>
            <a:off x="4791455" y="3776472"/>
            <a:ext cx="3904487" cy="886968"/>
          </a:xfrm>
          <a:prstGeom prst="rect">
            <a:avLst/>
          </a:prstGeom>
          <a:noFill/>
        </p:spPr>
        <p:txBody>
          <a:bodyPr wrap="square" lIns="27432" tIns="0" rIns="27432" bIns="0">
            <a:spAutoFit/>
          </a:bodyPr>
          <a:lstStyle/>
          <a:p>
            <a:pPr>
              <a:spcAft>
                <a:spcPts val="350"/>
              </a:spcAft>
            </a:pPr>
            <a:r>
              <a:rPr sz="950">
                <a:solidFill>
                  <a:srgbClr val="E98300"/>
                </a:solidFill>
                <a:latin typeface="Calibri"/>
              </a:rPr>
              <a:t>• </a:t>
            </a:r>
            <a:r>
              <a:rPr sz="950">
                <a:solidFill>
                  <a:srgbClr val="2E2D29"/>
                </a:solidFill>
                <a:latin typeface="Calibri"/>
              </a:rPr>
              <a:t>Regionally varying modulus, or stiffer wall in the stented segment</a:t>
            </a:r>
          </a:p>
          <a:p>
            <a:pPr>
              <a:spcAft>
                <a:spcPts val="350"/>
              </a:spcAft>
            </a:pPr>
            <a:r>
              <a:rPr sz="950">
                <a:solidFill>
                  <a:srgbClr val="E98300"/>
                </a:solidFill>
                <a:latin typeface="Calibri"/>
              </a:rPr>
              <a:t>• </a:t>
            </a:r>
            <a:r>
              <a:rPr sz="950">
                <a:solidFill>
                  <a:srgbClr val="2E2D29"/>
                </a:solidFill>
                <a:latin typeface="Calibri"/>
              </a:rPr>
              <a:t>Would need a defensible source for the values</a:t>
            </a:r>
          </a:p>
        </p:txBody>
      </p:sp>
      <p:sp>
        <p:nvSpPr>
          <p:cNvPr id="47" name="Rectangle 46"/>
          <p:cNvSpPr/>
          <p:nvPr/>
        </p:nvSpPr>
        <p:spPr>
          <a:xfrm>
            <a:off x="320040" y="4828032"/>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Box 47"/>
          <p:cNvSpPr txBox="1"/>
          <p:nvPr/>
        </p:nvSpPr>
        <p:spPr>
          <a:xfrm>
            <a:off x="429768" y="4828032"/>
            <a:ext cx="8284464" cy="310896"/>
          </a:xfrm>
          <a:prstGeom prst="rect">
            <a:avLst/>
          </a:prstGeom>
          <a:noFill/>
        </p:spPr>
        <p:txBody>
          <a:bodyPr wrap="square" lIns="27432" tIns="0" rIns="27432" bIns="0" anchor="ctr">
            <a:spAutoFit/>
          </a:bodyPr>
          <a:lstStyle/>
          <a:p>
            <a:pPr algn="l"/>
            <a:r>
              <a:rPr sz="1000" b="1" i="0">
                <a:solidFill>
                  <a:srgbClr val="8C1515"/>
                </a:solidFill>
                <a:latin typeface="Calibri"/>
              </a:rPr>
              <a:t>The wall model is fixed and identical across all stages, so pre/post/adapted differences are not wall artefacts.</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sz="2200">
                <a:solidFill>
                  <a:srgbClr val="8C1515"/>
                </a:solidFill>
                <a:latin typeface="Georgia"/>
              </a:rPr>
              <a:t>Why the pipeline moved to deformable walls</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2  BC Tuning</a:t>
            </a:r>
          </a:p>
        </p:txBody>
      </p:sp>
      <p:sp>
        <p:nvSpPr>
          <p:cNvPr id="7" name="Rectangle 6"/>
          <p:cNvSpPr/>
          <p:nvPr/>
        </p:nvSpPr>
        <p:spPr>
          <a:xfrm>
            <a:off x="2189334"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VALIDATED</a:t>
            </a:r>
          </a:p>
        </p:txBody>
      </p:sp>
      <p:sp>
        <p:nvSpPr>
          <p:cNvPr id="19" name="TextBox 18"/>
          <p:cNvSpPr txBox="1"/>
          <p:nvPr/>
        </p:nvSpPr>
        <p:spPr>
          <a:xfrm>
            <a:off x="320040" y="1389888"/>
            <a:ext cx="8503920" cy="658368"/>
          </a:xfrm>
          <a:prstGeom prst="rect">
            <a:avLst/>
          </a:prstGeom>
          <a:noFill/>
        </p:spPr>
        <p:txBody>
          <a:bodyPr wrap="square" lIns="27432" tIns="0" rIns="27432" bIns="0">
            <a:spAutoFit/>
          </a:bodyPr>
          <a:lstStyle/>
          <a:p>
            <a:pPr>
              <a:spcAft>
                <a:spcPts val="600"/>
              </a:spcAft>
            </a:pPr>
            <a:r>
              <a:rPr sz="1000">
                <a:solidFill>
                  <a:srgbClr val="8C1515"/>
                </a:solidFill>
                <a:latin typeface="Calibri"/>
              </a:rPr>
              <a:t>• </a:t>
            </a:r>
            <a:r>
              <a:rPr sz="1000">
                <a:solidFill>
                  <a:srgbClr val="2E2D29"/>
                </a:solidFill>
                <a:latin typeface="Calibri"/>
              </a:rPr>
              <a:t>Rigid-wall simulations produced a systolic pressure drop across the model large enough that no boundary condition could satisfy both systolic and diastolic targets</a:t>
            </a:r>
          </a:p>
          <a:p>
            <a:pPr>
              <a:spcAft>
                <a:spcPts val="600"/>
              </a:spcAft>
            </a:pPr>
            <a:r>
              <a:rPr sz="1000">
                <a:solidFill>
                  <a:srgbClr val="8C1515"/>
                </a:solidFill>
                <a:latin typeface="Calibri"/>
              </a:rPr>
              <a:t>• </a:t>
            </a:r>
            <a:r>
              <a:rPr sz="1000">
                <a:solidFill>
                  <a:srgbClr val="2E2D29"/>
                </a:solidFill>
                <a:latin typeface="Calibri"/>
              </a:rPr>
              <a:t>Poiseuille scaling gives an inverse fourth-power dependence on radius, so even modest systolic distension should reduce viscous dissipation substantially</a:t>
            </a:r>
          </a:p>
        </p:txBody>
      </p:sp>
      <p:pic>
        <p:nvPicPr>
          <p:cNvPr id="20" name="Picture 19" descr="rigid_mpa_pressure.png"/>
          <p:cNvPicPr>
            <a:picLocks noChangeAspect="1"/>
          </p:cNvPicPr>
          <p:nvPr/>
        </p:nvPicPr>
        <p:blipFill>
          <a:blip r:embed="rId2"/>
          <a:stretch>
            <a:fillRect/>
          </a:stretch>
        </p:blipFill>
        <p:spPr>
          <a:xfrm>
            <a:off x="444499" y="2139696"/>
            <a:ext cx="3820160" cy="2148840"/>
          </a:xfrm>
          <a:prstGeom prst="rect">
            <a:avLst/>
          </a:prstGeom>
        </p:spPr>
      </p:pic>
      <p:sp>
        <p:nvSpPr>
          <p:cNvPr id="21" name="TextBox 20"/>
          <p:cNvSpPr txBox="1"/>
          <p:nvPr/>
        </p:nvSpPr>
        <p:spPr>
          <a:xfrm>
            <a:off x="320040" y="4325112"/>
            <a:ext cx="4069080" cy="201168"/>
          </a:xfrm>
          <a:prstGeom prst="rect">
            <a:avLst/>
          </a:prstGeom>
          <a:noFill/>
        </p:spPr>
        <p:txBody>
          <a:bodyPr wrap="square" lIns="27432" tIns="0" rIns="27432" bIns="0" anchor="t">
            <a:spAutoFit/>
          </a:bodyPr>
          <a:lstStyle/>
          <a:p>
            <a:pPr algn="ctr"/>
            <a:r>
              <a:rPr sz="850" b="0" i="1">
                <a:solidFill>
                  <a:srgbClr val="6B6965"/>
                </a:solidFill>
                <a:latin typeface="Calibri"/>
              </a:rPr>
              <a:t>Rigid wall — MPA pressure</a:t>
            </a:r>
          </a:p>
        </p:txBody>
      </p:sp>
      <p:pic>
        <p:nvPicPr>
          <p:cNvPr id="22" name="Picture 21" descr="cmm_mpa_pressure.png"/>
          <p:cNvPicPr>
            <a:picLocks noChangeAspect="1"/>
          </p:cNvPicPr>
          <p:nvPr/>
        </p:nvPicPr>
        <p:blipFill>
          <a:blip r:embed="rId3"/>
          <a:stretch>
            <a:fillRect/>
          </a:stretch>
        </p:blipFill>
        <p:spPr>
          <a:xfrm>
            <a:off x="4879340" y="2139696"/>
            <a:ext cx="3820160" cy="2148840"/>
          </a:xfrm>
          <a:prstGeom prst="rect">
            <a:avLst/>
          </a:prstGeom>
        </p:spPr>
      </p:pic>
      <p:sp>
        <p:nvSpPr>
          <p:cNvPr id="23" name="TextBox 22"/>
          <p:cNvSpPr txBox="1"/>
          <p:nvPr/>
        </p:nvSpPr>
        <p:spPr>
          <a:xfrm>
            <a:off x="4754880" y="4325112"/>
            <a:ext cx="4069080" cy="201168"/>
          </a:xfrm>
          <a:prstGeom prst="rect">
            <a:avLst/>
          </a:prstGeom>
          <a:noFill/>
        </p:spPr>
        <p:txBody>
          <a:bodyPr wrap="square" lIns="27432" tIns="0" rIns="27432" bIns="0" anchor="t">
            <a:spAutoFit/>
          </a:bodyPr>
          <a:lstStyle/>
          <a:p>
            <a:pPr algn="ctr"/>
            <a:r>
              <a:rPr sz="850" b="0" i="1">
                <a:solidFill>
                  <a:srgbClr val="6B6965"/>
                </a:solidFill>
                <a:latin typeface="Calibri"/>
              </a:rPr>
              <a:t>CMM deformable wall — MPA pressure</a:t>
            </a:r>
          </a:p>
        </p:txBody>
      </p:sp>
      <p:sp>
        <p:nvSpPr>
          <p:cNvPr id="24" name="Rectangle 23"/>
          <p:cNvSpPr/>
          <p:nvPr/>
        </p:nvSpPr>
        <p:spPr>
          <a:xfrm>
            <a:off x="320040" y="4754880"/>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429768" y="4754880"/>
            <a:ext cx="8284464" cy="310896"/>
          </a:xfrm>
          <a:prstGeom prst="rect">
            <a:avLst/>
          </a:prstGeom>
          <a:noFill/>
        </p:spPr>
        <p:txBody>
          <a:bodyPr wrap="square" lIns="27432" tIns="0" rIns="27432" bIns="0" anchor="ctr">
            <a:spAutoFit/>
          </a:bodyPr>
          <a:lstStyle/>
          <a:p>
            <a:pPr algn="l"/>
            <a:r>
              <a:rPr sz="1000" b="1" i="0">
                <a:solidFill>
                  <a:srgbClr val="8C1515"/>
                </a:solidFill>
                <a:latin typeface="Calibri"/>
              </a:rPr>
              <a:t>Deformable wall lowered the modelled systolic pressure drop and is now the pipeline default, not a side study.</a:t>
            </a:r>
          </a:p>
        </p:txBody>
      </p:sp>
      <p:sp>
        <p:nvSpPr>
          <p:cNvPr id="26" name="TextBox 25"/>
          <p:cNvSpPr txBox="1"/>
          <p:nvPr/>
        </p:nvSpPr>
        <p:spPr>
          <a:xfrm>
            <a:off x="2011680" y="5376672"/>
            <a:ext cx="6812280" cy="201168"/>
          </a:xfrm>
          <a:prstGeom prst="rect">
            <a:avLst/>
          </a:prstGeom>
          <a:noFill/>
        </p:spPr>
        <p:txBody>
          <a:bodyPr wrap="square" lIns="27432" tIns="0" rIns="27432" bIns="0" anchor="t">
            <a:spAutoFit/>
          </a:bodyPr>
          <a:lstStyle/>
          <a:p>
            <a:pPr algn="l"/>
            <a:r>
              <a:rPr sz="700" b="0" i="1">
                <a:solidFill>
                  <a:srgbClr val="6B6965"/>
                </a:solidFill>
                <a:latin typeface="Calibri"/>
              </a:rPr>
              <a:t>Comparison performed on TST-STAN-5; rigid case 19.4 mmHg vs. CMM 16 mmHg at matched inflow.</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sz="2200">
                <a:solidFill>
                  <a:srgbClr val="8C1515"/>
                </a:solidFill>
                <a:latin typeface="Georgia"/>
              </a:rPr>
              <a:t>Pre-operative 3D results</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2  BC Tuning</a:t>
            </a:r>
          </a:p>
        </p:txBody>
      </p:sp>
      <p:sp>
        <p:nvSpPr>
          <p:cNvPr id="7" name="Rectangle 6"/>
          <p:cNvSpPr/>
          <p:nvPr/>
        </p:nvSpPr>
        <p:spPr>
          <a:xfrm>
            <a:off x="2189334"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VALIDATED</a:t>
            </a:r>
          </a:p>
        </p:txBody>
      </p:sp>
      <p:pic>
        <p:nvPicPr>
          <p:cNvPr id="19" name="Picture 18" descr="preop3d_T1.png"/>
          <p:cNvPicPr>
            <a:picLocks noChangeAspect="1"/>
          </p:cNvPicPr>
          <p:nvPr/>
        </p:nvPicPr>
        <p:blipFill>
          <a:blip r:embed="rId2"/>
          <a:stretch>
            <a:fillRect/>
          </a:stretch>
        </p:blipFill>
        <p:spPr>
          <a:xfrm>
            <a:off x="320040" y="2091686"/>
            <a:ext cx="2016252" cy="736099"/>
          </a:xfrm>
          <a:prstGeom prst="rect">
            <a:avLst/>
          </a:prstGeom>
        </p:spPr>
      </p:pic>
      <p:sp>
        <p:nvSpPr>
          <p:cNvPr id="20" name="TextBox 19"/>
          <p:cNvSpPr txBox="1"/>
          <p:nvPr/>
        </p:nvSpPr>
        <p:spPr>
          <a:xfrm>
            <a:off x="320040" y="3547872"/>
            <a:ext cx="2016252" cy="201168"/>
          </a:xfrm>
          <a:prstGeom prst="rect">
            <a:avLst/>
          </a:prstGeom>
          <a:noFill/>
        </p:spPr>
        <p:txBody>
          <a:bodyPr wrap="square" lIns="27432" tIns="0" rIns="27432" bIns="0" anchor="t">
            <a:spAutoFit/>
          </a:bodyPr>
          <a:lstStyle/>
          <a:p>
            <a:pPr algn="ctr"/>
            <a:r>
              <a:rPr sz="800" b="0" i="1">
                <a:solidFill>
                  <a:srgbClr val="6B6965"/>
                </a:solidFill>
                <a:latin typeface="Calibri"/>
              </a:rPr>
              <a:t>TST-STAN-1</a:t>
            </a:r>
          </a:p>
        </p:txBody>
      </p:sp>
      <p:pic>
        <p:nvPicPr>
          <p:cNvPr id="21" name="Picture 20" descr="preop3d_T2.png"/>
          <p:cNvPicPr>
            <a:picLocks noChangeAspect="1"/>
          </p:cNvPicPr>
          <p:nvPr/>
        </p:nvPicPr>
        <p:blipFill>
          <a:blip r:embed="rId3"/>
          <a:stretch>
            <a:fillRect/>
          </a:stretch>
        </p:blipFill>
        <p:spPr>
          <a:xfrm>
            <a:off x="2482596" y="2091686"/>
            <a:ext cx="2016252" cy="736099"/>
          </a:xfrm>
          <a:prstGeom prst="rect">
            <a:avLst/>
          </a:prstGeom>
        </p:spPr>
      </p:pic>
      <p:sp>
        <p:nvSpPr>
          <p:cNvPr id="22" name="TextBox 21"/>
          <p:cNvSpPr txBox="1"/>
          <p:nvPr/>
        </p:nvSpPr>
        <p:spPr>
          <a:xfrm>
            <a:off x="2482596" y="3547872"/>
            <a:ext cx="2016252" cy="201168"/>
          </a:xfrm>
          <a:prstGeom prst="rect">
            <a:avLst/>
          </a:prstGeom>
          <a:noFill/>
        </p:spPr>
        <p:txBody>
          <a:bodyPr wrap="square" lIns="27432" tIns="0" rIns="27432" bIns="0" anchor="t">
            <a:spAutoFit/>
          </a:bodyPr>
          <a:lstStyle/>
          <a:p>
            <a:pPr algn="ctr"/>
            <a:r>
              <a:rPr sz="800" b="0" i="1">
                <a:solidFill>
                  <a:srgbClr val="6B6965"/>
                </a:solidFill>
                <a:latin typeface="Calibri"/>
              </a:rPr>
              <a:t>TST-STAN-2</a:t>
            </a:r>
          </a:p>
        </p:txBody>
      </p:sp>
      <p:pic>
        <p:nvPicPr>
          <p:cNvPr id="23" name="Picture 22" descr="preop3d_T3.png"/>
          <p:cNvPicPr>
            <a:picLocks noChangeAspect="1"/>
          </p:cNvPicPr>
          <p:nvPr/>
        </p:nvPicPr>
        <p:blipFill>
          <a:blip r:embed="rId4"/>
          <a:stretch>
            <a:fillRect/>
          </a:stretch>
        </p:blipFill>
        <p:spPr>
          <a:xfrm>
            <a:off x="4645152" y="2091686"/>
            <a:ext cx="2016252" cy="736099"/>
          </a:xfrm>
          <a:prstGeom prst="rect">
            <a:avLst/>
          </a:prstGeom>
        </p:spPr>
      </p:pic>
      <p:sp>
        <p:nvSpPr>
          <p:cNvPr id="24" name="TextBox 23"/>
          <p:cNvSpPr txBox="1"/>
          <p:nvPr/>
        </p:nvSpPr>
        <p:spPr>
          <a:xfrm>
            <a:off x="4645152" y="3547872"/>
            <a:ext cx="2016252" cy="201168"/>
          </a:xfrm>
          <a:prstGeom prst="rect">
            <a:avLst/>
          </a:prstGeom>
          <a:noFill/>
        </p:spPr>
        <p:txBody>
          <a:bodyPr wrap="square" lIns="27432" tIns="0" rIns="27432" bIns="0" anchor="t">
            <a:spAutoFit/>
          </a:bodyPr>
          <a:lstStyle/>
          <a:p>
            <a:pPr algn="ctr"/>
            <a:r>
              <a:rPr sz="800" b="0" i="1">
                <a:solidFill>
                  <a:srgbClr val="6B6965"/>
                </a:solidFill>
                <a:latin typeface="Calibri"/>
              </a:rPr>
              <a:t>TST-STAN-3</a:t>
            </a:r>
          </a:p>
        </p:txBody>
      </p:sp>
      <p:pic>
        <p:nvPicPr>
          <p:cNvPr id="25" name="Picture 24" descr="preop3d_T9.png"/>
          <p:cNvPicPr>
            <a:picLocks noChangeAspect="1"/>
          </p:cNvPicPr>
          <p:nvPr/>
        </p:nvPicPr>
        <p:blipFill>
          <a:blip r:embed="rId5"/>
          <a:stretch>
            <a:fillRect/>
          </a:stretch>
        </p:blipFill>
        <p:spPr>
          <a:xfrm>
            <a:off x="6807708" y="2091686"/>
            <a:ext cx="2016252" cy="736099"/>
          </a:xfrm>
          <a:prstGeom prst="rect">
            <a:avLst/>
          </a:prstGeom>
        </p:spPr>
      </p:pic>
      <p:sp>
        <p:nvSpPr>
          <p:cNvPr id="26" name="TextBox 25"/>
          <p:cNvSpPr txBox="1"/>
          <p:nvPr/>
        </p:nvSpPr>
        <p:spPr>
          <a:xfrm>
            <a:off x="6807708" y="3547872"/>
            <a:ext cx="2016252" cy="201168"/>
          </a:xfrm>
          <a:prstGeom prst="rect">
            <a:avLst/>
          </a:prstGeom>
          <a:noFill/>
        </p:spPr>
        <p:txBody>
          <a:bodyPr wrap="square" lIns="27432" tIns="0" rIns="27432" bIns="0" anchor="t">
            <a:spAutoFit/>
          </a:bodyPr>
          <a:lstStyle/>
          <a:p>
            <a:pPr algn="ctr"/>
            <a:r>
              <a:rPr sz="800" b="0" i="1">
                <a:solidFill>
                  <a:srgbClr val="6B6965"/>
                </a:solidFill>
                <a:latin typeface="Calibri"/>
              </a:rPr>
              <a:t>TST-STAN-9</a:t>
            </a:r>
          </a:p>
        </p:txBody>
      </p:sp>
      <p:sp>
        <p:nvSpPr>
          <p:cNvPr id="27" name="Rectangle 26"/>
          <p:cNvSpPr/>
          <p:nvPr/>
        </p:nvSpPr>
        <p:spPr>
          <a:xfrm>
            <a:off x="320040" y="3785615"/>
            <a:ext cx="4160520" cy="93268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448056" y="3886200"/>
            <a:ext cx="3904487" cy="219456"/>
          </a:xfrm>
          <a:prstGeom prst="rect">
            <a:avLst/>
          </a:prstGeom>
          <a:noFill/>
        </p:spPr>
        <p:txBody>
          <a:bodyPr wrap="square" lIns="27432" tIns="0" rIns="27432" bIns="0" anchor="t">
            <a:spAutoFit/>
          </a:bodyPr>
          <a:lstStyle/>
          <a:p>
            <a:pPr algn="l"/>
            <a:r>
              <a:rPr sz="1100" b="1" i="0">
                <a:solidFill>
                  <a:srgbClr val="8C1515"/>
                </a:solidFill>
                <a:latin typeface="Calibri"/>
              </a:rPr>
              <a:t>Fields extracted</a:t>
            </a:r>
          </a:p>
        </p:txBody>
      </p:sp>
      <p:sp>
        <p:nvSpPr>
          <p:cNvPr id="29" name="TextBox 28"/>
          <p:cNvSpPr txBox="1"/>
          <p:nvPr/>
        </p:nvSpPr>
        <p:spPr>
          <a:xfrm>
            <a:off x="448056" y="4160520"/>
            <a:ext cx="3904487" cy="521208"/>
          </a:xfrm>
          <a:prstGeom prst="rect">
            <a:avLst/>
          </a:prstGeom>
          <a:noFill/>
        </p:spPr>
        <p:txBody>
          <a:bodyPr wrap="square" lIns="27432" tIns="0" rIns="27432" bIns="0">
            <a:spAutoFit/>
          </a:bodyPr>
          <a:lstStyle/>
          <a:p>
            <a:pPr>
              <a:spcAft>
                <a:spcPts val="350"/>
              </a:spcAft>
            </a:pPr>
            <a:r>
              <a:rPr sz="900">
                <a:solidFill>
                  <a:srgbClr val="8C1515"/>
                </a:solidFill>
                <a:latin typeface="Calibri"/>
              </a:rPr>
              <a:t>• </a:t>
            </a:r>
            <a:r>
              <a:rPr sz="900">
                <a:solidFill>
                  <a:srgbClr val="2E2D29"/>
                </a:solidFill>
                <a:latin typeface="Calibri"/>
              </a:rPr>
              <a:t>Systolic pressure field and velocity magnitude on the deformed configuration</a:t>
            </a:r>
          </a:p>
        </p:txBody>
      </p:sp>
      <p:sp>
        <p:nvSpPr>
          <p:cNvPr id="30" name="Rectangle 29"/>
          <p:cNvSpPr/>
          <p:nvPr/>
        </p:nvSpPr>
        <p:spPr>
          <a:xfrm>
            <a:off x="4663440" y="3785615"/>
            <a:ext cx="4160520" cy="93268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4791455" y="3886200"/>
            <a:ext cx="2761487" cy="219456"/>
          </a:xfrm>
          <a:prstGeom prst="rect">
            <a:avLst/>
          </a:prstGeom>
          <a:noFill/>
        </p:spPr>
        <p:txBody>
          <a:bodyPr wrap="square" lIns="27432" tIns="0" rIns="27432" bIns="0" anchor="t">
            <a:spAutoFit/>
          </a:bodyPr>
          <a:lstStyle/>
          <a:p>
            <a:pPr algn="l"/>
            <a:r>
              <a:rPr sz="1100" b="1" i="0">
                <a:solidFill>
                  <a:srgbClr val="E98300"/>
                </a:solidFill>
                <a:latin typeface="Calibri"/>
              </a:rPr>
              <a:t>Missing</a:t>
            </a:r>
          </a:p>
        </p:txBody>
      </p:sp>
      <p:sp>
        <p:nvSpPr>
          <p:cNvPr id="32" name="Rectangle 31"/>
          <p:cNvSpPr/>
          <p:nvPr/>
        </p:nvSpPr>
        <p:spPr>
          <a:xfrm>
            <a:off x="7580375" y="3895344"/>
            <a:ext cx="1097280" cy="173736"/>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7580375" y="3895344"/>
            <a:ext cx="1097280" cy="173736"/>
          </a:xfrm>
          <a:prstGeom prst="rect">
            <a:avLst/>
          </a:prstGeom>
          <a:noFill/>
        </p:spPr>
        <p:txBody>
          <a:bodyPr wrap="square" lIns="18288" tIns="0" rIns="18288" bIns="0" anchor="ctr">
            <a:spAutoFit/>
          </a:bodyPr>
          <a:lstStyle/>
          <a:p>
            <a:pPr algn="ctr"/>
            <a:r>
              <a:rPr sz="600" b="1">
                <a:solidFill>
                  <a:srgbClr val="FFFFFF"/>
                </a:solidFill>
                <a:latin typeface="Calibri"/>
              </a:rPr>
              <a:t>IN DEVELOPMENT</a:t>
            </a:r>
          </a:p>
        </p:txBody>
      </p:sp>
      <p:sp>
        <p:nvSpPr>
          <p:cNvPr id="34" name="TextBox 33"/>
          <p:cNvSpPr txBox="1"/>
          <p:nvPr/>
        </p:nvSpPr>
        <p:spPr>
          <a:xfrm>
            <a:off x="4791455" y="4160520"/>
            <a:ext cx="3904487" cy="521208"/>
          </a:xfrm>
          <a:prstGeom prst="rect">
            <a:avLst/>
          </a:prstGeom>
          <a:noFill/>
        </p:spPr>
        <p:txBody>
          <a:bodyPr wrap="square" lIns="27432" tIns="0" rIns="27432" bIns="0">
            <a:spAutoFit/>
          </a:bodyPr>
          <a:lstStyle/>
          <a:p>
            <a:pPr>
              <a:spcAft>
                <a:spcPts val="350"/>
              </a:spcAft>
            </a:pPr>
            <a:r>
              <a:rPr sz="900">
                <a:solidFill>
                  <a:srgbClr val="E98300"/>
                </a:solidFill>
                <a:latin typeface="Calibri"/>
              </a:rPr>
              <a:t>• </a:t>
            </a:r>
            <a:r>
              <a:rPr sz="900">
                <a:solidFill>
                  <a:srgbClr val="2E2D29"/>
                </a:solidFill>
                <a:latin typeface="Calibri"/>
              </a:rPr>
              <a:t>TST-STAN-5 pre-operative re-run is still pending after the CMM transition</a:t>
            </a:r>
          </a:p>
        </p:txBody>
      </p:sp>
      <p:sp>
        <p:nvSpPr>
          <p:cNvPr id="35" name="Rectangle 34"/>
          <p:cNvSpPr/>
          <p:nvPr/>
        </p:nvSpPr>
        <p:spPr>
          <a:xfrm>
            <a:off x="320040" y="4864608"/>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429768" y="4864608"/>
            <a:ext cx="8284464" cy="310896"/>
          </a:xfrm>
          <a:prstGeom prst="rect">
            <a:avLst/>
          </a:prstGeom>
          <a:noFill/>
        </p:spPr>
        <p:txBody>
          <a:bodyPr wrap="square" lIns="27432" tIns="0" rIns="27432" bIns="0" anchor="ctr">
            <a:spAutoFit/>
          </a:bodyPr>
          <a:lstStyle/>
          <a:p>
            <a:pPr algn="l"/>
            <a:r>
              <a:rPr sz="1000" b="1" i="0">
                <a:solidFill>
                  <a:srgbClr val="8C1515"/>
                </a:solidFill>
                <a:latin typeface="Calibri"/>
              </a:rPr>
              <a:t>Pre-operative simulations are complete for four of five patients.</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a:xfrm>
            <a:off x="1362456" y="2971800"/>
            <a:ext cx="6400800" cy="658368"/>
          </a:xfrm>
        </p:spPr>
        <p:txBody>
          <a:bodyPr wrap="square" lIns="0" rIns="0"/>
          <a:lstStyle/>
          <a:p>
            <a:r>
              <a:rPr sz="1300">
                <a:solidFill>
                  <a:srgbClr val="FFFFFF"/>
                </a:solidFill>
                <a:latin typeface="Calibri"/>
              </a:rPr>
              <a:t>Virtual stenting of the segmented anatomy, simulated with the pre-operative boundary conditions unchanged.</a:t>
            </a:r>
          </a:p>
        </p:txBody>
      </p:sp>
      <p:sp>
        <p:nvSpPr>
          <p:cNvPr id="3" name="Title 2"/>
          <p:cNvSpPr>
            <a:spLocks noGrp="1"/>
          </p:cNvSpPr>
          <p:nvPr>
            <p:ph type="ctrTitle"/>
          </p:nvPr>
        </p:nvSpPr>
        <p:spPr>
          <a:xfrm>
            <a:off x="1362456" y="1874519"/>
            <a:ext cx="7479792" cy="1005840"/>
          </a:xfrm>
        </p:spPr>
        <p:txBody>
          <a:bodyPr lIns="0" rIns="0" anchor="b"/>
          <a:lstStyle/>
          <a:p>
            <a:r>
              <a:rPr sz="3200">
                <a:solidFill>
                  <a:srgbClr val="FFFFFF"/>
                </a:solidFill>
                <a:latin typeface="Georgia"/>
              </a:rPr>
              <a:t>Post-operative Simulation</a:t>
            </a:r>
          </a:p>
        </p:txBody>
      </p:sp>
      <p:sp>
        <p:nvSpPr>
          <p:cNvPr id="4" name="TextBox 3"/>
          <p:cNvSpPr txBox="1"/>
          <p:nvPr/>
        </p:nvSpPr>
        <p:spPr>
          <a:xfrm>
            <a:off x="1362456" y="1517904"/>
            <a:ext cx="7479792" cy="256032"/>
          </a:xfrm>
          <a:prstGeom prst="rect">
            <a:avLst/>
          </a:prstGeom>
          <a:noFill/>
        </p:spPr>
        <p:txBody>
          <a:bodyPr wrap="square" lIns="27432" tIns="0" rIns="27432" bIns="0" anchor="t">
            <a:spAutoFit/>
          </a:bodyPr>
          <a:lstStyle/>
          <a:p>
            <a:pPr algn="l"/>
            <a:r>
              <a:rPr sz="1050" b="1" i="0">
                <a:solidFill>
                  <a:srgbClr val="FFFFFF"/>
                </a:solidFill>
                <a:latin typeface="Calibri"/>
              </a:rPr>
              <a:t>STAGE 4 OF 7</a:t>
            </a:r>
          </a:p>
        </p:txBody>
      </p:sp>
      <p:sp>
        <p:nvSpPr>
          <p:cNvPr id="5" name="Rectangle 4"/>
          <p:cNvSpPr/>
          <p:nvPr/>
        </p:nvSpPr>
        <p:spPr>
          <a:xfrm>
            <a:off x="1362456" y="4041648"/>
            <a:ext cx="869986" cy="256032"/>
          </a:xfrm>
          <a:prstGeom prst="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362456" y="4041648"/>
            <a:ext cx="869986" cy="256032"/>
          </a:xfrm>
          <a:prstGeom prst="rect">
            <a:avLst/>
          </a:prstGeom>
          <a:noFill/>
        </p:spPr>
        <p:txBody>
          <a:bodyPr wrap="square" lIns="9144" tIns="0" rIns="9144" bIns="0" anchor="ctr">
            <a:spAutoFit/>
          </a:bodyPr>
          <a:lstStyle/>
          <a:p>
            <a:pPr algn="ctr"/>
            <a:r>
              <a:rPr sz="700" b="0">
                <a:solidFill>
                  <a:srgbClr val="FFFFFF"/>
                </a:solidFill>
                <a:latin typeface="Calibri"/>
              </a:rPr>
              <a:t>1  Inputs</a:t>
            </a:r>
          </a:p>
        </p:txBody>
      </p:sp>
      <p:sp>
        <p:nvSpPr>
          <p:cNvPr id="7" name="Rectangle 6"/>
          <p:cNvSpPr/>
          <p:nvPr/>
        </p:nvSpPr>
        <p:spPr>
          <a:xfrm>
            <a:off x="2287306" y="4041648"/>
            <a:ext cx="869986" cy="256032"/>
          </a:xfrm>
          <a:prstGeom prst="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287306" y="4041648"/>
            <a:ext cx="869986" cy="256032"/>
          </a:xfrm>
          <a:prstGeom prst="rect">
            <a:avLst/>
          </a:prstGeom>
          <a:noFill/>
        </p:spPr>
        <p:txBody>
          <a:bodyPr wrap="square" lIns="9144" tIns="0" rIns="9144" bIns="0" anchor="ctr">
            <a:spAutoFit/>
          </a:bodyPr>
          <a:lstStyle/>
          <a:p>
            <a:pPr algn="ctr"/>
            <a:r>
              <a:rPr sz="700" b="0">
                <a:solidFill>
                  <a:srgbClr val="FFFFFF"/>
                </a:solidFill>
                <a:latin typeface="Calibri"/>
              </a:rPr>
              <a:t>2  BC Tuning</a:t>
            </a:r>
          </a:p>
        </p:txBody>
      </p:sp>
      <p:sp>
        <p:nvSpPr>
          <p:cNvPr id="9" name="Rectangle 8"/>
          <p:cNvSpPr/>
          <p:nvPr/>
        </p:nvSpPr>
        <p:spPr>
          <a:xfrm>
            <a:off x="3212156" y="4041648"/>
            <a:ext cx="869986" cy="256032"/>
          </a:xfrm>
          <a:prstGeom prst="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212156" y="4041648"/>
            <a:ext cx="869986" cy="256032"/>
          </a:xfrm>
          <a:prstGeom prst="rect">
            <a:avLst/>
          </a:prstGeom>
          <a:noFill/>
        </p:spPr>
        <p:txBody>
          <a:bodyPr wrap="square" lIns="9144" tIns="0" rIns="9144" bIns="0" anchor="ctr">
            <a:spAutoFit/>
          </a:bodyPr>
          <a:lstStyle/>
          <a:p>
            <a:pPr algn="ctr"/>
            <a:r>
              <a:rPr sz="700" b="0">
                <a:solidFill>
                  <a:srgbClr val="FFFFFF"/>
                </a:solidFill>
                <a:latin typeface="Calibri"/>
              </a:rPr>
              <a:t>3  Pre-op Sim</a:t>
            </a:r>
          </a:p>
        </p:txBody>
      </p:sp>
      <p:sp>
        <p:nvSpPr>
          <p:cNvPr id="11" name="Rectangle 10"/>
          <p:cNvSpPr/>
          <p:nvPr/>
        </p:nvSpPr>
        <p:spPr>
          <a:xfrm>
            <a:off x="4137006" y="4041648"/>
            <a:ext cx="869986" cy="2560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137006" y="4041648"/>
            <a:ext cx="869986" cy="256032"/>
          </a:xfrm>
          <a:prstGeom prst="rect">
            <a:avLst/>
          </a:prstGeom>
          <a:noFill/>
        </p:spPr>
        <p:txBody>
          <a:bodyPr wrap="square" lIns="9144" tIns="0" rIns="9144" bIns="0" anchor="ctr">
            <a:spAutoFit/>
          </a:bodyPr>
          <a:lstStyle/>
          <a:p>
            <a:pPr algn="ctr"/>
            <a:r>
              <a:rPr sz="700" b="1">
                <a:solidFill>
                  <a:srgbClr val="007C92"/>
                </a:solidFill>
                <a:latin typeface="Calibri"/>
              </a:rPr>
              <a:t>4  Post-op Sim</a:t>
            </a:r>
          </a:p>
        </p:txBody>
      </p:sp>
      <p:sp>
        <p:nvSpPr>
          <p:cNvPr id="13" name="Rectangle 12"/>
          <p:cNvSpPr/>
          <p:nvPr/>
        </p:nvSpPr>
        <p:spPr>
          <a:xfrm>
            <a:off x="5061857" y="4041648"/>
            <a:ext cx="869986" cy="256032"/>
          </a:xfrm>
          <a:prstGeom prst="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5061857" y="4041648"/>
            <a:ext cx="869986" cy="256032"/>
          </a:xfrm>
          <a:prstGeom prst="rect">
            <a:avLst/>
          </a:prstGeom>
          <a:noFill/>
        </p:spPr>
        <p:txBody>
          <a:bodyPr wrap="square" lIns="9144" tIns="0" rIns="9144" bIns="0" anchor="ctr">
            <a:spAutoFit/>
          </a:bodyPr>
          <a:lstStyle/>
          <a:p>
            <a:pPr algn="ctr"/>
            <a:r>
              <a:rPr sz="700" b="0">
                <a:solidFill>
                  <a:srgbClr val="FFFFFF"/>
                </a:solidFill>
                <a:latin typeface="Calibri"/>
              </a:rPr>
              <a:t>5  Adaptation</a:t>
            </a:r>
          </a:p>
        </p:txBody>
      </p:sp>
      <p:sp>
        <p:nvSpPr>
          <p:cNvPr id="15" name="Rectangle 14"/>
          <p:cNvSpPr/>
          <p:nvPr/>
        </p:nvSpPr>
        <p:spPr>
          <a:xfrm>
            <a:off x="5986707" y="4041648"/>
            <a:ext cx="869986" cy="256032"/>
          </a:xfrm>
          <a:prstGeom prst="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86707" y="4041648"/>
            <a:ext cx="869986" cy="256032"/>
          </a:xfrm>
          <a:prstGeom prst="rect">
            <a:avLst/>
          </a:prstGeom>
          <a:noFill/>
        </p:spPr>
        <p:txBody>
          <a:bodyPr wrap="square" lIns="9144" tIns="0" rIns="9144" bIns="0" anchor="ctr">
            <a:spAutoFit/>
          </a:bodyPr>
          <a:lstStyle/>
          <a:p>
            <a:pPr algn="ctr"/>
            <a:r>
              <a:rPr sz="700" b="0">
                <a:solidFill>
                  <a:srgbClr val="FFFFFF"/>
                </a:solidFill>
                <a:latin typeface="Calibri"/>
              </a:rPr>
              <a:t>6  Adapted Sim</a:t>
            </a:r>
          </a:p>
        </p:txBody>
      </p:sp>
      <p:sp>
        <p:nvSpPr>
          <p:cNvPr id="17" name="Rectangle 16"/>
          <p:cNvSpPr/>
          <p:nvPr/>
        </p:nvSpPr>
        <p:spPr>
          <a:xfrm>
            <a:off x="6911557" y="4041648"/>
            <a:ext cx="869986" cy="256032"/>
          </a:xfrm>
          <a:prstGeom prst="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6911557" y="4041648"/>
            <a:ext cx="869986" cy="256032"/>
          </a:xfrm>
          <a:prstGeom prst="rect">
            <a:avLst/>
          </a:prstGeom>
          <a:noFill/>
        </p:spPr>
        <p:txBody>
          <a:bodyPr wrap="square" lIns="9144" tIns="0" rIns="9144" bIns="0" anchor="ctr">
            <a:spAutoFit/>
          </a:bodyPr>
          <a:lstStyle/>
          <a:p>
            <a:pPr algn="ctr"/>
            <a:r>
              <a:rPr sz="700" b="0">
                <a:solidFill>
                  <a:srgbClr val="FFFFFF"/>
                </a:solidFill>
                <a:latin typeface="Calibri"/>
              </a:rPr>
              <a:t>7  Metrics</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sz="2200">
                <a:solidFill>
                  <a:srgbClr val="8C1515"/>
                </a:solidFill>
                <a:latin typeface="Georgia"/>
              </a:rPr>
              <a:t>Virtual stenting with signed distance fields</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4  Post-op Sim</a:t>
            </a:r>
          </a:p>
        </p:txBody>
      </p:sp>
      <p:sp>
        <p:nvSpPr>
          <p:cNvPr id="11" name="Rectangle 10"/>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VALIDATED</a:t>
            </a:r>
          </a:p>
        </p:txBody>
      </p:sp>
      <p:sp>
        <p:nvSpPr>
          <p:cNvPr id="19" name="Rectangle 18"/>
          <p:cNvSpPr/>
          <p:nvPr/>
        </p:nvSpPr>
        <p:spPr>
          <a:xfrm>
            <a:off x="320040" y="1408176"/>
            <a:ext cx="4160520" cy="157276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448056" y="1508760"/>
            <a:ext cx="3904487" cy="219456"/>
          </a:xfrm>
          <a:prstGeom prst="rect">
            <a:avLst/>
          </a:prstGeom>
          <a:noFill/>
        </p:spPr>
        <p:txBody>
          <a:bodyPr wrap="square" lIns="27432" tIns="0" rIns="27432" bIns="0" anchor="t">
            <a:spAutoFit/>
          </a:bodyPr>
          <a:lstStyle/>
          <a:p>
            <a:pPr algn="l"/>
            <a:r>
              <a:rPr sz="1100" b="1" i="0">
                <a:solidFill>
                  <a:srgbClr val="8C1515"/>
                </a:solidFill>
                <a:latin typeface="Calibri"/>
              </a:rPr>
              <a:t>Method</a:t>
            </a:r>
          </a:p>
        </p:txBody>
      </p:sp>
      <p:sp>
        <p:nvSpPr>
          <p:cNvPr id="21" name="TextBox 20"/>
          <p:cNvSpPr txBox="1"/>
          <p:nvPr/>
        </p:nvSpPr>
        <p:spPr>
          <a:xfrm>
            <a:off x="448056" y="1783080"/>
            <a:ext cx="3904487" cy="1161288"/>
          </a:xfrm>
          <a:prstGeom prst="rect">
            <a:avLst/>
          </a:prstGeom>
          <a:noFill/>
        </p:spPr>
        <p:txBody>
          <a:bodyPr wrap="square" lIns="27432" tIns="0" rIns="27432" bIns="0">
            <a:spAutoFit/>
          </a:bodyPr>
          <a:lstStyle/>
          <a:p>
            <a:pPr>
              <a:spcAft>
                <a:spcPts val="350"/>
              </a:spcAft>
            </a:pPr>
            <a:r>
              <a:rPr sz="950">
                <a:solidFill>
                  <a:srgbClr val="8C1515"/>
                </a:solidFill>
                <a:latin typeface="Calibri"/>
              </a:rPr>
              <a:t>• </a:t>
            </a:r>
            <a:r>
              <a:rPr sz="950">
                <a:solidFill>
                  <a:srgbClr val="2E2D29"/>
                </a:solidFill>
                <a:latin typeface="Calibri"/>
              </a:rPr>
              <a:t>The stented segment is imposed as a signed distance field on the segmented lumen</a:t>
            </a:r>
          </a:p>
          <a:p>
            <a:pPr>
              <a:spcAft>
                <a:spcPts val="350"/>
              </a:spcAft>
            </a:pPr>
            <a:r>
              <a:rPr sz="950">
                <a:solidFill>
                  <a:srgbClr val="8C1515"/>
                </a:solidFill>
                <a:latin typeface="Calibri"/>
              </a:rPr>
              <a:t>• </a:t>
            </a:r>
            <a:r>
              <a:rPr sz="950">
                <a:solidFill>
                  <a:srgbClr val="2E2D29"/>
                </a:solidFill>
                <a:latin typeface="Calibri"/>
              </a:rPr>
              <a:t>Stent diameter and length are read directly from the catheterization report</a:t>
            </a:r>
          </a:p>
          <a:p>
            <a:pPr>
              <a:spcAft>
                <a:spcPts val="350"/>
              </a:spcAft>
            </a:pPr>
            <a:r>
              <a:rPr sz="950">
                <a:solidFill>
                  <a:srgbClr val="8C1515"/>
                </a:solidFill>
                <a:latin typeface="Calibri"/>
              </a:rPr>
              <a:t>• </a:t>
            </a:r>
            <a:r>
              <a:rPr sz="950">
                <a:solidFill>
                  <a:srgbClr val="2E2D29"/>
                </a:solidFill>
                <a:latin typeface="Calibri"/>
              </a:rPr>
              <a:t>Produces a watertight post-operative solid without re-segmentation</a:t>
            </a:r>
          </a:p>
        </p:txBody>
      </p:sp>
      <p:sp>
        <p:nvSpPr>
          <p:cNvPr id="22" name="Rectangle 21"/>
          <p:cNvSpPr/>
          <p:nvPr/>
        </p:nvSpPr>
        <p:spPr>
          <a:xfrm>
            <a:off x="320040" y="3108960"/>
            <a:ext cx="4160520" cy="157276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448056" y="3209544"/>
            <a:ext cx="3904487" cy="219456"/>
          </a:xfrm>
          <a:prstGeom prst="rect">
            <a:avLst/>
          </a:prstGeom>
          <a:noFill/>
        </p:spPr>
        <p:txBody>
          <a:bodyPr wrap="square" lIns="27432" tIns="0" rIns="27432" bIns="0" anchor="t">
            <a:spAutoFit/>
          </a:bodyPr>
          <a:lstStyle/>
          <a:p>
            <a:pPr algn="l"/>
            <a:r>
              <a:rPr sz="1100" b="1" i="0">
                <a:solidFill>
                  <a:srgbClr val="8C1515"/>
                </a:solidFill>
                <a:latin typeface="Calibri"/>
              </a:rPr>
              <a:t>Why it matters for this pipeline</a:t>
            </a:r>
          </a:p>
        </p:txBody>
      </p:sp>
      <p:sp>
        <p:nvSpPr>
          <p:cNvPr id="24" name="TextBox 23"/>
          <p:cNvSpPr txBox="1"/>
          <p:nvPr/>
        </p:nvSpPr>
        <p:spPr>
          <a:xfrm>
            <a:off x="448056" y="3483863"/>
            <a:ext cx="3904487" cy="1161288"/>
          </a:xfrm>
          <a:prstGeom prst="rect">
            <a:avLst/>
          </a:prstGeom>
          <a:noFill/>
        </p:spPr>
        <p:txBody>
          <a:bodyPr wrap="square" lIns="27432" tIns="0" rIns="27432" bIns="0">
            <a:spAutoFit/>
          </a:bodyPr>
          <a:lstStyle/>
          <a:p>
            <a:pPr>
              <a:spcAft>
                <a:spcPts val="350"/>
              </a:spcAft>
            </a:pPr>
            <a:r>
              <a:rPr sz="950">
                <a:solidFill>
                  <a:srgbClr val="8C1515"/>
                </a:solidFill>
                <a:latin typeface="Calibri"/>
              </a:rPr>
              <a:t>• </a:t>
            </a:r>
            <a:r>
              <a:rPr sz="950">
                <a:solidFill>
                  <a:srgbClr val="2E2D29"/>
                </a:solidFill>
                <a:latin typeface="Calibri"/>
              </a:rPr>
              <a:t>The post-operative geometry is reproducible and traceable to the clinical record</a:t>
            </a:r>
          </a:p>
          <a:p>
            <a:pPr>
              <a:spcAft>
                <a:spcPts val="350"/>
              </a:spcAft>
            </a:pPr>
            <a:r>
              <a:rPr sz="950">
                <a:solidFill>
                  <a:srgbClr val="8C1515"/>
                </a:solidFill>
                <a:latin typeface="Calibri"/>
              </a:rPr>
              <a:t>• </a:t>
            </a:r>
            <a:r>
              <a:rPr sz="950">
                <a:solidFill>
                  <a:srgbClr val="2E2D29"/>
                </a:solidFill>
                <a:latin typeface="Calibri"/>
              </a:rPr>
              <a:t>The same procedure will support hypothetical stent sizes for treatment planning</a:t>
            </a:r>
          </a:p>
        </p:txBody>
      </p:sp>
      <p:sp>
        <p:nvSpPr>
          <p:cNvPr id="25" name="Rectangle 24"/>
          <p:cNvSpPr/>
          <p:nvPr/>
        </p:nvSpPr>
        <p:spPr>
          <a:xfrm>
            <a:off x="4846320" y="1408176"/>
            <a:ext cx="3977639" cy="3273552"/>
          </a:xfrm>
          <a:prstGeom prst="rect">
            <a:avLst/>
          </a:prstGeom>
          <a:solidFill>
            <a:srgbClr val="F2F1F0"/>
          </a:solidFill>
          <a:ln w="1270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4956048" y="1408176"/>
            <a:ext cx="3758183" cy="3273552"/>
          </a:xfrm>
          <a:prstGeom prst="rect">
            <a:avLst/>
          </a:prstGeom>
          <a:noFill/>
        </p:spPr>
        <p:txBody>
          <a:bodyPr wrap="square" tIns="0" bIns="0" anchor="ctr">
            <a:spAutoFit/>
          </a:bodyPr>
          <a:lstStyle/>
          <a:p>
            <a:pPr algn="ctr">
              <a:spcAft>
                <a:spcPts val="300"/>
              </a:spcAft>
            </a:pPr>
            <a:r>
              <a:rPr sz="850" b="1" i="0">
                <a:solidFill>
                  <a:srgbClr val="E98300"/>
                </a:solidFill>
                <a:latin typeface="Calibri"/>
              </a:rPr>
              <a:t>FIGURE PLACEHOLDER</a:t>
            </a:r>
          </a:p>
          <a:p>
            <a:pPr algn="ctr">
              <a:spcAft>
                <a:spcPts val="300"/>
              </a:spcAft>
            </a:pPr>
            <a:r>
              <a:rPr sz="1050" b="1" i="0">
                <a:solidFill>
                  <a:srgbClr val="6B6965"/>
                </a:solidFill>
                <a:latin typeface="Calibri"/>
              </a:rPr>
              <a:t>SDFStent method figure</a:t>
            </a:r>
          </a:p>
          <a:p>
            <a:pPr algn="ctr">
              <a:spcAft>
                <a:spcPts val="300"/>
              </a:spcAft>
            </a:pPr>
            <a:r>
              <a:rPr sz="850" b="0" i="1">
                <a:solidFill>
                  <a:srgbClr val="6B6965"/>
                </a:solidFill>
                <a:latin typeface="Calibri"/>
              </a:rPr>
              <a:t>Drop in the schematic from the SDFStent manuscript</a:t>
            </a:r>
          </a:p>
        </p:txBody>
      </p:sp>
      <p:sp>
        <p:nvSpPr>
          <p:cNvPr id="27" name="Rectangle 26"/>
          <p:cNvSpPr/>
          <p:nvPr/>
        </p:nvSpPr>
        <p:spPr>
          <a:xfrm>
            <a:off x="320040" y="4828032"/>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429768" y="4828032"/>
            <a:ext cx="8284464" cy="310896"/>
          </a:xfrm>
          <a:prstGeom prst="rect">
            <a:avLst/>
          </a:prstGeom>
          <a:noFill/>
        </p:spPr>
        <p:txBody>
          <a:bodyPr wrap="square" lIns="27432" tIns="0" rIns="27432" bIns="0" anchor="ctr">
            <a:spAutoFit/>
          </a:bodyPr>
          <a:lstStyle/>
          <a:p>
            <a:pPr algn="l"/>
            <a:r>
              <a:rPr sz="1000" b="1" i="0">
                <a:solidFill>
                  <a:srgbClr val="8C1515"/>
                </a:solidFill>
                <a:latin typeface="Calibri"/>
              </a:rPr>
              <a:t>Post-operative boundary conditions are the tuned pre-operative ones, unchanged — the only difference is geometry.</a:t>
            </a:r>
          </a:p>
        </p:txBody>
      </p:sp>
      <p:sp>
        <p:nvSpPr>
          <p:cNvPr id="29" name="TextBox 28"/>
          <p:cNvSpPr txBox="1"/>
          <p:nvPr/>
        </p:nvSpPr>
        <p:spPr>
          <a:xfrm>
            <a:off x="2011680" y="5376672"/>
            <a:ext cx="6812280" cy="201168"/>
          </a:xfrm>
          <a:prstGeom prst="rect">
            <a:avLst/>
          </a:prstGeom>
          <a:noFill/>
        </p:spPr>
        <p:txBody>
          <a:bodyPr wrap="square" lIns="27432" tIns="0" rIns="27432" bIns="0" anchor="t">
            <a:spAutoFit/>
          </a:bodyPr>
          <a:lstStyle/>
          <a:p>
            <a:pPr algn="l"/>
            <a:r>
              <a:rPr sz="700" b="0" i="1">
                <a:solidFill>
                  <a:srgbClr val="6B6965"/>
                </a:solidFill>
                <a:latin typeface="Calibri"/>
              </a:rPr>
              <a:t>SDFStent: manuscript on arXiv, accepted for publication.</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sz="2200">
                <a:solidFill>
                  <a:srgbClr val="8C1515"/>
                </a:solidFill>
                <a:latin typeface="Georgia"/>
              </a:rPr>
              <a:t>Acute post-operative response</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4  Post-op Sim</a:t>
            </a:r>
          </a:p>
        </p:txBody>
      </p:sp>
      <p:sp>
        <p:nvSpPr>
          <p:cNvPr id="11" name="Rectangle 10"/>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VALIDATED</a:t>
            </a:r>
          </a:p>
        </p:txBody>
      </p:sp>
      <p:pic>
        <p:nvPicPr>
          <p:cNvPr id="19" name="Picture 18" descr="acutegeom_T1.png"/>
          <p:cNvPicPr>
            <a:picLocks noChangeAspect="1"/>
          </p:cNvPicPr>
          <p:nvPr/>
        </p:nvPicPr>
        <p:blipFill>
          <a:blip r:embed="rId2"/>
          <a:stretch>
            <a:fillRect/>
          </a:stretch>
        </p:blipFill>
        <p:spPr>
          <a:xfrm>
            <a:off x="320040" y="1816890"/>
            <a:ext cx="2016252" cy="929075"/>
          </a:xfrm>
          <a:prstGeom prst="rect">
            <a:avLst/>
          </a:prstGeom>
        </p:spPr>
      </p:pic>
      <p:sp>
        <p:nvSpPr>
          <p:cNvPr id="20" name="TextBox 19"/>
          <p:cNvSpPr txBox="1"/>
          <p:nvPr/>
        </p:nvSpPr>
        <p:spPr>
          <a:xfrm>
            <a:off x="320040" y="3209544"/>
            <a:ext cx="2016252" cy="201168"/>
          </a:xfrm>
          <a:prstGeom prst="rect">
            <a:avLst/>
          </a:prstGeom>
          <a:noFill/>
        </p:spPr>
        <p:txBody>
          <a:bodyPr wrap="square" lIns="27432" tIns="0" rIns="27432" bIns="0" anchor="t">
            <a:spAutoFit/>
          </a:bodyPr>
          <a:lstStyle/>
          <a:p>
            <a:pPr algn="ctr"/>
            <a:r>
              <a:rPr sz="800" b="0" i="1">
                <a:solidFill>
                  <a:srgbClr val="6B6965"/>
                </a:solidFill>
                <a:latin typeface="Calibri"/>
              </a:rPr>
              <a:t>TST-STAN-1</a:t>
            </a:r>
          </a:p>
        </p:txBody>
      </p:sp>
      <p:pic>
        <p:nvPicPr>
          <p:cNvPr id="21" name="Picture 20" descr="acutegeom_T2.png"/>
          <p:cNvPicPr>
            <a:picLocks noChangeAspect="1"/>
          </p:cNvPicPr>
          <p:nvPr/>
        </p:nvPicPr>
        <p:blipFill>
          <a:blip r:embed="rId3"/>
          <a:stretch>
            <a:fillRect/>
          </a:stretch>
        </p:blipFill>
        <p:spPr>
          <a:xfrm>
            <a:off x="2482596" y="1816890"/>
            <a:ext cx="2016252" cy="929075"/>
          </a:xfrm>
          <a:prstGeom prst="rect">
            <a:avLst/>
          </a:prstGeom>
        </p:spPr>
      </p:pic>
      <p:sp>
        <p:nvSpPr>
          <p:cNvPr id="22" name="TextBox 21"/>
          <p:cNvSpPr txBox="1"/>
          <p:nvPr/>
        </p:nvSpPr>
        <p:spPr>
          <a:xfrm>
            <a:off x="2482596" y="3209544"/>
            <a:ext cx="2016252" cy="201168"/>
          </a:xfrm>
          <a:prstGeom prst="rect">
            <a:avLst/>
          </a:prstGeom>
          <a:noFill/>
        </p:spPr>
        <p:txBody>
          <a:bodyPr wrap="square" lIns="27432" tIns="0" rIns="27432" bIns="0" anchor="t">
            <a:spAutoFit/>
          </a:bodyPr>
          <a:lstStyle/>
          <a:p>
            <a:pPr algn="ctr"/>
            <a:r>
              <a:rPr sz="800" b="0" i="1">
                <a:solidFill>
                  <a:srgbClr val="6B6965"/>
                </a:solidFill>
                <a:latin typeface="Calibri"/>
              </a:rPr>
              <a:t>TST-STAN-2</a:t>
            </a:r>
          </a:p>
        </p:txBody>
      </p:sp>
      <p:pic>
        <p:nvPicPr>
          <p:cNvPr id="23" name="Picture 22" descr="acutegeom_T3.png"/>
          <p:cNvPicPr>
            <a:picLocks noChangeAspect="1"/>
          </p:cNvPicPr>
          <p:nvPr/>
        </p:nvPicPr>
        <p:blipFill>
          <a:blip r:embed="rId4"/>
          <a:stretch>
            <a:fillRect/>
          </a:stretch>
        </p:blipFill>
        <p:spPr>
          <a:xfrm>
            <a:off x="4645152" y="1816890"/>
            <a:ext cx="2016252" cy="929075"/>
          </a:xfrm>
          <a:prstGeom prst="rect">
            <a:avLst/>
          </a:prstGeom>
        </p:spPr>
      </p:pic>
      <p:sp>
        <p:nvSpPr>
          <p:cNvPr id="24" name="TextBox 23"/>
          <p:cNvSpPr txBox="1"/>
          <p:nvPr/>
        </p:nvSpPr>
        <p:spPr>
          <a:xfrm>
            <a:off x="4645152" y="3209544"/>
            <a:ext cx="2016252" cy="201168"/>
          </a:xfrm>
          <a:prstGeom prst="rect">
            <a:avLst/>
          </a:prstGeom>
          <a:noFill/>
        </p:spPr>
        <p:txBody>
          <a:bodyPr wrap="square" lIns="27432" tIns="0" rIns="27432" bIns="0" anchor="t">
            <a:spAutoFit/>
          </a:bodyPr>
          <a:lstStyle/>
          <a:p>
            <a:pPr algn="ctr"/>
            <a:r>
              <a:rPr sz="800" b="0" i="1">
                <a:solidFill>
                  <a:srgbClr val="6B6965"/>
                </a:solidFill>
                <a:latin typeface="Calibri"/>
              </a:rPr>
              <a:t>TST-STAN-3</a:t>
            </a:r>
          </a:p>
        </p:txBody>
      </p:sp>
      <p:pic>
        <p:nvPicPr>
          <p:cNvPr id="25" name="Picture 24" descr="acutegeom_T9.png"/>
          <p:cNvPicPr>
            <a:picLocks noChangeAspect="1"/>
          </p:cNvPicPr>
          <p:nvPr/>
        </p:nvPicPr>
        <p:blipFill>
          <a:blip r:embed="rId5"/>
          <a:stretch>
            <a:fillRect/>
          </a:stretch>
        </p:blipFill>
        <p:spPr>
          <a:xfrm>
            <a:off x="6807708" y="1816890"/>
            <a:ext cx="2016252" cy="929075"/>
          </a:xfrm>
          <a:prstGeom prst="rect">
            <a:avLst/>
          </a:prstGeom>
        </p:spPr>
      </p:pic>
      <p:sp>
        <p:nvSpPr>
          <p:cNvPr id="26" name="TextBox 25"/>
          <p:cNvSpPr txBox="1"/>
          <p:nvPr/>
        </p:nvSpPr>
        <p:spPr>
          <a:xfrm>
            <a:off x="6807708" y="3209544"/>
            <a:ext cx="2016252" cy="201168"/>
          </a:xfrm>
          <a:prstGeom prst="rect">
            <a:avLst/>
          </a:prstGeom>
          <a:noFill/>
        </p:spPr>
        <p:txBody>
          <a:bodyPr wrap="square" lIns="27432" tIns="0" rIns="27432" bIns="0" anchor="t">
            <a:spAutoFit/>
          </a:bodyPr>
          <a:lstStyle/>
          <a:p>
            <a:pPr algn="ctr"/>
            <a:r>
              <a:rPr sz="800" b="0" i="1">
                <a:solidFill>
                  <a:srgbClr val="6B6965"/>
                </a:solidFill>
                <a:latin typeface="Calibri"/>
              </a:rPr>
              <a:t>TST-STAN-9</a:t>
            </a:r>
          </a:p>
        </p:txBody>
      </p:sp>
      <p:sp>
        <p:nvSpPr>
          <p:cNvPr id="27" name="TextBox 26"/>
          <p:cNvSpPr txBox="1"/>
          <p:nvPr/>
        </p:nvSpPr>
        <p:spPr>
          <a:xfrm>
            <a:off x="320040" y="3493008"/>
            <a:ext cx="8503920" cy="201168"/>
          </a:xfrm>
          <a:prstGeom prst="rect">
            <a:avLst/>
          </a:prstGeom>
          <a:noFill/>
        </p:spPr>
        <p:txBody>
          <a:bodyPr wrap="square" lIns="27432" tIns="0" rIns="27432" bIns="0" anchor="t">
            <a:spAutoFit/>
          </a:bodyPr>
          <a:lstStyle/>
          <a:p>
            <a:pPr algn="ctr"/>
            <a:r>
              <a:rPr sz="900" b="0" i="1">
                <a:solidFill>
                  <a:srgbClr val="6B6965"/>
                </a:solidFill>
                <a:latin typeface="Calibri"/>
              </a:rPr>
              <a:t>Pre-operative calibrated geometry (left of each pair) and the virtually stented geometry with boundary conditions held fixed (right).</a:t>
            </a:r>
          </a:p>
        </p:txBody>
      </p:sp>
      <p:sp>
        <p:nvSpPr>
          <p:cNvPr id="28" name="Rectangle 27"/>
          <p:cNvSpPr/>
          <p:nvPr/>
        </p:nvSpPr>
        <p:spPr>
          <a:xfrm>
            <a:off x="320040" y="3803904"/>
            <a:ext cx="4160520" cy="93268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448056" y="3904488"/>
            <a:ext cx="3904487" cy="219456"/>
          </a:xfrm>
          <a:prstGeom prst="rect">
            <a:avLst/>
          </a:prstGeom>
          <a:noFill/>
        </p:spPr>
        <p:txBody>
          <a:bodyPr wrap="square" lIns="27432" tIns="0" rIns="27432" bIns="0" anchor="t">
            <a:spAutoFit/>
          </a:bodyPr>
          <a:lstStyle/>
          <a:p>
            <a:pPr algn="l"/>
            <a:r>
              <a:rPr sz="1100" b="1" i="0">
                <a:solidFill>
                  <a:srgbClr val="8C1515"/>
                </a:solidFill>
                <a:latin typeface="Calibri"/>
              </a:rPr>
              <a:t>What this isolates</a:t>
            </a:r>
          </a:p>
        </p:txBody>
      </p:sp>
      <p:sp>
        <p:nvSpPr>
          <p:cNvPr id="30" name="TextBox 29"/>
          <p:cNvSpPr txBox="1"/>
          <p:nvPr/>
        </p:nvSpPr>
        <p:spPr>
          <a:xfrm>
            <a:off x="448056" y="4178808"/>
            <a:ext cx="3904487" cy="521208"/>
          </a:xfrm>
          <a:prstGeom prst="rect">
            <a:avLst/>
          </a:prstGeom>
          <a:noFill/>
        </p:spPr>
        <p:txBody>
          <a:bodyPr wrap="square" lIns="27432" tIns="0" rIns="27432" bIns="0">
            <a:spAutoFit/>
          </a:bodyPr>
          <a:lstStyle/>
          <a:p>
            <a:pPr>
              <a:spcAft>
                <a:spcPts val="350"/>
              </a:spcAft>
            </a:pPr>
            <a:r>
              <a:rPr sz="900">
                <a:solidFill>
                  <a:srgbClr val="8C1515"/>
                </a:solidFill>
                <a:latin typeface="Calibri"/>
              </a:rPr>
              <a:t>• </a:t>
            </a:r>
            <a:r>
              <a:rPr sz="900">
                <a:solidFill>
                  <a:srgbClr val="2E2D29"/>
                </a:solidFill>
                <a:latin typeface="Calibri"/>
              </a:rPr>
              <a:t>The pressure and flow change attributable purely to the geometric intervention</a:t>
            </a:r>
          </a:p>
        </p:txBody>
      </p:sp>
      <p:sp>
        <p:nvSpPr>
          <p:cNvPr id="31" name="Rectangle 30"/>
          <p:cNvSpPr/>
          <p:nvPr/>
        </p:nvSpPr>
        <p:spPr>
          <a:xfrm>
            <a:off x="4663440" y="3803904"/>
            <a:ext cx="4160520" cy="93268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4791455" y="3904488"/>
            <a:ext cx="3904487" cy="219456"/>
          </a:xfrm>
          <a:prstGeom prst="rect">
            <a:avLst/>
          </a:prstGeom>
          <a:noFill/>
        </p:spPr>
        <p:txBody>
          <a:bodyPr wrap="square" lIns="27432" tIns="0" rIns="27432" bIns="0" anchor="t">
            <a:spAutoFit/>
          </a:bodyPr>
          <a:lstStyle/>
          <a:p>
            <a:pPr algn="l"/>
            <a:r>
              <a:rPr sz="1100" b="1" i="0">
                <a:solidFill>
                  <a:srgbClr val="E98300"/>
                </a:solidFill>
                <a:latin typeface="Calibri"/>
              </a:rPr>
              <a:t>What it cannot reach</a:t>
            </a:r>
          </a:p>
        </p:txBody>
      </p:sp>
      <p:sp>
        <p:nvSpPr>
          <p:cNvPr id="33" name="TextBox 32"/>
          <p:cNvSpPr txBox="1"/>
          <p:nvPr/>
        </p:nvSpPr>
        <p:spPr>
          <a:xfrm>
            <a:off x="4791455" y="4178808"/>
            <a:ext cx="3904487" cy="521208"/>
          </a:xfrm>
          <a:prstGeom prst="rect">
            <a:avLst/>
          </a:prstGeom>
          <a:noFill/>
        </p:spPr>
        <p:txBody>
          <a:bodyPr wrap="square" lIns="27432" tIns="0" rIns="27432" bIns="0">
            <a:spAutoFit/>
          </a:bodyPr>
          <a:lstStyle/>
          <a:p>
            <a:pPr>
              <a:spcAft>
                <a:spcPts val="350"/>
              </a:spcAft>
            </a:pPr>
            <a:r>
              <a:rPr sz="900">
                <a:solidFill>
                  <a:srgbClr val="E98300"/>
                </a:solidFill>
                <a:latin typeface="Calibri"/>
              </a:rPr>
              <a:t>• </a:t>
            </a:r>
            <a:r>
              <a:rPr sz="900">
                <a:solidFill>
                  <a:srgbClr val="2E2D29"/>
                </a:solidFill>
                <a:latin typeface="Calibri"/>
              </a:rPr>
              <a:t>The measured post-operative flow split, which reflects a remodelled distal bed</a:t>
            </a:r>
          </a:p>
        </p:txBody>
      </p:sp>
      <p:sp>
        <p:nvSpPr>
          <p:cNvPr id="34" name="Rectangle 33"/>
          <p:cNvSpPr/>
          <p:nvPr/>
        </p:nvSpPr>
        <p:spPr>
          <a:xfrm>
            <a:off x="320040" y="4846320"/>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429768" y="4846320"/>
            <a:ext cx="8284464" cy="310896"/>
          </a:xfrm>
          <a:prstGeom prst="rect">
            <a:avLst/>
          </a:prstGeom>
          <a:noFill/>
        </p:spPr>
        <p:txBody>
          <a:bodyPr wrap="square" lIns="27432" tIns="0" rIns="27432" bIns="0" anchor="ctr">
            <a:spAutoFit/>
          </a:bodyPr>
          <a:lstStyle/>
          <a:p>
            <a:pPr algn="l"/>
            <a:r>
              <a:rPr sz="1000" b="1" i="0">
                <a:solidFill>
                  <a:srgbClr val="8C1515"/>
                </a:solidFill>
                <a:latin typeface="Calibri"/>
              </a:rPr>
              <a:t>This acute state is the perturbation that drives Stage 5.</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sz="2200">
                <a:solidFill>
                  <a:srgbClr val="8C1515"/>
                </a:solidFill>
                <a:latin typeface="Georgia"/>
              </a:rPr>
              <a:t>Pre- and post-operative resistance maps</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4  Post-op Sim</a:t>
            </a:r>
          </a:p>
        </p:txBody>
      </p:sp>
      <p:sp>
        <p:nvSpPr>
          <p:cNvPr id="11" name="Rectangle 10"/>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VALIDATED</a:t>
            </a:r>
          </a:p>
        </p:txBody>
      </p:sp>
      <p:pic>
        <p:nvPicPr>
          <p:cNvPr id="19" name="Picture 18" descr="resmap_T1.png"/>
          <p:cNvPicPr>
            <a:picLocks noChangeAspect="1"/>
          </p:cNvPicPr>
          <p:nvPr/>
        </p:nvPicPr>
        <p:blipFill>
          <a:blip r:embed="rId2"/>
          <a:stretch>
            <a:fillRect/>
          </a:stretch>
        </p:blipFill>
        <p:spPr>
          <a:xfrm>
            <a:off x="320040" y="1870480"/>
            <a:ext cx="2016252" cy="1187655"/>
          </a:xfrm>
          <a:prstGeom prst="rect">
            <a:avLst/>
          </a:prstGeom>
        </p:spPr>
      </p:pic>
      <p:sp>
        <p:nvSpPr>
          <p:cNvPr id="20" name="TextBox 19"/>
          <p:cNvSpPr txBox="1"/>
          <p:nvPr/>
        </p:nvSpPr>
        <p:spPr>
          <a:xfrm>
            <a:off x="320040" y="3575304"/>
            <a:ext cx="2016252" cy="201168"/>
          </a:xfrm>
          <a:prstGeom prst="rect">
            <a:avLst/>
          </a:prstGeom>
          <a:noFill/>
        </p:spPr>
        <p:txBody>
          <a:bodyPr wrap="square" lIns="27432" tIns="0" rIns="27432" bIns="0" anchor="t">
            <a:spAutoFit/>
          </a:bodyPr>
          <a:lstStyle/>
          <a:p>
            <a:pPr algn="ctr"/>
            <a:r>
              <a:rPr sz="800" b="0" i="1">
                <a:solidFill>
                  <a:srgbClr val="6B6965"/>
                </a:solidFill>
                <a:latin typeface="Calibri"/>
              </a:rPr>
              <a:t>TST-STAN-1</a:t>
            </a:r>
          </a:p>
        </p:txBody>
      </p:sp>
      <p:pic>
        <p:nvPicPr>
          <p:cNvPr id="21" name="Picture 20" descr="resmap_T2.png"/>
          <p:cNvPicPr>
            <a:picLocks noChangeAspect="1"/>
          </p:cNvPicPr>
          <p:nvPr/>
        </p:nvPicPr>
        <p:blipFill>
          <a:blip r:embed="rId3"/>
          <a:stretch>
            <a:fillRect/>
          </a:stretch>
        </p:blipFill>
        <p:spPr>
          <a:xfrm>
            <a:off x="2482596" y="1870480"/>
            <a:ext cx="2016252" cy="1187655"/>
          </a:xfrm>
          <a:prstGeom prst="rect">
            <a:avLst/>
          </a:prstGeom>
        </p:spPr>
      </p:pic>
      <p:sp>
        <p:nvSpPr>
          <p:cNvPr id="22" name="TextBox 21"/>
          <p:cNvSpPr txBox="1"/>
          <p:nvPr/>
        </p:nvSpPr>
        <p:spPr>
          <a:xfrm>
            <a:off x="2482596" y="3575304"/>
            <a:ext cx="2016252" cy="201168"/>
          </a:xfrm>
          <a:prstGeom prst="rect">
            <a:avLst/>
          </a:prstGeom>
          <a:noFill/>
        </p:spPr>
        <p:txBody>
          <a:bodyPr wrap="square" lIns="27432" tIns="0" rIns="27432" bIns="0" anchor="t">
            <a:spAutoFit/>
          </a:bodyPr>
          <a:lstStyle/>
          <a:p>
            <a:pPr algn="ctr"/>
            <a:r>
              <a:rPr sz="800" b="0" i="1">
                <a:solidFill>
                  <a:srgbClr val="6B6965"/>
                </a:solidFill>
                <a:latin typeface="Calibri"/>
              </a:rPr>
              <a:t>TST-STAN-2</a:t>
            </a:r>
          </a:p>
        </p:txBody>
      </p:sp>
      <p:pic>
        <p:nvPicPr>
          <p:cNvPr id="23" name="Picture 22" descr="resmap_T3.png"/>
          <p:cNvPicPr>
            <a:picLocks noChangeAspect="1"/>
          </p:cNvPicPr>
          <p:nvPr/>
        </p:nvPicPr>
        <p:blipFill>
          <a:blip r:embed="rId4"/>
          <a:stretch>
            <a:fillRect/>
          </a:stretch>
        </p:blipFill>
        <p:spPr>
          <a:xfrm>
            <a:off x="4645152" y="1870480"/>
            <a:ext cx="2016252" cy="1187655"/>
          </a:xfrm>
          <a:prstGeom prst="rect">
            <a:avLst/>
          </a:prstGeom>
        </p:spPr>
      </p:pic>
      <p:sp>
        <p:nvSpPr>
          <p:cNvPr id="24" name="TextBox 23"/>
          <p:cNvSpPr txBox="1"/>
          <p:nvPr/>
        </p:nvSpPr>
        <p:spPr>
          <a:xfrm>
            <a:off x="4645152" y="3575304"/>
            <a:ext cx="2016252" cy="201168"/>
          </a:xfrm>
          <a:prstGeom prst="rect">
            <a:avLst/>
          </a:prstGeom>
          <a:noFill/>
        </p:spPr>
        <p:txBody>
          <a:bodyPr wrap="square" lIns="27432" tIns="0" rIns="27432" bIns="0" anchor="t">
            <a:spAutoFit/>
          </a:bodyPr>
          <a:lstStyle/>
          <a:p>
            <a:pPr algn="ctr"/>
            <a:r>
              <a:rPr sz="800" b="0" i="1">
                <a:solidFill>
                  <a:srgbClr val="6B6965"/>
                </a:solidFill>
                <a:latin typeface="Calibri"/>
              </a:rPr>
              <a:t>TST-STAN-3</a:t>
            </a:r>
          </a:p>
        </p:txBody>
      </p:sp>
      <p:pic>
        <p:nvPicPr>
          <p:cNvPr id="25" name="Picture 24" descr="resmap_T9.png"/>
          <p:cNvPicPr>
            <a:picLocks noChangeAspect="1"/>
          </p:cNvPicPr>
          <p:nvPr/>
        </p:nvPicPr>
        <p:blipFill>
          <a:blip r:embed="rId5"/>
          <a:stretch>
            <a:fillRect/>
          </a:stretch>
        </p:blipFill>
        <p:spPr>
          <a:xfrm>
            <a:off x="6807708" y="1870480"/>
            <a:ext cx="2016252" cy="1187655"/>
          </a:xfrm>
          <a:prstGeom prst="rect">
            <a:avLst/>
          </a:prstGeom>
        </p:spPr>
      </p:pic>
      <p:sp>
        <p:nvSpPr>
          <p:cNvPr id="26" name="TextBox 25"/>
          <p:cNvSpPr txBox="1"/>
          <p:nvPr/>
        </p:nvSpPr>
        <p:spPr>
          <a:xfrm>
            <a:off x="6807708" y="3575304"/>
            <a:ext cx="2016252" cy="201168"/>
          </a:xfrm>
          <a:prstGeom prst="rect">
            <a:avLst/>
          </a:prstGeom>
          <a:noFill/>
        </p:spPr>
        <p:txBody>
          <a:bodyPr wrap="square" lIns="27432" tIns="0" rIns="27432" bIns="0" anchor="t">
            <a:spAutoFit/>
          </a:bodyPr>
          <a:lstStyle/>
          <a:p>
            <a:pPr algn="ctr"/>
            <a:r>
              <a:rPr sz="800" b="0" i="1">
                <a:solidFill>
                  <a:srgbClr val="6B6965"/>
                </a:solidFill>
                <a:latin typeface="Calibri"/>
              </a:rPr>
              <a:t>TST-STAN-9</a:t>
            </a:r>
          </a:p>
        </p:txBody>
      </p:sp>
      <p:sp>
        <p:nvSpPr>
          <p:cNvPr id="27" name="TextBox 26"/>
          <p:cNvSpPr txBox="1"/>
          <p:nvPr/>
        </p:nvSpPr>
        <p:spPr>
          <a:xfrm>
            <a:off x="320040" y="3895344"/>
            <a:ext cx="8503920" cy="822960"/>
          </a:xfrm>
          <a:prstGeom prst="rect">
            <a:avLst/>
          </a:prstGeom>
          <a:noFill/>
        </p:spPr>
        <p:txBody>
          <a:bodyPr wrap="square" lIns="27432" tIns="0" rIns="27432" bIns="0">
            <a:spAutoFit/>
          </a:bodyPr>
          <a:lstStyle/>
          <a:p>
            <a:pPr>
              <a:spcAft>
                <a:spcPts val="600"/>
              </a:spcAft>
            </a:pPr>
            <a:r>
              <a:rPr sz="1000">
                <a:solidFill>
                  <a:srgbClr val="8C1515"/>
                </a:solidFill>
                <a:latin typeface="Calibri"/>
              </a:rPr>
              <a:t>• </a:t>
            </a:r>
            <a:r>
              <a:rPr sz="1000">
                <a:solidFill>
                  <a:srgbClr val="2E2D29"/>
                </a:solidFill>
                <a:latin typeface="Calibri"/>
              </a:rPr>
              <a:t>Systolic resistance is mapped along the tree so the intervention's effect can be localized rather than read only at the MPA</a:t>
            </a:r>
          </a:p>
          <a:p>
            <a:pPr>
              <a:spcAft>
                <a:spcPts val="600"/>
              </a:spcAft>
            </a:pPr>
            <a:r>
              <a:rPr sz="1000">
                <a:solidFill>
                  <a:srgbClr val="8C1515"/>
                </a:solidFill>
                <a:latin typeface="Calibri"/>
              </a:rPr>
              <a:t>• </a:t>
            </a:r>
            <a:r>
              <a:rPr sz="1000">
                <a:solidFill>
                  <a:srgbClr val="2E2D29"/>
                </a:solidFill>
                <a:latin typeface="Calibri"/>
              </a:rPr>
              <a:t>The pre- to post-operative change in branch resistance is the quantity that is transferred to the reduced-order model in Stage 5</a:t>
            </a:r>
          </a:p>
        </p:txBody>
      </p:sp>
      <p:sp>
        <p:nvSpPr>
          <p:cNvPr id="28" name="Rectangle 27"/>
          <p:cNvSpPr/>
          <p:nvPr/>
        </p:nvSpPr>
        <p:spPr>
          <a:xfrm>
            <a:off x="320040" y="4846320"/>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429768" y="4846320"/>
            <a:ext cx="8284464" cy="310896"/>
          </a:xfrm>
          <a:prstGeom prst="rect">
            <a:avLst/>
          </a:prstGeom>
          <a:noFill/>
        </p:spPr>
        <p:txBody>
          <a:bodyPr wrap="square" lIns="27432" tIns="0" rIns="27432" bIns="0" anchor="ctr">
            <a:spAutoFit/>
          </a:bodyPr>
          <a:lstStyle/>
          <a:p>
            <a:pPr algn="l"/>
            <a:r>
              <a:rPr sz="1000" b="1" i="0">
                <a:solidFill>
                  <a:srgbClr val="8C1515"/>
                </a:solidFill>
                <a:latin typeface="Calibri"/>
              </a:rPr>
              <a:t>Resistance maps are the bridge between the 3D result and the adaptation driver.</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a:xfrm>
            <a:off x="1362456" y="2971800"/>
            <a:ext cx="6400800" cy="658368"/>
          </a:xfrm>
        </p:spPr>
        <p:txBody>
          <a:bodyPr wrap="square" lIns="0" rIns="0"/>
          <a:lstStyle/>
          <a:p>
            <a:r>
              <a:rPr sz="1300">
                <a:solidFill>
                  <a:srgbClr val="FFFFFF"/>
                </a:solidFill>
                <a:latin typeface="Calibri"/>
              </a:rPr>
              <a:t>Integrating the structured trees to a new homeostatic state under the post-operative hemodynamic perturbation.</a:t>
            </a:r>
          </a:p>
        </p:txBody>
      </p:sp>
      <p:sp>
        <p:nvSpPr>
          <p:cNvPr id="3" name="Title 2"/>
          <p:cNvSpPr>
            <a:spLocks noGrp="1"/>
          </p:cNvSpPr>
          <p:nvPr>
            <p:ph type="ctrTitle"/>
          </p:nvPr>
        </p:nvSpPr>
        <p:spPr>
          <a:xfrm>
            <a:off x="1362456" y="1874519"/>
            <a:ext cx="7479792" cy="1005840"/>
          </a:xfrm>
        </p:spPr>
        <p:txBody>
          <a:bodyPr lIns="0" rIns="0" anchor="b"/>
          <a:lstStyle/>
          <a:p>
            <a:r>
              <a:rPr sz="3200">
                <a:solidFill>
                  <a:srgbClr val="FFFFFF"/>
                </a:solidFill>
                <a:latin typeface="Georgia"/>
              </a:rPr>
              <a:t>Microvascular Adaptation</a:t>
            </a:r>
          </a:p>
        </p:txBody>
      </p:sp>
      <p:sp>
        <p:nvSpPr>
          <p:cNvPr id="4" name="TextBox 3"/>
          <p:cNvSpPr txBox="1"/>
          <p:nvPr/>
        </p:nvSpPr>
        <p:spPr>
          <a:xfrm>
            <a:off x="1362456" y="1517904"/>
            <a:ext cx="7479792" cy="256032"/>
          </a:xfrm>
          <a:prstGeom prst="rect">
            <a:avLst/>
          </a:prstGeom>
          <a:noFill/>
        </p:spPr>
        <p:txBody>
          <a:bodyPr wrap="square" lIns="27432" tIns="0" rIns="27432" bIns="0" anchor="t">
            <a:spAutoFit/>
          </a:bodyPr>
          <a:lstStyle/>
          <a:p>
            <a:pPr algn="l"/>
            <a:r>
              <a:rPr sz="1050" b="1" i="0">
                <a:solidFill>
                  <a:srgbClr val="FFFFFF"/>
                </a:solidFill>
                <a:latin typeface="Calibri"/>
              </a:rPr>
              <a:t>STAGE 5 OF 7</a:t>
            </a:r>
          </a:p>
        </p:txBody>
      </p:sp>
      <p:sp>
        <p:nvSpPr>
          <p:cNvPr id="5" name="Rectangle 4"/>
          <p:cNvSpPr/>
          <p:nvPr/>
        </p:nvSpPr>
        <p:spPr>
          <a:xfrm>
            <a:off x="1362456" y="4041648"/>
            <a:ext cx="869986" cy="256032"/>
          </a:xfrm>
          <a:prstGeom prst="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362456" y="4041648"/>
            <a:ext cx="869986" cy="256032"/>
          </a:xfrm>
          <a:prstGeom prst="rect">
            <a:avLst/>
          </a:prstGeom>
          <a:noFill/>
        </p:spPr>
        <p:txBody>
          <a:bodyPr wrap="square" lIns="9144" tIns="0" rIns="9144" bIns="0" anchor="ctr">
            <a:spAutoFit/>
          </a:bodyPr>
          <a:lstStyle/>
          <a:p>
            <a:pPr algn="ctr"/>
            <a:r>
              <a:rPr sz="700" b="0">
                <a:solidFill>
                  <a:srgbClr val="FFFFFF"/>
                </a:solidFill>
                <a:latin typeface="Calibri"/>
              </a:rPr>
              <a:t>1  Inputs</a:t>
            </a:r>
          </a:p>
        </p:txBody>
      </p:sp>
      <p:sp>
        <p:nvSpPr>
          <p:cNvPr id="7" name="Rectangle 6"/>
          <p:cNvSpPr/>
          <p:nvPr/>
        </p:nvSpPr>
        <p:spPr>
          <a:xfrm>
            <a:off x="2287306" y="4041648"/>
            <a:ext cx="869986" cy="256032"/>
          </a:xfrm>
          <a:prstGeom prst="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287306" y="4041648"/>
            <a:ext cx="869986" cy="256032"/>
          </a:xfrm>
          <a:prstGeom prst="rect">
            <a:avLst/>
          </a:prstGeom>
          <a:noFill/>
        </p:spPr>
        <p:txBody>
          <a:bodyPr wrap="square" lIns="9144" tIns="0" rIns="9144" bIns="0" anchor="ctr">
            <a:spAutoFit/>
          </a:bodyPr>
          <a:lstStyle/>
          <a:p>
            <a:pPr algn="ctr"/>
            <a:r>
              <a:rPr sz="700" b="0">
                <a:solidFill>
                  <a:srgbClr val="FFFFFF"/>
                </a:solidFill>
                <a:latin typeface="Calibri"/>
              </a:rPr>
              <a:t>2  BC Tuning</a:t>
            </a:r>
          </a:p>
        </p:txBody>
      </p:sp>
      <p:sp>
        <p:nvSpPr>
          <p:cNvPr id="9" name="Rectangle 8"/>
          <p:cNvSpPr/>
          <p:nvPr/>
        </p:nvSpPr>
        <p:spPr>
          <a:xfrm>
            <a:off x="3212156" y="4041648"/>
            <a:ext cx="869986" cy="256032"/>
          </a:xfrm>
          <a:prstGeom prst="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212156" y="4041648"/>
            <a:ext cx="869986" cy="256032"/>
          </a:xfrm>
          <a:prstGeom prst="rect">
            <a:avLst/>
          </a:prstGeom>
          <a:noFill/>
        </p:spPr>
        <p:txBody>
          <a:bodyPr wrap="square" lIns="9144" tIns="0" rIns="9144" bIns="0" anchor="ctr">
            <a:spAutoFit/>
          </a:bodyPr>
          <a:lstStyle/>
          <a:p>
            <a:pPr algn="ctr"/>
            <a:r>
              <a:rPr sz="700" b="0">
                <a:solidFill>
                  <a:srgbClr val="FFFFFF"/>
                </a:solidFill>
                <a:latin typeface="Calibri"/>
              </a:rPr>
              <a:t>3  Pre-op Sim</a:t>
            </a:r>
          </a:p>
        </p:txBody>
      </p:sp>
      <p:sp>
        <p:nvSpPr>
          <p:cNvPr id="11" name="Rectangle 10"/>
          <p:cNvSpPr/>
          <p:nvPr/>
        </p:nvSpPr>
        <p:spPr>
          <a:xfrm>
            <a:off x="4137006" y="4041648"/>
            <a:ext cx="869986" cy="256032"/>
          </a:xfrm>
          <a:prstGeom prst="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137006" y="4041648"/>
            <a:ext cx="869986" cy="256032"/>
          </a:xfrm>
          <a:prstGeom prst="rect">
            <a:avLst/>
          </a:prstGeom>
          <a:noFill/>
        </p:spPr>
        <p:txBody>
          <a:bodyPr wrap="square" lIns="9144" tIns="0" rIns="9144" bIns="0" anchor="ctr">
            <a:spAutoFit/>
          </a:bodyPr>
          <a:lstStyle/>
          <a:p>
            <a:pPr algn="ctr"/>
            <a:r>
              <a:rPr sz="700" b="0">
                <a:solidFill>
                  <a:srgbClr val="FFFFFF"/>
                </a:solidFill>
                <a:latin typeface="Calibri"/>
              </a:rPr>
              <a:t>4  Post-op Sim</a:t>
            </a:r>
          </a:p>
        </p:txBody>
      </p:sp>
      <p:sp>
        <p:nvSpPr>
          <p:cNvPr id="13" name="Rectangle 12"/>
          <p:cNvSpPr/>
          <p:nvPr/>
        </p:nvSpPr>
        <p:spPr>
          <a:xfrm>
            <a:off x="5061857" y="4041648"/>
            <a:ext cx="869986" cy="2560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5061857" y="4041648"/>
            <a:ext cx="869986" cy="256032"/>
          </a:xfrm>
          <a:prstGeom prst="rect">
            <a:avLst/>
          </a:prstGeom>
          <a:noFill/>
        </p:spPr>
        <p:txBody>
          <a:bodyPr wrap="square" lIns="9144" tIns="0" rIns="9144" bIns="0" anchor="ctr">
            <a:spAutoFit/>
          </a:bodyPr>
          <a:lstStyle/>
          <a:p>
            <a:pPr algn="ctr"/>
            <a:r>
              <a:rPr sz="700" b="1">
                <a:solidFill>
                  <a:srgbClr val="007C92"/>
                </a:solidFill>
                <a:latin typeface="Calibri"/>
              </a:rPr>
              <a:t>5  Adaptation</a:t>
            </a:r>
          </a:p>
        </p:txBody>
      </p:sp>
      <p:sp>
        <p:nvSpPr>
          <p:cNvPr id="15" name="Rectangle 14"/>
          <p:cNvSpPr/>
          <p:nvPr/>
        </p:nvSpPr>
        <p:spPr>
          <a:xfrm>
            <a:off x="5986707" y="4041648"/>
            <a:ext cx="869986" cy="256032"/>
          </a:xfrm>
          <a:prstGeom prst="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86707" y="4041648"/>
            <a:ext cx="869986" cy="256032"/>
          </a:xfrm>
          <a:prstGeom prst="rect">
            <a:avLst/>
          </a:prstGeom>
          <a:noFill/>
        </p:spPr>
        <p:txBody>
          <a:bodyPr wrap="square" lIns="9144" tIns="0" rIns="9144" bIns="0" anchor="ctr">
            <a:spAutoFit/>
          </a:bodyPr>
          <a:lstStyle/>
          <a:p>
            <a:pPr algn="ctr"/>
            <a:r>
              <a:rPr sz="700" b="0">
                <a:solidFill>
                  <a:srgbClr val="FFFFFF"/>
                </a:solidFill>
                <a:latin typeface="Calibri"/>
              </a:rPr>
              <a:t>6  Adapted Sim</a:t>
            </a:r>
          </a:p>
        </p:txBody>
      </p:sp>
      <p:sp>
        <p:nvSpPr>
          <p:cNvPr id="17" name="Rectangle 16"/>
          <p:cNvSpPr/>
          <p:nvPr/>
        </p:nvSpPr>
        <p:spPr>
          <a:xfrm>
            <a:off x="6911557" y="4041648"/>
            <a:ext cx="869986" cy="256032"/>
          </a:xfrm>
          <a:prstGeom prst="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6911557" y="4041648"/>
            <a:ext cx="869986" cy="256032"/>
          </a:xfrm>
          <a:prstGeom prst="rect">
            <a:avLst/>
          </a:prstGeom>
          <a:noFill/>
        </p:spPr>
        <p:txBody>
          <a:bodyPr wrap="square" lIns="9144" tIns="0" rIns="9144" bIns="0" anchor="ctr">
            <a:spAutoFit/>
          </a:bodyPr>
          <a:lstStyle/>
          <a:p>
            <a:pPr algn="ctr"/>
            <a:r>
              <a:rPr sz="700" b="0">
                <a:solidFill>
                  <a:srgbClr val="FFFFFF"/>
                </a:solidFill>
                <a:latin typeface="Calibri"/>
              </a:rPr>
              <a:t>7  Metrics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sz="2200">
                <a:solidFill>
                  <a:srgbClr val="8C1515"/>
                </a:solidFill>
                <a:latin typeface="Georgia"/>
              </a:rPr>
              <a:t>The mechanobiological premise</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VALIDATED</a:t>
            </a:r>
          </a:p>
        </p:txBody>
      </p:sp>
      <p:sp>
        <p:nvSpPr>
          <p:cNvPr id="19" name="Rectangle 18"/>
          <p:cNvSpPr/>
          <p:nvPr/>
        </p:nvSpPr>
        <p:spPr>
          <a:xfrm>
            <a:off x="320040" y="1426464"/>
            <a:ext cx="1961388" cy="1078992"/>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411479" y="1536192"/>
            <a:ext cx="1778508" cy="237744"/>
          </a:xfrm>
          <a:prstGeom prst="rect">
            <a:avLst/>
          </a:prstGeom>
          <a:noFill/>
        </p:spPr>
        <p:txBody>
          <a:bodyPr wrap="square" lIns="27432" tIns="0" rIns="27432" bIns="0" anchor="t">
            <a:spAutoFit/>
          </a:bodyPr>
          <a:lstStyle/>
          <a:p>
            <a:pPr algn="l"/>
            <a:r>
              <a:rPr sz="1000" b="1" i="0">
                <a:solidFill>
                  <a:srgbClr val="8C1515"/>
                </a:solidFill>
                <a:latin typeface="Calibri"/>
              </a:rPr>
              <a:t>Stenosis relieved</a:t>
            </a:r>
          </a:p>
        </p:txBody>
      </p:sp>
      <p:sp>
        <p:nvSpPr>
          <p:cNvPr id="21" name="TextBox 20"/>
          <p:cNvSpPr txBox="1"/>
          <p:nvPr/>
        </p:nvSpPr>
        <p:spPr>
          <a:xfrm>
            <a:off x="411479" y="1810512"/>
            <a:ext cx="1778508" cy="621792"/>
          </a:xfrm>
          <a:prstGeom prst="rect">
            <a:avLst/>
          </a:prstGeom>
          <a:noFill/>
        </p:spPr>
        <p:txBody>
          <a:bodyPr wrap="square" lIns="27432" tIns="0" rIns="27432" bIns="0" anchor="t">
            <a:spAutoFit/>
          </a:bodyPr>
          <a:lstStyle/>
          <a:p>
            <a:pPr algn="l">
              <a:lnSpc>
                <a:spcPct val="112000"/>
              </a:lnSpc>
            </a:pPr>
            <a:r>
              <a:rPr sz="850" b="0" i="0">
                <a:solidFill>
                  <a:srgbClr val="2E2D29"/>
                </a:solidFill>
                <a:latin typeface="Calibri"/>
              </a:rPr>
              <a:t>Flow to the downstream bed increases</a:t>
            </a:r>
          </a:p>
        </p:txBody>
      </p:sp>
      <p:sp>
        <p:nvSpPr>
          <p:cNvPr id="22" name="Right Arrow 21"/>
          <p:cNvSpPr/>
          <p:nvPr/>
        </p:nvSpPr>
        <p:spPr>
          <a:xfrm>
            <a:off x="2308860" y="1883664"/>
            <a:ext cx="164592" cy="164592"/>
          </a:xfrm>
          <a:prstGeom prst="rightArrow">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2500884" y="1426464"/>
            <a:ext cx="1961388" cy="1078992"/>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2592324" y="1536192"/>
            <a:ext cx="1778508" cy="237744"/>
          </a:xfrm>
          <a:prstGeom prst="rect">
            <a:avLst/>
          </a:prstGeom>
          <a:noFill/>
        </p:spPr>
        <p:txBody>
          <a:bodyPr wrap="square" lIns="27432" tIns="0" rIns="27432" bIns="0" anchor="t">
            <a:spAutoFit/>
          </a:bodyPr>
          <a:lstStyle/>
          <a:p>
            <a:pPr algn="l"/>
            <a:r>
              <a:rPr sz="1000" b="1" i="0">
                <a:solidFill>
                  <a:srgbClr val="8C1515"/>
                </a:solidFill>
                <a:latin typeface="Calibri"/>
              </a:rPr>
              <a:t>Shear rises</a:t>
            </a:r>
          </a:p>
        </p:txBody>
      </p:sp>
      <p:sp>
        <p:nvSpPr>
          <p:cNvPr id="25" name="TextBox 24"/>
          <p:cNvSpPr txBox="1"/>
          <p:nvPr/>
        </p:nvSpPr>
        <p:spPr>
          <a:xfrm>
            <a:off x="2592324" y="1810512"/>
            <a:ext cx="1778508" cy="621792"/>
          </a:xfrm>
          <a:prstGeom prst="rect">
            <a:avLst/>
          </a:prstGeom>
          <a:noFill/>
        </p:spPr>
        <p:txBody>
          <a:bodyPr wrap="square" lIns="27432" tIns="0" rIns="27432" bIns="0" anchor="t">
            <a:spAutoFit/>
          </a:bodyPr>
          <a:lstStyle/>
          <a:p>
            <a:pPr algn="l">
              <a:lnSpc>
                <a:spcPct val="112000"/>
              </a:lnSpc>
            </a:pPr>
            <a:r>
              <a:rPr sz="850" b="0" i="0">
                <a:solidFill>
                  <a:srgbClr val="2E2D29"/>
                </a:solidFill>
                <a:latin typeface="Calibri"/>
              </a:rPr>
              <a:t>τ = 4μQ / πr³ exceeds its homeostatic value</a:t>
            </a:r>
          </a:p>
        </p:txBody>
      </p:sp>
      <p:sp>
        <p:nvSpPr>
          <p:cNvPr id="26" name="Right Arrow 25"/>
          <p:cNvSpPr/>
          <p:nvPr/>
        </p:nvSpPr>
        <p:spPr>
          <a:xfrm>
            <a:off x="4489704" y="1883664"/>
            <a:ext cx="164592" cy="164592"/>
          </a:xfrm>
          <a:prstGeom prst="rightArrow">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4681727" y="1426464"/>
            <a:ext cx="1961388" cy="1078992"/>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4773167" y="1536192"/>
            <a:ext cx="1778508" cy="237744"/>
          </a:xfrm>
          <a:prstGeom prst="rect">
            <a:avLst/>
          </a:prstGeom>
          <a:noFill/>
        </p:spPr>
        <p:txBody>
          <a:bodyPr wrap="square" lIns="27432" tIns="0" rIns="27432" bIns="0" anchor="t">
            <a:spAutoFit/>
          </a:bodyPr>
          <a:lstStyle/>
          <a:p>
            <a:pPr algn="l"/>
            <a:r>
              <a:rPr sz="1000" b="1" i="0">
                <a:solidFill>
                  <a:srgbClr val="8C1515"/>
                </a:solidFill>
                <a:latin typeface="Calibri"/>
              </a:rPr>
              <a:t>Vessels dilate</a:t>
            </a:r>
          </a:p>
        </p:txBody>
      </p:sp>
      <p:sp>
        <p:nvSpPr>
          <p:cNvPr id="29" name="TextBox 28"/>
          <p:cNvSpPr txBox="1"/>
          <p:nvPr/>
        </p:nvSpPr>
        <p:spPr>
          <a:xfrm>
            <a:off x="4773167" y="1810512"/>
            <a:ext cx="1778508" cy="621792"/>
          </a:xfrm>
          <a:prstGeom prst="rect">
            <a:avLst/>
          </a:prstGeom>
          <a:noFill/>
        </p:spPr>
        <p:txBody>
          <a:bodyPr wrap="square" lIns="27432" tIns="0" rIns="27432" bIns="0" anchor="t">
            <a:spAutoFit/>
          </a:bodyPr>
          <a:lstStyle/>
          <a:p>
            <a:pPr algn="l">
              <a:lnSpc>
                <a:spcPct val="112000"/>
              </a:lnSpc>
            </a:pPr>
            <a:r>
              <a:rPr sz="850" b="0" i="0">
                <a:solidFill>
                  <a:srgbClr val="2E2D29"/>
                </a:solidFill>
                <a:latin typeface="Calibri"/>
              </a:rPr>
              <a:t>Radius increases to restore basal shear</a:t>
            </a:r>
          </a:p>
        </p:txBody>
      </p:sp>
      <p:sp>
        <p:nvSpPr>
          <p:cNvPr id="30" name="Right Arrow 29"/>
          <p:cNvSpPr/>
          <p:nvPr/>
        </p:nvSpPr>
        <p:spPr>
          <a:xfrm>
            <a:off x="6670547" y="1883664"/>
            <a:ext cx="164592" cy="164592"/>
          </a:xfrm>
          <a:prstGeom prst="rightArrow">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862571" y="1426464"/>
            <a:ext cx="1961388" cy="1078992"/>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6954011" y="1536192"/>
            <a:ext cx="1778508" cy="237744"/>
          </a:xfrm>
          <a:prstGeom prst="rect">
            <a:avLst/>
          </a:prstGeom>
          <a:noFill/>
        </p:spPr>
        <p:txBody>
          <a:bodyPr wrap="square" lIns="27432" tIns="0" rIns="27432" bIns="0" anchor="t">
            <a:spAutoFit/>
          </a:bodyPr>
          <a:lstStyle/>
          <a:p>
            <a:pPr algn="l"/>
            <a:r>
              <a:rPr sz="1000" b="1" i="0">
                <a:solidFill>
                  <a:srgbClr val="8C1515"/>
                </a:solidFill>
                <a:latin typeface="Calibri"/>
              </a:rPr>
              <a:t>Resistance falls</a:t>
            </a:r>
          </a:p>
        </p:txBody>
      </p:sp>
      <p:sp>
        <p:nvSpPr>
          <p:cNvPr id="33" name="TextBox 32"/>
          <p:cNvSpPr txBox="1"/>
          <p:nvPr/>
        </p:nvSpPr>
        <p:spPr>
          <a:xfrm>
            <a:off x="6954011" y="1810512"/>
            <a:ext cx="1778508" cy="621792"/>
          </a:xfrm>
          <a:prstGeom prst="rect">
            <a:avLst/>
          </a:prstGeom>
          <a:noFill/>
        </p:spPr>
        <p:txBody>
          <a:bodyPr wrap="square" lIns="27432" tIns="0" rIns="27432" bIns="0" anchor="t">
            <a:spAutoFit/>
          </a:bodyPr>
          <a:lstStyle/>
          <a:p>
            <a:pPr algn="l">
              <a:lnSpc>
                <a:spcPct val="112000"/>
              </a:lnSpc>
            </a:pPr>
            <a:r>
              <a:rPr sz="850" b="0" i="0">
                <a:solidFill>
                  <a:srgbClr val="2E2D29"/>
                </a:solidFill>
                <a:latin typeface="Calibri"/>
              </a:rPr>
              <a:t>Flow split shifts further toward the treated side</a:t>
            </a:r>
          </a:p>
        </p:txBody>
      </p:sp>
      <p:sp>
        <p:nvSpPr>
          <p:cNvPr id="34" name="TextBox 33"/>
          <p:cNvSpPr txBox="1"/>
          <p:nvPr/>
        </p:nvSpPr>
        <p:spPr>
          <a:xfrm>
            <a:off x="320040" y="2688336"/>
            <a:ext cx="8503920" cy="615553"/>
          </a:xfrm>
          <a:prstGeom prst="rect">
            <a:avLst/>
          </a:prstGeom>
          <a:noFill/>
        </p:spPr>
        <p:txBody>
          <a:bodyPr wrap="square" lIns="27432" tIns="0" rIns="27432" bIns="0">
            <a:spAutoFit/>
          </a:bodyPr>
          <a:lstStyle/>
          <a:p>
            <a:pPr>
              <a:spcAft>
                <a:spcPts val="600"/>
              </a:spcAft>
            </a:pPr>
            <a:r>
              <a:rPr sz="1000" dirty="0">
                <a:solidFill>
                  <a:srgbClr val="8C1515"/>
                </a:solidFill>
                <a:latin typeface="Calibri"/>
              </a:rPr>
              <a:t>• </a:t>
            </a:r>
            <a:r>
              <a:rPr sz="1000" dirty="0">
                <a:solidFill>
                  <a:srgbClr val="2E2D29"/>
                </a:solidFill>
                <a:latin typeface="Calibri"/>
              </a:rPr>
              <a:t>Wall stress provides a second stimulus: </a:t>
            </a:r>
            <a:r>
              <a:rPr sz="1000" dirty="0" err="1">
                <a:solidFill>
                  <a:srgbClr val="2E2D29"/>
                </a:solidFill>
                <a:latin typeface="Calibri"/>
              </a:rPr>
              <a:t>σ</a:t>
            </a:r>
            <a:r>
              <a:rPr sz="1000" dirty="0">
                <a:solidFill>
                  <a:srgbClr val="2E2D29"/>
                </a:solidFill>
                <a:latin typeface="Calibri"/>
              </a:rPr>
              <a:t> = P r / h, which drives wall thickness as well as radius</a:t>
            </a:r>
          </a:p>
          <a:p>
            <a:pPr>
              <a:spcAft>
                <a:spcPts val="600"/>
              </a:spcAft>
            </a:pPr>
            <a:r>
              <a:rPr sz="1000" dirty="0">
                <a:solidFill>
                  <a:srgbClr val="8C1515"/>
                </a:solidFill>
                <a:latin typeface="Calibri"/>
              </a:rPr>
              <a:t>• </a:t>
            </a:r>
            <a:r>
              <a:rPr sz="1000" dirty="0">
                <a:solidFill>
                  <a:srgbClr val="2E2D29"/>
                </a:solidFill>
                <a:latin typeface="Calibri"/>
              </a:rPr>
              <a:t>Adapting both r and h gives a system with a stable fixed point, which pure shear-driven adaptation lacks</a:t>
            </a:r>
          </a:p>
          <a:p>
            <a:pPr>
              <a:spcAft>
                <a:spcPts val="600"/>
              </a:spcAft>
            </a:pPr>
            <a:r>
              <a:rPr sz="1000" dirty="0">
                <a:solidFill>
                  <a:srgbClr val="8C1515"/>
                </a:solidFill>
                <a:latin typeface="Calibri"/>
              </a:rPr>
              <a:t>• </a:t>
            </a:r>
            <a:r>
              <a:rPr sz="1000" dirty="0">
                <a:solidFill>
                  <a:srgbClr val="2E2D29"/>
                </a:solidFill>
                <a:latin typeface="Calibri"/>
              </a:rPr>
              <a:t>Prior work </a:t>
            </a:r>
            <a:r>
              <a:rPr lang="en-US" sz="1000" dirty="0">
                <a:solidFill>
                  <a:srgbClr val="2E2D29"/>
                </a:solidFill>
                <a:latin typeface="Calibri"/>
              </a:rPr>
              <a:t>(Yang et al. 2016) </a:t>
            </a:r>
            <a:r>
              <a:rPr sz="1000" dirty="0">
                <a:solidFill>
                  <a:srgbClr val="2E2D29"/>
                </a:solidFill>
                <a:latin typeface="Calibri"/>
              </a:rPr>
              <a:t>showed adaptive boundary conditions reduce error against lung perfusion data relative to fixed BCs</a:t>
            </a:r>
          </a:p>
        </p:txBody>
      </p:sp>
      <p:pic>
        <p:nvPicPr>
          <p:cNvPr id="35" name="Picture 34" descr="multiscale_body.png"/>
          <p:cNvPicPr>
            <a:picLocks noChangeAspect="1"/>
          </p:cNvPicPr>
          <p:nvPr/>
        </p:nvPicPr>
        <p:blipFill>
          <a:blip r:embed="rId2"/>
          <a:stretch>
            <a:fillRect/>
          </a:stretch>
        </p:blipFill>
        <p:spPr>
          <a:xfrm>
            <a:off x="320040" y="3487282"/>
            <a:ext cx="2485240" cy="1739668"/>
          </a:xfrm>
          <a:prstGeom prst="rect">
            <a:avLst/>
          </a:prstGeom>
        </p:spPr>
      </p:pic>
      <p:sp>
        <p:nvSpPr>
          <p:cNvPr id="36" name="TextBox 35"/>
          <p:cNvSpPr txBox="1"/>
          <p:nvPr/>
        </p:nvSpPr>
        <p:spPr>
          <a:xfrm>
            <a:off x="2377440" y="3877056"/>
            <a:ext cx="3657600" cy="960120"/>
          </a:xfrm>
          <a:prstGeom prst="rect">
            <a:avLst/>
          </a:prstGeom>
          <a:noFill/>
        </p:spPr>
        <p:txBody>
          <a:bodyPr wrap="square" lIns="27432" tIns="0" rIns="27432" bIns="0" anchor="ctr">
            <a:spAutoFit/>
          </a:bodyPr>
          <a:lstStyle/>
          <a:p>
            <a:pPr algn="l"/>
            <a:r>
              <a:rPr sz="1100" b="1" i="0">
                <a:solidFill>
                  <a:srgbClr val="8C1515"/>
                </a:solidFill>
                <a:latin typeface="Calibri"/>
              </a:rPr>
              <a:t>The adapted state, not the acute state, is what the post-operative catheter and perfusion study measure.</a:t>
            </a:r>
          </a:p>
        </p:txBody>
      </p:sp>
      <p:sp>
        <p:nvSpPr>
          <p:cNvPr id="37" name="TextBox 36"/>
          <p:cNvSpPr txBox="1"/>
          <p:nvPr/>
        </p:nvSpPr>
        <p:spPr>
          <a:xfrm>
            <a:off x="2011680" y="5376672"/>
            <a:ext cx="6812280" cy="201168"/>
          </a:xfrm>
          <a:prstGeom prst="rect">
            <a:avLst/>
          </a:prstGeom>
          <a:noFill/>
        </p:spPr>
        <p:txBody>
          <a:bodyPr wrap="square" lIns="27432" tIns="0" rIns="27432" bIns="0" anchor="t">
            <a:spAutoFit/>
          </a:bodyPr>
          <a:lstStyle/>
          <a:p>
            <a:pPr algn="l"/>
            <a:r>
              <a:rPr sz="700" b="0" i="1">
                <a:solidFill>
                  <a:srgbClr val="6B6965"/>
                </a:solidFill>
                <a:latin typeface="Calibri"/>
              </a:rPr>
              <a:t>Kamiya et al., AJP Heart (1980); Pries et al., AJP Heart (1992); Yang et al., Biomech Model Mechanobiol (2016).</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sz="2200">
                <a:solidFill>
                  <a:srgbClr val="8C1515"/>
                </a:solidFill>
                <a:latin typeface="Georgia"/>
              </a:rPr>
              <a:t>CWSS-IMS: governing equations</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IN DEVELOPMENT</a:t>
            </a:r>
          </a:p>
        </p:txBody>
      </p:sp>
      <p:sp>
        <p:nvSpPr>
          <p:cNvPr id="19" name="Rectangle 18"/>
          <p:cNvSpPr/>
          <p:nvPr/>
        </p:nvSpPr>
        <p:spPr>
          <a:xfrm>
            <a:off x="320040" y="1389888"/>
            <a:ext cx="8503920" cy="1170432"/>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502920" y="1499616"/>
            <a:ext cx="8138160" cy="310896"/>
          </a:xfrm>
          <a:prstGeom prst="rect">
            <a:avLst/>
          </a:prstGeom>
          <a:noFill/>
        </p:spPr>
        <p:txBody>
          <a:bodyPr wrap="square" lIns="27432" tIns="0" rIns="27432" bIns="0" anchor="t">
            <a:spAutoFit/>
          </a:bodyPr>
          <a:lstStyle/>
          <a:p>
            <a:pPr algn="l"/>
            <a:r>
              <a:rPr sz="1300" b="1" i="0" dirty="0">
                <a:solidFill>
                  <a:srgbClr val="8C1515"/>
                </a:solidFill>
                <a:latin typeface="Consolas"/>
              </a:rPr>
              <a:t>d ln </a:t>
            </a:r>
            <a:r>
              <a:rPr sz="1300" b="1" i="0" dirty="0" err="1">
                <a:solidFill>
                  <a:srgbClr val="8C1515"/>
                </a:solidFill>
                <a:latin typeface="Consolas"/>
              </a:rPr>
              <a:t>r_i</a:t>
            </a:r>
            <a:r>
              <a:rPr sz="1300" b="1" i="0" dirty="0">
                <a:solidFill>
                  <a:srgbClr val="8C1515"/>
                </a:solidFill>
                <a:latin typeface="Consolas"/>
              </a:rPr>
              <a:t> / dt  =  </a:t>
            </a:r>
            <a:r>
              <a:rPr sz="1300" b="1" i="0" dirty="0" err="1">
                <a:solidFill>
                  <a:srgbClr val="8C1515"/>
                </a:solidFill>
                <a:latin typeface="Consolas"/>
              </a:rPr>
              <a:t>k_τ,r</a:t>
            </a:r>
            <a:r>
              <a:rPr sz="1300" b="1" i="0" dirty="0">
                <a:solidFill>
                  <a:srgbClr val="8C1515"/>
                </a:solidFill>
                <a:latin typeface="Consolas"/>
              </a:rPr>
              <a:t> · ln( </a:t>
            </a:r>
            <a:r>
              <a:rPr sz="1300" b="1" i="0" dirty="0" err="1">
                <a:solidFill>
                  <a:srgbClr val="8C1515"/>
                </a:solidFill>
                <a:latin typeface="Consolas"/>
              </a:rPr>
              <a:t>τ_i</a:t>
            </a:r>
            <a:r>
              <a:rPr sz="1300" b="1" i="0" dirty="0">
                <a:solidFill>
                  <a:srgbClr val="8C1515"/>
                </a:solidFill>
                <a:latin typeface="Consolas"/>
              </a:rPr>
              <a:t> / τ_i,0 )  +  </a:t>
            </a:r>
            <a:r>
              <a:rPr sz="1300" b="1" i="0" dirty="0" err="1">
                <a:solidFill>
                  <a:srgbClr val="8C1515"/>
                </a:solidFill>
                <a:latin typeface="Consolas"/>
              </a:rPr>
              <a:t>k_σ,r</a:t>
            </a:r>
            <a:r>
              <a:rPr sz="1300" b="1" i="0" dirty="0">
                <a:solidFill>
                  <a:srgbClr val="8C1515"/>
                </a:solidFill>
                <a:latin typeface="Consolas"/>
              </a:rPr>
              <a:t> · ln( </a:t>
            </a:r>
            <a:r>
              <a:rPr sz="1300" b="1" i="0" dirty="0" err="1">
                <a:solidFill>
                  <a:srgbClr val="8C1515"/>
                </a:solidFill>
                <a:latin typeface="Consolas"/>
              </a:rPr>
              <a:t>σ_i</a:t>
            </a:r>
            <a:r>
              <a:rPr sz="1300" b="1" i="0" dirty="0">
                <a:solidFill>
                  <a:srgbClr val="8C1515"/>
                </a:solidFill>
                <a:latin typeface="Consolas"/>
              </a:rPr>
              <a:t> / σ_i,0 )</a:t>
            </a:r>
          </a:p>
        </p:txBody>
      </p:sp>
      <p:sp>
        <p:nvSpPr>
          <p:cNvPr id="21" name="TextBox 20"/>
          <p:cNvSpPr txBox="1"/>
          <p:nvPr/>
        </p:nvSpPr>
        <p:spPr>
          <a:xfrm>
            <a:off x="502920" y="1865376"/>
            <a:ext cx="8138160" cy="310896"/>
          </a:xfrm>
          <a:prstGeom prst="rect">
            <a:avLst/>
          </a:prstGeom>
          <a:noFill/>
        </p:spPr>
        <p:txBody>
          <a:bodyPr wrap="square" lIns="27432" tIns="0" rIns="27432" bIns="0" anchor="t">
            <a:spAutoFit/>
          </a:bodyPr>
          <a:lstStyle/>
          <a:p>
            <a:pPr algn="l"/>
            <a:r>
              <a:rPr sz="1300" b="1" i="0" dirty="0">
                <a:solidFill>
                  <a:srgbClr val="8C1515"/>
                </a:solidFill>
                <a:latin typeface="Consolas"/>
              </a:rPr>
              <a:t>d ln </a:t>
            </a:r>
            <a:r>
              <a:rPr sz="1300" b="1" i="0" dirty="0" err="1">
                <a:solidFill>
                  <a:srgbClr val="8C1515"/>
                </a:solidFill>
                <a:latin typeface="Consolas"/>
              </a:rPr>
              <a:t>h_i</a:t>
            </a:r>
            <a:r>
              <a:rPr sz="1300" b="1" i="0" dirty="0">
                <a:solidFill>
                  <a:srgbClr val="8C1515"/>
                </a:solidFill>
                <a:latin typeface="Consolas"/>
              </a:rPr>
              <a:t> / dt  =  </a:t>
            </a:r>
            <a:r>
              <a:rPr sz="1300" b="1" i="0" dirty="0" err="1">
                <a:solidFill>
                  <a:srgbClr val="8C1515"/>
                </a:solidFill>
                <a:latin typeface="Consolas"/>
              </a:rPr>
              <a:t>k_τ,h</a:t>
            </a:r>
            <a:r>
              <a:rPr sz="1300" b="1" i="0" dirty="0">
                <a:solidFill>
                  <a:srgbClr val="8C1515"/>
                </a:solidFill>
                <a:latin typeface="Consolas"/>
              </a:rPr>
              <a:t> · ln( </a:t>
            </a:r>
            <a:r>
              <a:rPr sz="1300" b="1" i="0" dirty="0" err="1">
                <a:solidFill>
                  <a:srgbClr val="8C1515"/>
                </a:solidFill>
                <a:latin typeface="Consolas"/>
              </a:rPr>
              <a:t>τ_i</a:t>
            </a:r>
            <a:r>
              <a:rPr sz="1300" b="1" i="0" dirty="0">
                <a:solidFill>
                  <a:srgbClr val="8C1515"/>
                </a:solidFill>
                <a:latin typeface="Consolas"/>
              </a:rPr>
              <a:t> / τ_i,0 )  +  </a:t>
            </a:r>
            <a:r>
              <a:rPr sz="1300" b="1" i="0" dirty="0" err="1">
                <a:solidFill>
                  <a:srgbClr val="8C1515"/>
                </a:solidFill>
                <a:latin typeface="Consolas"/>
              </a:rPr>
              <a:t>k_σ,h</a:t>
            </a:r>
            <a:r>
              <a:rPr sz="1300" b="1" i="0" dirty="0">
                <a:solidFill>
                  <a:srgbClr val="8C1515"/>
                </a:solidFill>
                <a:latin typeface="Consolas"/>
              </a:rPr>
              <a:t> · ln( </a:t>
            </a:r>
            <a:r>
              <a:rPr sz="1300" b="1" i="0" dirty="0" err="1">
                <a:solidFill>
                  <a:srgbClr val="8C1515"/>
                </a:solidFill>
                <a:latin typeface="Consolas"/>
              </a:rPr>
              <a:t>σ_i</a:t>
            </a:r>
            <a:r>
              <a:rPr sz="1300" b="1" i="0" dirty="0">
                <a:solidFill>
                  <a:srgbClr val="8C1515"/>
                </a:solidFill>
                <a:latin typeface="Consolas"/>
              </a:rPr>
              <a:t> / σ_i,0 )</a:t>
            </a:r>
          </a:p>
        </p:txBody>
      </p:sp>
      <p:sp>
        <p:nvSpPr>
          <p:cNvPr id="22" name="TextBox 21"/>
          <p:cNvSpPr txBox="1"/>
          <p:nvPr/>
        </p:nvSpPr>
        <p:spPr>
          <a:xfrm>
            <a:off x="502920" y="2249424"/>
            <a:ext cx="8138160" cy="256032"/>
          </a:xfrm>
          <a:prstGeom prst="rect">
            <a:avLst/>
          </a:prstGeom>
          <a:noFill/>
        </p:spPr>
        <p:txBody>
          <a:bodyPr wrap="square" lIns="27432" tIns="0" rIns="27432" bIns="0" anchor="t">
            <a:spAutoFit/>
          </a:bodyPr>
          <a:lstStyle/>
          <a:p>
            <a:pPr algn="l"/>
            <a:r>
              <a:rPr sz="1100" b="0" i="0">
                <a:solidFill>
                  <a:srgbClr val="2E2D29"/>
                </a:solidFill>
                <a:latin typeface="Consolas"/>
              </a:rPr>
              <a:t>τ_i = 4 μ Q_i / ( π r_i³ )          σ_i = P_i r_i / h_i</a:t>
            </a:r>
          </a:p>
        </p:txBody>
      </p:sp>
      <p:sp>
        <p:nvSpPr>
          <p:cNvPr id="23" name="Rectangle 22"/>
          <p:cNvSpPr/>
          <p:nvPr/>
        </p:nvSpPr>
        <p:spPr>
          <a:xfrm>
            <a:off x="320040" y="2706624"/>
            <a:ext cx="4160520" cy="1426464"/>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448056" y="2807208"/>
            <a:ext cx="3904487" cy="219456"/>
          </a:xfrm>
          <a:prstGeom prst="rect">
            <a:avLst/>
          </a:prstGeom>
          <a:noFill/>
        </p:spPr>
        <p:txBody>
          <a:bodyPr wrap="square" lIns="27432" tIns="0" rIns="27432" bIns="0" anchor="t">
            <a:spAutoFit/>
          </a:bodyPr>
          <a:lstStyle/>
          <a:p>
            <a:pPr algn="l"/>
            <a:r>
              <a:rPr sz="1100" b="1" i="0">
                <a:solidFill>
                  <a:srgbClr val="8C1515"/>
                </a:solidFill>
                <a:latin typeface="Calibri"/>
              </a:rPr>
              <a:t>State and stimuli</a:t>
            </a:r>
          </a:p>
        </p:txBody>
      </p:sp>
      <p:sp>
        <p:nvSpPr>
          <p:cNvPr id="25" name="TextBox 24"/>
          <p:cNvSpPr txBox="1"/>
          <p:nvPr/>
        </p:nvSpPr>
        <p:spPr>
          <a:xfrm>
            <a:off x="448056" y="3081527"/>
            <a:ext cx="3904487" cy="1014984"/>
          </a:xfrm>
          <a:prstGeom prst="rect">
            <a:avLst/>
          </a:prstGeom>
          <a:noFill/>
        </p:spPr>
        <p:txBody>
          <a:bodyPr wrap="square" lIns="27432" tIns="0" rIns="27432" bIns="0">
            <a:spAutoFit/>
          </a:bodyPr>
          <a:lstStyle/>
          <a:p>
            <a:pPr>
              <a:spcAft>
                <a:spcPts val="350"/>
              </a:spcAft>
            </a:pPr>
            <a:r>
              <a:rPr sz="900">
                <a:solidFill>
                  <a:srgbClr val="8C1515"/>
                </a:solidFill>
                <a:latin typeface="Calibri"/>
              </a:rPr>
              <a:t>• </a:t>
            </a:r>
            <a:r>
              <a:rPr sz="900">
                <a:solidFill>
                  <a:srgbClr val="2E2D29"/>
                </a:solidFill>
                <a:latin typeface="Calibri"/>
              </a:rPr>
              <a:t>Each vessel carries a radius and a wall thickness, evolved in log-state form</a:t>
            </a:r>
          </a:p>
          <a:p>
            <a:pPr>
              <a:spcAft>
                <a:spcPts val="350"/>
              </a:spcAft>
            </a:pPr>
            <a:r>
              <a:rPr sz="900">
                <a:solidFill>
                  <a:srgbClr val="8C1515"/>
                </a:solidFill>
                <a:latin typeface="Calibri"/>
              </a:rPr>
              <a:t>• </a:t>
            </a:r>
            <a:r>
              <a:rPr sz="900">
                <a:solidFill>
                  <a:srgbClr val="2E2D29"/>
                </a:solidFill>
                <a:latin typeface="Calibri"/>
              </a:rPr>
              <a:t>Shear and intramural stress are each referenced to their pre-operative homeostatic value</a:t>
            </a:r>
          </a:p>
          <a:p>
            <a:pPr>
              <a:spcAft>
                <a:spcPts val="350"/>
              </a:spcAft>
            </a:pPr>
            <a:r>
              <a:rPr sz="900">
                <a:solidFill>
                  <a:srgbClr val="8C1515"/>
                </a:solidFill>
                <a:latin typeface="Calibri"/>
              </a:rPr>
              <a:t>• </a:t>
            </a:r>
            <a:r>
              <a:rPr sz="900">
                <a:solidFill>
                  <a:srgbClr val="2E2D29"/>
                </a:solidFill>
                <a:latin typeface="Calibri"/>
              </a:rPr>
              <a:t>Four gains: k_τ,r , k_σ,r , k_τ,h , k_σ,h</a:t>
            </a:r>
          </a:p>
        </p:txBody>
      </p:sp>
      <p:sp>
        <p:nvSpPr>
          <p:cNvPr id="26" name="Rectangle 25"/>
          <p:cNvSpPr/>
          <p:nvPr/>
        </p:nvSpPr>
        <p:spPr>
          <a:xfrm>
            <a:off x="4663440" y="2706624"/>
            <a:ext cx="4160520" cy="1426464"/>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4791455" y="2807208"/>
            <a:ext cx="3904487" cy="219456"/>
          </a:xfrm>
          <a:prstGeom prst="rect">
            <a:avLst/>
          </a:prstGeom>
          <a:noFill/>
        </p:spPr>
        <p:txBody>
          <a:bodyPr wrap="square" lIns="27432" tIns="0" rIns="27432" bIns="0" anchor="t">
            <a:spAutoFit/>
          </a:bodyPr>
          <a:lstStyle/>
          <a:p>
            <a:pPr algn="l"/>
            <a:r>
              <a:rPr sz="1100" b="1" i="0">
                <a:solidFill>
                  <a:srgbClr val="E98300"/>
                </a:solidFill>
                <a:latin typeface="Calibri"/>
              </a:rPr>
              <a:t>Comparison arm</a:t>
            </a:r>
          </a:p>
        </p:txBody>
      </p:sp>
      <p:sp>
        <p:nvSpPr>
          <p:cNvPr id="28" name="TextBox 27"/>
          <p:cNvSpPr txBox="1"/>
          <p:nvPr/>
        </p:nvSpPr>
        <p:spPr>
          <a:xfrm>
            <a:off x="4791455" y="3081527"/>
            <a:ext cx="3904487" cy="1014984"/>
          </a:xfrm>
          <a:prstGeom prst="rect">
            <a:avLst/>
          </a:prstGeom>
          <a:noFill/>
        </p:spPr>
        <p:txBody>
          <a:bodyPr wrap="square" lIns="27432" tIns="0" rIns="27432" bIns="0">
            <a:spAutoFit/>
          </a:bodyPr>
          <a:lstStyle/>
          <a:p>
            <a:pPr>
              <a:spcAft>
                <a:spcPts val="350"/>
              </a:spcAft>
            </a:pPr>
            <a:r>
              <a:rPr sz="900">
                <a:solidFill>
                  <a:srgbClr val="E98300"/>
                </a:solidFill>
                <a:latin typeface="Calibri"/>
              </a:rPr>
              <a:t>• </a:t>
            </a:r>
            <a:r>
              <a:rPr sz="900">
                <a:solidFill>
                  <a:srgbClr val="2E2D29"/>
                </a:solidFill>
                <a:latin typeface="Calibri"/>
              </a:rPr>
              <a:t>CWSS alone, with the terminal resistance swept across a range</a:t>
            </a:r>
          </a:p>
          <a:p>
            <a:pPr>
              <a:spcAft>
                <a:spcPts val="350"/>
              </a:spcAft>
            </a:pPr>
            <a:r>
              <a:rPr sz="900">
                <a:solidFill>
                  <a:srgbClr val="E98300"/>
                </a:solidFill>
                <a:latin typeface="Calibri"/>
              </a:rPr>
              <a:t>• </a:t>
            </a:r>
            <a:r>
              <a:rPr sz="900">
                <a:solidFill>
                  <a:srgbClr val="2E2D29"/>
                </a:solidFill>
                <a:latin typeface="Calibri"/>
              </a:rPr>
              <a:t>Isolates what the intramural stress term contributes</a:t>
            </a:r>
          </a:p>
          <a:p>
            <a:pPr>
              <a:spcAft>
                <a:spcPts val="350"/>
              </a:spcAft>
            </a:pPr>
            <a:r>
              <a:rPr sz="900">
                <a:solidFill>
                  <a:srgbClr val="E98300"/>
                </a:solidFill>
                <a:latin typeface="Calibri"/>
              </a:rPr>
              <a:t>• </a:t>
            </a:r>
            <a:r>
              <a:rPr sz="900">
                <a:solidFill>
                  <a:srgbClr val="2E2D29"/>
                </a:solidFill>
                <a:latin typeface="Calibri"/>
              </a:rPr>
              <a:t>Pries and Secomb's seven-parameter scheme is deferred to future work</a:t>
            </a:r>
          </a:p>
        </p:txBody>
      </p:sp>
      <p:sp>
        <p:nvSpPr>
          <p:cNvPr id="29" name="Rectangle 28"/>
          <p:cNvSpPr/>
          <p:nvPr/>
        </p:nvSpPr>
        <p:spPr>
          <a:xfrm>
            <a:off x="320040" y="4279392"/>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429768" y="4279392"/>
            <a:ext cx="8284464" cy="310896"/>
          </a:xfrm>
          <a:prstGeom prst="rect">
            <a:avLst/>
          </a:prstGeom>
          <a:noFill/>
        </p:spPr>
        <p:txBody>
          <a:bodyPr wrap="square" lIns="27432" tIns="0" rIns="27432" bIns="0" anchor="ctr">
            <a:spAutoFit/>
          </a:bodyPr>
          <a:lstStyle/>
          <a:p>
            <a:pPr algn="l"/>
            <a:r>
              <a:rPr sz="1000" b="1" i="0">
                <a:solidFill>
                  <a:srgbClr val="8C1515"/>
                </a:solidFill>
                <a:latin typeface="Calibri"/>
              </a:rPr>
              <a:t>Integration runs purely to steady state — the adapted result is a long-term asymptote with no physical timescale.</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sz="2200">
                <a:solidFill>
                  <a:srgbClr val="8C1515"/>
                </a:solidFill>
                <a:latin typeface="Georgia"/>
              </a:rPr>
              <a:t>Why constant shear alone is not enough</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VALIDATED</a:t>
            </a:r>
          </a:p>
        </p:txBody>
      </p:sp>
      <p:sp>
        <p:nvSpPr>
          <p:cNvPr id="19" name="Rectangle 18"/>
          <p:cNvSpPr/>
          <p:nvPr/>
        </p:nvSpPr>
        <p:spPr>
          <a:xfrm>
            <a:off x="320040" y="1408176"/>
            <a:ext cx="4160520" cy="1700784"/>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448056" y="1508760"/>
            <a:ext cx="3904487" cy="219456"/>
          </a:xfrm>
          <a:prstGeom prst="rect">
            <a:avLst/>
          </a:prstGeom>
          <a:noFill/>
        </p:spPr>
        <p:txBody>
          <a:bodyPr wrap="square" lIns="27432" tIns="0" rIns="27432" bIns="0" anchor="t">
            <a:spAutoFit/>
          </a:bodyPr>
          <a:lstStyle/>
          <a:p>
            <a:pPr algn="l"/>
            <a:r>
              <a:rPr sz="1100" b="1" i="0">
                <a:solidFill>
                  <a:srgbClr val="E98300"/>
                </a:solidFill>
                <a:latin typeface="Calibri"/>
              </a:rPr>
              <a:t>Observed failure mode</a:t>
            </a:r>
          </a:p>
        </p:txBody>
      </p:sp>
      <p:sp>
        <p:nvSpPr>
          <p:cNvPr id="21" name="TextBox 20"/>
          <p:cNvSpPr txBox="1"/>
          <p:nvPr/>
        </p:nvSpPr>
        <p:spPr>
          <a:xfrm>
            <a:off x="448056" y="1783080"/>
            <a:ext cx="3904487" cy="1289304"/>
          </a:xfrm>
          <a:prstGeom prst="rect">
            <a:avLst/>
          </a:prstGeom>
          <a:noFill/>
        </p:spPr>
        <p:txBody>
          <a:bodyPr wrap="square" lIns="27432" tIns="0" rIns="27432" bIns="0">
            <a:spAutoFit/>
          </a:bodyPr>
          <a:lstStyle/>
          <a:p>
            <a:pPr>
              <a:spcAft>
                <a:spcPts val="350"/>
              </a:spcAft>
            </a:pPr>
            <a:r>
              <a:rPr sz="950">
                <a:solidFill>
                  <a:srgbClr val="E98300"/>
                </a:solidFill>
                <a:latin typeface="Calibri"/>
              </a:rPr>
              <a:t>• </a:t>
            </a:r>
            <a:r>
              <a:rPr sz="950">
                <a:solidFill>
                  <a:srgbClr val="2E2D29"/>
                </a:solidFill>
                <a:latin typeface="Calibri"/>
              </a:rPr>
              <a:t>Applied iteratively across a multi-outlet model, pure CWSS adaptation drove the flow split through wild excursions rather than settling</a:t>
            </a:r>
          </a:p>
          <a:p>
            <a:pPr>
              <a:spcAft>
                <a:spcPts val="350"/>
              </a:spcAft>
            </a:pPr>
            <a:r>
              <a:rPr sz="950">
                <a:solidFill>
                  <a:srgbClr val="E98300"/>
                </a:solidFill>
                <a:latin typeface="Calibri"/>
              </a:rPr>
              <a:t>• </a:t>
            </a:r>
            <a:r>
              <a:rPr sz="950">
                <a:solidFill>
                  <a:srgbClr val="2E2D29"/>
                </a:solidFill>
                <a:latin typeface="Calibri"/>
              </a:rPr>
              <a:t>Recorded splits across successive iterations swung from 22 / 78 to 86 / 14 with no convergence</a:t>
            </a:r>
          </a:p>
        </p:txBody>
      </p:sp>
      <p:sp>
        <p:nvSpPr>
          <p:cNvPr id="22" name="Rectangle 21"/>
          <p:cNvSpPr/>
          <p:nvPr/>
        </p:nvSpPr>
        <p:spPr>
          <a:xfrm>
            <a:off x="320040" y="3255264"/>
            <a:ext cx="4160520" cy="146304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448056" y="3355848"/>
            <a:ext cx="3904487" cy="219456"/>
          </a:xfrm>
          <a:prstGeom prst="rect">
            <a:avLst/>
          </a:prstGeom>
          <a:noFill/>
        </p:spPr>
        <p:txBody>
          <a:bodyPr wrap="square" lIns="27432" tIns="0" rIns="27432" bIns="0" anchor="t">
            <a:spAutoFit/>
          </a:bodyPr>
          <a:lstStyle/>
          <a:p>
            <a:pPr algn="l"/>
            <a:r>
              <a:rPr sz="1100" b="1" i="0">
                <a:solidFill>
                  <a:srgbClr val="8C1515"/>
                </a:solidFill>
                <a:latin typeface="Calibri"/>
              </a:rPr>
              <a:t>Interpretation</a:t>
            </a:r>
          </a:p>
        </p:txBody>
      </p:sp>
      <p:sp>
        <p:nvSpPr>
          <p:cNvPr id="24" name="TextBox 23"/>
          <p:cNvSpPr txBox="1"/>
          <p:nvPr/>
        </p:nvSpPr>
        <p:spPr>
          <a:xfrm>
            <a:off x="448056" y="3630168"/>
            <a:ext cx="3904487" cy="1051560"/>
          </a:xfrm>
          <a:prstGeom prst="rect">
            <a:avLst/>
          </a:prstGeom>
          <a:noFill/>
        </p:spPr>
        <p:txBody>
          <a:bodyPr wrap="square" lIns="27432" tIns="0" rIns="27432" bIns="0">
            <a:spAutoFit/>
          </a:bodyPr>
          <a:lstStyle/>
          <a:p>
            <a:pPr>
              <a:spcAft>
                <a:spcPts val="350"/>
              </a:spcAft>
            </a:pPr>
            <a:r>
              <a:rPr sz="950">
                <a:solidFill>
                  <a:srgbClr val="8C1515"/>
                </a:solidFill>
                <a:latin typeface="Calibri"/>
              </a:rPr>
              <a:t>• </a:t>
            </a:r>
            <a:r>
              <a:rPr sz="950">
                <a:solidFill>
                  <a:srgbClr val="2E2D29"/>
                </a:solidFill>
                <a:latin typeface="Calibri"/>
              </a:rPr>
              <a:t>Shear-only adaptation has positive feedback: dilation raises flow, which raises shear again</a:t>
            </a:r>
          </a:p>
          <a:p>
            <a:pPr>
              <a:spcAft>
                <a:spcPts val="350"/>
              </a:spcAft>
            </a:pPr>
            <a:r>
              <a:rPr sz="950">
                <a:solidFill>
                  <a:srgbClr val="8C1515"/>
                </a:solidFill>
                <a:latin typeface="Calibri"/>
              </a:rPr>
              <a:t>• </a:t>
            </a:r>
            <a:r>
              <a:rPr sz="950">
                <a:solidFill>
                  <a:srgbClr val="2E2D29"/>
                </a:solidFill>
                <a:latin typeface="Calibri"/>
              </a:rPr>
              <a:t>Nothing in the formulation penalizes unbounded radius growth</a:t>
            </a:r>
          </a:p>
        </p:txBody>
      </p:sp>
      <p:sp>
        <p:nvSpPr>
          <p:cNvPr id="25" name="Rectangle 24"/>
          <p:cNvSpPr/>
          <p:nvPr/>
        </p:nvSpPr>
        <p:spPr>
          <a:xfrm>
            <a:off x="4846320" y="1408176"/>
            <a:ext cx="3977639" cy="3310128"/>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4974336" y="1508760"/>
            <a:ext cx="3721607" cy="219456"/>
          </a:xfrm>
          <a:prstGeom prst="rect">
            <a:avLst/>
          </a:prstGeom>
          <a:noFill/>
        </p:spPr>
        <p:txBody>
          <a:bodyPr wrap="square" lIns="27432" tIns="0" rIns="27432" bIns="0" anchor="t">
            <a:spAutoFit/>
          </a:bodyPr>
          <a:lstStyle/>
          <a:p>
            <a:pPr algn="l"/>
            <a:r>
              <a:rPr sz="1100" b="1" i="0">
                <a:solidFill>
                  <a:srgbClr val="279989"/>
                </a:solidFill>
                <a:latin typeface="Calibri"/>
              </a:rPr>
              <a:t>What the stress term adds</a:t>
            </a:r>
          </a:p>
        </p:txBody>
      </p:sp>
      <p:sp>
        <p:nvSpPr>
          <p:cNvPr id="27" name="TextBox 26"/>
          <p:cNvSpPr txBox="1"/>
          <p:nvPr/>
        </p:nvSpPr>
        <p:spPr>
          <a:xfrm>
            <a:off x="4974336" y="1783080"/>
            <a:ext cx="3721607" cy="2898648"/>
          </a:xfrm>
          <a:prstGeom prst="rect">
            <a:avLst/>
          </a:prstGeom>
          <a:noFill/>
        </p:spPr>
        <p:txBody>
          <a:bodyPr wrap="square" lIns="27432" tIns="0" rIns="27432" bIns="0">
            <a:spAutoFit/>
          </a:bodyPr>
          <a:lstStyle/>
          <a:p>
            <a:pPr>
              <a:spcAft>
                <a:spcPts val="350"/>
              </a:spcAft>
            </a:pPr>
            <a:r>
              <a:rPr sz="950">
                <a:solidFill>
                  <a:srgbClr val="279989"/>
                </a:solidFill>
                <a:latin typeface="Calibri"/>
              </a:rPr>
              <a:t>• </a:t>
            </a:r>
            <a:r>
              <a:rPr sz="950">
                <a:solidFill>
                  <a:srgbClr val="2E2D29"/>
                </a:solidFill>
                <a:latin typeface="Calibri"/>
              </a:rPr>
              <a:t>As radius grows at fixed pressure, intramural stress rises and opposes further dilation</a:t>
            </a:r>
          </a:p>
          <a:p>
            <a:pPr>
              <a:spcAft>
                <a:spcPts val="350"/>
              </a:spcAft>
            </a:pPr>
            <a:r>
              <a:rPr sz="950">
                <a:solidFill>
                  <a:srgbClr val="279989"/>
                </a:solidFill>
                <a:latin typeface="Calibri"/>
              </a:rPr>
              <a:t>• </a:t>
            </a:r>
            <a:r>
              <a:rPr sz="950">
                <a:solidFill>
                  <a:srgbClr val="2E2D29"/>
                </a:solidFill>
                <a:latin typeface="Calibri"/>
              </a:rPr>
              <a:t>Wall thickening provides a second, slower degree of freedom that relieves stress</a:t>
            </a:r>
          </a:p>
          <a:p>
            <a:pPr>
              <a:spcAft>
                <a:spcPts val="350"/>
              </a:spcAft>
            </a:pPr>
            <a:r>
              <a:rPr sz="950">
                <a:solidFill>
                  <a:srgbClr val="279989"/>
                </a:solidFill>
                <a:latin typeface="Calibri"/>
              </a:rPr>
              <a:t>• </a:t>
            </a:r>
            <a:r>
              <a:rPr sz="950">
                <a:solidFill>
                  <a:srgbClr val="2E2D29"/>
                </a:solidFill>
                <a:latin typeface="Calibri"/>
              </a:rPr>
              <a:t>The combined system admits a stable fixed point, which is the state we integrate to</a:t>
            </a:r>
          </a:p>
          <a:p>
            <a:pPr>
              <a:spcAft>
                <a:spcPts val="350"/>
              </a:spcAft>
            </a:pPr>
            <a:r>
              <a:rPr sz="950">
                <a:solidFill>
                  <a:srgbClr val="279989"/>
                </a:solidFill>
                <a:latin typeface="Calibri"/>
              </a:rPr>
              <a:t>• </a:t>
            </a:r>
            <a:r>
              <a:rPr sz="950">
                <a:solidFill>
                  <a:srgbClr val="2E2D29"/>
                </a:solidFill>
                <a:latin typeface="Calibri"/>
              </a:rPr>
              <a:t>The trade-off is four gains instead of one, and those gains must be identified</a:t>
            </a:r>
          </a:p>
        </p:txBody>
      </p:sp>
      <p:sp>
        <p:nvSpPr>
          <p:cNvPr id="28" name="Rectangle 27"/>
          <p:cNvSpPr/>
          <p:nvPr/>
        </p:nvSpPr>
        <p:spPr>
          <a:xfrm>
            <a:off x="320040" y="4846320"/>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429768" y="4846320"/>
            <a:ext cx="8284464" cy="310896"/>
          </a:xfrm>
          <a:prstGeom prst="rect">
            <a:avLst/>
          </a:prstGeom>
          <a:noFill/>
        </p:spPr>
        <p:txBody>
          <a:bodyPr wrap="square" lIns="27432" tIns="0" rIns="27432" bIns="0" anchor="ctr">
            <a:spAutoFit/>
          </a:bodyPr>
          <a:lstStyle/>
          <a:p>
            <a:pPr algn="l"/>
            <a:r>
              <a:rPr sz="1000" b="1" i="0">
                <a:solidFill>
                  <a:srgbClr val="8C1515"/>
                </a:solidFill>
                <a:latin typeface="Calibri"/>
              </a:rPr>
              <a:t>CWSS-IMS is retained not because it fits better, but because it is the version that converges.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sz="2200">
                <a:solidFill>
                  <a:srgbClr val="8C1515"/>
                </a:solidFill>
                <a:latin typeface="Georgia"/>
              </a:rPr>
              <a:t>Driving the trees from the 3D result</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IN DEVELOPMENT</a:t>
            </a:r>
          </a:p>
        </p:txBody>
      </p:sp>
      <p:sp>
        <p:nvSpPr>
          <p:cNvPr id="19" name="TextBox 18"/>
          <p:cNvSpPr txBox="1"/>
          <p:nvPr/>
        </p:nvSpPr>
        <p:spPr>
          <a:xfrm>
            <a:off x="320040" y="1389888"/>
            <a:ext cx="8503920" cy="219456"/>
          </a:xfrm>
          <a:prstGeom prst="rect">
            <a:avLst/>
          </a:prstGeom>
          <a:noFill/>
        </p:spPr>
        <p:txBody>
          <a:bodyPr wrap="square" lIns="27432" tIns="0" rIns="27432" bIns="0" anchor="t">
            <a:spAutoFit/>
          </a:bodyPr>
          <a:lstStyle/>
          <a:p>
            <a:pPr algn="l"/>
            <a:r>
              <a:rPr sz="950" b="0" i="1">
                <a:solidFill>
                  <a:srgbClr val="6B6965"/>
                </a:solidFill>
                <a:latin typeface="Calibri"/>
              </a:rPr>
              <a:t>The trees never see the 3D field directly. The RRI reduced-order model is the transfer mechanism.</a:t>
            </a:r>
          </a:p>
        </p:txBody>
      </p:sp>
      <p:sp>
        <p:nvSpPr>
          <p:cNvPr id="20" name="Rectangle 19"/>
          <p:cNvSpPr/>
          <p:nvPr/>
        </p:nvSpPr>
        <p:spPr>
          <a:xfrm>
            <a:off x="320040" y="1700784"/>
            <a:ext cx="1920240" cy="896112"/>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320040" y="1700784"/>
            <a:ext cx="1920240" cy="237744"/>
          </a:xfrm>
          <a:prstGeom prst="rect">
            <a:avLst/>
          </a:prstGeom>
          <a:solidFill>
            <a:srgbClr val="007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320040" y="1700784"/>
            <a:ext cx="1920240" cy="237744"/>
          </a:xfrm>
          <a:prstGeom prst="rect">
            <a:avLst/>
          </a:prstGeom>
          <a:noFill/>
        </p:spPr>
        <p:txBody>
          <a:bodyPr wrap="square" lIns="27432" tIns="0" rIns="27432" bIns="0" anchor="ctr">
            <a:spAutoFit/>
          </a:bodyPr>
          <a:lstStyle/>
          <a:p>
            <a:pPr algn="ctr"/>
            <a:r>
              <a:rPr sz="850" b="1" i="0">
                <a:solidFill>
                  <a:srgbClr val="FFFFFF"/>
                </a:solidFill>
                <a:latin typeface="Calibri"/>
              </a:rPr>
              <a:t>Pre-op 3D</a:t>
            </a:r>
          </a:p>
        </p:txBody>
      </p:sp>
      <p:sp>
        <p:nvSpPr>
          <p:cNvPr id="23" name="TextBox 22"/>
          <p:cNvSpPr txBox="1"/>
          <p:nvPr/>
        </p:nvSpPr>
        <p:spPr>
          <a:xfrm>
            <a:off x="393192" y="2011680"/>
            <a:ext cx="1773936" cy="530352"/>
          </a:xfrm>
          <a:prstGeom prst="rect">
            <a:avLst/>
          </a:prstGeom>
          <a:noFill/>
        </p:spPr>
        <p:txBody>
          <a:bodyPr wrap="square" lIns="27432" tIns="0" rIns="27432" bIns="0" anchor="t">
            <a:spAutoFit/>
          </a:bodyPr>
          <a:lstStyle/>
          <a:p>
            <a:pPr algn="l">
              <a:lnSpc>
                <a:spcPct val="110000"/>
              </a:lnSpc>
            </a:pPr>
            <a:r>
              <a:rPr sz="800" b="0" i="0">
                <a:solidFill>
                  <a:srgbClr val="2E2D29"/>
                </a:solidFill>
                <a:latin typeface="Calibri"/>
              </a:rPr>
              <a:t>Calibrated pre-operative</a:t>
            </a:r>
          </a:p>
          <a:p>
            <a:pPr algn="l">
              <a:lnSpc>
                <a:spcPct val="110000"/>
              </a:lnSpc>
            </a:pPr>
            <a:r>
              <a:rPr sz="800" b="0" i="0">
                <a:solidFill>
                  <a:srgbClr val="2E2D29"/>
                </a:solidFill>
                <a:latin typeface="Calibri"/>
              </a:rPr>
              <a:t>CFD result</a:t>
            </a:r>
          </a:p>
        </p:txBody>
      </p:sp>
      <p:sp>
        <p:nvSpPr>
          <p:cNvPr id="24" name="Right Arrow 23"/>
          <p:cNvSpPr/>
          <p:nvPr/>
        </p:nvSpPr>
        <p:spPr>
          <a:xfrm>
            <a:off x="2286000" y="2084832"/>
            <a:ext cx="182880" cy="146304"/>
          </a:xfrm>
          <a:prstGeom prst="rightArrow">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2514600" y="1700784"/>
            <a:ext cx="1920240" cy="896112"/>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2514600" y="1700784"/>
            <a:ext cx="1920240"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2514600" y="1700784"/>
            <a:ext cx="1920240" cy="237744"/>
          </a:xfrm>
          <a:prstGeom prst="rect">
            <a:avLst/>
          </a:prstGeom>
          <a:noFill/>
        </p:spPr>
        <p:txBody>
          <a:bodyPr wrap="square" lIns="27432" tIns="0" rIns="27432" bIns="0" anchor="ctr">
            <a:spAutoFit/>
          </a:bodyPr>
          <a:lstStyle/>
          <a:p>
            <a:pPr algn="ctr"/>
            <a:r>
              <a:rPr sz="850" b="1" i="0">
                <a:solidFill>
                  <a:srgbClr val="FFFFFF"/>
                </a:solidFill>
                <a:latin typeface="Calibri"/>
              </a:rPr>
              <a:t>RRI fit</a:t>
            </a:r>
          </a:p>
        </p:txBody>
      </p:sp>
      <p:sp>
        <p:nvSpPr>
          <p:cNvPr id="28" name="TextBox 27"/>
          <p:cNvSpPr txBox="1"/>
          <p:nvPr/>
        </p:nvSpPr>
        <p:spPr>
          <a:xfrm>
            <a:off x="2587752" y="2011680"/>
            <a:ext cx="1773936" cy="530352"/>
          </a:xfrm>
          <a:prstGeom prst="rect">
            <a:avLst/>
          </a:prstGeom>
          <a:noFill/>
        </p:spPr>
        <p:txBody>
          <a:bodyPr wrap="square" lIns="27432" tIns="0" rIns="27432" bIns="0" anchor="t">
            <a:spAutoFit/>
          </a:bodyPr>
          <a:lstStyle/>
          <a:p>
            <a:pPr algn="l">
              <a:lnSpc>
                <a:spcPct val="110000"/>
              </a:lnSpc>
            </a:pPr>
            <a:r>
              <a:rPr sz="800" b="0" i="0">
                <a:solidFill>
                  <a:srgbClr val="2E2D29"/>
                </a:solidFill>
                <a:latin typeface="Calibri"/>
              </a:rPr>
              <a:t>0D model run to reproduce</a:t>
            </a:r>
          </a:p>
          <a:p>
            <a:pPr algn="l">
              <a:lnSpc>
                <a:spcPct val="110000"/>
              </a:lnSpc>
            </a:pPr>
            <a:r>
              <a:rPr sz="800" b="0" i="0">
                <a:solidFill>
                  <a:srgbClr val="2E2D29"/>
                </a:solidFill>
                <a:latin typeface="Calibri"/>
              </a:rPr>
              <a:t>the pre-operative state</a:t>
            </a:r>
          </a:p>
        </p:txBody>
      </p:sp>
      <p:sp>
        <p:nvSpPr>
          <p:cNvPr id="29" name="Right Arrow 28"/>
          <p:cNvSpPr/>
          <p:nvPr/>
        </p:nvSpPr>
        <p:spPr>
          <a:xfrm>
            <a:off x="4480559" y="2084832"/>
            <a:ext cx="182880" cy="146304"/>
          </a:xfrm>
          <a:prstGeom prst="rightArrow">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709159" y="1700784"/>
            <a:ext cx="1920240" cy="896112"/>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4709159" y="1700784"/>
            <a:ext cx="1920240" cy="237744"/>
          </a:xfrm>
          <a:prstGeom prst="rect">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4709159" y="1700784"/>
            <a:ext cx="1920240" cy="237744"/>
          </a:xfrm>
          <a:prstGeom prst="rect">
            <a:avLst/>
          </a:prstGeom>
          <a:noFill/>
        </p:spPr>
        <p:txBody>
          <a:bodyPr wrap="square" lIns="27432" tIns="0" rIns="27432" bIns="0" anchor="ctr">
            <a:spAutoFit/>
          </a:bodyPr>
          <a:lstStyle/>
          <a:p>
            <a:pPr algn="ctr"/>
            <a:r>
              <a:rPr sz="850" b="1" i="0">
                <a:solidFill>
                  <a:srgbClr val="FFFFFF"/>
                </a:solidFill>
                <a:latin typeface="Calibri"/>
              </a:rPr>
              <a:t>Homeostatic state</a:t>
            </a:r>
          </a:p>
        </p:txBody>
      </p:sp>
      <p:sp>
        <p:nvSpPr>
          <p:cNvPr id="33" name="TextBox 32"/>
          <p:cNvSpPr txBox="1"/>
          <p:nvPr/>
        </p:nvSpPr>
        <p:spPr>
          <a:xfrm>
            <a:off x="4782312" y="2011680"/>
            <a:ext cx="1773936" cy="530352"/>
          </a:xfrm>
          <a:prstGeom prst="rect">
            <a:avLst/>
          </a:prstGeom>
          <a:noFill/>
        </p:spPr>
        <p:txBody>
          <a:bodyPr wrap="square" lIns="27432" tIns="0" rIns="27432" bIns="0" anchor="t">
            <a:spAutoFit/>
          </a:bodyPr>
          <a:lstStyle/>
          <a:p>
            <a:pPr algn="l">
              <a:lnSpc>
                <a:spcPct val="110000"/>
              </a:lnSpc>
            </a:pPr>
            <a:r>
              <a:rPr sz="800" b="0" i="0">
                <a:solidFill>
                  <a:srgbClr val="2E2D29"/>
                </a:solidFill>
                <a:latin typeface="Calibri"/>
              </a:rPr>
              <a:t>τ_i,0 and σ_i,0 recorded</a:t>
            </a:r>
          </a:p>
          <a:p>
            <a:pPr algn="l">
              <a:lnSpc>
                <a:spcPct val="110000"/>
              </a:lnSpc>
            </a:pPr>
            <a:r>
              <a:rPr sz="800" b="0" i="0">
                <a:solidFill>
                  <a:srgbClr val="2E2D29"/>
                </a:solidFill>
                <a:latin typeface="Calibri"/>
              </a:rPr>
              <a:t>for every tree vessel</a:t>
            </a:r>
          </a:p>
        </p:txBody>
      </p:sp>
      <p:sp>
        <p:nvSpPr>
          <p:cNvPr id="34" name="Rectangle 33"/>
          <p:cNvSpPr/>
          <p:nvPr/>
        </p:nvSpPr>
        <p:spPr>
          <a:xfrm>
            <a:off x="320040" y="2743200"/>
            <a:ext cx="1920240" cy="896112"/>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Rectangle 34"/>
          <p:cNvSpPr/>
          <p:nvPr/>
        </p:nvSpPr>
        <p:spPr>
          <a:xfrm>
            <a:off x="320040" y="2743200"/>
            <a:ext cx="1920240" cy="237744"/>
          </a:xfrm>
          <a:prstGeom prst="rect">
            <a:avLst/>
          </a:prstGeom>
          <a:solidFill>
            <a:srgbClr val="007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320040" y="2743200"/>
            <a:ext cx="1920240" cy="237744"/>
          </a:xfrm>
          <a:prstGeom prst="rect">
            <a:avLst/>
          </a:prstGeom>
          <a:noFill/>
        </p:spPr>
        <p:txBody>
          <a:bodyPr wrap="square" lIns="27432" tIns="0" rIns="27432" bIns="0" anchor="ctr">
            <a:spAutoFit/>
          </a:bodyPr>
          <a:lstStyle/>
          <a:p>
            <a:pPr algn="ctr"/>
            <a:r>
              <a:rPr sz="850" b="1" i="0">
                <a:solidFill>
                  <a:srgbClr val="FFFFFF"/>
                </a:solidFill>
                <a:latin typeface="Calibri"/>
              </a:rPr>
              <a:t>Post-op 3D</a:t>
            </a:r>
          </a:p>
        </p:txBody>
      </p:sp>
      <p:sp>
        <p:nvSpPr>
          <p:cNvPr id="37" name="TextBox 36"/>
          <p:cNvSpPr txBox="1"/>
          <p:nvPr/>
        </p:nvSpPr>
        <p:spPr>
          <a:xfrm>
            <a:off x="393192" y="3054096"/>
            <a:ext cx="1773936" cy="530352"/>
          </a:xfrm>
          <a:prstGeom prst="rect">
            <a:avLst/>
          </a:prstGeom>
          <a:noFill/>
        </p:spPr>
        <p:txBody>
          <a:bodyPr wrap="square" lIns="27432" tIns="0" rIns="27432" bIns="0" anchor="t">
            <a:spAutoFit/>
          </a:bodyPr>
          <a:lstStyle/>
          <a:p>
            <a:pPr algn="l">
              <a:lnSpc>
                <a:spcPct val="110000"/>
              </a:lnSpc>
            </a:pPr>
            <a:r>
              <a:rPr sz="800" b="0" i="0">
                <a:solidFill>
                  <a:srgbClr val="2E2D29"/>
                </a:solidFill>
                <a:latin typeface="Calibri"/>
              </a:rPr>
              <a:t>Virtually stented</a:t>
            </a:r>
          </a:p>
          <a:p>
            <a:pPr algn="l">
              <a:lnSpc>
                <a:spcPct val="110000"/>
              </a:lnSpc>
            </a:pPr>
            <a:r>
              <a:rPr sz="800" b="0" i="0">
                <a:solidFill>
                  <a:srgbClr val="2E2D29"/>
                </a:solidFill>
                <a:latin typeface="Calibri"/>
              </a:rPr>
              <a:t>CFD result</a:t>
            </a:r>
          </a:p>
        </p:txBody>
      </p:sp>
      <p:sp>
        <p:nvSpPr>
          <p:cNvPr id="38" name="Right Arrow 37"/>
          <p:cNvSpPr/>
          <p:nvPr/>
        </p:nvSpPr>
        <p:spPr>
          <a:xfrm>
            <a:off x="2286000" y="3127248"/>
            <a:ext cx="182880" cy="146304"/>
          </a:xfrm>
          <a:prstGeom prst="rightArrow">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2514600" y="2743200"/>
            <a:ext cx="1920240" cy="896112"/>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Rectangle 39"/>
          <p:cNvSpPr/>
          <p:nvPr/>
        </p:nvSpPr>
        <p:spPr>
          <a:xfrm>
            <a:off x="2514600" y="2743200"/>
            <a:ext cx="1920240"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2514600" y="2743200"/>
            <a:ext cx="1920240" cy="237744"/>
          </a:xfrm>
          <a:prstGeom prst="rect">
            <a:avLst/>
          </a:prstGeom>
          <a:noFill/>
        </p:spPr>
        <p:txBody>
          <a:bodyPr wrap="square" lIns="27432" tIns="0" rIns="27432" bIns="0" anchor="ctr">
            <a:spAutoFit/>
          </a:bodyPr>
          <a:lstStyle/>
          <a:p>
            <a:pPr algn="ctr"/>
            <a:r>
              <a:rPr sz="850" b="1" i="0">
                <a:solidFill>
                  <a:srgbClr val="FFFFFF"/>
                </a:solidFill>
                <a:latin typeface="Calibri"/>
              </a:rPr>
              <a:t>RRI fit</a:t>
            </a:r>
          </a:p>
        </p:txBody>
      </p:sp>
      <p:sp>
        <p:nvSpPr>
          <p:cNvPr id="42" name="TextBox 41"/>
          <p:cNvSpPr txBox="1"/>
          <p:nvPr/>
        </p:nvSpPr>
        <p:spPr>
          <a:xfrm>
            <a:off x="2587752" y="3054096"/>
            <a:ext cx="1773936" cy="530352"/>
          </a:xfrm>
          <a:prstGeom prst="rect">
            <a:avLst/>
          </a:prstGeom>
          <a:noFill/>
        </p:spPr>
        <p:txBody>
          <a:bodyPr wrap="square" lIns="27432" tIns="0" rIns="27432" bIns="0" anchor="t">
            <a:spAutoFit/>
          </a:bodyPr>
          <a:lstStyle/>
          <a:p>
            <a:pPr algn="l">
              <a:lnSpc>
                <a:spcPct val="110000"/>
              </a:lnSpc>
            </a:pPr>
            <a:r>
              <a:rPr sz="800" b="0" i="0">
                <a:solidFill>
                  <a:srgbClr val="2E2D29"/>
                </a:solidFill>
                <a:latin typeface="Calibri"/>
              </a:rPr>
              <a:t>0D model run to reproduce</a:t>
            </a:r>
          </a:p>
          <a:p>
            <a:pPr algn="l">
              <a:lnSpc>
                <a:spcPct val="110000"/>
              </a:lnSpc>
            </a:pPr>
            <a:r>
              <a:rPr sz="800" b="0" i="0">
                <a:solidFill>
                  <a:srgbClr val="2E2D29"/>
                </a:solidFill>
                <a:latin typeface="Calibri"/>
              </a:rPr>
              <a:t>the post-operative state</a:t>
            </a:r>
          </a:p>
        </p:txBody>
      </p:sp>
      <p:sp>
        <p:nvSpPr>
          <p:cNvPr id="43" name="Right Arrow 42"/>
          <p:cNvSpPr/>
          <p:nvPr/>
        </p:nvSpPr>
        <p:spPr>
          <a:xfrm>
            <a:off x="4480559" y="3127248"/>
            <a:ext cx="182880" cy="146304"/>
          </a:xfrm>
          <a:prstGeom prst="rightArrow">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4709159" y="2743200"/>
            <a:ext cx="1920240" cy="896112"/>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Rectangle 44"/>
          <p:cNvSpPr/>
          <p:nvPr/>
        </p:nvSpPr>
        <p:spPr>
          <a:xfrm>
            <a:off x="4709159" y="2743200"/>
            <a:ext cx="1920240" cy="237744"/>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Box 45"/>
          <p:cNvSpPr txBox="1"/>
          <p:nvPr/>
        </p:nvSpPr>
        <p:spPr>
          <a:xfrm>
            <a:off x="4709159" y="2743200"/>
            <a:ext cx="1920240" cy="237744"/>
          </a:xfrm>
          <a:prstGeom prst="rect">
            <a:avLst/>
          </a:prstGeom>
          <a:noFill/>
        </p:spPr>
        <p:txBody>
          <a:bodyPr wrap="square" lIns="27432" tIns="0" rIns="27432" bIns="0" anchor="ctr">
            <a:spAutoFit/>
          </a:bodyPr>
          <a:lstStyle/>
          <a:p>
            <a:pPr algn="ctr"/>
            <a:r>
              <a:rPr sz="850" b="1" i="0">
                <a:solidFill>
                  <a:srgbClr val="FFFFFF"/>
                </a:solidFill>
                <a:latin typeface="Calibri"/>
              </a:rPr>
              <a:t>Perturbed state</a:t>
            </a:r>
          </a:p>
        </p:txBody>
      </p:sp>
      <p:sp>
        <p:nvSpPr>
          <p:cNvPr id="47" name="TextBox 46"/>
          <p:cNvSpPr txBox="1"/>
          <p:nvPr/>
        </p:nvSpPr>
        <p:spPr>
          <a:xfrm>
            <a:off x="4782312" y="3054096"/>
            <a:ext cx="1773936" cy="530352"/>
          </a:xfrm>
          <a:prstGeom prst="rect">
            <a:avLst/>
          </a:prstGeom>
          <a:noFill/>
        </p:spPr>
        <p:txBody>
          <a:bodyPr wrap="square" lIns="27432" tIns="0" rIns="27432" bIns="0" anchor="t">
            <a:spAutoFit/>
          </a:bodyPr>
          <a:lstStyle/>
          <a:p>
            <a:pPr algn="l">
              <a:lnSpc>
                <a:spcPct val="110000"/>
              </a:lnSpc>
            </a:pPr>
            <a:r>
              <a:rPr sz="800" b="0" i="0">
                <a:solidFill>
                  <a:srgbClr val="2E2D29"/>
                </a:solidFill>
                <a:latin typeface="Calibri"/>
              </a:rPr>
              <a:t>New P and Q at each</a:t>
            </a:r>
          </a:p>
          <a:p>
            <a:pPr algn="l">
              <a:lnSpc>
                <a:spcPct val="110000"/>
              </a:lnSpc>
            </a:pPr>
            <a:r>
              <a:rPr sz="800" b="0" i="0">
                <a:solidFill>
                  <a:srgbClr val="2E2D29"/>
                </a:solidFill>
                <a:latin typeface="Calibri"/>
              </a:rPr>
              <a:t>RRI outlet</a:t>
            </a:r>
          </a:p>
        </p:txBody>
      </p:sp>
      <p:sp>
        <p:nvSpPr>
          <p:cNvPr id="48" name="Rectangle 47"/>
          <p:cNvSpPr/>
          <p:nvPr/>
        </p:nvSpPr>
        <p:spPr>
          <a:xfrm>
            <a:off x="6903720" y="1700784"/>
            <a:ext cx="1920240" cy="1938528"/>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Box 48"/>
          <p:cNvSpPr txBox="1"/>
          <p:nvPr/>
        </p:nvSpPr>
        <p:spPr>
          <a:xfrm>
            <a:off x="6995160" y="1810512"/>
            <a:ext cx="1737360" cy="1737360"/>
          </a:xfrm>
          <a:prstGeom prst="rect">
            <a:avLst/>
          </a:prstGeom>
          <a:noFill/>
        </p:spPr>
        <p:txBody>
          <a:bodyPr wrap="square" lIns="27432" tIns="0" rIns="27432" bIns="0" anchor="t">
            <a:spAutoFit/>
          </a:bodyPr>
          <a:lstStyle/>
          <a:p>
            <a:pPr algn="l">
              <a:lnSpc>
                <a:spcPct val="120000"/>
              </a:lnSpc>
            </a:pPr>
            <a:r>
              <a:rPr sz="900" b="0" i="0">
                <a:solidFill>
                  <a:srgbClr val="FFFFFF"/>
                </a:solidFill>
                <a:latin typeface="Calibri"/>
              </a:rPr>
              <a:t>Integrate the tree ODEs</a:t>
            </a:r>
          </a:p>
          <a:p>
            <a:pPr algn="l">
              <a:lnSpc>
                <a:spcPct val="120000"/>
              </a:lnSpc>
            </a:pPr>
            <a:r>
              <a:rPr sz="900" b="0" i="0">
                <a:solidFill>
                  <a:srgbClr val="FFFFFF"/>
                </a:solidFill>
                <a:latin typeface="Calibri"/>
              </a:rPr>
              <a:t>from the homeostatic state</a:t>
            </a:r>
          </a:p>
          <a:p>
            <a:pPr algn="l">
              <a:lnSpc>
                <a:spcPct val="120000"/>
              </a:lnSpc>
            </a:pPr>
            <a:r>
              <a:rPr sz="900" b="0" i="0">
                <a:solidFill>
                  <a:srgbClr val="FFFFFF"/>
                </a:solidFill>
                <a:latin typeface="Calibri"/>
              </a:rPr>
              <a:t>under the perturbed</a:t>
            </a:r>
          </a:p>
          <a:p>
            <a:pPr algn="l">
              <a:lnSpc>
                <a:spcPct val="120000"/>
              </a:lnSpc>
            </a:pPr>
            <a:r>
              <a:rPr sz="900" b="0" i="0">
                <a:solidFill>
                  <a:srgbClr val="FFFFFF"/>
                </a:solidFill>
                <a:latin typeface="Calibri"/>
              </a:rPr>
              <a:t>boundary values</a:t>
            </a:r>
          </a:p>
          <a:p>
            <a:pPr algn="l">
              <a:lnSpc>
                <a:spcPct val="120000"/>
              </a:lnSpc>
            </a:pPr>
            <a:endParaRPr sz="900" b="0" i="0">
              <a:solidFill>
                <a:srgbClr val="FFFFFF"/>
              </a:solidFill>
              <a:latin typeface="Calibri"/>
            </a:endParaRPr>
          </a:p>
          <a:p>
            <a:pPr algn="l">
              <a:lnSpc>
                <a:spcPct val="120000"/>
              </a:lnSpc>
            </a:pPr>
            <a:r>
              <a:rPr sz="900" b="0" i="0">
                <a:solidFill>
                  <a:srgbClr val="FFFFFF"/>
                </a:solidFill>
                <a:latin typeface="Calibri"/>
              </a:rPr>
              <a:t>→ adapted r_i , h_i</a:t>
            </a:r>
          </a:p>
          <a:p>
            <a:pPr algn="l">
              <a:lnSpc>
                <a:spcPct val="120000"/>
              </a:lnSpc>
            </a:pPr>
            <a:r>
              <a:rPr sz="900" b="0" i="0">
                <a:solidFill>
                  <a:srgbClr val="FFFFFF"/>
                </a:solidFill>
                <a:latin typeface="Calibri"/>
              </a:rPr>
              <a:t>→ adapted tree impedance</a:t>
            </a:r>
          </a:p>
        </p:txBody>
      </p:sp>
      <p:sp>
        <p:nvSpPr>
          <p:cNvPr id="50" name="Right Arrow 49"/>
          <p:cNvSpPr/>
          <p:nvPr/>
        </p:nvSpPr>
        <p:spPr>
          <a:xfrm>
            <a:off x="6656832" y="2596896"/>
            <a:ext cx="201168" cy="164592"/>
          </a:xfrm>
          <a:prstGeom prst="rightArrow">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320040" y="3840480"/>
            <a:ext cx="8503920" cy="822960"/>
          </a:xfrm>
          <a:prstGeom prst="rect">
            <a:avLst/>
          </a:prstGeom>
          <a:noFill/>
        </p:spPr>
        <p:txBody>
          <a:bodyPr wrap="square" lIns="27432" tIns="0" rIns="27432" bIns="0">
            <a:spAutoFit/>
          </a:bodyPr>
          <a:lstStyle/>
          <a:p>
            <a:pPr>
              <a:spcAft>
                <a:spcPts val="600"/>
              </a:spcAft>
            </a:pPr>
            <a:r>
              <a:rPr sz="1000">
                <a:solidFill>
                  <a:srgbClr val="8C1515"/>
                </a:solidFill>
                <a:latin typeface="Calibri"/>
              </a:rPr>
              <a:t>• </a:t>
            </a:r>
            <a:r>
              <a:rPr sz="1000">
                <a:solidFill>
                  <a:srgbClr val="2E2D29"/>
                </a:solidFill>
                <a:latin typeface="Calibri"/>
              </a:rPr>
              <a:t>Only the trees adapt — the 3D geometry, the proximal vessels and the RRI parameters are held at their post-operative values</a:t>
            </a:r>
          </a:p>
          <a:p>
            <a:pPr>
              <a:spcAft>
                <a:spcPts val="600"/>
              </a:spcAft>
            </a:pPr>
            <a:r>
              <a:rPr sz="1000">
                <a:solidFill>
                  <a:srgbClr val="8C1515"/>
                </a:solidFill>
                <a:latin typeface="Calibri"/>
              </a:rPr>
              <a:t>• </a:t>
            </a:r>
            <a:r>
              <a:rPr sz="1000">
                <a:solidFill>
                  <a:srgbClr val="2E2D29"/>
                </a:solidFill>
                <a:latin typeface="Calibri"/>
              </a:rPr>
              <a:t>Because integration is to steady state, the result is independent of how long after the intervention the patient was re-studied</a:t>
            </a:r>
          </a:p>
        </p:txBody>
      </p:sp>
      <p:sp>
        <p:nvSpPr>
          <p:cNvPr id="52" name="Rectangle 51"/>
          <p:cNvSpPr/>
          <p:nvPr/>
        </p:nvSpPr>
        <p:spPr>
          <a:xfrm>
            <a:off x="320040" y="4846320"/>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429768" y="4846320"/>
            <a:ext cx="8284464" cy="310896"/>
          </a:xfrm>
          <a:prstGeom prst="rect">
            <a:avLst/>
          </a:prstGeom>
          <a:noFill/>
        </p:spPr>
        <p:txBody>
          <a:bodyPr wrap="square" lIns="27432" tIns="0" rIns="27432" bIns="0" anchor="ctr">
            <a:spAutoFit/>
          </a:bodyPr>
          <a:lstStyle/>
          <a:p>
            <a:pPr algn="l"/>
            <a:r>
              <a:rPr sz="1000" b="1" i="0">
                <a:solidFill>
                  <a:srgbClr val="8C1515"/>
                </a:solidFill>
                <a:latin typeface="Calibri"/>
              </a:rPr>
              <a:t>The RRI model is doing double duty: tuning surrogate in Stage 2, adaptation driver in Stage 5.</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sz="2200">
                <a:solidFill>
                  <a:srgbClr val="8C1515"/>
                </a:solidFill>
                <a:latin typeface="Georgia"/>
              </a:rPr>
              <a:t>Numerical integration</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IN DEVELOPMENT</a:t>
            </a:r>
          </a:p>
        </p:txBody>
      </p:sp>
      <p:sp>
        <p:nvSpPr>
          <p:cNvPr id="19" name="Rectangle 18"/>
          <p:cNvSpPr/>
          <p:nvPr/>
        </p:nvSpPr>
        <p:spPr>
          <a:xfrm>
            <a:off x="320040" y="1408176"/>
            <a:ext cx="4160520" cy="164592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448056" y="1508760"/>
            <a:ext cx="3904487" cy="219456"/>
          </a:xfrm>
          <a:prstGeom prst="rect">
            <a:avLst/>
          </a:prstGeom>
          <a:noFill/>
        </p:spPr>
        <p:txBody>
          <a:bodyPr wrap="square" lIns="27432" tIns="0" rIns="27432" bIns="0" anchor="t">
            <a:spAutoFit/>
          </a:bodyPr>
          <a:lstStyle/>
          <a:p>
            <a:pPr algn="l"/>
            <a:r>
              <a:rPr sz="1100" b="1" i="0">
                <a:solidFill>
                  <a:srgbClr val="E98300"/>
                </a:solidFill>
                <a:latin typeface="Calibri"/>
              </a:rPr>
              <a:t>The cost problem</a:t>
            </a:r>
          </a:p>
        </p:txBody>
      </p:sp>
      <p:sp>
        <p:nvSpPr>
          <p:cNvPr id="21" name="TextBox 20"/>
          <p:cNvSpPr txBox="1"/>
          <p:nvPr/>
        </p:nvSpPr>
        <p:spPr>
          <a:xfrm>
            <a:off x="448056" y="1783080"/>
            <a:ext cx="3904487" cy="1234440"/>
          </a:xfrm>
          <a:prstGeom prst="rect">
            <a:avLst/>
          </a:prstGeom>
          <a:noFill/>
        </p:spPr>
        <p:txBody>
          <a:bodyPr wrap="square" lIns="27432" tIns="0" rIns="27432" bIns="0">
            <a:spAutoFit/>
          </a:bodyPr>
          <a:lstStyle/>
          <a:p>
            <a:pPr>
              <a:spcAft>
                <a:spcPts val="350"/>
              </a:spcAft>
            </a:pPr>
            <a:r>
              <a:rPr sz="950">
                <a:solidFill>
                  <a:srgbClr val="E98300"/>
                </a:solidFill>
                <a:latin typeface="Calibri"/>
              </a:rPr>
              <a:t>• </a:t>
            </a:r>
            <a:r>
              <a:rPr sz="950">
                <a:solidFill>
                  <a:srgbClr val="2E2D29"/>
                </a:solidFill>
                <a:latin typeface="Calibri"/>
              </a:rPr>
              <a:t>Evaluating τ and σ requires a hemodynamic solve over the whole tree at every derivative evaluation</a:t>
            </a:r>
          </a:p>
          <a:p>
            <a:pPr>
              <a:spcAft>
                <a:spcPts val="350"/>
              </a:spcAft>
            </a:pPr>
            <a:r>
              <a:rPr sz="950">
                <a:solidFill>
                  <a:srgbClr val="E98300"/>
                </a:solidFill>
                <a:latin typeface="Calibri"/>
              </a:rPr>
              <a:t>• </a:t>
            </a:r>
            <a:r>
              <a:rPr sz="950">
                <a:solidFill>
                  <a:srgbClr val="2E2D29"/>
                </a:solidFill>
                <a:latin typeface="Calibri"/>
              </a:rPr>
              <a:t>Trees contain 10³–10⁵ vessels, so a naive integration is prohibitive</a:t>
            </a:r>
          </a:p>
        </p:txBody>
      </p:sp>
      <p:sp>
        <p:nvSpPr>
          <p:cNvPr id="22" name="Rectangle 21"/>
          <p:cNvSpPr/>
          <p:nvPr/>
        </p:nvSpPr>
        <p:spPr>
          <a:xfrm>
            <a:off x="320040" y="3200400"/>
            <a:ext cx="4160520" cy="1517904"/>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448056" y="3300984"/>
            <a:ext cx="3904487" cy="219456"/>
          </a:xfrm>
          <a:prstGeom prst="rect">
            <a:avLst/>
          </a:prstGeom>
          <a:noFill/>
        </p:spPr>
        <p:txBody>
          <a:bodyPr wrap="square" lIns="27432" tIns="0" rIns="27432" bIns="0" anchor="t">
            <a:spAutoFit/>
          </a:bodyPr>
          <a:lstStyle/>
          <a:p>
            <a:pPr algn="l"/>
            <a:r>
              <a:rPr sz="1100" b="1" i="0">
                <a:solidFill>
                  <a:srgbClr val="279989"/>
                </a:solidFill>
                <a:latin typeface="Calibri"/>
              </a:rPr>
              <a:t>Multirate solution</a:t>
            </a:r>
          </a:p>
        </p:txBody>
      </p:sp>
      <p:sp>
        <p:nvSpPr>
          <p:cNvPr id="24" name="TextBox 23"/>
          <p:cNvSpPr txBox="1"/>
          <p:nvPr/>
        </p:nvSpPr>
        <p:spPr>
          <a:xfrm>
            <a:off x="448056" y="3575303"/>
            <a:ext cx="3904487" cy="1106424"/>
          </a:xfrm>
          <a:prstGeom prst="rect">
            <a:avLst/>
          </a:prstGeom>
          <a:noFill/>
        </p:spPr>
        <p:txBody>
          <a:bodyPr wrap="square" lIns="27432" tIns="0" rIns="27432" bIns="0">
            <a:spAutoFit/>
          </a:bodyPr>
          <a:lstStyle/>
          <a:p>
            <a:pPr>
              <a:spcAft>
                <a:spcPts val="350"/>
              </a:spcAft>
            </a:pPr>
            <a:r>
              <a:rPr sz="950">
                <a:solidFill>
                  <a:srgbClr val="279989"/>
                </a:solidFill>
                <a:latin typeface="Calibri"/>
              </a:rPr>
              <a:t>• </a:t>
            </a:r>
            <a:r>
              <a:rPr sz="950">
                <a:solidFill>
                  <a:srgbClr val="2E2D29"/>
                </a:solidFill>
                <a:latin typeface="Calibri"/>
              </a:rPr>
              <a:t>The tree is re-simulated only when the accumulated radius change is significant</a:t>
            </a:r>
          </a:p>
          <a:p>
            <a:pPr>
              <a:spcAft>
                <a:spcPts val="350"/>
              </a:spcAft>
            </a:pPr>
            <a:r>
              <a:rPr sz="950">
                <a:solidFill>
                  <a:srgbClr val="279989"/>
                </a:solidFill>
                <a:latin typeface="Calibri"/>
              </a:rPr>
              <a:t>• </a:t>
            </a:r>
            <a:r>
              <a:rPr sz="950">
                <a:solidFill>
                  <a:srgbClr val="2E2D29"/>
                </a:solidFill>
                <a:latin typeface="Calibri"/>
              </a:rPr>
              <a:t>Otherwise derivatives are updated from the previous step's radius change</a:t>
            </a:r>
          </a:p>
          <a:p>
            <a:pPr>
              <a:spcAft>
                <a:spcPts val="350"/>
              </a:spcAft>
            </a:pPr>
            <a:r>
              <a:rPr sz="950">
                <a:solidFill>
                  <a:srgbClr val="279989"/>
                </a:solidFill>
                <a:latin typeface="Calibri"/>
              </a:rPr>
              <a:t>• </a:t>
            </a:r>
            <a:r>
              <a:rPr sz="950">
                <a:solidFill>
                  <a:srgbClr val="2E2D29"/>
                </a:solidFill>
                <a:latin typeface="Calibri"/>
              </a:rPr>
              <a:t>This is what makes higher-order integrators usable at all</a:t>
            </a:r>
          </a:p>
        </p:txBody>
      </p:sp>
      <p:sp>
        <p:nvSpPr>
          <p:cNvPr id="25" name="TextBox 24"/>
          <p:cNvSpPr txBox="1"/>
          <p:nvPr/>
        </p:nvSpPr>
        <p:spPr>
          <a:xfrm>
            <a:off x="4846320" y="1408176"/>
            <a:ext cx="3977639" cy="201168"/>
          </a:xfrm>
          <a:prstGeom prst="rect">
            <a:avLst/>
          </a:prstGeom>
          <a:noFill/>
        </p:spPr>
        <p:txBody>
          <a:bodyPr wrap="square" lIns="27432" tIns="0" rIns="27432" bIns="0" anchor="t">
            <a:spAutoFit/>
          </a:bodyPr>
          <a:lstStyle/>
          <a:p>
            <a:pPr algn="l"/>
            <a:r>
              <a:rPr sz="950" b="1" i="0">
                <a:solidFill>
                  <a:srgbClr val="8C1515"/>
                </a:solidFill>
                <a:latin typeface="Calibri"/>
              </a:rPr>
              <a:t>Integrator comparison</a:t>
            </a:r>
          </a:p>
        </p:txBody>
      </p:sp>
      <p:sp>
        <p:nvSpPr>
          <p:cNvPr id="26" name="Rectangle 25"/>
          <p:cNvSpPr/>
          <p:nvPr/>
        </p:nvSpPr>
        <p:spPr>
          <a:xfrm>
            <a:off x="4846320" y="1682496"/>
            <a:ext cx="3977639" cy="40233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4919472" y="1682496"/>
            <a:ext cx="1260957" cy="402336"/>
          </a:xfrm>
          <a:prstGeom prst="rect">
            <a:avLst/>
          </a:prstGeom>
          <a:noFill/>
        </p:spPr>
        <p:txBody>
          <a:bodyPr wrap="square" lIns="27432" tIns="0" rIns="27432" bIns="0" anchor="ctr">
            <a:spAutoFit/>
          </a:bodyPr>
          <a:lstStyle/>
          <a:p>
            <a:pPr algn="l"/>
            <a:r>
              <a:rPr sz="900" b="1" i="0">
                <a:solidFill>
                  <a:srgbClr val="2E2D29"/>
                </a:solidFill>
                <a:latin typeface="Calibri"/>
              </a:rPr>
              <a:t>BDF</a:t>
            </a:r>
          </a:p>
        </p:txBody>
      </p:sp>
      <p:sp>
        <p:nvSpPr>
          <p:cNvPr id="28" name="TextBox 27"/>
          <p:cNvSpPr txBox="1"/>
          <p:nvPr/>
        </p:nvSpPr>
        <p:spPr>
          <a:xfrm>
            <a:off x="6198717" y="1682496"/>
            <a:ext cx="2552090" cy="402336"/>
          </a:xfrm>
          <a:prstGeom prst="rect">
            <a:avLst/>
          </a:prstGeom>
          <a:noFill/>
        </p:spPr>
        <p:txBody>
          <a:bodyPr wrap="square" lIns="27432" tIns="0" rIns="27432" bIns="0" anchor="ctr">
            <a:spAutoFit/>
          </a:bodyPr>
          <a:lstStyle/>
          <a:p>
            <a:pPr algn="l"/>
            <a:r>
              <a:rPr sz="900" b="0" i="0">
                <a:solidFill>
                  <a:srgbClr val="6B6965"/>
                </a:solidFill>
                <a:latin typeface="Calibri"/>
              </a:rPr>
              <a:t>Fastest; solves reliably — current default</a:t>
            </a:r>
          </a:p>
        </p:txBody>
      </p:sp>
      <p:sp>
        <p:nvSpPr>
          <p:cNvPr id="29" name="TextBox 28"/>
          <p:cNvSpPr txBox="1"/>
          <p:nvPr/>
        </p:nvSpPr>
        <p:spPr>
          <a:xfrm>
            <a:off x="4919472" y="2084832"/>
            <a:ext cx="1260957" cy="402336"/>
          </a:xfrm>
          <a:prstGeom prst="rect">
            <a:avLst/>
          </a:prstGeom>
          <a:noFill/>
        </p:spPr>
        <p:txBody>
          <a:bodyPr wrap="square" lIns="27432" tIns="0" rIns="27432" bIns="0" anchor="ctr">
            <a:spAutoFit/>
          </a:bodyPr>
          <a:lstStyle/>
          <a:p>
            <a:pPr algn="l"/>
            <a:r>
              <a:rPr sz="900" b="1" i="0">
                <a:solidFill>
                  <a:srgbClr val="2E2D29"/>
                </a:solidFill>
                <a:latin typeface="Calibri"/>
              </a:rPr>
              <a:t>Radau</a:t>
            </a:r>
          </a:p>
        </p:txBody>
      </p:sp>
      <p:sp>
        <p:nvSpPr>
          <p:cNvPr id="30" name="TextBox 29"/>
          <p:cNvSpPr txBox="1"/>
          <p:nvPr/>
        </p:nvSpPr>
        <p:spPr>
          <a:xfrm>
            <a:off x="6198717" y="2084832"/>
            <a:ext cx="2552090" cy="402336"/>
          </a:xfrm>
          <a:prstGeom prst="rect">
            <a:avLst/>
          </a:prstGeom>
          <a:noFill/>
        </p:spPr>
        <p:txBody>
          <a:bodyPr wrap="square" lIns="27432" tIns="0" rIns="27432" bIns="0" anchor="ctr">
            <a:spAutoFit/>
          </a:bodyPr>
          <a:lstStyle/>
          <a:p>
            <a:pPr algn="l"/>
            <a:r>
              <a:rPr sz="900" b="0" i="0">
                <a:solidFill>
                  <a:srgbClr val="6B6965"/>
                </a:solidFill>
                <a:latin typeface="Calibri"/>
              </a:rPr>
              <a:t>Slowest; robust for stiff systems</a:t>
            </a:r>
          </a:p>
        </p:txBody>
      </p:sp>
      <p:sp>
        <p:nvSpPr>
          <p:cNvPr id="31" name="Rectangle 30"/>
          <p:cNvSpPr/>
          <p:nvPr/>
        </p:nvSpPr>
        <p:spPr>
          <a:xfrm>
            <a:off x="4846320" y="2487168"/>
            <a:ext cx="3977639" cy="40233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4919472" y="2487168"/>
            <a:ext cx="1260957" cy="402336"/>
          </a:xfrm>
          <a:prstGeom prst="rect">
            <a:avLst/>
          </a:prstGeom>
          <a:noFill/>
        </p:spPr>
        <p:txBody>
          <a:bodyPr wrap="square" lIns="27432" tIns="0" rIns="27432" bIns="0" anchor="ctr">
            <a:spAutoFit/>
          </a:bodyPr>
          <a:lstStyle/>
          <a:p>
            <a:pPr algn="l"/>
            <a:r>
              <a:rPr sz="900" b="1" i="0">
                <a:solidFill>
                  <a:srgbClr val="2E2D29"/>
                </a:solidFill>
                <a:latin typeface="Calibri"/>
              </a:rPr>
              <a:t>RK45</a:t>
            </a:r>
          </a:p>
        </p:txBody>
      </p:sp>
      <p:sp>
        <p:nvSpPr>
          <p:cNvPr id="33" name="TextBox 32"/>
          <p:cNvSpPr txBox="1"/>
          <p:nvPr/>
        </p:nvSpPr>
        <p:spPr>
          <a:xfrm>
            <a:off x="6198717" y="2487168"/>
            <a:ext cx="2552090" cy="402336"/>
          </a:xfrm>
          <a:prstGeom prst="rect">
            <a:avLst/>
          </a:prstGeom>
          <a:noFill/>
        </p:spPr>
        <p:txBody>
          <a:bodyPr wrap="square" lIns="27432" tIns="0" rIns="27432" bIns="0" anchor="ctr">
            <a:spAutoFit/>
          </a:bodyPr>
          <a:lstStyle/>
          <a:p>
            <a:pPr algn="l"/>
            <a:r>
              <a:rPr sz="900" b="0" i="0">
                <a:solidFill>
                  <a:srgbClr val="6B6965"/>
                </a:solidFill>
                <a:latin typeface="Calibri"/>
              </a:rPr>
              <a:t>Reasonably fast, but intermediate states can yield infeasible 0D resistances</a:t>
            </a:r>
          </a:p>
        </p:txBody>
      </p:sp>
      <p:sp>
        <p:nvSpPr>
          <p:cNvPr id="34" name="Rectangle 33"/>
          <p:cNvSpPr/>
          <p:nvPr/>
        </p:nvSpPr>
        <p:spPr>
          <a:xfrm>
            <a:off x="4846320" y="3127248"/>
            <a:ext cx="3977639" cy="159105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4974336" y="3227832"/>
            <a:ext cx="3721607" cy="219456"/>
          </a:xfrm>
          <a:prstGeom prst="rect">
            <a:avLst/>
          </a:prstGeom>
          <a:noFill/>
        </p:spPr>
        <p:txBody>
          <a:bodyPr wrap="square" lIns="27432" tIns="0" rIns="27432" bIns="0" anchor="t">
            <a:spAutoFit/>
          </a:bodyPr>
          <a:lstStyle/>
          <a:p>
            <a:pPr algn="l"/>
            <a:r>
              <a:rPr sz="1100" b="1" i="0">
                <a:solidFill>
                  <a:srgbClr val="8C1515"/>
                </a:solidFill>
                <a:latin typeface="Calibri"/>
              </a:rPr>
              <a:t>Practical notes</a:t>
            </a:r>
          </a:p>
        </p:txBody>
      </p:sp>
      <p:sp>
        <p:nvSpPr>
          <p:cNvPr id="36" name="TextBox 35"/>
          <p:cNvSpPr txBox="1"/>
          <p:nvPr/>
        </p:nvSpPr>
        <p:spPr>
          <a:xfrm>
            <a:off x="4974336" y="3502151"/>
            <a:ext cx="3721607" cy="1179576"/>
          </a:xfrm>
          <a:prstGeom prst="rect">
            <a:avLst/>
          </a:prstGeom>
          <a:noFill/>
        </p:spPr>
        <p:txBody>
          <a:bodyPr wrap="square" lIns="27432" tIns="0" rIns="27432" bIns="0">
            <a:spAutoFit/>
          </a:bodyPr>
          <a:lstStyle/>
          <a:p>
            <a:pPr>
              <a:spcAft>
                <a:spcPts val="350"/>
              </a:spcAft>
            </a:pPr>
            <a:r>
              <a:rPr sz="900">
                <a:solidFill>
                  <a:srgbClr val="8C1515"/>
                </a:solidFill>
                <a:latin typeface="Calibri"/>
              </a:rPr>
              <a:t>• </a:t>
            </a:r>
            <a:r>
              <a:rPr sz="900">
                <a:solidFill>
                  <a:srgbClr val="2E2D29"/>
                </a:solidFill>
                <a:latin typeface="Calibri"/>
              </a:rPr>
              <a:t>Intuition-building sweeps use d_min = 0.05 cm rather than the production 0.01 cm</a:t>
            </a:r>
          </a:p>
          <a:p>
            <a:pPr>
              <a:spcAft>
                <a:spcPts val="350"/>
              </a:spcAft>
            </a:pPr>
            <a:r>
              <a:rPr sz="900">
                <a:solidFill>
                  <a:srgbClr val="8C1515"/>
                </a:solidFill>
                <a:latin typeface="Calibri"/>
              </a:rPr>
              <a:t>• </a:t>
            </a:r>
            <a:r>
              <a:rPr sz="900">
                <a:solidFill>
                  <a:srgbClr val="2E2D29"/>
                </a:solidFill>
                <a:latin typeface="Calibri"/>
              </a:rPr>
              <a:t>Vectorized tree construction gave roughly a hundred-fold speed-up in impedance evaluation</a:t>
            </a:r>
          </a:p>
        </p:txBody>
      </p:sp>
      <p:sp>
        <p:nvSpPr>
          <p:cNvPr id="37" name="Rectangle 36"/>
          <p:cNvSpPr/>
          <p:nvPr/>
        </p:nvSpPr>
        <p:spPr>
          <a:xfrm>
            <a:off x="320040" y="4846320"/>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429768" y="4846320"/>
            <a:ext cx="8284464" cy="310896"/>
          </a:xfrm>
          <a:prstGeom prst="rect">
            <a:avLst/>
          </a:prstGeom>
          <a:noFill/>
        </p:spPr>
        <p:txBody>
          <a:bodyPr wrap="square" lIns="27432" tIns="0" rIns="27432" bIns="0" anchor="ctr">
            <a:spAutoFit/>
          </a:bodyPr>
          <a:lstStyle/>
          <a:p>
            <a:pPr algn="l"/>
            <a:r>
              <a:rPr sz="1000" b="1" i="0">
                <a:solidFill>
                  <a:srgbClr val="8C1515"/>
                </a:solidFill>
                <a:latin typeface="Calibri"/>
              </a:rPr>
              <a:t>Integration is solved; gain identification is the remaining open problem.</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sz="2200">
                <a:solidFill>
                  <a:srgbClr val="8C1515"/>
                </a:solidFill>
                <a:latin typeface="Georgia"/>
              </a:rPr>
              <a:t>The gains are the lever on adapted flow split</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IN DEVELOPMENT</a:t>
            </a:r>
          </a:p>
        </p:txBody>
      </p:sp>
      <p:pic>
        <p:nvPicPr>
          <p:cNvPr id="19" name="Picture 18" descr="toy_small_pert.png"/>
          <p:cNvPicPr>
            <a:picLocks noChangeAspect="1"/>
          </p:cNvPicPr>
          <p:nvPr/>
        </p:nvPicPr>
        <p:blipFill>
          <a:blip r:embed="rId2"/>
          <a:stretch>
            <a:fillRect/>
          </a:stretch>
        </p:blipFill>
        <p:spPr>
          <a:xfrm>
            <a:off x="360045" y="1371600"/>
            <a:ext cx="4080509" cy="2176272"/>
          </a:xfrm>
          <a:prstGeom prst="rect">
            <a:avLst/>
          </a:prstGeom>
        </p:spPr>
      </p:pic>
      <p:sp>
        <p:nvSpPr>
          <p:cNvPr id="20" name="TextBox 19"/>
          <p:cNvSpPr txBox="1"/>
          <p:nvPr/>
        </p:nvSpPr>
        <p:spPr>
          <a:xfrm>
            <a:off x="320040" y="3584448"/>
            <a:ext cx="4160520" cy="201168"/>
          </a:xfrm>
          <a:prstGeom prst="rect">
            <a:avLst/>
          </a:prstGeom>
          <a:noFill/>
        </p:spPr>
        <p:txBody>
          <a:bodyPr wrap="square" lIns="27432" tIns="0" rIns="27432" bIns="0" anchor="t">
            <a:spAutoFit/>
          </a:bodyPr>
          <a:lstStyle/>
          <a:p>
            <a:pPr algn="ctr"/>
            <a:r>
              <a:rPr sz="850" b="0" i="1">
                <a:solidFill>
                  <a:srgbClr val="6B6965"/>
                </a:solidFill>
                <a:latin typeface="Calibri"/>
              </a:rPr>
              <a:t>Small perturbation — upstream radius × 1.05</a:t>
            </a:r>
          </a:p>
        </p:txBody>
      </p:sp>
      <p:pic>
        <p:nvPicPr>
          <p:cNvPr id="21" name="Picture 20" descr="toy_large_pert.png"/>
          <p:cNvPicPr>
            <a:picLocks noChangeAspect="1"/>
          </p:cNvPicPr>
          <p:nvPr/>
        </p:nvPicPr>
        <p:blipFill>
          <a:blip r:embed="rId3"/>
          <a:stretch>
            <a:fillRect/>
          </a:stretch>
        </p:blipFill>
        <p:spPr>
          <a:xfrm>
            <a:off x="4703445" y="1371600"/>
            <a:ext cx="4080509" cy="2176272"/>
          </a:xfrm>
          <a:prstGeom prst="rect">
            <a:avLst/>
          </a:prstGeom>
        </p:spPr>
      </p:pic>
      <p:sp>
        <p:nvSpPr>
          <p:cNvPr id="22" name="TextBox 21"/>
          <p:cNvSpPr txBox="1"/>
          <p:nvPr/>
        </p:nvSpPr>
        <p:spPr>
          <a:xfrm>
            <a:off x="4663440" y="3584448"/>
            <a:ext cx="4160520" cy="201168"/>
          </a:xfrm>
          <a:prstGeom prst="rect">
            <a:avLst/>
          </a:prstGeom>
          <a:noFill/>
        </p:spPr>
        <p:txBody>
          <a:bodyPr wrap="square" lIns="27432" tIns="0" rIns="27432" bIns="0" anchor="t">
            <a:spAutoFit/>
          </a:bodyPr>
          <a:lstStyle/>
          <a:p>
            <a:pPr algn="ctr"/>
            <a:r>
              <a:rPr sz="850" b="0" i="1">
                <a:solidFill>
                  <a:srgbClr val="6B6965"/>
                </a:solidFill>
                <a:latin typeface="Calibri"/>
              </a:rPr>
              <a:t>Large perturbation — upstream radius × 2.0</a:t>
            </a:r>
          </a:p>
        </p:txBody>
      </p:sp>
      <p:sp>
        <p:nvSpPr>
          <p:cNvPr id="23" name="TextBox 22"/>
          <p:cNvSpPr txBox="1"/>
          <p:nvPr/>
        </p:nvSpPr>
        <p:spPr>
          <a:xfrm>
            <a:off x="320040" y="3913632"/>
            <a:ext cx="8503920" cy="841248"/>
          </a:xfrm>
          <a:prstGeom prst="rect">
            <a:avLst/>
          </a:prstGeom>
          <a:noFill/>
        </p:spPr>
        <p:txBody>
          <a:bodyPr wrap="square" lIns="27432" tIns="0" rIns="27432" bIns="0">
            <a:spAutoFit/>
          </a:bodyPr>
          <a:lstStyle/>
          <a:p>
            <a:pPr>
              <a:spcAft>
                <a:spcPts val="500"/>
              </a:spcAft>
            </a:pPr>
            <a:r>
              <a:rPr sz="950">
                <a:solidFill>
                  <a:srgbClr val="8C1515"/>
                </a:solidFill>
                <a:latin typeface="Calibri"/>
              </a:rPr>
              <a:t>• </a:t>
            </a:r>
            <a:r>
              <a:rPr sz="950">
                <a:solidFill>
                  <a:srgbClr val="2E2D29"/>
                </a:solidFill>
                <a:latin typeface="Calibri"/>
              </a:rPr>
              <a:t>A two-branch toy model with adaptive downstream boundary conditions isolates the effect of the gains from patient-specific anatomy</a:t>
            </a:r>
          </a:p>
          <a:p>
            <a:pPr>
              <a:spcAft>
                <a:spcPts val="500"/>
              </a:spcAft>
            </a:pPr>
            <a:r>
              <a:rPr sz="950">
                <a:solidFill>
                  <a:srgbClr val="8C1515"/>
                </a:solidFill>
                <a:latin typeface="Calibri"/>
              </a:rPr>
              <a:t>• </a:t>
            </a:r>
            <a:r>
              <a:rPr sz="950">
                <a:solidFill>
                  <a:srgbClr val="2E2D29"/>
                </a:solidFill>
                <a:latin typeface="Calibri"/>
              </a:rPr>
              <a:t>Varying the thickness gains alone moves the steady adapted flow split across a usable range</a:t>
            </a:r>
          </a:p>
          <a:p>
            <a:pPr>
              <a:spcAft>
                <a:spcPts val="500"/>
              </a:spcAft>
            </a:pPr>
            <a:r>
              <a:rPr sz="950">
                <a:solidFill>
                  <a:srgbClr val="8C1515"/>
                </a:solidFill>
                <a:latin typeface="Calibri"/>
              </a:rPr>
              <a:t>• </a:t>
            </a:r>
            <a:r>
              <a:rPr sz="950">
                <a:solidFill>
                  <a:srgbClr val="2E2D29"/>
                </a:solidFill>
                <a:latin typeface="Calibri"/>
              </a:rPr>
              <a:t>Perturbation magnitude matters for stability: large upstream changes can push the system out of its convergent regime</a:t>
            </a:r>
          </a:p>
        </p:txBody>
      </p:sp>
      <p:sp>
        <p:nvSpPr>
          <p:cNvPr id="24" name="Rectangle 23"/>
          <p:cNvSpPr/>
          <p:nvPr/>
        </p:nvSpPr>
        <p:spPr>
          <a:xfrm>
            <a:off x="320040" y="4882896"/>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429768" y="4882896"/>
            <a:ext cx="8284464" cy="310896"/>
          </a:xfrm>
          <a:prstGeom prst="rect">
            <a:avLst/>
          </a:prstGeom>
          <a:noFill/>
        </p:spPr>
        <p:txBody>
          <a:bodyPr wrap="square" lIns="27432" tIns="0" rIns="27432" bIns="0" anchor="ctr">
            <a:spAutoFit/>
          </a:bodyPr>
          <a:lstStyle/>
          <a:p>
            <a:pPr algn="l"/>
            <a:r>
              <a:rPr sz="1000" b="1" i="0">
                <a:solidFill>
                  <a:srgbClr val="8C1515"/>
                </a:solidFill>
                <a:latin typeface="Calibri"/>
              </a:rPr>
              <a:t>Thickness gains give a tunable, physically interpretable handle on the adapted split.</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sz="2200">
                <a:solidFill>
                  <a:srgbClr val="8C1515"/>
                </a:solidFill>
                <a:latin typeface="Georgia"/>
              </a:rPr>
              <a:t>Patient-specific adaptation tests</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FFFFFF"/>
                </a:solidFill>
                <a:latin typeface="Calibri"/>
              </a:rPr>
              <a:t>IN DEVELOPMENT</a:t>
            </a:r>
          </a:p>
        </p:txBody>
      </p:sp>
      <p:pic>
        <p:nvPicPr>
          <p:cNvPr id="19" name="Picture 18" descr="adapt_bars_T1.png"/>
          <p:cNvPicPr>
            <a:picLocks noChangeAspect="1"/>
          </p:cNvPicPr>
          <p:nvPr/>
        </p:nvPicPr>
        <p:blipFill>
          <a:blip r:embed="rId2"/>
          <a:stretch>
            <a:fillRect/>
          </a:stretch>
        </p:blipFill>
        <p:spPr>
          <a:xfrm>
            <a:off x="320040" y="1745242"/>
            <a:ext cx="4160520" cy="1685018"/>
          </a:xfrm>
          <a:prstGeom prst="rect">
            <a:avLst/>
          </a:prstGeom>
        </p:spPr>
      </p:pic>
      <p:sp>
        <p:nvSpPr>
          <p:cNvPr id="20" name="TextBox 19"/>
          <p:cNvSpPr txBox="1"/>
          <p:nvPr/>
        </p:nvSpPr>
        <p:spPr>
          <a:xfrm>
            <a:off x="320040" y="3840480"/>
            <a:ext cx="4160520" cy="201168"/>
          </a:xfrm>
          <a:prstGeom prst="rect">
            <a:avLst/>
          </a:prstGeom>
          <a:noFill/>
        </p:spPr>
        <p:txBody>
          <a:bodyPr wrap="square" lIns="27432" tIns="0" rIns="27432" bIns="0" anchor="t">
            <a:spAutoFit/>
          </a:bodyPr>
          <a:lstStyle/>
          <a:p>
            <a:pPr algn="ctr"/>
            <a:r>
              <a:rPr sz="850" b="0" i="1">
                <a:solidFill>
                  <a:srgbClr val="6B6965"/>
                </a:solidFill>
                <a:latin typeface="Calibri"/>
              </a:rPr>
              <a:t>TST-STAN-1 — pre-op, acute post-op and adapted conditions</a:t>
            </a:r>
          </a:p>
        </p:txBody>
      </p:sp>
      <p:pic>
        <p:nvPicPr>
          <p:cNvPr id="21" name="Picture 20" descr="adapt_bars_T9.png"/>
          <p:cNvPicPr>
            <a:picLocks noChangeAspect="1"/>
          </p:cNvPicPr>
          <p:nvPr/>
        </p:nvPicPr>
        <p:blipFill>
          <a:blip r:embed="rId3"/>
          <a:stretch>
            <a:fillRect/>
          </a:stretch>
        </p:blipFill>
        <p:spPr>
          <a:xfrm>
            <a:off x="4663440" y="1745242"/>
            <a:ext cx="4160520" cy="1685018"/>
          </a:xfrm>
          <a:prstGeom prst="rect">
            <a:avLst/>
          </a:prstGeom>
        </p:spPr>
      </p:pic>
      <p:sp>
        <p:nvSpPr>
          <p:cNvPr id="22" name="TextBox 21"/>
          <p:cNvSpPr txBox="1"/>
          <p:nvPr/>
        </p:nvSpPr>
        <p:spPr>
          <a:xfrm>
            <a:off x="4663440" y="3840480"/>
            <a:ext cx="4160520" cy="201168"/>
          </a:xfrm>
          <a:prstGeom prst="rect">
            <a:avLst/>
          </a:prstGeom>
          <a:noFill/>
        </p:spPr>
        <p:txBody>
          <a:bodyPr wrap="square" lIns="27432" tIns="0" rIns="27432" bIns="0" anchor="t">
            <a:spAutoFit/>
          </a:bodyPr>
          <a:lstStyle/>
          <a:p>
            <a:pPr algn="ctr"/>
            <a:r>
              <a:rPr sz="850" b="0" i="1">
                <a:solidFill>
                  <a:srgbClr val="6B6965"/>
                </a:solidFill>
                <a:latin typeface="Calibri"/>
              </a:rPr>
              <a:t>TST-STAN-9 — pre-op, acute post-op and adapted conditions</a:t>
            </a:r>
          </a:p>
        </p:txBody>
      </p:sp>
      <p:sp>
        <p:nvSpPr>
          <p:cNvPr id="23" name="TextBox 22"/>
          <p:cNvSpPr txBox="1"/>
          <p:nvPr/>
        </p:nvSpPr>
        <p:spPr>
          <a:xfrm>
            <a:off x="320040" y="4133087"/>
            <a:ext cx="8503920" cy="502702"/>
          </a:xfrm>
          <a:prstGeom prst="rect">
            <a:avLst/>
          </a:prstGeom>
          <a:noFill/>
        </p:spPr>
        <p:txBody>
          <a:bodyPr wrap="square" lIns="27432" tIns="0" rIns="27432" bIns="0">
            <a:spAutoFit/>
          </a:bodyPr>
          <a:lstStyle/>
          <a:p>
            <a:pPr>
              <a:spcAft>
                <a:spcPts val="500"/>
              </a:spcAft>
            </a:pPr>
            <a:r>
              <a:rPr sz="950" dirty="0">
                <a:solidFill>
                  <a:srgbClr val="8C1515"/>
                </a:solidFill>
                <a:latin typeface="Calibri"/>
              </a:rPr>
              <a:t>• </a:t>
            </a:r>
            <a:r>
              <a:rPr sz="950" dirty="0">
                <a:solidFill>
                  <a:srgbClr val="2E2D29"/>
                </a:solidFill>
                <a:latin typeface="Calibri"/>
              </a:rPr>
              <a:t>Adaptation is currently exercised in 0D only; these results have not yet been carried back into a 3D simulation</a:t>
            </a:r>
          </a:p>
          <a:p>
            <a:pPr>
              <a:spcAft>
                <a:spcPts val="500"/>
              </a:spcAft>
            </a:pPr>
            <a:r>
              <a:rPr sz="950" dirty="0">
                <a:solidFill>
                  <a:srgbClr val="8C1515"/>
                </a:solidFill>
                <a:latin typeface="Calibri"/>
              </a:rPr>
              <a:t>• </a:t>
            </a:r>
            <a:r>
              <a:rPr sz="950" dirty="0">
                <a:solidFill>
                  <a:srgbClr val="2E2D29"/>
                </a:solidFill>
                <a:latin typeface="Calibri"/>
              </a:rPr>
              <a:t>Some simulated stents overshoot the measured post-operative flow split — angiographic diameters should be checked against nominal stent size</a:t>
            </a:r>
            <a:r>
              <a:rPr lang="en-US" sz="950" dirty="0">
                <a:solidFill>
                  <a:srgbClr val="2E2D29"/>
                </a:solidFill>
                <a:latin typeface="Calibri"/>
              </a:rPr>
              <a:t> AND THE 0D MODEL NEEDS TO BE IMPROVED TO ADDRESS THIS</a:t>
            </a:r>
            <a:endParaRPr sz="950" dirty="0">
              <a:solidFill>
                <a:srgbClr val="2E2D29"/>
              </a:solidFill>
              <a:latin typeface="Calibri"/>
            </a:endParaRPr>
          </a:p>
        </p:txBody>
      </p:sp>
      <p:sp>
        <p:nvSpPr>
          <p:cNvPr id="24" name="Rectangle 23"/>
          <p:cNvSpPr/>
          <p:nvPr/>
        </p:nvSpPr>
        <p:spPr>
          <a:xfrm>
            <a:off x="320040" y="4882896"/>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429768" y="4882896"/>
            <a:ext cx="8284464" cy="310896"/>
          </a:xfrm>
          <a:prstGeom prst="rect">
            <a:avLst/>
          </a:prstGeom>
          <a:noFill/>
        </p:spPr>
        <p:txBody>
          <a:bodyPr wrap="square" lIns="27432" tIns="0" rIns="27432" bIns="0" anchor="ctr">
            <a:spAutoFit/>
          </a:bodyPr>
          <a:lstStyle/>
          <a:p>
            <a:pPr algn="l"/>
            <a:r>
              <a:rPr sz="1000" b="1" i="0">
                <a:solidFill>
                  <a:srgbClr val="8C1515"/>
                </a:solidFill>
                <a:latin typeface="Calibri"/>
              </a:rPr>
              <a:t>Two of five patients have been through the adaptation step; the remaining three follow once tuning closes.</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sz="2200">
                <a:solidFill>
                  <a:srgbClr val="8C1515"/>
                </a:solidFill>
                <a:latin typeface="Georgia"/>
              </a:rPr>
              <a:t>Identifying the gains: calibration and validation design</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6B6965"/>
                </a:solidFill>
                <a:latin typeface="Calibri"/>
              </a:rPr>
              <a:t>PLANNED</a:t>
            </a:r>
          </a:p>
        </p:txBody>
      </p:sp>
      <p:sp>
        <p:nvSpPr>
          <p:cNvPr id="19" name="Rectangle 18"/>
          <p:cNvSpPr/>
          <p:nvPr/>
        </p:nvSpPr>
        <p:spPr>
          <a:xfrm>
            <a:off x="320040" y="1408176"/>
            <a:ext cx="4160520" cy="173736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448056" y="1508760"/>
            <a:ext cx="3904487" cy="219456"/>
          </a:xfrm>
          <a:prstGeom prst="rect">
            <a:avLst/>
          </a:prstGeom>
          <a:noFill/>
        </p:spPr>
        <p:txBody>
          <a:bodyPr wrap="square" lIns="27432" tIns="0" rIns="27432" bIns="0" anchor="t">
            <a:spAutoFit/>
          </a:bodyPr>
          <a:lstStyle/>
          <a:p>
            <a:pPr algn="l"/>
            <a:r>
              <a:rPr sz="1100" b="1" i="0">
                <a:solidFill>
                  <a:srgbClr val="E98300"/>
                </a:solidFill>
                <a:latin typeface="Calibri"/>
              </a:rPr>
              <a:t>The design decision</a:t>
            </a:r>
          </a:p>
        </p:txBody>
      </p:sp>
      <p:sp>
        <p:nvSpPr>
          <p:cNvPr id="21" name="TextBox 20"/>
          <p:cNvSpPr txBox="1"/>
          <p:nvPr/>
        </p:nvSpPr>
        <p:spPr>
          <a:xfrm>
            <a:off x="448056" y="1783080"/>
            <a:ext cx="3904487" cy="1325880"/>
          </a:xfrm>
          <a:prstGeom prst="rect">
            <a:avLst/>
          </a:prstGeom>
          <a:noFill/>
        </p:spPr>
        <p:txBody>
          <a:bodyPr wrap="square" lIns="27432" tIns="0" rIns="27432" bIns="0">
            <a:spAutoFit/>
          </a:bodyPr>
          <a:lstStyle/>
          <a:p>
            <a:pPr>
              <a:spcAft>
                <a:spcPts val="350"/>
              </a:spcAft>
            </a:pPr>
            <a:r>
              <a:rPr sz="950">
                <a:solidFill>
                  <a:srgbClr val="E98300"/>
                </a:solidFill>
                <a:latin typeface="Calibri"/>
              </a:rPr>
              <a:t>• </a:t>
            </a:r>
            <a:r>
              <a:rPr sz="950">
                <a:solidFill>
                  <a:srgbClr val="2E2D29"/>
                </a:solidFill>
                <a:latin typeface="Calibri"/>
              </a:rPr>
              <a:t>If gains are fit per patient against that patient's own post-operative data, the adapted result is a calibration, not a prediction</a:t>
            </a:r>
          </a:p>
          <a:p>
            <a:pPr>
              <a:spcAft>
                <a:spcPts val="350"/>
              </a:spcAft>
            </a:pPr>
            <a:r>
              <a:rPr sz="950">
                <a:solidFill>
                  <a:srgbClr val="E98300"/>
                </a:solidFill>
                <a:latin typeface="Calibri"/>
              </a:rPr>
              <a:t>• </a:t>
            </a:r>
            <a:r>
              <a:rPr sz="950">
                <a:solidFill>
                  <a:srgbClr val="2E2D29"/>
                </a:solidFill>
                <a:latin typeface="Calibri"/>
              </a:rPr>
              <a:t>The pipeline is only useful for treatment planning if the gains generalize</a:t>
            </a:r>
          </a:p>
        </p:txBody>
      </p:sp>
      <p:sp>
        <p:nvSpPr>
          <p:cNvPr id="22" name="Rectangle 21"/>
          <p:cNvSpPr/>
          <p:nvPr/>
        </p:nvSpPr>
        <p:spPr>
          <a:xfrm>
            <a:off x="320040" y="3291840"/>
            <a:ext cx="4160520" cy="1426464"/>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448056" y="3392424"/>
            <a:ext cx="3904487" cy="219456"/>
          </a:xfrm>
          <a:prstGeom prst="rect">
            <a:avLst/>
          </a:prstGeom>
          <a:noFill/>
        </p:spPr>
        <p:txBody>
          <a:bodyPr wrap="square" lIns="27432" tIns="0" rIns="27432" bIns="0" anchor="t">
            <a:spAutoFit/>
          </a:bodyPr>
          <a:lstStyle/>
          <a:p>
            <a:pPr algn="l"/>
            <a:r>
              <a:rPr sz="1100" b="1" i="0">
                <a:solidFill>
                  <a:srgbClr val="8C1515"/>
                </a:solidFill>
                <a:latin typeface="Calibri"/>
              </a:rPr>
              <a:t>Chosen approach</a:t>
            </a:r>
          </a:p>
        </p:txBody>
      </p:sp>
      <p:sp>
        <p:nvSpPr>
          <p:cNvPr id="24" name="TextBox 23"/>
          <p:cNvSpPr txBox="1"/>
          <p:nvPr/>
        </p:nvSpPr>
        <p:spPr>
          <a:xfrm>
            <a:off x="448056" y="3666744"/>
            <a:ext cx="3904487" cy="1014984"/>
          </a:xfrm>
          <a:prstGeom prst="rect">
            <a:avLst/>
          </a:prstGeom>
          <a:noFill/>
        </p:spPr>
        <p:txBody>
          <a:bodyPr wrap="square" lIns="27432" tIns="0" rIns="27432" bIns="0">
            <a:spAutoFit/>
          </a:bodyPr>
          <a:lstStyle/>
          <a:p>
            <a:pPr>
              <a:spcAft>
                <a:spcPts val="350"/>
              </a:spcAft>
            </a:pPr>
            <a:r>
              <a:rPr sz="950">
                <a:solidFill>
                  <a:srgbClr val="8C1515"/>
                </a:solidFill>
                <a:latin typeface="Calibri"/>
              </a:rPr>
              <a:t>• </a:t>
            </a:r>
            <a:r>
              <a:rPr sz="950">
                <a:solidFill>
                  <a:srgbClr val="2E2D29"/>
                </a:solidFill>
                <a:latin typeface="Calibri"/>
              </a:rPr>
              <a:t>Fit the gains on three patients and validate on the held-out two</a:t>
            </a:r>
          </a:p>
          <a:p>
            <a:pPr>
              <a:spcAft>
                <a:spcPts val="350"/>
              </a:spcAft>
            </a:pPr>
            <a:r>
              <a:rPr sz="950">
                <a:solidFill>
                  <a:srgbClr val="8C1515"/>
                </a:solidFill>
                <a:latin typeface="Calibri"/>
              </a:rPr>
              <a:t>• </a:t>
            </a:r>
            <a:r>
              <a:rPr sz="950">
                <a:solidFill>
                  <a:srgbClr val="2E2D29"/>
                </a:solidFill>
                <a:latin typeface="Calibri"/>
              </a:rPr>
              <a:t>Or leave-one-out cross-validation across all five, which uses the small cohort more efficiently</a:t>
            </a:r>
          </a:p>
        </p:txBody>
      </p:sp>
      <p:sp>
        <p:nvSpPr>
          <p:cNvPr id="25" name="Rectangle 24"/>
          <p:cNvSpPr/>
          <p:nvPr/>
        </p:nvSpPr>
        <p:spPr>
          <a:xfrm>
            <a:off x="4846320" y="1408176"/>
            <a:ext cx="3977639" cy="173736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4974336" y="1508760"/>
            <a:ext cx="3721607" cy="219456"/>
          </a:xfrm>
          <a:prstGeom prst="rect">
            <a:avLst/>
          </a:prstGeom>
          <a:noFill/>
        </p:spPr>
        <p:txBody>
          <a:bodyPr wrap="square" lIns="27432" tIns="0" rIns="27432" bIns="0" anchor="t">
            <a:spAutoFit/>
          </a:bodyPr>
          <a:lstStyle/>
          <a:p>
            <a:pPr algn="l"/>
            <a:r>
              <a:rPr sz="1100" b="1" i="0">
                <a:solidFill>
                  <a:srgbClr val="8C1515"/>
                </a:solidFill>
                <a:latin typeface="Calibri"/>
              </a:rPr>
              <a:t>Fitting objective</a:t>
            </a:r>
          </a:p>
        </p:txBody>
      </p:sp>
      <p:sp>
        <p:nvSpPr>
          <p:cNvPr id="27" name="TextBox 26"/>
          <p:cNvSpPr txBox="1"/>
          <p:nvPr/>
        </p:nvSpPr>
        <p:spPr>
          <a:xfrm>
            <a:off x="4974336" y="1783080"/>
            <a:ext cx="3721607" cy="1325880"/>
          </a:xfrm>
          <a:prstGeom prst="rect">
            <a:avLst/>
          </a:prstGeom>
          <a:noFill/>
        </p:spPr>
        <p:txBody>
          <a:bodyPr wrap="square" lIns="27432" tIns="0" rIns="27432" bIns="0">
            <a:spAutoFit/>
          </a:bodyPr>
          <a:lstStyle/>
          <a:p>
            <a:pPr>
              <a:spcAft>
                <a:spcPts val="350"/>
              </a:spcAft>
            </a:pPr>
            <a:r>
              <a:rPr sz="950">
                <a:solidFill>
                  <a:srgbClr val="8C1515"/>
                </a:solidFill>
                <a:latin typeface="Calibri"/>
              </a:rPr>
              <a:t>• </a:t>
            </a:r>
            <a:r>
              <a:rPr sz="950">
                <a:solidFill>
                  <a:srgbClr val="2E2D29"/>
                </a:solidFill>
                <a:latin typeface="Calibri"/>
              </a:rPr>
              <a:t>Match the measured post-operative RPA / LPA perfusion split</a:t>
            </a:r>
          </a:p>
          <a:p>
            <a:pPr>
              <a:spcAft>
                <a:spcPts val="350"/>
              </a:spcAft>
            </a:pPr>
            <a:r>
              <a:rPr sz="950">
                <a:solidFill>
                  <a:srgbClr val="8C1515"/>
                </a:solidFill>
                <a:latin typeface="Calibri"/>
              </a:rPr>
              <a:t>• </a:t>
            </a:r>
            <a:r>
              <a:rPr sz="950">
                <a:solidFill>
                  <a:srgbClr val="2E2D29"/>
                </a:solidFill>
                <a:latin typeface="Calibri"/>
              </a:rPr>
              <a:t>Secondary: post-operative MPA pressures</a:t>
            </a:r>
          </a:p>
        </p:txBody>
      </p:sp>
      <p:sp>
        <p:nvSpPr>
          <p:cNvPr id="28" name="Rectangle 27"/>
          <p:cNvSpPr/>
          <p:nvPr/>
        </p:nvSpPr>
        <p:spPr>
          <a:xfrm>
            <a:off x="4846320" y="3291840"/>
            <a:ext cx="3977639" cy="1426464"/>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4974336" y="3392424"/>
            <a:ext cx="2578607" cy="219456"/>
          </a:xfrm>
          <a:prstGeom prst="rect">
            <a:avLst/>
          </a:prstGeom>
          <a:noFill/>
        </p:spPr>
        <p:txBody>
          <a:bodyPr wrap="square" lIns="27432" tIns="0" rIns="27432" bIns="0" anchor="t">
            <a:spAutoFit/>
          </a:bodyPr>
          <a:lstStyle/>
          <a:p>
            <a:pPr algn="l"/>
            <a:r>
              <a:rPr sz="1100" b="1" i="0">
                <a:solidFill>
                  <a:srgbClr val="E98300"/>
                </a:solidFill>
                <a:latin typeface="Calibri"/>
              </a:rPr>
              <a:t>Reporting requirement</a:t>
            </a:r>
          </a:p>
        </p:txBody>
      </p:sp>
      <p:sp>
        <p:nvSpPr>
          <p:cNvPr id="30" name="Rectangle 29"/>
          <p:cNvSpPr/>
          <p:nvPr/>
        </p:nvSpPr>
        <p:spPr>
          <a:xfrm>
            <a:off x="7580375" y="3401568"/>
            <a:ext cx="1097280" cy="173736"/>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7580375" y="3401568"/>
            <a:ext cx="1097280" cy="173736"/>
          </a:xfrm>
          <a:prstGeom prst="rect">
            <a:avLst/>
          </a:prstGeom>
          <a:noFill/>
        </p:spPr>
        <p:txBody>
          <a:bodyPr wrap="square" lIns="18288" tIns="0" rIns="18288" bIns="0" anchor="ctr">
            <a:spAutoFit/>
          </a:bodyPr>
          <a:lstStyle/>
          <a:p>
            <a:pPr algn="ctr"/>
            <a:r>
              <a:rPr sz="600" b="1">
                <a:solidFill>
                  <a:srgbClr val="6B6965"/>
                </a:solidFill>
                <a:latin typeface="Calibri"/>
              </a:rPr>
              <a:t>PLANNED</a:t>
            </a:r>
          </a:p>
        </p:txBody>
      </p:sp>
      <p:sp>
        <p:nvSpPr>
          <p:cNvPr id="32" name="TextBox 31"/>
          <p:cNvSpPr txBox="1"/>
          <p:nvPr/>
        </p:nvSpPr>
        <p:spPr>
          <a:xfrm>
            <a:off x="4974336" y="3666744"/>
            <a:ext cx="3721607" cy="1014984"/>
          </a:xfrm>
          <a:prstGeom prst="rect">
            <a:avLst/>
          </a:prstGeom>
          <a:noFill/>
        </p:spPr>
        <p:txBody>
          <a:bodyPr wrap="square" lIns="27432" tIns="0" rIns="27432" bIns="0">
            <a:spAutoFit/>
          </a:bodyPr>
          <a:lstStyle/>
          <a:p>
            <a:pPr>
              <a:spcAft>
                <a:spcPts val="350"/>
              </a:spcAft>
            </a:pPr>
            <a:r>
              <a:rPr sz="950">
                <a:solidFill>
                  <a:srgbClr val="E98300"/>
                </a:solidFill>
                <a:latin typeface="Calibri"/>
              </a:rPr>
              <a:t>• </a:t>
            </a:r>
            <a:r>
              <a:rPr sz="950">
                <a:solidFill>
                  <a:srgbClr val="2E2D29"/>
                </a:solidFill>
                <a:latin typeface="Calibri"/>
              </a:rPr>
              <a:t>Held-out error must be reported separately from fitted error</a:t>
            </a:r>
          </a:p>
          <a:p>
            <a:pPr>
              <a:spcAft>
                <a:spcPts val="350"/>
              </a:spcAft>
            </a:pPr>
            <a:r>
              <a:rPr sz="950">
                <a:solidFill>
                  <a:srgbClr val="E98300"/>
                </a:solidFill>
                <a:latin typeface="Calibri"/>
              </a:rPr>
              <a:t>• </a:t>
            </a:r>
            <a:r>
              <a:rPr sz="950">
                <a:solidFill>
                  <a:srgbClr val="2E2D29"/>
                </a:solidFill>
                <a:latin typeface="Calibri"/>
              </a:rPr>
              <a:t>With n = 5, quantify sensitivity to which patients land in the training set</a:t>
            </a:r>
          </a:p>
        </p:txBody>
      </p:sp>
      <p:sp>
        <p:nvSpPr>
          <p:cNvPr id="33" name="Rectangle 32"/>
          <p:cNvSpPr/>
          <p:nvPr/>
        </p:nvSpPr>
        <p:spPr>
          <a:xfrm>
            <a:off x="320040" y="4864608"/>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Box 33"/>
          <p:cNvSpPr txBox="1"/>
          <p:nvPr/>
        </p:nvSpPr>
        <p:spPr>
          <a:xfrm>
            <a:off x="429768" y="4864608"/>
            <a:ext cx="8284464" cy="310896"/>
          </a:xfrm>
          <a:prstGeom prst="rect">
            <a:avLst/>
          </a:prstGeom>
          <a:noFill/>
        </p:spPr>
        <p:txBody>
          <a:bodyPr wrap="square" lIns="27432" tIns="0" rIns="27432" bIns="0" anchor="ctr">
            <a:spAutoFit/>
          </a:bodyPr>
          <a:lstStyle/>
          <a:p>
            <a:pPr algn="l"/>
            <a:r>
              <a:rPr sz="1000" b="1" i="0">
                <a:solidFill>
                  <a:srgbClr val="8C1515"/>
                </a:solidFill>
                <a:latin typeface="Calibri"/>
              </a:rPr>
              <a:t>This is the step that decides whether the pipeline predicts or merely describes.</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a:xfrm>
            <a:off x="1362456" y="2971800"/>
            <a:ext cx="6400800" cy="658368"/>
          </a:xfrm>
        </p:spPr>
        <p:txBody>
          <a:bodyPr wrap="square" lIns="0" rIns="0"/>
          <a:lstStyle/>
          <a:p>
            <a:r>
              <a:rPr sz="1300">
                <a:solidFill>
                  <a:srgbClr val="FFFFFF"/>
                </a:solidFill>
                <a:latin typeface="Calibri"/>
              </a:rPr>
              <a:t>Re-running the deformable-wall 3D model with the adapted structured-tree impedances.</a:t>
            </a:r>
          </a:p>
        </p:txBody>
      </p:sp>
      <p:sp>
        <p:nvSpPr>
          <p:cNvPr id="3" name="Title 2"/>
          <p:cNvSpPr>
            <a:spLocks noGrp="1"/>
          </p:cNvSpPr>
          <p:nvPr>
            <p:ph type="ctrTitle"/>
          </p:nvPr>
        </p:nvSpPr>
        <p:spPr>
          <a:xfrm>
            <a:off x="1362456" y="1874519"/>
            <a:ext cx="7479792" cy="1005840"/>
          </a:xfrm>
        </p:spPr>
        <p:txBody>
          <a:bodyPr lIns="0" rIns="0" anchor="b"/>
          <a:lstStyle/>
          <a:p>
            <a:r>
              <a:rPr sz="3200">
                <a:solidFill>
                  <a:srgbClr val="FFFFFF"/>
                </a:solidFill>
                <a:latin typeface="Georgia"/>
              </a:rPr>
              <a:t>Adapted Simulation</a:t>
            </a:r>
          </a:p>
        </p:txBody>
      </p:sp>
      <p:sp>
        <p:nvSpPr>
          <p:cNvPr id="4" name="TextBox 3"/>
          <p:cNvSpPr txBox="1"/>
          <p:nvPr/>
        </p:nvSpPr>
        <p:spPr>
          <a:xfrm>
            <a:off x="1362456" y="1517904"/>
            <a:ext cx="7479792" cy="256032"/>
          </a:xfrm>
          <a:prstGeom prst="rect">
            <a:avLst/>
          </a:prstGeom>
          <a:noFill/>
        </p:spPr>
        <p:txBody>
          <a:bodyPr wrap="square" lIns="27432" tIns="0" rIns="27432" bIns="0" anchor="t">
            <a:spAutoFit/>
          </a:bodyPr>
          <a:lstStyle/>
          <a:p>
            <a:pPr algn="l"/>
            <a:r>
              <a:rPr sz="1050" b="1" i="0">
                <a:solidFill>
                  <a:srgbClr val="FFFFFF"/>
                </a:solidFill>
                <a:latin typeface="Calibri"/>
              </a:rPr>
              <a:t>STAGE 6 OF 7</a:t>
            </a:r>
          </a:p>
        </p:txBody>
      </p:sp>
      <p:sp>
        <p:nvSpPr>
          <p:cNvPr id="5" name="Rectangle 4"/>
          <p:cNvSpPr/>
          <p:nvPr/>
        </p:nvSpPr>
        <p:spPr>
          <a:xfrm>
            <a:off x="1362456" y="4041648"/>
            <a:ext cx="869986" cy="256032"/>
          </a:xfrm>
          <a:prstGeom prst="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362456" y="4041648"/>
            <a:ext cx="869986" cy="256032"/>
          </a:xfrm>
          <a:prstGeom prst="rect">
            <a:avLst/>
          </a:prstGeom>
          <a:noFill/>
        </p:spPr>
        <p:txBody>
          <a:bodyPr wrap="square" lIns="9144" tIns="0" rIns="9144" bIns="0" anchor="ctr">
            <a:spAutoFit/>
          </a:bodyPr>
          <a:lstStyle/>
          <a:p>
            <a:pPr algn="ctr"/>
            <a:r>
              <a:rPr sz="700" b="0">
                <a:solidFill>
                  <a:srgbClr val="FFFFFF"/>
                </a:solidFill>
                <a:latin typeface="Calibri"/>
              </a:rPr>
              <a:t>1  Inputs</a:t>
            </a:r>
          </a:p>
        </p:txBody>
      </p:sp>
      <p:sp>
        <p:nvSpPr>
          <p:cNvPr id="7" name="Rectangle 6"/>
          <p:cNvSpPr/>
          <p:nvPr/>
        </p:nvSpPr>
        <p:spPr>
          <a:xfrm>
            <a:off x="2287306" y="4041648"/>
            <a:ext cx="869986" cy="256032"/>
          </a:xfrm>
          <a:prstGeom prst="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287306" y="4041648"/>
            <a:ext cx="869986" cy="256032"/>
          </a:xfrm>
          <a:prstGeom prst="rect">
            <a:avLst/>
          </a:prstGeom>
          <a:noFill/>
        </p:spPr>
        <p:txBody>
          <a:bodyPr wrap="square" lIns="9144" tIns="0" rIns="9144" bIns="0" anchor="ctr">
            <a:spAutoFit/>
          </a:bodyPr>
          <a:lstStyle/>
          <a:p>
            <a:pPr algn="ctr"/>
            <a:r>
              <a:rPr sz="700" b="0">
                <a:solidFill>
                  <a:srgbClr val="FFFFFF"/>
                </a:solidFill>
                <a:latin typeface="Calibri"/>
              </a:rPr>
              <a:t>2  BC Tuning</a:t>
            </a:r>
          </a:p>
        </p:txBody>
      </p:sp>
      <p:sp>
        <p:nvSpPr>
          <p:cNvPr id="9" name="Rectangle 8"/>
          <p:cNvSpPr/>
          <p:nvPr/>
        </p:nvSpPr>
        <p:spPr>
          <a:xfrm>
            <a:off x="3212156" y="4041648"/>
            <a:ext cx="869986" cy="256032"/>
          </a:xfrm>
          <a:prstGeom prst="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212156" y="4041648"/>
            <a:ext cx="869986" cy="256032"/>
          </a:xfrm>
          <a:prstGeom prst="rect">
            <a:avLst/>
          </a:prstGeom>
          <a:noFill/>
        </p:spPr>
        <p:txBody>
          <a:bodyPr wrap="square" lIns="9144" tIns="0" rIns="9144" bIns="0" anchor="ctr">
            <a:spAutoFit/>
          </a:bodyPr>
          <a:lstStyle/>
          <a:p>
            <a:pPr algn="ctr"/>
            <a:r>
              <a:rPr sz="700" b="0">
                <a:solidFill>
                  <a:srgbClr val="FFFFFF"/>
                </a:solidFill>
                <a:latin typeface="Calibri"/>
              </a:rPr>
              <a:t>3  Pre-op Sim</a:t>
            </a:r>
          </a:p>
        </p:txBody>
      </p:sp>
      <p:sp>
        <p:nvSpPr>
          <p:cNvPr id="11" name="Rectangle 10"/>
          <p:cNvSpPr/>
          <p:nvPr/>
        </p:nvSpPr>
        <p:spPr>
          <a:xfrm>
            <a:off x="4137006" y="4041648"/>
            <a:ext cx="869986" cy="256032"/>
          </a:xfrm>
          <a:prstGeom prst="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137006" y="4041648"/>
            <a:ext cx="869986" cy="256032"/>
          </a:xfrm>
          <a:prstGeom prst="rect">
            <a:avLst/>
          </a:prstGeom>
          <a:noFill/>
        </p:spPr>
        <p:txBody>
          <a:bodyPr wrap="square" lIns="9144" tIns="0" rIns="9144" bIns="0" anchor="ctr">
            <a:spAutoFit/>
          </a:bodyPr>
          <a:lstStyle/>
          <a:p>
            <a:pPr algn="ctr"/>
            <a:r>
              <a:rPr sz="700" b="0">
                <a:solidFill>
                  <a:srgbClr val="FFFFFF"/>
                </a:solidFill>
                <a:latin typeface="Calibri"/>
              </a:rPr>
              <a:t>4  Post-op Sim</a:t>
            </a:r>
          </a:p>
        </p:txBody>
      </p:sp>
      <p:sp>
        <p:nvSpPr>
          <p:cNvPr id="13" name="Rectangle 12"/>
          <p:cNvSpPr/>
          <p:nvPr/>
        </p:nvSpPr>
        <p:spPr>
          <a:xfrm>
            <a:off x="5061857" y="4041648"/>
            <a:ext cx="869986" cy="256032"/>
          </a:xfrm>
          <a:prstGeom prst="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5061857" y="4041648"/>
            <a:ext cx="869986" cy="256032"/>
          </a:xfrm>
          <a:prstGeom prst="rect">
            <a:avLst/>
          </a:prstGeom>
          <a:noFill/>
        </p:spPr>
        <p:txBody>
          <a:bodyPr wrap="square" lIns="9144" tIns="0" rIns="9144" bIns="0" anchor="ctr">
            <a:spAutoFit/>
          </a:bodyPr>
          <a:lstStyle/>
          <a:p>
            <a:pPr algn="ctr"/>
            <a:r>
              <a:rPr sz="700" b="0">
                <a:solidFill>
                  <a:srgbClr val="FFFFFF"/>
                </a:solidFill>
                <a:latin typeface="Calibri"/>
              </a:rPr>
              <a:t>5  Adaptation</a:t>
            </a:r>
          </a:p>
        </p:txBody>
      </p:sp>
      <p:sp>
        <p:nvSpPr>
          <p:cNvPr id="15" name="Rectangle 14"/>
          <p:cNvSpPr/>
          <p:nvPr/>
        </p:nvSpPr>
        <p:spPr>
          <a:xfrm>
            <a:off x="5986707" y="4041648"/>
            <a:ext cx="869986" cy="2560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86707" y="4041648"/>
            <a:ext cx="869986" cy="256032"/>
          </a:xfrm>
          <a:prstGeom prst="rect">
            <a:avLst/>
          </a:prstGeom>
          <a:noFill/>
        </p:spPr>
        <p:txBody>
          <a:bodyPr wrap="square" lIns="9144" tIns="0" rIns="9144" bIns="0" anchor="ctr">
            <a:spAutoFit/>
          </a:bodyPr>
          <a:lstStyle/>
          <a:p>
            <a:pPr algn="ctr"/>
            <a:r>
              <a:rPr sz="700" b="1">
                <a:solidFill>
                  <a:srgbClr val="007C92"/>
                </a:solidFill>
                <a:latin typeface="Calibri"/>
              </a:rPr>
              <a:t>6  Adapted Sim</a:t>
            </a:r>
          </a:p>
        </p:txBody>
      </p:sp>
      <p:sp>
        <p:nvSpPr>
          <p:cNvPr id="17" name="Rectangle 16"/>
          <p:cNvSpPr/>
          <p:nvPr/>
        </p:nvSpPr>
        <p:spPr>
          <a:xfrm>
            <a:off x="6911557" y="4041648"/>
            <a:ext cx="869986" cy="256032"/>
          </a:xfrm>
          <a:prstGeom prst="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6911557" y="4041648"/>
            <a:ext cx="869986" cy="256032"/>
          </a:xfrm>
          <a:prstGeom prst="rect">
            <a:avLst/>
          </a:prstGeom>
          <a:noFill/>
        </p:spPr>
        <p:txBody>
          <a:bodyPr wrap="square" lIns="9144" tIns="0" rIns="9144" bIns="0" anchor="ctr">
            <a:spAutoFit/>
          </a:bodyPr>
          <a:lstStyle/>
          <a:p>
            <a:pPr algn="ctr"/>
            <a:r>
              <a:rPr sz="700" b="0">
                <a:solidFill>
                  <a:srgbClr val="FFFFFF"/>
                </a:solidFill>
                <a:latin typeface="Calibri"/>
              </a:rPr>
              <a:t>7  Metrics</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sz="2200">
                <a:solidFill>
                  <a:srgbClr val="8C1515"/>
                </a:solidFill>
                <a:latin typeface="Georgia"/>
              </a:rPr>
              <a:t>Applying the adapted boundary conditions</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13" name="Rectangle 12"/>
          <p:cNvSpPr/>
          <p:nvPr/>
        </p:nvSpPr>
        <p:spPr>
          <a:xfrm>
            <a:off x="4993277"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7013447" y="950976"/>
            <a:ext cx="1810512"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6B6965"/>
                </a:solidFill>
                <a:latin typeface="Calibri"/>
              </a:rPr>
              <a:t>PLANNED</a:t>
            </a:r>
          </a:p>
        </p:txBody>
      </p:sp>
      <p:sp>
        <p:nvSpPr>
          <p:cNvPr id="19" name="Rectangle 18"/>
          <p:cNvSpPr/>
          <p:nvPr/>
        </p:nvSpPr>
        <p:spPr>
          <a:xfrm>
            <a:off x="320040" y="1408176"/>
            <a:ext cx="1975104" cy="118872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320040" y="1408176"/>
            <a:ext cx="1975104" cy="256032"/>
          </a:xfrm>
          <a:prstGeom prst="rect">
            <a:avLst/>
          </a:prstGeom>
          <a:solidFill>
            <a:srgbClr val="2799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320040" y="1408176"/>
            <a:ext cx="1975104" cy="256032"/>
          </a:xfrm>
          <a:prstGeom prst="rect">
            <a:avLst/>
          </a:prstGeom>
          <a:noFill/>
        </p:spPr>
        <p:txBody>
          <a:bodyPr wrap="square" lIns="27432" tIns="0" rIns="27432" bIns="0" anchor="ctr">
            <a:spAutoFit/>
          </a:bodyPr>
          <a:lstStyle/>
          <a:p>
            <a:pPr algn="ctr"/>
            <a:r>
              <a:rPr sz="900" b="1" i="0">
                <a:solidFill>
                  <a:srgbClr val="FFFFFF"/>
                </a:solidFill>
                <a:latin typeface="Calibri"/>
              </a:rPr>
              <a:t>Adapted trees</a:t>
            </a:r>
          </a:p>
        </p:txBody>
      </p:sp>
      <p:sp>
        <p:nvSpPr>
          <p:cNvPr id="22" name="TextBox 21"/>
          <p:cNvSpPr txBox="1"/>
          <p:nvPr/>
        </p:nvSpPr>
        <p:spPr>
          <a:xfrm>
            <a:off x="411479" y="1773936"/>
            <a:ext cx="1792224" cy="749808"/>
          </a:xfrm>
          <a:prstGeom prst="rect">
            <a:avLst/>
          </a:prstGeom>
          <a:noFill/>
        </p:spPr>
        <p:txBody>
          <a:bodyPr wrap="square" lIns="27432" tIns="0" rIns="27432" bIns="0" anchor="t">
            <a:spAutoFit/>
          </a:bodyPr>
          <a:lstStyle/>
          <a:p>
            <a:pPr algn="l">
              <a:lnSpc>
                <a:spcPct val="112000"/>
              </a:lnSpc>
            </a:pPr>
            <a:r>
              <a:rPr sz="850" b="0" i="0">
                <a:solidFill>
                  <a:srgbClr val="2E2D29"/>
                </a:solidFill>
                <a:latin typeface="Calibri"/>
              </a:rPr>
              <a:t>Converged r_i and h_i</a:t>
            </a:r>
          </a:p>
          <a:p>
            <a:pPr algn="l">
              <a:lnSpc>
                <a:spcPct val="112000"/>
              </a:lnSpc>
            </a:pPr>
            <a:r>
              <a:rPr sz="850" b="0" i="0">
                <a:solidFill>
                  <a:srgbClr val="2E2D29"/>
                </a:solidFill>
                <a:latin typeface="Calibri"/>
              </a:rPr>
              <a:t>for every tree vessel</a:t>
            </a:r>
          </a:p>
        </p:txBody>
      </p:sp>
      <p:sp>
        <p:nvSpPr>
          <p:cNvPr id="23" name="Right Arrow 22"/>
          <p:cNvSpPr/>
          <p:nvPr/>
        </p:nvSpPr>
        <p:spPr>
          <a:xfrm>
            <a:off x="2313432" y="1920240"/>
            <a:ext cx="155448" cy="164592"/>
          </a:xfrm>
          <a:prstGeom prst="rightArrow">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2496312" y="1408176"/>
            <a:ext cx="1975104" cy="118872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2496312" y="1408176"/>
            <a:ext cx="1975104" cy="256032"/>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2496312" y="1408176"/>
            <a:ext cx="1975104" cy="256032"/>
          </a:xfrm>
          <a:prstGeom prst="rect">
            <a:avLst/>
          </a:prstGeom>
          <a:noFill/>
        </p:spPr>
        <p:txBody>
          <a:bodyPr wrap="square" lIns="27432" tIns="0" rIns="27432" bIns="0" anchor="ctr">
            <a:spAutoFit/>
          </a:bodyPr>
          <a:lstStyle/>
          <a:p>
            <a:pPr algn="ctr"/>
            <a:r>
              <a:rPr sz="900" b="1" i="0">
                <a:solidFill>
                  <a:srgbClr val="FFFFFF"/>
                </a:solidFill>
                <a:latin typeface="Calibri"/>
              </a:rPr>
              <a:t>Recompute impedance</a:t>
            </a:r>
          </a:p>
        </p:txBody>
      </p:sp>
      <p:sp>
        <p:nvSpPr>
          <p:cNvPr id="27" name="TextBox 26"/>
          <p:cNvSpPr txBox="1"/>
          <p:nvPr/>
        </p:nvSpPr>
        <p:spPr>
          <a:xfrm>
            <a:off x="2587752" y="1773936"/>
            <a:ext cx="1792224" cy="749808"/>
          </a:xfrm>
          <a:prstGeom prst="rect">
            <a:avLst/>
          </a:prstGeom>
          <a:noFill/>
        </p:spPr>
        <p:txBody>
          <a:bodyPr wrap="square" lIns="27432" tIns="0" rIns="27432" bIns="0" anchor="t">
            <a:spAutoFit/>
          </a:bodyPr>
          <a:lstStyle/>
          <a:p>
            <a:pPr algn="l">
              <a:lnSpc>
                <a:spcPct val="112000"/>
              </a:lnSpc>
            </a:pPr>
            <a:r>
              <a:rPr sz="850" b="0" i="0">
                <a:solidFill>
                  <a:srgbClr val="2E2D29"/>
                </a:solidFill>
                <a:latin typeface="Calibri"/>
              </a:rPr>
              <a:t>New root impedance per side,</a:t>
            </a:r>
          </a:p>
          <a:p>
            <a:pPr algn="l">
              <a:lnSpc>
                <a:spcPct val="112000"/>
              </a:lnSpc>
            </a:pPr>
            <a:r>
              <a:rPr sz="850" b="0" i="0">
                <a:solidFill>
                  <a:srgbClr val="2E2D29"/>
                </a:solidFill>
                <a:latin typeface="Calibri"/>
              </a:rPr>
              <a:t>redistributed across outlets</a:t>
            </a:r>
          </a:p>
        </p:txBody>
      </p:sp>
      <p:sp>
        <p:nvSpPr>
          <p:cNvPr id="28" name="Right Arrow 27"/>
          <p:cNvSpPr/>
          <p:nvPr/>
        </p:nvSpPr>
        <p:spPr>
          <a:xfrm>
            <a:off x="4489704" y="1920240"/>
            <a:ext cx="155448" cy="164592"/>
          </a:xfrm>
          <a:prstGeom prst="rightArrow">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4672584" y="1408176"/>
            <a:ext cx="1975104" cy="118872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ectangle 29"/>
          <p:cNvSpPr/>
          <p:nvPr/>
        </p:nvSpPr>
        <p:spPr>
          <a:xfrm>
            <a:off x="4672584" y="1408176"/>
            <a:ext cx="1975104" cy="256032"/>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4672584" y="1408176"/>
            <a:ext cx="1975104" cy="256032"/>
          </a:xfrm>
          <a:prstGeom prst="rect">
            <a:avLst/>
          </a:prstGeom>
          <a:noFill/>
        </p:spPr>
        <p:txBody>
          <a:bodyPr wrap="square" lIns="27432" tIns="0" rIns="27432" bIns="0" anchor="ctr">
            <a:spAutoFit/>
          </a:bodyPr>
          <a:lstStyle/>
          <a:p>
            <a:pPr algn="ctr"/>
            <a:r>
              <a:rPr sz="900" b="1" i="0">
                <a:solidFill>
                  <a:srgbClr val="FFFFFF"/>
                </a:solidFill>
                <a:latin typeface="Calibri"/>
              </a:rPr>
              <a:t>Run 3D</a:t>
            </a:r>
          </a:p>
        </p:txBody>
      </p:sp>
      <p:sp>
        <p:nvSpPr>
          <p:cNvPr id="32" name="TextBox 31"/>
          <p:cNvSpPr txBox="1"/>
          <p:nvPr/>
        </p:nvSpPr>
        <p:spPr>
          <a:xfrm>
            <a:off x="4764024" y="1773936"/>
            <a:ext cx="1792224" cy="749808"/>
          </a:xfrm>
          <a:prstGeom prst="rect">
            <a:avLst/>
          </a:prstGeom>
          <a:noFill/>
        </p:spPr>
        <p:txBody>
          <a:bodyPr wrap="square" lIns="27432" tIns="0" rIns="27432" bIns="0" anchor="t">
            <a:spAutoFit/>
          </a:bodyPr>
          <a:lstStyle/>
          <a:p>
            <a:pPr algn="l">
              <a:lnSpc>
                <a:spcPct val="112000"/>
              </a:lnSpc>
            </a:pPr>
            <a:r>
              <a:rPr sz="850" b="0" i="0">
                <a:solidFill>
                  <a:srgbClr val="2E2D29"/>
                </a:solidFill>
                <a:latin typeface="Calibri"/>
              </a:rPr>
              <a:t>Same CMM setup,</a:t>
            </a:r>
          </a:p>
          <a:p>
            <a:pPr algn="l">
              <a:lnSpc>
                <a:spcPct val="112000"/>
              </a:lnSpc>
            </a:pPr>
            <a:r>
              <a:rPr sz="850" b="0" i="0">
                <a:solidFill>
                  <a:srgbClr val="2E2D29"/>
                </a:solidFill>
                <a:latin typeface="Calibri"/>
              </a:rPr>
              <a:t>post-operative geometry</a:t>
            </a:r>
          </a:p>
        </p:txBody>
      </p:sp>
      <p:sp>
        <p:nvSpPr>
          <p:cNvPr id="33" name="Right Arrow 32"/>
          <p:cNvSpPr/>
          <p:nvPr/>
        </p:nvSpPr>
        <p:spPr>
          <a:xfrm>
            <a:off x="6665976" y="1920240"/>
            <a:ext cx="155448" cy="164592"/>
          </a:xfrm>
          <a:prstGeom prst="rightArrow">
            <a:avLst/>
          </a:prstGeom>
          <a:solidFill>
            <a:srgbClr val="D9D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6848856" y="1408176"/>
            <a:ext cx="1975104" cy="118872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Rectangle 34"/>
          <p:cNvSpPr/>
          <p:nvPr/>
        </p:nvSpPr>
        <p:spPr>
          <a:xfrm>
            <a:off x="6848856" y="1408176"/>
            <a:ext cx="1975104" cy="256032"/>
          </a:xfrm>
          <a:prstGeom prst="rect">
            <a:avLst/>
          </a:prstGeom>
          <a:solidFill>
            <a:srgbClr val="E9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6848856" y="1408176"/>
            <a:ext cx="1975104" cy="256032"/>
          </a:xfrm>
          <a:prstGeom prst="rect">
            <a:avLst/>
          </a:prstGeom>
          <a:noFill/>
        </p:spPr>
        <p:txBody>
          <a:bodyPr wrap="square" lIns="27432" tIns="0" rIns="27432" bIns="0" anchor="ctr">
            <a:spAutoFit/>
          </a:bodyPr>
          <a:lstStyle/>
          <a:p>
            <a:pPr algn="ctr"/>
            <a:r>
              <a:rPr sz="900" b="1" i="0">
                <a:solidFill>
                  <a:srgbClr val="FFFFFF"/>
                </a:solidFill>
                <a:latin typeface="Calibri"/>
              </a:rPr>
              <a:t>Extract</a:t>
            </a:r>
          </a:p>
        </p:txBody>
      </p:sp>
      <p:sp>
        <p:nvSpPr>
          <p:cNvPr id="37" name="TextBox 36"/>
          <p:cNvSpPr txBox="1"/>
          <p:nvPr/>
        </p:nvSpPr>
        <p:spPr>
          <a:xfrm>
            <a:off x="6940296" y="1773936"/>
            <a:ext cx="1792224" cy="749808"/>
          </a:xfrm>
          <a:prstGeom prst="rect">
            <a:avLst/>
          </a:prstGeom>
          <a:noFill/>
        </p:spPr>
        <p:txBody>
          <a:bodyPr wrap="square" lIns="27432" tIns="0" rIns="27432" bIns="0" anchor="t">
            <a:spAutoFit/>
          </a:bodyPr>
          <a:lstStyle/>
          <a:p>
            <a:pPr algn="l">
              <a:lnSpc>
                <a:spcPct val="112000"/>
              </a:lnSpc>
            </a:pPr>
            <a:r>
              <a:rPr sz="850" b="0" i="0">
                <a:solidFill>
                  <a:srgbClr val="2E2D29"/>
                </a:solidFill>
                <a:latin typeface="Calibri"/>
              </a:rPr>
              <a:t>Pressure, flow split, PVR,</a:t>
            </a:r>
          </a:p>
          <a:p>
            <a:pPr algn="l">
              <a:lnSpc>
                <a:spcPct val="112000"/>
              </a:lnSpc>
            </a:pPr>
            <a:r>
              <a:rPr sz="850" b="0" i="0">
                <a:solidFill>
                  <a:srgbClr val="2E2D29"/>
                </a:solidFill>
                <a:latin typeface="Calibri"/>
              </a:rPr>
              <a:t>wall shear stress</a:t>
            </a:r>
          </a:p>
        </p:txBody>
      </p:sp>
      <p:sp>
        <p:nvSpPr>
          <p:cNvPr id="38" name="Rectangle 37"/>
          <p:cNvSpPr/>
          <p:nvPr/>
        </p:nvSpPr>
        <p:spPr>
          <a:xfrm>
            <a:off x="320040" y="2743200"/>
            <a:ext cx="5394960" cy="1975104"/>
          </a:xfrm>
          <a:prstGeom prst="rect">
            <a:avLst/>
          </a:prstGeom>
          <a:solidFill>
            <a:srgbClr val="F2F1F0"/>
          </a:solidFill>
          <a:ln w="1270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429768" y="2743200"/>
            <a:ext cx="5175504" cy="1975104"/>
          </a:xfrm>
          <a:prstGeom prst="rect">
            <a:avLst/>
          </a:prstGeom>
          <a:noFill/>
        </p:spPr>
        <p:txBody>
          <a:bodyPr wrap="square" tIns="0" bIns="0" anchor="ctr">
            <a:spAutoFit/>
          </a:bodyPr>
          <a:lstStyle/>
          <a:p>
            <a:pPr algn="ctr">
              <a:spcAft>
                <a:spcPts val="300"/>
              </a:spcAft>
            </a:pPr>
            <a:r>
              <a:rPr sz="850" b="1" i="0">
                <a:solidFill>
                  <a:srgbClr val="E98300"/>
                </a:solidFill>
                <a:latin typeface="Calibri"/>
              </a:rPr>
              <a:t>FIGURE PLACEHOLDER</a:t>
            </a:r>
          </a:p>
          <a:p>
            <a:pPr algn="ctr">
              <a:spcAft>
                <a:spcPts val="300"/>
              </a:spcAft>
            </a:pPr>
            <a:r>
              <a:rPr sz="1050" b="1" i="0">
                <a:solidFill>
                  <a:srgbClr val="6B6965"/>
                </a:solidFill>
                <a:latin typeface="Calibri"/>
              </a:rPr>
              <a:t>Adapted 3D result</a:t>
            </a:r>
          </a:p>
          <a:p>
            <a:pPr algn="ctr">
              <a:spcAft>
                <a:spcPts val="300"/>
              </a:spcAft>
            </a:pPr>
            <a:r>
              <a:rPr sz="850" b="0" i="1">
                <a:solidFill>
                  <a:srgbClr val="6B6965"/>
                </a:solidFill>
                <a:latin typeface="Calibri"/>
              </a:rPr>
              <a:t>Pre-op / acute post-op / adapted comparison, per patient</a:t>
            </a:r>
          </a:p>
        </p:txBody>
      </p:sp>
      <p:sp>
        <p:nvSpPr>
          <p:cNvPr id="40" name="Rectangle 39"/>
          <p:cNvSpPr/>
          <p:nvPr/>
        </p:nvSpPr>
        <p:spPr>
          <a:xfrm>
            <a:off x="5897880" y="2743200"/>
            <a:ext cx="2926080" cy="1975104"/>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6025896" y="2843784"/>
            <a:ext cx="1527048" cy="219456"/>
          </a:xfrm>
          <a:prstGeom prst="rect">
            <a:avLst/>
          </a:prstGeom>
          <a:noFill/>
        </p:spPr>
        <p:txBody>
          <a:bodyPr wrap="square" lIns="27432" tIns="0" rIns="27432" bIns="0" anchor="t">
            <a:spAutoFit/>
          </a:bodyPr>
          <a:lstStyle/>
          <a:p>
            <a:pPr algn="l"/>
            <a:r>
              <a:rPr sz="1100" b="1" i="0">
                <a:solidFill>
                  <a:srgbClr val="E98300"/>
                </a:solidFill>
                <a:latin typeface="Calibri"/>
              </a:rPr>
              <a:t>Prerequisites</a:t>
            </a:r>
          </a:p>
        </p:txBody>
      </p:sp>
      <p:sp>
        <p:nvSpPr>
          <p:cNvPr id="42" name="Rectangle 41"/>
          <p:cNvSpPr/>
          <p:nvPr/>
        </p:nvSpPr>
        <p:spPr>
          <a:xfrm>
            <a:off x="7580376" y="2852927"/>
            <a:ext cx="1097280" cy="173736"/>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7580376" y="2852927"/>
            <a:ext cx="1097280" cy="173736"/>
          </a:xfrm>
          <a:prstGeom prst="rect">
            <a:avLst/>
          </a:prstGeom>
          <a:noFill/>
        </p:spPr>
        <p:txBody>
          <a:bodyPr wrap="square" lIns="18288" tIns="0" rIns="18288" bIns="0" anchor="ctr">
            <a:spAutoFit/>
          </a:bodyPr>
          <a:lstStyle/>
          <a:p>
            <a:pPr algn="ctr"/>
            <a:r>
              <a:rPr sz="600" b="1">
                <a:solidFill>
                  <a:srgbClr val="6B6965"/>
                </a:solidFill>
                <a:latin typeface="Calibri"/>
              </a:rPr>
              <a:t>PLANNED</a:t>
            </a:r>
          </a:p>
        </p:txBody>
      </p:sp>
      <p:sp>
        <p:nvSpPr>
          <p:cNvPr id="44" name="TextBox 43"/>
          <p:cNvSpPr txBox="1"/>
          <p:nvPr/>
        </p:nvSpPr>
        <p:spPr>
          <a:xfrm>
            <a:off x="6025896" y="3118103"/>
            <a:ext cx="2670048" cy="1563624"/>
          </a:xfrm>
          <a:prstGeom prst="rect">
            <a:avLst/>
          </a:prstGeom>
          <a:noFill/>
        </p:spPr>
        <p:txBody>
          <a:bodyPr wrap="square" lIns="27432" tIns="0" rIns="27432" bIns="0">
            <a:spAutoFit/>
          </a:bodyPr>
          <a:lstStyle/>
          <a:p>
            <a:pPr>
              <a:spcAft>
                <a:spcPts val="350"/>
              </a:spcAft>
            </a:pPr>
            <a:r>
              <a:rPr sz="900">
                <a:solidFill>
                  <a:srgbClr val="E98300"/>
                </a:solidFill>
                <a:latin typeface="Calibri"/>
              </a:rPr>
              <a:t>• </a:t>
            </a:r>
            <a:r>
              <a:rPr sz="900">
                <a:solidFill>
                  <a:srgbClr val="2E2D29"/>
                </a:solidFill>
                <a:latin typeface="Calibri"/>
              </a:rPr>
              <a:t>Gains identified in Stage 5</a:t>
            </a:r>
          </a:p>
          <a:p>
            <a:pPr>
              <a:spcAft>
                <a:spcPts val="350"/>
              </a:spcAft>
            </a:pPr>
            <a:r>
              <a:rPr sz="900">
                <a:solidFill>
                  <a:srgbClr val="E98300"/>
                </a:solidFill>
                <a:latin typeface="Calibri"/>
              </a:rPr>
              <a:t>• </a:t>
            </a:r>
            <a:r>
              <a:rPr sz="900">
                <a:solidFill>
                  <a:srgbClr val="2E2D29"/>
                </a:solidFill>
                <a:latin typeface="Calibri"/>
              </a:rPr>
              <a:t>Tuning closed for all five patients</a:t>
            </a:r>
          </a:p>
          <a:p>
            <a:pPr>
              <a:spcAft>
                <a:spcPts val="350"/>
              </a:spcAft>
            </a:pPr>
            <a:r>
              <a:rPr sz="900">
                <a:solidFill>
                  <a:srgbClr val="E98300"/>
                </a:solidFill>
                <a:latin typeface="Calibri"/>
              </a:rPr>
              <a:t>• </a:t>
            </a:r>
            <a:r>
              <a:rPr sz="900">
                <a:solidFill>
                  <a:srgbClr val="2E2D29"/>
                </a:solidFill>
                <a:latin typeface="Calibri"/>
              </a:rPr>
              <a:t>Boundary-layer meshes rebuilt for the post-operative geometries</a:t>
            </a:r>
          </a:p>
        </p:txBody>
      </p:sp>
      <p:sp>
        <p:nvSpPr>
          <p:cNvPr id="45" name="Rectangle 44"/>
          <p:cNvSpPr/>
          <p:nvPr/>
        </p:nvSpPr>
        <p:spPr>
          <a:xfrm>
            <a:off x="320040" y="4864608"/>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Box 45"/>
          <p:cNvSpPr txBox="1"/>
          <p:nvPr/>
        </p:nvSpPr>
        <p:spPr>
          <a:xfrm>
            <a:off x="429768" y="4864608"/>
            <a:ext cx="8284464" cy="310896"/>
          </a:xfrm>
          <a:prstGeom prst="rect">
            <a:avLst/>
          </a:prstGeom>
          <a:noFill/>
        </p:spPr>
        <p:txBody>
          <a:bodyPr wrap="square" lIns="27432" tIns="0" rIns="27432" bIns="0" anchor="ctr">
            <a:spAutoFit/>
          </a:bodyPr>
          <a:lstStyle/>
          <a:p>
            <a:pPr algn="l"/>
            <a:r>
              <a:rPr sz="1000" b="1" i="0">
                <a:solidFill>
                  <a:srgbClr val="8C1515"/>
                </a:solidFill>
                <a:latin typeface="Calibri"/>
              </a:rPr>
              <a:t>This is the near-term gate: nothing in Stage 7 can be reported until Stage 6 runs.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a:xfrm>
            <a:off x="1362456" y="2971800"/>
            <a:ext cx="6400800" cy="658368"/>
          </a:xfrm>
        </p:spPr>
        <p:txBody>
          <a:bodyPr wrap="square" lIns="0" rIns="0"/>
          <a:lstStyle/>
          <a:p>
            <a:r>
              <a:rPr sz="1300">
                <a:solidFill>
                  <a:srgbClr val="FFFFFF"/>
                </a:solidFill>
                <a:latin typeface="Calibri"/>
              </a:rPr>
              <a:t>Comparing the adapted simulation against the post-operative measurements held back from tuning.</a:t>
            </a:r>
          </a:p>
        </p:txBody>
      </p:sp>
      <p:sp>
        <p:nvSpPr>
          <p:cNvPr id="3" name="Title 2"/>
          <p:cNvSpPr>
            <a:spLocks noGrp="1"/>
          </p:cNvSpPr>
          <p:nvPr>
            <p:ph type="ctrTitle"/>
          </p:nvPr>
        </p:nvSpPr>
        <p:spPr>
          <a:xfrm>
            <a:off x="1362456" y="1874519"/>
            <a:ext cx="7479792" cy="1005840"/>
          </a:xfrm>
        </p:spPr>
        <p:txBody>
          <a:bodyPr lIns="0" rIns="0" anchor="b"/>
          <a:lstStyle/>
          <a:p>
            <a:r>
              <a:rPr sz="3200">
                <a:solidFill>
                  <a:srgbClr val="FFFFFF"/>
                </a:solidFill>
                <a:latin typeface="Georgia"/>
              </a:rPr>
              <a:t>Metric Extraction</a:t>
            </a:r>
          </a:p>
        </p:txBody>
      </p:sp>
      <p:sp>
        <p:nvSpPr>
          <p:cNvPr id="4" name="TextBox 3"/>
          <p:cNvSpPr txBox="1"/>
          <p:nvPr/>
        </p:nvSpPr>
        <p:spPr>
          <a:xfrm>
            <a:off x="1362456" y="1517904"/>
            <a:ext cx="7479792" cy="256032"/>
          </a:xfrm>
          <a:prstGeom prst="rect">
            <a:avLst/>
          </a:prstGeom>
          <a:noFill/>
        </p:spPr>
        <p:txBody>
          <a:bodyPr wrap="square" lIns="27432" tIns="0" rIns="27432" bIns="0" anchor="t">
            <a:spAutoFit/>
          </a:bodyPr>
          <a:lstStyle/>
          <a:p>
            <a:pPr algn="l"/>
            <a:r>
              <a:rPr sz="1050" b="1" i="0">
                <a:solidFill>
                  <a:srgbClr val="FFFFFF"/>
                </a:solidFill>
                <a:latin typeface="Calibri"/>
              </a:rPr>
              <a:t>STAGE 7 OF 7</a:t>
            </a:r>
          </a:p>
        </p:txBody>
      </p:sp>
      <p:sp>
        <p:nvSpPr>
          <p:cNvPr id="5" name="Rectangle 4"/>
          <p:cNvSpPr/>
          <p:nvPr/>
        </p:nvSpPr>
        <p:spPr>
          <a:xfrm>
            <a:off x="1362456" y="4041648"/>
            <a:ext cx="869986" cy="256032"/>
          </a:xfrm>
          <a:prstGeom prst="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362456" y="4041648"/>
            <a:ext cx="869986" cy="256032"/>
          </a:xfrm>
          <a:prstGeom prst="rect">
            <a:avLst/>
          </a:prstGeom>
          <a:noFill/>
        </p:spPr>
        <p:txBody>
          <a:bodyPr wrap="square" lIns="9144" tIns="0" rIns="9144" bIns="0" anchor="ctr">
            <a:spAutoFit/>
          </a:bodyPr>
          <a:lstStyle/>
          <a:p>
            <a:pPr algn="ctr"/>
            <a:r>
              <a:rPr sz="700" b="0">
                <a:solidFill>
                  <a:srgbClr val="FFFFFF"/>
                </a:solidFill>
                <a:latin typeface="Calibri"/>
              </a:rPr>
              <a:t>1  Inputs</a:t>
            </a:r>
          </a:p>
        </p:txBody>
      </p:sp>
      <p:sp>
        <p:nvSpPr>
          <p:cNvPr id="7" name="Rectangle 6"/>
          <p:cNvSpPr/>
          <p:nvPr/>
        </p:nvSpPr>
        <p:spPr>
          <a:xfrm>
            <a:off x="2287306" y="4041648"/>
            <a:ext cx="869986" cy="256032"/>
          </a:xfrm>
          <a:prstGeom prst="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287306" y="4041648"/>
            <a:ext cx="869986" cy="256032"/>
          </a:xfrm>
          <a:prstGeom prst="rect">
            <a:avLst/>
          </a:prstGeom>
          <a:noFill/>
        </p:spPr>
        <p:txBody>
          <a:bodyPr wrap="square" lIns="9144" tIns="0" rIns="9144" bIns="0" anchor="ctr">
            <a:spAutoFit/>
          </a:bodyPr>
          <a:lstStyle/>
          <a:p>
            <a:pPr algn="ctr"/>
            <a:r>
              <a:rPr sz="700" b="0">
                <a:solidFill>
                  <a:srgbClr val="FFFFFF"/>
                </a:solidFill>
                <a:latin typeface="Calibri"/>
              </a:rPr>
              <a:t>2  BC Tuning</a:t>
            </a:r>
          </a:p>
        </p:txBody>
      </p:sp>
      <p:sp>
        <p:nvSpPr>
          <p:cNvPr id="9" name="Rectangle 8"/>
          <p:cNvSpPr/>
          <p:nvPr/>
        </p:nvSpPr>
        <p:spPr>
          <a:xfrm>
            <a:off x="3212156" y="4041648"/>
            <a:ext cx="869986" cy="256032"/>
          </a:xfrm>
          <a:prstGeom prst="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212156" y="4041648"/>
            <a:ext cx="869986" cy="256032"/>
          </a:xfrm>
          <a:prstGeom prst="rect">
            <a:avLst/>
          </a:prstGeom>
          <a:noFill/>
        </p:spPr>
        <p:txBody>
          <a:bodyPr wrap="square" lIns="9144" tIns="0" rIns="9144" bIns="0" anchor="ctr">
            <a:spAutoFit/>
          </a:bodyPr>
          <a:lstStyle/>
          <a:p>
            <a:pPr algn="ctr"/>
            <a:r>
              <a:rPr sz="700" b="0">
                <a:solidFill>
                  <a:srgbClr val="FFFFFF"/>
                </a:solidFill>
                <a:latin typeface="Calibri"/>
              </a:rPr>
              <a:t>3  Pre-op Sim</a:t>
            </a:r>
          </a:p>
        </p:txBody>
      </p:sp>
      <p:sp>
        <p:nvSpPr>
          <p:cNvPr id="11" name="Rectangle 10"/>
          <p:cNvSpPr/>
          <p:nvPr/>
        </p:nvSpPr>
        <p:spPr>
          <a:xfrm>
            <a:off x="4137006" y="4041648"/>
            <a:ext cx="869986" cy="256032"/>
          </a:xfrm>
          <a:prstGeom prst="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137006" y="4041648"/>
            <a:ext cx="869986" cy="256032"/>
          </a:xfrm>
          <a:prstGeom prst="rect">
            <a:avLst/>
          </a:prstGeom>
          <a:noFill/>
        </p:spPr>
        <p:txBody>
          <a:bodyPr wrap="square" lIns="9144" tIns="0" rIns="9144" bIns="0" anchor="ctr">
            <a:spAutoFit/>
          </a:bodyPr>
          <a:lstStyle/>
          <a:p>
            <a:pPr algn="ctr"/>
            <a:r>
              <a:rPr sz="700" b="0">
                <a:solidFill>
                  <a:srgbClr val="FFFFFF"/>
                </a:solidFill>
                <a:latin typeface="Calibri"/>
              </a:rPr>
              <a:t>4  Post-op Sim</a:t>
            </a:r>
          </a:p>
        </p:txBody>
      </p:sp>
      <p:sp>
        <p:nvSpPr>
          <p:cNvPr id="13" name="Rectangle 12"/>
          <p:cNvSpPr/>
          <p:nvPr/>
        </p:nvSpPr>
        <p:spPr>
          <a:xfrm>
            <a:off x="5061857" y="4041648"/>
            <a:ext cx="869986" cy="256032"/>
          </a:xfrm>
          <a:prstGeom prst="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5061857" y="4041648"/>
            <a:ext cx="869986" cy="256032"/>
          </a:xfrm>
          <a:prstGeom prst="rect">
            <a:avLst/>
          </a:prstGeom>
          <a:noFill/>
        </p:spPr>
        <p:txBody>
          <a:bodyPr wrap="square" lIns="9144" tIns="0" rIns="9144" bIns="0" anchor="ctr">
            <a:spAutoFit/>
          </a:bodyPr>
          <a:lstStyle/>
          <a:p>
            <a:pPr algn="ctr"/>
            <a:r>
              <a:rPr sz="700" b="0">
                <a:solidFill>
                  <a:srgbClr val="FFFFFF"/>
                </a:solidFill>
                <a:latin typeface="Calibri"/>
              </a:rPr>
              <a:t>5  Adaptation</a:t>
            </a:r>
          </a:p>
        </p:txBody>
      </p:sp>
      <p:sp>
        <p:nvSpPr>
          <p:cNvPr id="15" name="Rectangle 14"/>
          <p:cNvSpPr/>
          <p:nvPr/>
        </p:nvSpPr>
        <p:spPr>
          <a:xfrm>
            <a:off x="5986707" y="4041648"/>
            <a:ext cx="869986" cy="256032"/>
          </a:xfrm>
          <a:prstGeom prst="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86707" y="4041648"/>
            <a:ext cx="869986" cy="256032"/>
          </a:xfrm>
          <a:prstGeom prst="rect">
            <a:avLst/>
          </a:prstGeom>
          <a:noFill/>
        </p:spPr>
        <p:txBody>
          <a:bodyPr wrap="square" lIns="9144" tIns="0" rIns="9144" bIns="0" anchor="ctr">
            <a:spAutoFit/>
          </a:bodyPr>
          <a:lstStyle/>
          <a:p>
            <a:pPr algn="ctr"/>
            <a:r>
              <a:rPr sz="700" b="0">
                <a:solidFill>
                  <a:srgbClr val="FFFFFF"/>
                </a:solidFill>
                <a:latin typeface="Calibri"/>
              </a:rPr>
              <a:t>6  Adapted Sim</a:t>
            </a:r>
          </a:p>
        </p:txBody>
      </p:sp>
      <p:sp>
        <p:nvSpPr>
          <p:cNvPr id="17" name="Rectangle 16"/>
          <p:cNvSpPr/>
          <p:nvPr/>
        </p:nvSpPr>
        <p:spPr>
          <a:xfrm>
            <a:off x="6911557" y="4041648"/>
            <a:ext cx="869986" cy="2560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6911557" y="4041648"/>
            <a:ext cx="869986" cy="256032"/>
          </a:xfrm>
          <a:prstGeom prst="rect">
            <a:avLst/>
          </a:prstGeom>
          <a:noFill/>
        </p:spPr>
        <p:txBody>
          <a:bodyPr wrap="square" lIns="9144" tIns="0" rIns="9144" bIns="0" anchor="ctr">
            <a:spAutoFit/>
          </a:bodyPr>
          <a:lstStyle/>
          <a:p>
            <a:pPr algn="ctr"/>
            <a:r>
              <a:rPr sz="700" b="1">
                <a:solidFill>
                  <a:srgbClr val="007C92"/>
                </a:solidFill>
                <a:latin typeface="Calibri"/>
              </a:rPr>
              <a:t>7  Metrics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sz="2200">
                <a:solidFill>
                  <a:srgbClr val="8C1515"/>
                </a:solidFill>
                <a:latin typeface="Georgia"/>
              </a:rPr>
              <a:t>Metrics</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7  Metrics</a:t>
            </a:r>
          </a:p>
        </p:txBody>
      </p:sp>
      <p:sp>
        <p:nvSpPr>
          <p:cNvPr id="17" name="Rectangle 16"/>
          <p:cNvSpPr/>
          <p:nvPr/>
        </p:nvSpPr>
        <p:spPr>
          <a:xfrm>
            <a:off x="7013447" y="950976"/>
            <a:ext cx="1810512"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6B6965"/>
                </a:solidFill>
                <a:latin typeface="Calibri"/>
              </a:rPr>
              <a:t>PLANNED</a:t>
            </a:r>
          </a:p>
        </p:txBody>
      </p:sp>
      <p:sp>
        <p:nvSpPr>
          <p:cNvPr id="19" name="Rectangle 18"/>
          <p:cNvSpPr/>
          <p:nvPr/>
        </p:nvSpPr>
        <p:spPr>
          <a:xfrm>
            <a:off x="320040" y="1426464"/>
            <a:ext cx="8503920" cy="365760"/>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374904" y="1426464"/>
            <a:ext cx="1901952" cy="365760"/>
          </a:xfrm>
          <a:prstGeom prst="rect">
            <a:avLst/>
          </a:prstGeom>
          <a:noFill/>
        </p:spPr>
        <p:txBody>
          <a:bodyPr wrap="square" lIns="27432" tIns="0" rIns="27432" bIns="0" anchor="ctr">
            <a:spAutoFit/>
          </a:bodyPr>
          <a:lstStyle/>
          <a:p>
            <a:pPr algn="l"/>
            <a:r>
              <a:rPr sz="800" b="1" i="0">
                <a:solidFill>
                  <a:srgbClr val="FFFFFF"/>
                </a:solidFill>
                <a:latin typeface="Calibri"/>
              </a:rPr>
              <a:t>Metric</a:t>
            </a:r>
          </a:p>
        </p:txBody>
      </p:sp>
      <p:sp>
        <p:nvSpPr>
          <p:cNvPr id="21" name="TextBox 20"/>
          <p:cNvSpPr txBox="1"/>
          <p:nvPr/>
        </p:nvSpPr>
        <p:spPr>
          <a:xfrm>
            <a:off x="2386584" y="1426464"/>
            <a:ext cx="2633472" cy="365760"/>
          </a:xfrm>
          <a:prstGeom prst="rect">
            <a:avLst/>
          </a:prstGeom>
          <a:noFill/>
        </p:spPr>
        <p:txBody>
          <a:bodyPr wrap="square" lIns="27432" tIns="0" rIns="27432" bIns="0" anchor="ctr">
            <a:spAutoFit/>
          </a:bodyPr>
          <a:lstStyle/>
          <a:p>
            <a:pPr algn="l"/>
            <a:r>
              <a:rPr sz="800" b="1" i="0">
                <a:solidFill>
                  <a:srgbClr val="FFFFFF"/>
                </a:solidFill>
                <a:latin typeface="Calibri"/>
              </a:rPr>
              <a:t>Definition</a:t>
            </a:r>
          </a:p>
        </p:txBody>
      </p:sp>
      <p:sp>
        <p:nvSpPr>
          <p:cNvPr id="22" name="TextBox 21"/>
          <p:cNvSpPr txBox="1"/>
          <p:nvPr/>
        </p:nvSpPr>
        <p:spPr>
          <a:xfrm>
            <a:off x="5129784" y="1426464"/>
            <a:ext cx="2221991" cy="365760"/>
          </a:xfrm>
          <a:prstGeom prst="rect">
            <a:avLst/>
          </a:prstGeom>
          <a:noFill/>
        </p:spPr>
        <p:txBody>
          <a:bodyPr wrap="square" lIns="27432" tIns="0" rIns="27432" bIns="0" anchor="ctr">
            <a:spAutoFit/>
          </a:bodyPr>
          <a:lstStyle/>
          <a:p>
            <a:pPr algn="l"/>
            <a:r>
              <a:rPr sz="800" b="1" i="0">
                <a:solidFill>
                  <a:srgbClr val="FFFFFF"/>
                </a:solidFill>
                <a:latin typeface="Calibri"/>
              </a:rPr>
              <a:t>Compared against</a:t>
            </a:r>
          </a:p>
        </p:txBody>
      </p:sp>
      <p:sp>
        <p:nvSpPr>
          <p:cNvPr id="23" name="TextBox 22"/>
          <p:cNvSpPr txBox="1"/>
          <p:nvPr/>
        </p:nvSpPr>
        <p:spPr>
          <a:xfrm>
            <a:off x="7461504" y="1426464"/>
            <a:ext cx="1307592" cy="365760"/>
          </a:xfrm>
          <a:prstGeom prst="rect">
            <a:avLst/>
          </a:prstGeom>
          <a:noFill/>
        </p:spPr>
        <p:txBody>
          <a:bodyPr wrap="square" lIns="27432" tIns="0" rIns="27432" bIns="0" anchor="ctr">
            <a:spAutoFit/>
          </a:bodyPr>
          <a:lstStyle/>
          <a:p>
            <a:pPr algn="l"/>
            <a:r>
              <a:rPr sz="800" b="1" i="0">
                <a:solidFill>
                  <a:srgbClr val="FFFFFF"/>
                </a:solidFill>
                <a:latin typeface="Calibri"/>
              </a:rPr>
              <a:t>Role</a:t>
            </a:r>
          </a:p>
        </p:txBody>
      </p:sp>
      <p:sp>
        <p:nvSpPr>
          <p:cNvPr id="24" name="Rectangle 23"/>
          <p:cNvSpPr/>
          <p:nvPr/>
        </p:nvSpPr>
        <p:spPr>
          <a:xfrm>
            <a:off x="320040" y="1792224"/>
            <a:ext cx="8503920" cy="36576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374904" y="1792224"/>
            <a:ext cx="1901952" cy="365760"/>
          </a:xfrm>
          <a:prstGeom prst="rect">
            <a:avLst/>
          </a:prstGeom>
          <a:noFill/>
        </p:spPr>
        <p:txBody>
          <a:bodyPr wrap="square" lIns="27432" tIns="0" rIns="27432" bIns="0" anchor="ctr">
            <a:spAutoFit/>
          </a:bodyPr>
          <a:lstStyle/>
          <a:p>
            <a:pPr algn="l"/>
            <a:r>
              <a:rPr sz="800" b="1" i="0">
                <a:solidFill>
                  <a:srgbClr val="2E2D29"/>
                </a:solidFill>
                <a:latin typeface="Calibri"/>
              </a:rPr>
              <a:t>RPA / LPA flow split</a:t>
            </a:r>
          </a:p>
        </p:txBody>
      </p:sp>
      <p:sp>
        <p:nvSpPr>
          <p:cNvPr id="26" name="TextBox 25"/>
          <p:cNvSpPr txBox="1"/>
          <p:nvPr/>
        </p:nvSpPr>
        <p:spPr>
          <a:xfrm>
            <a:off x="2386584" y="1792224"/>
            <a:ext cx="2633472" cy="365760"/>
          </a:xfrm>
          <a:prstGeom prst="rect">
            <a:avLst/>
          </a:prstGeom>
          <a:noFill/>
        </p:spPr>
        <p:txBody>
          <a:bodyPr wrap="square" lIns="27432" tIns="0" rIns="27432" bIns="0" anchor="ctr">
            <a:spAutoFit/>
          </a:bodyPr>
          <a:lstStyle/>
          <a:p>
            <a:pPr algn="l"/>
            <a:r>
              <a:rPr sz="800" b="0" i="0">
                <a:solidFill>
                  <a:srgbClr val="6B6965"/>
                </a:solidFill>
                <a:latin typeface="Calibri"/>
              </a:rPr>
              <a:t>Cycle-mean flow fraction to each lung</a:t>
            </a:r>
          </a:p>
        </p:txBody>
      </p:sp>
      <p:sp>
        <p:nvSpPr>
          <p:cNvPr id="27" name="TextBox 26"/>
          <p:cNvSpPr txBox="1"/>
          <p:nvPr/>
        </p:nvSpPr>
        <p:spPr>
          <a:xfrm>
            <a:off x="5129784" y="1792224"/>
            <a:ext cx="2221991" cy="365760"/>
          </a:xfrm>
          <a:prstGeom prst="rect">
            <a:avLst/>
          </a:prstGeom>
          <a:noFill/>
        </p:spPr>
        <p:txBody>
          <a:bodyPr wrap="square" lIns="27432" tIns="0" rIns="27432" bIns="0" anchor="ctr">
            <a:spAutoFit/>
          </a:bodyPr>
          <a:lstStyle/>
          <a:p>
            <a:pPr algn="l"/>
            <a:r>
              <a:rPr sz="800" b="0" i="0">
                <a:solidFill>
                  <a:srgbClr val="6B6965"/>
                </a:solidFill>
                <a:latin typeface="Calibri"/>
              </a:rPr>
              <a:t>Post-operative lung perfusion scan</a:t>
            </a:r>
          </a:p>
        </p:txBody>
      </p:sp>
      <p:sp>
        <p:nvSpPr>
          <p:cNvPr id="28" name="TextBox 27"/>
          <p:cNvSpPr txBox="1"/>
          <p:nvPr/>
        </p:nvSpPr>
        <p:spPr>
          <a:xfrm>
            <a:off x="7461504" y="1792224"/>
            <a:ext cx="1307592" cy="365760"/>
          </a:xfrm>
          <a:prstGeom prst="rect">
            <a:avLst/>
          </a:prstGeom>
          <a:noFill/>
        </p:spPr>
        <p:txBody>
          <a:bodyPr wrap="square" lIns="27432" tIns="0" rIns="27432" bIns="0" anchor="ctr">
            <a:spAutoFit/>
          </a:bodyPr>
          <a:lstStyle/>
          <a:p>
            <a:pPr algn="l"/>
            <a:r>
              <a:rPr sz="800" b="0" i="0">
                <a:solidFill>
                  <a:srgbClr val="6B6965"/>
                </a:solidFill>
                <a:latin typeface="Calibri"/>
              </a:rPr>
              <a:t>Primary endpoint</a:t>
            </a:r>
          </a:p>
        </p:txBody>
      </p:sp>
      <p:sp>
        <p:nvSpPr>
          <p:cNvPr id="29" name="TextBox 28"/>
          <p:cNvSpPr txBox="1"/>
          <p:nvPr/>
        </p:nvSpPr>
        <p:spPr>
          <a:xfrm>
            <a:off x="374904" y="2157984"/>
            <a:ext cx="1901952" cy="365760"/>
          </a:xfrm>
          <a:prstGeom prst="rect">
            <a:avLst/>
          </a:prstGeom>
          <a:noFill/>
        </p:spPr>
        <p:txBody>
          <a:bodyPr wrap="square" lIns="27432" tIns="0" rIns="27432" bIns="0" anchor="ctr">
            <a:spAutoFit/>
          </a:bodyPr>
          <a:lstStyle/>
          <a:p>
            <a:pPr algn="l"/>
            <a:r>
              <a:rPr sz="800" b="1" i="0">
                <a:solidFill>
                  <a:srgbClr val="2E2D29"/>
                </a:solidFill>
                <a:latin typeface="Calibri"/>
              </a:rPr>
              <a:t>MPA pressure</a:t>
            </a:r>
          </a:p>
        </p:txBody>
      </p:sp>
      <p:sp>
        <p:nvSpPr>
          <p:cNvPr id="30" name="TextBox 29"/>
          <p:cNvSpPr txBox="1"/>
          <p:nvPr/>
        </p:nvSpPr>
        <p:spPr>
          <a:xfrm>
            <a:off x="2386584" y="2157984"/>
            <a:ext cx="2633472" cy="365760"/>
          </a:xfrm>
          <a:prstGeom prst="rect">
            <a:avLst/>
          </a:prstGeom>
          <a:noFill/>
        </p:spPr>
        <p:txBody>
          <a:bodyPr wrap="square" lIns="27432" tIns="0" rIns="27432" bIns="0" anchor="ctr">
            <a:spAutoFit/>
          </a:bodyPr>
          <a:lstStyle/>
          <a:p>
            <a:pPr algn="l"/>
            <a:r>
              <a:rPr sz="800" b="0" i="0">
                <a:solidFill>
                  <a:srgbClr val="6B6965"/>
                </a:solidFill>
                <a:latin typeface="Calibri"/>
              </a:rPr>
              <a:t>Systolic, diastolic and mean at the MPA</a:t>
            </a:r>
          </a:p>
        </p:txBody>
      </p:sp>
      <p:sp>
        <p:nvSpPr>
          <p:cNvPr id="31" name="TextBox 30"/>
          <p:cNvSpPr txBox="1"/>
          <p:nvPr/>
        </p:nvSpPr>
        <p:spPr>
          <a:xfrm>
            <a:off x="5129784" y="2157984"/>
            <a:ext cx="2221991" cy="365760"/>
          </a:xfrm>
          <a:prstGeom prst="rect">
            <a:avLst/>
          </a:prstGeom>
          <a:noFill/>
        </p:spPr>
        <p:txBody>
          <a:bodyPr wrap="square" lIns="27432" tIns="0" rIns="27432" bIns="0" anchor="ctr">
            <a:spAutoFit/>
          </a:bodyPr>
          <a:lstStyle/>
          <a:p>
            <a:pPr algn="l"/>
            <a:r>
              <a:rPr sz="800" b="0" i="0">
                <a:solidFill>
                  <a:srgbClr val="6B6965"/>
                </a:solidFill>
                <a:latin typeface="Calibri"/>
              </a:rPr>
              <a:t>Post-operative catheterization</a:t>
            </a:r>
          </a:p>
        </p:txBody>
      </p:sp>
      <p:sp>
        <p:nvSpPr>
          <p:cNvPr id="32" name="TextBox 31"/>
          <p:cNvSpPr txBox="1"/>
          <p:nvPr/>
        </p:nvSpPr>
        <p:spPr>
          <a:xfrm>
            <a:off x="7461504" y="2157984"/>
            <a:ext cx="1307592" cy="365760"/>
          </a:xfrm>
          <a:prstGeom prst="rect">
            <a:avLst/>
          </a:prstGeom>
          <a:noFill/>
        </p:spPr>
        <p:txBody>
          <a:bodyPr wrap="square" lIns="27432" tIns="0" rIns="27432" bIns="0" anchor="ctr">
            <a:spAutoFit/>
          </a:bodyPr>
          <a:lstStyle/>
          <a:p>
            <a:pPr algn="l"/>
            <a:r>
              <a:rPr sz="800" b="0" i="0">
                <a:solidFill>
                  <a:srgbClr val="6B6965"/>
                </a:solidFill>
                <a:latin typeface="Calibri"/>
              </a:rPr>
              <a:t>Primary endpoint</a:t>
            </a:r>
          </a:p>
        </p:txBody>
      </p:sp>
      <p:sp>
        <p:nvSpPr>
          <p:cNvPr id="33" name="Rectangle 32"/>
          <p:cNvSpPr/>
          <p:nvPr/>
        </p:nvSpPr>
        <p:spPr>
          <a:xfrm>
            <a:off x="320040" y="2523744"/>
            <a:ext cx="8503920" cy="36576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Box 33"/>
          <p:cNvSpPr txBox="1"/>
          <p:nvPr/>
        </p:nvSpPr>
        <p:spPr>
          <a:xfrm>
            <a:off x="374904" y="2523744"/>
            <a:ext cx="1901952" cy="365760"/>
          </a:xfrm>
          <a:prstGeom prst="rect">
            <a:avLst/>
          </a:prstGeom>
          <a:noFill/>
        </p:spPr>
        <p:txBody>
          <a:bodyPr wrap="square" lIns="27432" tIns="0" rIns="27432" bIns="0" anchor="ctr">
            <a:spAutoFit/>
          </a:bodyPr>
          <a:lstStyle/>
          <a:p>
            <a:pPr algn="l"/>
            <a:r>
              <a:rPr sz="800" b="1" i="0">
                <a:solidFill>
                  <a:srgbClr val="2E2D29"/>
                </a:solidFill>
                <a:latin typeface="Calibri"/>
              </a:rPr>
              <a:t>Pulmonary vascular resistance</a:t>
            </a:r>
          </a:p>
        </p:txBody>
      </p:sp>
      <p:sp>
        <p:nvSpPr>
          <p:cNvPr id="35" name="TextBox 34"/>
          <p:cNvSpPr txBox="1"/>
          <p:nvPr/>
        </p:nvSpPr>
        <p:spPr>
          <a:xfrm>
            <a:off x="2386584" y="2523744"/>
            <a:ext cx="2633472" cy="365760"/>
          </a:xfrm>
          <a:prstGeom prst="rect">
            <a:avLst/>
          </a:prstGeom>
          <a:noFill/>
        </p:spPr>
        <p:txBody>
          <a:bodyPr wrap="square" lIns="27432" tIns="0" rIns="27432" bIns="0" anchor="ctr">
            <a:spAutoFit/>
          </a:bodyPr>
          <a:lstStyle/>
          <a:p>
            <a:pPr algn="l"/>
            <a:r>
              <a:rPr sz="800" b="0" i="0">
                <a:solidFill>
                  <a:srgbClr val="6B6965"/>
                </a:solidFill>
                <a:latin typeface="Calibri"/>
              </a:rPr>
              <a:t>(mean MPA − PCWP) / cardiac output</a:t>
            </a:r>
          </a:p>
        </p:txBody>
      </p:sp>
      <p:sp>
        <p:nvSpPr>
          <p:cNvPr id="36" name="TextBox 35"/>
          <p:cNvSpPr txBox="1"/>
          <p:nvPr/>
        </p:nvSpPr>
        <p:spPr>
          <a:xfrm>
            <a:off x="5129784" y="2523744"/>
            <a:ext cx="2221991" cy="365760"/>
          </a:xfrm>
          <a:prstGeom prst="rect">
            <a:avLst/>
          </a:prstGeom>
          <a:noFill/>
        </p:spPr>
        <p:txBody>
          <a:bodyPr wrap="square" lIns="27432" tIns="0" rIns="27432" bIns="0" anchor="ctr">
            <a:spAutoFit/>
          </a:bodyPr>
          <a:lstStyle/>
          <a:p>
            <a:pPr algn="l"/>
            <a:r>
              <a:rPr sz="800" b="0" i="0">
                <a:solidFill>
                  <a:srgbClr val="6B6965"/>
                </a:solidFill>
                <a:latin typeface="Calibri"/>
              </a:rPr>
              <a:t>Catheter-derived PVR</a:t>
            </a:r>
          </a:p>
        </p:txBody>
      </p:sp>
      <p:sp>
        <p:nvSpPr>
          <p:cNvPr id="37" name="TextBox 36"/>
          <p:cNvSpPr txBox="1"/>
          <p:nvPr/>
        </p:nvSpPr>
        <p:spPr>
          <a:xfrm>
            <a:off x="7461504" y="2523744"/>
            <a:ext cx="1307592" cy="365760"/>
          </a:xfrm>
          <a:prstGeom prst="rect">
            <a:avLst/>
          </a:prstGeom>
          <a:noFill/>
        </p:spPr>
        <p:txBody>
          <a:bodyPr wrap="square" lIns="27432" tIns="0" rIns="27432" bIns="0" anchor="ctr">
            <a:spAutoFit/>
          </a:bodyPr>
          <a:lstStyle/>
          <a:p>
            <a:pPr algn="l"/>
            <a:r>
              <a:rPr sz="800" b="0" i="0">
                <a:solidFill>
                  <a:srgbClr val="6B6965"/>
                </a:solidFill>
                <a:latin typeface="Calibri"/>
              </a:rPr>
              <a:t>Secondary</a:t>
            </a:r>
          </a:p>
        </p:txBody>
      </p:sp>
      <p:sp>
        <p:nvSpPr>
          <p:cNvPr id="38" name="TextBox 37"/>
          <p:cNvSpPr txBox="1"/>
          <p:nvPr/>
        </p:nvSpPr>
        <p:spPr>
          <a:xfrm>
            <a:off x="374904" y="2889504"/>
            <a:ext cx="1901952" cy="365760"/>
          </a:xfrm>
          <a:prstGeom prst="rect">
            <a:avLst/>
          </a:prstGeom>
          <a:noFill/>
        </p:spPr>
        <p:txBody>
          <a:bodyPr wrap="square" lIns="27432" tIns="0" rIns="27432" bIns="0" anchor="ctr">
            <a:spAutoFit/>
          </a:bodyPr>
          <a:lstStyle/>
          <a:p>
            <a:pPr algn="l"/>
            <a:r>
              <a:rPr sz="800" b="1" i="0">
                <a:solidFill>
                  <a:srgbClr val="2E2D29"/>
                </a:solidFill>
                <a:latin typeface="Calibri"/>
              </a:rPr>
              <a:t>Stenosis pressure drop</a:t>
            </a:r>
          </a:p>
        </p:txBody>
      </p:sp>
      <p:sp>
        <p:nvSpPr>
          <p:cNvPr id="39" name="TextBox 38"/>
          <p:cNvSpPr txBox="1"/>
          <p:nvPr/>
        </p:nvSpPr>
        <p:spPr>
          <a:xfrm>
            <a:off x="2386584" y="2889504"/>
            <a:ext cx="2633472" cy="365760"/>
          </a:xfrm>
          <a:prstGeom prst="rect">
            <a:avLst/>
          </a:prstGeom>
          <a:noFill/>
        </p:spPr>
        <p:txBody>
          <a:bodyPr wrap="square" lIns="27432" tIns="0" rIns="27432" bIns="0" anchor="ctr">
            <a:spAutoFit/>
          </a:bodyPr>
          <a:lstStyle/>
          <a:p>
            <a:pPr algn="l"/>
            <a:r>
              <a:rPr sz="800" b="0" i="0">
                <a:solidFill>
                  <a:srgbClr val="6B6965"/>
                </a:solidFill>
                <a:latin typeface="Calibri"/>
              </a:rPr>
              <a:t>Gradient across the treated segment</a:t>
            </a:r>
          </a:p>
        </p:txBody>
      </p:sp>
      <p:sp>
        <p:nvSpPr>
          <p:cNvPr id="40" name="TextBox 39"/>
          <p:cNvSpPr txBox="1"/>
          <p:nvPr/>
        </p:nvSpPr>
        <p:spPr>
          <a:xfrm>
            <a:off x="5129784" y="2889504"/>
            <a:ext cx="2221991" cy="365760"/>
          </a:xfrm>
          <a:prstGeom prst="rect">
            <a:avLst/>
          </a:prstGeom>
          <a:noFill/>
        </p:spPr>
        <p:txBody>
          <a:bodyPr wrap="square" lIns="27432" tIns="0" rIns="27432" bIns="0" anchor="ctr">
            <a:spAutoFit/>
          </a:bodyPr>
          <a:lstStyle/>
          <a:p>
            <a:pPr algn="l"/>
            <a:r>
              <a:rPr sz="800" b="0" i="0">
                <a:solidFill>
                  <a:srgbClr val="6B6965"/>
                </a:solidFill>
                <a:latin typeface="Calibri"/>
              </a:rPr>
              <a:t>Catheter pull-back gradient</a:t>
            </a:r>
          </a:p>
        </p:txBody>
      </p:sp>
      <p:sp>
        <p:nvSpPr>
          <p:cNvPr id="41" name="TextBox 40"/>
          <p:cNvSpPr txBox="1"/>
          <p:nvPr/>
        </p:nvSpPr>
        <p:spPr>
          <a:xfrm>
            <a:off x="7461504" y="2889504"/>
            <a:ext cx="1307592" cy="365760"/>
          </a:xfrm>
          <a:prstGeom prst="rect">
            <a:avLst/>
          </a:prstGeom>
          <a:noFill/>
        </p:spPr>
        <p:txBody>
          <a:bodyPr wrap="square" lIns="27432" tIns="0" rIns="27432" bIns="0" anchor="ctr">
            <a:spAutoFit/>
          </a:bodyPr>
          <a:lstStyle/>
          <a:p>
            <a:pPr algn="l"/>
            <a:r>
              <a:rPr sz="800" b="0" i="0">
                <a:solidFill>
                  <a:srgbClr val="6B6965"/>
                </a:solidFill>
                <a:latin typeface="Calibri"/>
              </a:rPr>
              <a:t>Secondary</a:t>
            </a:r>
          </a:p>
        </p:txBody>
      </p:sp>
      <p:sp>
        <p:nvSpPr>
          <p:cNvPr id="42" name="Rectangle 41"/>
          <p:cNvSpPr/>
          <p:nvPr/>
        </p:nvSpPr>
        <p:spPr>
          <a:xfrm>
            <a:off x="320040" y="3255264"/>
            <a:ext cx="8503920" cy="365760"/>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374904" y="3255264"/>
            <a:ext cx="1901952" cy="365760"/>
          </a:xfrm>
          <a:prstGeom prst="rect">
            <a:avLst/>
          </a:prstGeom>
          <a:noFill/>
        </p:spPr>
        <p:txBody>
          <a:bodyPr wrap="square" lIns="27432" tIns="0" rIns="27432" bIns="0" anchor="ctr">
            <a:spAutoFit/>
          </a:bodyPr>
          <a:lstStyle/>
          <a:p>
            <a:pPr algn="l"/>
            <a:r>
              <a:rPr sz="800" b="1" i="0">
                <a:solidFill>
                  <a:srgbClr val="2E2D29"/>
                </a:solidFill>
                <a:latin typeface="Calibri"/>
              </a:rPr>
              <a:t>Wall shear stress</a:t>
            </a:r>
          </a:p>
        </p:txBody>
      </p:sp>
      <p:sp>
        <p:nvSpPr>
          <p:cNvPr id="44" name="TextBox 43"/>
          <p:cNvSpPr txBox="1"/>
          <p:nvPr/>
        </p:nvSpPr>
        <p:spPr>
          <a:xfrm>
            <a:off x="2386584" y="3255264"/>
            <a:ext cx="2633472" cy="365760"/>
          </a:xfrm>
          <a:prstGeom prst="rect">
            <a:avLst/>
          </a:prstGeom>
          <a:noFill/>
        </p:spPr>
        <p:txBody>
          <a:bodyPr wrap="square" lIns="27432" tIns="0" rIns="27432" bIns="0" anchor="ctr">
            <a:spAutoFit/>
          </a:bodyPr>
          <a:lstStyle/>
          <a:p>
            <a:pPr algn="l"/>
            <a:r>
              <a:rPr sz="800" b="0" i="0">
                <a:solidFill>
                  <a:srgbClr val="6B6965"/>
                </a:solidFill>
                <a:latin typeface="Calibri"/>
              </a:rPr>
              <a:t>Time-averaged WSS on the 3D wall</a:t>
            </a:r>
          </a:p>
        </p:txBody>
      </p:sp>
      <p:sp>
        <p:nvSpPr>
          <p:cNvPr id="45" name="TextBox 44"/>
          <p:cNvSpPr txBox="1"/>
          <p:nvPr/>
        </p:nvSpPr>
        <p:spPr>
          <a:xfrm>
            <a:off x="5129784" y="3255264"/>
            <a:ext cx="2221991" cy="365760"/>
          </a:xfrm>
          <a:prstGeom prst="rect">
            <a:avLst/>
          </a:prstGeom>
          <a:noFill/>
        </p:spPr>
        <p:txBody>
          <a:bodyPr wrap="square" lIns="27432" tIns="0" rIns="27432" bIns="0" anchor="ctr">
            <a:spAutoFit/>
          </a:bodyPr>
          <a:lstStyle/>
          <a:p>
            <a:pPr algn="l"/>
            <a:r>
              <a:rPr sz="800" b="0" i="0">
                <a:solidFill>
                  <a:srgbClr val="6B6965"/>
                </a:solidFill>
                <a:latin typeface="Calibri"/>
              </a:rPr>
              <a:t>No direct measurement</a:t>
            </a:r>
          </a:p>
        </p:txBody>
      </p:sp>
      <p:sp>
        <p:nvSpPr>
          <p:cNvPr id="46" name="TextBox 45"/>
          <p:cNvSpPr txBox="1"/>
          <p:nvPr/>
        </p:nvSpPr>
        <p:spPr>
          <a:xfrm>
            <a:off x="7461504" y="3255264"/>
            <a:ext cx="1307592" cy="365760"/>
          </a:xfrm>
          <a:prstGeom prst="rect">
            <a:avLst/>
          </a:prstGeom>
          <a:noFill/>
        </p:spPr>
        <p:txBody>
          <a:bodyPr wrap="square" lIns="27432" tIns="0" rIns="27432" bIns="0" anchor="ctr">
            <a:spAutoFit/>
          </a:bodyPr>
          <a:lstStyle/>
          <a:p>
            <a:pPr algn="l"/>
            <a:r>
              <a:rPr sz="800" b="0" i="0">
                <a:solidFill>
                  <a:srgbClr val="6B6965"/>
                </a:solidFill>
                <a:latin typeface="Calibri"/>
              </a:rPr>
              <a:t>Mechanistic</a:t>
            </a:r>
          </a:p>
        </p:txBody>
      </p:sp>
      <p:sp>
        <p:nvSpPr>
          <p:cNvPr id="47" name="TextBox 46"/>
          <p:cNvSpPr txBox="1"/>
          <p:nvPr/>
        </p:nvSpPr>
        <p:spPr>
          <a:xfrm>
            <a:off x="374904" y="3621024"/>
            <a:ext cx="1901952" cy="365760"/>
          </a:xfrm>
          <a:prstGeom prst="rect">
            <a:avLst/>
          </a:prstGeom>
          <a:noFill/>
        </p:spPr>
        <p:txBody>
          <a:bodyPr wrap="square" lIns="27432" tIns="0" rIns="27432" bIns="0" anchor="ctr">
            <a:spAutoFit/>
          </a:bodyPr>
          <a:lstStyle/>
          <a:p>
            <a:pPr algn="l"/>
            <a:r>
              <a:rPr sz="800" b="1" i="0">
                <a:solidFill>
                  <a:srgbClr val="2E2D29"/>
                </a:solidFill>
                <a:latin typeface="Calibri"/>
              </a:rPr>
              <a:t>Intra-tree Q, P, WSS</a:t>
            </a:r>
          </a:p>
        </p:txBody>
      </p:sp>
      <p:sp>
        <p:nvSpPr>
          <p:cNvPr id="48" name="TextBox 47"/>
          <p:cNvSpPr txBox="1"/>
          <p:nvPr/>
        </p:nvSpPr>
        <p:spPr>
          <a:xfrm>
            <a:off x="2386584" y="3621024"/>
            <a:ext cx="2633472" cy="365760"/>
          </a:xfrm>
          <a:prstGeom prst="rect">
            <a:avLst/>
          </a:prstGeom>
          <a:noFill/>
        </p:spPr>
        <p:txBody>
          <a:bodyPr wrap="square" lIns="27432" tIns="0" rIns="27432" bIns="0" anchor="ctr">
            <a:spAutoFit/>
          </a:bodyPr>
          <a:lstStyle/>
          <a:p>
            <a:pPr algn="l"/>
            <a:r>
              <a:rPr sz="800" b="0" i="0">
                <a:solidFill>
                  <a:srgbClr val="6B6965"/>
                </a:solidFill>
                <a:latin typeface="Calibri"/>
              </a:rPr>
              <a:t>Distributions by generation within the trees</a:t>
            </a:r>
          </a:p>
        </p:txBody>
      </p:sp>
      <p:sp>
        <p:nvSpPr>
          <p:cNvPr id="49" name="TextBox 48"/>
          <p:cNvSpPr txBox="1"/>
          <p:nvPr/>
        </p:nvSpPr>
        <p:spPr>
          <a:xfrm>
            <a:off x="5129784" y="3621024"/>
            <a:ext cx="2221991" cy="365760"/>
          </a:xfrm>
          <a:prstGeom prst="rect">
            <a:avLst/>
          </a:prstGeom>
          <a:noFill/>
        </p:spPr>
        <p:txBody>
          <a:bodyPr wrap="square" lIns="27432" tIns="0" rIns="27432" bIns="0" anchor="ctr">
            <a:spAutoFit/>
          </a:bodyPr>
          <a:lstStyle/>
          <a:p>
            <a:pPr algn="l"/>
            <a:r>
              <a:rPr sz="800" b="0" i="0">
                <a:solidFill>
                  <a:srgbClr val="6B6965"/>
                </a:solidFill>
                <a:latin typeface="Calibri"/>
              </a:rPr>
              <a:t>No direct measurement</a:t>
            </a:r>
          </a:p>
        </p:txBody>
      </p:sp>
      <p:sp>
        <p:nvSpPr>
          <p:cNvPr id="50" name="TextBox 49"/>
          <p:cNvSpPr txBox="1"/>
          <p:nvPr/>
        </p:nvSpPr>
        <p:spPr>
          <a:xfrm>
            <a:off x="7461504" y="3621024"/>
            <a:ext cx="1307592" cy="365760"/>
          </a:xfrm>
          <a:prstGeom prst="rect">
            <a:avLst/>
          </a:prstGeom>
          <a:noFill/>
        </p:spPr>
        <p:txBody>
          <a:bodyPr wrap="square" lIns="27432" tIns="0" rIns="27432" bIns="0" anchor="ctr">
            <a:spAutoFit/>
          </a:bodyPr>
          <a:lstStyle/>
          <a:p>
            <a:pPr algn="l"/>
            <a:r>
              <a:rPr sz="800" b="0" i="0">
                <a:solidFill>
                  <a:srgbClr val="6B6965"/>
                </a:solidFill>
                <a:latin typeface="Calibri"/>
              </a:rPr>
              <a:t>Mechanistic</a:t>
            </a:r>
          </a:p>
        </p:txBody>
      </p:sp>
      <p:sp>
        <p:nvSpPr>
          <p:cNvPr id="51" name="TextBox 50"/>
          <p:cNvSpPr txBox="1"/>
          <p:nvPr/>
        </p:nvSpPr>
        <p:spPr>
          <a:xfrm>
            <a:off x="320040" y="3968496"/>
            <a:ext cx="8503920" cy="219456"/>
          </a:xfrm>
          <a:prstGeom prst="rect">
            <a:avLst/>
          </a:prstGeom>
          <a:noFill/>
        </p:spPr>
        <p:txBody>
          <a:bodyPr wrap="square" lIns="27432" tIns="0" rIns="27432" bIns="0" anchor="t">
            <a:spAutoFit/>
          </a:bodyPr>
          <a:lstStyle/>
          <a:p>
            <a:pPr algn="l"/>
            <a:r>
              <a:rPr sz="900" b="0" i="1">
                <a:solidFill>
                  <a:srgbClr val="6B6965"/>
                </a:solidFill>
                <a:latin typeface="Calibri"/>
              </a:rPr>
              <a:t>Lobar perfusion is explicitly out of scope for this publication.</a:t>
            </a:r>
          </a:p>
        </p:txBody>
      </p:sp>
      <p:sp>
        <p:nvSpPr>
          <p:cNvPr id="52" name="Rectangle 51"/>
          <p:cNvSpPr/>
          <p:nvPr/>
        </p:nvSpPr>
        <p:spPr>
          <a:xfrm>
            <a:off x="320040" y="4297680"/>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429768" y="4297680"/>
            <a:ext cx="8284464" cy="310896"/>
          </a:xfrm>
          <a:prstGeom prst="rect">
            <a:avLst/>
          </a:prstGeom>
          <a:noFill/>
        </p:spPr>
        <p:txBody>
          <a:bodyPr wrap="square" lIns="27432" tIns="0" rIns="27432" bIns="0" anchor="ctr">
            <a:spAutoFit/>
          </a:bodyPr>
          <a:lstStyle/>
          <a:p>
            <a:pPr algn="l"/>
            <a:r>
              <a:rPr sz="1000" b="1" i="0">
                <a:solidFill>
                  <a:srgbClr val="8C1515"/>
                </a:solidFill>
                <a:latin typeface="Calibri"/>
              </a:rPr>
              <a:t>Two clinically measured endpoints carry the validation; the rest explain the mechanism.</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sz="2200">
                <a:solidFill>
                  <a:srgbClr val="8C1515"/>
                </a:solidFill>
                <a:latin typeface="Georgia"/>
              </a:rPr>
              <a:t>What counts as success</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700" b="1">
                <a:solidFill>
                  <a:srgbClr val="FFFFFF"/>
                </a:solidFill>
                <a:latin typeface="Calibri"/>
              </a:rPr>
              <a:t>7  Metrics</a:t>
            </a:r>
          </a:p>
        </p:txBody>
      </p:sp>
      <p:sp>
        <p:nvSpPr>
          <p:cNvPr id="17" name="Rectangle 16"/>
          <p:cNvSpPr/>
          <p:nvPr/>
        </p:nvSpPr>
        <p:spPr>
          <a:xfrm>
            <a:off x="7013447" y="950976"/>
            <a:ext cx="1810512"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13447" y="950976"/>
            <a:ext cx="1810512" cy="237744"/>
          </a:xfrm>
          <a:prstGeom prst="rect">
            <a:avLst/>
          </a:prstGeom>
          <a:noFill/>
        </p:spPr>
        <p:txBody>
          <a:bodyPr wrap="square" lIns="18288" tIns="0" rIns="18288" bIns="0" anchor="ctr">
            <a:spAutoFit/>
          </a:bodyPr>
          <a:lstStyle/>
          <a:p>
            <a:pPr algn="ctr"/>
            <a:r>
              <a:rPr sz="650" b="1">
                <a:solidFill>
                  <a:srgbClr val="6B6965"/>
                </a:solidFill>
                <a:latin typeface="Calibri"/>
              </a:rPr>
              <a:t>PLANNED</a:t>
            </a:r>
          </a:p>
        </p:txBody>
      </p:sp>
      <p:sp>
        <p:nvSpPr>
          <p:cNvPr id="19" name="Rectangle 18"/>
          <p:cNvSpPr/>
          <p:nvPr/>
        </p:nvSpPr>
        <p:spPr>
          <a:xfrm>
            <a:off x="320040" y="1408176"/>
            <a:ext cx="2688336" cy="131673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320040" y="1408176"/>
            <a:ext cx="2688336" cy="274320"/>
          </a:xfrm>
          <a:prstGeom prst="rect">
            <a:avLst/>
          </a:prstGeom>
          <a:solidFill>
            <a:srgbClr val="6B69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320040" y="1408176"/>
            <a:ext cx="2688336" cy="274320"/>
          </a:xfrm>
          <a:prstGeom prst="rect">
            <a:avLst/>
          </a:prstGeom>
          <a:noFill/>
        </p:spPr>
        <p:txBody>
          <a:bodyPr wrap="square" lIns="27432" tIns="0" rIns="27432" bIns="0" anchor="ctr">
            <a:spAutoFit/>
          </a:bodyPr>
          <a:lstStyle/>
          <a:p>
            <a:pPr algn="ctr"/>
            <a:r>
              <a:rPr sz="1000" b="1" i="0">
                <a:solidFill>
                  <a:srgbClr val="FFFFFF"/>
                </a:solidFill>
                <a:latin typeface="Calibri"/>
              </a:rPr>
              <a:t>Baseline</a:t>
            </a:r>
          </a:p>
        </p:txBody>
      </p:sp>
      <p:sp>
        <p:nvSpPr>
          <p:cNvPr id="22" name="TextBox 21"/>
          <p:cNvSpPr txBox="1"/>
          <p:nvPr/>
        </p:nvSpPr>
        <p:spPr>
          <a:xfrm>
            <a:off x="429768" y="1792224"/>
            <a:ext cx="2468880" cy="841248"/>
          </a:xfrm>
          <a:prstGeom prst="rect">
            <a:avLst/>
          </a:prstGeom>
          <a:noFill/>
        </p:spPr>
        <p:txBody>
          <a:bodyPr wrap="square" lIns="27432" tIns="0" rIns="27432" bIns="0" anchor="t">
            <a:spAutoFit/>
          </a:bodyPr>
          <a:lstStyle/>
          <a:p>
            <a:pPr algn="l">
              <a:lnSpc>
                <a:spcPct val="115000"/>
              </a:lnSpc>
            </a:pPr>
            <a:r>
              <a:rPr sz="900" b="0" i="0">
                <a:solidFill>
                  <a:srgbClr val="2E2D29"/>
                </a:solidFill>
                <a:latin typeface="Calibri"/>
              </a:rPr>
              <a:t>Acute post-operative simulation with unchanged pre-operative boundary conditions</a:t>
            </a:r>
          </a:p>
        </p:txBody>
      </p:sp>
      <p:sp>
        <p:nvSpPr>
          <p:cNvPr id="23" name="Rectangle 22"/>
          <p:cNvSpPr/>
          <p:nvPr/>
        </p:nvSpPr>
        <p:spPr>
          <a:xfrm>
            <a:off x="3227832" y="1408176"/>
            <a:ext cx="2688336" cy="131673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ectangle 23"/>
          <p:cNvSpPr/>
          <p:nvPr/>
        </p:nvSpPr>
        <p:spPr>
          <a:xfrm>
            <a:off x="3227832" y="1408176"/>
            <a:ext cx="2688336" cy="274320"/>
          </a:xfrm>
          <a:prstGeom prst="rect">
            <a:avLst/>
          </a:prstGeom>
          <a:solidFill>
            <a:srgbClr val="007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3227832" y="1408176"/>
            <a:ext cx="2688336" cy="274320"/>
          </a:xfrm>
          <a:prstGeom prst="rect">
            <a:avLst/>
          </a:prstGeom>
          <a:noFill/>
        </p:spPr>
        <p:txBody>
          <a:bodyPr wrap="square" lIns="27432" tIns="0" rIns="27432" bIns="0" anchor="ctr">
            <a:spAutoFit/>
          </a:bodyPr>
          <a:lstStyle/>
          <a:p>
            <a:pPr algn="ctr"/>
            <a:r>
              <a:rPr sz="1000" b="1" i="0">
                <a:solidFill>
                  <a:srgbClr val="FFFFFF"/>
                </a:solidFill>
                <a:latin typeface="Calibri"/>
              </a:rPr>
              <a:t>Comparison</a:t>
            </a:r>
          </a:p>
        </p:txBody>
      </p:sp>
      <p:sp>
        <p:nvSpPr>
          <p:cNvPr id="26" name="TextBox 25"/>
          <p:cNvSpPr txBox="1"/>
          <p:nvPr/>
        </p:nvSpPr>
        <p:spPr>
          <a:xfrm>
            <a:off x="3337560" y="1792224"/>
            <a:ext cx="2468880" cy="841248"/>
          </a:xfrm>
          <a:prstGeom prst="rect">
            <a:avLst/>
          </a:prstGeom>
          <a:noFill/>
        </p:spPr>
        <p:txBody>
          <a:bodyPr wrap="square" lIns="27432" tIns="0" rIns="27432" bIns="0" anchor="t">
            <a:spAutoFit/>
          </a:bodyPr>
          <a:lstStyle/>
          <a:p>
            <a:pPr algn="l">
              <a:lnSpc>
                <a:spcPct val="115000"/>
              </a:lnSpc>
            </a:pPr>
            <a:r>
              <a:rPr sz="900" b="0" i="0">
                <a:solidFill>
                  <a:srgbClr val="2E2D29"/>
                </a:solidFill>
                <a:latin typeface="Calibri"/>
              </a:rPr>
              <a:t>CWSS adaptation with swept terminal resistance</a:t>
            </a:r>
          </a:p>
        </p:txBody>
      </p:sp>
      <p:sp>
        <p:nvSpPr>
          <p:cNvPr id="27" name="Rectangle 26"/>
          <p:cNvSpPr/>
          <p:nvPr/>
        </p:nvSpPr>
        <p:spPr>
          <a:xfrm>
            <a:off x="6135623" y="1408176"/>
            <a:ext cx="2688336" cy="131673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Rectangle 27"/>
          <p:cNvSpPr/>
          <p:nvPr/>
        </p:nvSpPr>
        <p:spPr>
          <a:xfrm>
            <a:off x="6135623" y="1408176"/>
            <a:ext cx="2688336" cy="274320"/>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6135623" y="1408176"/>
            <a:ext cx="2688336" cy="274320"/>
          </a:xfrm>
          <a:prstGeom prst="rect">
            <a:avLst/>
          </a:prstGeom>
          <a:noFill/>
        </p:spPr>
        <p:txBody>
          <a:bodyPr wrap="square" lIns="27432" tIns="0" rIns="27432" bIns="0" anchor="ctr">
            <a:spAutoFit/>
          </a:bodyPr>
          <a:lstStyle/>
          <a:p>
            <a:pPr algn="ctr"/>
            <a:r>
              <a:rPr sz="1000" b="1" i="0">
                <a:solidFill>
                  <a:srgbClr val="FFFFFF"/>
                </a:solidFill>
                <a:latin typeface="Calibri"/>
              </a:rPr>
              <a:t>Proposed</a:t>
            </a:r>
          </a:p>
        </p:txBody>
      </p:sp>
      <p:sp>
        <p:nvSpPr>
          <p:cNvPr id="30" name="TextBox 29"/>
          <p:cNvSpPr txBox="1"/>
          <p:nvPr/>
        </p:nvSpPr>
        <p:spPr>
          <a:xfrm>
            <a:off x="6245351" y="1792224"/>
            <a:ext cx="2468880" cy="841248"/>
          </a:xfrm>
          <a:prstGeom prst="rect">
            <a:avLst/>
          </a:prstGeom>
          <a:noFill/>
        </p:spPr>
        <p:txBody>
          <a:bodyPr wrap="square" lIns="27432" tIns="0" rIns="27432" bIns="0" anchor="t">
            <a:spAutoFit/>
          </a:bodyPr>
          <a:lstStyle/>
          <a:p>
            <a:pPr algn="l">
              <a:lnSpc>
                <a:spcPct val="115000"/>
              </a:lnSpc>
            </a:pPr>
            <a:r>
              <a:rPr sz="900" b="0" i="0">
                <a:solidFill>
                  <a:srgbClr val="2E2D29"/>
                </a:solidFill>
                <a:latin typeface="Calibri"/>
              </a:rPr>
              <a:t>CWSS-IMS adaptation with cross-validated gains</a:t>
            </a:r>
          </a:p>
        </p:txBody>
      </p:sp>
      <p:sp>
        <p:nvSpPr>
          <p:cNvPr id="31" name="TextBox 30"/>
          <p:cNvSpPr txBox="1"/>
          <p:nvPr/>
        </p:nvSpPr>
        <p:spPr>
          <a:xfrm>
            <a:off x="320040" y="2871216"/>
            <a:ext cx="8503920" cy="1371600"/>
          </a:xfrm>
          <a:prstGeom prst="rect">
            <a:avLst/>
          </a:prstGeom>
          <a:noFill/>
        </p:spPr>
        <p:txBody>
          <a:bodyPr wrap="square" lIns="27432" tIns="0" rIns="27432" bIns="0">
            <a:spAutoFit/>
          </a:bodyPr>
          <a:lstStyle/>
          <a:p>
            <a:pPr>
              <a:spcAft>
                <a:spcPts val="700"/>
              </a:spcAft>
            </a:pPr>
            <a:r>
              <a:rPr sz="1000">
                <a:solidFill>
                  <a:srgbClr val="8C1515"/>
                </a:solidFill>
                <a:latin typeface="Calibri"/>
              </a:rPr>
              <a:t>• </a:t>
            </a:r>
            <a:r>
              <a:rPr sz="1000">
                <a:solidFill>
                  <a:srgbClr val="2E2D29"/>
                </a:solidFill>
                <a:latin typeface="Calibri"/>
              </a:rPr>
              <a:t>The claim is that CWSS-IMS with generalized gains reduces error against post-operative perfusion split relative to both the acute baseline and the CWSS comparison arm</a:t>
            </a:r>
          </a:p>
          <a:p>
            <a:pPr>
              <a:spcAft>
                <a:spcPts val="700"/>
              </a:spcAft>
            </a:pPr>
            <a:r>
              <a:rPr sz="1000">
                <a:solidFill>
                  <a:srgbClr val="8C1515"/>
                </a:solidFill>
                <a:latin typeface="Calibri"/>
              </a:rPr>
              <a:t>• </a:t>
            </a:r>
            <a:r>
              <a:rPr sz="1000">
                <a:solidFill>
                  <a:srgbClr val="2E2D29"/>
                </a:solidFill>
                <a:latin typeface="Calibri"/>
              </a:rPr>
              <a:t>Held-out error is reported separately from fitted error; with five patients the training-set composition is itself reported</a:t>
            </a:r>
          </a:p>
          <a:p>
            <a:pPr>
              <a:spcAft>
                <a:spcPts val="700"/>
              </a:spcAft>
            </a:pPr>
            <a:r>
              <a:rPr sz="1000">
                <a:solidFill>
                  <a:srgbClr val="8C1515"/>
                </a:solidFill>
                <a:latin typeface="Calibri"/>
              </a:rPr>
              <a:t>• </a:t>
            </a:r>
            <a:r>
              <a:rPr sz="1000">
                <a:solidFill>
                  <a:srgbClr val="2E2D29"/>
                </a:solidFill>
                <a:latin typeface="Calibri"/>
              </a:rPr>
              <a:t>A negative result is publishable: if adaptation does not beat the acute baseline out of sample, that is a finding about the model class</a:t>
            </a:r>
          </a:p>
        </p:txBody>
      </p:sp>
      <p:sp>
        <p:nvSpPr>
          <p:cNvPr id="32" name="Rectangle 31"/>
          <p:cNvSpPr/>
          <p:nvPr/>
        </p:nvSpPr>
        <p:spPr>
          <a:xfrm>
            <a:off x="320040" y="4443984"/>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429768" y="4443984"/>
            <a:ext cx="8284464" cy="310896"/>
          </a:xfrm>
          <a:prstGeom prst="rect">
            <a:avLst/>
          </a:prstGeom>
          <a:noFill/>
        </p:spPr>
        <p:txBody>
          <a:bodyPr wrap="square" lIns="27432" tIns="0" rIns="27432" bIns="0" anchor="ctr">
            <a:spAutoFit/>
          </a:bodyPr>
          <a:lstStyle/>
          <a:p>
            <a:pPr algn="l"/>
            <a:r>
              <a:rPr sz="1000" b="1" i="0">
                <a:solidFill>
                  <a:srgbClr val="8C1515"/>
                </a:solidFill>
                <a:latin typeface="Calibri"/>
              </a:rPr>
              <a:t>Success is defined before the adapted simulations run — that is deliberate.</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sz="2200">
                <a:solidFill>
                  <a:srgbClr val="8C1515"/>
                </a:solidFill>
                <a:latin typeface="Georgia"/>
              </a:rPr>
              <a:t>Roadmap: what is changing across the pipeline</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Rectangle 16"/>
          <p:cNvSpPr/>
          <p:nvPr/>
        </p:nvSpPr>
        <p:spPr>
          <a:xfrm>
            <a:off x="320040" y="1426464"/>
            <a:ext cx="8503920" cy="384048"/>
          </a:xfrm>
          <a:prstGeom prst="rect">
            <a:avLst/>
          </a:prstGeom>
          <a:solidFill>
            <a:srgbClr val="8C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374904" y="1426464"/>
            <a:ext cx="1307592" cy="384048"/>
          </a:xfrm>
          <a:prstGeom prst="rect">
            <a:avLst/>
          </a:prstGeom>
          <a:noFill/>
        </p:spPr>
        <p:txBody>
          <a:bodyPr wrap="square" lIns="27432" tIns="0" rIns="27432" bIns="0" anchor="ctr">
            <a:spAutoFit/>
          </a:bodyPr>
          <a:lstStyle/>
          <a:p>
            <a:pPr algn="l"/>
            <a:r>
              <a:rPr sz="800" b="1" i="0">
                <a:solidFill>
                  <a:srgbClr val="FFFFFF"/>
                </a:solidFill>
                <a:latin typeface="Calibri"/>
              </a:rPr>
              <a:t>Stage</a:t>
            </a:r>
          </a:p>
        </p:txBody>
      </p:sp>
      <p:sp>
        <p:nvSpPr>
          <p:cNvPr id="19" name="TextBox 18"/>
          <p:cNvSpPr txBox="1"/>
          <p:nvPr/>
        </p:nvSpPr>
        <p:spPr>
          <a:xfrm>
            <a:off x="1792224" y="1426464"/>
            <a:ext cx="2862072" cy="384048"/>
          </a:xfrm>
          <a:prstGeom prst="rect">
            <a:avLst/>
          </a:prstGeom>
          <a:noFill/>
        </p:spPr>
        <p:txBody>
          <a:bodyPr wrap="square" lIns="27432" tIns="0" rIns="27432" bIns="0" anchor="ctr">
            <a:spAutoFit/>
          </a:bodyPr>
          <a:lstStyle/>
          <a:p>
            <a:pPr algn="l"/>
            <a:r>
              <a:rPr sz="800" b="1" i="0">
                <a:solidFill>
                  <a:srgbClr val="FFFFFF"/>
                </a:solidFill>
                <a:latin typeface="Calibri"/>
              </a:rPr>
              <a:t>Change</a:t>
            </a:r>
          </a:p>
        </p:txBody>
      </p:sp>
      <p:sp>
        <p:nvSpPr>
          <p:cNvPr id="20" name="TextBox 19"/>
          <p:cNvSpPr txBox="1"/>
          <p:nvPr/>
        </p:nvSpPr>
        <p:spPr>
          <a:xfrm>
            <a:off x="4764024" y="1426464"/>
            <a:ext cx="2770632" cy="384048"/>
          </a:xfrm>
          <a:prstGeom prst="rect">
            <a:avLst/>
          </a:prstGeom>
          <a:noFill/>
        </p:spPr>
        <p:txBody>
          <a:bodyPr wrap="square" lIns="27432" tIns="0" rIns="27432" bIns="0" anchor="ctr">
            <a:spAutoFit/>
          </a:bodyPr>
          <a:lstStyle/>
          <a:p>
            <a:pPr algn="l"/>
            <a:r>
              <a:rPr sz="800" b="1" i="0">
                <a:solidFill>
                  <a:srgbClr val="FFFFFF"/>
                </a:solidFill>
                <a:latin typeface="Calibri"/>
              </a:rPr>
              <a:t>Why</a:t>
            </a:r>
          </a:p>
        </p:txBody>
      </p:sp>
      <p:sp>
        <p:nvSpPr>
          <p:cNvPr id="21" name="TextBox 20"/>
          <p:cNvSpPr txBox="1"/>
          <p:nvPr/>
        </p:nvSpPr>
        <p:spPr>
          <a:xfrm>
            <a:off x="7644384" y="1426464"/>
            <a:ext cx="1124712" cy="384048"/>
          </a:xfrm>
          <a:prstGeom prst="rect">
            <a:avLst/>
          </a:prstGeom>
          <a:noFill/>
        </p:spPr>
        <p:txBody>
          <a:bodyPr wrap="square" lIns="27432" tIns="0" rIns="27432" bIns="0" anchor="ctr">
            <a:spAutoFit/>
          </a:bodyPr>
          <a:lstStyle/>
          <a:p>
            <a:pPr algn="l"/>
            <a:r>
              <a:rPr sz="800" b="1" i="0">
                <a:solidFill>
                  <a:srgbClr val="FFFFFF"/>
                </a:solidFill>
                <a:latin typeface="Calibri"/>
              </a:rPr>
              <a:t>Status</a:t>
            </a:r>
          </a:p>
        </p:txBody>
      </p:sp>
      <p:sp>
        <p:nvSpPr>
          <p:cNvPr id="31" name="Rectangle 30"/>
          <p:cNvSpPr/>
          <p:nvPr/>
        </p:nvSpPr>
        <p:spPr>
          <a:xfrm>
            <a:off x="320040" y="2523744"/>
            <a:ext cx="8503920" cy="35661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320040" y="1810512"/>
            <a:ext cx="8503920" cy="35661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Rectangle 39"/>
          <p:cNvSpPr/>
          <p:nvPr/>
        </p:nvSpPr>
        <p:spPr>
          <a:xfrm>
            <a:off x="320040" y="3236976"/>
            <a:ext cx="8503920" cy="35661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Rectangle 48"/>
          <p:cNvSpPr/>
          <p:nvPr/>
        </p:nvSpPr>
        <p:spPr>
          <a:xfrm>
            <a:off x="320040" y="3950208"/>
            <a:ext cx="8503920" cy="35661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374904" y="1810512"/>
            <a:ext cx="1307592" cy="356616"/>
          </a:xfrm>
          <a:prstGeom prst="rect">
            <a:avLst/>
          </a:prstGeom>
          <a:noFill/>
        </p:spPr>
        <p:txBody>
          <a:bodyPr wrap="square" lIns="27432" tIns="0" rIns="27432" bIns="0" anchor="ctr">
            <a:spAutoFit/>
          </a:bodyPr>
          <a:lstStyle/>
          <a:p>
            <a:pPr algn="l"/>
            <a:r>
              <a:rPr sz="800" b="1" i="0">
                <a:solidFill>
                  <a:srgbClr val="2E2D29"/>
                </a:solidFill>
                <a:latin typeface="Calibri"/>
              </a:rPr>
              <a:t>2  BC Tuning</a:t>
            </a:r>
          </a:p>
        </p:txBody>
      </p:sp>
      <p:sp>
        <p:nvSpPr>
          <p:cNvPr id="24" name="TextBox 23"/>
          <p:cNvSpPr txBox="1"/>
          <p:nvPr/>
        </p:nvSpPr>
        <p:spPr>
          <a:xfrm>
            <a:off x="1792224" y="1810512"/>
            <a:ext cx="2862072" cy="356616"/>
          </a:xfrm>
          <a:prstGeom prst="rect">
            <a:avLst/>
          </a:prstGeom>
          <a:noFill/>
        </p:spPr>
        <p:txBody>
          <a:bodyPr wrap="square" lIns="27432" tIns="0" rIns="27432" bIns="0" anchor="ctr">
            <a:spAutoFit/>
          </a:bodyPr>
          <a:lstStyle/>
          <a:p>
            <a:pPr algn="l"/>
            <a:r>
              <a:rPr sz="800" b="0" i="0">
                <a:solidFill>
                  <a:srgbClr val="6B6965"/>
                </a:solidFill>
                <a:latin typeface="Calibri"/>
              </a:rPr>
              <a:t>Centerline 0D model + svZeroDCalibrator replaces the two-branch RRI</a:t>
            </a:r>
          </a:p>
        </p:txBody>
      </p:sp>
      <p:sp>
        <p:nvSpPr>
          <p:cNvPr id="25" name="TextBox 24"/>
          <p:cNvSpPr txBox="1"/>
          <p:nvPr/>
        </p:nvSpPr>
        <p:spPr>
          <a:xfrm>
            <a:off x="4764024" y="1810512"/>
            <a:ext cx="2770632" cy="356616"/>
          </a:xfrm>
          <a:prstGeom prst="rect">
            <a:avLst/>
          </a:prstGeom>
          <a:noFill/>
        </p:spPr>
        <p:txBody>
          <a:bodyPr wrap="square" lIns="27432" tIns="0" rIns="27432" bIns="0" anchor="ctr">
            <a:spAutoFit/>
          </a:bodyPr>
          <a:lstStyle/>
          <a:p>
            <a:pPr algn="l"/>
            <a:r>
              <a:rPr sz="800" b="0" i="0">
                <a:solidFill>
                  <a:srgbClr val="6B6965"/>
                </a:solidFill>
                <a:latin typeface="Calibri"/>
              </a:rPr>
              <a:t>Better transfer of tuned BCs to the 3D model</a:t>
            </a:r>
          </a:p>
        </p:txBody>
      </p:sp>
      <p:sp>
        <p:nvSpPr>
          <p:cNvPr id="26" name="TextBox 25"/>
          <p:cNvSpPr txBox="1"/>
          <p:nvPr/>
        </p:nvSpPr>
        <p:spPr>
          <a:xfrm>
            <a:off x="7644384" y="1810512"/>
            <a:ext cx="1124712" cy="356616"/>
          </a:xfrm>
          <a:prstGeom prst="rect">
            <a:avLst/>
          </a:prstGeom>
          <a:noFill/>
        </p:spPr>
        <p:txBody>
          <a:bodyPr wrap="square" lIns="27432" tIns="0" rIns="27432" bIns="0" anchor="ctr">
            <a:spAutoFit/>
          </a:bodyPr>
          <a:lstStyle/>
          <a:p>
            <a:pPr algn="l"/>
            <a:r>
              <a:rPr sz="800" b="0" i="0">
                <a:solidFill>
                  <a:srgbClr val="6B6965"/>
                </a:solidFill>
                <a:latin typeface="Calibri"/>
              </a:rPr>
              <a:t>Planned</a:t>
            </a:r>
          </a:p>
        </p:txBody>
      </p:sp>
      <p:sp>
        <p:nvSpPr>
          <p:cNvPr id="27" name="TextBox 26"/>
          <p:cNvSpPr txBox="1"/>
          <p:nvPr/>
        </p:nvSpPr>
        <p:spPr>
          <a:xfrm>
            <a:off x="374904" y="2167128"/>
            <a:ext cx="1307592" cy="356616"/>
          </a:xfrm>
          <a:prstGeom prst="rect">
            <a:avLst/>
          </a:prstGeom>
          <a:noFill/>
        </p:spPr>
        <p:txBody>
          <a:bodyPr wrap="square" lIns="27432" tIns="0" rIns="27432" bIns="0" anchor="ctr">
            <a:spAutoFit/>
          </a:bodyPr>
          <a:lstStyle/>
          <a:p>
            <a:pPr algn="l"/>
            <a:r>
              <a:rPr sz="800" b="1" i="0">
                <a:solidFill>
                  <a:srgbClr val="2E2D29"/>
                </a:solidFill>
                <a:latin typeface="Calibri"/>
              </a:rPr>
              <a:t>2  BC Tuning</a:t>
            </a:r>
          </a:p>
        </p:txBody>
      </p:sp>
      <p:sp>
        <p:nvSpPr>
          <p:cNvPr id="28" name="TextBox 27"/>
          <p:cNvSpPr txBox="1"/>
          <p:nvPr/>
        </p:nvSpPr>
        <p:spPr>
          <a:xfrm>
            <a:off x="1792224" y="2167128"/>
            <a:ext cx="2862072" cy="356616"/>
          </a:xfrm>
          <a:prstGeom prst="rect">
            <a:avLst/>
          </a:prstGeom>
          <a:noFill/>
        </p:spPr>
        <p:txBody>
          <a:bodyPr wrap="square" lIns="27432" tIns="0" rIns="27432" bIns="0" anchor="ctr">
            <a:spAutoFit/>
          </a:bodyPr>
          <a:lstStyle/>
          <a:p>
            <a:pPr algn="l"/>
            <a:r>
              <a:rPr sz="800" b="0" i="0">
                <a:solidFill>
                  <a:srgbClr val="6B6965"/>
                </a:solidFill>
                <a:latin typeface="Calibri"/>
              </a:rPr>
              <a:t>Preserve best-by-unweighted-loss in the outer RRI loop</a:t>
            </a:r>
          </a:p>
        </p:txBody>
      </p:sp>
      <p:sp>
        <p:nvSpPr>
          <p:cNvPr id="29" name="TextBox 28"/>
          <p:cNvSpPr txBox="1"/>
          <p:nvPr/>
        </p:nvSpPr>
        <p:spPr>
          <a:xfrm>
            <a:off x="4764024" y="2167128"/>
            <a:ext cx="2770632" cy="356616"/>
          </a:xfrm>
          <a:prstGeom prst="rect">
            <a:avLst/>
          </a:prstGeom>
          <a:noFill/>
        </p:spPr>
        <p:txBody>
          <a:bodyPr wrap="square" lIns="27432" tIns="0" rIns="27432" bIns="0" anchor="ctr">
            <a:spAutoFit/>
          </a:bodyPr>
          <a:lstStyle/>
          <a:p>
            <a:pPr algn="l"/>
            <a:r>
              <a:rPr sz="800" b="0" i="0">
                <a:solidFill>
                  <a:srgbClr val="6B6965"/>
                </a:solidFill>
                <a:latin typeface="Calibri"/>
              </a:rPr>
              <a:t>Align with the tree loop; avoid ending on a worse iterate</a:t>
            </a:r>
          </a:p>
        </p:txBody>
      </p:sp>
      <p:sp>
        <p:nvSpPr>
          <p:cNvPr id="30" name="TextBox 29"/>
          <p:cNvSpPr txBox="1"/>
          <p:nvPr/>
        </p:nvSpPr>
        <p:spPr>
          <a:xfrm>
            <a:off x="7644384" y="2167128"/>
            <a:ext cx="1124712" cy="356616"/>
          </a:xfrm>
          <a:prstGeom prst="rect">
            <a:avLst/>
          </a:prstGeom>
          <a:noFill/>
        </p:spPr>
        <p:txBody>
          <a:bodyPr wrap="square" lIns="27432" tIns="0" rIns="27432" bIns="0" anchor="ctr">
            <a:spAutoFit/>
          </a:bodyPr>
          <a:lstStyle/>
          <a:p>
            <a:pPr algn="l"/>
            <a:r>
              <a:rPr sz="800" b="0" i="0">
                <a:solidFill>
                  <a:srgbClr val="6B6965"/>
                </a:solidFill>
                <a:latin typeface="Calibri"/>
              </a:rPr>
              <a:t>Planned</a:t>
            </a:r>
          </a:p>
        </p:txBody>
      </p:sp>
      <p:sp>
        <p:nvSpPr>
          <p:cNvPr id="32" name="TextBox 31"/>
          <p:cNvSpPr txBox="1"/>
          <p:nvPr/>
        </p:nvSpPr>
        <p:spPr>
          <a:xfrm>
            <a:off x="374904" y="2523744"/>
            <a:ext cx="1307592" cy="356616"/>
          </a:xfrm>
          <a:prstGeom prst="rect">
            <a:avLst/>
          </a:prstGeom>
          <a:noFill/>
        </p:spPr>
        <p:txBody>
          <a:bodyPr wrap="square" lIns="27432" tIns="0" rIns="27432" bIns="0" anchor="ctr">
            <a:spAutoFit/>
          </a:bodyPr>
          <a:lstStyle/>
          <a:p>
            <a:pPr algn="l"/>
            <a:r>
              <a:rPr sz="800" b="1" i="0">
                <a:solidFill>
                  <a:srgbClr val="2E2D29"/>
                </a:solidFill>
                <a:latin typeface="Calibri"/>
              </a:rPr>
              <a:t>2  BC Tuning</a:t>
            </a:r>
          </a:p>
        </p:txBody>
      </p:sp>
      <p:sp>
        <p:nvSpPr>
          <p:cNvPr id="33" name="TextBox 32"/>
          <p:cNvSpPr txBox="1"/>
          <p:nvPr/>
        </p:nvSpPr>
        <p:spPr>
          <a:xfrm>
            <a:off x="1792224" y="2523744"/>
            <a:ext cx="2862072" cy="356616"/>
          </a:xfrm>
          <a:prstGeom prst="rect">
            <a:avLst/>
          </a:prstGeom>
          <a:noFill/>
        </p:spPr>
        <p:txBody>
          <a:bodyPr wrap="square" lIns="27432" tIns="0" rIns="27432" bIns="0" anchor="ctr">
            <a:spAutoFit/>
          </a:bodyPr>
          <a:lstStyle/>
          <a:p>
            <a:pPr algn="l"/>
            <a:r>
              <a:rPr sz="800" b="0" i="0">
                <a:solidFill>
                  <a:srgbClr val="6B6965"/>
                </a:solidFill>
                <a:latin typeface="Calibri"/>
              </a:rPr>
              <a:t>Resolve TST-STAN-2 target infeasibility</a:t>
            </a:r>
          </a:p>
        </p:txBody>
      </p:sp>
      <p:sp>
        <p:nvSpPr>
          <p:cNvPr id="34" name="TextBox 33"/>
          <p:cNvSpPr txBox="1"/>
          <p:nvPr/>
        </p:nvSpPr>
        <p:spPr>
          <a:xfrm>
            <a:off x="4764024" y="2523744"/>
            <a:ext cx="2770632" cy="356616"/>
          </a:xfrm>
          <a:prstGeom prst="rect">
            <a:avLst/>
          </a:prstGeom>
          <a:noFill/>
        </p:spPr>
        <p:txBody>
          <a:bodyPr wrap="square" lIns="27432" tIns="0" rIns="27432" bIns="0" anchor="ctr">
            <a:spAutoFit/>
          </a:bodyPr>
          <a:lstStyle/>
          <a:p>
            <a:pPr algn="l"/>
            <a:r>
              <a:rPr sz="800" b="0" i="0">
                <a:solidFill>
                  <a:srgbClr val="6B6965"/>
                </a:solidFill>
                <a:latin typeface="Calibri"/>
              </a:rPr>
              <a:t>Stenosis and flow-split bias are both right-sided</a:t>
            </a:r>
          </a:p>
        </p:txBody>
      </p:sp>
      <p:sp>
        <p:nvSpPr>
          <p:cNvPr id="35" name="TextBox 34"/>
          <p:cNvSpPr txBox="1"/>
          <p:nvPr/>
        </p:nvSpPr>
        <p:spPr>
          <a:xfrm>
            <a:off x="7644384" y="2523744"/>
            <a:ext cx="1124712" cy="356616"/>
          </a:xfrm>
          <a:prstGeom prst="rect">
            <a:avLst/>
          </a:prstGeom>
          <a:noFill/>
        </p:spPr>
        <p:txBody>
          <a:bodyPr wrap="square" lIns="27432" tIns="0" rIns="27432" bIns="0" anchor="ctr">
            <a:spAutoFit/>
          </a:bodyPr>
          <a:lstStyle/>
          <a:p>
            <a:pPr algn="l"/>
            <a:r>
              <a:rPr sz="800" b="1" i="0">
                <a:solidFill>
                  <a:srgbClr val="E98300"/>
                </a:solidFill>
                <a:latin typeface="Calibri"/>
              </a:rPr>
              <a:t>In progress</a:t>
            </a:r>
          </a:p>
        </p:txBody>
      </p:sp>
      <p:sp>
        <p:nvSpPr>
          <p:cNvPr id="36" name="TextBox 35"/>
          <p:cNvSpPr txBox="1"/>
          <p:nvPr/>
        </p:nvSpPr>
        <p:spPr>
          <a:xfrm>
            <a:off x="374904" y="3236976"/>
            <a:ext cx="1307592" cy="356616"/>
          </a:xfrm>
          <a:prstGeom prst="rect">
            <a:avLst/>
          </a:prstGeom>
          <a:noFill/>
        </p:spPr>
        <p:txBody>
          <a:bodyPr wrap="square" lIns="27432" tIns="0" rIns="27432" bIns="0" anchor="ctr">
            <a:spAutoFit/>
          </a:bodyPr>
          <a:lstStyle/>
          <a:p>
            <a:pPr algn="l"/>
            <a:r>
              <a:rPr sz="800" b="1" i="0">
                <a:solidFill>
                  <a:srgbClr val="2E2D29"/>
                </a:solidFill>
                <a:latin typeface="Calibri"/>
              </a:rPr>
              <a:t>5  Adaptation</a:t>
            </a:r>
          </a:p>
        </p:txBody>
      </p:sp>
      <p:sp>
        <p:nvSpPr>
          <p:cNvPr id="37" name="TextBox 36"/>
          <p:cNvSpPr txBox="1"/>
          <p:nvPr/>
        </p:nvSpPr>
        <p:spPr>
          <a:xfrm>
            <a:off x="1792224" y="3236976"/>
            <a:ext cx="2862072" cy="356616"/>
          </a:xfrm>
          <a:prstGeom prst="rect">
            <a:avLst/>
          </a:prstGeom>
          <a:noFill/>
        </p:spPr>
        <p:txBody>
          <a:bodyPr wrap="square" lIns="27432" tIns="0" rIns="27432" bIns="0" anchor="ctr">
            <a:spAutoFit/>
          </a:bodyPr>
          <a:lstStyle/>
          <a:p>
            <a:pPr algn="l"/>
            <a:r>
              <a:rPr sz="800" b="0" i="0">
                <a:solidFill>
                  <a:srgbClr val="6B6965"/>
                </a:solidFill>
                <a:latin typeface="Calibri"/>
              </a:rPr>
              <a:t>Identify gains by cross-validation across the cohort</a:t>
            </a:r>
          </a:p>
        </p:txBody>
      </p:sp>
      <p:sp>
        <p:nvSpPr>
          <p:cNvPr id="38" name="TextBox 37"/>
          <p:cNvSpPr txBox="1"/>
          <p:nvPr/>
        </p:nvSpPr>
        <p:spPr>
          <a:xfrm>
            <a:off x="4764024" y="3236976"/>
            <a:ext cx="2770632" cy="356616"/>
          </a:xfrm>
          <a:prstGeom prst="rect">
            <a:avLst/>
          </a:prstGeom>
          <a:noFill/>
        </p:spPr>
        <p:txBody>
          <a:bodyPr wrap="square" lIns="27432" tIns="0" rIns="27432" bIns="0" anchor="ctr">
            <a:spAutoFit/>
          </a:bodyPr>
          <a:lstStyle/>
          <a:p>
            <a:pPr algn="l"/>
            <a:r>
              <a:rPr sz="800" b="0" i="0">
                <a:solidFill>
                  <a:srgbClr val="6B6965"/>
                </a:solidFill>
                <a:latin typeface="Calibri"/>
              </a:rPr>
              <a:t>Turns the adapted result from a calibration into a prediction</a:t>
            </a:r>
          </a:p>
        </p:txBody>
      </p:sp>
      <p:sp>
        <p:nvSpPr>
          <p:cNvPr id="39" name="TextBox 38"/>
          <p:cNvSpPr txBox="1"/>
          <p:nvPr/>
        </p:nvSpPr>
        <p:spPr>
          <a:xfrm>
            <a:off x="7644384" y="3236976"/>
            <a:ext cx="1124712" cy="356616"/>
          </a:xfrm>
          <a:prstGeom prst="rect">
            <a:avLst/>
          </a:prstGeom>
          <a:noFill/>
        </p:spPr>
        <p:txBody>
          <a:bodyPr wrap="square" lIns="27432" tIns="0" rIns="27432" bIns="0" anchor="ctr">
            <a:spAutoFit/>
          </a:bodyPr>
          <a:lstStyle/>
          <a:p>
            <a:pPr algn="l"/>
            <a:r>
              <a:rPr sz="800" b="1" i="0">
                <a:solidFill>
                  <a:srgbClr val="E98300"/>
                </a:solidFill>
                <a:latin typeface="Calibri"/>
              </a:rPr>
              <a:t>In progress</a:t>
            </a:r>
          </a:p>
        </p:txBody>
      </p:sp>
      <p:sp>
        <p:nvSpPr>
          <p:cNvPr id="41" name="TextBox 40"/>
          <p:cNvSpPr txBox="1"/>
          <p:nvPr/>
        </p:nvSpPr>
        <p:spPr>
          <a:xfrm>
            <a:off x="374904" y="3593592"/>
            <a:ext cx="1307592" cy="356616"/>
          </a:xfrm>
          <a:prstGeom prst="rect">
            <a:avLst/>
          </a:prstGeom>
          <a:noFill/>
        </p:spPr>
        <p:txBody>
          <a:bodyPr wrap="square" lIns="27432" tIns="0" rIns="27432" bIns="0" anchor="ctr">
            <a:spAutoFit/>
          </a:bodyPr>
          <a:lstStyle/>
          <a:p>
            <a:pPr algn="l"/>
            <a:r>
              <a:rPr sz="800" b="1" i="0">
                <a:solidFill>
                  <a:srgbClr val="2E2D29"/>
                </a:solidFill>
                <a:latin typeface="Calibri"/>
              </a:rPr>
              <a:t>5  Adaptation</a:t>
            </a:r>
          </a:p>
        </p:txBody>
      </p:sp>
      <p:sp>
        <p:nvSpPr>
          <p:cNvPr id="42" name="TextBox 41"/>
          <p:cNvSpPr txBox="1"/>
          <p:nvPr/>
        </p:nvSpPr>
        <p:spPr>
          <a:xfrm>
            <a:off x="1792224" y="3593592"/>
            <a:ext cx="2862072" cy="356616"/>
          </a:xfrm>
          <a:prstGeom prst="rect">
            <a:avLst/>
          </a:prstGeom>
          <a:noFill/>
        </p:spPr>
        <p:txBody>
          <a:bodyPr wrap="square" lIns="27432" tIns="0" rIns="27432" bIns="0" anchor="ctr">
            <a:spAutoFit/>
          </a:bodyPr>
          <a:lstStyle/>
          <a:p>
            <a:pPr algn="l"/>
            <a:r>
              <a:rPr sz="800" b="0" i="0">
                <a:solidFill>
                  <a:srgbClr val="6B6965"/>
                </a:solidFill>
                <a:latin typeface="Calibri"/>
              </a:rPr>
              <a:t>Check simulated stent diameters against angiography</a:t>
            </a:r>
          </a:p>
        </p:txBody>
      </p:sp>
      <p:sp>
        <p:nvSpPr>
          <p:cNvPr id="43" name="TextBox 42"/>
          <p:cNvSpPr txBox="1"/>
          <p:nvPr/>
        </p:nvSpPr>
        <p:spPr>
          <a:xfrm>
            <a:off x="4764024" y="3593592"/>
            <a:ext cx="2770632" cy="356616"/>
          </a:xfrm>
          <a:prstGeom prst="rect">
            <a:avLst/>
          </a:prstGeom>
          <a:noFill/>
        </p:spPr>
        <p:txBody>
          <a:bodyPr wrap="square" lIns="27432" tIns="0" rIns="27432" bIns="0" anchor="ctr">
            <a:spAutoFit/>
          </a:bodyPr>
          <a:lstStyle/>
          <a:p>
            <a:pPr algn="l"/>
            <a:r>
              <a:rPr sz="800" b="0" i="0">
                <a:solidFill>
                  <a:srgbClr val="6B6965"/>
                </a:solidFill>
                <a:latin typeface="Calibri"/>
              </a:rPr>
              <a:t>Some simulated stents overshoot the measured post-op split</a:t>
            </a:r>
          </a:p>
        </p:txBody>
      </p:sp>
      <p:sp>
        <p:nvSpPr>
          <p:cNvPr id="44" name="TextBox 43"/>
          <p:cNvSpPr txBox="1"/>
          <p:nvPr/>
        </p:nvSpPr>
        <p:spPr>
          <a:xfrm>
            <a:off x="7644384" y="3593592"/>
            <a:ext cx="1124712" cy="356616"/>
          </a:xfrm>
          <a:prstGeom prst="rect">
            <a:avLst/>
          </a:prstGeom>
          <a:noFill/>
        </p:spPr>
        <p:txBody>
          <a:bodyPr wrap="square" lIns="27432" tIns="0" rIns="27432" bIns="0" anchor="ctr">
            <a:spAutoFit/>
          </a:bodyPr>
          <a:lstStyle/>
          <a:p>
            <a:pPr algn="l"/>
            <a:r>
              <a:rPr sz="800" b="1" i="0">
                <a:solidFill>
                  <a:srgbClr val="E98300"/>
                </a:solidFill>
                <a:latin typeface="Calibri"/>
              </a:rPr>
              <a:t>In progress</a:t>
            </a:r>
          </a:p>
        </p:txBody>
      </p:sp>
      <p:sp>
        <p:nvSpPr>
          <p:cNvPr id="45" name="TextBox 44"/>
          <p:cNvSpPr txBox="1"/>
          <p:nvPr/>
        </p:nvSpPr>
        <p:spPr>
          <a:xfrm>
            <a:off x="374904" y="3950208"/>
            <a:ext cx="1307592" cy="356616"/>
          </a:xfrm>
          <a:prstGeom prst="rect">
            <a:avLst/>
          </a:prstGeom>
          <a:noFill/>
        </p:spPr>
        <p:txBody>
          <a:bodyPr wrap="square" lIns="27432" tIns="0" rIns="27432" bIns="0" anchor="ctr">
            <a:spAutoFit/>
          </a:bodyPr>
          <a:lstStyle/>
          <a:p>
            <a:pPr algn="l"/>
            <a:r>
              <a:rPr sz="800" b="1" i="0">
                <a:solidFill>
                  <a:srgbClr val="2E2D29"/>
                </a:solidFill>
                <a:latin typeface="Calibri"/>
              </a:rPr>
              <a:t>6  Adapted Sim</a:t>
            </a:r>
          </a:p>
        </p:txBody>
      </p:sp>
      <p:sp>
        <p:nvSpPr>
          <p:cNvPr id="46" name="TextBox 45"/>
          <p:cNvSpPr txBox="1"/>
          <p:nvPr/>
        </p:nvSpPr>
        <p:spPr>
          <a:xfrm>
            <a:off x="1792224" y="3950208"/>
            <a:ext cx="2862072" cy="356616"/>
          </a:xfrm>
          <a:prstGeom prst="rect">
            <a:avLst/>
          </a:prstGeom>
          <a:noFill/>
        </p:spPr>
        <p:txBody>
          <a:bodyPr wrap="square" lIns="27432" tIns="0" rIns="27432" bIns="0" anchor="ctr">
            <a:spAutoFit/>
          </a:bodyPr>
          <a:lstStyle/>
          <a:p>
            <a:pPr algn="l"/>
            <a:r>
              <a:rPr sz="800" b="0" i="0">
                <a:solidFill>
                  <a:srgbClr val="6B6965"/>
                </a:solidFill>
                <a:latin typeface="Calibri"/>
              </a:rPr>
              <a:t>Run adapted BCs through the 3D model for all patients</a:t>
            </a:r>
          </a:p>
        </p:txBody>
      </p:sp>
      <p:sp>
        <p:nvSpPr>
          <p:cNvPr id="47" name="TextBox 46"/>
          <p:cNvSpPr txBox="1"/>
          <p:nvPr/>
        </p:nvSpPr>
        <p:spPr>
          <a:xfrm>
            <a:off x="4764024" y="3950208"/>
            <a:ext cx="2770632" cy="356616"/>
          </a:xfrm>
          <a:prstGeom prst="rect">
            <a:avLst/>
          </a:prstGeom>
          <a:noFill/>
        </p:spPr>
        <p:txBody>
          <a:bodyPr wrap="square" lIns="27432" tIns="0" rIns="27432" bIns="0" anchor="ctr">
            <a:spAutoFit/>
          </a:bodyPr>
          <a:lstStyle/>
          <a:p>
            <a:pPr algn="l"/>
            <a:r>
              <a:rPr sz="800" b="0" i="0">
                <a:solidFill>
                  <a:srgbClr val="6B6965"/>
                </a:solidFill>
                <a:latin typeface="Calibri"/>
              </a:rPr>
              <a:t>The gate on every Stage 7 metric</a:t>
            </a:r>
          </a:p>
        </p:txBody>
      </p:sp>
      <p:sp>
        <p:nvSpPr>
          <p:cNvPr id="48" name="TextBox 47"/>
          <p:cNvSpPr txBox="1"/>
          <p:nvPr/>
        </p:nvSpPr>
        <p:spPr>
          <a:xfrm>
            <a:off x="7644384" y="3950208"/>
            <a:ext cx="1124712" cy="356616"/>
          </a:xfrm>
          <a:prstGeom prst="rect">
            <a:avLst/>
          </a:prstGeom>
          <a:noFill/>
        </p:spPr>
        <p:txBody>
          <a:bodyPr wrap="square" lIns="27432" tIns="0" rIns="27432" bIns="0" anchor="ctr">
            <a:spAutoFit/>
          </a:bodyPr>
          <a:lstStyle/>
          <a:p>
            <a:pPr algn="l"/>
            <a:r>
              <a:rPr sz="800" b="0" i="0">
                <a:solidFill>
                  <a:srgbClr val="6B6965"/>
                </a:solidFill>
                <a:latin typeface="Calibri"/>
              </a:rPr>
              <a:t>Planned</a:t>
            </a:r>
          </a:p>
        </p:txBody>
      </p:sp>
      <p:sp>
        <p:nvSpPr>
          <p:cNvPr id="50" name="TextBox 49"/>
          <p:cNvSpPr txBox="1"/>
          <p:nvPr/>
        </p:nvSpPr>
        <p:spPr>
          <a:xfrm>
            <a:off x="374904" y="4306824"/>
            <a:ext cx="1307592" cy="356616"/>
          </a:xfrm>
          <a:prstGeom prst="rect">
            <a:avLst/>
          </a:prstGeom>
          <a:noFill/>
        </p:spPr>
        <p:txBody>
          <a:bodyPr wrap="square" lIns="27432" tIns="0" rIns="27432" bIns="0" anchor="ctr">
            <a:spAutoFit/>
          </a:bodyPr>
          <a:lstStyle/>
          <a:p>
            <a:pPr algn="l"/>
            <a:r>
              <a:rPr sz="800" b="1" i="0">
                <a:solidFill>
                  <a:srgbClr val="2E2D29"/>
                </a:solidFill>
                <a:latin typeface="Calibri"/>
              </a:rPr>
              <a:t>Future</a:t>
            </a:r>
          </a:p>
        </p:txBody>
      </p:sp>
      <p:sp>
        <p:nvSpPr>
          <p:cNvPr id="51" name="TextBox 50"/>
          <p:cNvSpPr txBox="1"/>
          <p:nvPr/>
        </p:nvSpPr>
        <p:spPr>
          <a:xfrm>
            <a:off x="1792224" y="4306824"/>
            <a:ext cx="2862072" cy="356616"/>
          </a:xfrm>
          <a:prstGeom prst="rect">
            <a:avLst/>
          </a:prstGeom>
          <a:noFill/>
        </p:spPr>
        <p:txBody>
          <a:bodyPr wrap="square" lIns="27432" tIns="0" rIns="27432" bIns="0" anchor="ctr">
            <a:spAutoFit/>
          </a:bodyPr>
          <a:lstStyle/>
          <a:p>
            <a:pPr algn="l"/>
            <a:r>
              <a:rPr sz="800" b="0" i="0">
                <a:solidFill>
                  <a:srgbClr val="6B6965"/>
                </a:solidFill>
                <a:latin typeface="Calibri"/>
              </a:rPr>
              <a:t>Pries–Secomb adaptation with estimated parameters</a:t>
            </a:r>
          </a:p>
        </p:txBody>
      </p:sp>
      <p:sp>
        <p:nvSpPr>
          <p:cNvPr id="52" name="TextBox 51"/>
          <p:cNvSpPr txBox="1"/>
          <p:nvPr/>
        </p:nvSpPr>
        <p:spPr>
          <a:xfrm>
            <a:off x="4764024" y="4306824"/>
            <a:ext cx="2770632" cy="356616"/>
          </a:xfrm>
          <a:prstGeom prst="rect">
            <a:avLst/>
          </a:prstGeom>
          <a:noFill/>
        </p:spPr>
        <p:txBody>
          <a:bodyPr wrap="square" lIns="27432" tIns="0" rIns="27432" bIns="0" anchor="ctr">
            <a:spAutoFit/>
          </a:bodyPr>
          <a:lstStyle/>
          <a:p>
            <a:pPr algn="l"/>
            <a:r>
              <a:rPr sz="800" b="0" i="0">
                <a:solidFill>
                  <a:srgbClr val="6B6965"/>
                </a:solidFill>
                <a:latin typeface="Calibri"/>
              </a:rPr>
              <a:t>Richer stimulus set; parameter identification unresolved</a:t>
            </a:r>
          </a:p>
        </p:txBody>
      </p:sp>
      <p:sp>
        <p:nvSpPr>
          <p:cNvPr id="53" name="TextBox 52"/>
          <p:cNvSpPr txBox="1"/>
          <p:nvPr/>
        </p:nvSpPr>
        <p:spPr>
          <a:xfrm>
            <a:off x="7644384" y="4306824"/>
            <a:ext cx="1124712" cy="356616"/>
          </a:xfrm>
          <a:prstGeom prst="rect">
            <a:avLst/>
          </a:prstGeom>
          <a:noFill/>
        </p:spPr>
        <p:txBody>
          <a:bodyPr wrap="square" lIns="27432" tIns="0" rIns="27432" bIns="0" anchor="ctr">
            <a:spAutoFit/>
          </a:bodyPr>
          <a:lstStyle/>
          <a:p>
            <a:pPr algn="l"/>
            <a:r>
              <a:rPr sz="800" b="1" i="0">
                <a:solidFill>
                  <a:srgbClr val="6B6965"/>
                </a:solidFill>
                <a:latin typeface="Calibri"/>
              </a:rPr>
              <a:t>Deferred</a:t>
            </a:r>
          </a:p>
        </p:txBody>
      </p:sp>
      <p:sp>
        <p:nvSpPr>
          <p:cNvPr id="54" name="Rectangle 53"/>
          <p:cNvSpPr/>
          <p:nvPr/>
        </p:nvSpPr>
        <p:spPr>
          <a:xfrm>
            <a:off x="320040" y="4754880"/>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Box 54"/>
          <p:cNvSpPr txBox="1"/>
          <p:nvPr/>
        </p:nvSpPr>
        <p:spPr>
          <a:xfrm>
            <a:off x="429768" y="4754880"/>
            <a:ext cx="8284464" cy="310896"/>
          </a:xfrm>
          <a:prstGeom prst="rect">
            <a:avLst/>
          </a:prstGeom>
          <a:noFill/>
        </p:spPr>
        <p:txBody>
          <a:bodyPr wrap="square" lIns="27432" tIns="0" rIns="27432" bIns="0" anchor="ctr">
            <a:spAutoFit/>
          </a:bodyPr>
          <a:lstStyle/>
          <a:p>
            <a:pPr algn="l"/>
            <a:r>
              <a:rPr sz="1000" b="1" i="0">
                <a:solidFill>
                  <a:srgbClr val="8C1515"/>
                </a:solidFill>
                <a:latin typeface="Calibri"/>
              </a:rPr>
              <a:t>Keep this table and the Stage 6 gate in sync — they are the two things that change fastest.</a:t>
            </a:r>
          </a:p>
        </p:txBody>
      </p:sp>
      <p:sp>
        <p:nvSpPr>
          <p:cNvPr id="56" name="TextBox 31"/>
          <p:cNvSpPr txBox="1"/>
          <p:nvPr/>
        </p:nvSpPr>
        <p:spPr>
          <a:xfrm>
            <a:off x="374904" y="2880360"/>
            <a:ext cx="1307592" cy="356616"/>
          </a:xfrm>
          <a:prstGeom prst="rect">
            <a:avLst/>
          </a:prstGeom>
          <a:noFill/>
        </p:spPr>
        <p:txBody>
          <a:bodyPr wrap="square" lIns="27432" tIns="0" rIns="27432" bIns="0" anchor="ctr">
            <a:spAutoFit/>
          </a:bodyPr>
          <a:lstStyle/>
          <a:p>
            <a:pPr algn="l"/>
            <a:r>
              <a:rPr sz="800" b="1" i="0">
                <a:solidFill>
                  <a:srgbClr val="2E2D29"/>
                </a:solidFill>
                <a:latin typeface="Calibri"/>
              </a:rPr>
              <a:t>2  BC Tuning</a:t>
            </a:r>
          </a:p>
        </p:txBody>
      </p:sp>
      <p:sp>
        <p:nvSpPr>
          <p:cNvPr id="57" name="TextBox 32"/>
          <p:cNvSpPr txBox="1"/>
          <p:nvPr/>
        </p:nvSpPr>
        <p:spPr>
          <a:xfrm>
            <a:off x="1792224" y="2880360"/>
            <a:ext cx="2862072" cy="356616"/>
          </a:xfrm>
          <a:prstGeom prst="rect">
            <a:avLst/>
          </a:prstGeom>
          <a:noFill/>
        </p:spPr>
        <p:txBody>
          <a:bodyPr wrap="square" lIns="27432" tIns="0" rIns="27432" bIns="0" anchor="ctr">
            <a:spAutoFit/>
          </a:bodyPr>
          <a:lstStyle/>
          <a:p>
            <a:pPr algn="l"/>
            <a:r>
              <a:rPr sz="800" b="0" i="0">
                <a:solidFill>
                  <a:srgbClr val="6B6965"/>
                </a:solidFill>
                <a:latin typeface="Calibri"/>
              </a:rPr>
              <a:t>Physiological wall stiffness + proximal 0D compliance (TST-STAN-5 study)</a:t>
            </a:r>
          </a:p>
        </p:txBody>
      </p:sp>
      <p:sp>
        <p:nvSpPr>
          <p:cNvPr id="58" name="TextBox 33"/>
          <p:cNvSpPr txBox="1"/>
          <p:nvPr/>
        </p:nvSpPr>
        <p:spPr>
          <a:xfrm>
            <a:off x="4764024" y="2880360"/>
            <a:ext cx="2770632" cy="356616"/>
          </a:xfrm>
          <a:prstGeom prst="rect">
            <a:avLst/>
          </a:prstGeom>
          <a:noFill/>
        </p:spPr>
        <p:txBody>
          <a:bodyPr wrap="square" lIns="27432" tIns="0" rIns="27432" bIns="0" anchor="ctr">
            <a:spAutoFit/>
          </a:bodyPr>
          <a:lstStyle/>
          <a:p>
            <a:pPr algn="l"/>
            <a:r>
              <a:rPr sz="800" b="0" i="0">
                <a:solidFill>
                  <a:srgbClr val="6B6965"/>
                </a:solidFill>
                <a:latin typeface="Calibri"/>
              </a:rPr>
              <a:t>Current fit needs near-zero large-vessel stiffness; literature stiffness misses the pulse pressure</a:t>
            </a:r>
          </a:p>
        </p:txBody>
      </p:sp>
      <p:sp>
        <p:nvSpPr>
          <p:cNvPr id="59" name="TextBox 34"/>
          <p:cNvSpPr txBox="1"/>
          <p:nvPr/>
        </p:nvSpPr>
        <p:spPr>
          <a:xfrm>
            <a:off x="7644384" y="2880360"/>
            <a:ext cx="1124712" cy="356616"/>
          </a:xfrm>
          <a:prstGeom prst="rect">
            <a:avLst/>
          </a:prstGeom>
          <a:noFill/>
        </p:spPr>
        <p:txBody>
          <a:bodyPr wrap="square" lIns="27432" tIns="0" rIns="27432" bIns="0" anchor="ctr">
            <a:spAutoFit/>
          </a:bodyPr>
          <a:lstStyle/>
          <a:p>
            <a:pPr algn="l"/>
            <a:r>
              <a:rPr sz="800" b="1" i="0">
                <a:solidFill>
                  <a:srgbClr val="E98300"/>
                </a:solidFill>
                <a:latin typeface="Calibri"/>
              </a:rPr>
              <a:t>In progress</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040" y="237744"/>
            <a:ext cx="8503920" cy="658368"/>
          </a:xfrm>
        </p:spPr>
        <p:txBody>
          <a:bodyPr wrap="square" lIns="0" tIns="0" rIns="0" bIns="0" anchor="ctr"/>
          <a:lstStyle/>
          <a:p>
            <a:r>
              <a:rPr sz="2200">
                <a:solidFill>
                  <a:srgbClr val="8C1515"/>
                </a:solidFill>
                <a:latin typeface="Georgia"/>
              </a:rPr>
              <a:t>Software stack and deck maintenance</a:t>
            </a:r>
          </a:p>
        </p:txBody>
      </p:sp>
      <p:sp>
        <p:nvSpPr>
          <p:cNvPr id="3" name="Rectangle 2"/>
          <p:cNvSpPr/>
          <p:nvPr/>
        </p:nvSpPr>
        <p:spPr>
          <a:xfrm>
            <a:off x="320040"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20040"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1  Inputs</a:t>
            </a:r>
          </a:p>
        </p:txBody>
      </p:sp>
      <p:sp>
        <p:nvSpPr>
          <p:cNvPr id="5" name="Rectangle 4"/>
          <p:cNvSpPr/>
          <p:nvPr/>
        </p:nvSpPr>
        <p:spPr>
          <a:xfrm>
            <a:off x="125468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5468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2  BC Tuning</a:t>
            </a:r>
          </a:p>
        </p:txBody>
      </p:sp>
      <p:sp>
        <p:nvSpPr>
          <p:cNvPr id="7" name="Rectangle 6"/>
          <p:cNvSpPr/>
          <p:nvPr/>
        </p:nvSpPr>
        <p:spPr>
          <a:xfrm>
            <a:off x="218933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18933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3  Pre-op Sim</a:t>
            </a:r>
          </a:p>
        </p:txBody>
      </p:sp>
      <p:sp>
        <p:nvSpPr>
          <p:cNvPr id="9" name="Rectangle 8"/>
          <p:cNvSpPr/>
          <p:nvPr/>
        </p:nvSpPr>
        <p:spPr>
          <a:xfrm>
            <a:off x="3123982"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123982"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4  Post-op Sim</a:t>
            </a:r>
          </a:p>
        </p:txBody>
      </p:sp>
      <p:sp>
        <p:nvSpPr>
          <p:cNvPr id="11" name="Rectangle 10"/>
          <p:cNvSpPr/>
          <p:nvPr/>
        </p:nvSpPr>
        <p:spPr>
          <a:xfrm>
            <a:off x="4058629"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058629"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5  Adaptation</a:t>
            </a:r>
          </a:p>
        </p:txBody>
      </p:sp>
      <p:sp>
        <p:nvSpPr>
          <p:cNvPr id="13" name="Rectangle 12"/>
          <p:cNvSpPr/>
          <p:nvPr/>
        </p:nvSpPr>
        <p:spPr>
          <a:xfrm>
            <a:off x="4993277"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993277"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6  Adapted Sim</a:t>
            </a:r>
          </a:p>
        </p:txBody>
      </p:sp>
      <p:sp>
        <p:nvSpPr>
          <p:cNvPr id="15" name="Rectangle 14"/>
          <p:cNvSpPr/>
          <p:nvPr/>
        </p:nvSpPr>
        <p:spPr>
          <a:xfrm>
            <a:off x="5927924" y="950976"/>
            <a:ext cx="884355" cy="237744"/>
          </a:xfrm>
          <a:prstGeom prst="rect">
            <a:avLst/>
          </a:prstGeom>
          <a:solidFill>
            <a:srgbClr val="F2F1F0"/>
          </a:solidFill>
          <a:ln w="7620">
            <a:solidFill>
              <a:srgbClr val="D9D7D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927924" y="950976"/>
            <a:ext cx="884355" cy="237744"/>
          </a:xfrm>
          <a:prstGeom prst="rect">
            <a:avLst/>
          </a:prstGeom>
          <a:noFill/>
        </p:spPr>
        <p:txBody>
          <a:bodyPr wrap="square" lIns="9144" tIns="0" rIns="9144" bIns="0" anchor="ctr">
            <a:spAutoFit/>
          </a:bodyPr>
          <a:lstStyle/>
          <a:p>
            <a:pPr algn="ctr"/>
            <a:r>
              <a:rPr sz="650" b="0">
                <a:solidFill>
                  <a:srgbClr val="6B6965"/>
                </a:solidFill>
                <a:latin typeface="Calibri"/>
              </a:rPr>
              <a:t>7  Metrics</a:t>
            </a:r>
          </a:p>
        </p:txBody>
      </p:sp>
      <p:sp>
        <p:nvSpPr>
          <p:cNvPr id="17" name="TextBox 16"/>
          <p:cNvSpPr txBox="1"/>
          <p:nvPr/>
        </p:nvSpPr>
        <p:spPr>
          <a:xfrm>
            <a:off x="320040" y="1426464"/>
            <a:ext cx="4160520" cy="201168"/>
          </a:xfrm>
          <a:prstGeom prst="rect">
            <a:avLst/>
          </a:prstGeom>
          <a:noFill/>
        </p:spPr>
        <p:txBody>
          <a:bodyPr wrap="square" lIns="27432" tIns="0" rIns="27432" bIns="0" anchor="t">
            <a:spAutoFit/>
          </a:bodyPr>
          <a:lstStyle/>
          <a:p>
            <a:pPr algn="l"/>
            <a:r>
              <a:rPr sz="950" b="1" i="0">
                <a:solidFill>
                  <a:srgbClr val="8C1515"/>
                </a:solidFill>
                <a:latin typeface="Calibri"/>
              </a:rPr>
              <a:t>Components</a:t>
            </a:r>
          </a:p>
        </p:txBody>
      </p:sp>
      <p:sp>
        <p:nvSpPr>
          <p:cNvPr id="18" name="Rectangle 17"/>
          <p:cNvSpPr/>
          <p:nvPr/>
        </p:nvSpPr>
        <p:spPr>
          <a:xfrm>
            <a:off x="320040" y="1700784"/>
            <a:ext cx="4160520" cy="256032"/>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393192" y="1700784"/>
            <a:ext cx="1323136" cy="256032"/>
          </a:xfrm>
          <a:prstGeom prst="rect">
            <a:avLst/>
          </a:prstGeom>
          <a:noFill/>
        </p:spPr>
        <p:txBody>
          <a:bodyPr wrap="square" lIns="27432" tIns="0" rIns="27432" bIns="0" anchor="ctr">
            <a:spAutoFit/>
          </a:bodyPr>
          <a:lstStyle/>
          <a:p>
            <a:pPr algn="l"/>
            <a:r>
              <a:rPr sz="950" b="1" i="0">
                <a:solidFill>
                  <a:srgbClr val="2E2D29"/>
                </a:solidFill>
                <a:latin typeface="Calibri"/>
              </a:rPr>
              <a:t>SimVascular</a:t>
            </a:r>
          </a:p>
        </p:txBody>
      </p:sp>
      <p:sp>
        <p:nvSpPr>
          <p:cNvPr id="20" name="TextBox 19"/>
          <p:cNvSpPr txBox="1"/>
          <p:nvPr/>
        </p:nvSpPr>
        <p:spPr>
          <a:xfrm>
            <a:off x="1734616" y="1700784"/>
            <a:ext cx="2672791" cy="256032"/>
          </a:xfrm>
          <a:prstGeom prst="rect">
            <a:avLst/>
          </a:prstGeom>
          <a:noFill/>
        </p:spPr>
        <p:txBody>
          <a:bodyPr wrap="square" lIns="27432" tIns="0" rIns="27432" bIns="0" anchor="ctr">
            <a:spAutoFit/>
          </a:bodyPr>
          <a:lstStyle/>
          <a:p>
            <a:pPr algn="l"/>
            <a:r>
              <a:rPr sz="950" b="0" i="0">
                <a:solidFill>
                  <a:srgbClr val="6B6965"/>
                </a:solidFill>
                <a:latin typeface="Calibri"/>
              </a:rPr>
              <a:t>Segmentation, lofting, meshing</a:t>
            </a:r>
          </a:p>
        </p:txBody>
      </p:sp>
      <p:sp>
        <p:nvSpPr>
          <p:cNvPr id="21" name="TextBox 20"/>
          <p:cNvSpPr txBox="1"/>
          <p:nvPr/>
        </p:nvSpPr>
        <p:spPr>
          <a:xfrm>
            <a:off x="393192" y="1956816"/>
            <a:ext cx="1323136" cy="256032"/>
          </a:xfrm>
          <a:prstGeom prst="rect">
            <a:avLst/>
          </a:prstGeom>
          <a:noFill/>
        </p:spPr>
        <p:txBody>
          <a:bodyPr wrap="square" lIns="27432" tIns="0" rIns="27432" bIns="0" anchor="ctr">
            <a:spAutoFit/>
          </a:bodyPr>
          <a:lstStyle/>
          <a:p>
            <a:pPr algn="l"/>
            <a:r>
              <a:rPr sz="950" b="1" i="0">
                <a:solidFill>
                  <a:srgbClr val="2E2D29"/>
                </a:solidFill>
                <a:latin typeface="Calibri"/>
              </a:rPr>
              <a:t>svMultiPhysics</a:t>
            </a:r>
          </a:p>
        </p:txBody>
      </p:sp>
      <p:sp>
        <p:nvSpPr>
          <p:cNvPr id="22" name="TextBox 21"/>
          <p:cNvSpPr txBox="1"/>
          <p:nvPr/>
        </p:nvSpPr>
        <p:spPr>
          <a:xfrm>
            <a:off x="1734616" y="1956816"/>
            <a:ext cx="2672791" cy="256032"/>
          </a:xfrm>
          <a:prstGeom prst="rect">
            <a:avLst/>
          </a:prstGeom>
          <a:noFill/>
        </p:spPr>
        <p:txBody>
          <a:bodyPr wrap="square" lIns="27432" tIns="0" rIns="27432" bIns="0" anchor="ctr">
            <a:spAutoFit/>
          </a:bodyPr>
          <a:lstStyle/>
          <a:p>
            <a:pPr algn="l"/>
            <a:r>
              <a:rPr sz="950" b="0" i="0">
                <a:solidFill>
                  <a:srgbClr val="6B6965"/>
                </a:solidFill>
                <a:latin typeface="Calibri"/>
              </a:rPr>
              <a:t>3D deformable-wall CFD (CMM)</a:t>
            </a:r>
          </a:p>
        </p:txBody>
      </p:sp>
      <p:sp>
        <p:nvSpPr>
          <p:cNvPr id="23" name="Rectangle 22"/>
          <p:cNvSpPr/>
          <p:nvPr/>
        </p:nvSpPr>
        <p:spPr>
          <a:xfrm>
            <a:off x="320040" y="2212848"/>
            <a:ext cx="4160520" cy="256032"/>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393192" y="2212848"/>
            <a:ext cx="1323136" cy="256032"/>
          </a:xfrm>
          <a:prstGeom prst="rect">
            <a:avLst/>
          </a:prstGeom>
          <a:noFill/>
        </p:spPr>
        <p:txBody>
          <a:bodyPr wrap="square" lIns="27432" tIns="0" rIns="27432" bIns="0" anchor="ctr">
            <a:spAutoFit/>
          </a:bodyPr>
          <a:lstStyle/>
          <a:p>
            <a:pPr algn="l"/>
            <a:r>
              <a:rPr sz="950" b="1" i="0">
                <a:solidFill>
                  <a:srgbClr val="2E2D29"/>
                </a:solidFill>
                <a:latin typeface="Calibri"/>
              </a:rPr>
              <a:t>svZeroDSolver</a:t>
            </a:r>
          </a:p>
        </p:txBody>
      </p:sp>
      <p:sp>
        <p:nvSpPr>
          <p:cNvPr id="25" name="TextBox 24"/>
          <p:cNvSpPr txBox="1"/>
          <p:nvPr/>
        </p:nvSpPr>
        <p:spPr>
          <a:xfrm>
            <a:off x="1734616" y="2212848"/>
            <a:ext cx="2672791" cy="256032"/>
          </a:xfrm>
          <a:prstGeom prst="rect">
            <a:avLst/>
          </a:prstGeom>
          <a:noFill/>
        </p:spPr>
        <p:txBody>
          <a:bodyPr wrap="square" lIns="27432" tIns="0" rIns="27432" bIns="0" anchor="ctr">
            <a:spAutoFit/>
          </a:bodyPr>
          <a:lstStyle/>
          <a:p>
            <a:pPr algn="l"/>
            <a:r>
              <a:rPr sz="950" b="0" i="0">
                <a:solidFill>
                  <a:srgbClr val="6B6965"/>
                </a:solidFill>
                <a:latin typeface="Calibri"/>
              </a:rPr>
              <a:t>0D solver and 3D-0D coupling</a:t>
            </a:r>
          </a:p>
        </p:txBody>
      </p:sp>
      <p:sp>
        <p:nvSpPr>
          <p:cNvPr id="26" name="TextBox 25"/>
          <p:cNvSpPr txBox="1"/>
          <p:nvPr/>
        </p:nvSpPr>
        <p:spPr>
          <a:xfrm>
            <a:off x="393192" y="2468880"/>
            <a:ext cx="1323136" cy="256032"/>
          </a:xfrm>
          <a:prstGeom prst="rect">
            <a:avLst/>
          </a:prstGeom>
          <a:noFill/>
        </p:spPr>
        <p:txBody>
          <a:bodyPr wrap="square" lIns="27432" tIns="0" rIns="27432" bIns="0" anchor="ctr">
            <a:spAutoFit/>
          </a:bodyPr>
          <a:lstStyle/>
          <a:p>
            <a:pPr algn="l"/>
            <a:r>
              <a:rPr sz="950" b="1" i="0">
                <a:solidFill>
                  <a:srgbClr val="2E2D29"/>
                </a:solidFill>
                <a:latin typeface="Calibri"/>
              </a:rPr>
              <a:t>svZeroDTrees</a:t>
            </a:r>
          </a:p>
        </p:txBody>
      </p:sp>
      <p:sp>
        <p:nvSpPr>
          <p:cNvPr id="27" name="TextBox 26"/>
          <p:cNvSpPr txBox="1"/>
          <p:nvPr/>
        </p:nvSpPr>
        <p:spPr>
          <a:xfrm>
            <a:off x="1734616" y="2468880"/>
            <a:ext cx="2672791" cy="256032"/>
          </a:xfrm>
          <a:prstGeom prst="rect">
            <a:avLst/>
          </a:prstGeom>
          <a:noFill/>
        </p:spPr>
        <p:txBody>
          <a:bodyPr wrap="square" lIns="27432" tIns="0" rIns="27432" bIns="0" anchor="ctr">
            <a:spAutoFit/>
          </a:bodyPr>
          <a:lstStyle/>
          <a:p>
            <a:pPr algn="l"/>
            <a:r>
              <a:rPr sz="950" b="0" i="0">
                <a:solidFill>
                  <a:srgbClr val="6B6965"/>
                </a:solidFill>
                <a:latin typeface="Calibri"/>
              </a:rPr>
              <a:t>Trees, impedance, tuning, adaptation</a:t>
            </a:r>
          </a:p>
        </p:txBody>
      </p:sp>
      <p:sp>
        <p:nvSpPr>
          <p:cNvPr id="28" name="Rectangle 27"/>
          <p:cNvSpPr/>
          <p:nvPr/>
        </p:nvSpPr>
        <p:spPr>
          <a:xfrm>
            <a:off x="320040" y="2724912"/>
            <a:ext cx="4160520" cy="256032"/>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393192" y="2724912"/>
            <a:ext cx="1323136" cy="256032"/>
          </a:xfrm>
          <a:prstGeom prst="rect">
            <a:avLst/>
          </a:prstGeom>
          <a:noFill/>
        </p:spPr>
        <p:txBody>
          <a:bodyPr wrap="square" lIns="27432" tIns="0" rIns="27432" bIns="0" anchor="ctr">
            <a:spAutoFit/>
          </a:bodyPr>
          <a:lstStyle/>
          <a:p>
            <a:pPr algn="l"/>
            <a:r>
              <a:rPr sz="950" b="1" i="0">
                <a:solidFill>
                  <a:srgbClr val="2E2D29"/>
                </a:solidFill>
                <a:latin typeface="Calibri"/>
              </a:rPr>
              <a:t>SDFStent</a:t>
            </a:r>
          </a:p>
        </p:txBody>
      </p:sp>
      <p:sp>
        <p:nvSpPr>
          <p:cNvPr id="30" name="TextBox 29"/>
          <p:cNvSpPr txBox="1"/>
          <p:nvPr/>
        </p:nvSpPr>
        <p:spPr>
          <a:xfrm>
            <a:off x="1734616" y="2724912"/>
            <a:ext cx="2672791" cy="256032"/>
          </a:xfrm>
          <a:prstGeom prst="rect">
            <a:avLst/>
          </a:prstGeom>
          <a:noFill/>
        </p:spPr>
        <p:txBody>
          <a:bodyPr wrap="square" lIns="27432" tIns="0" rIns="27432" bIns="0" anchor="ctr">
            <a:spAutoFit/>
          </a:bodyPr>
          <a:lstStyle/>
          <a:p>
            <a:pPr algn="l"/>
            <a:r>
              <a:rPr sz="950" b="0" i="0">
                <a:solidFill>
                  <a:srgbClr val="6B6965"/>
                </a:solidFill>
                <a:latin typeface="Calibri"/>
              </a:rPr>
              <a:t>Signed-distance-field virtual stenting</a:t>
            </a:r>
          </a:p>
        </p:txBody>
      </p:sp>
      <p:sp>
        <p:nvSpPr>
          <p:cNvPr id="31" name="TextBox 30"/>
          <p:cNvSpPr txBox="1"/>
          <p:nvPr/>
        </p:nvSpPr>
        <p:spPr>
          <a:xfrm>
            <a:off x="393192" y="2980944"/>
            <a:ext cx="1323136" cy="256032"/>
          </a:xfrm>
          <a:prstGeom prst="rect">
            <a:avLst/>
          </a:prstGeom>
          <a:noFill/>
        </p:spPr>
        <p:txBody>
          <a:bodyPr wrap="square" lIns="27432" tIns="0" rIns="27432" bIns="0" anchor="ctr">
            <a:spAutoFit/>
          </a:bodyPr>
          <a:lstStyle/>
          <a:p>
            <a:pPr algn="l"/>
            <a:r>
              <a:rPr sz="950" b="1" i="0">
                <a:solidFill>
                  <a:srgbClr val="2E2D29"/>
                </a:solidFill>
                <a:latin typeface="Calibri"/>
              </a:rPr>
              <a:t>svZeroDCalibrator</a:t>
            </a:r>
          </a:p>
        </p:txBody>
      </p:sp>
      <p:sp>
        <p:nvSpPr>
          <p:cNvPr id="32" name="TextBox 31"/>
          <p:cNvSpPr txBox="1"/>
          <p:nvPr/>
        </p:nvSpPr>
        <p:spPr>
          <a:xfrm>
            <a:off x="1734616" y="2980944"/>
            <a:ext cx="2672791" cy="256032"/>
          </a:xfrm>
          <a:prstGeom prst="rect">
            <a:avLst/>
          </a:prstGeom>
          <a:noFill/>
        </p:spPr>
        <p:txBody>
          <a:bodyPr wrap="square" lIns="27432" tIns="0" rIns="27432" bIns="0" anchor="ctr">
            <a:spAutoFit/>
          </a:bodyPr>
          <a:lstStyle/>
          <a:p>
            <a:pPr algn="l"/>
            <a:r>
              <a:rPr sz="950" b="0" i="0">
                <a:solidFill>
                  <a:srgbClr val="6B6965"/>
                </a:solidFill>
                <a:latin typeface="Calibri"/>
              </a:rPr>
              <a:t>Planned - centerline 0D calibration</a:t>
            </a:r>
          </a:p>
        </p:txBody>
      </p:sp>
      <p:sp>
        <p:nvSpPr>
          <p:cNvPr id="33" name="Rectangle 32"/>
          <p:cNvSpPr/>
          <p:nvPr/>
        </p:nvSpPr>
        <p:spPr>
          <a:xfrm>
            <a:off x="320040" y="3163824"/>
            <a:ext cx="4160520" cy="1517904"/>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Box 33"/>
          <p:cNvSpPr txBox="1"/>
          <p:nvPr/>
        </p:nvSpPr>
        <p:spPr>
          <a:xfrm>
            <a:off x="448056" y="3264408"/>
            <a:ext cx="3904487" cy="219456"/>
          </a:xfrm>
          <a:prstGeom prst="rect">
            <a:avLst/>
          </a:prstGeom>
          <a:noFill/>
        </p:spPr>
        <p:txBody>
          <a:bodyPr wrap="square" lIns="27432" tIns="0" rIns="27432" bIns="0" anchor="t">
            <a:spAutoFit/>
          </a:bodyPr>
          <a:lstStyle/>
          <a:p>
            <a:pPr algn="l"/>
            <a:r>
              <a:rPr sz="1100" b="1" i="0">
                <a:solidFill>
                  <a:srgbClr val="279989"/>
                </a:solidFill>
                <a:latin typeface="Calibri"/>
              </a:rPr>
              <a:t>Performance work already done</a:t>
            </a:r>
          </a:p>
        </p:txBody>
      </p:sp>
      <p:sp>
        <p:nvSpPr>
          <p:cNvPr id="35" name="TextBox 34"/>
          <p:cNvSpPr txBox="1"/>
          <p:nvPr/>
        </p:nvSpPr>
        <p:spPr>
          <a:xfrm>
            <a:off x="448056" y="3538727"/>
            <a:ext cx="3904487" cy="1106424"/>
          </a:xfrm>
          <a:prstGeom prst="rect">
            <a:avLst/>
          </a:prstGeom>
          <a:noFill/>
        </p:spPr>
        <p:txBody>
          <a:bodyPr wrap="square" lIns="27432" tIns="0" rIns="27432" bIns="0">
            <a:spAutoFit/>
          </a:bodyPr>
          <a:lstStyle/>
          <a:p>
            <a:pPr>
              <a:spcAft>
                <a:spcPts val="350"/>
              </a:spcAft>
            </a:pPr>
            <a:r>
              <a:rPr sz="900">
                <a:solidFill>
                  <a:srgbClr val="279989"/>
                </a:solidFill>
                <a:latin typeface="Calibri"/>
              </a:rPr>
              <a:t>• </a:t>
            </a:r>
            <a:r>
              <a:rPr sz="900">
                <a:solidFill>
                  <a:srgbClr val="2E2D29"/>
                </a:solidFill>
                <a:latin typeface="Calibri"/>
              </a:rPr>
              <a:t>Vectorized tree representation replaced per-object traversal</a:t>
            </a:r>
          </a:p>
          <a:p>
            <a:pPr>
              <a:spcAft>
                <a:spcPts val="350"/>
              </a:spcAft>
            </a:pPr>
            <a:r>
              <a:rPr sz="900">
                <a:solidFill>
                  <a:srgbClr val="279989"/>
                </a:solidFill>
                <a:latin typeface="Calibri"/>
              </a:rPr>
              <a:t>• </a:t>
            </a:r>
            <a:r>
              <a:rPr sz="900">
                <a:solidFill>
                  <a:srgbClr val="2E2D29"/>
                </a:solidFill>
                <a:latin typeface="Calibri"/>
              </a:rPr>
              <a:t>Roughly hundred-fold speed-up in impedance computation</a:t>
            </a:r>
          </a:p>
          <a:p>
            <a:pPr>
              <a:spcAft>
                <a:spcPts val="350"/>
              </a:spcAft>
            </a:pPr>
            <a:r>
              <a:rPr sz="900">
                <a:solidFill>
                  <a:srgbClr val="279989"/>
                </a:solidFill>
                <a:latin typeface="Calibri"/>
              </a:rPr>
              <a:t>• </a:t>
            </a:r>
            <a:r>
              <a:rPr sz="900">
                <a:solidFill>
                  <a:srgbClr val="2E2D29"/>
                </a:solidFill>
                <a:latin typeface="Calibri"/>
              </a:rPr>
              <a:t>Parallelized tree construction across processes</a:t>
            </a:r>
          </a:p>
        </p:txBody>
      </p:sp>
      <p:sp>
        <p:nvSpPr>
          <p:cNvPr id="36" name="TextBox 35"/>
          <p:cNvSpPr txBox="1"/>
          <p:nvPr/>
        </p:nvSpPr>
        <p:spPr>
          <a:xfrm>
            <a:off x="4846320" y="1481328"/>
            <a:ext cx="3977639" cy="3108960"/>
          </a:xfrm>
          <a:prstGeom prst="rect">
            <a:avLst/>
          </a:prstGeom>
          <a:noFill/>
        </p:spPr>
        <p:txBody>
          <a:bodyPr wrap="square" lIns="27432" tIns="0" rIns="27432" bIns="0">
            <a:spAutoFit/>
          </a:bodyPr>
          <a:lstStyle/>
          <a:p>
            <a:pPr>
              <a:spcAft>
                <a:spcPts val="800"/>
              </a:spcAft>
            </a:pPr>
            <a:r>
              <a:rPr sz="950">
                <a:solidFill>
                  <a:srgbClr val="8C1515"/>
                </a:solidFill>
                <a:latin typeface="Calibri"/>
              </a:rPr>
              <a:t>• </a:t>
            </a:r>
            <a:r>
              <a:rPr sz="950">
                <a:solidFill>
                  <a:srgbClr val="2E2D29"/>
                </a:solidFill>
                <a:latin typeface="Calibri"/>
              </a:rPr>
              <a:t>Every content slide carries the seven-stage tracker; the filled segment says which stage is under discussion</a:t>
            </a:r>
          </a:p>
          <a:p>
            <a:pPr>
              <a:spcAft>
                <a:spcPts val="800"/>
              </a:spcAft>
            </a:pPr>
            <a:r>
              <a:rPr sz="950">
                <a:solidFill>
                  <a:srgbClr val="8C1515"/>
                </a:solidFill>
                <a:latin typeface="Calibri"/>
              </a:rPr>
              <a:t>• </a:t>
            </a:r>
            <a:r>
              <a:rPr sz="950">
                <a:solidFill>
                  <a:srgbClr val="2E2D29"/>
                </a:solidFill>
                <a:latin typeface="Calibri"/>
              </a:rPr>
              <a:t>Status badges: green established, orange actively changing, grey designed but not yet run</a:t>
            </a:r>
          </a:p>
          <a:p>
            <a:pPr>
              <a:spcAft>
                <a:spcPts val="800"/>
              </a:spcAft>
            </a:pPr>
            <a:r>
              <a:rPr sz="950">
                <a:solidFill>
                  <a:srgbClr val="8C1515"/>
                </a:solidFill>
                <a:latin typeface="Calibri"/>
              </a:rPr>
              <a:t>• </a:t>
            </a:r>
            <a:r>
              <a:rPr sz="950">
                <a:solidFill>
                  <a:srgbClr val="2E2D29"/>
                </a:solidFill>
                <a:latin typeface="Calibri"/>
              </a:rPr>
              <a:t>Update the cohort progress table and the roadmap table each cycle - those two carry all the state</a:t>
            </a:r>
          </a:p>
          <a:p>
            <a:pPr>
              <a:spcAft>
                <a:spcPts val="800"/>
              </a:spcAft>
            </a:pPr>
            <a:r>
              <a:rPr sz="950">
                <a:solidFill>
                  <a:srgbClr val="8C1515"/>
                </a:solidFill>
                <a:latin typeface="Calibri"/>
              </a:rPr>
              <a:t>• </a:t>
            </a:r>
            <a:r>
              <a:rPr sz="950">
                <a:solidFill>
                  <a:srgbClr val="2E2D29"/>
                </a:solidFill>
                <a:latin typeface="Calibri"/>
              </a:rPr>
              <a:t>Figure placeholders are marked in orange; replace the shape and delete the label</a:t>
            </a:r>
          </a:p>
          <a:p>
            <a:pPr>
              <a:spcAft>
                <a:spcPts val="800"/>
              </a:spcAft>
            </a:pPr>
            <a:r>
              <a:rPr sz="950">
                <a:solidFill>
                  <a:srgbClr val="8C1515"/>
                </a:solidFill>
                <a:latin typeface="Calibri"/>
              </a:rPr>
              <a:t>• </a:t>
            </a:r>
            <a:r>
              <a:rPr sz="950">
                <a:solidFill>
                  <a:srgbClr val="2E2D29"/>
                </a:solidFill>
                <a:latin typeface="Calibri"/>
              </a:rPr>
              <a:t>Layouts, fonts and colours come from the Stanford template master, so new slides inherit them</a:t>
            </a:r>
          </a:p>
          <a:p>
            <a:pPr>
              <a:spcAft>
                <a:spcPts val="800"/>
              </a:spcAft>
            </a:pPr>
            <a:r>
              <a:rPr sz="950">
                <a:solidFill>
                  <a:srgbClr val="8C1515"/>
                </a:solidFill>
                <a:latin typeface="Calibri"/>
              </a:rPr>
              <a:t>• </a:t>
            </a:r>
            <a:r>
              <a:rPr sz="950">
                <a:solidFill>
                  <a:srgbClr val="2E2D29"/>
                </a:solidFill>
                <a:latin typeface="Calibri"/>
              </a:rPr>
              <a:t>Record version or commit hashes alongside every result set that goes into the paper</a:t>
            </a:r>
          </a:p>
        </p:txBody>
      </p:sp>
      <p:sp>
        <p:nvSpPr>
          <p:cNvPr id="37" name="Rectangle 36"/>
          <p:cNvSpPr/>
          <p:nvPr/>
        </p:nvSpPr>
        <p:spPr>
          <a:xfrm>
            <a:off x="320040" y="4828032"/>
            <a:ext cx="8503920" cy="310896"/>
          </a:xfrm>
          <a:prstGeom prst="rect">
            <a:avLst/>
          </a:prstGeom>
          <a:solidFill>
            <a:srgbClr val="F2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429768" y="4828032"/>
            <a:ext cx="8284464" cy="310896"/>
          </a:xfrm>
          <a:prstGeom prst="rect">
            <a:avLst/>
          </a:prstGeom>
          <a:noFill/>
        </p:spPr>
        <p:txBody>
          <a:bodyPr wrap="square" lIns="27432" tIns="0" rIns="27432" bIns="0" anchor="ctr">
            <a:spAutoFit/>
          </a:bodyPr>
          <a:lstStyle/>
          <a:p>
            <a:pPr algn="l"/>
            <a:r>
              <a:rPr sz="1000" b="1" i="0">
                <a:solidFill>
                  <a:srgbClr val="8C1515"/>
                </a:solidFill>
                <a:latin typeface="Calibri"/>
              </a:rPr>
              <a:t>This deck is the source of truth: change it here first, then propagate to talks and figures.</a:t>
            </a:r>
          </a:p>
        </p:txBody>
      </p:sp>
    </p:spTree>
  </p:cSld>
  <p:clrMapOvr>
    <a:masterClrMapping/>
  </p:clrMapOvr>
</p:sld>
</file>

<file path=ppt/theme/theme1.xml><?xml version="1.0" encoding="utf-8"?>
<a:theme xmlns:a="http://schemas.openxmlformats.org/drawingml/2006/main" name="Office Theme">
  <a:themeElements>
    <a:clrScheme name="Stanford University">
      <a:dk1>
        <a:srgbClr val="8C1515"/>
      </a:dk1>
      <a:lt1>
        <a:srgbClr val="FFFFFF"/>
      </a:lt1>
      <a:dk2>
        <a:srgbClr val="2E2C28"/>
      </a:dk2>
      <a:lt2>
        <a:srgbClr val="E7E6E6"/>
      </a:lt2>
      <a:accent1>
        <a:srgbClr val="4198B5"/>
      </a:accent1>
      <a:accent2>
        <a:srgbClr val="FEC51D"/>
      </a:accent2>
      <a:accent3>
        <a:srgbClr val="610059"/>
      </a:accent3>
      <a:accent4>
        <a:srgbClr val="279989"/>
      </a:accent4>
      <a:accent5>
        <a:srgbClr val="E98300"/>
      </a:accent5>
      <a:accent6>
        <a:srgbClr val="175E54"/>
      </a:accent6>
      <a:hlink>
        <a:srgbClr val="007C92"/>
      </a:hlink>
      <a:folHlink>
        <a:srgbClr val="969696"/>
      </a:folHlink>
    </a:clrScheme>
    <a:fontScheme name="Office Theme 2013 - 2022">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2013 - 2022">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U_16x10_Powerpoint" id="{62E98C51-2AA8-4F47-8167-E6080D49DC4E}" vid="{496DFCDF-3C0E-AA4A-9327-F003CCCFAAB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5579</TotalTime>
  <Words>11622</Words>
  <Application>Microsoft Macintosh PowerPoint</Application>
  <PresentationFormat>On-screen Show (16:10)</PresentationFormat>
  <Paragraphs>1815</Paragraphs>
  <Slides>66</Slides>
  <Notes>12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66</vt:i4>
      </vt:variant>
    </vt:vector>
  </HeadingPairs>
  <TitlesOfParts>
    <vt:vector size="73" baseType="lpstr">
      <vt:lpstr>Arial</vt:lpstr>
      <vt:lpstr>Calibri</vt:lpstr>
      <vt:lpstr>Calibri Light</vt:lpstr>
      <vt:lpstr>Cambria</vt:lpstr>
      <vt:lpstr>Consolas</vt:lpstr>
      <vt:lpstr>Georgia</vt:lpstr>
      <vt:lpstr>Office Theme</vt:lpstr>
      <vt:lpstr>Simulating Microvascular Adaptation after Pulmonary Artery Stenting</vt:lpstr>
      <vt:lpstr>Branch pulmonary artery stenosis persists after Tetralogy of Fallot repair</vt:lpstr>
      <vt:lpstr>Treatment planning needs a prediction, not a description</vt:lpstr>
      <vt:lpstr>The boundary condition problem</vt:lpstr>
      <vt:lpstr>Structured-tree boundary conditions</vt:lpstr>
      <vt:lpstr>PowerPoint Presentation</vt:lpstr>
      <vt:lpstr>PowerPoint Presentation</vt:lpstr>
      <vt:lpstr>Cohort progress across the pipeline</vt:lpstr>
      <vt:lpstr>Inputs &amp; Dataset</vt:lpstr>
      <vt:lpstr>Five Tetralogy of Fallot stent patients</vt:lpstr>
      <vt:lpstr>Imaging and segmentation</vt:lpstr>
      <vt:lpstr>Clinical targets</vt:lpstr>
      <vt:lpstr>Inflow waveform assignment</vt:lpstr>
      <vt:lpstr>Mesh and temporal discretization</vt:lpstr>
      <vt:lpstr>Boundary Condition Tuning</vt:lpstr>
      <vt:lpstr>Structured-tree geometry and scaling</vt:lpstr>
      <vt:lpstr>From tree geometry to an impedance boundary condition</vt:lpstr>
      <vt:lpstr>Fixed and tuned parameters</vt:lpstr>
      <vt:lpstr>Distributing trees across the outlets</vt:lpstr>
      <vt:lpstr>The two-branch reduced-order model</vt:lpstr>
      <vt:lpstr>Inner loop: tuning the tree</vt:lpstr>
      <vt:lpstr>Adaptive loss reweighting</vt:lpstr>
      <vt:lpstr>Outer loop: reconciling the reduced-order model with 3D</vt:lpstr>
      <vt:lpstr>Complete tuning pipeline</vt:lpstr>
      <vt:lpstr>Tuned BCs reproduce the pre-operative targets</vt:lpstr>
      <vt:lpstr>Pre-operative MPA waveforms across the cohort</vt:lpstr>
      <vt:lpstr>Calibrating the branched 0D model against the 3D result</vt:lpstr>
      <vt:lpstr>Learned 0D model against the branched baseline</vt:lpstr>
      <vt:lpstr>Candidate 0D representations of the PA anatomy</vt:lpstr>
      <vt:lpstr>Where each 0D representation lands against 3D</vt:lpstr>
      <vt:lpstr>The updated tuning loop runs on the full 0D model</vt:lpstr>
      <vt:lpstr>learnedZeroD generates the initial full-PA seed</vt:lpstr>
      <vt:lpstr>Outlet BCs are mapped 0D → 3D through the centerline</vt:lpstr>
      <vt:lpstr>svZeroDCalibrator refits the full 0D model to 3D</vt:lpstr>
      <vt:lpstr>Why a physiological tuning study for TST-STAN-5</vt:lpstr>
      <vt:lpstr>What the measurements require from the distal bed</vt:lpstr>
      <vt:lpstr>Study design (v1): four phases, 56 tuning runs</vt:lpstr>
      <vt:lpstr>v1 result: literature stiffness misses the pulse pressure</vt:lpstr>
      <vt:lpstr>The missing element: proximal 0D compliance</vt:lpstr>
      <vt:lpstr>v2 follow-up: proximal compliance and guarded trees</vt:lpstr>
      <vt:lpstr>v2 so far: proximal compliance helps, diastolic still misses</vt:lpstr>
      <vt:lpstr>Current progress: first runs of the updated pipeline</vt:lpstr>
      <vt:lpstr>Pre-operative Simulation</vt:lpstr>
      <vt:lpstr>Deformable-wall formulation</vt:lpstr>
      <vt:lpstr>Why the pipeline moved to deformable walls</vt:lpstr>
      <vt:lpstr>Pre-operative 3D results</vt:lpstr>
      <vt:lpstr>Post-operative Simulation</vt:lpstr>
      <vt:lpstr>Virtual stenting with signed distance fields</vt:lpstr>
      <vt:lpstr>Acute post-operative response</vt:lpstr>
      <vt:lpstr>Pre- and post-operative resistance maps</vt:lpstr>
      <vt:lpstr>Microvascular Adaptation</vt:lpstr>
      <vt:lpstr>The mechanobiological premise</vt:lpstr>
      <vt:lpstr>CWSS-IMS: governing equations</vt:lpstr>
      <vt:lpstr>Why constant shear alone is not enough</vt:lpstr>
      <vt:lpstr>Driving the trees from the 3D result</vt:lpstr>
      <vt:lpstr>Numerical integration</vt:lpstr>
      <vt:lpstr>The gains are the lever on adapted flow split</vt:lpstr>
      <vt:lpstr>Patient-specific adaptation tests</vt:lpstr>
      <vt:lpstr>Identifying the gains: calibration and validation design</vt:lpstr>
      <vt:lpstr>Adapted Simulation</vt:lpstr>
      <vt:lpstr>Applying the adapted boundary conditions</vt:lpstr>
      <vt:lpstr>Metric Extraction</vt:lpstr>
      <vt:lpstr>Metrics</vt:lpstr>
      <vt:lpstr>What counts as success</vt:lpstr>
      <vt:lpstr>Roadmap: what is changing across the pipeline</vt:lpstr>
      <vt:lpstr>Software stack and deck maintenance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Templates &amp; Guidelines</dc:title>
  <dc:creator>Vivian Liberti</dc:creator>
  <cp:lastModifiedBy>Nicholas Cannon Dorn</cp:lastModifiedBy>
  <cp:revision>14</cp:revision>
  <dcterms:created xsi:type="dcterms:W3CDTF">2023-02-28T21:25:39Z</dcterms:created>
  <dcterms:modified xsi:type="dcterms:W3CDTF">2026-09-25T23:43:47Z</dcterms:modified>
</cp:coreProperties>
</file>